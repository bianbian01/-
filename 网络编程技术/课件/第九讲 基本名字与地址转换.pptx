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302" r:id="rId4"/>
    <p:sldId id="268" r:id="rId5"/>
    <p:sldId id="381" r:id="rId6"/>
    <p:sldId id="382" r:id="rId7"/>
    <p:sldId id="383" r:id="rId8"/>
    <p:sldId id="318" r:id="rId9"/>
    <p:sldId id="384" r:id="rId10"/>
    <p:sldId id="385" r:id="rId11"/>
    <p:sldId id="386" r:id="rId12"/>
    <p:sldId id="387" r:id="rId13"/>
    <p:sldId id="370" r:id="rId14"/>
    <p:sldId id="388" r:id="rId15"/>
    <p:sldId id="389" r:id="rId16"/>
    <p:sldId id="344" r:id="rId17"/>
    <p:sldId id="390" r:id="rId18"/>
    <p:sldId id="346" r:id="rId19"/>
    <p:sldId id="391" r:id="rId20"/>
    <p:sldId id="392" r:id="rId21"/>
    <p:sldId id="393" r:id="rId22"/>
    <p:sldId id="394" r:id="rId23"/>
    <p:sldId id="395" r:id="rId24"/>
    <p:sldId id="396" r:id="rId25"/>
    <p:sldId id="363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7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3" cy="1752600"/>
          </a:xfrm>
        </p:spPr>
        <p:txBody>
          <a:bodyPr/>
          <a:lstStyle>
            <a:lvl1pPr>
              <a:defRPr sz="5000" b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7962" y="3962400"/>
            <a:ext cx="5786437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53AED-FF26-4FDA-9AEA-873FA87B3B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045" y="1509498"/>
            <a:ext cx="1877731" cy="17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8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E02B3-A3BB-4616-BD6B-B7E69671A3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13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FC8A3-6230-4F0F-B0F5-0A02ABA4F3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43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44752-FC95-4706-8E7E-F897A8D606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763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1E65D-45E1-4215-9B5D-BBDAF924CB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0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197D0-A919-428A-8ED8-3934B75C6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2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18DAE-C6B1-46FA-BA22-FA75C10478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194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F4D35-5324-44F9-A186-AF7C7B0716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125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8BD26B-BE46-4C60-8658-88FD792D45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475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A409E-A3E4-4985-8A06-F1A23A7E4A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042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C9B9B-AF7E-44DF-9FE7-479965C33D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48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7570788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6D1171E7-B6D8-4988-BF1B-D1C1B2AD84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61736" y="-2670"/>
            <a:ext cx="969348" cy="9205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2" cy="1752600"/>
          </a:xfrm>
        </p:spPr>
        <p:txBody>
          <a:bodyPr anchor="ctr"/>
          <a:lstStyle/>
          <a:p>
            <a:pPr eaLnBrk="1" hangingPunct="1"/>
            <a:r>
              <a:rPr lang="zh-CN" altLang="en-US" b="1"/>
              <a:t>网络编程技术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3962400"/>
            <a:ext cx="6770687" cy="1752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第九讲  基本名字与地址转换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王伟</a:t>
            </a:r>
          </a:p>
          <a:p>
            <a:pPr eaLnBrk="1" hangingPunct="1"/>
            <a:r>
              <a:rPr lang="en-US" altLang="zh-CN" b="1" dirty="0"/>
              <a:t>wellwang@126.com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968875"/>
          </a:xfrm>
        </p:spPr>
        <p:txBody>
          <a:bodyPr/>
          <a:lstStyle/>
          <a:p>
            <a:pPr eaLnBrk="1" hangingPunct="1"/>
            <a:r>
              <a:rPr lang="zh-CN" altLang="en-US" dirty="0"/>
              <a:t>概述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域名系统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rgbClr val="FF0000"/>
                </a:solidFill>
              </a:rPr>
              <a:t>gethostbyname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gethostbyname2</a:t>
            </a:r>
            <a:r>
              <a:rPr lang="zh-CN" altLang="en-US" dirty="0">
                <a:solidFill>
                  <a:srgbClr val="FF0000"/>
                </a:solidFill>
              </a:rPr>
              <a:t>函数与</a:t>
            </a:r>
            <a:r>
              <a:rPr lang="en-US" altLang="zh-CN" dirty="0">
                <a:solidFill>
                  <a:srgbClr val="FF0000"/>
                </a:solidFill>
              </a:rPr>
              <a:t>IPv6</a:t>
            </a:r>
            <a:r>
              <a:rPr lang="zh-CN" altLang="en-US" dirty="0">
                <a:solidFill>
                  <a:srgbClr val="FF0000"/>
                </a:solidFill>
              </a:rPr>
              <a:t>支持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rgbClr val="FF0000"/>
                </a:solidFill>
              </a:rPr>
              <a:t>gethostbyaddr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 err="1"/>
              <a:t>uname</a:t>
            </a:r>
            <a:r>
              <a:rPr lang="zh-CN" altLang="en-US" dirty="0"/>
              <a:t>和</a:t>
            </a:r>
            <a:r>
              <a:rPr lang="en-US" altLang="zh-CN" dirty="0" err="1"/>
              <a:t>gethostname</a:t>
            </a:r>
            <a:r>
              <a:rPr lang="zh-CN" altLang="en-US" dirty="0"/>
              <a:t>函数</a:t>
            </a:r>
            <a:endParaRPr lang="en-US" altLang="zh-CN" dirty="0"/>
          </a:p>
          <a:p>
            <a:pPr eaLnBrk="1" hangingPunct="1"/>
            <a:r>
              <a:rPr lang="en-US" altLang="zh-CN" dirty="0" err="1">
                <a:solidFill>
                  <a:srgbClr val="FF0000"/>
                </a:solidFill>
              </a:rPr>
              <a:t>getservbyname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getservbyport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97000"/>
            <a:ext cx="7848600" cy="12926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到现在为止，讲课中所有例子都用数值地址来表示主机（例如，</a:t>
            </a:r>
            <a:r>
              <a:rPr lang="en-US" altLang="zh-CN" sz="2000" b="1" dirty="0"/>
              <a:t>206.6.226.33</a:t>
            </a:r>
            <a:r>
              <a:rPr lang="zh-CN" altLang="en-US" sz="2000" b="1" dirty="0"/>
              <a:t>），用数值端口号来标识服务器（例如，端口</a:t>
            </a:r>
            <a:r>
              <a:rPr lang="en-US" altLang="zh-CN" sz="2000" b="1" dirty="0"/>
              <a:t>13</a:t>
            </a:r>
            <a:r>
              <a:rPr lang="zh-CN" altLang="en-US" sz="2000" b="1" dirty="0"/>
              <a:t>代表标准的</a:t>
            </a:r>
            <a:r>
              <a:rPr lang="en-US" altLang="zh-CN" sz="2000" b="1" dirty="0"/>
              <a:t>daytime</a:t>
            </a:r>
            <a:r>
              <a:rPr lang="zh-CN" altLang="en-US" sz="2000" b="1" dirty="0"/>
              <a:t>服务器，端口</a:t>
            </a:r>
            <a:r>
              <a:rPr lang="en-US" altLang="zh-CN" sz="2000" b="1" dirty="0"/>
              <a:t>9877</a:t>
            </a:r>
            <a:r>
              <a:rPr lang="zh-CN" altLang="en-US" sz="2000" b="1" dirty="0"/>
              <a:t>代表我们的回射服务器）。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2900363"/>
            <a:ext cx="7848600" cy="12938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应该使用名字而不是数值，这有很多原因：名字比较容易记；</a:t>
            </a:r>
            <a:r>
              <a:rPr lang="zh-CN" altLang="en-US" sz="2000" b="1" dirty="0">
                <a:solidFill>
                  <a:srgbClr val="FF0000"/>
                </a:solidFill>
              </a:rPr>
              <a:t>数值地址可以改变但名字保持不变；</a:t>
            </a:r>
            <a:r>
              <a:rPr lang="zh-CN" altLang="en-US" sz="2000" b="1" dirty="0"/>
              <a:t>随着往</a:t>
            </a:r>
            <a:r>
              <a:rPr lang="en-US" altLang="zh-CN" sz="2000" b="1" dirty="0">
                <a:solidFill>
                  <a:srgbClr val="FF0000"/>
                </a:solidFill>
              </a:rPr>
              <a:t>IPv6</a:t>
            </a:r>
            <a:r>
              <a:rPr lang="zh-CN" altLang="en-US" sz="2000" b="1" dirty="0"/>
              <a:t>上转移，数值地址变得更长，手工键入一个地址更易出错。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4368800"/>
            <a:ext cx="7848600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/>
              <a:t>gethostbyname</a:t>
            </a:r>
            <a:r>
              <a:rPr lang="zh-CN" altLang="en-US" sz="2000" b="1" dirty="0"/>
              <a:t>和</a:t>
            </a:r>
            <a:r>
              <a:rPr lang="en-US" altLang="zh-CN" sz="2000" b="1" dirty="0" err="1"/>
              <a:t>gethostbyaddr</a:t>
            </a:r>
            <a:r>
              <a:rPr lang="zh-CN" altLang="en-US" sz="2000" b="1" dirty="0"/>
              <a:t>在主机名字与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地址间进行转换；</a:t>
            </a:r>
            <a:r>
              <a:rPr lang="en-US" altLang="zh-CN" sz="2000" b="1" dirty="0" err="1"/>
              <a:t>getservbyname</a:t>
            </a:r>
            <a:r>
              <a:rPr lang="zh-CN" altLang="en-US" sz="2000" b="1" dirty="0"/>
              <a:t>和</a:t>
            </a:r>
            <a:r>
              <a:rPr lang="en-US" altLang="zh-CN" sz="2000" b="1" dirty="0" err="1"/>
              <a:t>getservbyport</a:t>
            </a:r>
            <a:r>
              <a:rPr lang="zh-CN" altLang="en-US" sz="2000" b="1" dirty="0"/>
              <a:t>在服务名字和端口号间进行转换。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二、域名系统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684213" y="1397000"/>
            <a:ext cx="7848600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域名系统</a:t>
            </a:r>
            <a:r>
              <a:rPr lang="en-US" altLang="zh-CN" sz="2000" b="1" dirty="0"/>
              <a:t>DNS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Domain  Name  System</a:t>
            </a:r>
            <a:r>
              <a:rPr lang="zh-CN" altLang="en-US" sz="2000" b="1" dirty="0"/>
              <a:t>）主要用于主机名与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地址间的映射。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684213" y="2420938"/>
            <a:ext cx="7848600" cy="124829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主机名可以是简单名字，如</a:t>
            </a:r>
            <a:r>
              <a:rPr lang="en-US" altLang="zh-CN" sz="2000" b="1" dirty="0" err="1"/>
              <a:t>solaris</a:t>
            </a:r>
            <a:r>
              <a:rPr lang="zh-CN" altLang="en-US" sz="2000" b="1" dirty="0"/>
              <a:t>或</a:t>
            </a:r>
            <a:r>
              <a:rPr lang="en-US" altLang="zh-CN" sz="2000" b="1" dirty="0" err="1"/>
              <a:t>bsdi</a:t>
            </a:r>
            <a:r>
              <a:rPr lang="zh-CN" altLang="en-US" sz="2000" b="1" dirty="0"/>
              <a:t>，也可以是全限定域名</a:t>
            </a:r>
            <a:r>
              <a:rPr lang="en-US" altLang="zh-CN" sz="2000" b="1" dirty="0"/>
              <a:t>FQDN 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Fully Qualified </a:t>
            </a:r>
            <a:r>
              <a:rPr lang="en-US" altLang="zh-CN" sz="2000" b="1" dirty="0" err="1"/>
              <a:t>Domaln</a:t>
            </a:r>
            <a:r>
              <a:rPr lang="en-US" altLang="zh-CN" sz="2000" b="1" dirty="0"/>
              <a:t> Name</a:t>
            </a:r>
            <a:r>
              <a:rPr lang="zh-CN" altLang="en-US" sz="2000" b="1" dirty="0"/>
              <a:t>），如</a:t>
            </a:r>
            <a:r>
              <a:rPr lang="en-US" altLang="zh-CN" sz="2000" b="1" dirty="0"/>
              <a:t>solaris.kohala.com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FQDN</a:t>
            </a:r>
            <a:r>
              <a:rPr lang="zh-CN" altLang="en-US" sz="2000" b="1" dirty="0"/>
              <a:t>也称为绝对名字（</a:t>
            </a:r>
            <a:r>
              <a:rPr lang="en-US" altLang="zh-CN" sz="2000" b="1" dirty="0"/>
              <a:t>absolute name</a:t>
            </a:r>
            <a:r>
              <a:rPr lang="zh-CN" altLang="en-US" sz="2000" b="1" dirty="0"/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二、域名系统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684213" y="1397000"/>
            <a:ext cx="7848600" cy="28924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/>
              <a:t>freebsd</a:t>
            </a:r>
            <a:r>
              <a:rPr lang="en-US" altLang="zh-CN" sz="2000" b="1" dirty="0"/>
              <a:t>   IN    </a:t>
            </a:r>
            <a:r>
              <a:rPr lang="en-US" altLang="zh-CN" sz="2000" b="1" dirty="0">
                <a:solidFill>
                  <a:srgbClr val="FF0000"/>
                </a:solidFill>
              </a:rPr>
              <a:t>A     12.106.32.254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                IN    </a:t>
            </a:r>
            <a:r>
              <a:rPr lang="en-US" altLang="zh-CN" sz="2000" b="1" dirty="0">
                <a:solidFill>
                  <a:srgbClr val="FF0000"/>
                </a:solidFill>
              </a:rPr>
              <a:t>AAAA  3ffe:b80:1f8d:1:a00:20ff:fea7:686b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                IN    MX    5  freebsd.unpbook.com.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                IN    MX    10 mailhost.unpbook.com.</a:t>
            </a:r>
          </a:p>
          <a:p>
            <a:pPr eaLnBrk="1" hangingPunct="1">
              <a:lnSpc>
                <a:spcPct val="130000"/>
              </a:lnSpc>
              <a:defRPr/>
            </a:pPr>
            <a:endParaRPr lang="en-US" altLang="zh-CN" sz="2000" b="1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ftp           IN    CNAME    linux.unpbook.com.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www       IN    CNAME    linux.unpbook.com.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75D6C8C-6FC9-8B5C-0BD7-3596DB244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437112"/>
            <a:ext cx="7848600" cy="4508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CNAME </a:t>
            </a:r>
            <a:r>
              <a:rPr lang="zh-CN" altLang="en-US" sz="2000" b="1" dirty="0"/>
              <a:t>代表 </a:t>
            </a:r>
            <a:r>
              <a:rPr lang="en-US" altLang="zh-CN" sz="2000" b="1" dirty="0"/>
              <a:t>canonical name</a:t>
            </a:r>
            <a:r>
              <a:rPr lang="zh-CN" altLang="en-US" sz="2000" b="1" dirty="0"/>
              <a:t>（规范名字）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40453704-B6D0-D82C-9612-9661327EF2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3" y="1340768"/>
            <a:ext cx="6056673" cy="4680520"/>
          </a:xfrm>
          <a:prstGeom prst="rect">
            <a:avLst/>
          </a:prstGeom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二、域名系统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4157826" y="1412776"/>
            <a:ext cx="2489646" cy="1080120"/>
          </a:xfrm>
          <a:prstGeom prst="wedgeRoundRectCallout">
            <a:avLst>
              <a:gd name="adj1" fmla="val -119110"/>
              <a:gd name="adj2" fmla="val 69109"/>
              <a:gd name="adj3" fmla="val 16667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err="1"/>
              <a:t>gethostbyname</a:t>
            </a:r>
            <a:endParaRPr lang="en-US" altLang="zh-CN" sz="2400" dirty="0"/>
          </a:p>
          <a:p>
            <a:r>
              <a:rPr lang="en-US" altLang="zh-CN" sz="2400" dirty="0" err="1"/>
              <a:t>gethostbyaddr</a:t>
            </a:r>
            <a:endParaRPr lang="en-US" altLang="zh-CN" sz="2400" dirty="0"/>
          </a:p>
        </p:txBody>
      </p:sp>
      <p:sp>
        <p:nvSpPr>
          <p:cNvPr id="8" name="圆角矩形标注 6">
            <a:extLst>
              <a:ext uri="{FF2B5EF4-FFF2-40B4-BE49-F238E27FC236}">
                <a16:creationId xmlns:a16="http://schemas.microsoft.com/office/drawing/2014/main" id="{69E087B1-81D4-4718-8AB4-6D75CBCACD1B}"/>
              </a:ext>
            </a:extLst>
          </p:cNvPr>
          <p:cNvSpPr/>
          <p:nvPr/>
        </p:nvSpPr>
        <p:spPr>
          <a:xfrm>
            <a:off x="4157826" y="4653136"/>
            <a:ext cx="2633662" cy="742109"/>
          </a:xfrm>
          <a:prstGeom prst="wedgeRoundRectCallout">
            <a:avLst>
              <a:gd name="adj1" fmla="val -87406"/>
              <a:gd name="adj2" fmla="val 24707"/>
              <a:gd name="adj3" fmla="val 16667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包含本地名字服务器们的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二、域名系统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684213" y="1397000"/>
            <a:ext cx="7848600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chemeClr val="tx2"/>
                </a:solidFill>
              </a:rPr>
              <a:t>DNS</a:t>
            </a:r>
            <a:r>
              <a:rPr lang="zh-CN" altLang="en-US" sz="2000" b="1" dirty="0">
                <a:solidFill>
                  <a:schemeClr val="tx2"/>
                </a:solidFill>
              </a:rPr>
              <a:t>替代方法</a:t>
            </a:r>
            <a:endParaRPr lang="en-US" altLang="zh-CN" sz="20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不使用</a:t>
            </a:r>
            <a:r>
              <a:rPr lang="en-US" altLang="zh-CN" sz="2000" b="1" dirty="0"/>
              <a:t>DNS</a:t>
            </a:r>
            <a:r>
              <a:rPr lang="zh-CN" altLang="en-US" sz="2000" b="1" dirty="0"/>
              <a:t>也可得到名字和地址信息，最常用的替代方法为静态主机文件（一般为文件</a:t>
            </a:r>
            <a:r>
              <a:rPr lang="en-US" altLang="zh-CN" sz="2000" b="1" dirty="0"/>
              <a:t>/</a:t>
            </a:r>
            <a:r>
              <a:rPr lang="en-US" altLang="zh-CN" sz="2000" b="1" dirty="0" err="1"/>
              <a:t>etc</a:t>
            </a:r>
            <a:r>
              <a:rPr lang="en-US" altLang="zh-CN" sz="2000" b="1" dirty="0"/>
              <a:t>/hosts</a:t>
            </a:r>
            <a:r>
              <a:rPr lang="zh-CN" altLang="en-US" sz="2000" b="1" dirty="0"/>
              <a:t>）或网络信息系统</a:t>
            </a:r>
            <a:r>
              <a:rPr lang="en-US" altLang="zh-CN" sz="2000" b="1" dirty="0"/>
              <a:t>NIS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Network Information System</a:t>
            </a:r>
            <a:r>
              <a:rPr lang="zh-CN" altLang="en-US" sz="2000" b="1" dirty="0"/>
              <a:t>）。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 </a:t>
            </a:r>
            <a:r>
              <a:rPr lang="en-US" altLang="zh-CN"/>
              <a:t>gethostbyname</a:t>
            </a:r>
            <a:r>
              <a:rPr lang="zh-CN" altLang="en-US"/>
              <a:t>函数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84213" y="1397000"/>
            <a:ext cx="7848600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netdb.h</a:t>
            </a:r>
            <a:r>
              <a:rPr lang="en-US" altLang="zh-CN" sz="2000" b="1" dirty="0"/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/>
              <a:t>struct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hostent</a:t>
            </a:r>
            <a:r>
              <a:rPr lang="en-US" altLang="zh-CN" sz="2000" b="1" dirty="0"/>
              <a:t> * </a:t>
            </a:r>
            <a:r>
              <a:rPr lang="en-US" altLang="zh-CN" sz="2000" b="1" dirty="0" err="1"/>
              <a:t>gethostbyname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const</a:t>
            </a:r>
            <a:r>
              <a:rPr lang="en-US" altLang="zh-CN" sz="2000" b="1" dirty="0"/>
              <a:t> char *hostname);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返回：非空指针</a:t>
            </a:r>
            <a:r>
              <a:rPr lang="en-US" altLang="zh-CN" sz="2000" b="1" dirty="0"/>
              <a:t>——</a:t>
            </a:r>
            <a:r>
              <a:rPr lang="zh-CN" altLang="en-US" sz="2000" b="1" dirty="0"/>
              <a:t>成功，空指针</a:t>
            </a:r>
            <a:r>
              <a:rPr lang="en-US" altLang="zh-CN" sz="2000" b="1" dirty="0"/>
              <a:t>——</a:t>
            </a:r>
            <a:r>
              <a:rPr lang="zh-CN" altLang="en-US" sz="2000" b="1" dirty="0"/>
              <a:t>出错，同时设置</a:t>
            </a:r>
            <a:r>
              <a:rPr lang="en-US" altLang="zh-CN" sz="2000" b="1" dirty="0" err="1"/>
              <a:t>h_errno</a:t>
            </a:r>
            <a:endParaRPr lang="en-US" altLang="zh-CN" sz="2000" b="1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4213" y="2900363"/>
            <a:ext cx="7848600" cy="36941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/>
              <a:t>struct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hostent</a:t>
            </a:r>
            <a:endParaRPr lang="en-US" altLang="zh-CN" sz="2000" b="1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	char  * </a:t>
            </a:r>
            <a:r>
              <a:rPr lang="en-US" altLang="zh-CN" sz="2000" b="1" dirty="0" err="1"/>
              <a:t>h_name</a:t>
            </a:r>
            <a:r>
              <a:rPr lang="en-US" altLang="zh-CN" sz="2000" b="1" dirty="0"/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	char  **</a:t>
            </a:r>
            <a:r>
              <a:rPr lang="en-US" altLang="zh-CN" sz="2000" b="1" dirty="0" err="1"/>
              <a:t>h_aliases</a:t>
            </a:r>
            <a:r>
              <a:rPr lang="en-US" altLang="zh-CN" sz="2000" b="1" dirty="0"/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	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h_addrtype</a:t>
            </a:r>
            <a:r>
              <a:rPr lang="en-US" altLang="zh-CN" sz="2000" b="1" dirty="0"/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	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h_length</a:t>
            </a:r>
            <a:r>
              <a:rPr lang="en-US" altLang="zh-CN" sz="2000" b="1" dirty="0"/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	char  **</a:t>
            </a:r>
            <a:r>
              <a:rPr lang="en-US" altLang="zh-CN" sz="2000" b="1" dirty="0" err="1"/>
              <a:t>h_addr_list</a:t>
            </a:r>
            <a:r>
              <a:rPr lang="en-US" altLang="zh-CN" sz="2000" b="1" dirty="0"/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};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#define </a:t>
            </a:r>
            <a:r>
              <a:rPr lang="en-US" altLang="zh-CN" sz="2000" b="1" dirty="0" err="1"/>
              <a:t>h_addr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h_addr_list</a:t>
            </a:r>
            <a:r>
              <a:rPr lang="en-US" altLang="zh-CN" sz="2000" b="1" dirty="0"/>
              <a:t>[0]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 </a:t>
            </a:r>
            <a:r>
              <a:rPr lang="en-US" altLang="zh-CN"/>
              <a:t>gethostbyname</a:t>
            </a:r>
            <a:r>
              <a:rPr lang="zh-CN" altLang="en-US"/>
              <a:t>函数</a:t>
            </a:r>
          </a:p>
        </p:txBody>
      </p:sp>
      <p:pic>
        <p:nvPicPr>
          <p:cNvPr id="11267" name="Picture 2" descr="D:\结构hostent和它所包含的信息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1196975"/>
            <a:ext cx="5726112" cy="485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 </a:t>
            </a:r>
            <a:r>
              <a:rPr lang="en-US" altLang="zh-CN"/>
              <a:t>gethostbyname</a:t>
            </a:r>
            <a:r>
              <a:rPr lang="zh-CN" altLang="en-US"/>
              <a:t>函数</a:t>
            </a:r>
          </a:p>
        </p:txBody>
      </p:sp>
      <p:pic>
        <p:nvPicPr>
          <p:cNvPr id="12291" name="Picture 2" descr="D:\IPv6地址时，结构hostent中返回的不同信息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50" y="1227138"/>
            <a:ext cx="5992813" cy="486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 </a:t>
            </a:r>
            <a:r>
              <a:rPr lang="en-US" altLang="zh-CN"/>
              <a:t>gethostbyname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5905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RES_USE_INET6</a:t>
            </a:r>
            <a:r>
              <a:rPr lang="zh-CN" altLang="en-US" sz="2800" b="1" dirty="0">
                <a:solidFill>
                  <a:schemeClr val="tx2"/>
                </a:solidFill>
              </a:rPr>
              <a:t>解析器选项</a:t>
            </a:r>
            <a:r>
              <a:rPr lang="zh-CN" altLang="en-US" sz="2800" b="1" dirty="0">
                <a:solidFill>
                  <a:srgbClr val="FF0000"/>
                </a:solidFill>
              </a:rPr>
              <a:t>（不再支持）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2133600"/>
            <a:ext cx="7921625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BIND</a:t>
            </a:r>
            <a:r>
              <a:rPr lang="zh-CN" altLang="en-US" sz="2000" b="1" dirty="0">
                <a:solidFill>
                  <a:srgbClr val="000000"/>
                </a:solidFill>
              </a:rPr>
              <a:t>的较新版本（</a:t>
            </a:r>
            <a:r>
              <a:rPr lang="en-US" altLang="zh-CN" sz="2000" b="1" dirty="0">
                <a:solidFill>
                  <a:srgbClr val="000000"/>
                </a:solidFill>
              </a:rPr>
              <a:t>4.9.4</a:t>
            </a:r>
            <a:r>
              <a:rPr lang="zh-CN" altLang="en-US" sz="2000" b="1" dirty="0">
                <a:solidFill>
                  <a:srgbClr val="000000"/>
                </a:solidFill>
              </a:rPr>
              <a:t>及以后版本）提供了一个名为</a:t>
            </a:r>
            <a:r>
              <a:rPr lang="en-US" altLang="zh-CN" sz="2000" b="1" dirty="0">
                <a:solidFill>
                  <a:srgbClr val="000000"/>
                </a:solidFill>
              </a:rPr>
              <a:t>RES_USE_INET6</a:t>
            </a:r>
            <a:r>
              <a:rPr lang="zh-CN" altLang="en-US" sz="2000" b="1" dirty="0">
                <a:solidFill>
                  <a:srgbClr val="000000"/>
                </a:solidFill>
              </a:rPr>
              <a:t>的解析器选项，可以以三种不同的方法来设置它。</a:t>
            </a:r>
            <a:r>
              <a:rPr lang="zh-CN" altLang="en-US" sz="2000" b="1" dirty="0">
                <a:solidFill>
                  <a:srgbClr val="FF0000"/>
                </a:solidFill>
              </a:rPr>
              <a:t>用此选项来通知解析器使</a:t>
            </a:r>
            <a:r>
              <a:rPr lang="en-US" altLang="zh-CN" sz="2000" b="1" dirty="0" err="1">
                <a:solidFill>
                  <a:srgbClr val="FF0000"/>
                </a:solidFill>
              </a:rPr>
              <a:t>gethostbyname</a:t>
            </a:r>
            <a:r>
              <a:rPr lang="zh-CN" altLang="en-US" sz="2000" b="1" dirty="0">
                <a:solidFill>
                  <a:srgbClr val="FF0000"/>
                </a:solidFill>
              </a:rPr>
              <a:t>返回</a:t>
            </a:r>
            <a:r>
              <a:rPr lang="en-US" altLang="zh-CN" sz="2000" b="1" dirty="0">
                <a:solidFill>
                  <a:srgbClr val="FF0000"/>
                </a:solidFill>
              </a:rPr>
              <a:t>IPv6</a:t>
            </a:r>
            <a:r>
              <a:rPr lang="zh-CN" altLang="en-US" sz="2000" b="1" dirty="0">
                <a:solidFill>
                  <a:srgbClr val="FF0000"/>
                </a:solidFill>
              </a:rPr>
              <a:t>地址而不是</a:t>
            </a:r>
            <a:r>
              <a:rPr lang="en-US" altLang="zh-CN" sz="2000" b="1" dirty="0">
                <a:solidFill>
                  <a:srgbClr val="FF0000"/>
                </a:solidFill>
              </a:rPr>
              <a:t>IPv4</a:t>
            </a:r>
            <a:r>
              <a:rPr lang="zh-CN" altLang="en-US" sz="2000" b="1" dirty="0">
                <a:solidFill>
                  <a:srgbClr val="FF0000"/>
                </a:solidFill>
              </a:rPr>
              <a:t>地址。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3933825"/>
            <a:ext cx="7921625" cy="20923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）应用程序本身就可以设置此选项，首先调用解析器的</a:t>
            </a:r>
            <a:r>
              <a:rPr lang="en-US" altLang="zh-CN" sz="2000" b="1" dirty="0" err="1">
                <a:solidFill>
                  <a:srgbClr val="000000"/>
                </a:solidFill>
              </a:rPr>
              <a:t>res_init</a:t>
            </a:r>
            <a:r>
              <a:rPr lang="zh-CN" altLang="en-US" sz="2000" b="1" dirty="0">
                <a:solidFill>
                  <a:srgbClr val="000000"/>
                </a:solidFill>
              </a:rPr>
              <a:t>函数，然后打开该选项：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resolv.h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res_init</a:t>
            </a:r>
            <a:r>
              <a:rPr lang="en-US" altLang="zh-CN" sz="2000" b="1" dirty="0">
                <a:solidFill>
                  <a:srgbClr val="000000"/>
                </a:solidFill>
              </a:rPr>
              <a:t>();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_</a:t>
            </a:r>
            <a:r>
              <a:rPr lang="en-US" altLang="zh-CN" sz="2000" b="1" dirty="0" err="1">
                <a:solidFill>
                  <a:srgbClr val="000000"/>
                </a:solidFill>
              </a:rPr>
              <a:t>res.options</a:t>
            </a:r>
            <a:r>
              <a:rPr lang="en-US" altLang="zh-CN" sz="2000" b="1" dirty="0">
                <a:solidFill>
                  <a:srgbClr val="000000"/>
                </a:solidFill>
              </a:rPr>
              <a:t>|=RES_USE_INET6;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 </a:t>
            </a:r>
            <a:r>
              <a:rPr lang="en-US" altLang="zh-CN"/>
              <a:t>gethostbyname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5905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RES_USE_INET6</a:t>
            </a:r>
            <a:r>
              <a:rPr lang="zh-CN" altLang="en-US" sz="2800" b="1" dirty="0">
                <a:solidFill>
                  <a:schemeClr val="tx2"/>
                </a:solidFill>
              </a:rPr>
              <a:t>解析器选项</a:t>
            </a:r>
            <a:r>
              <a:rPr lang="zh-CN" altLang="en-US" sz="2800" b="1" dirty="0">
                <a:solidFill>
                  <a:srgbClr val="FF0000"/>
                </a:solidFill>
              </a:rPr>
              <a:t>（不再支持）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2170113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）如果环境变量</a:t>
            </a:r>
            <a:r>
              <a:rPr lang="en-US" altLang="zh-CN" sz="2000" b="1" dirty="0">
                <a:solidFill>
                  <a:srgbClr val="000000"/>
                </a:solidFill>
              </a:rPr>
              <a:t>RES_OPTIONS</a:t>
            </a:r>
            <a:r>
              <a:rPr lang="zh-CN" altLang="en-US" sz="2000" b="1" dirty="0">
                <a:solidFill>
                  <a:srgbClr val="000000"/>
                </a:solidFill>
              </a:rPr>
              <a:t>含有串</a:t>
            </a:r>
            <a:r>
              <a:rPr lang="en-US" altLang="zh-CN" sz="2000" b="1" dirty="0">
                <a:solidFill>
                  <a:srgbClr val="000000"/>
                </a:solidFill>
              </a:rPr>
              <a:t>inet6</a:t>
            </a:r>
            <a:r>
              <a:rPr lang="zh-CN" altLang="en-US" sz="2000" b="1" dirty="0">
                <a:solidFill>
                  <a:srgbClr val="000000"/>
                </a:solidFill>
              </a:rPr>
              <a:t>，则此选项打开。此选项的作用依赖于环境变量的范围。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3157538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</a:rPr>
              <a:t>）解析器配置文件（一般为</a:t>
            </a:r>
            <a:r>
              <a:rPr lang="en-US" altLang="zh-CN" sz="2000" b="1" dirty="0">
                <a:solidFill>
                  <a:srgbClr val="000000"/>
                </a:solidFill>
              </a:rPr>
              <a:t>/</a:t>
            </a:r>
            <a:r>
              <a:rPr lang="en-US" altLang="zh-CN" sz="2000" b="1" dirty="0" err="1">
                <a:solidFill>
                  <a:srgbClr val="000000"/>
                </a:solidFill>
              </a:rPr>
              <a:t>etc</a:t>
            </a:r>
            <a:r>
              <a:rPr lang="en-US" altLang="zh-CN" sz="2000" b="1" dirty="0">
                <a:solidFill>
                  <a:srgbClr val="000000"/>
                </a:solidFill>
              </a:rPr>
              <a:t>/ </a:t>
            </a:r>
            <a:r>
              <a:rPr lang="en-US" altLang="zh-CN" sz="2000" b="1" dirty="0" err="1">
                <a:solidFill>
                  <a:srgbClr val="000000"/>
                </a:solidFill>
              </a:rPr>
              <a:t>resolv.conf</a:t>
            </a:r>
            <a:r>
              <a:rPr lang="zh-CN" altLang="en-US" sz="2000" b="1" dirty="0">
                <a:solidFill>
                  <a:srgbClr val="000000"/>
                </a:solidFill>
              </a:rPr>
              <a:t>）可以包含如下行：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options inet6 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611188" y="4237038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第一个方法以每个应用程序为基设置此选项，第二个方法以每个用户为基，第三个方法以整个系统为基。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422400"/>
          </a:xfrm>
        </p:spPr>
        <p:txBody>
          <a:bodyPr/>
          <a:lstStyle/>
          <a:p>
            <a:pPr eaLnBrk="1" hangingPunct="1"/>
            <a:r>
              <a:rPr lang="zh-CN" altLang="en-US"/>
              <a:t>四、 </a:t>
            </a:r>
            <a:r>
              <a:rPr lang="en-US" altLang="zh-CN"/>
              <a:t>gethostbyname2</a:t>
            </a:r>
            <a:r>
              <a:rPr lang="zh-CN" altLang="en-US"/>
              <a:t>函数与</a:t>
            </a:r>
            <a:br>
              <a:rPr lang="en-US" altLang="zh-CN"/>
            </a:br>
            <a:r>
              <a:rPr lang="en-US" altLang="zh-CN"/>
              <a:t>         IPv6</a:t>
            </a:r>
            <a:r>
              <a:rPr lang="zh-CN" altLang="en-US"/>
              <a:t>支持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611188" y="1844675"/>
            <a:ext cx="7921625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netdb.h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hostent</a:t>
            </a:r>
            <a:r>
              <a:rPr lang="en-US" altLang="zh-CN" sz="2000" b="1" dirty="0">
                <a:solidFill>
                  <a:srgbClr val="000000"/>
                </a:solidFill>
              </a:rPr>
              <a:t> * gethostbyname2(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</a:rPr>
              <a:t>  char *hostname, 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family);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返回：非空指针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成功，空指针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出错，同时设置</a:t>
            </a:r>
            <a:r>
              <a:rPr lang="en-US" altLang="zh-CN" sz="2000" b="1" dirty="0" err="1">
                <a:solidFill>
                  <a:srgbClr val="000000"/>
                </a:solidFill>
              </a:rPr>
              <a:t>h_errno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97"/>
          <p:cNvGraphicFramePr>
            <a:graphicFrameLocks noGrp="1"/>
          </p:cNvGraphicFramePr>
          <p:nvPr>
            <p:ph/>
          </p:nvPr>
        </p:nvGraphicFramePr>
        <p:xfrm>
          <a:off x="252413" y="1233488"/>
          <a:ext cx="8640762" cy="504348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2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7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7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调用函数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RES_USE_INET6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2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关闭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打开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gethostbyname</a:t>
                      </a:r>
                      <a:endParaRPr kumimoji="0" lang="en-US" altLang="zh-CN" sz="18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（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host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搜索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记录，若找到返回 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IPv4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地址（</a:t>
                      </a: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h_length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= 4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），否则返回错误。这为现存的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IPv4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应用程序提供了向后兼容性。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搜索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AAAA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记录，若找到，返回 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IPv6 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地址（</a:t>
                      </a: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h_length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=16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），否则搜索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记录。若找到，返回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IPv4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映射的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地址（</a:t>
                      </a: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h_length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=16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），否则返回错误。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gethostbyname2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（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host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AF_INET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搜索 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 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记录，若找到，返回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IPv4 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地址（</a:t>
                      </a: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h_length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 4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），否则返回错误。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搜索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记录，若找到，返回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IPv4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映射的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地址（</a:t>
                      </a: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h_length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 16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），否则返回错误。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1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gethostbyname2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（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host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AF_INET6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搜索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AAAA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记录，若找到，返回 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地址（</a:t>
                      </a: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h_length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=16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），否则返回错误。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搜索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AAAA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记录，若找到，返回 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地址（</a:t>
                      </a:r>
                      <a:r>
                        <a:rPr kumimoji="0" lang="en-US" altLang="zh-CN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h_length</a:t>
                      </a: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=16</a:t>
                      </a: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），否则返回错误。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79388" y="188913"/>
            <a:ext cx="7921625" cy="6451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hostent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gethostbyname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</a:rPr>
              <a:t> char * name)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hostent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hp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if((_</a:t>
            </a:r>
            <a:r>
              <a:rPr lang="en-US" altLang="zh-CN" sz="2000" b="1" dirty="0" err="1">
                <a:solidFill>
                  <a:srgbClr val="000000"/>
                </a:solidFill>
              </a:rPr>
              <a:t>res.options&amp;RES_INIT</a:t>
            </a:r>
            <a:r>
              <a:rPr lang="en-US" altLang="zh-CN" sz="2000" b="1" dirty="0">
                <a:solidFill>
                  <a:srgbClr val="000000"/>
                </a:solidFill>
              </a:rPr>
              <a:t>)==0&amp;&amp;</a:t>
            </a:r>
            <a:r>
              <a:rPr lang="en-US" altLang="zh-CN" sz="2000" b="1" dirty="0" err="1">
                <a:solidFill>
                  <a:srgbClr val="000000"/>
                </a:solidFill>
              </a:rPr>
              <a:t>res_init</a:t>
            </a:r>
            <a:r>
              <a:rPr lang="en-US" altLang="zh-CN" sz="2000" b="1" dirty="0">
                <a:solidFill>
                  <a:srgbClr val="000000"/>
                </a:solidFill>
              </a:rPr>
              <a:t>()==-1)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	</a:t>
            </a:r>
            <a:r>
              <a:rPr lang="en-US" altLang="zh-CN" sz="2000" b="1" dirty="0" err="1">
                <a:solidFill>
                  <a:srgbClr val="000000"/>
                </a:solidFill>
              </a:rPr>
              <a:t>h_errno</a:t>
            </a:r>
            <a:r>
              <a:rPr lang="en-US" altLang="zh-CN" sz="2000" b="1" dirty="0">
                <a:solidFill>
                  <a:srgbClr val="000000"/>
                </a:solidFill>
              </a:rPr>
              <a:t> = NETDB_INTERNAL;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	return(NULL);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}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if(_res.options&amp;RES_USE_INET6)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	</a:t>
            </a:r>
            <a:r>
              <a:rPr lang="en-US" altLang="zh-CN" sz="2000" b="1" dirty="0" err="1">
                <a:solidFill>
                  <a:srgbClr val="000000"/>
                </a:solidFill>
              </a:rPr>
              <a:t>hp</a:t>
            </a:r>
            <a:r>
              <a:rPr lang="en-US" altLang="zh-CN" sz="2000" b="1" dirty="0">
                <a:solidFill>
                  <a:srgbClr val="000000"/>
                </a:solidFill>
              </a:rPr>
              <a:t> = gethostbyname2(name,AF_INET6);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	if(</a:t>
            </a:r>
            <a:r>
              <a:rPr lang="en-US" altLang="zh-CN" sz="2000" b="1" dirty="0" err="1">
                <a:solidFill>
                  <a:srgbClr val="000000"/>
                </a:solidFill>
              </a:rPr>
              <a:t>hp</a:t>
            </a:r>
            <a:r>
              <a:rPr lang="en-US" altLang="zh-CN" sz="2000" b="1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		return(</a:t>
            </a:r>
            <a:r>
              <a:rPr lang="en-US" altLang="zh-CN" sz="2000" b="1" dirty="0" err="1">
                <a:solidFill>
                  <a:srgbClr val="000000"/>
                </a:solidFill>
              </a:rPr>
              <a:t>hp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}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return (gethostbyname2(</a:t>
            </a:r>
            <a:r>
              <a:rPr lang="en-US" altLang="zh-CN" sz="2000" b="1" dirty="0" err="1">
                <a:solidFill>
                  <a:srgbClr val="000000"/>
                </a:solidFill>
              </a:rPr>
              <a:t>name,AF_INET</a:t>
            </a:r>
            <a:r>
              <a:rPr lang="en-US" altLang="zh-CN" sz="2000" b="1" dirty="0">
                <a:solidFill>
                  <a:srgbClr val="000000"/>
                </a:solidFill>
              </a:rPr>
              <a:t>));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五、</a:t>
            </a:r>
            <a:r>
              <a:rPr lang="en-US" altLang="zh-CN" dirty="0" err="1"/>
              <a:t>gethostbyaddr</a:t>
            </a:r>
            <a:r>
              <a:rPr lang="zh-CN" altLang="en-US" dirty="0"/>
              <a:t>函数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2625" y="1341438"/>
            <a:ext cx="7921625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netdb.h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 </a:t>
            </a:r>
            <a:r>
              <a:rPr lang="en-US" altLang="zh-CN" sz="2000" b="1" dirty="0" err="1">
                <a:solidFill>
                  <a:srgbClr val="000000"/>
                </a:solidFill>
              </a:rPr>
              <a:t>hostent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gethostbyaddr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</a:rPr>
              <a:t> char *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len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family);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返回：非空指针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成功，空指针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出错，同时设置</a:t>
            </a:r>
            <a:r>
              <a:rPr lang="en-US" altLang="zh-CN" sz="2000" b="1" dirty="0" err="1">
                <a:solidFill>
                  <a:srgbClr val="000000"/>
                </a:solidFill>
              </a:rPr>
              <a:t>h_errno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84213" y="3213100"/>
            <a:ext cx="7921625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参数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</a:t>
            </a:r>
            <a:r>
              <a:rPr lang="zh-CN" altLang="en-US" sz="2000" b="1" dirty="0">
                <a:solidFill>
                  <a:srgbClr val="000000"/>
                </a:solidFill>
              </a:rPr>
              <a:t>不是</a:t>
            </a:r>
            <a:r>
              <a:rPr lang="en-US" altLang="zh-CN" sz="2000" b="1" dirty="0">
                <a:solidFill>
                  <a:srgbClr val="000000"/>
                </a:solidFill>
              </a:rPr>
              <a:t>char * </a:t>
            </a:r>
            <a:r>
              <a:rPr lang="zh-CN" altLang="en-US" sz="2000" b="1" dirty="0">
                <a:solidFill>
                  <a:srgbClr val="000000"/>
                </a:solidFill>
              </a:rPr>
              <a:t>类型，而是一个真正指向含有</a:t>
            </a:r>
            <a:r>
              <a:rPr lang="en-US" altLang="zh-CN" sz="2000" b="1" dirty="0">
                <a:solidFill>
                  <a:srgbClr val="000000"/>
                </a:solidFill>
              </a:rPr>
              <a:t>IPv4</a:t>
            </a:r>
            <a:r>
              <a:rPr lang="zh-CN" altLang="en-US" sz="2000" b="1" dirty="0">
                <a:solidFill>
                  <a:srgbClr val="000000"/>
                </a:solidFill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</a:rPr>
              <a:t>IPv6</a:t>
            </a:r>
            <a:r>
              <a:rPr lang="zh-CN" altLang="en-US" sz="2000" b="1" dirty="0">
                <a:solidFill>
                  <a:srgbClr val="000000"/>
                </a:solidFill>
              </a:rPr>
              <a:t>地址的结构</a:t>
            </a:r>
            <a:r>
              <a:rPr lang="en-US" altLang="zh-CN" sz="2000" b="1" dirty="0" err="1">
                <a:solidFill>
                  <a:srgbClr val="000000"/>
                </a:solidFill>
              </a:rPr>
              <a:t>in_addr</a:t>
            </a:r>
            <a:r>
              <a:rPr lang="zh-CN" altLang="en-US" sz="2000" b="1" dirty="0">
                <a:solidFill>
                  <a:srgbClr val="000000"/>
                </a:solidFill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</a:rPr>
              <a:t>in6_addr</a:t>
            </a:r>
            <a:r>
              <a:rPr lang="zh-CN" altLang="en-US" sz="2000" b="1" dirty="0">
                <a:solidFill>
                  <a:srgbClr val="000000"/>
                </a:solidFill>
              </a:rPr>
              <a:t>的指针；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len</a:t>
            </a:r>
            <a:r>
              <a:rPr lang="zh-CN" altLang="en-US" sz="2000" b="1" dirty="0">
                <a:solidFill>
                  <a:srgbClr val="000000"/>
                </a:solidFill>
              </a:rPr>
              <a:t>是此结构的大小：对于</a:t>
            </a:r>
            <a:r>
              <a:rPr lang="en-US" altLang="zh-CN" sz="2000" b="1" dirty="0">
                <a:solidFill>
                  <a:srgbClr val="000000"/>
                </a:solidFill>
              </a:rPr>
              <a:t>IPv4</a:t>
            </a:r>
            <a:r>
              <a:rPr lang="zh-CN" altLang="en-US" sz="2000" b="1" dirty="0">
                <a:solidFill>
                  <a:srgbClr val="000000"/>
                </a:solidFill>
              </a:rPr>
              <a:t>地址为</a:t>
            </a:r>
            <a:r>
              <a:rPr lang="en-US" altLang="zh-CN" sz="2000" b="1" dirty="0">
                <a:solidFill>
                  <a:srgbClr val="000000"/>
                </a:solidFill>
              </a:rPr>
              <a:t>4</a:t>
            </a:r>
            <a:r>
              <a:rPr lang="zh-CN" altLang="en-US" sz="2000" b="1" dirty="0">
                <a:solidFill>
                  <a:srgbClr val="000000"/>
                </a:solidFill>
              </a:rPr>
              <a:t>，对于</a:t>
            </a:r>
            <a:r>
              <a:rPr lang="en-US" altLang="zh-CN" sz="2000" b="1" dirty="0">
                <a:solidFill>
                  <a:srgbClr val="000000"/>
                </a:solidFill>
              </a:rPr>
              <a:t>IPv6 </a:t>
            </a:r>
            <a:r>
              <a:rPr lang="zh-CN" altLang="en-US" sz="2000" b="1" dirty="0">
                <a:solidFill>
                  <a:srgbClr val="000000"/>
                </a:solidFill>
              </a:rPr>
              <a:t>地址为</a:t>
            </a:r>
            <a:r>
              <a:rPr lang="en-US" altLang="zh-CN" sz="2000" b="1" dirty="0">
                <a:solidFill>
                  <a:srgbClr val="000000"/>
                </a:solidFill>
              </a:rPr>
              <a:t>16</a:t>
            </a:r>
            <a:r>
              <a:rPr lang="zh-CN" altLang="en-US" sz="2000" b="1" dirty="0">
                <a:solidFill>
                  <a:srgbClr val="000000"/>
                </a:solidFill>
              </a:rPr>
              <a:t>；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参数</a:t>
            </a:r>
            <a:r>
              <a:rPr lang="en-US" altLang="zh-CN" sz="2000" b="1" dirty="0">
                <a:solidFill>
                  <a:srgbClr val="000000"/>
                </a:solidFill>
              </a:rPr>
              <a:t>family</a:t>
            </a:r>
            <a:r>
              <a:rPr lang="zh-CN" altLang="en-US" sz="2000" b="1" dirty="0">
                <a:solidFill>
                  <a:srgbClr val="000000"/>
                </a:solidFill>
              </a:rPr>
              <a:t>或为</a:t>
            </a:r>
            <a:r>
              <a:rPr lang="en-US" altLang="zh-CN" sz="2000" b="1" dirty="0">
                <a:solidFill>
                  <a:srgbClr val="000000"/>
                </a:solidFill>
              </a:rPr>
              <a:t>AF_INET</a:t>
            </a:r>
            <a:r>
              <a:rPr lang="zh-CN" altLang="en-US" sz="2000" b="1" dirty="0">
                <a:solidFill>
                  <a:srgbClr val="000000"/>
                </a:solidFill>
              </a:rPr>
              <a:t>或为</a:t>
            </a:r>
            <a:r>
              <a:rPr lang="en-US" altLang="zh-CN" sz="2000" b="1" dirty="0">
                <a:solidFill>
                  <a:srgbClr val="000000"/>
                </a:solidFill>
              </a:rPr>
              <a:t>AF_INET6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82625" y="5049838"/>
            <a:ext cx="7921625" cy="12509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in_addr</a:t>
            </a:r>
            <a:r>
              <a:rPr lang="en-US" altLang="zh-CN" sz="2000" b="1" dirty="0">
                <a:solidFill>
                  <a:srgbClr val="000000"/>
                </a:solidFill>
              </a:rPr>
              <a:t> address;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inet_aton</a:t>
            </a:r>
            <a:r>
              <a:rPr lang="en-US" altLang="zh-CN" sz="2000" b="1" dirty="0">
                <a:solidFill>
                  <a:srgbClr val="000000"/>
                </a:solidFill>
              </a:rPr>
              <a:t>(“127.0.0.1”, </a:t>
            </a:r>
            <a:r>
              <a:rPr lang="en-US" altLang="zh-CN" sz="2000" b="1">
                <a:solidFill>
                  <a:srgbClr val="000000"/>
                </a:solidFill>
              </a:rPr>
              <a:t>&amp;address);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host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gethostbyaddr</a:t>
            </a:r>
            <a:r>
              <a:rPr lang="en-US" altLang="zh-CN" sz="2000" b="1" dirty="0">
                <a:solidFill>
                  <a:srgbClr val="000000"/>
                </a:solidFill>
              </a:rPr>
              <a:t>((char *)&amp;address, 4, AF_INET);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</a:t>
            </a:r>
            <a:r>
              <a:rPr lang="en-US" altLang="zh-CN"/>
              <a:t>gethostbyaddr</a:t>
            </a:r>
            <a:r>
              <a:rPr lang="zh-CN" altLang="en-US"/>
              <a:t>函数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2625" y="1341438"/>
            <a:ext cx="7921625" cy="5191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函数</a:t>
            </a:r>
            <a:r>
              <a:rPr lang="en-US" altLang="zh-CN" sz="2400" b="1" dirty="0" err="1">
                <a:solidFill>
                  <a:schemeClr val="tx2"/>
                </a:solidFill>
              </a:rPr>
              <a:t>gethostbyaddr</a:t>
            </a:r>
            <a:r>
              <a:rPr lang="zh-CN" altLang="en-US" sz="2400" b="1" dirty="0">
                <a:solidFill>
                  <a:schemeClr val="tx2"/>
                </a:solidFill>
              </a:rPr>
              <a:t>和</a:t>
            </a:r>
            <a:r>
              <a:rPr lang="en-US" altLang="zh-CN" sz="2400" b="1" dirty="0">
                <a:solidFill>
                  <a:schemeClr val="tx2"/>
                </a:solidFill>
              </a:rPr>
              <a:t>IPv6</a:t>
            </a:r>
            <a:r>
              <a:rPr lang="zh-CN" altLang="en-US" sz="2400" b="1" dirty="0">
                <a:solidFill>
                  <a:schemeClr val="tx2"/>
                </a:solidFill>
              </a:rPr>
              <a:t>支持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84213" y="2060575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）如果</a:t>
            </a:r>
            <a:r>
              <a:rPr lang="en-US" altLang="zh-CN" sz="2000" b="1" dirty="0">
                <a:solidFill>
                  <a:srgbClr val="000000"/>
                </a:solidFill>
              </a:rPr>
              <a:t>family</a:t>
            </a:r>
            <a:r>
              <a:rPr lang="zh-CN" altLang="en-US" sz="2000" b="1" dirty="0">
                <a:solidFill>
                  <a:srgbClr val="000000"/>
                </a:solidFill>
              </a:rPr>
              <a:t>是</a:t>
            </a:r>
            <a:r>
              <a:rPr lang="en-US" altLang="zh-CN" sz="2000" b="1" dirty="0">
                <a:solidFill>
                  <a:srgbClr val="000000"/>
                </a:solidFill>
              </a:rPr>
              <a:t>AF_INET6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en-US" altLang="zh-CN" sz="2000" b="1" dirty="0" err="1">
                <a:solidFill>
                  <a:srgbClr val="000000"/>
                </a:solidFill>
              </a:rPr>
              <a:t>len</a:t>
            </a:r>
            <a:r>
              <a:rPr lang="zh-CN" altLang="en-US" sz="2000" b="1" dirty="0">
                <a:solidFill>
                  <a:srgbClr val="000000"/>
                </a:solidFill>
              </a:rPr>
              <a:t>是</a:t>
            </a:r>
            <a:r>
              <a:rPr lang="en-US" altLang="zh-CN" sz="2000" b="1" dirty="0">
                <a:solidFill>
                  <a:srgbClr val="000000"/>
                </a:solidFill>
              </a:rPr>
              <a:t>16</a:t>
            </a:r>
            <a:r>
              <a:rPr lang="zh-CN" altLang="en-US" sz="2000" b="1" dirty="0">
                <a:solidFill>
                  <a:srgbClr val="000000"/>
                </a:solidFill>
              </a:rPr>
              <a:t>，且地址是</a:t>
            </a:r>
            <a:r>
              <a:rPr lang="en-US" altLang="zh-CN" sz="2000" b="1" dirty="0">
                <a:solidFill>
                  <a:srgbClr val="000000"/>
                </a:solidFill>
              </a:rPr>
              <a:t>IPv4</a:t>
            </a:r>
            <a:r>
              <a:rPr lang="zh-CN" altLang="en-US" sz="2000" b="1" dirty="0">
                <a:solidFill>
                  <a:srgbClr val="000000"/>
                </a:solidFill>
              </a:rPr>
              <a:t>映射的</a:t>
            </a:r>
            <a:r>
              <a:rPr lang="en-US" altLang="zh-CN" sz="2000" b="1" dirty="0">
                <a:solidFill>
                  <a:srgbClr val="000000"/>
                </a:solidFill>
              </a:rPr>
              <a:t>IPv6</a:t>
            </a:r>
            <a:r>
              <a:rPr lang="zh-CN" altLang="en-US" sz="2000" b="1" dirty="0">
                <a:solidFill>
                  <a:srgbClr val="000000"/>
                </a:solidFill>
              </a:rPr>
              <a:t>地址，则在域</a:t>
            </a:r>
            <a:r>
              <a:rPr lang="en-US" altLang="zh-CN" sz="2000" b="1" dirty="0">
                <a:solidFill>
                  <a:srgbClr val="000000"/>
                </a:solidFill>
              </a:rPr>
              <a:t>in-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addr.arpa</a:t>
            </a:r>
            <a:r>
              <a:rPr lang="zh-CN" altLang="en-US" sz="2000" b="1" dirty="0">
                <a:solidFill>
                  <a:srgbClr val="000000"/>
                </a:solidFill>
              </a:rPr>
              <a:t>中查找地址的低</a:t>
            </a:r>
            <a:r>
              <a:rPr lang="en-US" altLang="zh-CN" sz="2000" b="1" dirty="0">
                <a:solidFill>
                  <a:srgbClr val="000000"/>
                </a:solidFill>
              </a:rPr>
              <a:t>32</a:t>
            </a:r>
            <a:r>
              <a:rPr lang="zh-CN" altLang="en-US" sz="2000" b="1" dirty="0">
                <a:solidFill>
                  <a:srgbClr val="000000"/>
                </a:solidFill>
              </a:rPr>
              <a:t>位（</a:t>
            </a:r>
            <a:r>
              <a:rPr lang="en-US" altLang="zh-CN" sz="2000" b="1" dirty="0">
                <a:solidFill>
                  <a:srgbClr val="000000"/>
                </a:solidFill>
              </a:rPr>
              <a:t>IP4</a:t>
            </a:r>
            <a:r>
              <a:rPr lang="zh-CN" altLang="en-US" sz="2000" b="1" dirty="0">
                <a:solidFill>
                  <a:srgbClr val="000000"/>
                </a:solidFill>
              </a:rPr>
              <a:t>地址部分）。 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84213" y="3084513"/>
            <a:ext cx="7921625" cy="8493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）如果</a:t>
            </a:r>
            <a:r>
              <a:rPr lang="en-US" altLang="zh-CN" sz="2000" b="1" dirty="0">
                <a:solidFill>
                  <a:srgbClr val="000000"/>
                </a:solidFill>
              </a:rPr>
              <a:t>family</a:t>
            </a:r>
            <a:r>
              <a:rPr lang="zh-CN" altLang="en-US" sz="2000" b="1" dirty="0">
                <a:solidFill>
                  <a:srgbClr val="000000"/>
                </a:solidFill>
              </a:rPr>
              <a:t>是</a:t>
            </a:r>
            <a:r>
              <a:rPr lang="en-US" altLang="zh-CN" sz="2000" b="1" dirty="0">
                <a:solidFill>
                  <a:srgbClr val="000000"/>
                </a:solidFill>
              </a:rPr>
              <a:t>AF_INET6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en-US" altLang="zh-CN" sz="2000" b="1" dirty="0" err="1">
                <a:solidFill>
                  <a:srgbClr val="000000"/>
                </a:solidFill>
              </a:rPr>
              <a:t>len</a:t>
            </a:r>
            <a:r>
              <a:rPr lang="zh-CN" altLang="en-US" sz="2000" b="1" dirty="0">
                <a:solidFill>
                  <a:srgbClr val="000000"/>
                </a:solidFill>
              </a:rPr>
              <a:t>是</a:t>
            </a:r>
            <a:r>
              <a:rPr lang="en-US" altLang="zh-CN" sz="2000" b="1" dirty="0">
                <a:solidFill>
                  <a:srgbClr val="000000"/>
                </a:solidFill>
              </a:rPr>
              <a:t>16</a:t>
            </a:r>
            <a:r>
              <a:rPr lang="zh-CN" altLang="en-US" sz="2000" b="1" dirty="0">
                <a:solidFill>
                  <a:srgbClr val="000000"/>
                </a:solidFill>
              </a:rPr>
              <a:t>，且地址是</a:t>
            </a:r>
            <a:r>
              <a:rPr lang="en-US" altLang="zh-CN" sz="2000" b="1" dirty="0">
                <a:solidFill>
                  <a:srgbClr val="000000"/>
                </a:solidFill>
              </a:rPr>
              <a:t>IPv4</a:t>
            </a:r>
            <a:r>
              <a:rPr lang="zh-CN" altLang="en-US" sz="2000" b="1" dirty="0">
                <a:solidFill>
                  <a:srgbClr val="000000"/>
                </a:solidFill>
              </a:rPr>
              <a:t>兼容的</a:t>
            </a:r>
            <a:r>
              <a:rPr lang="en-US" altLang="zh-CN" sz="2000" b="1" dirty="0">
                <a:solidFill>
                  <a:srgbClr val="000000"/>
                </a:solidFill>
              </a:rPr>
              <a:t>IPv6</a:t>
            </a:r>
            <a:r>
              <a:rPr lang="zh-CN" altLang="en-US" sz="2000" b="1" dirty="0">
                <a:solidFill>
                  <a:srgbClr val="000000"/>
                </a:solidFill>
              </a:rPr>
              <a:t>地址，则在域</a:t>
            </a:r>
            <a:r>
              <a:rPr lang="en-US" altLang="zh-CN" sz="2000" b="1" dirty="0">
                <a:solidFill>
                  <a:srgbClr val="000000"/>
                </a:solidFill>
              </a:rPr>
              <a:t>in-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addr.arpa</a:t>
            </a:r>
            <a:r>
              <a:rPr lang="zh-CN" altLang="en-US" sz="2000" b="1" dirty="0">
                <a:solidFill>
                  <a:srgbClr val="000000"/>
                </a:solidFill>
              </a:rPr>
              <a:t>中查找地址的低</a:t>
            </a:r>
            <a:r>
              <a:rPr lang="en-US" altLang="zh-CN" sz="2000" b="1" dirty="0">
                <a:solidFill>
                  <a:srgbClr val="000000"/>
                </a:solidFill>
              </a:rPr>
              <a:t>32</a:t>
            </a:r>
            <a:r>
              <a:rPr lang="zh-CN" altLang="en-US" sz="2000" b="1" dirty="0">
                <a:solidFill>
                  <a:srgbClr val="000000"/>
                </a:solidFill>
              </a:rPr>
              <a:t>位（</a:t>
            </a:r>
            <a:r>
              <a:rPr lang="en-US" altLang="zh-CN" sz="2000" b="1" dirty="0">
                <a:solidFill>
                  <a:srgbClr val="000000"/>
                </a:solidFill>
              </a:rPr>
              <a:t>IP4</a:t>
            </a:r>
            <a:r>
              <a:rPr lang="zh-CN" altLang="en-US" sz="2000" b="1" dirty="0">
                <a:solidFill>
                  <a:srgbClr val="000000"/>
                </a:solidFill>
              </a:rPr>
              <a:t>地址部分）。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684213" y="4156075"/>
            <a:ext cx="7921625" cy="164941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</a:rPr>
              <a:t>）如果被查找的是</a:t>
            </a:r>
            <a:r>
              <a:rPr lang="en-US" altLang="zh-CN" sz="2000" b="1" dirty="0">
                <a:solidFill>
                  <a:srgbClr val="000000"/>
                </a:solidFill>
              </a:rPr>
              <a:t>IPv4 </a:t>
            </a:r>
            <a:r>
              <a:rPr lang="zh-CN" altLang="en-US" sz="2000" b="1" dirty="0">
                <a:solidFill>
                  <a:srgbClr val="000000"/>
                </a:solidFill>
              </a:rPr>
              <a:t>地址（或参数</a:t>
            </a:r>
            <a:r>
              <a:rPr lang="en-US" altLang="zh-CN" sz="2000" b="1" dirty="0">
                <a:solidFill>
                  <a:srgbClr val="000000"/>
                </a:solidFill>
              </a:rPr>
              <a:t>family</a:t>
            </a:r>
            <a:r>
              <a:rPr lang="zh-CN" altLang="en-US" sz="2000" b="1" dirty="0">
                <a:solidFill>
                  <a:srgbClr val="000000"/>
                </a:solidFill>
              </a:rPr>
              <a:t>是</a:t>
            </a:r>
            <a:r>
              <a:rPr lang="en-US" altLang="zh-CN" sz="2000" b="1" dirty="0">
                <a:solidFill>
                  <a:srgbClr val="000000"/>
                </a:solidFill>
              </a:rPr>
              <a:t>AF_INET</a:t>
            </a:r>
            <a:r>
              <a:rPr lang="zh-CN" altLang="en-US" sz="2000" b="1" dirty="0">
                <a:solidFill>
                  <a:srgbClr val="000000"/>
                </a:solidFill>
              </a:rPr>
              <a:t>，或上述两种情况中的一个为真）且解析器选项</a:t>
            </a:r>
            <a:r>
              <a:rPr lang="en-US" altLang="zh-CN" sz="2000" b="1" dirty="0">
                <a:solidFill>
                  <a:srgbClr val="000000"/>
                </a:solidFill>
              </a:rPr>
              <a:t>RES_USE_INET6 </a:t>
            </a:r>
            <a:r>
              <a:rPr lang="zh-CN" altLang="en-US" sz="2000" b="1" dirty="0">
                <a:solidFill>
                  <a:srgbClr val="000000"/>
                </a:solidFill>
              </a:rPr>
              <a:t>设置，则返回的地址（参数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</a:t>
            </a:r>
            <a:r>
              <a:rPr lang="zh-CN" altLang="en-US" sz="2000" b="1" dirty="0">
                <a:solidFill>
                  <a:srgbClr val="000000"/>
                </a:solidFill>
              </a:rPr>
              <a:t>的一个拷贝）被转换为一个</a:t>
            </a:r>
            <a:r>
              <a:rPr lang="en-US" altLang="zh-CN" sz="2000" b="1" dirty="0">
                <a:solidFill>
                  <a:srgbClr val="000000"/>
                </a:solidFill>
              </a:rPr>
              <a:t>IPv4</a:t>
            </a:r>
            <a:r>
              <a:rPr lang="zh-CN" altLang="en-US" sz="2000" b="1" dirty="0">
                <a:solidFill>
                  <a:srgbClr val="000000"/>
                </a:solidFill>
              </a:rPr>
              <a:t>映射的</a:t>
            </a:r>
            <a:r>
              <a:rPr lang="en-US" altLang="zh-CN" sz="2000" b="1" dirty="0">
                <a:solidFill>
                  <a:srgbClr val="000000"/>
                </a:solidFill>
              </a:rPr>
              <a:t>IPv6</a:t>
            </a:r>
            <a:r>
              <a:rPr lang="zh-CN" altLang="en-US" sz="2000" b="1" dirty="0">
                <a:solidFill>
                  <a:srgbClr val="000000"/>
                </a:solidFill>
              </a:rPr>
              <a:t>地址：</a:t>
            </a:r>
            <a:r>
              <a:rPr lang="en-US" altLang="zh-CN" sz="2000" b="1" dirty="0" err="1">
                <a:solidFill>
                  <a:srgbClr val="000000"/>
                </a:solidFill>
              </a:rPr>
              <a:t>h_addrtype</a:t>
            </a:r>
            <a:r>
              <a:rPr lang="zh-CN" altLang="en-US" sz="2000" b="1" dirty="0">
                <a:solidFill>
                  <a:srgbClr val="000000"/>
                </a:solidFill>
              </a:rPr>
              <a:t>为</a:t>
            </a:r>
            <a:r>
              <a:rPr lang="en-US" altLang="zh-CN" sz="2000" b="1" dirty="0">
                <a:solidFill>
                  <a:srgbClr val="000000"/>
                </a:solidFill>
              </a:rPr>
              <a:t>AF_INET6</a:t>
            </a:r>
            <a:r>
              <a:rPr lang="zh-CN" altLang="en-US" sz="2000" b="1" dirty="0">
                <a:solidFill>
                  <a:srgbClr val="000000"/>
                </a:solidFill>
              </a:rPr>
              <a:t>， </a:t>
            </a:r>
            <a:r>
              <a:rPr lang="en-US" altLang="zh-CN" sz="2000" b="1" dirty="0" err="1">
                <a:solidFill>
                  <a:srgbClr val="000000"/>
                </a:solidFill>
              </a:rPr>
              <a:t>h_length</a:t>
            </a:r>
            <a:r>
              <a:rPr lang="zh-CN" altLang="en-US" sz="2000" b="1" dirty="0">
                <a:solidFill>
                  <a:srgbClr val="000000"/>
                </a:solidFill>
              </a:rPr>
              <a:t>为</a:t>
            </a:r>
            <a:r>
              <a:rPr lang="en-US" altLang="zh-CN" sz="2000" b="1" dirty="0">
                <a:solidFill>
                  <a:srgbClr val="000000"/>
                </a:solidFill>
              </a:rPr>
              <a:t>16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</a:t>
            </a:r>
            <a:r>
              <a:rPr lang="en-US" altLang="zh-CN"/>
              <a:t>uname</a:t>
            </a:r>
            <a:r>
              <a:rPr lang="zh-CN" altLang="en-US"/>
              <a:t>和</a:t>
            </a:r>
            <a:r>
              <a:rPr lang="en-US" altLang="zh-CN"/>
              <a:t>gethostname</a:t>
            </a:r>
            <a:r>
              <a:rPr lang="zh-CN" altLang="en-US"/>
              <a:t>函数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24923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uname</a:t>
            </a:r>
            <a:r>
              <a:rPr lang="zh-CN" altLang="en-US" sz="2000" b="1" dirty="0">
                <a:solidFill>
                  <a:srgbClr val="000000"/>
                </a:solidFill>
              </a:rPr>
              <a:t>返回当前主机的名字。它不是解析器库中的一部分，经常与函数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gethostbyname</a:t>
            </a:r>
            <a:r>
              <a:rPr lang="zh-CN" altLang="en-US" sz="2000" b="1" dirty="0">
                <a:solidFill>
                  <a:srgbClr val="000000"/>
                </a:solidFill>
              </a:rPr>
              <a:t>一起用来确定本地主机的</a:t>
            </a:r>
            <a:r>
              <a:rPr lang="en-US" altLang="zh-CN" sz="2000" b="1" dirty="0">
                <a:solidFill>
                  <a:srgbClr val="000000"/>
                </a:solidFill>
              </a:rPr>
              <a:t>IP</a:t>
            </a:r>
            <a:r>
              <a:rPr lang="zh-CN" altLang="en-US" sz="2000" b="1" dirty="0">
                <a:solidFill>
                  <a:srgbClr val="000000"/>
                </a:solidFill>
              </a:rPr>
              <a:t>地址。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zh-CN" altLang="en-US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&lt;sys/</a:t>
            </a:r>
            <a:r>
              <a:rPr lang="en-US" altLang="zh-CN" sz="2000" b="1" dirty="0" err="1">
                <a:solidFill>
                  <a:srgbClr val="000000"/>
                </a:solidFill>
              </a:rPr>
              <a:t>utsname.h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uname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utsname</a:t>
            </a:r>
            <a:r>
              <a:rPr lang="en-US" altLang="zh-CN" sz="2000" b="1" dirty="0">
                <a:solidFill>
                  <a:srgbClr val="000000"/>
                </a:solidFill>
              </a:rPr>
              <a:t> * name);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返回：非负值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成功，</a:t>
            </a:r>
            <a:r>
              <a:rPr lang="en-US" altLang="zh-CN" sz="2000" b="1" dirty="0">
                <a:solidFill>
                  <a:srgbClr val="000000"/>
                </a:solidFill>
              </a:rPr>
              <a:t>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</a:t>
            </a:r>
            <a:r>
              <a:rPr lang="en-US" altLang="zh-CN"/>
              <a:t>uname</a:t>
            </a:r>
            <a:r>
              <a:rPr lang="zh-CN" altLang="en-US"/>
              <a:t>和</a:t>
            </a:r>
            <a:r>
              <a:rPr lang="en-US" altLang="zh-CN"/>
              <a:t>gethostname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40925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#define UTS_NAMESIZE 	16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#define UTS_NODESIZE 	256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utsname</a:t>
            </a:r>
            <a:r>
              <a:rPr lang="en-US" altLang="zh-CN" sz="2000" b="1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char </a:t>
            </a:r>
            <a:r>
              <a:rPr lang="en-US" altLang="zh-CN" sz="2000" b="1" dirty="0" err="1">
                <a:solidFill>
                  <a:srgbClr val="000000"/>
                </a:solidFill>
              </a:rPr>
              <a:t>sysname</a:t>
            </a:r>
            <a:r>
              <a:rPr lang="en-US" altLang="zh-CN" sz="2000" b="1" dirty="0">
                <a:solidFill>
                  <a:srgbClr val="000000"/>
                </a:solidFill>
              </a:rPr>
              <a:t>  [_UTS_ NAMESIZE]; / * name of this operating system * /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char </a:t>
            </a:r>
            <a:r>
              <a:rPr lang="en-US" altLang="zh-CN" sz="2000" b="1" dirty="0" err="1">
                <a:solidFill>
                  <a:srgbClr val="FF0000"/>
                </a:solidFill>
              </a:rPr>
              <a:t>nodename</a:t>
            </a:r>
            <a:r>
              <a:rPr lang="en-US" altLang="zh-CN" sz="2000" b="1" dirty="0">
                <a:solidFill>
                  <a:srgbClr val="000000"/>
                </a:solidFill>
              </a:rPr>
              <a:t> [_UTS_NODESIZE];  / * name of this node * /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char release  [_UTS_ NAMESIZE];   / * O.S release level * /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char version  [_UTS_ NAMESIZE];	/ * O.S version level * /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char machine  [_UTS_ NAMESIZE];	/ * hardware type* /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};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</a:t>
            </a:r>
            <a:r>
              <a:rPr lang="en-US" altLang="zh-CN"/>
              <a:t>uname</a:t>
            </a:r>
            <a:r>
              <a:rPr lang="zh-CN" altLang="en-US"/>
              <a:t>和</a:t>
            </a:r>
            <a:r>
              <a:rPr lang="en-US" altLang="zh-CN"/>
              <a:t>gethostname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gethostname</a:t>
            </a:r>
            <a:r>
              <a:rPr lang="zh-CN" altLang="en-US" sz="2000" b="1" dirty="0">
                <a:solidFill>
                  <a:srgbClr val="000000"/>
                </a:solidFill>
              </a:rPr>
              <a:t>也返回当前主机的名字。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unistd.h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gethostname</a:t>
            </a:r>
            <a:r>
              <a:rPr lang="en-US" altLang="zh-CN" sz="2000" b="1" dirty="0">
                <a:solidFill>
                  <a:srgbClr val="000000"/>
                </a:solidFill>
              </a:rPr>
              <a:t>(char * </a:t>
            </a:r>
            <a:r>
              <a:rPr lang="en-US" altLang="zh-CN" sz="2000" b="1" dirty="0" err="1">
                <a:solidFill>
                  <a:srgbClr val="000000"/>
                </a:solidFill>
              </a:rPr>
              <a:t>name,size_t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namelen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</a:t>
            </a:r>
            <a:r>
              <a:rPr lang="en-US" altLang="zh-CN" sz="2000" b="1" dirty="0">
                <a:solidFill>
                  <a:srgbClr val="000000"/>
                </a:solidFill>
              </a:rPr>
              <a:t>0——</a:t>
            </a:r>
            <a:r>
              <a:rPr lang="zh-CN" altLang="en-US" sz="2000" b="1" dirty="0">
                <a:solidFill>
                  <a:srgbClr val="000000"/>
                </a:solidFill>
              </a:rPr>
              <a:t>成功，</a:t>
            </a:r>
            <a:r>
              <a:rPr lang="en-US" altLang="zh-CN" sz="2000" b="1" dirty="0">
                <a:solidFill>
                  <a:srgbClr val="000000"/>
                </a:solidFill>
              </a:rPr>
              <a:t>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422400"/>
          </a:xfrm>
        </p:spPr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getservbyname</a:t>
            </a:r>
            <a:r>
              <a:rPr lang="zh-CN" altLang="en-US"/>
              <a:t>和</a:t>
            </a:r>
            <a:br>
              <a:rPr lang="en-US" altLang="zh-CN"/>
            </a:br>
            <a:r>
              <a:rPr lang="en-US" altLang="zh-CN"/>
              <a:t>        getservbyport</a:t>
            </a:r>
            <a:r>
              <a:rPr lang="zh-CN" altLang="en-US"/>
              <a:t>函数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997075"/>
            <a:ext cx="7921625" cy="20478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服务器就像主机一样，也常常是由名字来标识的。如果我们在代码中，通过服务器的名字而不是通过服务器端口号来认知它，而且从主机到端口号的映射包含在一个文件中（一般是</a:t>
            </a:r>
            <a:r>
              <a:rPr lang="en-US" altLang="zh-CN" sz="2000" b="1" dirty="0">
                <a:solidFill>
                  <a:srgbClr val="000000"/>
                </a:solidFill>
              </a:rPr>
              <a:t>/</a:t>
            </a:r>
            <a:r>
              <a:rPr lang="en-US" altLang="zh-CN" sz="2000" b="1" dirty="0" err="1">
                <a:solidFill>
                  <a:srgbClr val="000000"/>
                </a:solidFill>
              </a:rPr>
              <a:t>etc</a:t>
            </a:r>
            <a:r>
              <a:rPr lang="en-US" altLang="zh-CN" sz="2000" b="1" dirty="0">
                <a:solidFill>
                  <a:srgbClr val="000000"/>
                </a:solidFill>
              </a:rPr>
              <a:t>/services</a:t>
            </a:r>
            <a:r>
              <a:rPr lang="zh-CN" altLang="en-US" sz="2000" b="1" dirty="0">
                <a:solidFill>
                  <a:srgbClr val="000000"/>
                </a:solidFill>
              </a:rPr>
              <a:t>），则如果端口号改变，我们所需做的所有修改就是改动文件</a:t>
            </a:r>
            <a:r>
              <a:rPr lang="en-US" altLang="zh-CN" sz="2000" b="1" dirty="0">
                <a:solidFill>
                  <a:srgbClr val="000000"/>
                </a:solidFill>
              </a:rPr>
              <a:t>/</a:t>
            </a:r>
            <a:r>
              <a:rPr lang="en-US" altLang="zh-CN" sz="2000" b="1" dirty="0" err="1">
                <a:solidFill>
                  <a:srgbClr val="000000"/>
                </a:solidFill>
              </a:rPr>
              <a:t>etc</a:t>
            </a:r>
            <a:r>
              <a:rPr lang="en-US" altLang="zh-CN" sz="2000" b="1" dirty="0">
                <a:solidFill>
                  <a:srgbClr val="000000"/>
                </a:solidFill>
              </a:rPr>
              <a:t>/services</a:t>
            </a:r>
            <a:r>
              <a:rPr lang="zh-CN" altLang="en-US" sz="2000" b="1" dirty="0">
                <a:solidFill>
                  <a:srgbClr val="000000"/>
                </a:solidFill>
              </a:rPr>
              <a:t>中的一行，而不是重新编译应用程序。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422400"/>
          </a:xfrm>
        </p:spPr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getservbyname</a:t>
            </a:r>
            <a:r>
              <a:rPr lang="zh-CN" altLang="en-US"/>
              <a:t>和</a:t>
            </a:r>
            <a:br>
              <a:rPr lang="en-US" altLang="zh-CN"/>
            </a:br>
            <a:r>
              <a:rPr lang="en-US" altLang="zh-CN"/>
              <a:t>        getservbyport</a:t>
            </a:r>
            <a:r>
              <a:rPr lang="zh-CN" altLang="en-US"/>
              <a:t>函数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844675"/>
            <a:ext cx="7921625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netdb.h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servent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getservbyname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</a:rPr>
              <a:t> char *</a:t>
            </a:r>
            <a:r>
              <a:rPr lang="en-US" altLang="zh-CN" sz="2000" b="1" dirty="0" err="1">
                <a:solidFill>
                  <a:srgbClr val="000000"/>
                </a:solidFill>
              </a:rPr>
              <a:t>servname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</a:rPr>
              <a:t> char * </a:t>
            </a:r>
            <a:r>
              <a:rPr lang="en-US" altLang="zh-CN" sz="2000" b="1" dirty="0" err="1">
                <a:solidFill>
                  <a:srgbClr val="000000"/>
                </a:solidFill>
              </a:rPr>
              <a:t>protoname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返回：非空指针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成功，空指针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3716338"/>
            <a:ext cx="7921625" cy="285273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servent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char * </a:t>
            </a:r>
            <a:r>
              <a:rPr lang="en-US" altLang="zh-CN" sz="2000" b="1" dirty="0" err="1">
                <a:solidFill>
                  <a:srgbClr val="000000"/>
                </a:solidFill>
              </a:rPr>
              <a:t>s_name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char ** </a:t>
            </a:r>
            <a:r>
              <a:rPr lang="en-US" altLang="zh-CN" sz="2000" b="1" dirty="0" err="1">
                <a:solidFill>
                  <a:srgbClr val="000000"/>
                </a:solidFill>
              </a:rPr>
              <a:t>s_aliases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s_port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char * </a:t>
            </a:r>
            <a:r>
              <a:rPr lang="en-US" altLang="zh-CN" sz="2000" b="1" dirty="0" err="1">
                <a:solidFill>
                  <a:srgbClr val="000000"/>
                </a:solidFill>
              </a:rPr>
              <a:t>s_proto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422400"/>
          </a:xfrm>
        </p:spPr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getservbyname</a:t>
            </a:r>
            <a:r>
              <a:rPr lang="zh-CN" altLang="en-US"/>
              <a:t>和</a:t>
            </a:r>
            <a:br>
              <a:rPr lang="en-US" altLang="zh-CN"/>
            </a:br>
            <a:r>
              <a:rPr lang="en-US" altLang="zh-CN"/>
              <a:t>        getservbyport</a:t>
            </a:r>
            <a:r>
              <a:rPr lang="zh-CN" altLang="en-US"/>
              <a:t>函数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844675"/>
            <a:ext cx="7921625" cy="20923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servent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getservbyname</a:t>
            </a:r>
            <a:r>
              <a:rPr lang="en-US" altLang="zh-CN" sz="2000" b="1" dirty="0">
                <a:solidFill>
                  <a:srgbClr val="000000"/>
                </a:solidFill>
              </a:rPr>
              <a:t>("domain","</a:t>
            </a:r>
            <a:r>
              <a:rPr lang="en-US" altLang="zh-CN" sz="2000" b="1" dirty="0" err="1">
                <a:solidFill>
                  <a:srgbClr val="000000"/>
                </a:solidFill>
              </a:rPr>
              <a:t>udp</a:t>
            </a:r>
            <a:r>
              <a:rPr lang="en-US" altLang="zh-CN" sz="2000" b="1" dirty="0">
                <a:solidFill>
                  <a:srgbClr val="000000"/>
                </a:solidFill>
              </a:rPr>
              <a:t>");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getservbyname</a:t>
            </a:r>
            <a:r>
              <a:rPr lang="en-US" altLang="zh-CN" sz="2000" b="1" dirty="0">
                <a:solidFill>
                  <a:srgbClr val="000000"/>
                </a:solidFill>
              </a:rPr>
              <a:t>("ftp","</a:t>
            </a:r>
            <a:r>
              <a:rPr lang="en-US" altLang="zh-CN" sz="2000" b="1" dirty="0" err="1">
                <a:solidFill>
                  <a:srgbClr val="000000"/>
                </a:solidFill>
              </a:rPr>
              <a:t>tcp</a:t>
            </a:r>
            <a:r>
              <a:rPr lang="en-US" altLang="zh-CN" sz="2000" b="1" dirty="0">
                <a:solidFill>
                  <a:srgbClr val="000000"/>
                </a:solidFill>
              </a:rPr>
              <a:t>");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getservbyname</a:t>
            </a:r>
            <a:r>
              <a:rPr lang="en-US" altLang="zh-CN" sz="2000" b="1" dirty="0">
                <a:solidFill>
                  <a:srgbClr val="000000"/>
                </a:solidFill>
              </a:rPr>
              <a:t>("</a:t>
            </a:r>
            <a:r>
              <a:rPr lang="en-US" altLang="zh-CN" sz="2000" b="1" dirty="0" err="1">
                <a:solidFill>
                  <a:srgbClr val="000000"/>
                </a:solidFill>
              </a:rPr>
              <a:t>ftp",NULL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getservbyname</a:t>
            </a:r>
            <a:r>
              <a:rPr lang="en-US" altLang="zh-CN" sz="2000" b="1" dirty="0">
                <a:solidFill>
                  <a:srgbClr val="000000"/>
                </a:solidFill>
              </a:rPr>
              <a:t>("ftp","</a:t>
            </a:r>
            <a:r>
              <a:rPr lang="en-US" altLang="zh-CN" sz="2000" b="1" dirty="0" err="1">
                <a:solidFill>
                  <a:srgbClr val="000000"/>
                </a:solidFill>
              </a:rPr>
              <a:t>udp</a:t>
            </a:r>
            <a:r>
              <a:rPr lang="en-US" altLang="zh-CN" sz="2000" b="1" dirty="0">
                <a:solidFill>
                  <a:srgbClr val="000000"/>
                </a:solidFill>
              </a:rPr>
              <a:t>");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422400"/>
          </a:xfrm>
        </p:spPr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getservbyname</a:t>
            </a:r>
            <a:r>
              <a:rPr lang="zh-CN" altLang="en-US"/>
              <a:t>和</a:t>
            </a:r>
            <a:br>
              <a:rPr lang="en-US" altLang="zh-CN"/>
            </a:br>
            <a:r>
              <a:rPr lang="en-US" altLang="zh-CN"/>
              <a:t>        getservbyport</a:t>
            </a:r>
            <a:r>
              <a:rPr lang="zh-CN" altLang="en-US"/>
              <a:t>函数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844675"/>
            <a:ext cx="7921625" cy="20478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getservbyport</a:t>
            </a:r>
            <a:r>
              <a:rPr lang="zh-CN" altLang="en-US" sz="2000" b="1" dirty="0">
                <a:solidFill>
                  <a:srgbClr val="000000"/>
                </a:solidFill>
              </a:rPr>
              <a:t>在给定端口号和可选协议后查找相应的服务。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zh-CN" altLang="en-US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netdb.h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servent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getservbyport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port,const</a:t>
            </a:r>
            <a:r>
              <a:rPr lang="en-US" altLang="zh-CN" sz="2000" b="1" dirty="0">
                <a:solidFill>
                  <a:srgbClr val="000000"/>
                </a:solidFill>
              </a:rPr>
              <a:t> char *</a:t>
            </a:r>
            <a:r>
              <a:rPr lang="en-US" altLang="zh-CN" sz="2000" b="1" dirty="0" err="1">
                <a:solidFill>
                  <a:srgbClr val="000000"/>
                </a:solidFill>
              </a:rPr>
              <a:t>protoname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port</a:t>
            </a:r>
            <a:r>
              <a:rPr lang="zh-CN" altLang="en-US" sz="2000" b="1" dirty="0">
                <a:solidFill>
                  <a:srgbClr val="000000"/>
                </a:solidFill>
              </a:rPr>
              <a:t>值必须为网络字节序。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4076700"/>
            <a:ext cx="7921625" cy="20923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struct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servent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getservbyport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htons</a:t>
            </a:r>
            <a:r>
              <a:rPr lang="en-US" altLang="zh-CN" sz="2000" b="1" dirty="0">
                <a:solidFill>
                  <a:srgbClr val="000000"/>
                </a:solidFill>
              </a:rPr>
              <a:t>(53),"</a:t>
            </a:r>
            <a:r>
              <a:rPr lang="en-US" altLang="zh-CN" sz="2000" b="1" dirty="0" err="1">
                <a:solidFill>
                  <a:srgbClr val="000000"/>
                </a:solidFill>
              </a:rPr>
              <a:t>udp</a:t>
            </a:r>
            <a:r>
              <a:rPr lang="en-US" altLang="zh-CN" sz="2000" b="1" dirty="0">
                <a:solidFill>
                  <a:srgbClr val="000000"/>
                </a:solidFill>
              </a:rPr>
              <a:t>");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getservbyport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htons</a:t>
            </a:r>
            <a:r>
              <a:rPr lang="en-US" altLang="zh-CN" sz="2000" b="1" dirty="0">
                <a:solidFill>
                  <a:srgbClr val="000000"/>
                </a:solidFill>
              </a:rPr>
              <a:t>(21),"</a:t>
            </a:r>
            <a:r>
              <a:rPr lang="en-US" altLang="zh-CN" sz="2000" b="1" dirty="0" err="1">
                <a:solidFill>
                  <a:srgbClr val="000000"/>
                </a:solidFill>
              </a:rPr>
              <a:t>tcp</a:t>
            </a:r>
            <a:r>
              <a:rPr lang="en-US" altLang="zh-CN" sz="2000" b="1" dirty="0">
                <a:solidFill>
                  <a:srgbClr val="000000"/>
                </a:solidFill>
              </a:rPr>
              <a:t>");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getservbyport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htons</a:t>
            </a:r>
            <a:r>
              <a:rPr lang="en-US" altLang="zh-CN" sz="2000" b="1" dirty="0">
                <a:solidFill>
                  <a:srgbClr val="000000"/>
                </a:solidFill>
              </a:rPr>
              <a:t>(21),NULL);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getservbyport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htons</a:t>
            </a:r>
            <a:r>
              <a:rPr lang="en-US" altLang="zh-CN" sz="2000" b="1" dirty="0">
                <a:solidFill>
                  <a:srgbClr val="000000"/>
                </a:solidFill>
              </a:rPr>
              <a:t>(21),"</a:t>
            </a:r>
            <a:r>
              <a:rPr lang="en-US" altLang="zh-CN" sz="2000" b="1" dirty="0" err="1">
                <a:solidFill>
                  <a:srgbClr val="000000"/>
                </a:solidFill>
              </a:rPr>
              <a:t>udp</a:t>
            </a:r>
            <a:r>
              <a:rPr lang="en-US" altLang="zh-CN" sz="2000" b="1" dirty="0">
                <a:solidFill>
                  <a:srgbClr val="000000"/>
                </a:solidFill>
              </a:rPr>
              <a:t>");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468313" y="1196975"/>
            <a:ext cx="8280400" cy="28487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应用程序用来将主机名转换为</a:t>
            </a:r>
            <a:r>
              <a:rPr lang="en-US" altLang="zh-CN" sz="2000" b="1" dirty="0">
                <a:solidFill>
                  <a:srgbClr val="000000"/>
                </a:solidFill>
              </a:rPr>
              <a:t>IP</a:t>
            </a:r>
            <a:r>
              <a:rPr lang="zh-CN" altLang="en-US" sz="2000" b="1" dirty="0">
                <a:solidFill>
                  <a:srgbClr val="000000"/>
                </a:solidFill>
              </a:rPr>
              <a:t>地址或进行相反过程的一组函数称为解析器。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gethostbyname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 err="1">
                <a:solidFill>
                  <a:srgbClr val="000000"/>
                </a:solidFill>
              </a:rPr>
              <a:t>gethostbyaddr</a:t>
            </a:r>
            <a:r>
              <a:rPr lang="zh-CN" altLang="en-US" sz="2000" b="1" dirty="0">
                <a:solidFill>
                  <a:srgbClr val="000000"/>
                </a:solidFill>
              </a:rPr>
              <a:t>是两个最常用的函数。随着向</a:t>
            </a:r>
            <a:r>
              <a:rPr lang="en-US" altLang="zh-CN" sz="2000" b="1" dirty="0">
                <a:solidFill>
                  <a:srgbClr val="000000"/>
                </a:solidFill>
              </a:rPr>
              <a:t>IPv6</a:t>
            </a:r>
            <a:r>
              <a:rPr lang="zh-CN" altLang="en-US" sz="2000" b="1" dirty="0">
                <a:solidFill>
                  <a:srgbClr val="000000"/>
                </a:solidFill>
              </a:rPr>
              <a:t>的转移，由这两个函数装填的</a:t>
            </a:r>
            <a:r>
              <a:rPr lang="en-US" altLang="zh-CN" sz="2000" b="1" dirty="0" err="1">
                <a:solidFill>
                  <a:srgbClr val="000000"/>
                </a:solidFill>
              </a:rPr>
              <a:t>hostent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</a:rPr>
              <a:t>结构保持不变，但结构中的某些信息发生了变化。为支持</a:t>
            </a:r>
            <a:r>
              <a:rPr lang="en-US" altLang="zh-CN" sz="2000" b="1" dirty="0">
                <a:solidFill>
                  <a:srgbClr val="000000"/>
                </a:solidFill>
              </a:rPr>
              <a:t>IPv6</a:t>
            </a:r>
            <a:r>
              <a:rPr lang="zh-CN" altLang="en-US" sz="2000" b="1" dirty="0">
                <a:solidFill>
                  <a:srgbClr val="000000"/>
                </a:solidFill>
              </a:rPr>
              <a:t>，还需要一个新的函数</a:t>
            </a:r>
            <a:r>
              <a:rPr lang="en-US" altLang="zh-CN" sz="2000" b="1" dirty="0">
                <a:solidFill>
                  <a:srgbClr val="000000"/>
                </a:solidFill>
              </a:rPr>
              <a:t>gethostbyname2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处理服务名和端口号的常用函数是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getservbyname</a:t>
            </a:r>
            <a:r>
              <a:rPr lang="zh-CN" altLang="en-US" sz="2000" b="1" dirty="0">
                <a:solidFill>
                  <a:srgbClr val="000000"/>
                </a:solidFill>
              </a:rPr>
              <a:t>，它取一个服务名并返回一个包含端口号的结构。这种映射一般包含在文本文件中。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6C8B8A97-A66F-2C0E-0E20-5D67745AB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252679"/>
            <a:ext cx="8280400" cy="85093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getaddrinfo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getnameinfo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cel2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excel2</Template>
  <TotalTime>3278</TotalTime>
  <Words>1946</Words>
  <Application>Microsoft Office PowerPoint</Application>
  <PresentationFormat>全屏显示(4:3)</PresentationFormat>
  <Paragraphs>173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Arial</vt:lpstr>
      <vt:lpstr>Garamond</vt:lpstr>
      <vt:lpstr>Times New Roman</vt:lpstr>
      <vt:lpstr>Wingdings</vt:lpstr>
      <vt:lpstr>excel2</vt:lpstr>
      <vt:lpstr>网络编程技术</vt:lpstr>
      <vt:lpstr>主要内容</vt:lpstr>
      <vt:lpstr>PowerPoint 演示文稿</vt:lpstr>
      <vt:lpstr>二、域名系统</vt:lpstr>
      <vt:lpstr>二、域名系统</vt:lpstr>
      <vt:lpstr>二、域名系统</vt:lpstr>
      <vt:lpstr>二、域名系统</vt:lpstr>
      <vt:lpstr>三、 gethostbyname函数</vt:lpstr>
      <vt:lpstr>三、 gethostbyname函数</vt:lpstr>
      <vt:lpstr>三、 gethostbyname函数</vt:lpstr>
      <vt:lpstr>三、 gethostbyname函数</vt:lpstr>
      <vt:lpstr>三、 gethostbyname函数</vt:lpstr>
      <vt:lpstr>四、 gethostbyname2函数与          IPv6支持</vt:lpstr>
      <vt:lpstr>PowerPoint 演示文稿</vt:lpstr>
      <vt:lpstr>PowerPoint 演示文稿</vt:lpstr>
      <vt:lpstr>五、gethostbyaddr函数</vt:lpstr>
      <vt:lpstr>五、gethostbyaddr函数</vt:lpstr>
      <vt:lpstr>六、uname和gethostname函数</vt:lpstr>
      <vt:lpstr>六、uname和gethostname函数</vt:lpstr>
      <vt:lpstr>六、uname和gethostname函数</vt:lpstr>
      <vt:lpstr>七、getservbyname和         getservbyport函数 </vt:lpstr>
      <vt:lpstr>七、getservbyname和         getservbyport函数 </vt:lpstr>
      <vt:lpstr>七、getservbyname和         getservbyport函数 </vt:lpstr>
      <vt:lpstr>七、getservbyname和         getservbyport函数 </vt:lpstr>
      <vt:lpstr>小结</vt:lpstr>
    </vt:vector>
  </TitlesOfParts>
  <Company>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网络编程</dc:title>
  <dc:creator>q</dc:creator>
  <cp:lastModifiedBy>Wei Wang</cp:lastModifiedBy>
  <cp:revision>373</cp:revision>
  <dcterms:created xsi:type="dcterms:W3CDTF">2013-03-13T16:12:15Z</dcterms:created>
  <dcterms:modified xsi:type="dcterms:W3CDTF">2026-04-28T07:11:25Z</dcterms:modified>
</cp:coreProperties>
</file>