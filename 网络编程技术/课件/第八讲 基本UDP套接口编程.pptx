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257" r:id="rId3"/>
    <p:sldId id="302" r:id="rId4"/>
    <p:sldId id="381" r:id="rId5"/>
    <p:sldId id="268" r:id="rId6"/>
    <p:sldId id="318" r:id="rId7"/>
    <p:sldId id="370" r:id="rId8"/>
    <p:sldId id="344" r:id="rId9"/>
    <p:sldId id="371" r:id="rId10"/>
    <p:sldId id="372" r:id="rId11"/>
    <p:sldId id="373" r:id="rId12"/>
    <p:sldId id="345" r:id="rId13"/>
    <p:sldId id="374" r:id="rId14"/>
    <p:sldId id="375" r:id="rId15"/>
    <p:sldId id="346" r:id="rId16"/>
    <p:sldId id="376" r:id="rId17"/>
    <p:sldId id="377" r:id="rId18"/>
    <p:sldId id="378" r:id="rId19"/>
    <p:sldId id="379" r:id="rId20"/>
    <p:sldId id="380" r:id="rId21"/>
    <p:sldId id="363" r:id="rId22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6" d="100"/>
          <a:sy n="116" d="100"/>
        </p:scale>
        <p:origin x="178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747963" y="1524000"/>
            <a:ext cx="5789613" cy="1752600"/>
          </a:xfrm>
        </p:spPr>
        <p:txBody>
          <a:bodyPr/>
          <a:lstStyle>
            <a:lvl1pPr>
              <a:defRPr sz="5000" b="0"/>
            </a:lvl1pPr>
          </a:lstStyle>
          <a:p>
            <a:pPr lv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747962" y="3962400"/>
            <a:ext cx="5786437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 b="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CFCE1E-6528-4CD3-A480-0FE79344BE7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8045" y="1512321"/>
            <a:ext cx="1877731" cy="1761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616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75FD0C-1372-4F96-A9B9-4D5162CCE33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76900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E9A483-A081-47B8-92DE-FE5A67D90E0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25154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FA3618-810D-4682-8D4E-389B70FE28F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47555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B8E8C2-AF8E-4FAA-9AFD-A49EA3BFC99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05833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844137-7DBB-40AA-A4C1-F04ED942A20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43842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BF16B6-0A51-4E57-A54A-63B08ED2A21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32991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2B8658-663D-46AA-A29A-13DCEFB66D8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7926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71F135-7B1C-4682-9B39-590A060E05F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50943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254C40-56FA-4F5C-9AFB-3E63B15EE88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93939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3BAF57-9A9E-48EA-95C6-838D6380655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2208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7570788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+mj-lt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+mj-lt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Garamond" panose="02020404030301010803" pitchFamily="18" charset="0"/>
              </a:defRPr>
            </a:lvl1pPr>
          </a:lstStyle>
          <a:p>
            <a:pPr>
              <a:defRPr/>
            </a:pPr>
            <a:fld id="{9024CEF0-3A2D-4D05-B41E-040A4DDE20C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31" name="Freeform 7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2" name="Line 8"/>
          <p:cNvSpPr>
            <a:spLocks noChangeShapeType="1"/>
          </p:cNvSpPr>
          <p:nvPr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162295" y="9687"/>
            <a:ext cx="969348" cy="92057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8" r:id="rId1"/>
    <p:sldLayoutId id="2147483998" r:id="rId2"/>
    <p:sldLayoutId id="2147483999" r:id="rId3"/>
    <p:sldLayoutId id="2147484000" r:id="rId4"/>
    <p:sldLayoutId id="2147484001" r:id="rId5"/>
    <p:sldLayoutId id="2147484002" r:id="rId6"/>
    <p:sldLayoutId id="2147484003" r:id="rId7"/>
    <p:sldLayoutId id="2147484004" r:id="rId8"/>
    <p:sldLayoutId id="2147484005" r:id="rId9"/>
    <p:sldLayoutId id="2147484006" r:id="rId10"/>
    <p:sldLayoutId id="214748400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  <a:ea typeface="宋体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  <a:ea typeface="宋体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  <a:ea typeface="宋体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  <a:ea typeface="宋体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3000" b="1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600" b="1">
          <a:solidFill>
            <a:schemeClr val="tx1"/>
          </a:solidFill>
          <a:latin typeface="+mn-lt"/>
          <a:ea typeface="+mn-ea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200" b="1">
          <a:solidFill>
            <a:schemeClr val="tx1"/>
          </a:solidFill>
          <a:latin typeface="+mn-lt"/>
          <a:ea typeface="+mn-ea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 sz="2000" b="1">
          <a:solidFill>
            <a:schemeClr val="tx1"/>
          </a:solidFill>
          <a:latin typeface="+mn-lt"/>
          <a:ea typeface="+mn-ea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747963" y="1524000"/>
            <a:ext cx="5789612" cy="1752600"/>
          </a:xfrm>
        </p:spPr>
        <p:txBody>
          <a:bodyPr anchor="ctr"/>
          <a:lstStyle/>
          <a:p>
            <a:pPr eaLnBrk="1" hangingPunct="1"/>
            <a:r>
              <a:rPr lang="zh-CN" altLang="en-US" b="1"/>
              <a:t>网络编程技术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763713" y="3962400"/>
            <a:ext cx="6770687" cy="1752600"/>
          </a:xfrm>
        </p:spPr>
        <p:txBody>
          <a:bodyPr/>
          <a:lstStyle/>
          <a:p>
            <a:pPr eaLnBrk="1" hangingPunct="1"/>
            <a:r>
              <a:rPr lang="zh-CN" altLang="en-US" b="1" dirty="0"/>
              <a:t>第八讲  基本</a:t>
            </a:r>
            <a:r>
              <a:rPr lang="en-US" altLang="zh-CN" b="1" dirty="0"/>
              <a:t>UDP</a:t>
            </a:r>
            <a:r>
              <a:rPr lang="zh-CN" altLang="en-US" b="1" dirty="0"/>
              <a:t>套接口编程</a:t>
            </a:r>
            <a:endParaRPr lang="en-US" altLang="zh-CN" b="1" dirty="0"/>
          </a:p>
          <a:p>
            <a:pPr eaLnBrk="1" hangingPunct="1"/>
            <a:r>
              <a:rPr lang="zh-CN" altLang="en-US" b="1" dirty="0"/>
              <a:t>王伟</a:t>
            </a:r>
          </a:p>
          <a:p>
            <a:pPr eaLnBrk="1" hangingPunct="1"/>
            <a:r>
              <a:rPr lang="en-US" altLang="zh-CN" b="1" dirty="0"/>
              <a:t>wellwang@126</a:t>
            </a:r>
            <a:r>
              <a:rPr lang="en-US" altLang="zh-CN" b="1"/>
              <a:t>.com</a:t>
            </a:r>
            <a:endParaRPr lang="en-US" altLang="zh-CN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主要内容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196975"/>
            <a:ext cx="8229600" cy="4968875"/>
          </a:xfrm>
        </p:spPr>
        <p:txBody>
          <a:bodyPr/>
          <a:lstStyle/>
          <a:p>
            <a:pPr eaLnBrk="1" hangingPunct="1"/>
            <a:r>
              <a:rPr lang="zh-CN" altLang="en-US"/>
              <a:t>概述</a:t>
            </a:r>
            <a:endParaRPr lang="en-US" altLang="zh-CN"/>
          </a:p>
          <a:p>
            <a:pPr eaLnBrk="1" hangingPunct="1"/>
            <a:r>
              <a:rPr lang="en-US" altLang="zh-CN">
                <a:solidFill>
                  <a:srgbClr val="FF0000"/>
                </a:solidFill>
              </a:rPr>
              <a:t>recvfrom</a:t>
            </a:r>
            <a:r>
              <a:rPr lang="zh-CN" altLang="en-US">
                <a:solidFill>
                  <a:srgbClr val="FF0000"/>
                </a:solidFill>
              </a:rPr>
              <a:t>和</a:t>
            </a:r>
            <a:r>
              <a:rPr lang="en-US" altLang="zh-CN">
                <a:solidFill>
                  <a:srgbClr val="FF0000"/>
                </a:solidFill>
              </a:rPr>
              <a:t>sendto</a:t>
            </a:r>
            <a:r>
              <a:rPr lang="zh-CN" altLang="en-US">
                <a:solidFill>
                  <a:srgbClr val="FF0000"/>
                </a:solidFill>
              </a:rPr>
              <a:t>函数</a:t>
            </a:r>
            <a:endParaRPr lang="en-US" altLang="zh-CN">
              <a:solidFill>
                <a:srgbClr val="FF0000"/>
              </a:solidFill>
            </a:endParaRPr>
          </a:p>
          <a:p>
            <a:pPr eaLnBrk="1" hangingPunct="1"/>
            <a:r>
              <a:rPr lang="en-US" altLang="zh-CN">
                <a:solidFill>
                  <a:srgbClr val="FF0000"/>
                </a:solidFill>
              </a:rPr>
              <a:t>UDP</a:t>
            </a:r>
            <a:r>
              <a:rPr lang="zh-CN" altLang="en-US">
                <a:solidFill>
                  <a:srgbClr val="FF0000"/>
                </a:solidFill>
              </a:rPr>
              <a:t>回射服务器程序</a:t>
            </a:r>
            <a:endParaRPr lang="en-US" altLang="zh-CN">
              <a:solidFill>
                <a:srgbClr val="FF0000"/>
              </a:solidFill>
            </a:endParaRPr>
          </a:p>
          <a:p>
            <a:pPr eaLnBrk="1" hangingPunct="1"/>
            <a:r>
              <a:rPr lang="en-US" altLang="zh-CN">
                <a:solidFill>
                  <a:srgbClr val="FF0000"/>
                </a:solidFill>
              </a:rPr>
              <a:t>UDP</a:t>
            </a:r>
            <a:r>
              <a:rPr lang="zh-CN" altLang="en-US">
                <a:solidFill>
                  <a:srgbClr val="FF0000"/>
                </a:solidFill>
              </a:rPr>
              <a:t>回射客户程序</a:t>
            </a:r>
            <a:endParaRPr lang="en-US" altLang="zh-CN">
              <a:solidFill>
                <a:srgbClr val="FF0000"/>
              </a:solidFill>
            </a:endParaRPr>
          </a:p>
          <a:p>
            <a:pPr eaLnBrk="1" hangingPunct="1"/>
            <a:r>
              <a:rPr lang="zh-CN" altLang="en-US"/>
              <a:t>程序运行异常处理</a:t>
            </a:r>
            <a:endParaRPr lang="en-US" altLang="zh-CN"/>
          </a:p>
          <a:p>
            <a:pPr eaLnBrk="1" hangingPunct="1"/>
            <a:r>
              <a:rPr lang="en-US" altLang="zh-CN">
                <a:solidFill>
                  <a:srgbClr val="FF0000"/>
                </a:solidFill>
              </a:rPr>
              <a:t>UDP</a:t>
            </a:r>
            <a:r>
              <a:rPr lang="zh-CN" altLang="en-US">
                <a:solidFill>
                  <a:srgbClr val="FF0000"/>
                </a:solidFill>
              </a:rPr>
              <a:t>的</a:t>
            </a:r>
            <a:r>
              <a:rPr lang="en-US" altLang="zh-CN">
                <a:solidFill>
                  <a:srgbClr val="FF0000"/>
                </a:solidFill>
              </a:rPr>
              <a:t>connect</a:t>
            </a:r>
            <a:r>
              <a:rPr lang="zh-CN" altLang="en-US">
                <a:solidFill>
                  <a:srgbClr val="FF0000"/>
                </a:solidFill>
              </a:rPr>
              <a:t>函数</a:t>
            </a:r>
            <a:endParaRPr lang="en-US" altLang="zh-CN">
              <a:solidFill>
                <a:srgbClr val="FF0000"/>
              </a:solidFill>
            </a:endParaRPr>
          </a:p>
          <a:p>
            <a:pPr eaLnBrk="1" hangingPunct="1"/>
            <a:r>
              <a:rPr lang="en-US" altLang="zh-CN"/>
              <a:t>UDP</a:t>
            </a:r>
            <a:r>
              <a:rPr lang="zh-CN" altLang="en-US"/>
              <a:t>的其它问题</a:t>
            </a:r>
            <a:endParaRPr lang="en-US" altLang="zh-CN"/>
          </a:p>
          <a:p>
            <a:pPr eaLnBrk="1" hangingPunct="1"/>
            <a:r>
              <a:rPr lang="zh-CN" altLang="en-US">
                <a:solidFill>
                  <a:srgbClr val="FF0000"/>
                </a:solidFill>
              </a:rPr>
              <a:t>使用</a:t>
            </a:r>
            <a:r>
              <a:rPr lang="en-US" altLang="zh-CN">
                <a:solidFill>
                  <a:srgbClr val="FF0000"/>
                </a:solidFill>
              </a:rPr>
              <a:t>select</a:t>
            </a:r>
            <a:r>
              <a:rPr lang="zh-CN" altLang="en-US">
                <a:solidFill>
                  <a:srgbClr val="FF0000"/>
                </a:solidFill>
              </a:rPr>
              <a:t>函数的</a:t>
            </a:r>
            <a:r>
              <a:rPr lang="en-US" altLang="zh-CN">
                <a:solidFill>
                  <a:srgbClr val="FF0000"/>
                </a:solidFill>
              </a:rPr>
              <a:t>TCP</a:t>
            </a:r>
            <a:r>
              <a:rPr lang="zh-CN" altLang="en-US">
                <a:solidFill>
                  <a:srgbClr val="FF0000"/>
                </a:solidFill>
              </a:rPr>
              <a:t>和</a:t>
            </a:r>
            <a:r>
              <a:rPr lang="en-US" altLang="zh-CN">
                <a:solidFill>
                  <a:srgbClr val="FF0000"/>
                </a:solidFill>
              </a:rPr>
              <a:t>UDP</a:t>
            </a:r>
            <a:r>
              <a:rPr lang="zh-CN" altLang="en-US">
                <a:solidFill>
                  <a:srgbClr val="FF0000"/>
                </a:solidFill>
              </a:rPr>
              <a:t>回射服务器程序</a:t>
            </a:r>
            <a:endParaRPr lang="en-US" altLang="zh-CN">
              <a:solidFill>
                <a:srgbClr val="FF0000"/>
              </a:solidFill>
            </a:endParaRPr>
          </a:p>
          <a:p>
            <a:pPr eaLnBrk="1" hangingPunct="1"/>
            <a:r>
              <a:rPr lang="zh-CN" altLang="en-US"/>
              <a:t>小结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/>
          <p:cNvSpPr>
            <a:spLocks noChangeArrowheads="1"/>
          </p:cNvSpPr>
          <p:nvPr/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200">
                <a:solidFill>
                  <a:schemeClr val="tx2"/>
                </a:solidFill>
                <a:latin typeface="Garamond" panose="02020404030301010803" pitchFamily="18" charset="0"/>
              </a:rPr>
              <a:t>一、概述</a:t>
            </a:r>
          </a:p>
        </p:txBody>
      </p:sp>
      <p:pic>
        <p:nvPicPr>
          <p:cNvPr id="5123" name="Picture 2" descr="D:\基本TCP客户-服务器程序的套接口函数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0338" y="115888"/>
            <a:ext cx="4678362" cy="662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示&#10;&#10;描述已自动生成">
            <a:extLst>
              <a:ext uri="{FF2B5EF4-FFF2-40B4-BE49-F238E27FC236}">
                <a16:creationId xmlns:a16="http://schemas.microsoft.com/office/drawing/2014/main" id="{D3604CD6-D698-7713-3E2D-17893EA8E98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9264" y="404664"/>
            <a:ext cx="5585471" cy="564643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二、</a:t>
            </a:r>
            <a:r>
              <a:rPr lang="en-US" altLang="zh-CN"/>
              <a:t>recvfrom</a:t>
            </a:r>
            <a:r>
              <a:rPr lang="zh-CN" altLang="en-US"/>
              <a:t>和</a:t>
            </a:r>
            <a:r>
              <a:rPr lang="en-US" altLang="zh-CN"/>
              <a:t>sendto</a:t>
            </a:r>
            <a:r>
              <a:rPr lang="zh-CN" altLang="en-US"/>
              <a:t>函数</a:t>
            </a:r>
          </a:p>
        </p:txBody>
      </p:sp>
      <p:sp>
        <p:nvSpPr>
          <p:cNvPr id="9" name="TextBox 2"/>
          <p:cNvSpPr txBox="1">
            <a:spLocks noChangeArrowheads="1"/>
          </p:cNvSpPr>
          <p:nvPr/>
        </p:nvSpPr>
        <p:spPr bwMode="auto">
          <a:xfrm>
            <a:off x="684213" y="1397000"/>
            <a:ext cx="7848600" cy="289242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/>
              <a:t>#include &lt;sys/</a:t>
            </a:r>
            <a:r>
              <a:rPr lang="en-US" altLang="zh-CN" sz="2000" b="1" dirty="0" err="1"/>
              <a:t>socket.h</a:t>
            </a:r>
            <a:r>
              <a:rPr lang="en-US" altLang="zh-CN" sz="2000" b="1" dirty="0"/>
              <a:t>&gt;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 err="1"/>
              <a:t>ssize_t</a:t>
            </a:r>
            <a:r>
              <a:rPr lang="en-US" altLang="zh-CN" sz="2000" b="1" dirty="0"/>
              <a:t>  </a:t>
            </a:r>
            <a:r>
              <a:rPr lang="en-US" altLang="zh-CN" sz="2000" b="1" dirty="0" err="1"/>
              <a:t>recvfrom</a:t>
            </a:r>
            <a:r>
              <a:rPr lang="en-US" altLang="zh-CN" sz="2000" b="1" dirty="0"/>
              <a:t>(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</a:t>
            </a:r>
            <a:r>
              <a:rPr lang="en-US" altLang="zh-CN" sz="2000" b="1" dirty="0" err="1"/>
              <a:t>sockfd</a:t>
            </a:r>
            <a:r>
              <a:rPr lang="en-US" altLang="zh-CN" sz="2000" b="1" dirty="0"/>
              <a:t>, void * buff, </a:t>
            </a:r>
            <a:r>
              <a:rPr lang="en-US" altLang="zh-CN" sz="2000" b="1" dirty="0" err="1"/>
              <a:t>size_t</a:t>
            </a:r>
            <a:r>
              <a:rPr lang="en-US" altLang="zh-CN" sz="2000" b="1" dirty="0"/>
              <a:t> </a:t>
            </a:r>
            <a:r>
              <a:rPr lang="en-US" altLang="zh-CN" sz="2000" b="1" dirty="0" err="1"/>
              <a:t>nbytes</a:t>
            </a:r>
            <a:r>
              <a:rPr lang="en-US" altLang="zh-CN" sz="2000" b="1" dirty="0"/>
              <a:t>, 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flags, </a:t>
            </a:r>
            <a:r>
              <a:rPr lang="en-US" altLang="zh-CN" sz="2000" b="1" dirty="0" err="1"/>
              <a:t>struct</a:t>
            </a:r>
            <a:r>
              <a:rPr lang="en-US" altLang="zh-CN" sz="2000" b="1" dirty="0"/>
              <a:t> </a:t>
            </a:r>
            <a:r>
              <a:rPr lang="en-US" altLang="zh-CN" sz="2000" b="1" dirty="0" err="1"/>
              <a:t>sockaddr</a:t>
            </a:r>
            <a:r>
              <a:rPr lang="en-US" altLang="zh-CN" sz="2000" b="1" dirty="0"/>
              <a:t> * from, </a:t>
            </a:r>
            <a:r>
              <a:rPr lang="en-US" altLang="zh-CN" sz="2000" b="1" dirty="0" err="1"/>
              <a:t>socklen_t</a:t>
            </a:r>
            <a:r>
              <a:rPr lang="en-US" altLang="zh-CN" sz="2000" b="1" dirty="0"/>
              <a:t> * </a:t>
            </a:r>
            <a:r>
              <a:rPr lang="en-US" altLang="zh-CN" sz="2000" b="1" dirty="0" err="1"/>
              <a:t>addrlen</a:t>
            </a:r>
            <a:r>
              <a:rPr lang="en-US" altLang="zh-CN" sz="2000" b="1" dirty="0"/>
              <a:t>);</a:t>
            </a:r>
          </a:p>
          <a:p>
            <a:pPr eaLnBrk="1" hangingPunct="1">
              <a:lnSpc>
                <a:spcPct val="130000"/>
              </a:lnSpc>
              <a:defRPr/>
            </a:pPr>
            <a:endParaRPr lang="en-US" altLang="zh-CN" sz="2000" b="1" dirty="0"/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 err="1"/>
              <a:t>ssize_t</a:t>
            </a:r>
            <a:r>
              <a:rPr lang="en-US" altLang="zh-CN" sz="2000" b="1" dirty="0"/>
              <a:t>  </a:t>
            </a:r>
            <a:r>
              <a:rPr lang="en-US" altLang="zh-CN" sz="2000" b="1" dirty="0" err="1"/>
              <a:t>sendto</a:t>
            </a:r>
            <a:r>
              <a:rPr lang="en-US" altLang="zh-CN" sz="2000" b="1" dirty="0"/>
              <a:t>(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</a:t>
            </a:r>
            <a:r>
              <a:rPr lang="en-US" altLang="zh-CN" sz="2000" b="1" dirty="0" err="1"/>
              <a:t>sockfd</a:t>
            </a:r>
            <a:r>
              <a:rPr lang="en-US" altLang="zh-CN" sz="2000" b="1" dirty="0"/>
              <a:t>, </a:t>
            </a:r>
            <a:r>
              <a:rPr lang="en-US" altLang="zh-CN" sz="2000" b="1" dirty="0" err="1"/>
              <a:t>const</a:t>
            </a:r>
            <a:r>
              <a:rPr lang="en-US" altLang="zh-CN" sz="2000" b="1" dirty="0"/>
              <a:t> void * buff, </a:t>
            </a:r>
            <a:r>
              <a:rPr lang="en-US" altLang="zh-CN" sz="2000" b="1" dirty="0" err="1"/>
              <a:t>size_t</a:t>
            </a:r>
            <a:r>
              <a:rPr lang="en-US" altLang="zh-CN" sz="2000" b="1" dirty="0"/>
              <a:t>  </a:t>
            </a:r>
            <a:r>
              <a:rPr lang="en-US" altLang="zh-CN" sz="2000" b="1" dirty="0" err="1"/>
              <a:t>nbytes</a:t>
            </a:r>
            <a:r>
              <a:rPr lang="en-US" altLang="zh-CN" sz="2000" b="1" dirty="0"/>
              <a:t>, 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flags, </a:t>
            </a:r>
            <a:r>
              <a:rPr lang="en-US" altLang="zh-CN" sz="2000" b="1" dirty="0" err="1"/>
              <a:t>const</a:t>
            </a:r>
            <a:r>
              <a:rPr lang="en-US" altLang="zh-CN" sz="2000" b="1" dirty="0"/>
              <a:t> </a:t>
            </a:r>
            <a:r>
              <a:rPr lang="en-US" altLang="zh-CN" sz="2000" b="1" dirty="0" err="1"/>
              <a:t>struct</a:t>
            </a:r>
            <a:r>
              <a:rPr lang="en-US" altLang="zh-CN" sz="2000" b="1" dirty="0"/>
              <a:t>  </a:t>
            </a:r>
            <a:r>
              <a:rPr lang="en-US" altLang="zh-CN" sz="2000" b="1" dirty="0" err="1"/>
              <a:t>sockaddr</a:t>
            </a:r>
            <a:r>
              <a:rPr lang="en-US" altLang="zh-CN" sz="2000" b="1" dirty="0"/>
              <a:t> * to, </a:t>
            </a:r>
            <a:r>
              <a:rPr lang="en-US" altLang="zh-CN" sz="2000" b="1" dirty="0" err="1"/>
              <a:t>socklen_t</a:t>
            </a:r>
            <a:r>
              <a:rPr lang="en-US" altLang="zh-CN" sz="2000" b="1" dirty="0"/>
              <a:t>  </a:t>
            </a:r>
            <a:r>
              <a:rPr lang="en-US" altLang="zh-CN" sz="2000" b="1" dirty="0" err="1"/>
              <a:t>addrlen</a:t>
            </a:r>
            <a:r>
              <a:rPr lang="en-US" altLang="zh-CN" sz="2000" b="1" dirty="0"/>
              <a:t>);</a:t>
            </a:r>
          </a:p>
          <a:p>
            <a:pPr algn="r" eaLnBrk="1" hangingPunct="1">
              <a:lnSpc>
                <a:spcPct val="130000"/>
              </a:lnSpc>
              <a:defRPr/>
            </a:pPr>
            <a:r>
              <a:rPr lang="en-US" altLang="zh-CN" sz="2000" b="1" dirty="0"/>
              <a:t>		</a:t>
            </a:r>
            <a:r>
              <a:rPr lang="zh-CN" altLang="en-US" sz="2000" b="1" dirty="0"/>
              <a:t>两者均返回：读写字节</a:t>
            </a:r>
            <a:r>
              <a:rPr lang="en-US" altLang="zh-CN" sz="2000" b="1" dirty="0"/>
              <a:t>——</a:t>
            </a:r>
            <a:r>
              <a:rPr lang="zh-CN" altLang="en-US" sz="2000" b="1" dirty="0"/>
              <a:t>成功，</a:t>
            </a:r>
            <a:r>
              <a:rPr lang="en-US" altLang="zh-CN" sz="2000" b="1" dirty="0"/>
              <a:t>-1——</a:t>
            </a:r>
            <a:r>
              <a:rPr lang="zh-CN" altLang="en-US" sz="2000" b="1" dirty="0"/>
              <a:t>出错</a:t>
            </a:r>
          </a:p>
        </p:txBody>
      </p:sp>
      <p:sp>
        <p:nvSpPr>
          <p:cNvPr id="8" name="TextBox 2"/>
          <p:cNvSpPr txBox="1">
            <a:spLocks noChangeArrowheads="1"/>
          </p:cNvSpPr>
          <p:nvPr/>
        </p:nvSpPr>
        <p:spPr bwMode="auto">
          <a:xfrm>
            <a:off x="684213" y="4508500"/>
            <a:ext cx="7848600" cy="449263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/>
              <a:t>参数含义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三、 </a:t>
            </a:r>
            <a:r>
              <a:rPr lang="en-US" altLang="zh-CN"/>
              <a:t>UDP</a:t>
            </a:r>
            <a:r>
              <a:rPr lang="zh-CN" altLang="en-US"/>
              <a:t>回射服务器程序</a:t>
            </a:r>
          </a:p>
        </p:txBody>
      </p:sp>
      <p:pic>
        <p:nvPicPr>
          <p:cNvPr id="8195" name="Picture 6" descr="D:\使用UDP的简单回射客户-服务器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268413"/>
            <a:ext cx="7467600" cy="136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4" name="Picture 8" descr="D:\两个客户的UDP客户-服务器小结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150" y="2852738"/>
            <a:ext cx="5730875" cy="3744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四、 </a:t>
            </a:r>
            <a:r>
              <a:rPr lang="en-US" altLang="zh-CN"/>
              <a:t>UDP</a:t>
            </a:r>
            <a:r>
              <a:rPr lang="zh-CN" altLang="en-US"/>
              <a:t>回射客户程序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五、程序运行异常处理</a:t>
            </a:r>
          </a:p>
        </p:txBody>
      </p:sp>
      <p:sp>
        <p:nvSpPr>
          <p:cNvPr id="5" name="TextBox 2"/>
          <p:cNvSpPr txBox="1">
            <a:spLocks noChangeArrowheads="1"/>
          </p:cNvSpPr>
          <p:nvPr/>
        </p:nvSpPr>
        <p:spPr bwMode="auto">
          <a:xfrm>
            <a:off x="611188" y="1341438"/>
            <a:ext cx="7921625" cy="652462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800" b="1" dirty="0">
                <a:solidFill>
                  <a:schemeClr val="tx2"/>
                </a:solidFill>
              </a:rPr>
              <a:t>1. </a:t>
            </a:r>
            <a:r>
              <a:rPr lang="zh-CN" altLang="en-US" sz="2800" b="1" dirty="0">
                <a:solidFill>
                  <a:schemeClr val="tx2"/>
                </a:solidFill>
              </a:rPr>
              <a:t>数据报的丢失</a:t>
            </a:r>
          </a:p>
        </p:txBody>
      </p:sp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682625" y="2205038"/>
            <a:ext cx="7921625" cy="249237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如果一个客户数据报丢失（譬如说，被客户与服务器间的某路由器丢弃），客户将水远阻塞于</a:t>
            </a:r>
            <a:r>
              <a:rPr lang="en-US" altLang="zh-CN" sz="2000" b="1" dirty="0" err="1">
                <a:solidFill>
                  <a:srgbClr val="000000"/>
                </a:solidFill>
              </a:rPr>
              <a:t>dg_cli</a:t>
            </a:r>
            <a:r>
              <a:rPr lang="zh-CN" altLang="en-US" sz="2000" b="1" dirty="0">
                <a:solidFill>
                  <a:srgbClr val="000000"/>
                </a:solidFill>
              </a:rPr>
              <a:t>中对</a:t>
            </a:r>
            <a:r>
              <a:rPr lang="en-US" altLang="zh-CN" sz="2000" b="1" dirty="0" err="1">
                <a:solidFill>
                  <a:srgbClr val="000000"/>
                </a:solidFill>
              </a:rPr>
              <a:t>recvfrom</a:t>
            </a:r>
            <a:r>
              <a:rPr lang="zh-CN" altLang="en-US" sz="2000" b="1" dirty="0">
                <a:solidFill>
                  <a:srgbClr val="000000"/>
                </a:solidFill>
              </a:rPr>
              <a:t>的调用，等待一个永远不会到达的服务器应答。</a:t>
            </a:r>
            <a:endParaRPr lang="en-US" altLang="zh-CN" sz="2000" b="1" dirty="0">
              <a:solidFill>
                <a:srgbClr val="000000"/>
              </a:solidFill>
            </a:endParaRPr>
          </a:p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与此相似，如果客户数据报到达服务器，但服务器的应答丢失了，客户也将水远阻塞于</a:t>
            </a:r>
            <a:r>
              <a:rPr lang="en-US" altLang="zh-CN" sz="2000" b="1" dirty="0" err="1">
                <a:solidFill>
                  <a:srgbClr val="000000"/>
                </a:solidFill>
              </a:rPr>
              <a:t>recvfrom</a:t>
            </a:r>
            <a:r>
              <a:rPr lang="zh-CN" altLang="en-US" sz="2000" b="1" dirty="0">
                <a:solidFill>
                  <a:srgbClr val="000000"/>
                </a:solidFill>
              </a:rPr>
              <a:t>的调用。上述问题唯一的解决方法就是</a:t>
            </a:r>
            <a:r>
              <a:rPr lang="zh-CN" altLang="en-US" sz="2000" b="1" dirty="0">
                <a:solidFill>
                  <a:srgbClr val="FF0000"/>
                </a:solidFill>
              </a:rPr>
              <a:t>给客户</a:t>
            </a:r>
            <a:r>
              <a:rPr lang="en-US" altLang="zh-CN" sz="2000" b="1" dirty="0" err="1">
                <a:solidFill>
                  <a:srgbClr val="FF0000"/>
                </a:solidFill>
              </a:rPr>
              <a:t>recvfrom</a:t>
            </a:r>
            <a:r>
              <a:rPr lang="zh-CN" altLang="en-US" sz="2000" b="1" dirty="0">
                <a:solidFill>
                  <a:srgbClr val="FF0000"/>
                </a:solidFill>
              </a:rPr>
              <a:t>调用设置一个超时</a:t>
            </a:r>
            <a:r>
              <a:rPr lang="zh-CN" altLang="en-US" sz="2000" b="1" dirty="0">
                <a:solidFill>
                  <a:srgbClr val="000000"/>
                </a:solidFill>
              </a:rPr>
              <a:t>，我们在</a:t>
            </a:r>
            <a:r>
              <a:rPr lang="en-US" altLang="zh-CN" sz="2000" b="1" dirty="0">
                <a:solidFill>
                  <a:srgbClr val="000000"/>
                </a:solidFill>
              </a:rPr>
              <a:t>13.2 </a:t>
            </a:r>
            <a:r>
              <a:rPr lang="zh-CN" altLang="en-US" sz="2000" b="1" dirty="0">
                <a:solidFill>
                  <a:srgbClr val="000000"/>
                </a:solidFill>
              </a:rPr>
              <a:t>节中再作讨论。</a:t>
            </a:r>
            <a:endParaRPr lang="en-US" altLang="zh-CN" sz="2000" b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五、程序运行异常处理</a:t>
            </a:r>
          </a:p>
        </p:txBody>
      </p:sp>
      <p:sp>
        <p:nvSpPr>
          <p:cNvPr id="5" name="TextBox 2"/>
          <p:cNvSpPr txBox="1">
            <a:spLocks noChangeArrowheads="1"/>
          </p:cNvSpPr>
          <p:nvPr/>
        </p:nvSpPr>
        <p:spPr bwMode="auto">
          <a:xfrm>
            <a:off x="611188" y="1341438"/>
            <a:ext cx="7921625" cy="652462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800" b="1" dirty="0">
                <a:solidFill>
                  <a:schemeClr val="tx2"/>
                </a:solidFill>
              </a:rPr>
              <a:t>1. </a:t>
            </a:r>
            <a:r>
              <a:rPr lang="zh-CN" altLang="en-US" sz="2800" b="1" dirty="0">
                <a:solidFill>
                  <a:schemeClr val="tx2"/>
                </a:solidFill>
              </a:rPr>
              <a:t>数据报的丢失</a:t>
            </a:r>
          </a:p>
        </p:txBody>
      </p:sp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682625" y="2205038"/>
            <a:ext cx="7921625" cy="249237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仅仅是为调用</a:t>
            </a:r>
            <a:r>
              <a:rPr lang="en-US" altLang="zh-CN" sz="2000" b="1" dirty="0" err="1">
                <a:solidFill>
                  <a:srgbClr val="000000"/>
                </a:solidFill>
              </a:rPr>
              <a:t>recvfrom</a:t>
            </a:r>
            <a:r>
              <a:rPr lang="zh-CN" altLang="en-US" sz="2000" b="1" dirty="0">
                <a:solidFill>
                  <a:srgbClr val="000000"/>
                </a:solidFill>
              </a:rPr>
              <a:t>而设置超时并不是一个完整的办法。</a:t>
            </a:r>
            <a:endParaRPr lang="en-US" altLang="zh-CN" sz="2000" b="1" dirty="0">
              <a:solidFill>
                <a:srgbClr val="000000"/>
              </a:solidFill>
            </a:endParaRPr>
          </a:p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例如，如果我们超时了，我们无法辨别超时原因是数据报没有到达服务器，还是服务器的应答没有回到客户。如果客户的请求有点像“从账户</a:t>
            </a:r>
            <a:r>
              <a:rPr lang="en-US" altLang="zh-CN" sz="2000" b="1" dirty="0">
                <a:solidFill>
                  <a:srgbClr val="000000"/>
                </a:solidFill>
              </a:rPr>
              <a:t>A</a:t>
            </a:r>
            <a:r>
              <a:rPr lang="zh-CN" altLang="en-US" sz="2000" b="1" dirty="0">
                <a:solidFill>
                  <a:srgbClr val="000000"/>
                </a:solidFill>
              </a:rPr>
              <a:t>往账户</a:t>
            </a:r>
            <a:r>
              <a:rPr lang="en-US" altLang="zh-CN" sz="2000" b="1" dirty="0">
                <a:solidFill>
                  <a:srgbClr val="000000"/>
                </a:solidFill>
              </a:rPr>
              <a:t>B</a:t>
            </a:r>
            <a:r>
              <a:rPr lang="zh-CN" altLang="en-US" sz="2000" b="1" dirty="0">
                <a:solidFill>
                  <a:srgbClr val="000000"/>
                </a:solidFill>
              </a:rPr>
              <a:t>传送固定数目的钱”（而不是我们的简单回射服务器例子），则</a:t>
            </a:r>
            <a:r>
              <a:rPr lang="zh-CN" altLang="en-US" sz="2000" b="1" dirty="0">
                <a:solidFill>
                  <a:srgbClr val="FF0000"/>
                </a:solidFill>
              </a:rPr>
              <a:t>请求丢失和应答丢失是极不相同的</a:t>
            </a:r>
            <a:r>
              <a:rPr lang="zh-CN" altLang="en-US" sz="2000" b="1" dirty="0">
                <a:solidFill>
                  <a:srgbClr val="000000"/>
                </a:solidFill>
              </a:rPr>
              <a:t>。在</a:t>
            </a:r>
            <a:r>
              <a:rPr lang="en-US" altLang="zh-CN" sz="2000" b="1" dirty="0">
                <a:solidFill>
                  <a:srgbClr val="000000"/>
                </a:solidFill>
              </a:rPr>
              <a:t>20.5</a:t>
            </a:r>
            <a:r>
              <a:rPr lang="zh-CN" altLang="en-US" sz="2000" b="1" dirty="0">
                <a:solidFill>
                  <a:srgbClr val="000000"/>
                </a:solidFill>
              </a:rPr>
              <a:t>节，我们讨论如何给</a:t>
            </a:r>
            <a:r>
              <a:rPr lang="en-US" altLang="zh-CN" sz="2000" b="1" dirty="0">
                <a:solidFill>
                  <a:srgbClr val="000000"/>
                </a:solidFill>
              </a:rPr>
              <a:t>UDP</a:t>
            </a:r>
            <a:r>
              <a:rPr lang="zh-CN" altLang="en-US" sz="2000" b="1" dirty="0">
                <a:solidFill>
                  <a:srgbClr val="000000"/>
                </a:solidFill>
              </a:rPr>
              <a:t>客户</a:t>
            </a:r>
            <a:r>
              <a:rPr lang="en-US" altLang="zh-CN" sz="2000" b="1" dirty="0">
                <a:solidFill>
                  <a:srgbClr val="000000"/>
                </a:solidFill>
              </a:rPr>
              <a:t>-</a:t>
            </a:r>
            <a:r>
              <a:rPr lang="zh-CN" altLang="en-US" sz="2000" b="1" dirty="0">
                <a:solidFill>
                  <a:srgbClr val="000000"/>
                </a:solidFill>
              </a:rPr>
              <a:t>服务器程序增加可靠性。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五、程序运行异常处理</a:t>
            </a:r>
          </a:p>
        </p:txBody>
      </p:sp>
      <p:sp>
        <p:nvSpPr>
          <p:cNvPr id="5" name="TextBox 2"/>
          <p:cNvSpPr txBox="1">
            <a:spLocks noChangeArrowheads="1"/>
          </p:cNvSpPr>
          <p:nvPr/>
        </p:nvSpPr>
        <p:spPr bwMode="auto">
          <a:xfrm>
            <a:off x="611188" y="1341438"/>
            <a:ext cx="7921625" cy="59055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800" b="1" dirty="0">
                <a:solidFill>
                  <a:schemeClr val="tx2"/>
                </a:solidFill>
              </a:rPr>
              <a:t>2. </a:t>
            </a:r>
            <a:r>
              <a:rPr lang="zh-CN" altLang="en-US" sz="2800" b="1" dirty="0">
                <a:solidFill>
                  <a:schemeClr val="tx2"/>
                </a:solidFill>
              </a:rPr>
              <a:t>验证接收到的响应</a:t>
            </a:r>
          </a:p>
        </p:txBody>
      </p:sp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682625" y="2205038"/>
            <a:ext cx="7921625" cy="169227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知道客户临时端口号的任何进程都可往客户发送数据报，且这些数据报会与正常的服务器应答混淆。我们解决此问题的办法是：</a:t>
            </a:r>
            <a:r>
              <a:rPr lang="zh-CN" altLang="en-US" sz="2000" b="1" dirty="0">
                <a:solidFill>
                  <a:srgbClr val="FF0000"/>
                </a:solidFill>
              </a:rPr>
              <a:t>修改对</a:t>
            </a:r>
            <a:r>
              <a:rPr lang="en-US" altLang="zh-CN" sz="2000" b="1" dirty="0" err="1">
                <a:solidFill>
                  <a:srgbClr val="FF0000"/>
                </a:solidFill>
              </a:rPr>
              <a:t>recvfrom</a:t>
            </a:r>
            <a:r>
              <a:rPr lang="zh-CN" altLang="en-US" sz="2000" b="1" dirty="0">
                <a:solidFill>
                  <a:srgbClr val="FF0000"/>
                </a:solidFill>
              </a:rPr>
              <a:t>的调用以返回发送响应者的</a:t>
            </a:r>
            <a:r>
              <a:rPr lang="en-US" altLang="zh-CN" sz="2000" b="1" dirty="0">
                <a:solidFill>
                  <a:srgbClr val="FF0000"/>
                </a:solidFill>
              </a:rPr>
              <a:t>IP</a:t>
            </a:r>
            <a:r>
              <a:rPr lang="zh-CN" altLang="en-US" sz="2000" b="1" dirty="0">
                <a:solidFill>
                  <a:srgbClr val="FF0000"/>
                </a:solidFill>
              </a:rPr>
              <a:t>地址和端口号</a:t>
            </a:r>
            <a:r>
              <a:rPr lang="zh-CN" altLang="en-US" sz="2000" b="1" dirty="0">
                <a:solidFill>
                  <a:srgbClr val="000000"/>
                </a:solidFill>
              </a:rPr>
              <a:t>，并忽略不是来自我们的数据报所发往服务器的任何数据报。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五、程序运行异常处理</a:t>
            </a:r>
          </a:p>
        </p:txBody>
      </p:sp>
      <p:sp>
        <p:nvSpPr>
          <p:cNvPr id="5" name="TextBox 2"/>
          <p:cNvSpPr txBox="1">
            <a:spLocks noChangeArrowheads="1"/>
          </p:cNvSpPr>
          <p:nvPr/>
        </p:nvSpPr>
        <p:spPr bwMode="auto">
          <a:xfrm>
            <a:off x="611188" y="1341438"/>
            <a:ext cx="7921625" cy="652462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800" b="1" dirty="0">
                <a:solidFill>
                  <a:schemeClr val="tx2"/>
                </a:solidFill>
              </a:rPr>
              <a:t>3. </a:t>
            </a:r>
            <a:r>
              <a:rPr lang="zh-CN" altLang="en-US" sz="2800" b="1" dirty="0">
                <a:solidFill>
                  <a:schemeClr val="tx2"/>
                </a:solidFill>
              </a:rPr>
              <a:t>服务器进程未运行</a:t>
            </a:r>
          </a:p>
        </p:txBody>
      </p:sp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628650" y="2205038"/>
            <a:ext cx="7921625" cy="129222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客户向服务器发送数据报；</a:t>
            </a:r>
            <a:endParaRPr lang="en-US" altLang="zh-CN" sz="2000" b="1" dirty="0">
              <a:solidFill>
                <a:srgbClr val="000000"/>
              </a:solidFill>
            </a:endParaRPr>
          </a:p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服务器响应以“端口不可达”</a:t>
            </a:r>
            <a:r>
              <a:rPr lang="en-US" altLang="zh-CN" sz="2000" b="1" dirty="0">
                <a:solidFill>
                  <a:srgbClr val="000000"/>
                </a:solidFill>
              </a:rPr>
              <a:t>ICMP</a:t>
            </a:r>
            <a:r>
              <a:rPr lang="zh-CN" altLang="en-US" sz="2000" b="1" dirty="0">
                <a:solidFill>
                  <a:srgbClr val="000000"/>
                </a:solidFill>
              </a:rPr>
              <a:t>消息；</a:t>
            </a:r>
            <a:endParaRPr lang="en-US" altLang="zh-CN" sz="2000" b="1" dirty="0">
              <a:solidFill>
                <a:srgbClr val="000000"/>
              </a:solidFill>
            </a:endParaRPr>
          </a:p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此消息不返回给进程，客户永远阻塞于对</a:t>
            </a:r>
            <a:r>
              <a:rPr lang="en-US" altLang="zh-CN" sz="2000" b="1" dirty="0" err="1">
                <a:solidFill>
                  <a:srgbClr val="000000"/>
                </a:solidFill>
              </a:rPr>
              <a:t>recvfrom</a:t>
            </a:r>
            <a:r>
              <a:rPr lang="zh-CN" altLang="en-US" sz="2000" b="1" dirty="0">
                <a:solidFill>
                  <a:srgbClr val="000000"/>
                </a:solidFill>
              </a:rPr>
              <a:t>函数的调用。</a:t>
            </a:r>
          </a:p>
        </p:txBody>
      </p:sp>
      <p:sp>
        <p:nvSpPr>
          <p:cNvPr id="7" name="TextBox 2"/>
          <p:cNvSpPr txBox="1">
            <a:spLocks noChangeArrowheads="1"/>
          </p:cNvSpPr>
          <p:nvPr/>
        </p:nvSpPr>
        <p:spPr bwMode="auto">
          <a:xfrm>
            <a:off x="611188" y="3721100"/>
            <a:ext cx="7921625" cy="89217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我们将此</a:t>
            </a:r>
            <a:r>
              <a:rPr lang="en-US" altLang="zh-CN" sz="2000" b="1" dirty="0">
                <a:solidFill>
                  <a:srgbClr val="000000"/>
                </a:solidFill>
              </a:rPr>
              <a:t>ICMP</a:t>
            </a:r>
            <a:r>
              <a:rPr lang="zh-CN" altLang="en-US" sz="2000" b="1" dirty="0">
                <a:solidFill>
                  <a:srgbClr val="000000"/>
                </a:solidFill>
              </a:rPr>
              <a:t>错误称为异步错误（</a:t>
            </a:r>
            <a:r>
              <a:rPr lang="en-US" altLang="zh-CN" sz="2000" b="1" dirty="0">
                <a:solidFill>
                  <a:srgbClr val="000000"/>
                </a:solidFill>
              </a:rPr>
              <a:t>asynchronous error</a:t>
            </a:r>
            <a:r>
              <a:rPr lang="zh-CN" altLang="en-US" sz="2000" b="1" dirty="0">
                <a:solidFill>
                  <a:srgbClr val="000000"/>
                </a:solidFill>
              </a:rPr>
              <a:t>）。</a:t>
            </a:r>
            <a:endParaRPr lang="en-US" altLang="zh-CN" sz="2000" b="1" dirty="0">
              <a:solidFill>
                <a:srgbClr val="000000"/>
              </a:solidFill>
            </a:endParaRPr>
          </a:p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该错误是由</a:t>
            </a:r>
            <a:r>
              <a:rPr lang="en-US" altLang="zh-CN" sz="2000" b="1" dirty="0" err="1">
                <a:solidFill>
                  <a:srgbClr val="000000"/>
                </a:solidFill>
              </a:rPr>
              <a:t>sendto</a:t>
            </a:r>
            <a:r>
              <a:rPr lang="zh-CN" altLang="en-US" sz="2000" b="1" dirty="0">
                <a:solidFill>
                  <a:srgbClr val="000000"/>
                </a:solidFill>
              </a:rPr>
              <a:t>引起的，但</a:t>
            </a:r>
            <a:r>
              <a:rPr lang="en-US" altLang="zh-CN" sz="2000" b="1" dirty="0" err="1">
                <a:solidFill>
                  <a:srgbClr val="000000"/>
                </a:solidFill>
              </a:rPr>
              <a:t>sendto</a:t>
            </a:r>
            <a:r>
              <a:rPr lang="zh-CN" altLang="en-US" sz="2000" b="1" dirty="0">
                <a:solidFill>
                  <a:srgbClr val="000000"/>
                </a:solidFill>
              </a:rPr>
              <a:t>本身却返回成功。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UDP</a:t>
            </a:r>
            <a:r>
              <a:rPr lang="zh-CN" altLang="en-US"/>
              <a:t>程序例子小结</a:t>
            </a:r>
          </a:p>
        </p:txBody>
      </p:sp>
      <p:pic>
        <p:nvPicPr>
          <p:cNvPr id="14339" name="Picture 8" descr="D:\从客户的角度总结UDP客户-服务器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625" y="1357313"/>
            <a:ext cx="6883400" cy="428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UDP</a:t>
            </a:r>
            <a:r>
              <a:rPr lang="zh-CN" altLang="en-US"/>
              <a:t>程序例子小结</a:t>
            </a:r>
          </a:p>
        </p:txBody>
      </p:sp>
      <p:pic>
        <p:nvPicPr>
          <p:cNvPr id="3" name="图片 2" descr="图示, 示意图&#10;&#10;描述已自动生成">
            <a:extLst>
              <a:ext uri="{FF2B5EF4-FFF2-40B4-BE49-F238E27FC236}">
                <a16:creationId xmlns:a16="http://schemas.microsoft.com/office/drawing/2014/main" id="{8B0853A5-9F09-5B08-6D3A-CC0D78728D1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513" y="1539236"/>
            <a:ext cx="7232975" cy="433803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UDP</a:t>
            </a:r>
            <a:r>
              <a:rPr lang="zh-CN" altLang="en-US"/>
              <a:t>程序例子小结</a:t>
            </a:r>
          </a:p>
        </p:txBody>
      </p:sp>
      <p:graphicFrame>
        <p:nvGraphicFramePr>
          <p:cNvPr id="4" name="Group 195"/>
          <p:cNvGraphicFramePr>
            <a:graphicFrameLocks noGrp="1"/>
          </p:cNvGraphicFramePr>
          <p:nvPr>
            <p:ph/>
          </p:nvPr>
        </p:nvGraphicFramePr>
        <p:xfrm>
          <a:off x="395288" y="1628775"/>
          <a:ext cx="8424861" cy="3600451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30243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2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0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来自客户的</a:t>
                      </a:r>
                      <a:r>
                        <a:rPr kumimoji="0" lang="en-US" altLang="zh-CN" sz="2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IP</a:t>
                      </a:r>
                      <a:r>
                        <a:rPr kumimoji="0" lang="zh-CN" altLang="en-US" sz="2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数据报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39" marR="91439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TCP</a:t>
                      </a:r>
                      <a:r>
                        <a:rPr kumimoji="0" lang="zh-CN" altLang="en-US" sz="2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服务器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39" marR="91439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UDP</a:t>
                      </a:r>
                      <a:r>
                        <a:rPr kumimoji="0" lang="zh-CN" altLang="en-US" sz="2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服务器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39" marR="91439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9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u="none" strike="noStrike" cap="none" normalizeH="0" baseline="0">
                          <a:ln>
                            <a:noFill/>
                          </a:ln>
                          <a:effectLst/>
                        </a:rPr>
                        <a:t>源</a:t>
                      </a:r>
                      <a:r>
                        <a:rPr kumimoji="0" lang="en-US" altLang="zh-CN" sz="2400" b="1" u="none" strike="noStrike" cap="none" normalizeH="0" baseline="0">
                          <a:ln>
                            <a:noFill/>
                          </a:ln>
                          <a:effectLst/>
                        </a:rPr>
                        <a:t>IP</a:t>
                      </a:r>
                      <a:r>
                        <a:rPr kumimoji="0" lang="zh-CN" altLang="en-US" sz="2400" b="1" u="none" strike="noStrike" cap="none" normalizeH="0" baseline="0">
                          <a:ln>
                            <a:noFill/>
                          </a:ln>
                          <a:effectLst/>
                        </a:rPr>
                        <a:t>地址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39" marR="91439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u="none" strike="noStrike" cap="none" normalizeH="0" baseline="0">
                          <a:ln>
                            <a:noFill/>
                          </a:ln>
                          <a:effectLst/>
                        </a:rPr>
                        <a:t>accept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39" marR="91439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recvfrom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39" marR="91439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u="none" strike="noStrike" cap="none" normalizeH="0" baseline="0">
                          <a:ln>
                            <a:noFill/>
                          </a:ln>
                          <a:effectLst/>
                        </a:rPr>
                        <a:t>源端口号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39" marR="91439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accept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39" marR="91439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recvfrom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39" marR="91439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9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u="none" strike="noStrike" cap="none" normalizeH="0" baseline="0">
                          <a:ln>
                            <a:noFill/>
                          </a:ln>
                          <a:effectLst/>
                        </a:rPr>
                        <a:t>目的</a:t>
                      </a:r>
                      <a:r>
                        <a:rPr kumimoji="0" lang="en-US" altLang="zh-CN" sz="2400" b="1" u="none" strike="noStrike" cap="none" normalizeH="0" baseline="0">
                          <a:ln>
                            <a:noFill/>
                          </a:ln>
                          <a:effectLst/>
                        </a:rPr>
                        <a:t>IP</a:t>
                      </a:r>
                      <a:r>
                        <a:rPr kumimoji="0" lang="zh-CN" altLang="en-US" sz="2400" b="1" u="none" strike="noStrike" cap="none" normalizeH="0" baseline="0">
                          <a:ln>
                            <a:noFill/>
                          </a:ln>
                          <a:effectLst/>
                        </a:rPr>
                        <a:t>地址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39" marR="91439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u="none" strike="noStrike" cap="none" normalizeH="0" baseline="0">
                          <a:ln>
                            <a:noFill/>
                          </a:ln>
                          <a:effectLst/>
                        </a:rPr>
                        <a:t>getsockname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39" marR="91439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recvmsg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39" marR="91439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u="none" strike="noStrike" cap="none" normalizeH="0" baseline="0">
                          <a:ln>
                            <a:noFill/>
                          </a:ln>
                          <a:effectLst/>
                        </a:rPr>
                        <a:t>目的端口号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39" marR="91439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u="none" strike="noStrike" cap="none" normalizeH="0" baseline="0">
                          <a:ln>
                            <a:noFill/>
                          </a:ln>
                          <a:effectLst/>
                        </a:rPr>
                        <a:t>getsockname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39" marR="91439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getsockname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39" marR="91439" anchor="ctr" horzOverflow="overflow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413" name="TextBox 1"/>
          <p:cNvSpPr txBox="1">
            <a:spLocks noChangeArrowheads="1"/>
          </p:cNvSpPr>
          <p:nvPr/>
        </p:nvSpPr>
        <p:spPr bwMode="auto">
          <a:xfrm>
            <a:off x="395288" y="5373688"/>
            <a:ext cx="84248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/>
              <a:t>服务器可从到达的</a:t>
            </a:r>
            <a:r>
              <a:rPr lang="en-US" altLang="zh-CN" sz="2000"/>
              <a:t>IP</a:t>
            </a:r>
            <a:r>
              <a:rPr lang="zh-CN" altLang="en-US" sz="2000"/>
              <a:t>数据报中获取的信息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六、</a:t>
            </a:r>
            <a:r>
              <a:rPr lang="en-US" altLang="zh-CN" dirty="0"/>
              <a:t>UDP</a:t>
            </a:r>
            <a:r>
              <a:rPr lang="zh-CN" altLang="en-US" dirty="0"/>
              <a:t>的</a:t>
            </a:r>
            <a:r>
              <a:rPr lang="en-US" altLang="zh-CN" dirty="0"/>
              <a:t>connect</a:t>
            </a:r>
            <a:r>
              <a:rPr lang="zh-CN" altLang="en-US" dirty="0"/>
              <a:t>函数</a:t>
            </a:r>
          </a:p>
        </p:txBody>
      </p:sp>
      <p:sp>
        <p:nvSpPr>
          <p:cNvPr id="5" name="TextBox 2"/>
          <p:cNvSpPr txBox="1">
            <a:spLocks noChangeArrowheads="1"/>
          </p:cNvSpPr>
          <p:nvPr/>
        </p:nvSpPr>
        <p:spPr bwMode="auto">
          <a:xfrm>
            <a:off x="611188" y="1341438"/>
            <a:ext cx="7921625" cy="124777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给</a:t>
            </a:r>
            <a:r>
              <a:rPr lang="en-US" altLang="zh-CN" sz="2000" b="1" dirty="0">
                <a:solidFill>
                  <a:srgbClr val="000000"/>
                </a:solidFill>
              </a:rPr>
              <a:t>UDP</a:t>
            </a:r>
            <a:r>
              <a:rPr lang="zh-CN" altLang="en-US" sz="2000" b="1" dirty="0">
                <a:solidFill>
                  <a:srgbClr val="000000"/>
                </a:solidFill>
              </a:rPr>
              <a:t>套接口调用</a:t>
            </a:r>
            <a:r>
              <a:rPr lang="en-US" altLang="zh-CN" sz="2000" b="1" dirty="0">
                <a:solidFill>
                  <a:srgbClr val="000000"/>
                </a:solidFill>
              </a:rPr>
              <a:t>connect</a:t>
            </a:r>
            <a:r>
              <a:rPr lang="zh-CN" altLang="en-US" sz="2000" b="1" dirty="0">
                <a:solidFill>
                  <a:srgbClr val="000000"/>
                </a:solidFill>
              </a:rPr>
              <a:t>，与</a:t>
            </a:r>
            <a:r>
              <a:rPr lang="en-US" altLang="zh-CN" sz="2000" b="1" dirty="0">
                <a:solidFill>
                  <a:srgbClr val="000000"/>
                </a:solidFill>
              </a:rPr>
              <a:t>TCP</a:t>
            </a:r>
            <a:r>
              <a:rPr lang="zh-CN" altLang="en-US" sz="2000" b="1" dirty="0">
                <a:solidFill>
                  <a:srgbClr val="000000"/>
                </a:solidFill>
              </a:rPr>
              <a:t>连接毫不相同：</a:t>
            </a:r>
            <a:r>
              <a:rPr lang="zh-CN" altLang="en-US" sz="2000" b="1" dirty="0">
                <a:solidFill>
                  <a:srgbClr val="FF0000"/>
                </a:solidFill>
              </a:rPr>
              <a:t>没有三路握手过程。内核只是记录对方的</a:t>
            </a:r>
            <a:r>
              <a:rPr lang="en-US" altLang="zh-CN" sz="2000" b="1" dirty="0">
                <a:solidFill>
                  <a:srgbClr val="FF0000"/>
                </a:solidFill>
              </a:rPr>
              <a:t>IP</a:t>
            </a:r>
            <a:r>
              <a:rPr lang="zh-CN" altLang="en-US" sz="2000" b="1" dirty="0">
                <a:solidFill>
                  <a:srgbClr val="FF0000"/>
                </a:solidFill>
              </a:rPr>
              <a:t>地址和端口号，</a:t>
            </a:r>
            <a:r>
              <a:rPr lang="zh-CN" altLang="en-US" sz="2000" b="1" dirty="0">
                <a:solidFill>
                  <a:srgbClr val="000000"/>
                </a:solidFill>
              </a:rPr>
              <a:t>它们包含在传递给</a:t>
            </a:r>
            <a:r>
              <a:rPr lang="en-US" altLang="zh-CN" sz="2000" b="1" dirty="0">
                <a:solidFill>
                  <a:srgbClr val="000000"/>
                </a:solidFill>
              </a:rPr>
              <a:t>connect</a:t>
            </a:r>
            <a:r>
              <a:rPr lang="zh-CN" altLang="en-US" sz="2000" b="1" dirty="0">
                <a:solidFill>
                  <a:srgbClr val="000000"/>
                </a:solidFill>
              </a:rPr>
              <a:t>的套接口地址结构中，并立即返回给调用进程。</a:t>
            </a:r>
          </a:p>
        </p:txBody>
      </p:sp>
      <p:sp>
        <p:nvSpPr>
          <p:cNvPr id="7" name="TextBox 2"/>
          <p:cNvSpPr txBox="1">
            <a:spLocks noChangeArrowheads="1"/>
          </p:cNvSpPr>
          <p:nvPr/>
        </p:nvSpPr>
        <p:spPr bwMode="auto">
          <a:xfrm>
            <a:off x="611188" y="2797175"/>
            <a:ext cx="7921625" cy="84772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未连接</a:t>
            </a:r>
            <a:r>
              <a:rPr lang="en-US" altLang="zh-CN" sz="2000" b="1" dirty="0">
                <a:solidFill>
                  <a:srgbClr val="000000"/>
                </a:solidFill>
              </a:rPr>
              <a:t>UDP</a:t>
            </a:r>
            <a:r>
              <a:rPr lang="zh-CN" altLang="en-US" sz="2000" b="1" dirty="0">
                <a:solidFill>
                  <a:srgbClr val="000000"/>
                </a:solidFill>
              </a:rPr>
              <a:t>套接口（</a:t>
            </a:r>
            <a:r>
              <a:rPr lang="en-US" altLang="zh-CN" sz="2000" b="1" dirty="0">
                <a:solidFill>
                  <a:srgbClr val="000000"/>
                </a:solidFill>
              </a:rPr>
              <a:t>unconnected UDP socket</a:t>
            </a:r>
            <a:r>
              <a:rPr lang="zh-CN" altLang="en-US" sz="2000" b="1" dirty="0">
                <a:solidFill>
                  <a:srgbClr val="000000"/>
                </a:solidFill>
              </a:rPr>
              <a:t>），当我们创建</a:t>
            </a:r>
            <a:r>
              <a:rPr lang="en-US" altLang="zh-CN" sz="2000" b="1" dirty="0">
                <a:solidFill>
                  <a:srgbClr val="000000"/>
                </a:solidFill>
              </a:rPr>
              <a:t>UDP</a:t>
            </a:r>
            <a:r>
              <a:rPr lang="zh-CN" altLang="en-US" sz="2000" b="1" dirty="0">
                <a:solidFill>
                  <a:srgbClr val="000000"/>
                </a:solidFill>
              </a:rPr>
              <a:t>套接口时，缺省为此；</a:t>
            </a:r>
          </a:p>
        </p:txBody>
      </p:sp>
      <p:sp>
        <p:nvSpPr>
          <p:cNvPr id="22" name="TextBox 2"/>
          <p:cNvSpPr txBox="1">
            <a:spLocks noChangeArrowheads="1"/>
          </p:cNvSpPr>
          <p:nvPr/>
        </p:nvSpPr>
        <p:spPr bwMode="auto">
          <a:xfrm>
            <a:off x="611188" y="3876675"/>
            <a:ext cx="7921625" cy="84772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已连接</a:t>
            </a:r>
            <a:r>
              <a:rPr lang="en-US" altLang="zh-CN" sz="2000" b="1" dirty="0">
                <a:solidFill>
                  <a:srgbClr val="000000"/>
                </a:solidFill>
              </a:rPr>
              <a:t>UDP</a:t>
            </a:r>
            <a:r>
              <a:rPr lang="zh-CN" altLang="en-US" sz="2000" b="1" dirty="0">
                <a:solidFill>
                  <a:srgbClr val="000000"/>
                </a:solidFill>
              </a:rPr>
              <a:t>套接口（</a:t>
            </a:r>
            <a:r>
              <a:rPr lang="en-US" altLang="zh-CN" sz="2000" b="1" dirty="0">
                <a:solidFill>
                  <a:srgbClr val="000000"/>
                </a:solidFill>
              </a:rPr>
              <a:t>connected UDP socket</a:t>
            </a:r>
            <a:r>
              <a:rPr lang="zh-CN" altLang="en-US" sz="2000" b="1" dirty="0">
                <a:solidFill>
                  <a:srgbClr val="000000"/>
                </a:solidFill>
              </a:rPr>
              <a:t>），对</a:t>
            </a:r>
            <a:r>
              <a:rPr lang="en-US" altLang="zh-CN" sz="2000" b="1" dirty="0">
                <a:solidFill>
                  <a:srgbClr val="000000"/>
                </a:solidFill>
              </a:rPr>
              <a:t>UDP</a:t>
            </a:r>
            <a:r>
              <a:rPr lang="zh-CN" altLang="en-US" sz="2000" b="1" dirty="0">
                <a:solidFill>
                  <a:srgbClr val="000000"/>
                </a:solidFill>
              </a:rPr>
              <a:t>套接口调用</a:t>
            </a:r>
            <a:r>
              <a:rPr lang="en-US" altLang="zh-CN" sz="2000" b="1" dirty="0">
                <a:solidFill>
                  <a:srgbClr val="000000"/>
                </a:solidFill>
              </a:rPr>
              <a:t>connect</a:t>
            </a:r>
            <a:r>
              <a:rPr lang="zh-CN" altLang="en-US" sz="2000" b="1" dirty="0">
                <a:solidFill>
                  <a:srgbClr val="000000"/>
                </a:solidFill>
              </a:rPr>
              <a:t>的结果。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六、</a:t>
            </a:r>
            <a:r>
              <a:rPr lang="en-US" altLang="zh-CN"/>
              <a:t>UDP</a:t>
            </a:r>
            <a:r>
              <a:rPr lang="zh-CN" altLang="en-US"/>
              <a:t>的</a:t>
            </a:r>
            <a:r>
              <a:rPr lang="en-US" altLang="zh-CN"/>
              <a:t>connect</a:t>
            </a:r>
            <a:r>
              <a:rPr lang="zh-CN" altLang="en-US"/>
              <a:t>函数</a:t>
            </a:r>
          </a:p>
        </p:txBody>
      </p:sp>
      <p:sp>
        <p:nvSpPr>
          <p:cNvPr id="5" name="TextBox 2"/>
          <p:cNvSpPr txBox="1">
            <a:spLocks noChangeArrowheads="1"/>
          </p:cNvSpPr>
          <p:nvPr/>
        </p:nvSpPr>
        <p:spPr bwMode="auto">
          <a:xfrm>
            <a:off x="611188" y="1196975"/>
            <a:ext cx="7921625" cy="84772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对于已连接</a:t>
            </a:r>
            <a:r>
              <a:rPr lang="en-US" altLang="zh-CN" sz="2000" b="1" dirty="0">
                <a:solidFill>
                  <a:srgbClr val="000000"/>
                </a:solidFill>
              </a:rPr>
              <a:t>UDP</a:t>
            </a:r>
            <a:r>
              <a:rPr lang="zh-CN" altLang="en-US" sz="2000" b="1" dirty="0">
                <a:solidFill>
                  <a:srgbClr val="000000"/>
                </a:solidFill>
              </a:rPr>
              <a:t>套接口，与缺省的未连接</a:t>
            </a:r>
            <a:r>
              <a:rPr lang="en-US" altLang="zh-CN" sz="2000" b="1" dirty="0">
                <a:solidFill>
                  <a:srgbClr val="000000"/>
                </a:solidFill>
              </a:rPr>
              <a:t>UDP</a:t>
            </a:r>
            <a:r>
              <a:rPr lang="zh-CN" altLang="en-US" sz="2000" b="1" dirty="0">
                <a:solidFill>
                  <a:srgbClr val="000000"/>
                </a:solidFill>
              </a:rPr>
              <a:t>套接口相比，发生了三个变化：</a:t>
            </a:r>
          </a:p>
        </p:txBody>
      </p:sp>
      <p:sp>
        <p:nvSpPr>
          <p:cNvPr id="7" name="TextBox 2"/>
          <p:cNvSpPr txBox="1">
            <a:spLocks noChangeArrowheads="1"/>
          </p:cNvSpPr>
          <p:nvPr/>
        </p:nvSpPr>
        <p:spPr bwMode="auto">
          <a:xfrm>
            <a:off x="611188" y="2205038"/>
            <a:ext cx="7921625" cy="164782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1</a:t>
            </a:r>
            <a:r>
              <a:rPr lang="zh-CN" altLang="en-US" sz="2000" b="1" dirty="0">
                <a:solidFill>
                  <a:srgbClr val="000000"/>
                </a:solidFill>
              </a:rPr>
              <a:t>）我们再也不能给输出操作指定目的</a:t>
            </a:r>
            <a:r>
              <a:rPr lang="en-US" altLang="zh-CN" sz="2000" b="1" dirty="0">
                <a:solidFill>
                  <a:srgbClr val="000000"/>
                </a:solidFill>
              </a:rPr>
              <a:t>IP</a:t>
            </a:r>
            <a:r>
              <a:rPr lang="zh-CN" altLang="en-US" sz="2000" b="1" dirty="0">
                <a:solidFill>
                  <a:srgbClr val="000000"/>
                </a:solidFill>
              </a:rPr>
              <a:t>地址和端口号。也就是说，我们不使用</a:t>
            </a:r>
            <a:r>
              <a:rPr lang="en-US" altLang="zh-CN" sz="2000" b="1" dirty="0" err="1">
                <a:solidFill>
                  <a:srgbClr val="000000"/>
                </a:solidFill>
              </a:rPr>
              <a:t>sendto</a:t>
            </a:r>
            <a:r>
              <a:rPr lang="zh-CN" altLang="en-US" sz="2000" b="1" dirty="0">
                <a:solidFill>
                  <a:srgbClr val="000000"/>
                </a:solidFill>
              </a:rPr>
              <a:t>，而使用</a:t>
            </a:r>
            <a:r>
              <a:rPr lang="en-US" altLang="zh-CN" sz="2000" b="1" dirty="0">
                <a:solidFill>
                  <a:srgbClr val="000000"/>
                </a:solidFill>
              </a:rPr>
              <a:t>write</a:t>
            </a:r>
            <a:r>
              <a:rPr lang="zh-CN" altLang="en-US" sz="2000" b="1" dirty="0">
                <a:solidFill>
                  <a:srgbClr val="000000"/>
                </a:solidFill>
              </a:rPr>
              <a:t>或</a:t>
            </a:r>
            <a:r>
              <a:rPr lang="en-US" altLang="zh-CN" sz="2000" b="1" dirty="0">
                <a:solidFill>
                  <a:srgbClr val="000000"/>
                </a:solidFill>
              </a:rPr>
              <a:t>send</a:t>
            </a:r>
            <a:r>
              <a:rPr lang="zh-CN" altLang="en-US" sz="2000" b="1" dirty="0">
                <a:solidFill>
                  <a:srgbClr val="000000"/>
                </a:solidFill>
              </a:rPr>
              <a:t>。</a:t>
            </a:r>
            <a:endParaRPr lang="en-US" altLang="zh-CN" sz="2000" b="1" dirty="0">
              <a:solidFill>
                <a:srgbClr val="000000"/>
              </a:solidFill>
            </a:endParaRPr>
          </a:p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写到已连接</a:t>
            </a:r>
            <a:r>
              <a:rPr lang="en-US" altLang="zh-CN" sz="2000" b="1" dirty="0">
                <a:solidFill>
                  <a:srgbClr val="000000"/>
                </a:solidFill>
              </a:rPr>
              <a:t>UDP</a:t>
            </a:r>
            <a:r>
              <a:rPr lang="zh-CN" altLang="en-US" sz="2000" b="1" dirty="0">
                <a:solidFill>
                  <a:srgbClr val="000000"/>
                </a:solidFill>
              </a:rPr>
              <a:t>套接口上的任何东西都自动发送到由</a:t>
            </a:r>
            <a:r>
              <a:rPr lang="en-US" altLang="zh-CN" sz="2000" b="1" dirty="0">
                <a:solidFill>
                  <a:srgbClr val="000000"/>
                </a:solidFill>
              </a:rPr>
              <a:t>connect</a:t>
            </a:r>
            <a:r>
              <a:rPr lang="zh-CN" altLang="en-US" sz="2000" b="1" dirty="0">
                <a:solidFill>
                  <a:srgbClr val="000000"/>
                </a:solidFill>
              </a:rPr>
              <a:t>所指定的协议地址。</a:t>
            </a:r>
          </a:p>
        </p:txBody>
      </p:sp>
      <p:sp>
        <p:nvSpPr>
          <p:cNvPr id="22" name="TextBox 2"/>
          <p:cNvSpPr txBox="1">
            <a:spLocks noChangeArrowheads="1"/>
          </p:cNvSpPr>
          <p:nvPr/>
        </p:nvSpPr>
        <p:spPr bwMode="auto">
          <a:xfrm>
            <a:off x="611188" y="4005263"/>
            <a:ext cx="7921625" cy="124777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2</a:t>
            </a:r>
            <a:r>
              <a:rPr lang="zh-CN" altLang="en-US" sz="2000" b="1" dirty="0">
                <a:solidFill>
                  <a:srgbClr val="000000"/>
                </a:solidFill>
              </a:rPr>
              <a:t>）我们不用</a:t>
            </a:r>
            <a:r>
              <a:rPr lang="en-US" altLang="zh-CN" sz="2000" b="1" dirty="0" err="1">
                <a:solidFill>
                  <a:srgbClr val="000000"/>
                </a:solidFill>
              </a:rPr>
              <a:t>recvfrom</a:t>
            </a:r>
            <a:r>
              <a:rPr lang="zh-CN" altLang="en-US" sz="2000" b="1" dirty="0">
                <a:solidFill>
                  <a:srgbClr val="000000"/>
                </a:solidFill>
              </a:rPr>
              <a:t>而用</a:t>
            </a:r>
            <a:r>
              <a:rPr lang="en-US" altLang="zh-CN" sz="2000" b="1" dirty="0">
                <a:solidFill>
                  <a:srgbClr val="000000"/>
                </a:solidFill>
              </a:rPr>
              <a:t>read</a:t>
            </a:r>
            <a:r>
              <a:rPr lang="zh-CN" altLang="en-US" sz="2000" b="1" dirty="0">
                <a:solidFill>
                  <a:srgbClr val="000000"/>
                </a:solidFill>
              </a:rPr>
              <a:t>或</a:t>
            </a:r>
            <a:r>
              <a:rPr lang="en-US" altLang="zh-CN" sz="2000" b="1" dirty="0" err="1">
                <a:solidFill>
                  <a:srgbClr val="000000"/>
                </a:solidFill>
              </a:rPr>
              <a:t>recv</a:t>
            </a:r>
            <a:r>
              <a:rPr lang="zh-CN" altLang="en-US" sz="2000" b="1" dirty="0">
                <a:solidFill>
                  <a:srgbClr val="000000"/>
                </a:solidFill>
              </a:rPr>
              <a:t>。在已连接</a:t>
            </a:r>
            <a:r>
              <a:rPr lang="en-US" altLang="zh-CN" sz="2000" b="1" dirty="0">
                <a:solidFill>
                  <a:srgbClr val="000000"/>
                </a:solidFill>
              </a:rPr>
              <a:t>UDP</a:t>
            </a:r>
            <a:r>
              <a:rPr lang="zh-CN" altLang="en-US" sz="2000" b="1" dirty="0">
                <a:solidFill>
                  <a:srgbClr val="000000"/>
                </a:solidFill>
              </a:rPr>
              <a:t>套接口上由内核为输入操作返回的唯一数据报是那些来自</a:t>
            </a:r>
            <a:r>
              <a:rPr lang="en-US" altLang="zh-CN" sz="2000" b="1" dirty="0">
                <a:solidFill>
                  <a:srgbClr val="000000"/>
                </a:solidFill>
              </a:rPr>
              <a:t>connect </a:t>
            </a:r>
            <a:r>
              <a:rPr lang="zh-CN" altLang="en-US" sz="2000" b="1" dirty="0">
                <a:solidFill>
                  <a:srgbClr val="000000"/>
                </a:solidFill>
              </a:rPr>
              <a:t>所指定协议地址的数据报。</a:t>
            </a:r>
          </a:p>
        </p:txBody>
      </p:sp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611188" y="5421313"/>
            <a:ext cx="7921625" cy="448071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3</a:t>
            </a:r>
            <a:r>
              <a:rPr lang="zh-CN" altLang="en-US" sz="2000" b="1" dirty="0">
                <a:solidFill>
                  <a:srgbClr val="000000"/>
                </a:solidFill>
              </a:rPr>
              <a:t>）异步错误由已连接</a:t>
            </a:r>
            <a:r>
              <a:rPr lang="en-US" altLang="zh-CN" sz="2000" b="1" dirty="0">
                <a:solidFill>
                  <a:srgbClr val="000000"/>
                </a:solidFill>
              </a:rPr>
              <a:t>UDP</a:t>
            </a:r>
            <a:r>
              <a:rPr lang="zh-CN" altLang="en-US" sz="2000" b="1" dirty="0">
                <a:solidFill>
                  <a:srgbClr val="000000"/>
                </a:solidFill>
              </a:rPr>
              <a:t>套接口返回</a:t>
            </a:r>
            <a:r>
              <a:rPr lang="zh-CN" altLang="en-US" sz="2000" b="1">
                <a:solidFill>
                  <a:srgbClr val="000000"/>
                </a:solidFill>
              </a:rPr>
              <a:t>给进程。</a:t>
            </a:r>
            <a:endParaRPr lang="zh-CN" altLang="en-US" sz="2000" b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2" grpId="0" animBg="1"/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六、</a:t>
            </a:r>
            <a:r>
              <a:rPr lang="en-US" altLang="zh-CN"/>
              <a:t>UDP</a:t>
            </a:r>
            <a:r>
              <a:rPr lang="zh-CN" altLang="en-US"/>
              <a:t>的</a:t>
            </a:r>
            <a:r>
              <a:rPr lang="en-US" altLang="zh-CN"/>
              <a:t>connect</a:t>
            </a:r>
            <a:r>
              <a:rPr lang="zh-CN" altLang="en-US"/>
              <a:t>函数</a:t>
            </a:r>
          </a:p>
        </p:txBody>
      </p:sp>
      <p:pic>
        <p:nvPicPr>
          <p:cNvPr id="19459" name="Picture 3" descr="D:\已连接UDP套接口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1412875"/>
            <a:ext cx="6804025" cy="453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六、</a:t>
            </a:r>
            <a:r>
              <a:rPr lang="en-US" altLang="zh-CN"/>
              <a:t>UDP</a:t>
            </a:r>
            <a:r>
              <a:rPr lang="zh-CN" altLang="en-US"/>
              <a:t>的</a:t>
            </a:r>
            <a:r>
              <a:rPr lang="en-US" altLang="zh-CN"/>
              <a:t>connect</a:t>
            </a:r>
            <a:r>
              <a:rPr lang="zh-CN" altLang="en-US"/>
              <a:t>函数</a:t>
            </a:r>
          </a:p>
        </p:txBody>
      </p:sp>
      <p:sp>
        <p:nvSpPr>
          <p:cNvPr id="5" name="TextBox 2"/>
          <p:cNvSpPr txBox="1">
            <a:spLocks noChangeArrowheads="1"/>
          </p:cNvSpPr>
          <p:nvPr/>
        </p:nvSpPr>
        <p:spPr bwMode="auto">
          <a:xfrm>
            <a:off x="611188" y="1196975"/>
            <a:ext cx="7921625" cy="84772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仅在进程用</a:t>
            </a:r>
            <a:r>
              <a:rPr lang="en-US" altLang="zh-CN" sz="2000" b="1" dirty="0">
                <a:solidFill>
                  <a:srgbClr val="000000"/>
                </a:solidFill>
              </a:rPr>
              <a:t>UDP</a:t>
            </a:r>
            <a:r>
              <a:rPr lang="zh-CN" altLang="en-US" sz="2000" b="1" dirty="0">
                <a:solidFill>
                  <a:srgbClr val="000000"/>
                </a:solidFill>
              </a:rPr>
              <a:t>套接口与确定的唯一对方进行通信时，</a:t>
            </a:r>
            <a:r>
              <a:rPr lang="en-US" altLang="zh-CN" sz="2000" b="1" dirty="0">
                <a:solidFill>
                  <a:srgbClr val="000000"/>
                </a:solidFill>
              </a:rPr>
              <a:t>UDP</a:t>
            </a:r>
            <a:r>
              <a:rPr lang="zh-CN" altLang="en-US" sz="2000" b="1" dirty="0">
                <a:solidFill>
                  <a:srgbClr val="000000"/>
                </a:solidFill>
              </a:rPr>
              <a:t>客户或服务器才可以调用</a:t>
            </a:r>
            <a:r>
              <a:rPr lang="en-US" altLang="zh-CN" sz="2000" b="1" dirty="0">
                <a:solidFill>
                  <a:srgbClr val="000000"/>
                </a:solidFill>
              </a:rPr>
              <a:t>connect</a:t>
            </a:r>
            <a:r>
              <a:rPr lang="zh-CN" altLang="en-US" sz="2000" b="1" dirty="0">
                <a:solidFill>
                  <a:srgbClr val="000000"/>
                </a:solidFill>
              </a:rPr>
              <a:t>。</a:t>
            </a:r>
          </a:p>
        </p:txBody>
      </p:sp>
      <p:sp>
        <p:nvSpPr>
          <p:cNvPr id="7" name="TextBox 2"/>
          <p:cNvSpPr txBox="1">
            <a:spLocks noChangeArrowheads="1"/>
          </p:cNvSpPr>
          <p:nvPr/>
        </p:nvSpPr>
        <p:spPr bwMode="auto">
          <a:xfrm>
            <a:off x="611188" y="2220913"/>
            <a:ext cx="7921625" cy="84772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给一个</a:t>
            </a:r>
            <a:r>
              <a:rPr lang="en-US" altLang="zh-CN" sz="2000" b="1" dirty="0">
                <a:solidFill>
                  <a:srgbClr val="000000"/>
                </a:solidFill>
              </a:rPr>
              <a:t>UDP</a:t>
            </a:r>
            <a:r>
              <a:rPr lang="zh-CN" altLang="en-US" sz="2000" b="1" dirty="0">
                <a:solidFill>
                  <a:srgbClr val="000000"/>
                </a:solidFill>
              </a:rPr>
              <a:t>套接口多次调用</a:t>
            </a:r>
            <a:r>
              <a:rPr lang="en-US" altLang="zh-CN" sz="2000" b="1" dirty="0">
                <a:solidFill>
                  <a:srgbClr val="000000"/>
                </a:solidFill>
              </a:rPr>
              <a:t>connect</a:t>
            </a:r>
            <a:r>
              <a:rPr lang="zh-CN" altLang="en-US" sz="2000" b="1" dirty="0">
                <a:solidFill>
                  <a:srgbClr val="000000"/>
                </a:solidFill>
              </a:rPr>
              <a:t>。对于已连接</a:t>
            </a:r>
            <a:r>
              <a:rPr lang="en-US" altLang="zh-CN" sz="2000" b="1" dirty="0">
                <a:solidFill>
                  <a:srgbClr val="000000"/>
                </a:solidFill>
              </a:rPr>
              <a:t>UDP</a:t>
            </a:r>
            <a:r>
              <a:rPr lang="zh-CN" altLang="en-US" sz="2000" b="1" dirty="0">
                <a:solidFill>
                  <a:srgbClr val="000000"/>
                </a:solidFill>
              </a:rPr>
              <a:t>套接口，进程可给那个套接口再次调用</a:t>
            </a:r>
            <a:r>
              <a:rPr lang="en-US" altLang="zh-CN" sz="2000" b="1" dirty="0">
                <a:solidFill>
                  <a:srgbClr val="000000"/>
                </a:solidFill>
              </a:rPr>
              <a:t>connect</a:t>
            </a:r>
            <a:r>
              <a:rPr lang="zh-CN" altLang="en-US" sz="2000" b="1" dirty="0">
                <a:solidFill>
                  <a:srgbClr val="000000"/>
                </a:solidFill>
              </a:rPr>
              <a:t>以达到下面两个目的之一：</a:t>
            </a:r>
          </a:p>
        </p:txBody>
      </p:sp>
      <p:sp>
        <p:nvSpPr>
          <p:cNvPr id="22" name="TextBox 2"/>
          <p:cNvSpPr txBox="1">
            <a:spLocks noChangeArrowheads="1"/>
          </p:cNvSpPr>
          <p:nvPr/>
        </p:nvSpPr>
        <p:spPr bwMode="auto">
          <a:xfrm>
            <a:off x="611188" y="3284538"/>
            <a:ext cx="7921625" cy="893762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1</a:t>
            </a:r>
            <a:r>
              <a:rPr lang="zh-CN" altLang="en-US" sz="2000" b="1" dirty="0">
                <a:solidFill>
                  <a:srgbClr val="000000"/>
                </a:solidFill>
              </a:rPr>
              <a:t>）指定新的</a:t>
            </a:r>
            <a:r>
              <a:rPr lang="en-US" altLang="zh-CN" sz="2000" b="1" dirty="0">
                <a:solidFill>
                  <a:srgbClr val="000000"/>
                </a:solidFill>
              </a:rPr>
              <a:t>IP</a:t>
            </a:r>
            <a:r>
              <a:rPr lang="zh-CN" altLang="en-US" sz="2000" b="1" dirty="0">
                <a:solidFill>
                  <a:srgbClr val="000000"/>
                </a:solidFill>
              </a:rPr>
              <a:t>地址和端口号；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2</a:t>
            </a:r>
            <a:r>
              <a:rPr lang="zh-CN" altLang="en-US" sz="2000" b="1" dirty="0">
                <a:solidFill>
                  <a:srgbClr val="000000"/>
                </a:solidFill>
              </a:rPr>
              <a:t>）断开套接口。 （设置套接口地址结构的地址族（为</a:t>
            </a:r>
            <a:r>
              <a:rPr lang="en-US" altLang="zh-CN" sz="2000" b="1">
                <a:solidFill>
                  <a:srgbClr val="000000"/>
                </a:solidFill>
              </a:rPr>
              <a:t>AF_UNSPEC</a:t>
            </a:r>
            <a:r>
              <a:rPr lang="zh-CN" altLang="en-US" sz="2000" b="1" dirty="0">
                <a:solidFill>
                  <a:srgbClr val="000000"/>
                </a:solidFill>
              </a:rPr>
              <a:t>）</a:t>
            </a:r>
          </a:p>
        </p:txBody>
      </p:sp>
      <p:sp>
        <p:nvSpPr>
          <p:cNvPr id="8" name="TextBox 2"/>
          <p:cNvSpPr txBox="1">
            <a:spLocks noChangeArrowheads="1"/>
          </p:cNvSpPr>
          <p:nvPr/>
        </p:nvSpPr>
        <p:spPr bwMode="auto">
          <a:xfrm>
            <a:off x="611188" y="4405313"/>
            <a:ext cx="7921625" cy="45085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rgbClr val="FF0000"/>
                </a:solidFill>
              </a:rPr>
              <a:t>性能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2" grpId="0" animBg="1"/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七、</a:t>
            </a:r>
            <a:r>
              <a:rPr lang="en-US" altLang="zh-CN"/>
              <a:t>UDP</a:t>
            </a:r>
            <a:r>
              <a:rPr lang="zh-CN" altLang="en-US"/>
              <a:t>的其它问题</a:t>
            </a:r>
            <a:br>
              <a:rPr lang="zh-CN" altLang="en-US"/>
            </a:br>
            <a:endParaRPr lang="zh-CN" altLang="en-US"/>
          </a:p>
        </p:txBody>
      </p:sp>
      <p:sp>
        <p:nvSpPr>
          <p:cNvPr id="5" name="TextBox 2"/>
          <p:cNvSpPr txBox="1">
            <a:spLocks noChangeArrowheads="1"/>
          </p:cNvSpPr>
          <p:nvPr/>
        </p:nvSpPr>
        <p:spPr bwMode="auto">
          <a:xfrm>
            <a:off x="611188" y="1354138"/>
            <a:ext cx="7921625" cy="49212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1. UDP</a:t>
            </a:r>
            <a:r>
              <a:rPr lang="zh-CN" altLang="en-US" sz="2000" b="1" dirty="0">
                <a:solidFill>
                  <a:srgbClr val="000000"/>
                </a:solidFill>
              </a:rPr>
              <a:t>缺乏流量控制</a:t>
            </a:r>
          </a:p>
        </p:txBody>
      </p:sp>
      <p:sp>
        <p:nvSpPr>
          <p:cNvPr id="7" name="TextBox 2"/>
          <p:cNvSpPr txBox="1">
            <a:spLocks noChangeArrowheads="1"/>
          </p:cNvSpPr>
          <p:nvPr/>
        </p:nvSpPr>
        <p:spPr bwMode="auto">
          <a:xfrm>
            <a:off x="611188" y="2060575"/>
            <a:ext cx="7921625" cy="49212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2. UDP</a:t>
            </a:r>
            <a:r>
              <a:rPr lang="zh-CN" altLang="en-US" sz="2000" b="1" dirty="0">
                <a:solidFill>
                  <a:srgbClr val="000000"/>
                </a:solidFill>
              </a:rPr>
              <a:t>套接口接收缓冲区</a:t>
            </a:r>
          </a:p>
        </p:txBody>
      </p:sp>
      <p:sp>
        <p:nvSpPr>
          <p:cNvPr id="22" name="TextBox 2"/>
          <p:cNvSpPr txBox="1">
            <a:spLocks noChangeArrowheads="1"/>
          </p:cNvSpPr>
          <p:nvPr/>
        </p:nvSpPr>
        <p:spPr bwMode="auto">
          <a:xfrm>
            <a:off x="611188" y="2781300"/>
            <a:ext cx="7921625" cy="44767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3. UDP</a:t>
            </a:r>
            <a:r>
              <a:rPr lang="zh-CN" altLang="en-US" sz="2000" b="1" dirty="0">
                <a:solidFill>
                  <a:srgbClr val="000000"/>
                </a:solidFill>
              </a:rPr>
              <a:t>中的外出接口的确定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7570788" cy="1350962"/>
          </a:xfrm>
        </p:spPr>
        <p:txBody>
          <a:bodyPr/>
          <a:lstStyle/>
          <a:p>
            <a:pPr eaLnBrk="1" hangingPunct="1"/>
            <a:r>
              <a:rPr lang="zh-CN" altLang="en-US"/>
              <a:t>八、使用</a:t>
            </a:r>
            <a:r>
              <a:rPr lang="en-US" altLang="zh-CN"/>
              <a:t>select</a:t>
            </a:r>
            <a:r>
              <a:rPr lang="zh-CN" altLang="en-US"/>
              <a:t>函数的</a:t>
            </a:r>
            <a:r>
              <a:rPr lang="en-US" altLang="zh-CN"/>
              <a:t>TCP</a:t>
            </a:r>
            <a:r>
              <a:rPr lang="zh-CN" altLang="en-US"/>
              <a:t>和</a:t>
            </a:r>
            <a:br>
              <a:rPr lang="en-US" altLang="zh-CN"/>
            </a:br>
            <a:r>
              <a:rPr lang="en-US" altLang="zh-CN"/>
              <a:t>        UDP</a:t>
            </a:r>
            <a:r>
              <a:rPr lang="zh-CN" altLang="en-US"/>
              <a:t>回射服务器程序</a:t>
            </a:r>
            <a:br>
              <a:rPr lang="zh-CN" altLang="en-US"/>
            </a:br>
            <a:br>
              <a:rPr lang="zh-CN" altLang="en-US"/>
            </a:br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小结</a:t>
            </a:r>
          </a:p>
        </p:txBody>
      </p:sp>
      <p:sp>
        <p:nvSpPr>
          <p:cNvPr id="7" name="TextBox 2"/>
          <p:cNvSpPr txBox="1">
            <a:spLocks noChangeArrowheads="1"/>
          </p:cNvSpPr>
          <p:nvPr/>
        </p:nvSpPr>
        <p:spPr bwMode="auto">
          <a:xfrm>
            <a:off x="468313" y="1196975"/>
            <a:ext cx="8280400" cy="209232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UDP</a:t>
            </a:r>
            <a:r>
              <a:rPr lang="zh-CN" altLang="en-US" sz="2000" b="1" dirty="0">
                <a:solidFill>
                  <a:srgbClr val="000000"/>
                </a:solidFill>
              </a:rPr>
              <a:t>是无连接的、不可靠的数据报协议。</a:t>
            </a:r>
            <a:endParaRPr lang="en-US" altLang="zh-CN" sz="2000" b="1" dirty="0">
              <a:solidFill>
                <a:srgbClr val="000000"/>
              </a:solidFill>
            </a:endParaRP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 err="1">
                <a:solidFill>
                  <a:srgbClr val="000000"/>
                </a:solidFill>
              </a:rPr>
              <a:t>sendto</a:t>
            </a:r>
            <a:r>
              <a:rPr lang="zh-CN" altLang="en-US" sz="2000" b="1" dirty="0">
                <a:solidFill>
                  <a:srgbClr val="000000"/>
                </a:solidFill>
              </a:rPr>
              <a:t>函数，</a:t>
            </a:r>
            <a:r>
              <a:rPr lang="en-US" altLang="zh-CN" sz="2000" b="1">
                <a:solidFill>
                  <a:srgbClr val="000000"/>
                </a:solidFill>
              </a:rPr>
              <a:t>recvfrom</a:t>
            </a:r>
            <a:r>
              <a:rPr lang="zh-CN" altLang="en-US" sz="2000" b="1">
                <a:solidFill>
                  <a:srgbClr val="000000"/>
                </a:solidFill>
              </a:rPr>
              <a:t>函数</a:t>
            </a:r>
            <a:r>
              <a:rPr lang="zh-CN" altLang="en-US" sz="2000" b="1" dirty="0">
                <a:solidFill>
                  <a:srgbClr val="000000"/>
                </a:solidFill>
              </a:rPr>
              <a:t>。</a:t>
            </a:r>
            <a:endParaRPr lang="en-US" altLang="zh-CN" sz="2000" b="1" dirty="0">
              <a:solidFill>
                <a:srgbClr val="000000"/>
              </a:solidFill>
            </a:endParaRPr>
          </a:p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大多数</a:t>
            </a:r>
            <a:r>
              <a:rPr lang="en-US" altLang="zh-CN" sz="2000" b="1" dirty="0">
                <a:solidFill>
                  <a:srgbClr val="000000"/>
                </a:solidFill>
              </a:rPr>
              <a:t>UDP</a:t>
            </a:r>
            <a:r>
              <a:rPr lang="zh-CN" altLang="en-US" sz="2000" b="1" dirty="0">
                <a:solidFill>
                  <a:srgbClr val="000000"/>
                </a:solidFill>
              </a:rPr>
              <a:t>服务器是迭代的。</a:t>
            </a:r>
            <a:endParaRPr lang="en-US" altLang="zh-CN" sz="2000" b="1" dirty="0">
              <a:solidFill>
                <a:srgbClr val="000000"/>
              </a:solidFill>
            </a:endParaRP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UDP</a:t>
            </a:r>
            <a:r>
              <a:rPr lang="zh-CN" altLang="en-US" sz="2000" b="1" dirty="0">
                <a:solidFill>
                  <a:srgbClr val="000000"/>
                </a:solidFill>
              </a:rPr>
              <a:t>中的</a:t>
            </a:r>
            <a:r>
              <a:rPr lang="en-US" altLang="zh-CN" sz="2000" b="1" dirty="0">
                <a:solidFill>
                  <a:srgbClr val="000000"/>
                </a:solidFill>
              </a:rPr>
              <a:t>connect</a:t>
            </a:r>
            <a:r>
              <a:rPr lang="zh-CN" altLang="en-US" sz="2000" b="1" dirty="0">
                <a:solidFill>
                  <a:srgbClr val="000000"/>
                </a:solidFill>
              </a:rPr>
              <a:t>函数。</a:t>
            </a:r>
            <a:endParaRPr lang="en-US" altLang="zh-CN" sz="2000" b="1" dirty="0">
              <a:solidFill>
                <a:srgbClr val="000000"/>
              </a:solidFill>
            </a:endParaRPr>
          </a:p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使用</a:t>
            </a:r>
            <a:r>
              <a:rPr lang="en-US" altLang="zh-CN" sz="2000" b="1" dirty="0">
                <a:solidFill>
                  <a:srgbClr val="000000"/>
                </a:solidFill>
              </a:rPr>
              <a:t>select</a:t>
            </a:r>
            <a:r>
              <a:rPr lang="zh-CN" altLang="en-US" sz="2000" b="1" dirty="0">
                <a:solidFill>
                  <a:srgbClr val="000000"/>
                </a:solidFill>
              </a:rPr>
              <a:t>函数的</a:t>
            </a:r>
            <a:r>
              <a:rPr lang="en-US" altLang="zh-CN" sz="2000" b="1" dirty="0">
                <a:solidFill>
                  <a:srgbClr val="000000"/>
                </a:solidFill>
              </a:rPr>
              <a:t>TCP</a:t>
            </a:r>
            <a:r>
              <a:rPr lang="zh-CN" altLang="en-US" sz="2000" b="1" dirty="0">
                <a:solidFill>
                  <a:srgbClr val="000000"/>
                </a:solidFill>
              </a:rPr>
              <a:t>和</a:t>
            </a:r>
            <a:r>
              <a:rPr lang="en-US" altLang="zh-CN" sz="2000" b="1" dirty="0">
                <a:solidFill>
                  <a:srgbClr val="000000"/>
                </a:solidFill>
              </a:rPr>
              <a:t>UDP</a:t>
            </a:r>
            <a:r>
              <a:rPr lang="zh-CN" altLang="en-US" sz="2000" b="1" dirty="0">
                <a:solidFill>
                  <a:srgbClr val="000000"/>
                </a:solidFill>
              </a:rPr>
              <a:t>回射服务器程序。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xcel2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Garamond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excel2</Template>
  <TotalTime>2939</TotalTime>
  <Words>1001</Words>
  <Application>Microsoft Office PowerPoint</Application>
  <PresentationFormat>全屏显示(4:3)</PresentationFormat>
  <Paragraphs>89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5" baseType="lpstr">
      <vt:lpstr>Arial</vt:lpstr>
      <vt:lpstr>Garamond</vt:lpstr>
      <vt:lpstr>Wingdings</vt:lpstr>
      <vt:lpstr>excel2</vt:lpstr>
      <vt:lpstr>网络编程技术</vt:lpstr>
      <vt:lpstr>主要内容</vt:lpstr>
      <vt:lpstr>PowerPoint 演示文稿</vt:lpstr>
      <vt:lpstr>PowerPoint 演示文稿</vt:lpstr>
      <vt:lpstr>二、recvfrom和sendto函数</vt:lpstr>
      <vt:lpstr>三、 UDP回射服务器程序</vt:lpstr>
      <vt:lpstr>四、 UDP回射客户程序</vt:lpstr>
      <vt:lpstr>五、程序运行异常处理</vt:lpstr>
      <vt:lpstr>五、程序运行异常处理</vt:lpstr>
      <vt:lpstr>五、程序运行异常处理</vt:lpstr>
      <vt:lpstr>五、程序运行异常处理</vt:lpstr>
      <vt:lpstr>UDP程序例子小结</vt:lpstr>
      <vt:lpstr>UDP程序例子小结</vt:lpstr>
      <vt:lpstr>UDP程序例子小结</vt:lpstr>
      <vt:lpstr>六、UDP的connect函数</vt:lpstr>
      <vt:lpstr>六、UDP的connect函数</vt:lpstr>
      <vt:lpstr>六、UDP的connect函数</vt:lpstr>
      <vt:lpstr>六、UDP的connect函数</vt:lpstr>
      <vt:lpstr>七、UDP的其它问题 </vt:lpstr>
      <vt:lpstr>八、使用select函数的TCP和         UDP回射服务器程序  </vt:lpstr>
      <vt:lpstr>小结</vt:lpstr>
    </vt:vector>
  </TitlesOfParts>
  <Company>q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网络编程</dc:title>
  <dc:creator>q</dc:creator>
  <cp:lastModifiedBy>Wei Wang</cp:lastModifiedBy>
  <cp:revision>317</cp:revision>
  <dcterms:created xsi:type="dcterms:W3CDTF">2013-03-13T16:12:15Z</dcterms:created>
  <dcterms:modified xsi:type="dcterms:W3CDTF">2024-04-16T11:08:15Z</dcterms:modified>
</cp:coreProperties>
</file>