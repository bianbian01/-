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56" r:id="rId4"/>
    <p:sldMasterId id="2147483660" r:id="rId5"/>
    <p:sldMasterId id="2147483664" r:id="rId6"/>
    <p:sldMasterId id="2147483668" r:id="rId7"/>
    <p:sldMasterId id="2147483672" r:id="rId8"/>
  </p:sldMasterIdLst>
  <p:notesMasterIdLst>
    <p:notesMasterId r:id="rId10"/>
  </p:notesMasterIdLst>
  <p:handoutMasterIdLst>
    <p:handoutMasterId r:id="rId93"/>
  </p:handoutMasterIdLst>
  <p:sldIdLst>
    <p:sldId id="1896" r:id="rId9"/>
    <p:sldId id="2350" r:id="rId11"/>
    <p:sldId id="2233" r:id="rId12"/>
    <p:sldId id="2234" r:id="rId13"/>
    <p:sldId id="2235" r:id="rId14"/>
    <p:sldId id="2348" r:id="rId15"/>
    <p:sldId id="2236" r:id="rId16"/>
    <p:sldId id="2238" r:id="rId17"/>
    <p:sldId id="2237" r:id="rId18"/>
    <p:sldId id="2349" r:id="rId19"/>
    <p:sldId id="2239" r:id="rId20"/>
    <p:sldId id="2323" r:id="rId21"/>
    <p:sldId id="2127" r:id="rId22"/>
    <p:sldId id="2324" r:id="rId23"/>
    <p:sldId id="2245" r:id="rId24"/>
    <p:sldId id="2325" r:id="rId25"/>
    <p:sldId id="2247" r:id="rId26"/>
    <p:sldId id="2248" r:id="rId27"/>
    <p:sldId id="2249" r:id="rId28"/>
    <p:sldId id="2326" r:id="rId29"/>
    <p:sldId id="2256" r:id="rId30"/>
    <p:sldId id="2257" r:id="rId31"/>
    <p:sldId id="2251" r:id="rId32"/>
    <p:sldId id="2252" r:id="rId33"/>
    <p:sldId id="2253" r:id="rId34"/>
    <p:sldId id="2254" r:id="rId35"/>
    <p:sldId id="2255" r:id="rId36"/>
    <p:sldId id="2258" r:id="rId37"/>
    <p:sldId id="2259" r:id="rId38"/>
    <p:sldId id="2260" r:id="rId39"/>
    <p:sldId id="2261" r:id="rId40"/>
    <p:sldId id="2262" r:id="rId41"/>
    <p:sldId id="2263" r:id="rId42"/>
    <p:sldId id="2264" r:id="rId43"/>
    <p:sldId id="2327" r:id="rId44"/>
    <p:sldId id="2266" r:id="rId45"/>
    <p:sldId id="2267" r:id="rId46"/>
    <p:sldId id="2328" r:id="rId47"/>
    <p:sldId id="2269" r:id="rId48"/>
    <p:sldId id="2270" r:id="rId49"/>
    <p:sldId id="2271" r:id="rId50"/>
    <p:sldId id="2272" r:id="rId51"/>
    <p:sldId id="2273" r:id="rId52"/>
    <p:sldId id="2274" r:id="rId53"/>
    <p:sldId id="2275" r:id="rId54"/>
    <p:sldId id="2276" r:id="rId55"/>
    <p:sldId id="2344" r:id="rId56"/>
    <p:sldId id="2334" r:id="rId57"/>
    <p:sldId id="2278" r:id="rId58"/>
    <p:sldId id="2279" r:id="rId59"/>
    <p:sldId id="2345" r:id="rId60"/>
    <p:sldId id="2329" r:id="rId61"/>
    <p:sldId id="2351" r:id="rId62"/>
    <p:sldId id="2330" r:id="rId63"/>
    <p:sldId id="2281" r:id="rId64"/>
    <p:sldId id="2282" r:id="rId65"/>
    <p:sldId id="2283" r:id="rId66"/>
    <p:sldId id="2346" r:id="rId67"/>
    <p:sldId id="2331" r:id="rId68"/>
    <p:sldId id="2285" r:id="rId69"/>
    <p:sldId id="2352" r:id="rId70"/>
    <p:sldId id="2332" r:id="rId71"/>
    <p:sldId id="2287" r:id="rId72"/>
    <p:sldId id="2288" r:id="rId73"/>
    <p:sldId id="2289" r:id="rId74"/>
    <p:sldId id="2290" r:id="rId75"/>
    <p:sldId id="2291" r:id="rId76"/>
    <p:sldId id="2292" r:id="rId77"/>
    <p:sldId id="2293" r:id="rId78"/>
    <p:sldId id="2294" r:id="rId79"/>
    <p:sldId id="2295" r:id="rId80"/>
    <p:sldId id="2296" r:id="rId81"/>
    <p:sldId id="2297" r:id="rId82"/>
    <p:sldId id="2298" r:id="rId83"/>
    <p:sldId id="2304" r:id="rId84"/>
    <p:sldId id="2300" r:id="rId85"/>
    <p:sldId id="2301" r:id="rId86"/>
    <p:sldId id="2302" r:id="rId87"/>
    <p:sldId id="2340" r:id="rId88"/>
    <p:sldId id="2299" r:id="rId89"/>
    <p:sldId id="2347" r:id="rId90"/>
    <p:sldId id="2313" r:id="rId91"/>
    <p:sldId id="2314" r:id="rId92"/>
  </p:sldIdLst>
  <p:sldSz cx="9144000" cy="6858000" type="screen4x3"/>
  <p:notesSz cx="6797675" cy="9926320"/>
  <p:custDataLst>
    <p:tags r:id="rId97"/>
  </p:custDataLst>
  <p:defaultTextStyle>
    <a:defPPr>
      <a:defRPr lang="zh-CN"/>
    </a:defPPr>
    <a:lvl1pPr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956" userDrawn="1">
          <p15:clr>
            <a:srgbClr val="A4A3A4"/>
          </p15:clr>
        </p15:guide>
        <p15:guide id="2" pos="2955" userDrawn="1">
          <p15:clr>
            <a:srgbClr val="A4A3A4"/>
          </p15:clr>
        </p15:guide>
        <p15:guide id="3"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DDEEFF"/>
    <a:srgbClr val="7276BB"/>
    <a:srgbClr val="FFFF99"/>
    <a:srgbClr val="E6E6E6"/>
    <a:srgbClr val="FF6600"/>
    <a:srgbClr val="DD8423"/>
    <a:srgbClr val="FFFFCC"/>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0738" autoAdjust="0"/>
  </p:normalViewPr>
  <p:slideViewPr>
    <p:cSldViewPr snapToObjects="1" showGuides="1">
      <p:cViewPr varScale="1">
        <p:scale>
          <a:sx n="61" d="100"/>
          <a:sy n="61" d="100"/>
        </p:scale>
        <p:origin x="1476" y="64"/>
      </p:cViewPr>
      <p:guideLst>
        <p:guide orient="horz" pos="956"/>
        <p:guide pos="2955"/>
        <p:guide pos="3024"/>
      </p:guideLst>
    </p:cSldViewPr>
  </p:slideViewPr>
  <p:outlineViewPr>
    <p:cViewPr>
      <p:scale>
        <a:sx n="25" d="100"/>
        <a:sy n="25" d="100"/>
      </p:scale>
      <p:origin x="0" y="0"/>
    </p:cViewPr>
    <p:sldLst>
      <p:sld r:id="rId1" collapse="1"/>
    </p:sldLst>
  </p:outlineViewPr>
  <p:notesTextViewPr>
    <p:cViewPr>
      <p:scale>
        <a:sx n="125" d="100"/>
        <a:sy n="125" d="100"/>
      </p:scale>
      <p:origin x="0" y="0"/>
    </p:cViewPr>
  </p:notesTextViewPr>
  <p:sorterViewPr>
    <p:cViewPr>
      <p:scale>
        <a:sx n="100" d="100"/>
        <a:sy n="100" d="100"/>
      </p:scale>
      <p:origin x="0" y="9012"/>
    </p:cViewPr>
  </p:sorterViewPr>
  <p:notesViewPr>
    <p:cSldViewPr snapToObjects="1">
      <p:cViewPr>
        <p:scale>
          <a:sx n="75" d="100"/>
          <a:sy n="75" d="100"/>
        </p:scale>
        <p:origin x="-4158" y="-222"/>
      </p:cViewPr>
      <p:guideLst>
        <p:guide orient="horz" pos="2302"/>
        <p:guide pos="2859"/>
      </p:guideLst>
    </p:cSldViewPr>
  </p:notes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54.xml"/><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handoutMaster" Target="handoutMasters/handoutMaster1.xml"/><Relationship Id="rId92" Type="http://schemas.openxmlformats.org/officeDocument/2006/relationships/slide" Target="slides/slide83.xml"/><Relationship Id="rId91" Type="http://schemas.openxmlformats.org/officeDocument/2006/relationships/slide" Target="slides/slide82.xml"/><Relationship Id="rId90" Type="http://schemas.openxmlformats.org/officeDocument/2006/relationships/slide" Target="slides/slide81.xml"/><Relationship Id="rId9" Type="http://schemas.openxmlformats.org/officeDocument/2006/relationships/slide" Target="slides/slide1.xml"/><Relationship Id="rId89" Type="http://schemas.openxmlformats.org/officeDocument/2006/relationships/slide" Target="slides/slide80.xml"/><Relationship Id="rId88" Type="http://schemas.openxmlformats.org/officeDocument/2006/relationships/slide" Target="slides/slide79.xml"/><Relationship Id="rId87" Type="http://schemas.openxmlformats.org/officeDocument/2006/relationships/slide" Target="slides/slide78.xml"/><Relationship Id="rId86" Type="http://schemas.openxmlformats.org/officeDocument/2006/relationships/slide" Target="slides/slide77.xml"/><Relationship Id="rId85" Type="http://schemas.openxmlformats.org/officeDocument/2006/relationships/slide" Target="slides/slide76.xml"/><Relationship Id="rId84" Type="http://schemas.openxmlformats.org/officeDocument/2006/relationships/slide" Target="slides/slide75.xml"/><Relationship Id="rId83" Type="http://schemas.openxmlformats.org/officeDocument/2006/relationships/slide" Target="slides/slide74.xml"/><Relationship Id="rId82" Type="http://schemas.openxmlformats.org/officeDocument/2006/relationships/slide" Target="slides/slide73.xml"/><Relationship Id="rId81" Type="http://schemas.openxmlformats.org/officeDocument/2006/relationships/slide" Target="slides/slide72.xml"/><Relationship Id="rId80" Type="http://schemas.openxmlformats.org/officeDocument/2006/relationships/slide" Target="slides/slide71.xml"/><Relationship Id="rId8" Type="http://schemas.openxmlformats.org/officeDocument/2006/relationships/slideMaster" Target="slideMasters/slideMaster7.xml"/><Relationship Id="rId79" Type="http://schemas.openxmlformats.org/officeDocument/2006/relationships/slide" Target="slides/slide70.xml"/><Relationship Id="rId78" Type="http://schemas.openxmlformats.org/officeDocument/2006/relationships/slide" Target="slides/slide69.xml"/><Relationship Id="rId77" Type="http://schemas.openxmlformats.org/officeDocument/2006/relationships/slide" Target="slides/slide68.xml"/><Relationship Id="rId76" Type="http://schemas.openxmlformats.org/officeDocument/2006/relationships/slide" Target="slides/slide67.xml"/><Relationship Id="rId75" Type="http://schemas.openxmlformats.org/officeDocument/2006/relationships/slide" Target="slides/slide66.xml"/><Relationship Id="rId74" Type="http://schemas.openxmlformats.org/officeDocument/2006/relationships/slide" Target="slides/slide65.xml"/><Relationship Id="rId73" Type="http://schemas.openxmlformats.org/officeDocument/2006/relationships/slide" Target="slides/slide64.xml"/><Relationship Id="rId72" Type="http://schemas.openxmlformats.org/officeDocument/2006/relationships/slide" Target="slides/slide63.xml"/><Relationship Id="rId71" Type="http://schemas.openxmlformats.org/officeDocument/2006/relationships/slide" Target="slides/slide62.xml"/><Relationship Id="rId70" Type="http://schemas.openxmlformats.org/officeDocument/2006/relationships/slide" Target="slides/slide61.xml"/><Relationship Id="rId7" Type="http://schemas.openxmlformats.org/officeDocument/2006/relationships/slideMaster" Target="slideMasters/slideMaster6.xml"/><Relationship Id="rId69" Type="http://schemas.openxmlformats.org/officeDocument/2006/relationships/slide" Target="slides/slide60.xml"/><Relationship Id="rId68" Type="http://schemas.openxmlformats.org/officeDocument/2006/relationships/slide" Target="slides/slide59.xml"/><Relationship Id="rId67" Type="http://schemas.openxmlformats.org/officeDocument/2006/relationships/slide" Target="slides/slide58.xml"/><Relationship Id="rId66" Type="http://schemas.openxmlformats.org/officeDocument/2006/relationships/slide" Target="slides/slide57.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slide" Target="slides/slide44.xml"/><Relationship Id="rId52" Type="http://schemas.openxmlformats.org/officeDocument/2006/relationships/slide" Target="slides/slide43.xml"/><Relationship Id="rId51" Type="http://schemas.openxmlformats.org/officeDocument/2006/relationships/slide" Target="slides/slide42.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813" cy="495300"/>
          </a:xfrm>
          <a:prstGeom prst="rect">
            <a:avLst/>
          </a:prstGeom>
          <a:noFill/>
          <a:ln w="9525">
            <a:noFill/>
            <a:miter lim="800000"/>
          </a:ln>
        </p:spPr>
        <p:txBody>
          <a:bodyPr vert="horz" wrap="square" lIns="92667" tIns="46333" rIns="92667" bIns="46333" numCol="1" anchor="t" anchorCtr="0" compatLnSpc="1"/>
          <a:lstStyle>
            <a:lvl1pPr defTabSz="927100" eaLnBrk="1" hangingPunct="1">
              <a:defRPr sz="1300">
                <a:solidFill>
                  <a:schemeClr val="tx1"/>
                </a:solidFill>
                <a:ea typeface="宋体" panose="02010600030101010101" pitchFamily="2" charset="-122"/>
              </a:defRPr>
            </a:lvl1pPr>
          </a:lstStyle>
          <a:p>
            <a:pPr>
              <a:defRPr/>
            </a:pPr>
            <a:endParaRPr lang="en-US" altLang="zh-CN"/>
          </a:p>
        </p:txBody>
      </p:sp>
      <p:sp>
        <p:nvSpPr>
          <p:cNvPr id="3075" name="Rectangle 3"/>
          <p:cNvSpPr>
            <a:spLocks noGrp="1" noChangeArrowheads="1"/>
          </p:cNvSpPr>
          <p:nvPr>
            <p:ph type="dt" sz="quarter" idx="1"/>
          </p:nvPr>
        </p:nvSpPr>
        <p:spPr bwMode="auto">
          <a:xfrm>
            <a:off x="3852863" y="0"/>
            <a:ext cx="2944812" cy="495300"/>
          </a:xfrm>
          <a:prstGeom prst="rect">
            <a:avLst/>
          </a:prstGeom>
          <a:noFill/>
          <a:ln w="9525">
            <a:noFill/>
            <a:miter lim="800000"/>
          </a:ln>
        </p:spPr>
        <p:txBody>
          <a:bodyPr vert="horz" wrap="square" lIns="92667" tIns="46333" rIns="92667" bIns="46333" numCol="1" anchor="t" anchorCtr="0" compatLnSpc="1"/>
          <a:lstStyle>
            <a:lvl1pPr algn="r" defTabSz="927100" eaLnBrk="1" hangingPunct="1">
              <a:defRPr sz="1300">
                <a:solidFill>
                  <a:schemeClr val="tx1"/>
                </a:solidFill>
                <a:ea typeface="宋体" panose="02010600030101010101" pitchFamily="2" charset="-122"/>
              </a:defRPr>
            </a:lvl1pPr>
          </a:lstStyle>
          <a:p>
            <a:pPr>
              <a:defRPr/>
            </a:pPr>
            <a:endParaRPr lang="en-US" altLang="zh-CN"/>
          </a:p>
        </p:txBody>
      </p:sp>
      <p:sp>
        <p:nvSpPr>
          <p:cNvPr id="3076" name="Rectangle 4"/>
          <p:cNvSpPr>
            <a:spLocks noGrp="1" noChangeArrowheads="1"/>
          </p:cNvSpPr>
          <p:nvPr>
            <p:ph type="ftr" sz="quarter" idx="2"/>
          </p:nvPr>
        </p:nvSpPr>
        <p:spPr bwMode="auto">
          <a:xfrm>
            <a:off x="0" y="9431338"/>
            <a:ext cx="2944813" cy="495300"/>
          </a:xfrm>
          <a:prstGeom prst="rect">
            <a:avLst/>
          </a:prstGeom>
          <a:noFill/>
          <a:ln w="9525">
            <a:noFill/>
            <a:miter lim="800000"/>
          </a:ln>
        </p:spPr>
        <p:txBody>
          <a:bodyPr vert="horz" wrap="square" lIns="92667" tIns="46333" rIns="92667" bIns="46333" numCol="1" anchor="b" anchorCtr="0" compatLnSpc="1"/>
          <a:lstStyle>
            <a:lvl1pPr defTabSz="927100" eaLnBrk="1" hangingPunct="1">
              <a:defRPr sz="1300">
                <a:solidFill>
                  <a:schemeClr val="tx1"/>
                </a:solidFill>
                <a:ea typeface="宋体" panose="02010600030101010101"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3852863" y="9431338"/>
            <a:ext cx="2944812" cy="495300"/>
          </a:xfrm>
          <a:prstGeom prst="rect">
            <a:avLst/>
          </a:prstGeom>
          <a:noFill/>
          <a:ln w="9525">
            <a:noFill/>
            <a:miter lim="800000"/>
          </a:ln>
        </p:spPr>
        <p:txBody>
          <a:bodyPr vert="horz" wrap="square" lIns="92667" tIns="46333" rIns="92667" bIns="46333" numCol="1" anchor="b" anchorCtr="0" compatLnSpc="1"/>
          <a:lstStyle>
            <a:lvl1pPr algn="r" defTabSz="927100" eaLnBrk="1" hangingPunct="1">
              <a:defRPr sz="1300">
                <a:solidFill>
                  <a:schemeClr val="tx1"/>
                </a:solidFill>
                <a:ea typeface="宋体" panose="02010600030101010101" pitchFamily="2" charset="-122"/>
              </a:defRPr>
            </a:lvl1pPr>
          </a:lstStyle>
          <a:p>
            <a:pPr>
              <a:defRPr/>
            </a:pPr>
            <a:fld id="{A7134E63-CDBE-4D97-ABFD-7014D49E4694}" type="slidenum">
              <a:rPr lang="en-US" altLang="zh-CN"/>
            </a:fld>
            <a:endParaRPr lang="en-US" altLang="zh-CN"/>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2916238" cy="517525"/>
          </a:xfrm>
          <a:prstGeom prst="rect">
            <a:avLst/>
          </a:prstGeom>
          <a:noFill/>
          <a:ln w="9525">
            <a:noFill/>
            <a:miter lim="800000"/>
          </a:ln>
          <a:effectLst/>
        </p:spPr>
        <p:txBody>
          <a:bodyPr vert="horz" wrap="none" lIns="88194" tIns="44097" rIns="88194" bIns="44097" numCol="1" anchor="t" anchorCtr="0" compatLnSpc="1"/>
          <a:lstStyle>
            <a:lvl1pPr defTabSz="882650" eaLnBrk="1" hangingPunct="1">
              <a:defRPr sz="1200">
                <a:solidFill>
                  <a:schemeClr val="tx1"/>
                </a:solidFill>
                <a:ea typeface="宋体" panose="02010600030101010101" pitchFamily="2" charset="-122"/>
              </a:defRPr>
            </a:lvl1pPr>
          </a:lstStyle>
          <a:p>
            <a:pPr>
              <a:defRPr/>
            </a:pPr>
            <a:endParaRPr lang="en-US" altLang="zh-CN"/>
          </a:p>
        </p:txBody>
      </p:sp>
      <p:sp>
        <p:nvSpPr>
          <p:cNvPr id="76803" name="Rectangle 3"/>
          <p:cNvSpPr>
            <a:spLocks noGrp="1" noChangeArrowheads="1"/>
          </p:cNvSpPr>
          <p:nvPr>
            <p:ph type="dt" idx="1"/>
          </p:nvPr>
        </p:nvSpPr>
        <p:spPr bwMode="auto">
          <a:xfrm>
            <a:off x="3865563" y="0"/>
            <a:ext cx="2916237" cy="517525"/>
          </a:xfrm>
          <a:prstGeom prst="rect">
            <a:avLst/>
          </a:prstGeom>
          <a:noFill/>
          <a:ln w="9525">
            <a:noFill/>
            <a:miter lim="800000"/>
          </a:ln>
          <a:effectLst/>
        </p:spPr>
        <p:txBody>
          <a:bodyPr vert="horz" wrap="none" lIns="88194" tIns="44097" rIns="88194" bIns="44097" numCol="1" anchor="t" anchorCtr="0" compatLnSpc="1"/>
          <a:lstStyle>
            <a:lvl1pPr algn="r" defTabSz="882650" eaLnBrk="1" hangingPunct="1">
              <a:defRPr sz="1200">
                <a:solidFill>
                  <a:schemeClr val="tx1"/>
                </a:solidFill>
                <a:ea typeface="宋体" panose="02010600030101010101" pitchFamily="2" charset="-122"/>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963613" y="739775"/>
            <a:ext cx="4929187" cy="3697288"/>
          </a:xfrm>
          <a:prstGeom prst="rect">
            <a:avLst/>
          </a:prstGeom>
          <a:noFill/>
          <a:ln w="9525">
            <a:solidFill>
              <a:srgbClr val="000000"/>
            </a:solidFill>
            <a:miter lim="800000"/>
          </a:ln>
        </p:spPr>
      </p:sp>
      <p:sp>
        <p:nvSpPr>
          <p:cNvPr id="76805" name="Rectangle 5"/>
          <p:cNvSpPr>
            <a:spLocks noGrp="1" noChangeArrowheads="1"/>
          </p:cNvSpPr>
          <p:nvPr>
            <p:ph type="body" sz="quarter" idx="3"/>
          </p:nvPr>
        </p:nvSpPr>
        <p:spPr bwMode="auto">
          <a:xfrm>
            <a:off x="876300" y="4730750"/>
            <a:ext cx="5030788" cy="4435475"/>
          </a:xfrm>
          <a:prstGeom prst="rect">
            <a:avLst/>
          </a:prstGeom>
          <a:noFill/>
          <a:ln w="9525">
            <a:noFill/>
            <a:miter lim="800000"/>
          </a:ln>
          <a:effectLst/>
        </p:spPr>
        <p:txBody>
          <a:bodyPr vert="horz" wrap="none" lIns="88194" tIns="44097" rIns="88194" bIns="44097"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76806" name="Rectangle 6"/>
          <p:cNvSpPr>
            <a:spLocks noGrp="1" noChangeArrowheads="1"/>
          </p:cNvSpPr>
          <p:nvPr>
            <p:ph type="ftr" sz="quarter" idx="4"/>
          </p:nvPr>
        </p:nvSpPr>
        <p:spPr bwMode="auto">
          <a:xfrm>
            <a:off x="0" y="9463088"/>
            <a:ext cx="2916238" cy="442912"/>
          </a:xfrm>
          <a:prstGeom prst="rect">
            <a:avLst/>
          </a:prstGeom>
          <a:noFill/>
          <a:ln w="9525">
            <a:noFill/>
            <a:miter lim="800000"/>
          </a:ln>
          <a:effectLst/>
        </p:spPr>
        <p:txBody>
          <a:bodyPr vert="horz" wrap="none" lIns="88194" tIns="44097" rIns="88194" bIns="44097" numCol="1" anchor="b" anchorCtr="0" compatLnSpc="1"/>
          <a:lstStyle>
            <a:lvl1pPr defTabSz="882650" eaLnBrk="1" hangingPunct="1">
              <a:defRPr sz="1200">
                <a:solidFill>
                  <a:schemeClr val="tx1"/>
                </a:solidFill>
                <a:ea typeface="宋体" panose="02010600030101010101" pitchFamily="2" charset="-122"/>
              </a:defRPr>
            </a:lvl1pPr>
          </a:lstStyle>
          <a:p>
            <a:pPr>
              <a:defRPr/>
            </a:pPr>
            <a:endParaRPr lang="en-US" altLang="zh-CN"/>
          </a:p>
        </p:txBody>
      </p:sp>
      <p:sp>
        <p:nvSpPr>
          <p:cNvPr id="76807" name="Rectangle 7"/>
          <p:cNvSpPr>
            <a:spLocks noGrp="1" noChangeArrowheads="1"/>
          </p:cNvSpPr>
          <p:nvPr>
            <p:ph type="sldNum" sz="quarter" idx="5"/>
          </p:nvPr>
        </p:nvSpPr>
        <p:spPr bwMode="auto">
          <a:xfrm>
            <a:off x="3865563" y="9463088"/>
            <a:ext cx="2916237" cy="442912"/>
          </a:xfrm>
          <a:prstGeom prst="rect">
            <a:avLst/>
          </a:prstGeom>
          <a:noFill/>
          <a:ln w="9525">
            <a:noFill/>
            <a:miter lim="800000"/>
          </a:ln>
          <a:effectLst/>
        </p:spPr>
        <p:txBody>
          <a:bodyPr vert="horz" wrap="none" lIns="88194" tIns="44097" rIns="88194" bIns="44097" numCol="1" anchor="b" anchorCtr="0" compatLnSpc="1"/>
          <a:lstStyle>
            <a:lvl1pPr algn="r" defTabSz="882650" eaLnBrk="1" hangingPunct="1">
              <a:defRPr sz="1200">
                <a:solidFill>
                  <a:schemeClr val="tx1"/>
                </a:solidFill>
                <a:ea typeface="宋体" panose="02010600030101010101" pitchFamily="2" charset="-122"/>
              </a:defRPr>
            </a:lvl1pPr>
          </a:lstStyle>
          <a:p>
            <a:pPr>
              <a:defRPr/>
            </a:pPr>
            <a:fld id="{A6A3250A-D96D-4FF1-9A04-805EFEDA6A1B}" type="slidenum">
              <a:rPr lang="en-US" altLang="zh-CN"/>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数制：二进制、十进制、十六进制</a:t>
            </a:r>
            <a:endParaRPr lang="en-US" altLang="zh-CN" dirty="0"/>
          </a:p>
          <a:p>
            <a:r>
              <a:rPr lang="zh-CN" altLang="en-US" dirty="0"/>
              <a:t>数值的编码：原码、反码、补码</a:t>
            </a:r>
            <a:endParaRPr lang="en-US" altLang="zh-CN" dirty="0"/>
          </a:p>
          <a:p>
            <a:r>
              <a:rPr lang="zh-CN" altLang="en-US" dirty="0"/>
              <a:t>字符的编码：</a:t>
            </a:r>
            <a:r>
              <a:rPr lang="en-US" altLang="zh-CN" dirty="0"/>
              <a:t>BCD</a:t>
            </a:r>
            <a:r>
              <a:rPr lang="zh-CN" altLang="en-US" dirty="0"/>
              <a:t>、</a:t>
            </a:r>
            <a:r>
              <a:rPr lang="en-US" altLang="zh-CN" dirty="0"/>
              <a:t>ASCII</a:t>
            </a:r>
            <a:r>
              <a:rPr lang="zh-CN" altLang="en-US" dirty="0"/>
              <a:t>、</a:t>
            </a:r>
            <a:r>
              <a:rPr lang="en-US" altLang="zh-CN" dirty="0"/>
              <a:t>Unicode</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Arial" panose="020B0604020202020204" pitchFamily="34" charset="0"/>
              </a:rPr>
              <a:t>A pushdown stack (or just a stack) is a collection that is based on the last-in-first-out (LIFO) policy</a:t>
            </a:r>
            <a:endParaRPr lang="en-US" altLang="zh-CN" b="0" i="0" dirty="0">
              <a:solidFill>
                <a:srgbClr val="333333"/>
              </a:solidFill>
              <a:effectLst/>
              <a:latin typeface="Arial" panose="020B0604020202020204" pitchFamily="34" charset="0"/>
            </a:endParaRPr>
          </a:p>
          <a:p>
            <a:r>
              <a:rPr lang="en-US" altLang="zh-CN" b="0" i="0" dirty="0">
                <a:solidFill>
                  <a:srgbClr val="4D5156"/>
                </a:solidFill>
                <a:effectLst/>
                <a:latin typeface="Arial" panose="020B0604020202020204" pitchFamily="34" charset="0"/>
              </a:rPr>
              <a:t>In the pushdown </a:t>
            </a:r>
            <a:r>
              <a:rPr lang="en-US" altLang="zh-CN" b="0" i="0" dirty="0">
                <a:solidFill>
                  <a:srgbClr val="EA4335"/>
                </a:solidFill>
                <a:effectLst/>
                <a:latin typeface="Arial" panose="020B0604020202020204" pitchFamily="34" charset="0"/>
              </a:rPr>
              <a:t>stacks</a:t>
            </a:r>
            <a:r>
              <a:rPr lang="en-US" altLang="zh-CN" b="0" i="0" dirty="0">
                <a:solidFill>
                  <a:srgbClr val="4D5156"/>
                </a:solidFill>
                <a:effectLst/>
                <a:latin typeface="Arial" panose="020B0604020202020204" pitchFamily="34" charset="0"/>
              </a:rPr>
              <a:t> only two operations are allowed: push the item into the </a:t>
            </a:r>
            <a:r>
              <a:rPr lang="en-US" altLang="zh-CN" b="0" i="0" dirty="0">
                <a:solidFill>
                  <a:srgbClr val="EA4335"/>
                </a:solidFill>
                <a:effectLst/>
                <a:latin typeface="Arial" panose="020B0604020202020204" pitchFamily="34" charset="0"/>
              </a:rPr>
              <a:t>stack</a:t>
            </a:r>
            <a:r>
              <a:rPr lang="en-US" altLang="zh-CN" b="0" i="0" dirty="0">
                <a:solidFill>
                  <a:srgbClr val="4D5156"/>
                </a:solidFill>
                <a:effectLst/>
                <a:latin typeface="Arial" panose="020B0604020202020204" pitchFamily="34" charset="0"/>
              </a:rPr>
              <a:t>, and </a:t>
            </a:r>
            <a:r>
              <a:rPr lang="en-US" altLang="zh-CN" b="0" i="0" dirty="0">
                <a:solidFill>
                  <a:srgbClr val="EA4335"/>
                </a:solidFill>
                <a:effectLst/>
                <a:latin typeface="Arial" panose="020B0604020202020204" pitchFamily="34" charset="0"/>
              </a:rPr>
              <a:t>pop </a:t>
            </a:r>
            <a:r>
              <a:rPr lang="en-US" altLang="zh-CN" b="0" i="0" dirty="0">
                <a:solidFill>
                  <a:srgbClr val="4D5156"/>
                </a:solidFill>
                <a:effectLst/>
                <a:latin typeface="Arial" panose="020B0604020202020204" pitchFamily="34" charset="0"/>
              </a:rPr>
              <a:t>the item </a:t>
            </a:r>
            <a:r>
              <a:rPr lang="en-US" altLang="zh-CN" b="0" i="0" dirty="0">
                <a:solidFill>
                  <a:srgbClr val="EA4335"/>
                </a:solidFill>
                <a:effectLst/>
                <a:latin typeface="Arial" panose="020B0604020202020204" pitchFamily="34" charset="0"/>
              </a:rPr>
              <a:t>out</a:t>
            </a:r>
            <a:r>
              <a:rPr lang="en-US" altLang="zh-CN" b="0" i="0" dirty="0">
                <a:solidFill>
                  <a:srgbClr val="4D5156"/>
                </a:solidFill>
                <a:effectLst/>
                <a:latin typeface="Arial" panose="020B0604020202020204" pitchFamily="34" charset="0"/>
              </a:rPr>
              <a:t> of the </a:t>
            </a:r>
            <a:r>
              <a:rPr lang="en-US" altLang="zh-CN" b="0" i="0" dirty="0">
                <a:solidFill>
                  <a:srgbClr val="EA4335"/>
                </a:solidFill>
                <a:effectLst/>
                <a:latin typeface="Arial" panose="020B0604020202020204" pitchFamily="34" charset="0"/>
              </a:rPr>
              <a:t>stack</a:t>
            </a:r>
            <a:r>
              <a:rPr lang="en-US" altLang="zh-CN" b="0" i="0" dirty="0">
                <a:solidFill>
                  <a:srgbClr val="4D5156"/>
                </a:solidFill>
                <a:effectLst/>
                <a:latin typeface="Arial" panose="020B0604020202020204" pitchFamily="34" charset="0"/>
              </a:rPr>
              <a:t>.</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EBP as mentioned earlier is stored as an unchanging reference point on the stack, this is done by moving the value of ESP (the stack pointer) into EBP. We do this as ESP will change as it always points to the top of the stack, storing it in EBP gives us an unchanging reference point in the stack and now the function can reference its variables and parameters on the stack from this location.</a:t>
            </a:r>
            <a:endParaRPr lang="en-US" altLang="zh-CN" dirty="0"/>
          </a:p>
          <a:p>
            <a:endParaRPr lang="en-US" altLang="zh-CN" dirty="0"/>
          </a:p>
          <a:p>
            <a:pPr algn="l"/>
            <a:r>
              <a:rPr lang="en-US" altLang="zh-CN" b="1" i="0" dirty="0">
                <a:solidFill>
                  <a:srgbClr val="212234"/>
                </a:solidFill>
                <a:effectLst/>
                <a:latin typeface="Graphik LC Web"/>
              </a:rPr>
              <a:t>push </a:t>
            </a:r>
            <a:r>
              <a:rPr lang="en-US" altLang="zh-CN" b="1" i="0" dirty="0" err="1">
                <a:solidFill>
                  <a:srgbClr val="212234"/>
                </a:solidFill>
                <a:effectLst/>
                <a:latin typeface="Graphik LC Web"/>
              </a:rPr>
              <a:t>ebp</a:t>
            </a:r>
            <a:r>
              <a:rPr lang="en-US" altLang="zh-CN" b="0" i="0" dirty="0">
                <a:solidFill>
                  <a:srgbClr val="212234"/>
                </a:solidFill>
                <a:effectLst/>
                <a:latin typeface="Graphik LC Web"/>
              </a:rPr>
              <a:t> preserves ESP, the previous stack frame pointer, this is so it can be returned to at the end of the function. A stack frame is used to store local variables and each function will have its own stack frame in memory.</a:t>
            </a:r>
            <a:endParaRPr lang="en-US" altLang="zh-CN" b="0" i="0" dirty="0">
              <a:solidFill>
                <a:srgbClr val="212234"/>
              </a:solidFill>
              <a:effectLst/>
              <a:latin typeface="Graphik LC Web"/>
            </a:endParaRPr>
          </a:p>
          <a:p>
            <a:pPr algn="l"/>
            <a:endParaRPr lang="en-US" altLang="zh-CN" b="0" i="0" dirty="0">
              <a:solidFill>
                <a:srgbClr val="212234"/>
              </a:solidFill>
              <a:effectLst/>
              <a:latin typeface="Graphik LC Web"/>
            </a:endParaRPr>
          </a:p>
          <a:p>
            <a:pPr algn="l"/>
            <a:r>
              <a:rPr lang="en-US" altLang="zh-CN" b="1" i="0" dirty="0">
                <a:solidFill>
                  <a:srgbClr val="212234"/>
                </a:solidFill>
                <a:effectLst/>
                <a:latin typeface="Graphik LC Web"/>
              </a:rPr>
              <a:t>mov </a:t>
            </a:r>
            <a:r>
              <a:rPr lang="en-US" altLang="zh-CN" b="1" i="0" dirty="0" err="1">
                <a:solidFill>
                  <a:srgbClr val="212234"/>
                </a:solidFill>
                <a:effectLst/>
                <a:latin typeface="Graphik LC Web"/>
              </a:rPr>
              <a:t>ebp</a:t>
            </a:r>
            <a:r>
              <a:rPr lang="en-US" altLang="zh-CN" b="1" i="0" dirty="0">
                <a:solidFill>
                  <a:srgbClr val="212234"/>
                </a:solidFill>
                <a:effectLst/>
                <a:latin typeface="Graphik LC Web"/>
              </a:rPr>
              <a:t>, </a:t>
            </a:r>
            <a:r>
              <a:rPr lang="en-US" altLang="zh-CN" b="1" i="0" dirty="0" err="1">
                <a:solidFill>
                  <a:srgbClr val="212234"/>
                </a:solidFill>
                <a:effectLst/>
                <a:latin typeface="Graphik LC Web"/>
              </a:rPr>
              <a:t>esp</a:t>
            </a:r>
            <a:r>
              <a:rPr lang="en-US" altLang="zh-CN" b="0" i="0" dirty="0">
                <a:solidFill>
                  <a:srgbClr val="212234"/>
                </a:solidFill>
                <a:effectLst/>
                <a:latin typeface="Graphik LC Web"/>
              </a:rPr>
              <a:t> moves the current stack position into EBP which is the base of the stack. We now have a reference point that allows us to reference our local variables stored on the stack. The value of EBP now never changes.</a:t>
            </a:r>
            <a:endParaRPr lang="en-US" altLang="zh-CN" b="0" i="0" dirty="0">
              <a:solidFill>
                <a:srgbClr val="212234"/>
              </a:solidFill>
              <a:effectLst/>
              <a:latin typeface="Graphik LC Web"/>
            </a:endParaRPr>
          </a:p>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栈顶数据</a:t>
            </a:r>
            <a:r>
              <a:rPr lang="en-US" altLang="zh-CN" dirty="0"/>
              <a:t>the top element of the stack</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a:t>push dvar </a:t>
            </a:r>
            <a:r>
              <a:rPr lang="en-US" altLang="en-US" dirty="0"/>
              <a:t>✅</a:t>
            </a:r>
            <a:r>
              <a:rPr lang="en-US" altLang="zh-CN" dirty="0"/>
              <a:t> </a:t>
            </a:r>
            <a:r>
              <a:rPr lang="zh-CN" altLang="en-US" dirty="0"/>
              <a:t>正确。压入</a:t>
            </a:r>
            <a:r>
              <a:rPr lang="en-US" altLang="zh-CN" dirty="0"/>
              <a:t> 67762000H</a:t>
            </a:r>
            <a:r>
              <a:rPr lang="zh-CN" altLang="en-US" dirty="0"/>
              <a:t>。</a:t>
            </a:r>
            <a:endParaRPr lang="en-US" altLang="zh-CN" dirty="0"/>
          </a:p>
          <a:p>
            <a:pPr algn="l"/>
            <a:r>
              <a:rPr lang="en-US" altLang="zh-CN" dirty="0"/>
              <a:t>push [dvar] </a:t>
            </a:r>
            <a:r>
              <a:rPr lang="en-US" altLang="en-US" dirty="0"/>
              <a:t>✅</a:t>
            </a:r>
            <a:r>
              <a:rPr lang="en-US" altLang="zh-CN" dirty="0"/>
              <a:t> </a:t>
            </a:r>
            <a:r>
              <a:rPr lang="zh-CN" altLang="en-US" dirty="0"/>
              <a:t>正确。同样压入</a:t>
            </a:r>
            <a:r>
              <a:rPr lang="en-US" altLang="zh-CN" dirty="0"/>
              <a:t> </a:t>
            </a:r>
            <a:r>
              <a:rPr lang="en-US" altLang="zh-CN" dirty="0">
                <a:sym typeface="+mn-ea"/>
              </a:rPr>
              <a:t>67762000H</a:t>
            </a:r>
            <a:r>
              <a:rPr lang="zh-CN" altLang="en-US" dirty="0"/>
              <a:t>。在</a:t>
            </a:r>
            <a:r>
              <a:rPr lang="en-US" altLang="zh-CN" dirty="0"/>
              <a:t> MASM </a:t>
            </a:r>
            <a:r>
              <a:rPr lang="zh-CN" altLang="en-US" dirty="0"/>
              <a:t>中，这条指令与上一条完全等价。</a:t>
            </a:r>
            <a:endParaRPr lang="en-US" altLang="zh-CN" dirty="0"/>
          </a:p>
          <a:p>
            <a:pPr algn="l"/>
            <a:r>
              <a:rPr lang="en-US" altLang="zh-CN" dirty="0"/>
              <a:t>push dword ptr [dvar] </a:t>
            </a:r>
            <a:r>
              <a:rPr lang="en-US" altLang="en-US" dirty="0"/>
              <a:t>✅</a:t>
            </a:r>
            <a:r>
              <a:rPr lang="en-US" altLang="zh-CN" dirty="0"/>
              <a:t> </a:t>
            </a:r>
            <a:r>
              <a:rPr lang="zh-CN" altLang="en-US" dirty="0"/>
              <a:t>正确。同样压入</a:t>
            </a:r>
            <a:r>
              <a:rPr lang="en-US" altLang="zh-CN" dirty="0"/>
              <a:t> </a:t>
            </a:r>
            <a:r>
              <a:rPr lang="en-US" altLang="zh-CN" dirty="0">
                <a:sym typeface="+mn-ea"/>
              </a:rPr>
              <a:t>67762000H</a:t>
            </a:r>
            <a:r>
              <a:rPr lang="zh-CN" altLang="en-US" dirty="0"/>
              <a:t>。</a:t>
            </a:r>
            <a:r>
              <a:rPr lang="en-US" altLang="zh-CN" dirty="0"/>
              <a:t>dword ptr </a:t>
            </a:r>
            <a:r>
              <a:rPr lang="zh-CN" altLang="en-US" dirty="0"/>
              <a:t>在这里是冗余的，但加了也不会错。</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与例</a:t>
            </a:r>
            <a:r>
              <a:rPr lang="en-US" altLang="zh-CN" dirty="0"/>
              <a:t>3-7</a:t>
            </a:r>
            <a:r>
              <a:rPr lang="zh-CN" altLang="en-US" dirty="0"/>
              <a:t>完成相同功能，利用</a:t>
            </a:r>
            <a:r>
              <a:rPr lang="en-US" altLang="zh-CN" dirty="0"/>
              <a:t>XCHG</a:t>
            </a:r>
            <a:r>
              <a:rPr lang="zh-CN" altLang="en-US" dirty="0"/>
              <a:t>指令</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用的寄存器间接寻址</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0" i="0" dirty="0">
                <a:solidFill>
                  <a:srgbClr val="4D5156"/>
                </a:solidFill>
                <a:effectLst/>
                <a:latin typeface="Arial" panose="020B0604020202020204" pitchFamily="34" charset="0"/>
              </a:rPr>
              <a:t>The PUSHF (push flags) and </a:t>
            </a:r>
            <a:r>
              <a:rPr lang="en-US" altLang="zh-CN" b="0" i="0" dirty="0">
                <a:solidFill>
                  <a:srgbClr val="EA4335"/>
                </a:solidFill>
                <a:effectLst/>
                <a:latin typeface="Arial" panose="020B0604020202020204" pitchFamily="34" charset="0"/>
              </a:rPr>
              <a:t>PUSHFD</a:t>
            </a:r>
            <a:r>
              <a:rPr lang="en-US" altLang="zh-CN" b="0" i="0" dirty="0">
                <a:solidFill>
                  <a:srgbClr val="4D5156"/>
                </a:solidFill>
                <a:effectLst/>
                <a:latin typeface="Arial" panose="020B0604020202020204" pitchFamily="34" charset="0"/>
              </a:rPr>
              <a:t> (push flags double) mnemonics reference the same opcode</a:t>
            </a:r>
            <a:endParaRPr lang="zh-CN" altLang="en-US" dirty="0"/>
          </a:p>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64646"/>
                </a:solidFill>
                <a:effectLst/>
                <a:latin typeface="宋体" panose="02010600030101010101" pitchFamily="2" charset="-122"/>
                <a:ea typeface="宋体" panose="02010600030101010101" pitchFamily="2" charset="-122"/>
              </a:rPr>
              <a:t>正数、负数：</a:t>
            </a:r>
            <a:r>
              <a:rPr lang="en-US" altLang="zh-CN" b="0" i="0" dirty="0">
                <a:solidFill>
                  <a:srgbClr val="464646"/>
                </a:solidFill>
                <a:effectLst/>
                <a:latin typeface="宋体" panose="02010600030101010101" pitchFamily="2" charset="-122"/>
                <a:ea typeface="宋体" panose="02010600030101010101" pitchFamily="2" charset="-122"/>
              </a:rPr>
              <a:t>Positive number</a:t>
            </a:r>
            <a:r>
              <a:rPr lang="zh-CN" altLang="en-US" b="0" i="0" dirty="0">
                <a:solidFill>
                  <a:srgbClr val="464646"/>
                </a:solidFill>
                <a:effectLst/>
                <a:latin typeface="宋体" panose="02010600030101010101" pitchFamily="2" charset="-122"/>
                <a:ea typeface="宋体" panose="02010600030101010101" pitchFamily="2" charset="-122"/>
              </a:rPr>
              <a:t>、</a:t>
            </a:r>
            <a:r>
              <a:rPr lang="en-US" altLang="zh-CN" b="0" i="0" dirty="0">
                <a:solidFill>
                  <a:srgbClr val="464646"/>
                </a:solidFill>
                <a:effectLst/>
                <a:latin typeface="宋体" panose="02010600030101010101" pitchFamily="2" charset="-122"/>
                <a:ea typeface="宋体" panose="02010600030101010101" pitchFamily="2" charset="-122"/>
              </a:rPr>
              <a:t>Negative number</a:t>
            </a:r>
            <a:endParaRPr lang="en-US" altLang="zh-CN" b="0" i="0" dirty="0">
              <a:solidFill>
                <a:srgbClr val="464646"/>
              </a:solidFill>
              <a:effectLst/>
              <a:latin typeface="宋体" panose="02010600030101010101" pitchFamily="2" charset="-122"/>
              <a:ea typeface="宋体" panose="02010600030101010101" pitchFamily="2" charset="-122"/>
            </a:endParaRPr>
          </a:p>
          <a:p>
            <a:r>
              <a:rPr lang="zh-CN" altLang="en-US" b="0" i="0" dirty="0">
                <a:solidFill>
                  <a:srgbClr val="464646"/>
                </a:solidFill>
                <a:effectLst/>
                <a:latin typeface="宋体" panose="02010600030101010101" pitchFamily="2" charset="-122"/>
                <a:ea typeface="宋体" panose="02010600030101010101" pitchFamily="2" charset="-122"/>
              </a:rPr>
              <a:t>字内位的名称</a:t>
            </a:r>
            <a:br>
              <a:rPr lang="zh-CN" altLang="en-US" dirty="0"/>
            </a:br>
            <a:r>
              <a:rPr lang="zh-CN" altLang="en-US" b="0" i="0" dirty="0">
                <a:solidFill>
                  <a:srgbClr val="464646"/>
                </a:solidFill>
                <a:effectLst/>
                <a:latin typeface="宋体" panose="02010600030101010101" pitchFamily="2" charset="-122"/>
                <a:ea typeface="宋体" panose="02010600030101010101" pitchFamily="2" charset="-122"/>
              </a:rPr>
              <a:t>字内各个位的名称是有规定的，具体规定如下所示：</a:t>
            </a:r>
            <a:br>
              <a:rPr lang="zh-CN" altLang="en-US" dirty="0"/>
            </a:br>
            <a:r>
              <a:rPr lang="zh-CN" altLang="en-US" b="0" i="0" dirty="0">
                <a:solidFill>
                  <a:srgbClr val="464646"/>
                </a:solidFill>
                <a:effectLst/>
                <a:latin typeface="宋体" panose="02010600030101010101" pitchFamily="2" charset="-122"/>
                <a:ea typeface="宋体" panose="02010600030101010101" pitchFamily="2" charset="-122"/>
              </a:rPr>
              <a:t>　　最上位（最高一位）的比特叫做ＭＳＢ（</a:t>
            </a:r>
            <a:r>
              <a:rPr lang="en-US" altLang="zh-CN" b="0" i="0" dirty="0">
                <a:solidFill>
                  <a:srgbClr val="464646"/>
                </a:solidFill>
                <a:effectLst/>
                <a:latin typeface="宋体" panose="02010600030101010101" pitchFamily="2" charset="-122"/>
                <a:ea typeface="宋体" panose="02010600030101010101" pitchFamily="2" charset="-122"/>
              </a:rPr>
              <a:t>most significant bit</a:t>
            </a:r>
            <a:r>
              <a:rPr lang="zh-CN" altLang="en-US" b="0" i="0" dirty="0">
                <a:solidFill>
                  <a:srgbClr val="464646"/>
                </a:solidFill>
                <a:effectLst/>
                <a:latin typeface="宋体" panose="02010600030101010101" pitchFamily="2" charset="-122"/>
                <a:ea typeface="宋体" panose="02010600030101010101" pitchFamily="2" charset="-122"/>
              </a:rPr>
              <a:t>）。</a:t>
            </a:r>
            <a:br>
              <a:rPr lang="en-US" altLang="zh-CN" dirty="0"/>
            </a:br>
            <a:r>
              <a:rPr lang="zh-CN" altLang="en-US" b="0" i="0" dirty="0">
                <a:solidFill>
                  <a:srgbClr val="464646"/>
                </a:solidFill>
                <a:effectLst/>
                <a:latin typeface="宋体" panose="02010600030101010101" pitchFamily="2" charset="-122"/>
                <a:ea typeface="宋体" panose="02010600030101010101" pitchFamily="2" charset="-122"/>
              </a:rPr>
              <a:t>　　次高位收做２ＳＢ（</a:t>
            </a:r>
            <a:r>
              <a:rPr lang="en-US" altLang="zh-CN" b="0" i="0" dirty="0">
                <a:solidFill>
                  <a:srgbClr val="464646"/>
                </a:solidFill>
                <a:effectLst/>
                <a:latin typeface="宋体" panose="02010600030101010101" pitchFamily="2" charset="-122"/>
                <a:ea typeface="宋体" panose="02010600030101010101" pitchFamily="2" charset="-122"/>
              </a:rPr>
              <a:t>second significant bit</a:t>
            </a:r>
            <a:r>
              <a:rPr lang="zh-CN" altLang="en-US" b="0" i="0" dirty="0">
                <a:solidFill>
                  <a:srgbClr val="464646"/>
                </a:solidFill>
                <a:effectLst/>
                <a:latin typeface="宋体" panose="02010600030101010101" pitchFamily="2" charset="-122"/>
                <a:ea typeface="宋体" panose="02010600030101010101" pitchFamily="2" charset="-122"/>
              </a:rPr>
              <a:t>）。</a:t>
            </a:r>
            <a:br>
              <a:rPr lang="en-US" altLang="zh-CN" dirty="0"/>
            </a:br>
            <a:r>
              <a:rPr lang="zh-CN" altLang="en-US" b="0" i="0" dirty="0">
                <a:solidFill>
                  <a:srgbClr val="464646"/>
                </a:solidFill>
                <a:effectLst/>
                <a:latin typeface="宋体" panose="02010600030101010101" pitchFamily="2" charset="-122"/>
                <a:ea typeface="宋体" panose="02010600030101010101" pitchFamily="2" charset="-122"/>
              </a:rPr>
              <a:t>　　由此向下位移动依次各位叫做３ＳＢ（</a:t>
            </a:r>
            <a:r>
              <a:rPr lang="en-US" altLang="zh-CN" b="0" i="0" dirty="0">
                <a:solidFill>
                  <a:srgbClr val="464646"/>
                </a:solidFill>
                <a:effectLst/>
                <a:latin typeface="宋体" panose="02010600030101010101" pitchFamily="2" charset="-122"/>
                <a:ea typeface="宋体" panose="02010600030101010101" pitchFamily="2" charset="-122"/>
              </a:rPr>
              <a:t>third significant bit</a:t>
            </a:r>
            <a:r>
              <a:rPr lang="zh-CN" altLang="en-US" b="0" i="0" dirty="0">
                <a:solidFill>
                  <a:srgbClr val="464646"/>
                </a:solidFill>
                <a:effectLst/>
                <a:latin typeface="宋体" panose="02010600030101010101" pitchFamily="2" charset="-122"/>
                <a:ea typeface="宋体" panose="02010600030101010101" pitchFamily="2" charset="-122"/>
              </a:rPr>
              <a:t>）</a:t>
            </a:r>
            <a:r>
              <a:rPr lang="en-US" altLang="zh-CN" b="0" i="0" dirty="0">
                <a:solidFill>
                  <a:srgbClr val="464646"/>
                </a:solidFill>
                <a:effectLst/>
                <a:latin typeface="宋体" panose="02010600030101010101" pitchFamily="2" charset="-122"/>
                <a:ea typeface="宋体" panose="02010600030101010101" pitchFamily="2" charset="-122"/>
              </a:rPr>
              <a:t>,......</a:t>
            </a:r>
            <a:r>
              <a:rPr lang="zh-CN" altLang="en-US" b="0" i="0" dirty="0">
                <a:solidFill>
                  <a:srgbClr val="464646"/>
                </a:solidFill>
                <a:effectLst/>
                <a:latin typeface="宋体" panose="02010600030101010101" pitchFamily="2" charset="-122"/>
                <a:ea typeface="宋体" panose="02010600030101010101" pitchFamily="2" charset="-122"/>
              </a:rPr>
              <a:t>。</a:t>
            </a:r>
            <a:br>
              <a:rPr lang="en-US" altLang="zh-CN" dirty="0"/>
            </a:br>
            <a:r>
              <a:rPr lang="zh-CN" altLang="en-US" b="0" i="0" dirty="0">
                <a:solidFill>
                  <a:srgbClr val="464646"/>
                </a:solidFill>
                <a:effectLst/>
                <a:latin typeface="宋体" panose="02010600030101010101" pitchFamily="2" charset="-122"/>
                <a:ea typeface="宋体" panose="02010600030101010101" pitchFamily="2" charset="-122"/>
              </a:rPr>
              <a:t>　　最后一位的比特叫做ＬＳＢ（</a:t>
            </a:r>
            <a:r>
              <a:rPr lang="en-US" altLang="zh-CN" b="0" i="0" dirty="0">
                <a:solidFill>
                  <a:srgbClr val="464646"/>
                </a:solidFill>
                <a:effectLst/>
                <a:latin typeface="宋体" panose="02010600030101010101" pitchFamily="2" charset="-122"/>
                <a:ea typeface="宋体" panose="02010600030101010101" pitchFamily="2" charset="-122"/>
              </a:rPr>
              <a:t>least significant bit</a:t>
            </a:r>
            <a:r>
              <a:rPr lang="zh-CN" altLang="en-US" b="0" i="0" dirty="0">
                <a:solidFill>
                  <a:srgbClr val="464646"/>
                </a:solidFill>
                <a:effectLst/>
                <a:latin typeface="宋体" panose="02010600030101010101" pitchFamily="2" charset="-122"/>
                <a:ea typeface="宋体" panose="02010600030101010101" pitchFamily="2" charset="-122"/>
              </a:rPr>
              <a:t>）。</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202122"/>
                </a:solidFill>
                <a:effectLst/>
                <a:latin typeface="Arial" panose="020B0604020202020204" pitchFamily="34" charset="0"/>
              </a:rPr>
              <a:t>最低有效位</a:t>
            </a:r>
            <a:r>
              <a:rPr lang="zh-CN" altLang="en-US" b="0" i="0" dirty="0">
                <a:solidFill>
                  <a:srgbClr val="202122"/>
                </a:solidFill>
                <a:effectLst/>
                <a:latin typeface="Arial" panose="020B0604020202020204" pitchFamily="34" charset="0"/>
              </a:rPr>
              <a:t>（</a:t>
            </a:r>
            <a:r>
              <a:rPr lang="en-US" altLang="zh-CN" b="1" i="0" dirty="0">
                <a:solidFill>
                  <a:srgbClr val="202122"/>
                </a:solidFill>
                <a:effectLst/>
                <a:latin typeface="Arial" panose="020B0604020202020204" pitchFamily="34" charset="0"/>
              </a:rPr>
              <a:t>Least Significant Bit</a:t>
            </a:r>
            <a:r>
              <a:rPr lang="zh-CN" altLang="en-US" b="0" i="0" dirty="0">
                <a:solidFill>
                  <a:srgbClr val="202122"/>
                </a:solidFill>
                <a:effectLst/>
                <a:latin typeface="Arial" panose="020B0604020202020204" pitchFamily="34" charset="0"/>
              </a:rPr>
              <a:t>，</a:t>
            </a:r>
            <a:r>
              <a:rPr lang="en-US" altLang="zh-CN" b="1" i="0" dirty="0" err="1">
                <a:solidFill>
                  <a:srgbClr val="202122"/>
                </a:solidFill>
                <a:effectLst/>
                <a:latin typeface="Arial" panose="020B0604020202020204" pitchFamily="34" charset="0"/>
              </a:rPr>
              <a:t>lsb</a:t>
            </a:r>
            <a:r>
              <a:rPr lang="zh-CN" altLang="en-US" b="0" i="0" dirty="0">
                <a:solidFill>
                  <a:srgbClr val="202122"/>
                </a:solidFill>
                <a:effectLst/>
                <a:latin typeface="Arial" panose="020B0604020202020204" pitchFamily="34" charset="0"/>
              </a:rPr>
              <a:t>）是指一个</a:t>
            </a:r>
            <a:r>
              <a:rPr lang="zh-CN" altLang="en-US" b="0" i="0" u="none" strike="noStrike" dirty="0">
                <a:solidFill>
                  <a:srgbClr val="0645AD"/>
                </a:solidFill>
                <a:effectLst/>
                <a:latin typeface="Arial" panose="020B0604020202020204" pitchFamily="34" charset="0"/>
              </a:rPr>
              <a:t>二进制</a:t>
            </a:r>
            <a:r>
              <a:rPr lang="zh-CN" altLang="en-US" b="0" i="0" dirty="0">
                <a:solidFill>
                  <a:srgbClr val="202122"/>
                </a:solidFill>
                <a:effectLst/>
                <a:latin typeface="Arial" panose="020B0604020202020204" pitchFamily="34" charset="0"/>
              </a:rPr>
              <a:t>数字中的第</a:t>
            </a:r>
            <a:r>
              <a:rPr lang="en-US" altLang="zh-CN" b="0" i="0" dirty="0">
                <a:solidFill>
                  <a:srgbClr val="202122"/>
                </a:solidFill>
                <a:effectLst/>
                <a:latin typeface="Arial" panose="020B0604020202020204" pitchFamily="34" charset="0"/>
              </a:rPr>
              <a:t>0</a:t>
            </a:r>
            <a:r>
              <a:rPr lang="zh-CN" altLang="en-US" b="0" i="0" dirty="0">
                <a:solidFill>
                  <a:srgbClr val="202122"/>
                </a:solidFill>
                <a:effectLst/>
                <a:latin typeface="Arial" panose="020B0604020202020204" pitchFamily="34" charset="0"/>
              </a:rPr>
              <a:t>位（即最低位）</a:t>
            </a:r>
            <a:endParaRPr lang="en-US" altLang="zh-CN" b="0" i="0" dirty="0">
              <a:solidFill>
                <a:srgbClr val="202122"/>
              </a:solidFill>
              <a:effectLst/>
              <a:latin typeface="Arial" panose="020B0604020202020204" pitchFamily="34" charset="0"/>
            </a:endParaRPr>
          </a:p>
          <a:p>
            <a:r>
              <a:rPr lang="en-US" altLang="zh-CN" b="0" i="0" dirty="0">
                <a:solidFill>
                  <a:srgbClr val="202122"/>
                </a:solidFill>
                <a:effectLst/>
                <a:latin typeface="Arial" panose="020B0604020202020204" pitchFamily="34" charset="0"/>
              </a:rPr>
              <a:t>LSB</a:t>
            </a:r>
            <a:r>
              <a:rPr lang="zh-CN" altLang="en-US" b="0" i="0" dirty="0">
                <a:solidFill>
                  <a:srgbClr val="202122"/>
                </a:solidFill>
                <a:effectLst/>
                <a:latin typeface="Arial" panose="020B0604020202020204" pitchFamily="34" charset="0"/>
              </a:rPr>
              <a:t>（全大写）有时也指</a:t>
            </a:r>
            <a:r>
              <a:rPr lang="en-US" altLang="zh-CN" b="1" i="0" dirty="0">
                <a:solidFill>
                  <a:srgbClr val="202122"/>
                </a:solidFill>
                <a:effectLst/>
                <a:latin typeface="Arial" panose="020B0604020202020204" pitchFamily="34" charset="0"/>
              </a:rPr>
              <a:t>Least Significant Byte</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0" i="0" dirty="0">
                <a:solidFill>
                  <a:srgbClr val="111111"/>
                </a:solidFill>
                <a:effectLst/>
                <a:latin typeface="PingFang SC"/>
              </a:rPr>
              <a:t>INC,DEC</a:t>
            </a:r>
            <a:r>
              <a:rPr lang="zh-CN" altLang="en-US" b="0" i="0" dirty="0">
                <a:solidFill>
                  <a:srgbClr val="111111"/>
                </a:solidFill>
                <a:effectLst/>
                <a:latin typeface="PingFang SC"/>
              </a:rPr>
              <a:t>指令不影响</a:t>
            </a:r>
            <a:r>
              <a:rPr lang="en-US" altLang="zh-CN" b="0" i="0" dirty="0">
                <a:solidFill>
                  <a:srgbClr val="111111"/>
                </a:solidFill>
                <a:effectLst/>
                <a:latin typeface="PingFang SC"/>
              </a:rPr>
              <a:t>CF</a:t>
            </a:r>
            <a:r>
              <a:rPr lang="zh-CN" altLang="en-US" b="0" i="0" dirty="0">
                <a:solidFill>
                  <a:srgbClr val="111111"/>
                </a:solidFill>
                <a:effectLst/>
                <a:latin typeface="PingFang SC"/>
              </a:rPr>
              <a:t>标志位</a:t>
            </a:r>
            <a:r>
              <a:rPr lang="en-US" altLang="zh-CN" b="0" i="0" dirty="0">
                <a:solidFill>
                  <a:srgbClr val="111111"/>
                </a:solidFill>
                <a:effectLst/>
                <a:latin typeface="PingFang SC"/>
              </a:rPr>
              <a:t>,</a:t>
            </a:r>
            <a:r>
              <a:rPr lang="zh-CN" altLang="en-US" b="0" i="0" dirty="0">
                <a:solidFill>
                  <a:srgbClr val="111111"/>
                </a:solidFill>
                <a:effectLst/>
                <a:latin typeface="PingFang SC"/>
              </a:rPr>
              <a:t>这个是</a:t>
            </a:r>
            <a:r>
              <a:rPr lang="en-US" altLang="zh-CN" b="0" i="0" dirty="0">
                <a:solidFill>
                  <a:srgbClr val="111111"/>
                </a:solidFill>
                <a:effectLst/>
                <a:latin typeface="PingFang SC"/>
              </a:rPr>
              <a:t>Intel</a:t>
            </a:r>
            <a:r>
              <a:rPr lang="zh-CN" altLang="en-US" b="0" i="0" dirty="0">
                <a:solidFill>
                  <a:srgbClr val="111111"/>
                </a:solidFill>
                <a:effectLst/>
                <a:latin typeface="PingFang SC"/>
              </a:rPr>
              <a:t>规定的！其原因是硬件设计造成的，总之，对软件人员来制说不重要！</a:t>
            </a:r>
            <a:endParaRPr lang="zh-CN" altLang="en-US" b="0" i="0" dirty="0">
              <a:solidFill>
                <a:srgbClr val="111111"/>
              </a:solidFill>
              <a:effectLst/>
              <a:latin typeface="PingFang SC"/>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当使用</a:t>
            </a:r>
            <a:r>
              <a:rPr lang="en-US" altLang="zh-CN" dirty="0"/>
              <a:t>neg</a:t>
            </a:r>
            <a:r>
              <a:rPr lang="zh-CN" altLang="en-US" dirty="0"/>
              <a:t>指令时：  用</a:t>
            </a:r>
            <a:r>
              <a:rPr lang="en-US" altLang="zh-CN" dirty="0"/>
              <a:t>0</a:t>
            </a:r>
            <a:r>
              <a:rPr lang="zh-CN" altLang="en-US" dirty="0"/>
              <a:t>减去操作数或者按如下方式计算</a:t>
            </a:r>
            <a:endParaRPr lang="en-US" altLang="zh-CN" dirty="0"/>
          </a:p>
          <a:p>
            <a:r>
              <a:rPr lang="en-US" altLang="zh-CN" dirty="0"/>
              <a:t>1</a:t>
            </a:r>
            <a:r>
              <a:rPr lang="zh-CN" altLang="en-US" dirty="0"/>
              <a:t>）先将操作数换成补码表示    </a:t>
            </a:r>
            <a:r>
              <a:rPr lang="en-US" altLang="zh-CN" dirty="0"/>
              <a:t>2</a:t>
            </a:r>
            <a:r>
              <a:rPr lang="zh-CN" altLang="en-US" dirty="0"/>
              <a:t>）再将操作数（包括符号位）按位取反    </a:t>
            </a:r>
            <a:r>
              <a:rPr lang="en-US" altLang="zh-CN" dirty="0"/>
              <a:t>3</a:t>
            </a:r>
            <a:r>
              <a:rPr lang="zh-CN" altLang="en-US" dirty="0"/>
              <a:t>）最后加</a:t>
            </a:r>
            <a:r>
              <a:rPr lang="en-US" altLang="zh-CN" dirty="0"/>
              <a:t>1</a:t>
            </a:r>
            <a:r>
              <a:rPr lang="zh-CN" altLang="en-US" dirty="0"/>
              <a:t>。此时就能求出正确结果了。</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1" dirty="0">
                <a:solidFill>
                  <a:srgbClr val="008000"/>
                </a:solidFill>
                <a:latin typeface="新宋体" panose="02010609030101010101" pitchFamily="49" charset="-122"/>
                <a:ea typeface="新宋体" panose="02010609030101010101" pitchFamily="49" charset="-122"/>
              </a:rPr>
              <a:t>;</a:t>
            </a:r>
            <a:r>
              <a:rPr lang="zh-CN" altLang="en-US" sz="1800" i="1" dirty="0">
                <a:solidFill>
                  <a:srgbClr val="008000"/>
                </a:solidFill>
                <a:latin typeface="新宋体" panose="02010609030101010101" pitchFamily="49" charset="-122"/>
                <a:ea typeface="新宋体" panose="02010609030101010101" pitchFamily="49" charset="-122"/>
              </a:rPr>
              <a:t>逐个字符打印的方式</a:t>
            </a:r>
            <a:endParaRPr lang="zh-CN" altLang="en-US"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mov </a:t>
            </a:r>
            <a:r>
              <a:rPr lang="en-US" altLang="zh-CN" sz="1800" i="0" dirty="0" err="1">
                <a:solidFill>
                  <a:srgbClr val="000000"/>
                </a:solidFill>
                <a:latin typeface="新宋体" panose="02010609030101010101" pitchFamily="49" charset="-122"/>
                <a:ea typeface="新宋体" panose="02010609030101010101" pitchFamily="49" charset="-122"/>
              </a:rPr>
              <a:t>ecx</a:t>
            </a:r>
            <a:r>
              <a:rPr lang="en-US" altLang="zh-CN" sz="1800" i="0" dirty="0">
                <a:solidFill>
                  <a:srgbClr val="000000"/>
                </a:solidFill>
                <a:latin typeface="新宋体" panose="02010609030101010101" pitchFamily="49" charset="-122"/>
                <a:ea typeface="新宋体" panose="02010609030101010101" pitchFamily="49" charset="-122"/>
              </a:rPr>
              <a:t>,(</a:t>
            </a:r>
            <a:r>
              <a:rPr lang="en-US" altLang="zh-CN" sz="1800" i="0" dirty="0" err="1">
                <a:solidFill>
                  <a:srgbClr val="000000"/>
                </a:solidFill>
                <a:latin typeface="新宋体" panose="02010609030101010101" pitchFamily="49" charset="-122"/>
                <a:ea typeface="新宋体" panose="02010609030101010101" pitchFamily="49" charset="-122"/>
              </a:rPr>
              <a:t>lengthof</a:t>
            </a:r>
            <a:r>
              <a:rPr lang="en-US" altLang="zh-CN" sz="1800" i="0" dirty="0">
                <a:solidFill>
                  <a:srgbClr val="000000"/>
                </a:solidFill>
                <a:latin typeface="新宋体" panose="02010609030101010101" pitchFamily="49" charset="-122"/>
                <a:ea typeface="新宋体" panose="02010609030101010101" pitchFamily="49" charset="-122"/>
              </a:rPr>
              <a:t> msg)-1 </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mov ebx,0</a:t>
            </a:r>
            <a:endParaRPr lang="en-US" altLang="zh-CN" sz="1800" i="0" dirty="0">
              <a:solidFill>
                <a:srgbClr val="000000"/>
              </a:solidFill>
              <a:latin typeface="新宋体" panose="02010609030101010101" pitchFamily="49" charset="-122"/>
              <a:ea typeface="新宋体" panose="02010609030101010101" pitchFamily="49" charset="-122"/>
            </a:endParaRPr>
          </a:p>
          <a:p>
            <a:r>
              <a:rPr lang="en-US" altLang="zh-CN" sz="1800" i="0" dirty="0">
                <a:solidFill>
                  <a:srgbClr val="000000"/>
                </a:solidFill>
                <a:latin typeface="新宋体" panose="02010609030101010101" pitchFamily="49" charset="-122"/>
                <a:ea typeface="新宋体" panose="02010609030101010101" pitchFamily="49" charset="-122"/>
              </a:rPr>
              <a:t>print:</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pushad</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	invoke </a:t>
            </a:r>
            <a:r>
              <a:rPr lang="en-US" altLang="zh-CN" sz="1800" i="0" dirty="0" err="1">
                <a:solidFill>
                  <a:srgbClr val="000000"/>
                </a:solidFill>
                <a:latin typeface="新宋体" panose="02010609030101010101" pitchFamily="49" charset="-122"/>
                <a:ea typeface="新宋体" panose="02010609030101010101" pitchFamily="49" charset="-122"/>
              </a:rPr>
              <a:t>printf</a:t>
            </a:r>
            <a:r>
              <a:rPr lang="en-US" altLang="zh-CN" sz="1800" i="0" dirty="0">
                <a:solidFill>
                  <a:srgbClr val="000000"/>
                </a:solidFill>
                <a:latin typeface="新宋体" panose="02010609030101010101" pitchFamily="49" charset="-122"/>
                <a:ea typeface="新宋体" panose="02010609030101010101" pitchFamily="49" charset="-122"/>
              </a:rPr>
              <a:t>, offset </a:t>
            </a:r>
            <a:r>
              <a:rPr lang="en-US" altLang="zh-CN" sz="1800" i="0" dirty="0" err="1">
                <a:solidFill>
                  <a:srgbClr val="000000"/>
                </a:solidFill>
                <a:latin typeface="新宋体" panose="02010609030101010101" pitchFamily="49" charset="-122"/>
                <a:ea typeface="新宋体" panose="02010609030101010101" pitchFamily="49" charset="-122"/>
              </a:rPr>
              <a:t>cformat</a:t>
            </a:r>
            <a:r>
              <a:rPr lang="en-US" altLang="zh-CN" sz="1800" i="0" dirty="0">
                <a:solidFill>
                  <a:srgbClr val="000000"/>
                </a:solidFill>
                <a:latin typeface="新宋体" panose="02010609030101010101" pitchFamily="49" charset="-122"/>
                <a:ea typeface="新宋体" panose="02010609030101010101" pitchFamily="49" charset="-122"/>
              </a:rPr>
              <a:t>, msg[</a:t>
            </a:r>
            <a:r>
              <a:rPr lang="en-US" altLang="zh-CN" sz="1800" i="0" dirty="0" err="1">
                <a:solidFill>
                  <a:srgbClr val="000000"/>
                </a:solidFill>
                <a:latin typeface="新宋体" panose="02010609030101010101" pitchFamily="49" charset="-122"/>
                <a:ea typeface="新宋体" panose="02010609030101010101" pitchFamily="49" charset="-122"/>
              </a:rPr>
              <a:t>ebx</a:t>
            </a:r>
            <a:r>
              <a:rPr lang="en-US" altLang="zh-CN" sz="1800" i="0" dirty="0">
                <a:solidFill>
                  <a:srgbClr val="000000"/>
                </a:solidFill>
                <a:latin typeface="新宋体" panose="02010609030101010101" pitchFamily="49" charset="-122"/>
                <a:ea typeface="新宋体" panose="02010609030101010101" pitchFamily="49" charset="-122"/>
              </a:rPr>
              <a:t>]</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popad</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inc</a:t>
            </a:r>
            <a:r>
              <a:rPr lang="en-US" altLang="zh-CN" sz="1800" i="0" dirty="0">
                <a:solidFill>
                  <a:srgbClr val="000000"/>
                </a:solidFill>
                <a:latin typeface="新宋体" panose="02010609030101010101" pitchFamily="49" charset="-122"/>
                <a:ea typeface="新宋体" panose="02010609030101010101" pitchFamily="49" charset="-122"/>
              </a:rPr>
              <a:t> </a:t>
            </a:r>
            <a:r>
              <a:rPr lang="en-US" altLang="zh-CN" sz="1800" i="0" dirty="0" err="1">
                <a:solidFill>
                  <a:srgbClr val="000000"/>
                </a:solidFill>
                <a:latin typeface="新宋体" panose="02010609030101010101" pitchFamily="49" charset="-122"/>
                <a:ea typeface="新宋体" panose="02010609030101010101" pitchFamily="49" charset="-122"/>
              </a:rPr>
              <a:t>ebx</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loop print</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1" dirty="0">
                <a:solidFill>
                  <a:srgbClr val="008000"/>
                </a:solidFill>
                <a:latin typeface="新宋体" panose="02010609030101010101" pitchFamily="49" charset="-122"/>
                <a:ea typeface="新宋体" panose="02010609030101010101" pitchFamily="49" charset="-122"/>
              </a:rPr>
              <a:t>;</a:t>
            </a:r>
            <a:r>
              <a:rPr lang="zh-CN" altLang="en-US" sz="1800" i="1" dirty="0">
                <a:solidFill>
                  <a:srgbClr val="008000"/>
                </a:solidFill>
                <a:latin typeface="新宋体" panose="02010609030101010101" pitchFamily="49" charset="-122"/>
                <a:ea typeface="新宋体" panose="02010609030101010101" pitchFamily="49" charset="-122"/>
              </a:rPr>
              <a:t>逐个字符打印的方式</a:t>
            </a:r>
            <a:endParaRPr lang="zh-CN" altLang="en-US"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mov </a:t>
            </a:r>
            <a:r>
              <a:rPr lang="en-US" altLang="zh-CN" sz="1800" i="0" dirty="0" err="1">
                <a:solidFill>
                  <a:srgbClr val="000000"/>
                </a:solidFill>
                <a:latin typeface="新宋体" panose="02010609030101010101" pitchFamily="49" charset="-122"/>
                <a:ea typeface="新宋体" panose="02010609030101010101" pitchFamily="49" charset="-122"/>
              </a:rPr>
              <a:t>ecx</a:t>
            </a:r>
            <a:r>
              <a:rPr lang="en-US" altLang="zh-CN" sz="1800" i="0" dirty="0">
                <a:solidFill>
                  <a:srgbClr val="000000"/>
                </a:solidFill>
                <a:latin typeface="新宋体" panose="02010609030101010101" pitchFamily="49" charset="-122"/>
                <a:ea typeface="新宋体" panose="02010609030101010101" pitchFamily="49" charset="-122"/>
              </a:rPr>
              <a:t>,(</a:t>
            </a:r>
            <a:r>
              <a:rPr lang="en-US" altLang="zh-CN" sz="1800" i="0" dirty="0" err="1">
                <a:solidFill>
                  <a:srgbClr val="000000"/>
                </a:solidFill>
                <a:latin typeface="新宋体" panose="02010609030101010101" pitchFamily="49" charset="-122"/>
                <a:ea typeface="新宋体" panose="02010609030101010101" pitchFamily="49" charset="-122"/>
              </a:rPr>
              <a:t>lengthof</a:t>
            </a:r>
            <a:r>
              <a:rPr lang="en-US" altLang="zh-CN" sz="1800" i="0" dirty="0">
                <a:solidFill>
                  <a:srgbClr val="000000"/>
                </a:solidFill>
                <a:latin typeface="新宋体" panose="02010609030101010101" pitchFamily="49" charset="-122"/>
                <a:ea typeface="新宋体" panose="02010609030101010101" pitchFamily="49" charset="-122"/>
              </a:rPr>
              <a:t> msg)-1 </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mov ebx,0</a:t>
            </a:r>
            <a:endParaRPr lang="en-US" altLang="zh-CN" sz="1800" i="0" dirty="0">
              <a:solidFill>
                <a:srgbClr val="000000"/>
              </a:solidFill>
              <a:latin typeface="新宋体" panose="02010609030101010101" pitchFamily="49" charset="-122"/>
              <a:ea typeface="新宋体" panose="02010609030101010101" pitchFamily="49" charset="-122"/>
            </a:endParaRPr>
          </a:p>
          <a:p>
            <a:r>
              <a:rPr lang="en-US" altLang="zh-CN" sz="1800" i="0" dirty="0">
                <a:solidFill>
                  <a:srgbClr val="000000"/>
                </a:solidFill>
                <a:latin typeface="新宋体" panose="02010609030101010101" pitchFamily="49" charset="-122"/>
                <a:ea typeface="新宋体" panose="02010609030101010101" pitchFamily="49" charset="-122"/>
              </a:rPr>
              <a:t>print:</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pushad</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	invoke </a:t>
            </a:r>
            <a:r>
              <a:rPr lang="en-US" altLang="zh-CN" sz="1800" i="0" dirty="0" err="1">
                <a:solidFill>
                  <a:srgbClr val="000000"/>
                </a:solidFill>
                <a:latin typeface="新宋体" panose="02010609030101010101" pitchFamily="49" charset="-122"/>
                <a:ea typeface="新宋体" panose="02010609030101010101" pitchFamily="49" charset="-122"/>
              </a:rPr>
              <a:t>printf</a:t>
            </a:r>
            <a:r>
              <a:rPr lang="en-US" altLang="zh-CN" sz="1800" i="0" dirty="0">
                <a:solidFill>
                  <a:srgbClr val="000000"/>
                </a:solidFill>
                <a:latin typeface="新宋体" panose="02010609030101010101" pitchFamily="49" charset="-122"/>
                <a:ea typeface="新宋体" panose="02010609030101010101" pitchFamily="49" charset="-122"/>
              </a:rPr>
              <a:t>, offset </a:t>
            </a:r>
            <a:r>
              <a:rPr lang="en-US" altLang="zh-CN" sz="1800" i="0" dirty="0" err="1">
                <a:solidFill>
                  <a:srgbClr val="000000"/>
                </a:solidFill>
                <a:latin typeface="新宋体" panose="02010609030101010101" pitchFamily="49" charset="-122"/>
                <a:ea typeface="新宋体" panose="02010609030101010101" pitchFamily="49" charset="-122"/>
              </a:rPr>
              <a:t>cformat</a:t>
            </a:r>
            <a:r>
              <a:rPr lang="en-US" altLang="zh-CN" sz="1800" i="0" dirty="0">
                <a:solidFill>
                  <a:srgbClr val="000000"/>
                </a:solidFill>
                <a:latin typeface="新宋体" panose="02010609030101010101" pitchFamily="49" charset="-122"/>
                <a:ea typeface="新宋体" panose="02010609030101010101" pitchFamily="49" charset="-122"/>
              </a:rPr>
              <a:t>, msg[</a:t>
            </a:r>
            <a:r>
              <a:rPr lang="en-US" altLang="zh-CN" sz="1800" i="0" dirty="0" err="1">
                <a:solidFill>
                  <a:srgbClr val="000000"/>
                </a:solidFill>
                <a:latin typeface="新宋体" panose="02010609030101010101" pitchFamily="49" charset="-122"/>
                <a:ea typeface="新宋体" panose="02010609030101010101" pitchFamily="49" charset="-122"/>
              </a:rPr>
              <a:t>ebx</a:t>
            </a:r>
            <a:r>
              <a:rPr lang="en-US" altLang="zh-CN" sz="1800" i="0" dirty="0">
                <a:solidFill>
                  <a:srgbClr val="000000"/>
                </a:solidFill>
                <a:latin typeface="新宋体" panose="02010609030101010101" pitchFamily="49" charset="-122"/>
                <a:ea typeface="新宋体" panose="02010609030101010101" pitchFamily="49" charset="-122"/>
              </a:rPr>
              <a:t>]</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popad</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inc</a:t>
            </a:r>
            <a:r>
              <a:rPr lang="en-US" altLang="zh-CN" sz="1800" i="0" dirty="0">
                <a:solidFill>
                  <a:srgbClr val="000000"/>
                </a:solidFill>
                <a:latin typeface="新宋体" panose="02010609030101010101" pitchFamily="49" charset="-122"/>
                <a:ea typeface="新宋体" panose="02010609030101010101" pitchFamily="49" charset="-122"/>
              </a:rPr>
              <a:t> </a:t>
            </a:r>
            <a:r>
              <a:rPr lang="en-US" altLang="zh-CN" sz="1800" i="0" dirty="0" err="1">
                <a:solidFill>
                  <a:srgbClr val="000000"/>
                </a:solidFill>
                <a:latin typeface="新宋体" panose="02010609030101010101" pitchFamily="49" charset="-122"/>
                <a:ea typeface="新宋体" panose="02010609030101010101" pitchFamily="49" charset="-122"/>
              </a:rPr>
              <a:t>ebx</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loop print</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DX.AX</a:t>
            </a:r>
            <a:r>
              <a:rPr lang="zh-CN" altLang="en-US" dirty="0"/>
              <a:t>是指高位放</a:t>
            </a:r>
            <a:r>
              <a:rPr lang="en-US" altLang="zh-CN" dirty="0"/>
              <a:t>DX</a:t>
            </a:r>
            <a:r>
              <a:rPr lang="zh-CN" altLang="en-US" dirty="0"/>
              <a:t>，低位放</a:t>
            </a:r>
            <a:r>
              <a:rPr lang="en-US" altLang="zh-CN" dirty="0"/>
              <a:t>AX</a:t>
            </a: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1" dirty="0">
                <a:solidFill>
                  <a:srgbClr val="008000"/>
                </a:solidFill>
                <a:latin typeface="新宋体" panose="02010609030101010101" pitchFamily="49" charset="-122"/>
                <a:ea typeface="新宋体" panose="02010609030101010101" pitchFamily="49" charset="-122"/>
              </a:rPr>
              <a:t>;</a:t>
            </a:r>
            <a:r>
              <a:rPr lang="zh-CN" altLang="en-US" sz="1800" i="1" dirty="0">
                <a:solidFill>
                  <a:srgbClr val="008000"/>
                </a:solidFill>
                <a:latin typeface="新宋体" panose="02010609030101010101" pitchFamily="49" charset="-122"/>
                <a:ea typeface="新宋体" panose="02010609030101010101" pitchFamily="49" charset="-122"/>
              </a:rPr>
              <a:t>逐个字符打印的方式</a:t>
            </a:r>
            <a:endParaRPr lang="zh-CN" altLang="en-US"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mov </a:t>
            </a:r>
            <a:r>
              <a:rPr lang="en-US" altLang="zh-CN" sz="1800" i="0" dirty="0" err="1">
                <a:solidFill>
                  <a:srgbClr val="000000"/>
                </a:solidFill>
                <a:latin typeface="新宋体" panose="02010609030101010101" pitchFamily="49" charset="-122"/>
                <a:ea typeface="新宋体" panose="02010609030101010101" pitchFamily="49" charset="-122"/>
              </a:rPr>
              <a:t>ecx</a:t>
            </a:r>
            <a:r>
              <a:rPr lang="en-US" altLang="zh-CN" sz="1800" i="0" dirty="0">
                <a:solidFill>
                  <a:srgbClr val="000000"/>
                </a:solidFill>
                <a:latin typeface="新宋体" panose="02010609030101010101" pitchFamily="49" charset="-122"/>
                <a:ea typeface="新宋体" panose="02010609030101010101" pitchFamily="49" charset="-122"/>
              </a:rPr>
              <a:t>,(</a:t>
            </a:r>
            <a:r>
              <a:rPr lang="en-US" altLang="zh-CN" sz="1800" i="0" dirty="0" err="1">
                <a:solidFill>
                  <a:srgbClr val="000000"/>
                </a:solidFill>
                <a:latin typeface="新宋体" panose="02010609030101010101" pitchFamily="49" charset="-122"/>
                <a:ea typeface="新宋体" panose="02010609030101010101" pitchFamily="49" charset="-122"/>
              </a:rPr>
              <a:t>lengthof</a:t>
            </a:r>
            <a:r>
              <a:rPr lang="en-US" altLang="zh-CN" sz="1800" i="0" dirty="0">
                <a:solidFill>
                  <a:srgbClr val="000000"/>
                </a:solidFill>
                <a:latin typeface="新宋体" panose="02010609030101010101" pitchFamily="49" charset="-122"/>
                <a:ea typeface="新宋体" panose="02010609030101010101" pitchFamily="49" charset="-122"/>
              </a:rPr>
              <a:t> msg)-1 </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mov ebx,0</a:t>
            </a:r>
            <a:endParaRPr lang="en-US" altLang="zh-CN" sz="1800" i="0" dirty="0">
              <a:solidFill>
                <a:srgbClr val="000000"/>
              </a:solidFill>
              <a:latin typeface="新宋体" panose="02010609030101010101" pitchFamily="49" charset="-122"/>
              <a:ea typeface="新宋体" panose="02010609030101010101" pitchFamily="49" charset="-122"/>
            </a:endParaRPr>
          </a:p>
          <a:p>
            <a:r>
              <a:rPr lang="en-US" altLang="zh-CN" sz="1800" i="0" dirty="0">
                <a:solidFill>
                  <a:srgbClr val="000000"/>
                </a:solidFill>
                <a:latin typeface="新宋体" panose="02010609030101010101" pitchFamily="49" charset="-122"/>
                <a:ea typeface="新宋体" panose="02010609030101010101" pitchFamily="49" charset="-122"/>
              </a:rPr>
              <a:t>print:</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pushad</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	invoke </a:t>
            </a:r>
            <a:r>
              <a:rPr lang="en-US" altLang="zh-CN" sz="1800" i="0" dirty="0" err="1">
                <a:solidFill>
                  <a:srgbClr val="000000"/>
                </a:solidFill>
                <a:latin typeface="新宋体" panose="02010609030101010101" pitchFamily="49" charset="-122"/>
                <a:ea typeface="新宋体" panose="02010609030101010101" pitchFamily="49" charset="-122"/>
              </a:rPr>
              <a:t>printf</a:t>
            </a:r>
            <a:r>
              <a:rPr lang="en-US" altLang="zh-CN" sz="1800" i="0" dirty="0">
                <a:solidFill>
                  <a:srgbClr val="000000"/>
                </a:solidFill>
                <a:latin typeface="新宋体" panose="02010609030101010101" pitchFamily="49" charset="-122"/>
                <a:ea typeface="新宋体" panose="02010609030101010101" pitchFamily="49" charset="-122"/>
              </a:rPr>
              <a:t>, offset </a:t>
            </a:r>
            <a:r>
              <a:rPr lang="en-US" altLang="zh-CN" sz="1800" i="0" dirty="0" err="1">
                <a:solidFill>
                  <a:srgbClr val="000000"/>
                </a:solidFill>
                <a:latin typeface="新宋体" panose="02010609030101010101" pitchFamily="49" charset="-122"/>
                <a:ea typeface="新宋体" panose="02010609030101010101" pitchFamily="49" charset="-122"/>
              </a:rPr>
              <a:t>cformat</a:t>
            </a:r>
            <a:r>
              <a:rPr lang="en-US" altLang="zh-CN" sz="1800" i="0" dirty="0">
                <a:solidFill>
                  <a:srgbClr val="000000"/>
                </a:solidFill>
                <a:latin typeface="新宋体" panose="02010609030101010101" pitchFamily="49" charset="-122"/>
                <a:ea typeface="新宋体" panose="02010609030101010101" pitchFamily="49" charset="-122"/>
              </a:rPr>
              <a:t>, msg[</a:t>
            </a:r>
            <a:r>
              <a:rPr lang="en-US" altLang="zh-CN" sz="1800" i="0" dirty="0" err="1">
                <a:solidFill>
                  <a:srgbClr val="000000"/>
                </a:solidFill>
                <a:latin typeface="新宋体" panose="02010609030101010101" pitchFamily="49" charset="-122"/>
                <a:ea typeface="新宋体" panose="02010609030101010101" pitchFamily="49" charset="-122"/>
              </a:rPr>
              <a:t>ebx</a:t>
            </a:r>
            <a:r>
              <a:rPr lang="en-US" altLang="zh-CN" sz="1800" i="0" dirty="0">
                <a:solidFill>
                  <a:srgbClr val="000000"/>
                </a:solidFill>
                <a:latin typeface="新宋体" panose="02010609030101010101" pitchFamily="49" charset="-122"/>
                <a:ea typeface="新宋体" panose="02010609030101010101" pitchFamily="49" charset="-122"/>
              </a:rPr>
              <a:t>]</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popad</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err="1">
                <a:solidFill>
                  <a:srgbClr val="000000"/>
                </a:solidFill>
                <a:latin typeface="新宋体" panose="02010609030101010101" pitchFamily="49" charset="-122"/>
                <a:ea typeface="新宋体" panose="02010609030101010101" pitchFamily="49" charset="-122"/>
              </a:rPr>
              <a:t>inc</a:t>
            </a:r>
            <a:r>
              <a:rPr lang="en-US" altLang="zh-CN" sz="1800" i="0" dirty="0">
                <a:solidFill>
                  <a:srgbClr val="000000"/>
                </a:solidFill>
                <a:latin typeface="新宋体" panose="02010609030101010101" pitchFamily="49" charset="-122"/>
                <a:ea typeface="新宋体" panose="02010609030101010101" pitchFamily="49" charset="-122"/>
              </a:rPr>
              <a:t> </a:t>
            </a:r>
            <a:r>
              <a:rPr lang="en-US" altLang="zh-CN" sz="1800" i="0" dirty="0" err="1">
                <a:solidFill>
                  <a:srgbClr val="000000"/>
                </a:solidFill>
                <a:latin typeface="新宋体" panose="02010609030101010101" pitchFamily="49" charset="-122"/>
                <a:ea typeface="新宋体" panose="02010609030101010101" pitchFamily="49" charset="-122"/>
              </a:rPr>
              <a:t>ebx</a:t>
            </a:r>
            <a:endParaRPr lang="en-US" altLang="zh-CN" sz="1800" i="0" dirty="0">
              <a:solidFill>
                <a:srgbClr val="000000"/>
              </a:solidFill>
              <a:latin typeface="新宋体" panose="02010609030101010101" pitchFamily="49" charset="-122"/>
              <a:ea typeface="新宋体" panose="02010609030101010101" pitchFamily="49" charset="-122"/>
            </a:endParaRPr>
          </a:p>
          <a:p>
            <a:pPr lvl="1"/>
            <a:r>
              <a:rPr lang="en-US" altLang="zh-CN" sz="1800" i="0" dirty="0">
                <a:solidFill>
                  <a:srgbClr val="000000"/>
                </a:solidFill>
                <a:latin typeface="新宋体" panose="02010609030101010101" pitchFamily="49" charset="-122"/>
                <a:ea typeface="新宋体" panose="02010609030101010101" pitchFamily="49" charset="-122"/>
              </a:rPr>
              <a:t>loop print</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AND</a:t>
            </a:r>
            <a:r>
              <a:rPr lang="zh-CN" altLang="en-US" dirty="0"/>
              <a:t>、</a:t>
            </a:r>
            <a:r>
              <a:rPr lang="en-US" altLang="zh-CN" dirty="0"/>
              <a:t>OR</a:t>
            </a:r>
            <a:r>
              <a:rPr lang="zh-CN" altLang="en-US" dirty="0"/>
              <a:t>和</a:t>
            </a:r>
            <a:r>
              <a:rPr lang="en-US" altLang="zh-CN" dirty="0"/>
              <a:t>XOR</a:t>
            </a:r>
            <a:r>
              <a:rPr lang="zh-CN" altLang="en-US" dirty="0"/>
              <a:t>指令</a:t>
            </a:r>
            <a:r>
              <a:rPr lang="zh-CN" altLang="en-US" sz="1200" dirty="0">
                <a:solidFill>
                  <a:schemeClr val="tx1"/>
                </a:solidFill>
                <a:latin typeface="+mn-lt"/>
              </a:rPr>
              <a:t>设置</a:t>
            </a:r>
            <a:r>
              <a:rPr lang="en-US" altLang="zh-CN" sz="1200" dirty="0">
                <a:solidFill>
                  <a:schemeClr val="tx1"/>
                </a:solidFill>
                <a:latin typeface="+mn-lt"/>
              </a:rPr>
              <a:t>CF</a:t>
            </a:r>
            <a:r>
              <a:rPr lang="zh-CN" altLang="en-US" sz="1200" dirty="0">
                <a:solidFill>
                  <a:schemeClr val="tx1"/>
                </a:solidFill>
                <a:latin typeface="+mn-lt"/>
              </a:rPr>
              <a:t>＝</a:t>
            </a:r>
            <a:r>
              <a:rPr lang="en-US" altLang="zh-CN" sz="1200" dirty="0">
                <a:solidFill>
                  <a:schemeClr val="tx1"/>
                </a:solidFill>
                <a:latin typeface="+mn-lt"/>
              </a:rPr>
              <a:t>OF</a:t>
            </a:r>
            <a:r>
              <a:rPr lang="zh-CN" altLang="en-US" sz="1200" dirty="0">
                <a:solidFill>
                  <a:schemeClr val="tx1"/>
                </a:solidFill>
                <a:latin typeface="+mn-lt"/>
              </a:rPr>
              <a:t>＝</a:t>
            </a:r>
            <a:r>
              <a:rPr lang="en-US" altLang="zh-CN" sz="1200" dirty="0">
                <a:solidFill>
                  <a:schemeClr val="tx1"/>
                </a:solidFill>
                <a:latin typeface="+mn-lt"/>
              </a:rPr>
              <a:t>0</a:t>
            </a:r>
            <a:r>
              <a:rPr lang="zh-CN" altLang="en-US" sz="1200" dirty="0">
                <a:solidFill>
                  <a:schemeClr val="tx1"/>
                </a:solidFill>
                <a:latin typeface="+mn-lt"/>
              </a:rPr>
              <a:t>，根据结果影响</a:t>
            </a:r>
            <a:r>
              <a:rPr lang="en-US" altLang="zh-CN" sz="1200" dirty="0">
                <a:solidFill>
                  <a:schemeClr val="tx1"/>
                </a:solidFill>
                <a:latin typeface="+mn-lt"/>
              </a:rPr>
              <a:t>SF</a:t>
            </a:r>
            <a:r>
              <a:rPr lang="zh-CN" altLang="en-US" sz="1200" dirty="0">
                <a:solidFill>
                  <a:schemeClr val="tx1"/>
                </a:solidFill>
                <a:latin typeface="+mn-lt"/>
              </a:rPr>
              <a:t>，</a:t>
            </a:r>
            <a:r>
              <a:rPr lang="en-US" altLang="zh-CN" sz="1200" dirty="0">
                <a:solidFill>
                  <a:schemeClr val="tx1"/>
                </a:solidFill>
                <a:latin typeface="+mn-lt"/>
              </a:rPr>
              <a:t>ZF</a:t>
            </a:r>
            <a:r>
              <a:rPr lang="zh-CN" altLang="en-US" sz="1200" dirty="0">
                <a:solidFill>
                  <a:schemeClr val="tx1"/>
                </a:solidFill>
                <a:latin typeface="+mn-lt"/>
              </a:rPr>
              <a:t>和</a:t>
            </a:r>
            <a:r>
              <a:rPr lang="en-US" altLang="zh-CN" sz="1200" dirty="0">
                <a:solidFill>
                  <a:schemeClr val="tx1"/>
                </a:solidFill>
                <a:latin typeface="+mn-lt"/>
              </a:rPr>
              <a:t>PF</a:t>
            </a:r>
            <a:endParaRPr lang="en-US" altLang="zh-CN" sz="1200" dirty="0">
              <a:solidFill>
                <a:schemeClr val="tx1"/>
              </a:solidFill>
              <a:latin typeface="+mn-lt"/>
            </a:endParaRPr>
          </a:p>
          <a:p>
            <a:r>
              <a:rPr lang="en-US" altLang="zh-CN" dirty="0"/>
              <a:t>NOT</a:t>
            </a:r>
            <a:r>
              <a:rPr lang="zh-CN" altLang="en-US" dirty="0"/>
              <a:t>指令不影响标志位</a:t>
            </a:r>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000000"/>
                </a:solidFill>
                <a:effectLst/>
                <a:latin typeface="Verdana" panose="020B0604030504040204" pitchFamily="34" charset="0"/>
              </a:rPr>
              <a:t>itoa</a:t>
            </a:r>
            <a:r>
              <a:rPr lang="en-US" altLang="zh-CN" b="0" i="0" dirty="0">
                <a:solidFill>
                  <a:srgbClr val="000000"/>
                </a:solidFill>
                <a:effectLst/>
                <a:latin typeface="Verdana" panose="020B0604030504040204" pitchFamily="34" charset="0"/>
              </a:rPr>
              <a:t>(num, str, 10);</a:t>
            </a:r>
            <a:endParaRPr lang="en-US" altLang="zh-CN" b="0" i="0" dirty="0">
              <a:solidFill>
                <a:srgbClr val="000000"/>
              </a:solidFill>
              <a:effectLst/>
              <a:latin typeface="Verdana" panose="020B0604030504040204" pitchFamily="34" charset="0"/>
            </a:endParaRPr>
          </a:p>
          <a:p>
            <a:r>
              <a:rPr lang="en-US" altLang="zh-CN" b="0" i="0" dirty="0" err="1">
                <a:solidFill>
                  <a:srgbClr val="000000"/>
                </a:solidFill>
                <a:effectLst/>
                <a:latin typeface="Verdana" panose="020B0604030504040204" pitchFamily="34" charset="0"/>
              </a:rPr>
              <a:t>itoa</a:t>
            </a:r>
            <a:r>
              <a:rPr lang="en-US" altLang="zh-CN" b="0" i="0" dirty="0">
                <a:solidFill>
                  <a:srgbClr val="000000"/>
                </a:solidFill>
                <a:effectLst/>
                <a:latin typeface="Verdana" panose="020B0604030504040204" pitchFamily="34" charset="0"/>
              </a:rPr>
              <a:t>()</a:t>
            </a:r>
            <a:r>
              <a:rPr lang="zh-CN" altLang="en-US" b="0" i="0" dirty="0">
                <a:solidFill>
                  <a:srgbClr val="000000"/>
                </a:solidFill>
                <a:effectLst/>
                <a:latin typeface="Verdana" panose="020B0604030504040204" pitchFamily="34" charset="0"/>
              </a:rPr>
              <a:t>函数有</a:t>
            </a:r>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个参数：第一个参数是要转换的数字，第二个参数是要写入转换结果的目标字符串，第三个参数是转移数字时所用 的基数。在上例中，转换基数为</a:t>
            </a:r>
            <a:r>
              <a:rPr lang="en-US" altLang="zh-CN" b="0" i="0" dirty="0">
                <a:solidFill>
                  <a:srgbClr val="000000"/>
                </a:solidFill>
                <a:effectLst/>
                <a:latin typeface="Verdana" panose="020B0604030504040204" pitchFamily="34" charset="0"/>
              </a:rPr>
              <a:t>10</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10</a:t>
            </a:r>
            <a:r>
              <a:rPr lang="zh-CN" altLang="en-US" b="0" i="0" dirty="0">
                <a:solidFill>
                  <a:srgbClr val="000000"/>
                </a:solidFill>
                <a:effectLst/>
                <a:latin typeface="Verdana" panose="020B0604030504040204" pitchFamily="34" charset="0"/>
              </a:rPr>
              <a:t>：十进制；</a:t>
            </a:r>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：二进制</a:t>
            </a:r>
            <a:r>
              <a:rPr lang="en-US" altLang="zh-CN" b="0" i="0" dirty="0">
                <a:solidFill>
                  <a:srgbClr val="000000"/>
                </a:solidFill>
                <a:effectLst/>
                <a:latin typeface="Verdana" panose="020B0604030504040204" pitchFamily="34" charset="0"/>
              </a:rPr>
              <a:t>...</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1" i="0" dirty="0">
                <a:solidFill>
                  <a:srgbClr val="333333"/>
                </a:solidFill>
                <a:effectLst/>
                <a:latin typeface="PingFang SC"/>
              </a:rPr>
              <a:t>SHL</a:t>
            </a:r>
            <a:r>
              <a:rPr lang="zh-CN" altLang="en-US" b="0" i="0" dirty="0">
                <a:solidFill>
                  <a:srgbClr val="333333"/>
                </a:solidFill>
                <a:effectLst/>
                <a:latin typeface="PingFang SC"/>
              </a:rPr>
              <a:t>（逻辑左移）：</a:t>
            </a:r>
            <a:r>
              <a:rPr lang="en-US" altLang="zh-CN" b="0" i="0" dirty="0">
                <a:solidFill>
                  <a:srgbClr val="333333"/>
                </a:solidFill>
                <a:effectLst/>
                <a:latin typeface="PingFang SC"/>
              </a:rPr>
              <a:t>shift left</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SHR</a:t>
            </a:r>
            <a:r>
              <a:rPr lang="zh-CN" altLang="en-US" b="0" i="0" dirty="0">
                <a:solidFill>
                  <a:srgbClr val="333333"/>
                </a:solidFill>
                <a:effectLst/>
                <a:latin typeface="PingFang SC"/>
              </a:rPr>
              <a:t>（逻辑右移）：</a:t>
            </a:r>
            <a:r>
              <a:rPr lang="en-US" altLang="zh-CN" b="0" i="0" dirty="0">
                <a:solidFill>
                  <a:srgbClr val="333333"/>
                </a:solidFill>
                <a:effectLst/>
                <a:latin typeface="PingFang SC"/>
              </a:rPr>
              <a:t>shift right</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SAL</a:t>
            </a:r>
            <a:r>
              <a:rPr lang="zh-CN" altLang="en-US" b="0" i="0" dirty="0">
                <a:solidFill>
                  <a:srgbClr val="333333"/>
                </a:solidFill>
                <a:effectLst/>
                <a:latin typeface="PingFang SC"/>
              </a:rPr>
              <a:t>（算术左移）：</a:t>
            </a:r>
            <a:r>
              <a:rPr lang="en-US" altLang="zh-CN" b="0" i="0" dirty="0">
                <a:solidFill>
                  <a:srgbClr val="333333"/>
                </a:solidFill>
                <a:effectLst/>
                <a:latin typeface="PingFang SC"/>
              </a:rPr>
              <a:t>shift arithmetic left</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SAR</a:t>
            </a:r>
            <a:r>
              <a:rPr lang="zh-CN" altLang="en-US" b="0" i="0" dirty="0">
                <a:solidFill>
                  <a:srgbClr val="333333"/>
                </a:solidFill>
                <a:effectLst/>
                <a:latin typeface="PingFang SC"/>
              </a:rPr>
              <a:t>（算术右移）：</a:t>
            </a:r>
            <a:r>
              <a:rPr lang="en-US" altLang="zh-CN" b="0" i="0" dirty="0">
                <a:solidFill>
                  <a:srgbClr val="333333"/>
                </a:solidFill>
                <a:effectLst/>
                <a:latin typeface="PingFang SC"/>
              </a:rPr>
              <a:t>shift arithmetic right</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ROL</a:t>
            </a:r>
            <a:r>
              <a:rPr lang="zh-CN" altLang="en-US" b="0" i="0" dirty="0">
                <a:solidFill>
                  <a:srgbClr val="333333"/>
                </a:solidFill>
                <a:effectLst/>
                <a:latin typeface="PingFang SC"/>
              </a:rPr>
              <a:t>（循环左移）：</a:t>
            </a:r>
            <a:r>
              <a:rPr lang="en-US" altLang="zh-CN" b="0" i="0" dirty="0">
                <a:solidFill>
                  <a:srgbClr val="333333"/>
                </a:solidFill>
                <a:effectLst/>
                <a:latin typeface="PingFang SC"/>
              </a:rPr>
              <a:t>rotate left</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ROR</a:t>
            </a:r>
            <a:r>
              <a:rPr lang="zh-CN" altLang="en-US" b="0" i="0" dirty="0">
                <a:solidFill>
                  <a:srgbClr val="333333"/>
                </a:solidFill>
                <a:effectLst/>
                <a:latin typeface="PingFang SC"/>
              </a:rPr>
              <a:t>（循环右移）：</a:t>
            </a:r>
            <a:r>
              <a:rPr lang="en-US" altLang="zh-CN" b="0" i="0" dirty="0">
                <a:solidFill>
                  <a:srgbClr val="333333"/>
                </a:solidFill>
                <a:effectLst/>
                <a:latin typeface="PingFang SC"/>
              </a:rPr>
              <a:t>rotate right</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RCL</a:t>
            </a:r>
            <a:r>
              <a:rPr lang="zh-CN" altLang="en-US" b="0" i="0" dirty="0">
                <a:solidFill>
                  <a:srgbClr val="333333"/>
                </a:solidFill>
                <a:effectLst/>
                <a:latin typeface="PingFang SC"/>
              </a:rPr>
              <a:t>（带进位的循环左移）：</a:t>
            </a:r>
            <a:r>
              <a:rPr lang="en-US" altLang="zh-CN" b="0" i="0" dirty="0">
                <a:solidFill>
                  <a:srgbClr val="333333"/>
                </a:solidFill>
                <a:effectLst/>
                <a:latin typeface="PingFang SC"/>
              </a:rPr>
              <a:t>rotate left through carry</a:t>
            </a:r>
            <a:endParaRPr lang="en-US" altLang="zh-CN" b="0" i="0" dirty="0">
              <a:solidFill>
                <a:srgbClr val="333333"/>
              </a:solidFill>
              <a:effectLst/>
              <a:latin typeface="PingFang SC"/>
            </a:endParaRPr>
          </a:p>
          <a:p>
            <a:pPr algn="l"/>
            <a:r>
              <a:rPr lang="en-US" altLang="zh-CN" b="1" i="0" dirty="0">
                <a:solidFill>
                  <a:srgbClr val="333333"/>
                </a:solidFill>
                <a:effectLst/>
                <a:latin typeface="PingFang SC"/>
              </a:rPr>
              <a:t>RCR</a:t>
            </a:r>
            <a:r>
              <a:rPr lang="zh-CN" altLang="en-US" b="0" i="0" dirty="0">
                <a:solidFill>
                  <a:srgbClr val="333333"/>
                </a:solidFill>
                <a:effectLst/>
                <a:latin typeface="PingFang SC"/>
              </a:rPr>
              <a:t>（带进位的循环右移）：</a:t>
            </a:r>
            <a:r>
              <a:rPr lang="en-US" altLang="zh-CN" b="0" i="0" dirty="0">
                <a:solidFill>
                  <a:srgbClr val="333333"/>
                </a:solidFill>
                <a:effectLst/>
                <a:latin typeface="PingFang SC"/>
              </a:rPr>
              <a:t>rotate right through carry</a:t>
            </a:r>
            <a:endParaRPr lang="en-US" altLang="zh-CN" b="0" i="0" dirty="0">
              <a:solidFill>
                <a:srgbClr val="333333"/>
              </a:solidFill>
              <a:effectLst/>
              <a:latin typeface="PingFang SC"/>
            </a:endParaRPr>
          </a:p>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逻辑移位和算术移位只在右移时有区别，类似于零位扩展和符号扩展的区别</a:t>
            </a:r>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ClrTx/>
              <a:buFontTx/>
              <a:buNone/>
            </a:pP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根据移出的位设置</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CF</a:t>
            </a: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，根据移位后的结果影响</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SF</a:t>
            </a: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ZF</a:t>
            </a: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和</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PF</a:t>
            </a:r>
            <a:endPar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如果只进行一位移动，则根据最高符号位是否改变设置</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OF</a:t>
            </a: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，如果移位次数大于</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1</a:t>
            </a: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，则</a:t>
            </a:r>
            <a:r>
              <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OF</a:t>
            </a:r>
            <a:r>
              <a:rPr lang="zh-CN" altLang="en-US"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不确定</a:t>
            </a:r>
            <a:endParaRPr lang="en-US" altLang="zh-CN" sz="12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endParaRPr lang="en-US" altLang="zh-CN"/>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endParaRPr lang="en-US" altLang="zh-CN"/>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6" Type="http://schemas.openxmlformats.org/officeDocument/2006/relationships/theme" Target="../theme/theme5.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6" Type="http://schemas.openxmlformats.org/officeDocument/2006/relationships/theme" Target="../theme/theme6.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6" Type="http://schemas.openxmlformats.org/officeDocument/2006/relationships/theme" Target="../theme/theme7.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53" r:id="rId1"/>
    <p:sldLayoutId id="2147483654" r:id="rId2"/>
    <p:sldLayoutId id="2147483655"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57" r:id="rId1"/>
    <p:sldLayoutId id="2147483658" r:id="rId2"/>
    <p:sldLayoutId id="2147483659"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65" r:id="rId1"/>
    <p:sldLayoutId id="2147483666" r:id="rId2"/>
    <p:sldLayoutId id="2147483667"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69" r:id="rId1"/>
    <p:sldLayoutId id="2147483670" r:id="rId2"/>
    <p:sldLayoutId id="2147483671"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fld>
            <a:r>
              <a:rPr lang="en-US" altLang="zh-CN"/>
              <a:t> </a:t>
            </a:r>
            <a:r>
              <a:rPr lang="en-US" altLang="zh-CN" dirty="0"/>
              <a:t>Technology</a:t>
            </a:r>
            <a:endParaRPr lang="en-US" altLang="zh-CN" dirty="0"/>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endParaRPr lang="en-US" altLang="zh-CN"/>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3.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GI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1.xml"/><Relationship Id="rId10" Type="http://schemas.openxmlformats.org/officeDocument/2006/relationships/tags" Target="../tags/tag9.xml"/><Relationship Id="rId1" Type="http://schemas.openxmlformats.org/officeDocument/2006/relationships/tags" Target="../tags/tag1.xml"/></Relationships>
</file>

<file path=ppt/slides/_rels/slide48.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9" Type="http://schemas.openxmlformats.org/officeDocument/2006/relationships/slideLayout" Target="../slideLayouts/slideLayout1.xml"/><Relationship Id="rId18" Type="http://schemas.openxmlformats.org/officeDocument/2006/relationships/tags" Target="../tags/tag26.xml"/><Relationship Id="rId17" Type="http://schemas.openxmlformats.org/officeDocument/2006/relationships/image" Target="../media/image13.png"/><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1" Type="http://schemas.openxmlformats.org/officeDocument/2006/relationships/slideLayout" Target="../slideLayouts/slideLayout1.xml"/><Relationship Id="rId10" Type="http://schemas.openxmlformats.org/officeDocument/2006/relationships/tags" Target="../tags/tag35.xml"/><Relationship Id="rId1" Type="http://schemas.openxmlformats.org/officeDocument/2006/relationships/tags" Target="../tags/tag27.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6.xml"/><Relationship Id="rId2" Type="http://schemas.openxmlformats.org/officeDocument/2006/relationships/image" Target="../media/image7.png"/><Relationship Id="rId1" Type="http://schemas.openxmlformats.org/officeDocument/2006/relationships/image" Target="../media/image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1" Type="http://schemas.openxmlformats.org/officeDocument/2006/relationships/slideLayout" Target="../slideLayouts/slideLayout1.xml"/><Relationship Id="rId10" Type="http://schemas.openxmlformats.org/officeDocument/2006/relationships/tags" Target="../tags/tag44.xml"/><Relationship Id="rId1" Type="http://schemas.openxmlformats.org/officeDocument/2006/relationships/tags" Target="../tags/tag36.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7.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8.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8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1" Type="http://schemas.openxmlformats.org/officeDocument/2006/relationships/slideLayout" Target="../slideLayouts/slideLayout1.xml"/><Relationship Id="rId10" Type="http://schemas.openxmlformats.org/officeDocument/2006/relationships/tags" Target="../tags/tag53.xml"/><Relationship Id="rId1" Type="http://schemas.openxmlformats.org/officeDocument/2006/relationships/tags" Target="../tags/tag4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1357290" y="4500563"/>
            <a:ext cx="6858024" cy="1928812"/>
          </a:xfrm>
          <a:prstGeom prst="rect">
            <a:avLst/>
          </a:prstGeom>
          <a:noFill/>
          <a:ln w="9525">
            <a:noFill/>
            <a:miter lim="800000"/>
          </a:ln>
        </p:spPr>
        <p:txBody>
          <a:bodyPr/>
          <a:lstStyle/>
          <a:p>
            <a:pPr algn="ctr"/>
            <a:r>
              <a:rPr lang="zh-CN" altLang="en-US" sz="3200" dirty="0">
                <a:solidFill>
                  <a:srgbClr val="000000"/>
                </a:solidFill>
                <a:latin typeface="黑体" panose="02010609060101010101" pitchFamily="49" charset="-122"/>
              </a:rPr>
              <a:t>刘兆丽</a:t>
            </a:r>
            <a:endParaRPr lang="en-US" altLang="zh-CN" sz="3200" dirty="0">
              <a:solidFill>
                <a:srgbClr val="000000"/>
              </a:solidFill>
              <a:latin typeface="黑体" panose="02010609060101010101" pitchFamily="49" charset="-122"/>
            </a:endParaRPr>
          </a:p>
          <a:p>
            <a:pPr algn="ctr"/>
            <a:r>
              <a:rPr lang="zh-CN" altLang="en-US" sz="3200" dirty="0">
                <a:solidFill>
                  <a:srgbClr val="000000"/>
                </a:solidFill>
                <a:latin typeface="黑体" panose="02010609060101010101" pitchFamily="49" charset="-122"/>
              </a:rPr>
              <a:t>计算机科学与工程学院</a:t>
            </a:r>
            <a:endParaRPr lang="en-US" altLang="zh-CN" dirty="0">
              <a:solidFill>
                <a:srgbClr val="000000"/>
              </a:solidFill>
              <a:latin typeface="黑体" panose="02010609060101010101" pitchFamily="49" charset="-122"/>
            </a:endParaRPr>
          </a:p>
        </p:txBody>
      </p:sp>
      <p:sp>
        <p:nvSpPr>
          <p:cNvPr id="4" name="Rectangle 2" descr="Large confetti"/>
          <p:cNvSpPr txBox="1">
            <a:spLocks noChangeArrowheads="1"/>
          </p:cNvSpPr>
          <p:nvPr/>
        </p:nvSpPr>
        <p:spPr bwMode="auto">
          <a:xfrm>
            <a:off x="251267" y="1700023"/>
            <a:ext cx="8993698" cy="1584176"/>
          </a:xfrm>
          <a:prstGeom prst="rect">
            <a:avLst/>
          </a:prstGeom>
          <a:noFill/>
          <a:ln w="9525">
            <a:noFill/>
            <a:miter lim="800000"/>
          </a:ln>
          <a:effectLst>
            <a:outerShdw dist="12700" dir="5400000" algn="ctr" rotWithShape="0">
              <a:schemeClr val="bg2"/>
            </a:outerShdw>
          </a:effectLst>
        </p:spPr>
        <p:txBody>
          <a:bodyPr anchor="b"/>
          <a:lstStyle/>
          <a:p>
            <a:pPr lvl="0" algn="ctr">
              <a:lnSpc>
                <a:spcPct val="130000"/>
              </a:lnSpc>
              <a:defRPr/>
            </a:pPr>
            <a:endParaRPr lang="en-US" altLang="zh-CN" sz="7200" b="1" kern="0" dirty="0">
              <a:solidFill>
                <a:srgbClr val="FF3300"/>
              </a:solidFill>
              <a:latin typeface="+mn-ea"/>
              <a:ea typeface="+mn-ea"/>
              <a:cs typeface="+mj-cs"/>
            </a:endParaRPr>
          </a:p>
          <a:p>
            <a:pPr lvl="0" algn="ctr">
              <a:lnSpc>
                <a:spcPct val="110000"/>
              </a:lnSpc>
              <a:defRPr/>
            </a:pPr>
            <a:r>
              <a:rPr lang="zh-CN" altLang="en-US" sz="7200" b="1" kern="0" dirty="0">
                <a:solidFill>
                  <a:srgbClr val="FF3300"/>
                </a:solidFill>
                <a:latin typeface="+mn-ea"/>
                <a:ea typeface="+mn-ea"/>
                <a:cs typeface="+mj-cs"/>
              </a:rPr>
              <a:t>第</a:t>
            </a:r>
            <a:r>
              <a:rPr lang="en-US" altLang="zh-CN" sz="7200" b="1" kern="0" dirty="0">
                <a:solidFill>
                  <a:srgbClr val="FF3300"/>
                </a:solidFill>
                <a:latin typeface="+mn-ea"/>
                <a:ea typeface="+mn-ea"/>
                <a:cs typeface="+mj-cs"/>
              </a:rPr>
              <a:t>3</a:t>
            </a:r>
            <a:r>
              <a:rPr lang="zh-CN" altLang="en-US" sz="7200" b="1" kern="0" dirty="0">
                <a:solidFill>
                  <a:srgbClr val="FF3300"/>
                </a:solidFill>
                <a:latin typeface="+mn-ea"/>
                <a:ea typeface="+mn-ea"/>
                <a:cs typeface="+mj-cs"/>
              </a:rPr>
              <a:t>章 </a:t>
            </a:r>
            <a:r>
              <a:rPr lang="zh-CN" sz="7200" b="1" kern="0" dirty="0">
                <a:solidFill>
                  <a:srgbClr val="FF3300"/>
                </a:solidFill>
                <a:latin typeface="+mn-ea"/>
                <a:ea typeface="+mn-ea"/>
                <a:cs typeface="+mj-cs"/>
              </a:rPr>
              <a:t>通用数据</a:t>
            </a:r>
            <a:endParaRPr lang="zh-CN" sz="7200" b="1" kern="0" dirty="0">
              <a:solidFill>
                <a:srgbClr val="FF3300"/>
              </a:solidFill>
              <a:latin typeface="+mn-ea"/>
              <a:ea typeface="+mn-ea"/>
              <a:cs typeface="+mj-cs"/>
            </a:endParaRPr>
          </a:p>
          <a:p>
            <a:pPr lvl="0" algn="ctr">
              <a:lnSpc>
                <a:spcPct val="110000"/>
              </a:lnSpc>
              <a:defRPr/>
            </a:pPr>
            <a:r>
              <a:rPr lang="zh-CN" sz="7200" b="1" kern="0" dirty="0">
                <a:solidFill>
                  <a:srgbClr val="FF3300"/>
                </a:solidFill>
                <a:latin typeface="+mn-ea"/>
                <a:ea typeface="+mn-ea"/>
                <a:cs typeface="+mj-cs"/>
              </a:rPr>
              <a:t>处理指令</a:t>
            </a:r>
            <a:endParaRPr lang="zh-CN" sz="7200" b="1" kern="0" dirty="0">
              <a:solidFill>
                <a:srgbClr val="FF3300"/>
              </a:solidFill>
              <a:latin typeface="+mn-ea"/>
              <a:ea typeface="+mn-ea"/>
              <a:cs typeface="+mj-cs"/>
            </a:endParaRPr>
          </a:p>
        </p:txBody>
      </p:sp>
      <p:pic>
        <p:nvPicPr>
          <p:cNvPr id="6" name="图片 5" descr="logo.png"/>
          <p:cNvPicPr>
            <a:picLocks noChangeAspect="1"/>
          </p:cNvPicPr>
          <p:nvPr/>
        </p:nvPicPr>
        <p:blipFill>
          <a:blip r:embed="rId1" cstate="print"/>
          <a:stretch>
            <a:fillRect/>
          </a:stretch>
        </p:blipFill>
        <p:spPr>
          <a:xfrm>
            <a:off x="80949" y="71414"/>
            <a:ext cx="3419481" cy="968050"/>
          </a:xfrm>
          <a:prstGeom prst="rect">
            <a:avLst/>
          </a:prstGeom>
        </p:spPr>
      </p:pic>
      <p:sp>
        <p:nvSpPr>
          <p:cNvPr id="2" name="灯片编号占位符 1"/>
          <p:cNvSpPr>
            <a:spLocks noGrp="1"/>
          </p:cNvSpPr>
          <p:nvPr>
            <p:ph type="sldNum" sz="quarter" idx="12"/>
          </p:nvPr>
        </p:nvSpPr>
        <p:spPr/>
        <p:txBody>
          <a:bodyPr/>
          <a:lstStyle/>
          <a:p>
            <a:pPr>
              <a:defRPr/>
            </a:pPr>
            <a:fld id="{EAC332C5-313C-42E8-A3F7-890A1E7064BF}" type="slidenum">
              <a:rPr lang="en-US" altLang="zh-CN" smtClean="0"/>
            </a:fld>
            <a:endParaRPr lang="en-US" altLang="zh-CN"/>
          </a:p>
        </p:txBody>
      </p:sp>
    </p:spTree>
  </p:cSld>
  <p:clrMapOvr>
    <a:masterClrMapping/>
  </p:clrMapOvr>
  <p:transition advTm="1349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p:cNvSpPr txBox="1"/>
          <p:nvPr/>
        </p:nvSpPr>
        <p:spPr>
          <a:xfrm>
            <a:off x="875030" y="593725"/>
            <a:ext cx="8161655" cy="6219825"/>
          </a:xfrm>
          <a:prstGeom prst="rect">
            <a:avLst/>
          </a:prstGeom>
        </p:spPr>
        <p:txBody>
          <a:bodyPr/>
          <a:lstStyle/>
          <a:p>
            <a:pPr algn="just" eaLnBrk="1" latinLnBrk="0" hangingPunct="1">
              <a:lnSpc>
                <a:spcPct val="200000"/>
              </a:lnSpc>
              <a:spcBef>
                <a:spcPts val="0"/>
              </a:spcBef>
              <a:buSzPct val="100000"/>
            </a:pPr>
            <a:r>
              <a:rPr lang="en-US" altLang="zh-CN" sz="3200" dirty="0">
                <a:latin typeface="黑体" panose="02010609060101010101" pitchFamily="49" charset="-122"/>
              </a:rPr>
              <a:t>3.1 </a:t>
            </a:r>
            <a:r>
              <a:rPr lang="zh-CN" altLang="en-US" sz="3200" dirty="0">
                <a:latin typeface="黑体" panose="02010609060101010101" pitchFamily="49" charset="-122"/>
              </a:rPr>
              <a:t>数据传送类指令</a:t>
            </a:r>
            <a:endParaRPr lang="en-US" altLang="zh-CN" sz="3200" dirty="0">
              <a:latin typeface="黑体" panose="02010609060101010101" pitchFamily="49" charset="-122"/>
            </a:endParaRPr>
          </a:p>
          <a:p>
            <a:pPr marL="720090" lvl="1" indent="-457200" algn="just" latinLnBrk="0">
              <a:lnSpc>
                <a:spcPct val="200000"/>
              </a:lnSpc>
              <a:spcBef>
                <a:spcPts val="0"/>
              </a:spcBef>
              <a:buClr>
                <a:srgbClr val="0000FF"/>
              </a:buClr>
              <a:buFont typeface="Wingdings" panose="05000000000000000000" pitchFamily="2" charset="2"/>
              <a:buChar char="ü"/>
            </a:pPr>
            <a:r>
              <a:rPr lang="zh-CN" altLang="en-US" sz="2800" dirty="0">
                <a:solidFill>
                  <a:srgbClr val="00B050"/>
                </a:solidFill>
                <a:latin typeface="+mn-lt"/>
              </a:rPr>
              <a:t>通用</a:t>
            </a:r>
            <a:r>
              <a:rPr lang="en-US" altLang="zh-CN" sz="2800" dirty="0">
                <a:solidFill>
                  <a:srgbClr val="00B050"/>
                </a:solidFill>
                <a:latin typeface="+mn-lt"/>
              </a:rPr>
              <a:t>/</a:t>
            </a:r>
            <a:r>
              <a:rPr lang="zh-CN" altLang="en-US" sz="2800" dirty="0">
                <a:solidFill>
                  <a:srgbClr val="00B050"/>
                </a:solidFill>
                <a:latin typeface="+mn-lt"/>
              </a:rPr>
              <a:t>堆栈</a:t>
            </a:r>
            <a:r>
              <a:rPr lang="en-US" altLang="zh-CN" sz="2800" dirty="0">
                <a:solidFill>
                  <a:schemeClr val="tx1"/>
                </a:solidFill>
                <a:latin typeface="+mn-lt"/>
              </a:rPr>
              <a:t>/</a:t>
            </a:r>
            <a:r>
              <a:rPr lang="zh-CN" altLang="en-US" sz="2800" dirty="0">
                <a:solidFill>
                  <a:schemeClr val="tx1"/>
                </a:solidFill>
                <a:latin typeface="+mn-lt"/>
              </a:rPr>
              <a:t>其他传送指令</a:t>
            </a:r>
            <a:endParaRPr lang="zh-CN" altLang="en-US" sz="3200" dirty="0">
              <a:solidFill>
                <a:srgbClr val="000000"/>
              </a:solidFill>
              <a:latin typeface="黑体" panose="02010609060101010101" pitchFamily="49" charset="-122"/>
            </a:endParaRPr>
          </a:p>
          <a:p>
            <a:pPr algn="just" eaLnBrk="1" latinLnBrk="0" hangingPunct="1">
              <a:lnSpc>
                <a:spcPct val="200000"/>
              </a:lnSpc>
              <a:spcBef>
                <a:spcPts val="0"/>
              </a:spcBef>
              <a:buSzPct val="100000"/>
            </a:pPr>
            <a:r>
              <a:rPr lang="en-US" altLang="zh-CN" sz="3200" dirty="0">
                <a:latin typeface="黑体" panose="02010609060101010101" pitchFamily="49" charset="-122"/>
              </a:rPr>
              <a:t>3.2 </a:t>
            </a:r>
            <a:r>
              <a:rPr lang="zh-CN" altLang="en-US" sz="3200" dirty="0">
                <a:latin typeface="黑体" panose="02010609060101010101" pitchFamily="49" charset="-122"/>
              </a:rPr>
              <a:t>算术运算类指令</a:t>
            </a:r>
            <a:endParaRPr lang="en-US" altLang="zh-CN" sz="3200" dirty="0">
              <a:latin typeface="黑体" panose="02010609060101010101" pitchFamily="49" charset="-122"/>
            </a:endParaRPr>
          </a:p>
          <a:p>
            <a:pPr marL="720090" lvl="1" indent="-457200" algn="just" latinLnBrk="0">
              <a:lnSpc>
                <a:spcPct val="200000"/>
              </a:lnSpc>
              <a:spcBef>
                <a:spcPts val="0"/>
              </a:spcBef>
              <a:buClr>
                <a:srgbClr val="0000FF"/>
              </a:buClr>
              <a:buFont typeface="Wingdings" panose="05000000000000000000" pitchFamily="2" charset="2"/>
              <a:buChar char="ü"/>
            </a:pPr>
            <a:r>
              <a:rPr lang="zh-CN" altLang="en-US" sz="2800" dirty="0">
                <a:solidFill>
                  <a:srgbClr val="00B050"/>
                </a:solidFill>
                <a:latin typeface="+mn-lt"/>
              </a:rPr>
              <a:t>状态标志及加减</a:t>
            </a:r>
            <a:r>
              <a:rPr lang="zh-CN" altLang="en-US" sz="2800" dirty="0">
                <a:solidFill>
                  <a:schemeClr val="tx1"/>
                </a:solidFill>
                <a:latin typeface="+mn-lt"/>
              </a:rPr>
              <a:t>乘除</a:t>
            </a:r>
            <a:r>
              <a:rPr lang="zh-CN" altLang="en-US" sz="2800" dirty="0">
                <a:solidFill>
                  <a:srgbClr val="00B050"/>
                </a:solidFill>
                <a:latin typeface="+mn-lt"/>
              </a:rPr>
              <a:t>指令</a:t>
            </a:r>
            <a:endParaRPr lang="en-US" altLang="zh-CN" sz="2800" dirty="0">
              <a:solidFill>
                <a:srgbClr val="00B050"/>
              </a:solidFill>
              <a:latin typeface="+mn-lt"/>
            </a:endParaRPr>
          </a:p>
          <a:p>
            <a:pPr algn="just" eaLnBrk="1" latinLnBrk="0" hangingPunct="1">
              <a:lnSpc>
                <a:spcPct val="200000"/>
              </a:lnSpc>
              <a:spcBef>
                <a:spcPts val="0"/>
              </a:spcBef>
              <a:buSzPct val="100000"/>
            </a:pPr>
            <a:r>
              <a:rPr lang="en-US" altLang="zh-CN" sz="3200" dirty="0">
                <a:latin typeface="黑体" panose="02010609060101010101" pitchFamily="49" charset="-122"/>
              </a:rPr>
              <a:t>3.3 </a:t>
            </a:r>
            <a:r>
              <a:rPr lang="zh-CN" altLang="en-US" sz="3200" dirty="0">
                <a:latin typeface="黑体" panose="02010609060101010101" pitchFamily="49" charset="-122"/>
              </a:rPr>
              <a:t>位操作类指令</a:t>
            </a:r>
            <a:endParaRPr lang="en-US" altLang="zh-CN" sz="3200" dirty="0">
              <a:latin typeface="黑体" panose="02010609060101010101" pitchFamily="49" charset="-122"/>
            </a:endParaRPr>
          </a:p>
          <a:p>
            <a:pPr marL="720090" lvl="1" indent="-457200" algn="just" latinLnBrk="0">
              <a:lnSpc>
                <a:spcPct val="200000"/>
              </a:lnSpc>
              <a:spcBef>
                <a:spcPts val="0"/>
              </a:spcBef>
              <a:buClr>
                <a:srgbClr val="0000FF"/>
              </a:buClr>
              <a:buFont typeface="Wingdings" panose="05000000000000000000" pitchFamily="2" charset="2"/>
              <a:buChar char="ü"/>
            </a:pPr>
            <a:r>
              <a:rPr lang="zh-CN" altLang="en-US" sz="2800" dirty="0">
                <a:solidFill>
                  <a:srgbClr val="00B050"/>
                </a:solidFill>
                <a:latin typeface="+mn-lt"/>
              </a:rPr>
              <a:t>逻辑运算</a:t>
            </a:r>
            <a:r>
              <a:rPr lang="zh-CN" altLang="en-US" sz="2800" dirty="0">
                <a:solidFill>
                  <a:schemeClr val="tx1"/>
                </a:solidFill>
                <a:latin typeface="+mn-lt"/>
              </a:rPr>
              <a:t>、移位指令</a:t>
            </a:r>
            <a:endParaRPr lang="zh-CN" altLang="en-US" sz="3200" dirty="0">
              <a:solidFill>
                <a:srgbClr val="000000"/>
              </a:solidFill>
              <a:latin typeface="黑体" panose="02010609060101010101" pitchFamily="49" charset="-122"/>
            </a:endParaRPr>
          </a:p>
          <a:p>
            <a:pPr algn="just" eaLnBrk="1" hangingPunct="1">
              <a:lnSpc>
                <a:spcPct val="110000"/>
              </a:lnSpc>
              <a:spcBef>
                <a:spcPts val="0"/>
              </a:spcBef>
              <a:buSzPct val="100000"/>
            </a:pPr>
            <a:endParaRPr lang="zh-CN" altLang="en-US" sz="3200" dirty="0">
              <a:solidFill>
                <a:srgbClr val="000000"/>
              </a:solidFill>
              <a:latin typeface="黑体" panose="02010609060101010101" pitchFamily="49" charset="-122"/>
            </a:endParaRPr>
          </a:p>
        </p:txBody>
      </p:sp>
      <p:sp>
        <p:nvSpPr>
          <p:cNvPr id="5" name="标题 1"/>
          <p:cNvSpPr txBox="1"/>
          <p:nvPr/>
        </p:nvSpPr>
        <p:spPr>
          <a:xfrm>
            <a:off x="0" y="-27384"/>
            <a:ext cx="9144000" cy="649931"/>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章节内容安排</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6" name="直接连接符 5"/>
          <p:cNvCxnSpPr/>
          <p:nvPr/>
        </p:nvCxnSpPr>
        <p:spPr bwMode="auto">
          <a:xfrm>
            <a:off x="142844" y="634937"/>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Picture 23" descr="C:\Documents and Settings\Administrator\Local Settings\Temporary Internet Files\Content.IE5\0NG03LCU\MC900441523[1].wmf"/>
          <p:cNvPicPr>
            <a:picLocks noChangeAspect="1" noChangeArrowheads="1"/>
          </p:cNvPicPr>
          <p:nvPr/>
        </p:nvPicPr>
        <p:blipFill>
          <a:blip r:embed="rId1"/>
          <a:srcRect/>
          <a:stretch>
            <a:fillRect/>
          </a:stretch>
        </p:blipFill>
        <p:spPr bwMode="auto">
          <a:xfrm>
            <a:off x="6442124" y="4647707"/>
            <a:ext cx="1873250" cy="1600200"/>
          </a:xfrm>
          <a:prstGeom prst="rect">
            <a:avLst/>
          </a:prstGeom>
          <a:noFill/>
          <a:ln w="9525">
            <a:noFill/>
            <a:miter lim="800000"/>
            <a:headEnd/>
            <a:tailEnd/>
          </a:ln>
        </p:spPr>
      </p:pic>
      <p:sp>
        <p:nvSpPr>
          <p:cNvPr id="3" name="AutoShape 5"/>
          <p:cNvSpPr>
            <a:spLocks noChangeArrowheads="1"/>
          </p:cNvSpPr>
          <p:nvPr/>
        </p:nvSpPr>
        <p:spPr bwMode="auto">
          <a:xfrm>
            <a:off x="6659190" y="3718803"/>
            <a:ext cx="1729234" cy="720725"/>
          </a:xfrm>
          <a:prstGeom prst="cloudCallout">
            <a:avLst>
              <a:gd name="adj1" fmla="val -43769"/>
              <a:gd name="adj2" fmla="val 75991"/>
            </a:avLst>
          </a:prstGeom>
          <a:solidFill>
            <a:schemeClr val="bg1">
              <a:lumMod val="90000"/>
            </a:schemeClr>
          </a:solidFill>
          <a:ln w="9525">
            <a:solidFill>
              <a:schemeClr val="accent1"/>
            </a:solid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2"/>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3"/>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r" eaLnBrk="1" hangingPunct="1">
              <a:spcBef>
                <a:spcPct val="0"/>
              </a:spcBef>
              <a:buClrTx/>
              <a:buFontTx/>
              <a:buNone/>
            </a:pPr>
            <a:r>
              <a:rPr lang="zh-CN" altLang="en-US" sz="2400" dirty="0">
                <a:solidFill>
                  <a:srgbClr val="FF0000"/>
                </a:solidFill>
                <a:latin typeface="黑体" panose="02010609060101010101" pitchFamily="49" charset="-122"/>
                <a:ea typeface="黑体" panose="02010609060101010101" pitchFamily="49" charset="-122"/>
              </a:rPr>
              <a:t>重点？</a:t>
            </a:r>
            <a:endParaRPr lang="en-US" altLang="zh-CN" sz="2400"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840531"/>
            <a:ext cx="8136904" cy="5540797"/>
          </a:xfrm>
          <a:prstGeom prst="rect">
            <a:avLst/>
          </a:prstGeom>
        </p:spPr>
        <p:txBody>
          <a:bodyPr/>
          <a:lstStyle/>
          <a:p>
            <a:pPr marL="457200" indent="-457200" algn="just">
              <a:lnSpc>
                <a:spcPct val="130000"/>
              </a:lnSpc>
              <a:spcBef>
                <a:spcPts val="900"/>
              </a:spcBef>
              <a:buClr>
                <a:srgbClr val="0000FF"/>
              </a:buClr>
              <a:buSzPct val="100000"/>
              <a:buFont typeface="Wingdings" panose="05000000000000000000" pitchFamily="2" charset="2"/>
              <a:buChar char="Ø"/>
              <a:defRPr/>
            </a:pPr>
            <a:r>
              <a:rPr lang="zh-CN" altLang="en-US" sz="2600" dirty="0">
                <a:latin typeface="+mn-lt"/>
              </a:rPr>
              <a:t>指令的功能：</a:t>
            </a:r>
            <a:r>
              <a:rPr lang="zh-CN" altLang="en-US" sz="2600" dirty="0">
                <a:solidFill>
                  <a:schemeClr val="tx1"/>
                </a:solidFill>
                <a:latin typeface="+mn-lt"/>
              </a:rPr>
              <a:t>该指令能够实现何种操作。通常指令助记符就是指令功能的英文单词或其缩写形式</a:t>
            </a:r>
            <a:endParaRPr lang="zh-CN" altLang="en-US" sz="2600" dirty="0">
              <a:solidFill>
                <a:schemeClr val="tx1"/>
              </a:solidFill>
              <a:latin typeface="+mn-lt"/>
            </a:endParaRPr>
          </a:p>
          <a:p>
            <a:pPr marL="457200" indent="-457200" algn="just">
              <a:lnSpc>
                <a:spcPct val="130000"/>
              </a:lnSpc>
              <a:spcBef>
                <a:spcPts val="900"/>
              </a:spcBef>
              <a:buClr>
                <a:srgbClr val="0000FF"/>
              </a:buClr>
              <a:buSzPct val="100000"/>
              <a:buFont typeface="Wingdings" panose="05000000000000000000" pitchFamily="2" charset="2"/>
              <a:buChar char="Ø"/>
              <a:defRPr/>
            </a:pPr>
            <a:r>
              <a:rPr lang="zh-CN" altLang="en-US" sz="2600" dirty="0">
                <a:latin typeface="+mn-lt"/>
              </a:rPr>
              <a:t>指令支持的寻址方式：</a:t>
            </a:r>
            <a:r>
              <a:rPr lang="zh-CN" altLang="en-US" sz="2600" dirty="0">
                <a:solidFill>
                  <a:schemeClr val="tx1"/>
                </a:solidFill>
                <a:latin typeface="+mn-lt"/>
              </a:rPr>
              <a:t>该指令中的操作数可以采用何种寻址方式</a:t>
            </a:r>
            <a:endParaRPr lang="zh-CN" altLang="en-US" sz="2600" dirty="0">
              <a:solidFill>
                <a:schemeClr val="tx1"/>
              </a:solidFill>
              <a:latin typeface="+mn-lt"/>
            </a:endParaRPr>
          </a:p>
          <a:p>
            <a:pPr marL="457200" indent="-457200" algn="just">
              <a:lnSpc>
                <a:spcPct val="130000"/>
              </a:lnSpc>
              <a:spcBef>
                <a:spcPts val="900"/>
              </a:spcBef>
              <a:buClr>
                <a:srgbClr val="0000FF"/>
              </a:buClr>
              <a:buSzPct val="100000"/>
              <a:buFont typeface="Wingdings" panose="05000000000000000000" pitchFamily="2" charset="2"/>
              <a:buChar char="Ø"/>
              <a:defRPr/>
            </a:pPr>
            <a:r>
              <a:rPr lang="zh-CN" altLang="en-US" sz="2600" dirty="0">
                <a:latin typeface="+mn-lt"/>
              </a:rPr>
              <a:t>指令对标志的影响：</a:t>
            </a:r>
            <a:r>
              <a:rPr lang="zh-CN" altLang="en-US" sz="2600" dirty="0">
                <a:solidFill>
                  <a:schemeClr val="tx1"/>
                </a:solidFill>
                <a:latin typeface="+mn-lt"/>
              </a:rPr>
              <a:t>该指令执行后</a:t>
            </a:r>
            <a:r>
              <a:rPr lang="zh-CN" altLang="en-US" sz="2600" dirty="0">
                <a:solidFill>
                  <a:srgbClr val="00B050"/>
                </a:solidFill>
                <a:latin typeface="+mn-lt"/>
              </a:rPr>
              <a:t>是否对各个标志位有影响</a:t>
            </a:r>
            <a:r>
              <a:rPr lang="zh-CN" altLang="en-US" sz="2600" dirty="0">
                <a:solidFill>
                  <a:schemeClr val="tx1"/>
                </a:solidFill>
                <a:latin typeface="+mn-lt"/>
              </a:rPr>
              <a:t>，以及如何影响</a:t>
            </a:r>
            <a:endParaRPr lang="zh-CN" altLang="en-US" sz="2600" dirty="0">
              <a:solidFill>
                <a:schemeClr val="tx1"/>
              </a:solidFill>
              <a:latin typeface="+mn-lt"/>
            </a:endParaRPr>
          </a:p>
          <a:p>
            <a:pPr marL="457200" indent="-457200" algn="just">
              <a:lnSpc>
                <a:spcPct val="130000"/>
              </a:lnSpc>
              <a:spcBef>
                <a:spcPts val="900"/>
              </a:spcBef>
              <a:buClr>
                <a:srgbClr val="0000FF"/>
              </a:buClr>
              <a:buSzPct val="100000"/>
              <a:buFont typeface="Wingdings" panose="05000000000000000000" pitchFamily="2" charset="2"/>
              <a:buChar char="Ø"/>
              <a:defRPr/>
            </a:pPr>
            <a:r>
              <a:rPr lang="zh-CN" altLang="en-US" sz="2600" dirty="0">
                <a:latin typeface="+mn-lt"/>
              </a:rPr>
              <a:t>其他方面：</a:t>
            </a:r>
            <a:r>
              <a:rPr lang="zh-CN" altLang="en-US" sz="2600" dirty="0">
                <a:solidFill>
                  <a:schemeClr val="tx1"/>
                </a:solidFill>
                <a:latin typeface="+mn-lt"/>
              </a:rPr>
              <a:t>该指令其他需要特别注意的地方，如指令执行时的约定设置、必须预置的参数、隐含使用的寄存器等</a:t>
            </a:r>
            <a:endParaRPr lang="zh-CN" altLang="en-US" sz="26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指令系统</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学习指令的注意事项</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64704"/>
            <a:ext cx="8136904" cy="5540797"/>
          </a:xfrm>
          <a:prstGeom prst="rect">
            <a:avLst/>
          </a:prstGeom>
        </p:spPr>
        <p:txBody>
          <a:bodyPr/>
          <a:lstStyle/>
          <a:p>
            <a:pPr marL="457200" indent="-457200" algn="just">
              <a:lnSpc>
                <a:spcPct val="130000"/>
              </a:lnSpc>
              <a:spcBef>
                <a:spcPts val="400"/>
              </a:spcBef>
              <a:buClr>
                <a:srgbClr val="0000FF"/>
              </a:buClr>
              <a:buSzPct val="100000"/>
              <a:buFont typeface="Wingdings" panose="05000000000000000000" pitchFamily="2" charset="2"/>
              <a:buChar char="Ø"/>
              <a:defRPr/>
            </a:pPr>
            <a:r>
              <a:rPr lang="zh-CN" altLang="en-US" sz="2800" dirty="0">
                <a:latin typeface="+mn-lt"/>
              </a:rPr>
              <a:t>数据传送</a:t>
            </a:r>
            <a:endParaRPr lang="zh-CN" altLang="en-US" sz="2800" dirty="0">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把数据从一个位置传送到另一个位置</a:t>
            </a:r>
            <a:endParaRPr lang="zh-CN" altLang="en-US"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计算机中最基本的操作</a:t>
            </a:r>
            <a:endParaRPr lang="zh-CN" altLang="en-US"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程序设计中最常使用的指令</a:t>
            </a:r>
            <a:endParaRPr lang="zh-CN" altLang="en-US" sz="2400" dirty="0">
              <a:solidFill>
                <a:schemeClr val="tx1"/>
              </a:solidFill>
              <a:latin typeface="+mn-lt"/>
            </a:endParaRPr>
          </a:p>
          <a:p>
            <a:pPr marL="457200" indent="-457200" algn="just">
              <a:lnSpc>
                <a:spcPct val="130000"/>
              </a:lnSpc>
              <a:spcBef>
                <a:spcPts val="400"/>
              </a:spcBef>
              <a:buClr>
                <a:srgbClr val="0000FF"/>
              </a:buClr>
              <a:buSzPct val="100000"/>
              <a:buFont typeface="Wingdings" panose="05000000000000000000" pitchFamily="2" charset="2"/>
              <a:buChar char="Ø"/>
              <a:defRPr/>
            </a:pPr>
            <a:r>
              <a:rPr lang="zh-CN" altLang="en-US" sz="2800" dirty="0">
                <a:latin typeface="+mn-lt"/>
              </a:rPr>
              <a:t>除标志寄存器传送指令外，</a:t>
            </a:r>
            <a:r>
              <a:rPr lang="zh-CN" altLang="en-US" sz="2800" dirty="0">
                <a:solidFill>
                  <a:srgbClr val="FF0000"/>
                </a:solidFill>
                <a:latin typeface="+mn-lt"/>
              </a:rPr>
              <a:t>均不影响标志位</a:t>
            </a:r>
            <a:endParaRPr lang="en-US" altLang="zh-CN" sz="2800" dirty="0">
              <a:solidFill>
                <a:srgbClr val="FF0000"/>
              </a:solidFill>
              <a:latin typeface="+mn-lt"/>
            </a:endParaRPr>
          </a:p>
          <a:p>
            <a:pPr marL="457200" indent="-457200" algn="just">
              <a:lnSpc>
                <a:spcPct val="130000"/>
              </a:lnSpc>
              <a:spcBef>
                <a:spcPts val="400"/>
              </a:spcBef>
              <a:buClr>
                <a:srgbClr val="0000FF"/>
              </a:buClr>
              <a:buSzPct val="100000"/>
              <a:buFont typeface="Wingdings" panose="05000000000000000000" pitchFamily="2" charset="2"/>
              <a:buChar char="Ø"/>
              <a:defRPr/>
            </a:pPr>
            <a:r>
              <a:rPr lang="zh-CN" altLang="en-US" sz="2800" dirty="0">
                <a:latin typeface="+mn-lt"/>
              </a:rPr>
              <a:t>通用数据传送指令</a:t>
            </a:r>
            <a:endParaRPr lang="zh-CN" altLang="en-US" sz="2800" dirty="0">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提供方便灵活的通用传送操作</a:t>
            </a:r>
            <a:endParaRPr lang="zh-CN" altLang="en-US"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主要有传送</a:t>
            </a:r>
            <a:r>
              <a:rPr lang="en-US" altLang="zh-CN" sz="2400" dirty="0">
                <a:solidFill>
                  <a:srgbClr val="FF0000"/>
                </a:solidFill>
                <a:latin typeface="+mn-lt"/>
              </a:rPr>
              <a:t>MOV</a:t>
            </a:r>
            <a:r>
              <a:rPr lang="zh-CN" altLang="en-US" sz="2400" dirty="0">
                <a:solidFill>
                  <a:schemeClr val="tx1"/>
                </a:solidFill>
                <a:latin typeface="+mn-lt"/>
              </a:rPr>
              <a:t>和交换</a:t>
            </a:r>
            <a:r>
              <a:rPr lang="en-US" altLang="zh-CN" sz="2400" dirty="0">
                <a:solidFill>
                  <a:srgbClr val="FF0000"/>
                </a:solidFill>
                <a:latin typeface="+mn-lt"/>
              </a:rPr>
              <a:t>XCHG</a:t>
            </a:r>
            <a:r>
              <a:rPr lang="zh-CN" altLang="en-US" sz="2400" dirty="0">
                <a:solidFill>
                  <a:schemeClr val="tx1"/>
                </a:solidFill>
                <a:latin typeface="+mn-lt"/>
              </a:rPr>
              <a:t>指令</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数据传送类指令</a:t>
            </a:r>
            <a:r>
              <a:rPr lang="en-US" altLang="zh-CN" kern="0" dirty="0">
                <a:solidFill>
                  <a:srgbClr val="000000"/>
                </a:solidFill>
                <a:latin typeface="+mj-lt"/>
                <a:cs typeface="+mj-cs"/>
              </a:rPr>
              <a:t>D</a:t>
            </a:r>
            <a:r>
              <a:rPr kumimoji="1" lang="en-US" altLang="zh-CN" b="0" i="0" u="none" strike="noStrike" kern="0" cap="none" spc="0" normalizeH="0" baseline="0" noProof="0" dirty="0" err="1">
                <a:ln>
                  <a:noFill/>
                </a:ln>
                <a:solidFill>
                  <a:srgbClr val="000000"/>
                </a:solidFill>
                <a:effectLst/>
                <a:uLnTx/>
                <a:uFillTx/>
                <a:latin typeface="+mj-lt"/>
                <a:cs typeface="+mj-cs"/>
              </a:rPr>
              <a:t>ata</a:t>
            </a:r>
            <a:r>
              <a:rPr kumimoji="1" lang="en-US" altLang="zh-CN" b="0" i="0" u="none" strike="noStrike" kern="0" cap="none" spc="0" normalizeH="0" baseline="0" noProof="0" dirty="0">
                <a:ln>
                  <a:noFill/>
                </a:ln>
                <a:solidFill>
                  <a:srgbClr val="000000"/>
                </a:solidFill>
                <a:effectLst/>
                <a:uLnTx/>
                <a:uFillTx/>
                <a:latin typeface="+mj-lt"/>
                <a:cs typeface="+mj-cs"/>
              </a:rPr>
              <a:t> transfer instructions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AutoShape 4"/>
          <p:cNvSpPr>
            <a:spLocks noChangeArrowheads="1"/>
          </p:cNvSpPr>
          <p:nvPr/>
        </p:nvSpPr>
        <p:spPr bwMode="auto">
          <a:xfrm>
            <a:off x="971601" y="5382741"/>
            <a:ext cx="7488831" cy="960288"/>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3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全面而准确地理解每条指令的功能和应用是编写汇编语言</a:t>
            </a:r>
            <a:endParaRPr lang="en-US" altLang="zh-CN" sz="23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3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程序的关键，也是理解处理器如何进行数据处理的核心</a:t>
            </a:r>
            <a:endParaRPr lang="zh-CN" altLang="en-US" sz="23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658024"/>
            <a:ext cx="8136904" cy="5540797"/>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solidFill>
                  <a:schemeClr val="tx1"/>
                </a:solidFill>
                <a:latin typeface="+mn-lt"/>
              </a:rPr>
              <a:t>把一个操作数从源位置传送至目的位置</a:t>
            </a:r>
            <a:endParaRPr lang="zh-CN" altLang="en-US" sz="28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800" dirty="0">
              <a:solidFill>
                <a:schemeClr val="tx1"/>
              </a:solidFill>
              <a:latin typeface="+mn-lt"/>
            </a:endParaRPr>
          </a:p>
        </p:txBody>
      </p:sp>
      <p:sp>
        <p:nvSpPr>
          <p:cNvPr id="6" name="标题 1"/>
          <p:cNvSpPr txBox="1"/>
          <p:nvPr/>
        </p:nvSpPr>
        <p:spPr>
          <a:xfrm>
            <a:off x="0" y="21566"/>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传送指令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MOV</a:t>
            </a:r>
            <a:r>
              <a:rPr lang="en-US" altLang="zh-CN" kern="0" dirty="0">
                <a:solidFill>
                  <a:srgbClr val="000000"/>
                </a:solidFill>
                <a:latin typeface="+mj-lt"/>
                <a:cs typeface="+mj-cs"/>
              </a:rPr>
              <a:t>(Move)</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69104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矩形 1"/>
          <p:cNvSpPr/>
          <p:nvPr/>
        </p:nvSpPr>
        <p:spPr>
          <a:xfrm>
            <a:off x="1043608" y="1269266"/>
            <a:ext cx="7416824" cy="523220"/>
          </a:xfrm>
          <a:prstGeom prst="rect">
            <a:avLst/>
          </a:prstGeom>
          <a:solidFill>
            <a:srgbClr val="DDEEFF"/>
          </a:solidFill>
          <a:ln w="25400">
            <a:noFill/>
          </a:ln>
        </p:spPr>
        <p:txBody>
          <a:bodyPr wrap="square">
            <a:spAutoFit/>
          </a:bodyPr>
          <a:lstStyle/>
          <a:p>
            <a:pPr marL="0" lvl="1" algn="ctr">
              <a:spcBef>
                <a:spcPts val="600"/>
              </a:spcBef>
              <a:spcAft>
                <a:spcPts val="600"/>
              </a:spcAft>
              <a:buClr>
                <a:srgbClr val="0000FF"/>
              </a:buClr>
            </a:pPr>
            <a:r>
              <a:rPr lang="en-US" altLang="zh-CN" sz="2800" b="1" dirty="0">
                <a:solidFill>
                  <a:schemeClr val="tx1"/>
                </a:solidFill>
                <a:latin typeface="+mn-lt"/>
              </a:rPr>
              <a:t>mov </a:t>
            </a:r>
            <a:r>
              <a:rPr lang="en-US" altLang="zh-CN" sz="2800" b="1" dirty="0" err="1">
                <a:solidFill>
                  <a:schemeClr val="tx1"/>
                </a:solidFill>
                <a:latin typeface="+mn-lt"/>
              </a:rPr>
              <a:t>dest</a:t>
            </a:r>
            <a:r>
              <a:rPr lang="en-US" altLang="zh-CN" sz="2800" b="1" dirty="0">
                <a:solidFill>
                  <a:schemeClr val="tx1"/>
                </a:solidFill>
                <a:latin typeface="+mn-lt"/>
              </a:rPr>
              <a:t>, </a:t>
            </a:r>
            <a:r>
              <a:rPr lang="en-US" altLang="zh-CN" sz="2800" b="1" dirty="0" err="1">
                <a:solidFill>
                  <a:schemeClr val="tx1"/>
                </a:solidFill>
                <a:latin typeface="+mn-lt"/>
              </a:rPr>
              <a:t>src</a:t>
            </a:r>
            <a:endParaRPr lang="en-US" altLang="zh-CN" sz="2800" b="1" dirty="0" err="1">
              <a:solidFill>
                <a:schemeClr val="tx1"/>
              </a:solidFill>
              <a:latin typeface="+mn-lt"/>
            </a:endParaRPr>
          </a:p>
        </p:txBody>
      </p:sp>
      <p:sp>
        <p:nvSpPr>
          <p:cNvPr id="4" name="Rectangle 5"/>
          <p:cNvSpPr>
            <a:spLocks noChangeArrowheads="1"/>
          </p:cNvSpPr>
          <p:nvPr/>
        </p:nvSpPr>
        <p:spPr bwMode="auto">
          <a:xfrm>
            <a:off x="661035" y="4378960"/>
            <a:ext cx="7151370"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marL="0" lvl="1" indent="-457200" algn="just">
              <a:lnSpc>
                <a:spcPct val="130000"/>
              </a:lnSpc>
              <a:spcBef>
                <a:spcPts val="0"/>
              </a:spcBef>
              <a:buClr>
                <a:srgbClr val="0000FF"/>
              </a:buClr>
              <a:buSzPct val="100000"/>
              <a:buFont typeface="Wingdings" panose="05000000000000000000" pitchFamily="2" charset="2"/>
              <a:buChar char="ü"/>
            </a:pPr>
            <a:r>
              <a:rPr lang="zh-CN" altLang="en-US" sz="2400" b="0" dirty="0">
                <a:solidFill>
                  <a:srgbClr val="FF0000"/>
                </a:solidFill>
                <a:latin typeface="+mn-lt"/>
                <a:ea typeface="黑体" panose="02010609060101010101" pitchFamily="49" charset="-122"/>
              </a:rPr>
              <a:t>立即数只能作为源操作数</a:t>
            </a:r>
            <a:r>
              <a:rPr lang="en-US" altLang="zh-CN" sz="2400" b="0" dirty="0">
                <a:solidFill>
                  <a:srgbClr val="FF0000"/>
                </a:solidFill>
                <a:latin typeface="+mn-lt"/>
                <a:ea typeface="黑体" panose="02010609060101010101" pitchFamily="49" charset="-122"/>
              </a:rPr>
              <a:t>,</a:t>
            </a:r>
            <a:r>
              <a:rPr lang="zh-CN" altLang="en-US" sz="2400" b="0" dirty="0">
                <a:solidFill>
                  <a:srgbClr val="FF0000"/>
                </a:solidFill>
                <a:latin typeface="+mn-lt"/>
                <a:ea typeface="黑体" panose="02010609060101010101" pitchFamily="49" charset="-122"/>
              </a:rPr>
              <a:t>不能当作目的操作数</a:t>
            </a:r>
            <a:endParaRPr lang="zh-CN" altLang="en-US" sz="2400" b="0" dirty="0">
              <a:solidFill>
                <a:srgbClr val="FF0000"/>
              </a:solidFill>
              <a:latin typeface="+mn-lt"/>
              <a:ea typeface="黑体" panose="02010609060101010101" pitchFamily="49" charset="-122"/>
            </a:endParaRPr>
          </a:p>
          <a:p>
            <a:pPr marL="0" lvl="1" indent="-457200" algn="just">
              <a:lnSpc>
                <a:spcPct val="130000"/>
              </a:lnSpc>
              <a:spcBef>
                <a:spcPts val="0"/>
              </a:spcBef>
              <a:buClr>
                <a:srgbClr val="0000FF"/>
              </a:buClr>
              <a:buSzPct val="100000"/>
              <a:buFont typeface="Wingdings" panose="05000000000000000000" pitchFamily="2" charset="2"/>
              <a:buChar char="ü"/>
            </a:pPr>
            <a:r>
              <a:rPr lang="zh-CN" altLang="en-US" sz="2400" b="0" dirty="0">
                <a:solidFill>
                  <a:srgbClr val="FF0000"/>
                </a:solidFill>
                <a:latin typeface="+mn-lt"/>
                <a:ea typeface="黑体" panose="02010609060101010101" pitchFamily="49" charset="-122"/>
                <a:sym typeface="+mn-ea"/>
              </a:rPr>
              <a:t>双操作数不允许都是存储单元</a:t>
            </a:r>
            <a:endParaRPr lang="zh-CN" altLang="en-US" sz="2400" b="0" dirty="0">
              <a:solidFill>
                <a:srgbClr val="FF0000"/>
              </a:solidFill>
              <a:latin typeface="+mn-lt"/>
              <a:ea typeface="黑体" panose="02010609060101010101" pitchFamily="49" charset="-122"/>
            </a:endParaRPr>
          </a:p>
          <a:p>
            <a:pPr marL="0" lvl="1" indent="-457200" algn="just">
              <a:lnSpc>
                <a:spcPct val="130000"/>
              </a:lnSpc>
              <a:spcBef>
                <a:spcPts val="0"/>
              </a:spcBef>
              <a:buClr>
                <a:srgbClr val="0000FF"/>
              </a:buClr>
              <a:buSzPct val="100000"/>
              <a:buFont typeface="Wingdings" panose="05000000000000000000" pitchFamily="2" charset="2"/>
              <a:buChar char="ü"/>
            </a:pPr>
            <a:r>
              <a:rPr lang="zh-CN" altLang="en-US" sz="2400" b="0" dirty="0">
                <a:solidFill>
                  <a:srgbClr val="FF0000"/>
                </a:solidFill>
                <a:latin typeface="+mn-lt"/>
                <a:ea typeface="黑体" panose="02010609060101010101" pitchFamily="49" charset="-122"/>
              </a:rPr>
              <a:t>双操作数必须类型一致</a:t>
            </a:r>
            <a:endParaRPr lang="zh-CN" altLang="en-US" sz="2400" b="0" dirty="0">
              <a:solidFill>
                <a:srgbClr val="FF0000"/>
              </a:solidFill>
              <a:latin typeface="+mn-lt"/>
              <a:ea typeface="黑体" panose="02010609060101010101" pitchFamily="49" charset="-122"/>
            </a:endParaRPr>
          </a:p>
          <a:p>
            <a:pPr marL="0" lvl="1" indent="-457200" algn="just">
              <a:lnSpc>
                <a:spcPct val="130000"/>
              </a:lnSpc>
              <a:spcBef>
                <a:spcPts val="0"/>
              </a:spcBef>
              <a:buClr>
                <a:srgbClr val="0000FF"/>
              </a:buClr>
              <a:buSzPct val="100000"/>
              <a:buFont typeface="Wingdings" panose="05000000000000000000" pitchFamily="2" charset="2"/>
              <a:buChar char="ü"/>
            </a:pPr>
            <a:r>
              <a:rPr lang="zh-CN" altLang="en-US" sz="2400" b="0" dirty="0">
                <a:solidFill>
                  <a:srgbClr val="FF0000"/>
                </a:solidFill>
                <a:latin typeface="+mn-lt"/>
                <a:ea typeface="黑体" panose="02010609060101010101" pitchFamily="49" charset="-122"/>
              </a:rPr>
              <a:t>操作数必须有明确的类型</a:t>
            </a:r>
            <a:endParaRPr lang="zh-CN" altLang="en-US" sz="2400" b="0" dirty="0">
              <a:solidFill>
                <a:srgbClr val="FF0000"/>
              </a:solidFill>
              <a:latin typeface="+mn-lt"/>
              <a:ea typeface="黑体" panose="02010609060101010101" pitchFamily="49" charset="-122"/>
            </a:endParaRPr>
          </a:p>
          <a:p>
            <a:pPr marL="0" lvl="1" indent="-457200" algn="just">
              <a:lnSpc>
                <a:spcPct val="130000"/>
              </a:lnSpc>
              <a:spcBef>
                <a:spcPts val="0"/>
              </a:spcBef>
              <a:buClr>
                <a:srgbClr val="0000FF"/>
              </a:buClr>
              <a:buSzPct val="100000"/>
              <a:buFont typeface="Wingdings" panose="05000000000000000000" pitchFamily="2" charset="2"/>
              <a:buChar char="ü"/>
            </a:pPr>
            <a:r>
              <a:rPr lang="zh-CN" altLang="en-US" sz="2400" b="0" dirty="0">
                <a:solidFill>
                  <a:srgbClr val="FF0000"/>
                </a:solidFill>
                <a:latin typeface="+mn-lt"/>
                <a:ea typeface="黑体" panose="02010609060101010101" pitchFamily="49" charset="-122"/>
              </a:rPr>
              <a:t>立即数不能直接传送给段</a:t>
            </a:r>
            <a:r>
              <a:rPr lang="zh-CN" altLang="en-US" sz="2400" b="0" dirty="0">
                <a:solidFill>
                  <a:srgbClr val="FF0000"/>
                </a:solidFill>
                <a:latin typeface="+mn-lt"/>
                <a:ea typeface="黑体" panose="02010609060101010101" pitchFamily="49" charset="-122"/>
              </a:rPr>
              <a:t>寄存器</a:t>
            </a:r>
            <a:endParaRPr lang="zh-CN" altLang="en-US" sz="2400" b="0" dirty="0">
              <a:solidFill>
                <a:srgbClr val="FF0000"/>
              </a:solidFill>
              <a:latin typeface="+mn-lt"/>
              <a:ea typeface="黑体" panose="02010609060101010101" pitchFamily="49" charset="-122"/>
              <a:hlinkClick r:id="" action="ppaction://noaction"/>
            </a:endParaRPr>
          </a:p>
        </p:txBody>
      </p:sp>
      <p:grpSp>
        <p:nvGrpSpPr>
          <p:cNvPr id="18439" name="组合 71690"/>
          <p:cNvGrpSpPr/>
          <p:nvPr/>
        </p:nvGrpSpPr>
        <p:grpSpPr>
          <a:xfrm>
            <a:off x="4355465" y="1679575"/>
            <a:ext cx="4171315" cy="2816860"/>
            <a:chOff x="3260" y="1304"/>
            <a:chExt cx="3828" cy="2132"/>
          </a:xfrm>
        </p:grpSpPr>
        <p:sp>
          <p:nvSpPr>
            <p:cNvPr id="18440" name="Rectangle 8"/>
            <p:cNvSpPr/>
            <p:nvPr/>
          </p:nvSpPr>
          <p:spPr>
            <a:xfrm>
              <a:off x="5622" y="2453"/>
              <a:ext cx="1149" cy="318"/>
            </a:xfrm>
            <a:prstGeom prst="rect">
              <a:avLst/>
            </a:prstGeom>
            <a:solidFill>
              <a:schemeClr val="bg1"/>
            </a:solidFill>
            <a:ln w="19050" cap="flat" cmpd="sng">
              <a:solidFill>
                <a:schemeClr val="tx1"/>
              </a:solidFill>
              <a:prstDash val="solid"/>
              <a:miter/>
              <a:headEnd type="none" w="med" len="med"/>
              <a:tailEnd type="none" w="med" len="med"/>
            </a:ln>
          </p:spPr>
          <p:txBody>
            <a:bodyPr wrap="none" lIns="115196" tIns="57598" rIns="115196" bIns="57598" anchor="ctr" anchorCtr="0"/>
            <a:p>
              <a:pPr algn="ctr" defTabSz="1152525">
                <a:lnSpc>
                  <a:spcPct val="90000"/>
                </a:lnSpc>
              </a:pPr>
              <a:r>
                <a:rPr lang="zh-CN" altLang="en-US" sz="2400" b="1" dirty="0">
                  <a:solidFill>
                    <a:schemeClr val="hlink"/>
                  </a:solidFill>
                  <a:latin typeface="黑体" panose="02010609060101010101" pitchFamily="49" charset="-122"/>
                </a:rPr>
                <a:t>段寄存器</a:t>
              </a:r>
              <a:endParaRPr lang="zh-CN" altLang="en-US" sz="2400" b="1" dirty="0">
                <a:solidFill>
                  <a:schemeClr val="hlink"/>
                </a:solidFill>
                <a:latin typeface="黑体" panose="02010609060101010101" pitchFamily="49" charset="-122"/>
              </a:endParaRPr>
            </a:p>
          </p:txBody>
        </p:sp>
        <p:sp>
          <p:nvSpPr>
            <p:cNvPr id="18441" name="Line 9"/>
            <p:cNvSpPr/>
            <p:nvPr/>
          </p:nvSpPr>
          <p:spPr>
            <a:xfrm>
              <a:off x="6196" y="1881"/>
              <a:ext cx="0" cy="562"/>
            </a:xfrm>
            <a:prstGeom prst="line">
              <a:avLst/>
            </a:prstGeom>
            <a:ln w="28575" cap="flat" cmpd="sng">
              <a:solidFill>
                <a:schemeClr val="tx1"/>
              </a:solidFill>
              <a:prstDash val="solid"/>
              <a:round/>
              <a:headEnd type="triangle" w="lg" len="med"/>
              <a:tailEnd type="triangle" w="lg" len="med"/>
            </a:ln>
          </p:spPr>
        </p:sp>
        <p:sp>
          <p:nvSpPr>
            <p:cNvPr id="18442" name="Line 10"/>
            <p:cNvSpPr/>
            <p:nvPr/>
          </p:nvSpPr>
          <p:spPr>
            <a:xfrm rot="5400000">
              <a:off x="5331" y="2326"/>
              <a:ext cx="0" cy="561"/>
            </a:xfrm>
            <a:prstGeom prst="line">
              <a:avLst/>
            </a:prstGeom>
            <a:ln w="28575" cap="flat" cmpd="sng">
              <a:solidFill>
                <a:schemeClr val="tx1"/>
              </a:solidFill>
              <a:prstDash val="solid"/>
              <a:round/>
              <a:headEnd type="triangle" w="lg" len="med"/>
              <a:tailEnd type="triangle" w="lg" len="med"/>
            </a:ln>
          </p:spPr>
        </p:sp>
        <p:sp>
          <p:nvSpPr>
            <p:cNvPr id="18443" name="Rectangle 8"/>
            <p:cNvSpPr/>
            <p:nvPr/>
          </p:nvSpPr>
          <p:spPr>
            <a:xfrm>
              <a:off x="5573" y="1559"/>
              <a:ext cx="1247" cy="318"/>
            </a:xfrm>
            <a:prstGeom prst="rect">
              <a:avLst/>
            </a:prstGeom>
            <a:solidFill>
              <a:schemeClr val="bg1"/>
            </a:solidFill>
            <a:ln w="19050" cap="flat" cmpd="sng">
              <a:solidFill>
                <a:schemeClr val="tx1"/>
              </a:solidFill>
              <a:prstDash val="solid"/>
              <a:miter/>
              <a:headEnd type="none" w="med" len="med"/>
              <a:tailEnd type="none" w="med" len="med"/>
            </a:ln>
          </p:spPr>
          <p:txBody>
            <a:bodyPr wrap="none" lIns="115196" tIns="57598" rIns="115196" bIns="57598" anchor="ctr" anchorCtr="0"/>
            <a:p>
              <a:pPr algn="ctr" defTabSz="1152525">
                <a:lnSpc>
                  <a:spcPct val="90000"/>
                </a:lnSpc>
              </a:pPr>
              <a:r>
                <a:rPr lang="zh-CN" altLang="en-US" sz="2000" b="1" dirty="0">
                  <a:solidFill>
                    <a:schemeClr val="hlink"/>
                  </a:solidFill>
                  <a:latin typeface="黑体" panose="02010609060101010101" pitchFamily="49" charset="-122"/>
                </a:rPr>
                <a:t>通用寄存器</a:t>
              </a:r>
              <a:endParaRPr lang="zh-CN" altLang="en-US" sz="2000" b="1" dirty="0">
                <a:solidFill>
                  <a:schemeClr val="hlink"/>
                </a:solidFill>
                <a:latin typeface="黑体" panose="02010609060101010101" pitchFamily="49" charset="-122"/>
              </a:endParaRPr>
            </a:p>
          </p:txBody>
        </p:sp>
        <p:sp>
          <p:nvSpPr>
            <p:cNvPr id="18444" name="Rectangle 8"/>
            <p:cNvSpPr/>
            <p:nvPr/>
          </p:nvSpPr>
          <p:spPr>
            <a:xfrm>
              <a:off x="3819" y="1559"/>
              <a:ext cx="1191" cy="318"/>
            </a:xfrm>
            <a:prstGeom prst="rect">
              <a:avLst/>
            </a:prstGeom>
            <a:solidFill>
              <a:schemeClr val="bg1"/>
            </a:solidFill>
            <a:ln w="19050" cap="flat" cmpd="sng">
              <a:solidFill>
                <a:schemeClr val="tx1"/>
              </a:solidFill>
              <a:prstDash val="solid"/>
              <a:miter/>
              <a:headEnd type="none" w="med" len="med"/>
              <a:tailEnd type="none" w="med" len="med"/>
            </a:ln>
          </p:spPr>
          <p:txBody>
            <a:bodyPr wrap="none" lIns="115196" tIns="57598" rIns="115196" bIns="57598" anchor="ctr" anchorCtr="0"/>
            <a:p>
              <a:pPr algn="ctr" defTabSz="1152525">
                <a:lnSpc>
                  <a:spcPct val="90000"/>
                </a:lnSpc>
              </a:pPr>
              <a:r>
                <a:rPr lang="zh-CN" altLang="en-US" sz="2400" b="1" dirty="0">
                  <a:solidFill>
                    <a:schemeClr val="hlink"/>
                  </a:solidFill>
                  <a:latin typeface="黑体" panose="02010609060101010101" pitchFamily="49" charset="-122"/>
                </a:rPr>
                <a:t>立即数</a:t>
              </a:r>
              <a:endParaRPr lang="zh-CN" altLang="en-US" sz="2400" b="1" dirty="0">
                <a:solidFill>
                  <a:schemeClr val="hlink"/>
                </a:solidFill>
                <a:latin typeface="黑体" panose="02010609060101010101" pitchFamily="49" charset="-122"/>
              </a:endParaRPr>
            </a:p>
          </p:txBody>
        </p:sp>
        <p:sp>
          <p:nvSpPr>
            <p:cNvPr id="18445" name="Rectangle 8"/>
            <p:cNvSpPr/>
            <p:nvPr/>
          </p:nvSpPr>
          <p:spPr>
            <a:xfrm>
              <a:off x="3799" y="2446"/>
              <a:ext cx="1247" cy="318"/>
            </a:xfrm>
            <a:prstGeom prst="rect">
              <a:avLst/>
            </a:prstGeom>
            <a:solidFill>
              <a:schemeClr val="bg1"/>
            </a:solidFill>
            <a:ln w="19050" cap="flat" cmpd="sng">
              <a:solidFill>
                <a:schemeClr val="tx1"/>
              </a:solidFill>
              <a:prstDash val="solid"/>
              <a:miter/>
              <a:headEnd type="none" w="med" len="med"/>
              <a:tailEnd type="none" w="med" len="med"/>
            </a:ln>
          </p:spPr>
          <p:txBody>
            <a:bodyPr wrap="none" lIns="115196" tIns="57598" rIns="115196" bIns="57598" anchor="ctr" anchorCtr="0"/>
            <a:p>
              <a:pPr algn="ctr" defTabSz="1152525">
                <a:lnSpc>
                  <a:spcPct val="90000"/>
                </a:lnSpc>
              </a:pPr>
              <a:r>
                <a:rPr lang="zh-CN" altLang="en-US" sz="2400" b="1" dirty="0">
                  <a:solidFill>
                    <a:schemeClr val="hlink"/>
                  </a:solidFill>
                  <a:latin typeface="黑体" panose="02010609060101010101" pitchFamily="49" charset="-122"/>
                </a:rPr>
                <a:t>主存储器</a:t>
              </a:r>
              <a:endParaRPr lang="zh-CN" altLang="en-US" sz="2400" b="1" dirty="0">
                <a:solidFill>
                  <a:schemeClr val="hlink"/>
                </a:solidFill>
                <a:latin typeface="黑体" panose="02010609060101010101" pitchFamily="49" charset="-122"/>
              </a:endParaRPr>
            </a:p>
          </p:txBody>
        </p:sp>
        <p:sp>
          <p:nvSpPr>
            <p:cNvPr id="18446" name="Line 10"/>
            <p:cNvSpPr/>
            <p:nvPr/>
          </p:nvSpPr>
          <p:spPr>
            <a:xfrm rot="5400000">
              <a:off x="5287" y="1439"/>
              <a:ext cx="0" cy="561"/>
            </a:xfrm>
            <a:prstGeom prst="line">
              <a:avLst/>
            </a:prstGeom>
            <a:ln w="28575" cap="flat" cmpd="sng">
              <a:solidFill>
                <a:schemeClr val="tx1"/>
              </a:solidFill>
              <a:prstDash val="solid"/>
              <a:round/>
              <a:headEnd type="triangle" w="lg" len="med"/>
              <a:tailEnd type="none" w="lg" len="med"/>
            </a:ln>
          </p:spPr>
        </p:sp>
        <p:sp>
          <p:nvSpPr>
            <p:cNvPr id="18447" name="Line 10"/>
            <p:cNvSpPr/>
            <p:nvPr/>
          </p:nvSpPr>
          <p:spPr>
            <a:xfrm rot="10800000">
              <a:off x="4477" y="1883"/>
              <a:ext cx="0" cy="561"/>
            </a:xfrm>
            <a:prstGeom prst="line">
              <a:avLst/>
            </a:prstGeom>
            <a:ln w="28575" cap="flat" cmpd="sng">
              <a:solidFill>
                <a:schemeClr val="tx1"/>
              </a:solidFill>
              <a:prstDash val="solid"/>
              <a:round/>
              <a:headEnd type="triangle" w="lg" len="med"/>
              <a:tailEnd type="none" w="lg" len="med"/>
            </a:ln>
          </p:spPr>
        </p:sp>
        <p:sp>
          <p:nvSpPr>
            <p:cNvPr id="18448" name="直接连接符 71699"/>
            <p:cNvSpPr/>
            <p:nvPr/>
          </p:nvSpPr>
          <p:spPr>
            <a:xfrm flipH="1">
              <a:off x="5018" y="1899"/>
              <a:ext cx="567" cy="539"/>
            </a:xfrm>
            <a:prstGeom prst="line">
              <a:avLst/>
            </a:prstGeom>
            <a:ln w="28575" cap="flat" cmpd="sng">
              <a:solidFill>
                <a:schemeClr val="tx1"/>
              </a:solidFill>
              <a:prstDash val="solid"/>
              <a:round/>
              <a:headEnd type="triangle" w="lg" len="med"/>
              <a:tailEnd type="triangle" w="lg" len="med"/>
            </a:ln>
          </p:spPr>
        </p:sp>
        <p:sp>
          <p:nvSpPr>
            <p:cNvPr id="18449" name="任意多边形 71700"/>
            <p:cNvSpPr/>
            <p:nvPr/>
          </p:nvSpPr>
          <p:spPr>
            <a:xfrm>
              <a:off x="6209" y="1304"/>
              <a:ext cx="879" cy="425"/>
            </a:xfrm>
            <a:custGeom>
              <a:avLst/>
              <a:gdLst/>
              <a:ahLst/>
              <a:cxnLst/>
              <a:pathLst>
                <a:path w="879" h="453">
                  <a:moveTo>
                    <a:pt x="0" y="255"/>
                  </a:moveTo>
                  <a:lnTo>
                    <a:pt x="0" y="0"/>
                  </a:lnTo>
                  <a:lnTo>
                    <a:pt x="879" y="0"/>
                  </a:lnTo>
                  <a:lnTo>
                    <a:pt x="879" y="453"/>
                  </a:lnTo>
                  <a:lnTo>
                    <a:pt x="623" y="453"/>
                  </a:lnTo>
                </a:path>
              </a:pathLst>
            </a:custGeom>
            <a:noFill/>
            <a:ln w="28575" cap="flat" cmpd="sng">
              <a:solidFill>
                <a:schemeClr val="tx1"/>
              </a:solidFill>
              <a:prstDash val="solid"/>
              <a:round/>
              <a:headEnd type="triangle" w="lg" len="med"/>
              <a:tailEnd type="triangle" w="lg" len="med"/>
            </a:ln>
          </p:spPr>
          <p:txBody>
            <a:bodyPr/>
            <a:p>
              <a:endParaRPr lang="zh-CN" altLang="en-US" sz="3200">
                <a:latin typeface="黑体" panose="02010609060101010101" pitchFamily="49" charset="-122"/>
              </a:endParaRPr>
            </a:p>
          </p:txBody>
        </p:sp>
        <p:sp>
          <p:nvSpPr>
            <p:cNvPr id="18450" name="任意多边形 71701"/>
            <p:cNvSpPr/>
            <p:nvPr/>
          </p:nvSpPr>
          <p:spPr>
            <a:xfrm rot="10800000">
              <a:off x="3544" y="2608"/>
              <a:ext cx="879" cy="397"/>
            </a:xfrm>
            <a:custGeom>
              <a:avLst/>
              <a:gdLst/>
              <a:ahLst/>
              <a:cxnLst/>
              <a:pathLst>
                <a:path w="879" h="453">
                  <a:moveTo>
                    <a:pt x="0" y="255"/>
                  </a:moveTo>
                  <a:lnTo>
                    <a:pt x="0" y="0"/>
                  </a:lnTo>
                  <a:lnTo>
                    <a:pt x="879" y="0"/>
                  </a:lnTo>
                  <a:lnTo>
                    <a:pt x="879" y="453"/>
                  </a:lnTo>
                  <a:lnTo>
                    <a:pt x="623" y="453"/>
                  </a:lnTo>
                </a:path>
              </a:pathLst>
            </a:custGeom>
            <a:noFill/>
            <a:ln w="28575" cap="flat" cmpd="sng">
              <a:solidFill>
                <a:schemeClr val="tx1"/>
              </a:solidFill>
              <a:prstDash val="dash"/>
              <a:round/>
              <a:headEnd type="triangle" w="lg" len="med"/>
              <a:tailEnd type="triangle" w="lg" len="med"/>
            </a:ln>
          </p:spPr>
          <p:txBody>
            <a:bodyPr/>
            <a:p>
              <a:endParaRPr lang="zh-CN" altLang="en-US" sz="3200">
                <a:latin typeface="黑体" panose="02010609060101010101" pitchFamily="49" charset="-122"/>
              </a:endParaRPr>
            </a:p>
          </p:txBody>
        </p:sp>
        <p:sp>
          <p:nvSpPr>
            <p:cNvPr id="18451" name="Rectangle 8"/>
            <p:cNvSpPr/>
            <p:nvPr/>
          </p:nvSpPr>
          <p:spPr>
            <a:xfrm>
              <a:off x="3260" y="3118"/>
              <a:ext cx="595" cy="318"/>
            </a:xfrm>
            <a:prstGeom prst="rect">
              <a:avLst/>
            </a:prstGeom>
            <a:noFill/>
            <a:ln w="19050">
              <a:noFill/>
            </a:ln>
          </p:spPr>
          <p:txBody>
            <a:bodyPr wrap="none" lIns="115196" tIns="57598" rIns="115196" bIns="57598" anchor="ctr" anchorCtr="0"/>
            <a:p>
              <a:pPr algn="ctr" defTabSz="1152525">
                <a:lnSpc>
                  <a:spcPct val="90000"/>
                </a:lnSpc>
              </a:pPr>
              <a:r>
                <a:rPr lang="zh-CN" altLang="en-US" sz="2400" b="1" dirty="0">
                  <a:solidFill>
                    <a:srgbClr val="CC3300"/>
                  </a:solidFill>
                  <a:latin typeface="黑体" panose="02010609060101010101" pitchFamily="49" charset="-122"/>
                </a:rPr>
                <a:t>禁止</a:t>
              </a:r>
              <a:endParaRPr lang="zh-CN" altLang="en-US" sz="2400" b="1" dirty="0">
                <a:solidFill>
                  <a:srgbClr val="CC3300"/>
                </a:solidFill>
                <a:latin typeface="黑体" panose="02010609060101010101" pitchFamily="49" charset="-122"/>
              </a:endParaRPr>
            </a:p>
          </p:txBody>
        </p:sp>
        <p:sp>
          <p:nvSpPr>
            <p:cNvPr id="18452" name="直接连接符 71703"/>
            <p:cNvSpPr/>
            <p:nvPr/>
          </p:nvSpPr>
          <p:spPr>
            <a:xfrm flipH="1">
              <a:off x="3422" y="2920"/>
              <a:ext cx="227" cy="132"/>
            </a:xfrm>
            <a:prstGeom prst="line">
              <a:avLst/>
            </a:prstGeom>
            <a:ln w="28575" cap="flat" cmpd="sng">
              <a:solidFill>
                <a:srgbClr val="CC3300"/>
              </a:solidFill>
              <a:prstDash val="solid"/>
              <a:round/>
              <a:headEnd type="none" w="med" len="med"/>
              <a:tailEnd type="none" w="med" len="med"/>
            </a:ln>
          </p:spPr>
        </p:sp>
        <p:sp>
          <p:nvSpPr>
            <p:cNvPr id="18453" name="直接连接符 71704"/>
            <p:cNvSpPr/>
            <p:nvPr/>
          </p:nvSpPr>
          <p:spPr>
            <a:xfrm>
              <a:off x="3431" y="2920"/>
              <a:ext cx="227" cy="132"/>
            </a:xfrm>
            <a:prstGeom prst="line">
              <a:avLst/>
            </a:prstGeom>
            <a:ln w="28575" cap="flat" cmpd="sng">
              <a:solidFill>
                <a:srgbClr val="CC3300"/>
              </a:solidFill>
              <a:prstDash val="solid"/>
              <a:round/>
              <a:headEnd type="none" w="med" len="med"/>
              <a:tailEnd type="none" w="med" len="med"/>
            </a:ln>
          </p:spPr>
        </p:sp>
      </p:grpSp>
      <p:sp>
        <p:nvSpPr>
          <p:cNvPr id="18436" name="矩形 71683"/>
          <p:cNvSpPr/>
          <p:nvPr/>
        </p:nvSpPr>
        <p:spPr>
          <a:xfrm>
            <a:off x="971233" y="1917065"/>
            <a:ext cx="4033837" cy="2152650"/>
          </a:xfrm>
          <a:prstGeom prst="rect">
            <a:avLst/>
          </a:prstGeom>
          <a:noFill/>
          <a:ln w="9525">
            <a:noFill/>
          </a:ln>
        </p:spPr>
        <p:txBody>
          <a:bodyPr anchor="t" anchorCtr="0"/>
          <a:p>
            <a:pPr marL="342900" indent="-342900" algn="just" latinLnBrk="0">
              <a:lnSpc>
                <a:spcPct val="150000"/>
              </a:lnSpc>
              <a:spcBef>
                <a:spcPts val="0"/>
              </a:spcBef>
              <a:buClr>
                <a:schemeClr val="accent1"/>
              </a:buClr>
              <a:buSzPct val="150000"/>
            </a:pPr>
            <a:r>
              <a:rPr lang="en-US" altLang="zh-CN" sz="2400" b="1">
                <a:solidFill>
                  <a:srgbClr val="0000FF"/>
                </a:solidFill>
                <a:cs typeface="Times New Roman" panose="02020603050405020304" pitchFamily="18" charset="0"/>
              </a:rPr>
              <a:t>MOV </a:t>
            </a:r>
            <a:r>
              <a:rPr lang="en-US" altLang="zh-CN" sz="2400" b="1" err="1">
                <a:solidFill>
                  <a:srgbClr val="0000FF"/>
                </a:solidFill>
                <a:cs typeface="Times New Roman" panose="02020603050405020304" pitchFamily="18" charset="0"/>
              </a:rPr>
              <a:t>reg/mem,imm</a:t>
            </a:r>
            <a:endParaRPr lang="en-US" altLang="zh-CN" sz="2400" b="1">
              <a:solidFill>
                <a:srgbClr val="0000FF"/>
              </a:solidFill>
              <a:cs typeface="Times New Roman" panose="02020603050405020304" pitchFamily="18" charset="0"/>
            </a:endParaRPr>
          </a:p>
          <a:p>
            <a:pPr marL="342900" indent="-342900" algn="just" latinLnBrk="0">
              <a:lnSpc>
                <a:spcPct val="150000"/>
              </a:lnSpc>
              <a:spcBef>
                <a:spcPts val="0"/>
              </a:spcBef>
              <a:buClr>
                <a:schemeClr val="accent1"/>
              </a:buClr>
              <a:buSzPct val="150000"/>
            </a:pPr>
            <a:r>
              <a:rPr lang="en-US" altLang="zh-CN" sz="2400" b="1">
                <a:solidFill>
                  <a:srgbClr val="0000FF"/>
                </a:solidFill>
                <a:cs typeface="Times New Roman" panose="02020603050405020304" pitchFamily="18" charset="0"/>
              </a:rPr>
              <a:t>MOV </a:t>
            </a:r>
            <a:r>
              <a:rPr lang="en-US" altLang="zh-CN" sz="2400" b="1" err="1">
                <a:solidFill>
                  <a:srgbClr val="0000FF"/>
                </a:solidFill>
                <a:cs typeface="Times New Roman" panose="02020603050405020304" pitchFamily="18" charset="0"/>
              </a:rPr>
              <a:t>reg/mem/seg,reg</a:t>
            </a:r>
            <a:endParaRPr lang="en-US" altLang="zh-CN" sz="2400" b="1">
              <a:solidFill>
                <a:srgbClr val="0000FF"/>
              </a:solidFill>
              <a:cs typeface="Times New Roman" panose="02020603050405020304" pitchFamily="18" charset="0"/>
            </a:endParaRPr>
          </a:p>
          <a:p>
            <a:pPr marL="342900" indent="-342900" algn="just" latinLnBrk="0">
              <a:lnSpc>
                <a:spcPct val="150000"/>
              </a:lnSpc>
              <a:spcBef>
                <a:spcPts val="0"/>
              </a:spcBef>
              <a:buClr>
                <a:schemeClr val="accent1"/>
              </a:buClr>
              <a:buSzPct val="150000"/>
            </a:pPr>
            <a:r>
              <a:rPr lang="en-US" altLang="zh-CN" sz="2400" b="1">
                <a:solidFill>
                  <a:srgbClr val="0000FF"/>
                </a:solidFill>
                <a:cs typeface="Times New Roman" panose="02020603050405020304" pitchFamily="18" charset="0"/>
              </a:rPr>
              <a:t>MOV </a:t>
            </a:r>
            <a:r>
              <a:rPr lang="en-US" altLang="zh-CN" sz="2400" b="1" err="1">
                <a:solidFill>
                  <a:srgbClr val="0000FF"/>
                </a:solidFill>
                <a:cs typeface="Times New Roman" panose="02020603050405020304" pitchFamily="18" charset="0"/>
              </a:rPr>
              <a:t>reg/seg,mem</a:t>
            </a:r>
            <a:endParaRPr lang="en-US" altLang="zh-CN" sz="2400" b="1">
              <a:solidFill>
                <a:srgbClr val="0000FF"/>
              </a:solidFill>
              <a:cs typeface="Times New Roman" panose="02020603050405020304" pitchFamily="18" charset="0"/>
            </a:endParaRPr>
          </a:p>
          <a:p>
            <a:pPr marL="342900" indent="-342900" algn="just" latinLnBrk="0">
              <a:lnSpc>
                <a:spcPct val="150000"/>
              </a:lnSpc>
              <a:spcBef>
                <a:spcPts val="0"/>
              </a:spcBef>
              <a:buClr>
                <a:schemeClr val="accent1"/>
              </a:buClr>
              <a:buSzPct val="150000"/>
            </a:pPr>
            <a:r>
              <a:rPr lang="en-US" altLang="zh-CN" sz="2400" b="1">
                <a:solidFill>
                  <a:srgbClr val="0000FF"/>
                </a:solidFill>
                <a:cs typeface="Times New Roman" panose="02020603050405020304" pitchFamily="18" charset="0"/>
              </a:rPr>
              <a:t>MOV </a:t>
            </a:r>
            <a:r>
              <a:rPr lang="en-US" altLang="zh-CN" sz="2400" b="1" err="1">
                <a:solidFill>
                  <a:srgbClr val="0000FF"/>
                </a:solidFill>
                <a:cs typeface="Times New Roman" panose="02020603050405020304" pitchFamily="18" charset="0"/>
              </a:rPr>
              <a:t>reg/mem,seg</a:t>
            </a:r>
            <a:endParaRPr lang="en-US" altLang="zh-CN" sz="2400" b="1" err="1">
              <a:solidFill>
                <a:srgbClr val="0000FF"/>
              </a:solidFill>
              <a:cs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360" y="779780"/>
            <a:ext cx="8136890" cy="3674745"/>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charset="0"/>
              <a:buChar char="ü"/>
              <a:defRPr/>
            </a:pPr>
            <a:r>
              <a:rPr lang="en-US" altLang="zh-CN" sz="2600" dirty="0">
                <a:solidFill>
                  <a:schemeClr val="tx1"/>
                </a:solidFill>
                <a:latin typeface="+mn-lt"/>
                <a:sym typeface="+mn-ea"/>
              </a:rPr>
              <a:t>byte</a:t>
            </a:r>
            <a:r>
              <a:rPr lang="zh-CN" altLang="en-US" sz="2600" dirty="0">
                <a:solidFill>
                  <a:schemeClr val="tx1"/>
                </a:solidFill>
                <a:latin typeface="+mn-lt"/>
                <a:sym typeface="+mn-ea"/>
              </a:rPr>
              <a:t>类型，</a:t>
            </a:r>
            <a:r>
              <a:rPr lang="en-US" altLang="zh-CN" sz="2600" dirty="0">
                <a:solidFill>
                  <a:schemeClr val="tx1"/>
                </a:solidFill>
                <a:latin typeface="+mn-lt"/>
              </a:rPr>
              <a:t>8</a:t>
            </a:r>
            <a:r>
              <a:rPr lang="zh-CN" altLang="en-US" sz="2600" dirty="0">
                <a:solidFill>
                  <a:schemeClr val="tx1"/>
                </a:solidFill>
                <a:latin typeface="+mn-lt"/>
              </a:rPr>
              <a:t>位（字节）数据</a:t>
            </a:r>
            <a:endParaRPr lang="zh-CN" altLang="en-US" sz="2600" dirty="0">
              <a:solidFill>
                <a:schemeClr val="tx1"/>
              </a:solidFill>
              <a:latin typeface="+mn-lt"/>
            </a:endParaRPr>
          </a:p>
          <a:p>
            <a:pPr marL="0" indent="0" algn="just" latinLnBrk="0">
              <a:lnSpc>
                <a:spcPct val="130000"/>
              </a:lnSpc>
              <a:spcBef>
                <a:spcPts val="0"/>
              </a:spcBef>
              <a:buClr>
                <a:srgbClr val="0000FF"/>
              </a:buClr>
              <a:buSzPct val="100000"/>
              <a:buFont typeface="Wingdings" panose="05000000000000000000" pitchFamily="2" charset="2"/>
              <a:buNone/>
              <a:defRPr/>
            </a:pPr>
            <a:r>
              <a:rPr lang="en-US" altLang="zh-CN" sz="2800" dirty="0">
                <a:solidFill>
                  <a:schemeClr val="tx1"/>
                </a:solidFill>
                <a:latin typeface="+mn-lt"/>
              </a:rPr>
              <a:t>      </a:t>
            </a:r>
            <a:endParaRPr lang="en-US" altLang="zh-CN" sz="2800" dirty="0">
              <a:solidFill>
                <a:schemeClr val="tx1"/>
              </a:solidFill>
              <a:latin typeface="+mn-lt"/>
            </a:endParaRPr>
          </a:p>
          <a:p>
            <a:pPr marL="457200" indent="-457200" algn="just" latinLnBrk="0">
              <a:lnSpc>
                <a:spcPct val="130000"/>
              </a:lnSpc>
              <a:spcBef>
                <a:spcPts val="0"/>
              </a:spcBef>
              <a:buClr>
                <a:srgbClr val="0000FF"/>
              </a:buClr>
              <a:buSzPct val="100000"/>
              <a:buFont typeface="Wingdings" panose="05000000000000000000" charset="0"/>
              <a:buChar char="ü"/>
              <a:defRPr/>
            </a:pPr>
            <a:r>
              <a:rPr lang="en-US" altLang="zh-CN" sz="2600" dirty="0">
                <a:solidFill>
                  <a:schemeClr val="tx1"/>
                </a:solidFill>
                <a:latin typeface="+mn-lt"/>
                <a:sym typeface="+mn-ea"/>
              </a:rPr>
              <a:t>word</a:t>
            </a:r>
            <a:r>
              <a:rPr lang="zh-CN" altLang="en-US" sz="2600" dirty="0">
                <a:solidFill>
                  <a:schemeClr val="tx1"/>
                </a:solidFill>
                <a:latin typeface="+mn-lt"/>
                <a:sym typeface="+mn-ea"/>
              </a:rPr>
              <a:t>类型，</a:t>
            </a:r>
            <a:r>
              <a:rPr lang="en-US" altLang="zh-CN" sz="2600" dirty="0">
                <a:solidFill>
                  <a:schemeClr val="tx1"/>
                </a:solidFill>
                <a:latin typeface="+mn-lt"/>
              </a:rPr>
              <a:t>16</a:t>
            </a:r>
            <a:r>
              <a:rPr lang="zh-CN" altLang="en-US" sz="2600" dirty="0">
                <a:solidFill>
                  <a:schemeClr val="tx1"/>
                </a:solidFill>
                <a:latin typeface="+mn-lt"/>
              </a:rPr>
              <a:t>位（字）数据</a:t>
            </a:r>
            <a:endParaRPr lang="zh-CN" altLang="en-US" sz="2800" dirty="0">
              <a:solidFill>
                <a:schemeClr val="tx1"/>
              </a:solidFill>
              <a:latin typeface="+mn-lt"/>
            </a:endParaRPr>
          </a:p>
          <a:p>
            <a:pPr marL="0" indent="0" algn="just" latinLnBrk="0">
              <a:lnSpc>
                <a:spcPct val="130000"/>
              </a:lnSpc>
              <a:spcBef>
                <a:spcPts val="0"/>
              </a:spcBef>
              <a:buClr>
                <a:srgbClr val="0000FF"/>
              </a:buClr>
              <a:buSzPct val="100000"/>
              <a:buFont typeface="Wingdings" panose="05000000000000000000" pitchFamily="2" charset="2"/>
              <a:buNone/>
              <a:defRPr/>
            </a:pPr>
            <a:endParaRPr lang="en-US" altLang="zh-CN" sz="2800" dirty="0">
              <a:solidFill>
                <a:schemeClr val="tx1"/>
              </a:solidFill>
              <a:latin typeface="+mn-lt"/>
            </a:endParaRPr>
          </a:p>
          <a:p>
            <a:pPr marL="457200" indent="-457200" algn="just" latinLnBrk="0">
              <a:lnSpc>
                <a:spcPct val="130000"/>
              </a:lnSpc>
              <a:spcBef>
                <a:spcPts val="0"/>
              </a:spcBef>
              <a:buClr>
                <a:srgbClr val="0000FF"/>
              </a:buClr>
              <a:buSzPct val="100000"/>
              <a:buFont typeface="Wingdings" panose="05000000000000000000" charset="0"/>
              <a:buChar char="ü"/>
              <a:defRPr/>
            </a:pPr>
            <a:r>
              <a:rPr lang="en-US" altLang="zh-CN" sz="2600" dirty="0">
                <a:solidFill>
                  <a:schemeClr val="tx1"/>
                </a:solidFill>
                <a:latin typeface="+mn-lt"/>
                <a:sym typeface="+mn-ea"/>
              </a:rPr>
              <a:t>dword</a:t>
            </a:r>
            <a:r>
              <a:rPr lang="zh-CN" altLang="en-US" sz="2600" dirty="0">
                <a:solidFill>
                  <a:schemeClr val="tx1"/>
                </a:solidFill>
                <a:latin typeface="+mn-lt"/>
                <a:sym typeface="+mn-ea"/>
              </a:rPr>
              <a:t>类型，</a:t>
            </a:r>
            <a:r>
              <a:rPr lang="en-US" altLang="zh-CN" sz="2600" dirty="0">
                <a:solidFill>
                  <a:schemeClr val="tx1"/>
                </a:solidFill>
                <a:latin typeface="+mn-lt"/>
              </a:rPr>
              <a:t>32</a:t>
            </a:r>
            <a:r>
              <a:rPr lang="zh-CN" altLang="en-US" sz="2600" dirty="0">
                <a:solidFill>
                  <a:schemeClr val="tx1"/>
                </a:solidFill>
                <a:latin typeface="+mn-lt"/>
              </a:rPr>
              <a:t>位（双字）数据</a:t>
            </a:r>
            <a:r>
              <a:rPr lang="en-US" altLang="zh-CN" sz="2600" dirty="0">
                <a:solidFill>
                  <a:schemeClr val="tx1"/>
                </a:solidFill>
                <a:latin typeface="+mn-lt"/>
              </a:rPr>
              <a:t>      </a:t>
            </a:r>
            <a:endParaRPr lang="en-US" altLang="zh-CN" sz="2600" dirty="0">
              <a:solidFill>
                <a:schemeClr val="tx1"/>
              </a:solidFill>
              <a:latin typeface="+mn-lt"/>
            </a:endParaRPr>
          </a:p>
          <a:p>
            <a:pPr marL="0" indent="0" algn="just" latinLnBrk="0">
              <a:lnSpc>
                <a:spcPct val="130000"/>
              </a:lnSpc>
              <a:spcBef>
                <a:spcPts val="0"/>
              </a:spcBef>
              <a:buClr>
                <a:srgbClr val="0000FF"/>
              </a:buClr>
              <a:buSzPct val="100000"/>
              <a:buFont typeface="Wingdings" panose="05000000000000000000" charset="0"/>
              <a:buNone/>
              <a:defRPr/>
            </a:pPr>
            <a:r>
              <a:rPr lang="en-US" altLang="zh-CN" sz="2800" dirty="0">
                <a:solidFill>
                  <a:schemeClr val="tx1"/>
                </a:solidFill>
                <a:latin typeface="+mn-lt"/>
              </a:rPr>
              <a:t>     </a:t>
            </a:r>
            <a:endParaRPr lang="en-US" altLang="zh-CN" sz="2800" dirty="0">
              <a:solidFill>
                <a:schemeClr val="tx1"/>
              </a:solidFill>
              <a:latin typeface="+mn-lt"/>
            </a:endParaRPr>
          </a:p>
          <a:p>
            <a:pPr marL="0" indent="0" algn="just" latinLnBrk="0">
              <a:lnSpc>
                <a:spcPct val="130000"/>
              </a:lnSpc>
              <a:spcBef>
                <a:spcPts val="0"/>
              </a:spcBef>
              <a:buClr>
                <a:srgbClr val="0000FF"/>
              </a:buClr>
              <a:buSzPct val="100000"/>
              <a:buFont typeface="Wingdings" panose="05000000000000000000" charset="0"/>
              <a:buNone/>
              <a:defRPr/>
            </a:pPr>
            <a:endParaRPr lang="en-US" altLang="zh-CN" sz="2800" dirty="0">
              <a:solidFill>
                <a:schemeClr val="tx1"/>
              </a:solidFill>
              <a:latin typeface="+mn-lt"/>
            </a:endParaRPr>
          </a:p>
        </p:txBody>
      </p:sp>
      <p:sp>
        <p:nvSpPr>
          <p:cNvPr id="6" name="标题 1"/>
          <p:cNvSpPr txBox="1"/>
          <p:nvPr/>
        </p:nvSpPr>
        <p:spPr>
          <a:xfrm>
            <a:off x="0" y="21566"/>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传送指令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MOV</a:t>
            </a:r>
            <a:r>
              <a:rPr lang="en-US" altLang="zh-CN" kern="0" dirty="0">
                <a:solidFill>
                  <a:srgbClr val="000000"/>
                </a:solidFill>
                <a:latin typeface="+mj-lt"/>
                <a:cs typeface="+mj-cs"/>
              </a:rPr>
              <a:t>(Move)</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69104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1043305" y="1412875"/>
            <a:ext cx="4248785" cy="460375"/>
          </a:xfrm>
          <a:prstGeom prst="rect">
            <a:avLst/>
          </a:prstGeom>
          <a:solidFill>
            <a:srgbClr val="DDEEFF"/>
          </a:solidFill>
          <a:ln w="25400">
            <a:noFill/>
          </a:ln>
        </p:spPr>
        <p:txBody>
          <a:bodyPr wrap="square">
            <a:spAutoFit/>
          </a:bodyPr>
          <a:lstStyle/>
          <a:p>
            <a:pPr marL="0" lvl="1" algn="l">
              <a:spcBef>
                <a:spcPts val="600"/>
              </a:spcBef>
              <a:spcAft>
                <a:spcPts val="600"/>
              </a:spcAft>
              <a:buClr>
                <a:srgbClr val="0000FF"/>
              </a:buClr>
            </a:pPr>
            <a:r>
              <a:rPr lang="en-US" altLang="zh-CN" sz="2400" b="1" dirty="0" err="1">
                <a:solidFill>
                  <a:schemeClr val="tx1"/>
                </a:solidFill>
                <a:latin typeface="+mn-lt"/>
              </a:rPr>
              <a:t>mov al, </a:t>
            </a:r>
            <a:r>
              <a:rPr lang="en-US" altLang="zh-CN" sz="2400" b="1" dirty="0" err="1">
                <a:solidFill>
                  <a:srgbClr val="0000FF"/>
                </a:solidFill>
                <a:latin typeface="+mn-lt"/>
              </a:rPr>
              <a:t>200</a:t>
            </a:r>
            <a:endParaRPr lang="en-US" altLang="zh-CN" sz="2400" b="1" dirty="0" err="1">
              <a:solidFill>
                <a:srgbClr val="0000FF"/>
              </a:solidFill>
              <a:latin typeface="+mn-lt"/>
            </a:endParaRPr>
          </a:p>
        </p:txBody>
      </p:sp>
      <p:sp>
        <p:nvSpPr>
          <p:cNvPr id="13316" name="AutoShape 4"/>
          <p:cNvSpPr/>
          <p:nvPr/>
        </p:nvSpPr>
        <p:spPr>
          <a:xfrm>
            <a:off x="5435600" y="2421255"/>
            <a:ext cx="3411220" cy="4166870"/>
          </a:xfrm>
          <a:prstGeom prst="roundRect">
            <a:avLst>
              <a:gd name="adj" fmla="val 16667"/>
            </a:avLst>
          </a:prstGeom>
          <a:solidFill>
            <a:schemeClr val="bg1">
              <a:lumMod val="90000"/>
            </a:schemeClr>
          </a:solidFill>
          <a:ln w="12700" cap="rnd" cmpd="sng">
            <a:solidFill>
              <a:schemeClr val="tx1"/>
            </a:solidFill>
            <a:prstDash val="sysDot"/>
            <a:round/>
            <a:headEnd type="none" w="med" len="med"/>
            <a:tailEnd type="none" w="med" len="med"/>
          </a:ln>
          <a:effectLst>
            <a:outerShdw dist="35921" dir="2699999" algn="ctr" rotWithShape="0">
              <a:schemeClr val="bg2">
                <a:alpha val="50000"/>
              </a:schemeClr>
            </a:outerShdw>
          </a:effectLst>
        </p:spPr>
        <p:txBody>
          <a:bodyPr wrap="none" anchor="ctr" anchorCtr="0"/>
          <a:p>
            <a:pPr algn="just">
              <a:spcBef>
                <a:spcPct val="20000"/>
              </a:spcBef>
            </a:pPr>
            <a:r>
              <a:rPr lang="zh-CN" altLang="en-US" sz="2400" b="1">
                <a:highlight>
                  <a:srgbClr val="FFFF00"/>
                </a:highlight>
              </a:rPr>
              <a:t>寄存器有明确的类型</a:t>
            </a:r>
            <a:endParaRPr lang="en-US" altLang="zh-CN" sz="2400" b="1">
              <a:highlight>
                <a:srgbClr val="FFFF00"/>
              </a:highlight>
            </a:endParaRPr>
          </a:p>
          <a:p>
            <a:pPr algn="just">
              <a:spcBef>
                <a:spcPct val="20000"/>
              </a:spcBef>
            </a:pPr>
            <a:r>
              <a:rPr lang="en-US" altLang="zh-CN" sz="2400" b="1"/>
              <a:t>32</a:t>
            </a:r>
            <a:r>
              <a:rPr lang="zh-CN" altLang="en-US" sz="2400" b="1" dirty="0"/>
              <a:t>位通用寄存器：</a:t>
            </a:r>
            <a:endParaRPr lang="zh-CN" altLang="en-US" sz="2400" b="1" dirty="0"/>
          </a:p>
          <a:p>
            <a:pPr algn="just">
              <a:spcBef>
                <a:spcPct val="20000"/>
              </a:spcBef>
            </a:pPr>
            <a:r>
              <a:rPr lang="en-US" altLang="zh-CN" sz="2400" b="1">
                <a:solidFill>
                  <a:srgbClr val="663300"/>
                </a:solidFill>
              </a:rPr>
              <a:t>EAX EBX ECX </a:t>
            </a:r>
            <a:r>
              <a:rPr lang="en-US" altLang="zh-CN" sz="2400" b="1"/>
              <a:t>…</a:t>
            </a:r>
            <a:endParaRPr lang="en-US" altLang="zh-CN" sz="2400" b="1"/>
          </a:p>
          <a:p>
            <a:pPr algn="just">
              <a:spcBef>
                <a:spcPct val="20000"/>
              </a:spcBef>
            </a:pPr>
            <a:r>
              <a:rPr lang="en-US" altLang="zh-CN" sz="2400" b="1"/>
              <a:t>16</a:t>
            </a:r>
            <a:r>
              <a:rPr lang="zh-CN" altLang="en-US" sz="2400" b="1" dirty="0"/>
              <a:t>位通用寄存器：</a:t>
            </a:r>
            <a:endParaRPr lang="zh-CN" altLang="en-US" sz="2400" b="1" dirty="0"/>
          </a:p>
          <a:p>
            <a:pPr algn="just">
              <a:spcBef>
                <a:spcPct val="20000"/>
              </a:spcBef>
            </a:pPr>
            <a:r>
              <a:rPr lang="en-US" altLang="zh-CN" sz="2400" b="1">
                <a:solidFill>
                  <a:srgbClr val="663300"/>
                </a:solidFill>
              </a:rPr>
              <a:t>AX BX CX DX </a:t>
            </a:r>
            <a:r>
              <a:rPr lang="en-US" altLang="zh-CN" sz="2400" b="1"/>
              <a:t>…</a:t>
            </a:r>
            <a:endParaRPr lang="en-US" altLang="zh-CN" sz="2400" b="1">
              <a:solidFill>
                <a:srgbClr val="663300"/>
              </a:solidFill>
            </a:endParaRPr>
          </a:p>
          <a:p>
            <a:pPr algn="just">
              <a:spcBef>
                <a:spcPct val="20000"/>
              </a:spcBef>
            </a:pPr>
            <a:r>
              <a:rPr lang="en-US" altLang="zh-CN" sz="2400" b="1"/>
              <a:t>8</a:t>
            </a:r>
            <a:r>
              <a:rPr lang="zh-CN" altLang="en-US" sz="2400" b="1" dirty="0"/>
              <a:t>位通用寄存器：</a:t>
            </a:r>
            <a:endParaRPr lang="zh-CN" altLang="en-US" sz="2400" b="1" dirty="0"/>
          </a:p>
          <a:p>
            <a:pPr algn="just">
              <a:spcBef>
                <a:spcPct val="20000"/>
              </a:spcBef>
            </a:pPr>
            <a:r>
              <a:rPr lang="en-US" altLang="zh-CN" sz="2400" b="1">
                <a:solidFill>
                  <a:srgbClr val="663300"/>
                </a:solidFill>
              </a:rPr>
              <a:t>AH AL BH BL </a:t>
            </a:r>
            <a:r>
              <a:rPr lang="en-US" altLang="zh-CN" sz="2400" b="1"/>
              <a:t>…</a:t>
            </a:r>
            <a:endParaRPr lang="en-US" altLang="zh-CN" sz="2400" b="1"/>
          </a:p>
          <a:p>
            <a:pPr algn="just">
              <a:spcBef>
                <a:spcPct val="20000"/>
              </a:spcBef>
            </a:pPr>
            <a:r>
              <a:rPr lang="en-US" altLang="zh-CN" sz="2400" b="1"/>
              <a:t>16</a:t>
            </a:r>
            <a:r>
              <a:rPr lang="zh-CN" altLang="en-US" sz="2400" b="1" dirty="0"/>
              <a:t>位段寄存器：</a:t>
            </a:r>
            <a:endParaRPr lang="zh-CN" altLang="en-US" sz="2400" b="1" dirty="0"/>
          </a:p>
          <a:p>
            <a:pPr algn="just">
              <a:spcBef>
                <a:spcPct val="20000"/>
              </a:spcBef>
            </a:pPr>
            <a:r>
              <a:rPr lang="en-US" altLang="zh-CN" sz="2400" b="1">
                <a:solidFill>
                  <a:srgbClr val="663300"/>
                </a:solidFill>
              </a:rPr>
              <a:t>DS CS SS ES </a:t>
            </a:r>
            <a:r>
              <a:rPr lang="en-US" altLang="zh-CN" sz="2400" b="1"/>
              <a:t>…</a:t>
            </a:r>
            <a:r>
              <a:rPr lang="en-US" altLang="zh-CN" sz="2400" b="1">
                <a:solidFill>
                  <a:srgbClr val="663300"/>
                </a:solidFill>
              </a:rPr>
              <a:t> </a:t>
            </a:r>
            <a:endParaRPr lang="en-US" altLang="zh-CN" sz="2400" b="1">
              <a:solidFill>
                <a:srgbClr val="663300"/>
              </a:solidFill>
            </a:endParaRPr>
          </a:p>
        </p:txBody>
      </p:sp>
      <p:sp>
        <p:nvSpPr>
          <p:cNvPr id="5" name="矩形 4"/>
          <p:cNvSpPr/>
          <p:nvPr/>
        </p:nvSpPr>
        <p:spPr>
          <a:xfrm>
            <a:off x="1043305" y="2420620"/>
            <a:ext cx="4248785" cy="460375"/>
          </a:xfrm>
          <a:prstGeom prst="rect">
            <a:avLst/>
          </a:prstGeom>
          <a:solidFill>
            <a:srgbClr val="DDEEFF"/>
          </a:solidFill>
          <a:ln w="25400">
            <a:noFill/>
          </a:ln>
        </p:spPr>
        <p:txBody>
          <a:bodyPr wrap="square">
            <a:spAutoFit/>
          </a:bodyPr>
          <a:lstStyle/>
          <a:p>
            <a:pPr marL="0" lvl="1" algn="l">
              <a:spcBef>
                <a:spcPts val="600"/>
              </a:spcBef>
              <a:spcAft>
                <a:spcPts val="600"/>
              </a:spcAft>
              <a:buClr>
                <a:srgbClr val="0000FF"/>
              </a:buClr>
            </a:pPr>
            <a:r>
              <a:rPr lang="en-US" altLang="zh-CN" sz="2400" b="1" dirty="0" err="1">
                <a:solidFill>
                  <a:schemeClr val="tx1"/>
                </a:solidFill>
                <a:latin typeface="+mn-lt"/>
              </a:rPr>
              <a:t>mov ax, </a:t>
            </a:r>
            <a:r>
              <a:rPr lang="en-US" altLang="zh-CN" sz="2400" b="1" dirty="0" err="1">
                <a:solidFill>
                  <a:srgbClr val="0000FF"/>
                </a:solidFill>
                <a:latin typeface="+mn-lt"/>
              </a:rPr>
              <a:t>[ebx]</a:t>
            </a:r>
            <a:endParaRPr lang="en-US" altLang="zh-CN" sz="2400" b="1" dirty="0" err="1">
              <a:solidFill>
                <a:srgbClr val="0000FF"/>
              </a:solidFill>
              <a:latin typeface="+mn-lt"/>
            </a:endParaRPr>
          </a:p>
        </p:txBody>
      </p:sp>
      <p:sp>
        <p:nvSpPr>
          <p:cNvPr id="9" name="矩形 8"/>
          <p:cNvSpPr/>
          <p:nvPr/>
        </p:nvSpPr>
        <p:spPr>
          <a:xfrm>
            <a:off x="1037590" y="3552190"/>
            <a:ext cx="4248785" cy="460375"/>
          </a:xfrm>
          <a:prstGeom prst="rect">
            <a:avLst/>
          </a:prstGeom>
          <a:solidFill>
            <a:srgbClr val="DDEEFF"/>
          </a:solidFill>
          <a:ln w="25400">
            <a:noFill/>
          </a:ln>
        </p:spPr>
        <p:txBody>
          <a:bodyPr wrap="square">
            <a:spAutoFit/>
          </a:bodyPr>
          <a:lstStyle/>
          <a:p>
            <a:pPr marL="0" lvl="1" algn="l">
              <a:spcBef>
                <a:spcPts val="600"/>
              </a:spcBef>
              <a:spcAft>
                <a:spcPts val="600"/>
              </a:spcAft>
              <a:buClr>
                <a:srgbClr val="0000FF"/>
              </a:buClr>
            </a:pPr>
            <a:r>
              <a:rPr lang="en-US" altLang="zh-CN" sz="2400" b="1" dirty="0" err="1">
                <a:solidFill>
                  <a:schemeClr val="tx1"/>
                </a:solidFill>
                <a:latin typeface="+mn-lt"/>
              </a:rPr>
              <a:t>mov eax, </a:t>
            </a:r>
            <a:r>
              <a:rPr lang="en-US" altLang="zh-CN" sz="2400" b="1" dirty="0" err="1">
                <a:solidFill>
                  <a:srgbClr val="FF0000"/>
                </a:solidFill>
                <a:latin typeface="+mn-lt"/>
              </a:rPr>
              <a:t>[dvar]</a:t>
            </a:r>
            <a:endParaRPr lang="en-US" altLang="zh-CN" sz="2400" b="1" dirty="0" err="1">
              <a:solidFill>
                <a:srgbClr val="FF0000"/>
              </a:solidFill>
              <a:latin typeface="+mn-lt"/>
            </a:endParaRPr>
          </a:p>
        </p:txBody>
      </p:sp>
      <p:sp>
        <p:nvSpPr>
          <p:cNvPr id="10" name="Rounded Rectangular Callout 2"/>
          <p:cNvSpPr/>
          <p:nvPr/>
        </p:nvSpPr>
        <p:spPr bwMode="auto">
          <a:xfrm>
            <a:off x="5286375" y="828675"/>
            <a:ext cx="3550920" cy="1169670"/>
          </a:xfrm>
          <a:prstGeom prst="wedgeRoundRectCallout">
            <a:avLst>
              <a:gd name="adj1" fmla="val -107474"/>
              <a:gd name="adj2" fmla="val 11384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indent="0" algn="just" latinLnBrk="0">
              <a:lnSpc>
                <a:spcPct val="130000"/>
              </a:lnSpc>
            </a:pP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立即数和无变量名指示的存储单元没有明确的类型</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11" name="Rounded Rectangular Callout 2"/>
          <p:cNvSpPr/>
          <p:nvPr/>
        </p:nvSpPr>
        <p:spPr bwMode="auto">
          <a:xfrm>
            <a:off x="1115060" y="4869180"/>
            <a:ext cx="3550920" cy="1442085"/>
          </a:xfrm>
          <a:prstGeom prst="wedgeRoundRectCallout">
            <a:avLst>
              <a:gd name="adj1" fmla="val 1716"/>
              <a:gd name="adj2" fmla="val -108696"/>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indent="0" algn="just" latinLnBrk="0">
              <a:lnSpc>
                <a:spcPct val="130000"/>
              </a:lnSpc>
            </a:pP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有变量名指示的存储单元有明确的类型，即变量本身的</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类型</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MOV</a:t>
            </a:r>
            <a:r>
              <a:rPr lang="zh-CN" altLang="en-US" kern="0" dirty="0">
                <a:solidFill>
                  <a:srgbClr val="000000"/>
                </a:solidFill>
                <a:latin typeface="黑体" panose="02010609060101010101" pitchFamily="49" charset="-122"/>
                <a:cs typeface="+mj-cs"/>
              </a:rPr>
              <a:t>指令举例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68700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539552" y="1519150"/>
            <a:ext cx="8280920" cy="3998082"/>
          </a:xfrm>
          <a:prstGeom prst="rect">
            <a:avLst/>
          </a:prstGeom>
          <a:solidFill>
            <a:srgbClr val="DDEEFF"/>
          </a:solidFill>
          <a:ln w="25400">
            <a:noFill/>
          </a:ln>
        </p:spPr>
        <p:txBody>
          <a:bodyPr wrap="square">
            <a:spAutoFit/>
          </a:bodyPr>
          <a:lstStyle/>
          <a:p>
            <a:pPr>
              <a:lnSpc>
                <a:spcPct val="130000"/>
              </a:lnSpc>
              <a:spcBef>
                <a:spcPts val="300"/>
              </a:spcBef>
            </a:pPr>
            <a:r>
              <a:rPr lang="en-US" altLang="zh-CN" sz="2400" b="1" dirty="0">
                <a:solidFill>
                  <a:srgbClr val="00B050"/>
                </a:solidFill>
                <a:latin typeface="+mn-lt"/>
              </a:rPr>
              <a:t>MOV AL, 050AH	      </a:t>
            </a:r>
            <a:r>
              <a:rPr lang="en-US" altLang="zh-CN" sz="2400" dirty="0">
                <a:solidFill>
                  <a:srgbClr val="FF0000"/>
                </a:solidFill>
                <a:latin typeface="+mn-lt"/>
              </a:rPr>
              <a:t>; </a:t>
            </a:r>
            <a:r>
              <a:rPr lang="zh-CN" altLang="en-US" sz="2400" dirty="0">
                <a:solidFill>
                  <a:srgbClr val="FF0000"/>
                </a:solidFill>
                <a:latin typeface="+mn-lt"/>
              </a:rPr>
              <a:t>错误：类型不一致</a:t>
            </a:r>
            <a:endParaRPr lang="zh-CN" altLang="en-US" sz="2400" dirty="0">
              <a:solidFill>
                <a:srgbClr val="FF0000"/>
              </a:solidFill>
              <a:latin typeface="+mn-lt"/>
            </a:endParaRPr>
          </a:p>
          <a:p>
            <a:pPr>
              <a:lnSpc>
                <a:spcPct val="130000"/>
              </a:lnSpc>
              <a:spcBef>
                <a:spcPts val="300"/>
              </a:spcBef>
            </a:pPr>
            <a:r>
              <a:rPr lang="zh-CN" altLang="en-US" sz="2400" b="1" dirty="0">
                <a:solidFill>
                  <a:srgbClr val="00B050"/>
                </a:solidFill>
                <a:latin typeface="+mn-lt"/>
              </a:rPr>
              <a:t>	                              </a:t>
            </a:r>
            <a:r>
              <a:rPr lang="en-US" altLang="zh-CN" sz="2400" dirty="0">
                <a:solidFill>
                  <a:schemeClr val="tx1"/>
                </a:solidFill>
                <a:latin typeface="+mn-lt"/>
              </a:rPr>
              <a:t>; 050AH</a:t>
            </a:r>
            <a:r>
              <a:rPr lang="zh-CN" altLang="en-US" sz="2400" dirty="0">
                <a:solidFill>
                  <a:schemeClr val="tx1"/>
                </a:solidFill>
                <a:latin typeface="+mn-lt"/>
              </a:rPr>
              <a:t>超过了寄存器</a:t>
            </a:r>
            <a:r>
              <a:rPr lang="en-US" altLang="zh-CN" sz="2400" dirty="0">
                <a:solidFill>
                  <a:schemeClr val="tx1"/>
                </a:solidFill>
                <a:latin typeface="+mn-lt"/>
              </a:rPr>
              <a:t>AL</a:t>
            </a:r>
            <a:r>
              <a:rPr lang="zh-CN" altLang="en-US" sz="2400" dirty="0">
                <a:solidFill>
                  <a:schemeClr val="tx1"/>
                </a:solidFill>
                <a:latin typeface="+mn-lt"/>
              </a:rPr>
              <a:t>范围</a:t>
            </a:r>
            <a:endParaRPr lang="zh-CN" altLang="en-US" sz="2400" dirty="0">
              <a:solidFill>
                <a:schemeClr val="tx1"/>
              </a:solidFill>
              <a:latin typeface="+mn-lt"/>
            </a:endParaRPr>
          </a:p>
          <a:p>
            <a:pPr>
              <a:lnSpc>
                <a:spcPct val="130000"/>
              </a:lnSpc>
              <a:spcBef>
                <a:spcPts val="300"/>
              </a:spcBef>
            </a:pPr>
            <a:r>
              <a:rPr lang="en-US" altLang="zh-CN" sz="2400" b="1" dirty="0">
                <a:solidFill>
                  <a:srgbClr val="00B050"/>
                </a:solidFill>
                <a:latin typeface="+mn-lt"/>
              </a:rPr>
              <a:t>mov </a:t>
            </a:r>
            <a:r>
              <a:rPr lang="en-US" altLang="zh-CN" sz="2400" b="1" dirty="0" err="1">
                <a:solidFill>
                  <a:srgbClr val="00B050"/>
                </a:solidFill>
                <a:latin typeface="+mn-lt"/>
              </a:rPr>
              <a:t>eax</a:t>
            </a:r>
            <a:r>
              <a:rPr lang="en-US" altLang="zh-CN" sz="2400" b="1" dirty="0">
                <a:solidFill>
                  <a:srgbClr val="00B050"/>
                </a:solidFill>
                <a:latin typeface="+mn-lt"/>
              </a:rPr>
              <a:t>, 050ah	      </a:t>
            </a:r>
            <a:r>
              <a:rPr lang="en-US" altLang="zh-CN" sz="2400" dirty="0">
                <a:solidFill>
                  <a:srgbClr val="FF0000"/>
                </a:solidFill>
                <a:latin typeface="+mn-lt"/>
              </a:rPr>
              <a:t>; </a:t>
            </a:r>
            <a:r>
              <a:rPr lang="zh-CN" altLang="en-US" sz="2400" dirty="0">
                <a:solidFill>
                  <a:srgbClr val="FF0000"/>
                </a:solidFill>
                <a:latin typeface="+mn-lt"/>
              </a:rPr>
              <a:t>正确：双字量数据传送</a:t>
            </a:r>
            <a:endParaRPr lang="zh-CN" altLang="en-US" sz="2400" dirty="0">
              <a:solidFill>
                <a:srgbClr val="FF0000"/>
              </a:solidFill>
              <a:latin typeface="+mn-lt"/>
            </a:endParaRPr>
          </a:p>
          <a:p>
            <a:pPr>
              <a:lnSpc>
                <a:spcPct val="130000"/>
              </a:lnSpc>
              <a:spcBef>
                <a:spcPts val="300"/>
              </a:spcBef>
            </a:pPr>
            <a:r>
              <a:rPr lang="en-US" altLang="zh-CN" sz="2400" b="1" dirty="0">
                <a:solidFill>
                  <a:srgbClr val="00B050"/>
                </a:solidFill>
                <a:latin typeface="+mn-lt"/>
              </a:rPr>
              <a:t>			</a:t>
            </a:r>
            <a:r>
              <a:rPr lang="en-US" altLang="zh-CN" sz="2400" b="1" dirty="0">
                <a:solidFill>
                  <a:schemeClr val="tx1"/>
                </a:solidFill>
                <a:latin typeface="+mn-lt"/>
              </a:rPr>
              <a:t>      </a:t>
            </a:r>
            <a:r>
              <a:rPr lang="en-US" altLang="zh-CN" sz="2400" dirty="0">
                <a:solidFill>
                  <a:schemeClr val="tx1"/>
                </a:solidFill>
                <a:latin typeface="+mn-lt"/>
              </a:rPr>
              <a:t>; EAX=0000 050ah</a:t>
            </a:r>
            <a:endParaRPr lang="zh-CN" altLang="en-US" sz="2400" dirty="0">
              <a:solidFill>
                <a:schemeClr val="tx1"/>
              </a:solidFill>
              <a:latin typeface="+mn-lt"/>
            </a:endParaRPr>
          </a:p>
          <a:p>
            <a:pPr>
              <a:lnSpc>
                <a:spcPct val="130000"/>
              </a:lnSpc>
              <a:spcBef>
                <a:spcPts val="300"/>
              </a:spcBef>
            </a:pPr>
            <a:r>
              <a:rPr lang="en-US" altLang="zh-CN" sz="2400" b="1" dirty="0">
                <a:solidFill>
                  <a:srgbClr val="00B050"/>
                </a:solidFill>
                <a:latin typeface="+mn-lt"/>
              </a:rPr>
              <a:t>MOV ESI, DL                 </a:t>
            </a:r>
            <a:r>
              <a:rPr lang="en-US" altLang="zh-CN" sz="2400" dirty="0">
                <a:solidFill>
                  <a:srgbClr val="FF0000"/>
                </a:solidFill>
                <a:latin typeface="+mn-lt"/>
              </a:rPr>
              <a:t>; </a:t>
            </a:r>
            <a:r>
              <a:rPr lang="zh-CN" altLang="en-US" sz="2400" dirty="0">
                <a:solidFill>
                  <a:srgbClr val="FF0000"/>
                </a:solidFill>
                <a:latin typeface="+mn-lt"/>
              </a:rPr>
              <a:t>错误：类型不一致</a:t>
            </a:r>
            <a:endParaRPr lang="zh-CN" altLang="en-US" sz="2400" dirty="0">
              <a:solidFill>
                <a:srgbClr val="FF0000"/>
              </a:solidFill>
              <a:latin typeface="+mn-lt"/>
            </a:endParaRPr>
          </a:p>
          <a:p>
            <a:pPr>
              <a:lnSpc>
                <a:spcPct val="130000"/>
              </a:lnSpc>
              <a:spcBef>
                <a:spcPts val="300"/>
              </a:spcBef>
            </a:pPr>
            <a:r>
              <a:rPr lang="zh-CN" altLang="en-US" sz="2400" b="1" dirty="0">
                <a:solidFill>
                  <a:srgbClr val="00B050"/>
                </a:solidFill>
                <a:latin typeface="+mn-lt"/>
              </a:rPr>
              <a:t>                                  </a:t>
            </a:r>
            <a:r>
              <a:rPr lang="zh-CN" altLang="en-US" sz="1100" b="1" dirty="0">
                <a:solidFill>
                  <a:srgbClr val="00B050"/>
                </a:solidFill>
                <a:latin typeface="+mn-lt"/>
              </a:rPr>
              <a:t> </a:t>
            </a:r>
            <a:r>
              <a:rPr lang="zh-CN" altLang="en-US" sz="2400" b="1" dirty="0">
                <a:solidFill>
                  <a:srgbClr val="00B050"/>
                </a:solidFill>
                <a:latin typeface="+mn-lt"/>
              </a:rPr>
              <a:t>       </a:t>
            </a:r>
            <a:r>
              <a:rPr lang="en-US" altLang="zh-CN" sz="2400" dirty="0">
                <a:solidFill>
                  <a:schemeClr val="tx1"/>
                </a:solidFill>
                <a:latin typeface="+mn-lt"/>
              </a:rPr>
              <a:t>; ESI</a:t>
            </a:r>
            <a:r>
              <a:rPr lang="zh-CN" altLang="en-US" sz="2400" dirty="0">
                <a:solidFill>
                  <a:schemeClr val="tx1"/>
                </a:solidFill>
                <a:latin typeface="+mn-lt"/>
              </a:rPr>
              <a:t>为</a:t>
            </a:r>
            <a:r>
              <a:rPr lang="en-US" altLang="zh-CN" sz="2400" dirty="0">
                <a:solidFill>
                  <a:schemeClr val="tx1"/>
                </a:solidFill>
                <a:latin typeface="+mn-lt"/>
              </a:rPr>
              <a:t>32</a:t>
            </a:r>
            <a:r>
              <a:rPr lang="zh-CN" altLang="en-US" sz="2400" dirty="0">
                <a:solidFill>
                  <a:schemeClr val="tx1"/>
                </a:solidFill>
                <a:latin typeface="+mn-lt"/>
              </a:rPr>
              <a:t>位寄存器，</a:t>
            </a:r>
            <a:r>
              <a:rPr lang="en-US" altLang="zh-CN" sz="2400" dirty="0">
                <a:solidFill>
                  <a:schemeClr val="tx1"/>
                </a:solidFill>
                <a:latin typeface="+mn-lt"/>
              </a:rPr>
              <a:t>DL</a:t>
            </a:r>
            <a:r>
              <a:rPr lang="zh-CN" altLang="en-US" sz="2400" dirty="0">
                <a:solidFill>
                  <a:schemeClr val="tx1"/>
                </a:solidFill>
                <a:latin typeface="+mn-lt"/>
              </a:rPr>
              <a:t>为</a:t>
            </a:r>
            <a:r>
              <a:rPr lang="en-US" altLang="zh-CN" sz="2400" dirty="0">
                <a:solidFill>
                  <a:schemeClr val="tx1"/>
                </a:solidFill>
                <a:latin typeface="+mn-lt"/>
              </a:rPr>
              <a:t>8</a:t>
            </a:r>
            <a:r>
              <a:rPr lang="zh-CN" altLang="en-US" sz="2400" dirty="0">
                <a:solidFill>
                  <a:schemeClr val="tx1"/>
                </a:solidFill>
                <a:latin typeface="+mn-lt"/>
              </a:rPr>
              <a:t>位寄存器</a:t>
            </a:r>
            <a:endParaRPr lang="zh-CN" altLang="en-US" sz="2400" dirty="0">
              <a:solidFill>
                <a:schemeClr val="tx1"/>
              </a:solidFill>
              <a:latin typeface="+mn-lt"/>
            </a:endParaRPr>
          </a:p>
          <a:p>
            <a:pPr>
              <a:lnSpc>
                <a:spcPct val="130000"/>
              </a:lnSpc>
              <a:spcBef>
                <a:spcPts val="300"/>
              </a:spcBef>
            </a:pPr>
            <a:r>
              <a:rPr lang="en-US" altLang="zh-CN" sz="2400" b="1" dirty="0">
                <a:solidFill>
                  <a:srgbClr val="00B050"/>
                </a:solidFill>
                <a:latin typeface="+mn-lt"/>
              </a:rPr>
              <a:t>mov </a:t>
            </a:r>
            <a:r>
              <a:rPr lang="en-US" altLang="zh-CN" sz="2400" b="1" dirty="0" err="1">
                <a:solidFill>
                  <a:srgbClr val="00B050"/>
                </a:solidFill>
                <a:latin typeface="+mn-lt"/>
              </a:rPr>
              <a:t>esi</a:t>
            </a:r>
            <a:r>
              <a:rPr lang="en-US" altLang="zh-CN" sz="2400" b="1" dirty="0">
                <a:solidFill>
                  <a:srgbClr val="00B050"/>
                </a:solidFill>
                <a:latin typeface="+mn-lt"/>
              </a:rPr>
              <a:t>, </a:t>
            </a:r>
            <a:r>
              <a:rPr lang="en-US" altLang="zh-CN" sz="2400" b="1" dirty="0" err="1">
                <a:solidFill>
                  <a:srgbClr val="00B050"/>
                </a:solidFill>
                <a:latin typeface="+mn-lt"/>
              </a:rPr>
              <a:t>edx</a:t>
            </a:r>
            <a:r>
              <a:rPr lang="en-US" altLang="zh-CN" sz="2400" b="1" dirty="0">
                <a:solidFill>
                  <a:srgbClr val="00B050"/>
                </a:solidFill>
                <a:latin typeface="+mn-lt"/>
              </a:rPr>
              <a:t>	      </a:t>
            </a:r>
            <a:r>
              <a:rPr lang="en-US" altLang="zh-CN" sz="1000" b="1" dirty="0">
                <a:solidFill>
                  <a:srgbClr val="00B050"/>
                </a:solidFill>
                <a:latin typeface="+mn-lt"/>
              </a:rPr>
              <a:t> </a:t>
            </a:r>
            <a:r>
              <a:rPr lang="en-US" altLang="zh-CN" sz="2400" b="1" dirty="0">
                <a:solidFill>
                  <a:srgbClr val="00B050"/>
                </a:solidFill>
                <a:latin typeface="+mn-lt"/>
              </a:rPr>
              <a:t>           </a:t>
            </a:r>
            <a:r>
              <a:rPr lang="en-US" altLang="zh-CN" sz="2400" dirty="0">
                <a:solidFill>
                  <a:srgbClr val="FF0000"/>
                </a:solidFill>
                <a:latin typeface="+mn-lt"/>
              </a:rPr>
              <a:t>; </a:t>
            </a:r>
            <a:r>
              <a:rPr lang="zh-CN" altLang="en-US" sz="2400" dirty="0">
                <a:solidFill>
                  <a:srgbClr val="FF0000"/>
                </a:solidFill>
                <a:latin typeface="+mn-lt"/>
              </a:rPr>
              <a:t>正确：两个</a:t>
            </a:r>
            <a:r>
              <a:rPr lang="en-US" altLang="zh-CN" sz="2400" dirty="0">
                <a:solidFill>
                  <a:srgbClr val="FF0000"/>
                </a:solidFill>
                <a:latin typeface="+mn-lt"/>
              </a:rPr>
              <a:t>32</a:t>
            </a:r>
            <a:r>
              <a:rPr lang="zh-CN" altLang="en-US" sz="2400" dirty="0">
                <a:solidFill>
                  <a:srgbClr val="FF0000"/>
                </a:solidFill>
                <a:latin typeface="+mn-lt"/>
              </a:rPr>
              <a:t>位寄存器传送</a:t>
            </a:r>
            <a:endParaRPr lang="zh-CN" altLang="en-US" sz="2400" dirty="0">
              <a:solidFill>
                <a:srgbClr val="FF0000"/>
              </a:solidFill>
              <a:latin typeface="+mn-lt"/>
            </a:endParaRPr>
          </a:p>
          <a:p>
            <a:pPr>
              <a:lnSpc>
                <a:spcPct val="110000"/>
              </a:lnSpc>
            </a:pPr>
            <a:endParaRPr lang="en-US" altLang="zh-CN" sz="2000" b="1" dirty="0">
              <a:latin typeface="+mn-lt"/>
            </a:endParaRPr>
          </a:p>
        </p:txBody>
      </p:sp>
      <p:sp>
        <p:nvSpPr>
          <p:cNvPr id="14" name="内容占位符 2"/>
          <p:cNvSpPr txBox="1"/>
          <p:nvPr/>
        </p:nvSpPr>
        <p:spPr>
          <a:xfrm>
            <a:off x="1979712" y="4365104"/>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5" name="内容占位符 2"/>
          <p:cNvSpPr txBox="1"/>
          <p:nvPr/>
        </p:nvSpPr>
        <p:spPr>
          <a:xfrm>
            <a:off x="2748955" y="1377855"/>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6" name="内容占位符 2"/>
          <p:cNvSpPr txBox="1"/>
          <p:nvPr/>
        </p:nvSpPr>
        <p:spPr>
          <a:xfrm>
            <a:off x="2314811" y="3429000"/>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7" name="内容占位符 2"/>
          <p:cNvSpPr txBox="1"/>
          <p:nvPr/>
        </p:nvSpPr>
        <p:spPr>
          <a:xfrm>
            <a:off x="2407568" y="2329830"/>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8" name="内容占位符 2"/>
          <p:cNvSpPr txBox="1"/>
          <p:nvPr/>
        </p:nvSpPr>
        <p:spPr>
          <a:xfrm>
            <a:off x="467544" y="774229"/>
            <a:ext cx="8136904" cy="5540797"/>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双操作数必须类型一致</a:t>
            </a: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MOV</a:t>
            </a:r>
            <a:r>
              <a:rPr lang="zh-CN" altLang="en-US" kern="0" dirty="0">
                <a:solidFill>
                  <a:srgbClr val="000000"/>
                </a:solidFill>
                <a:latin typeface="黑体" panose="02010609060101010101" pitchFamily="49" charset="-122"/>
                <a:cs typeface="+mj-cs"/>
              </a:rPr>
              <a:t>指令举例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62604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458470" y="1231900"/>
            <a:ext cx="8446135" cy="1965960"/>
          </a:xfrm>
          <a:prstGeom prst="rect">
            <a:avLst/>
          </a:prstGeom>
          <a:solidFill>
            <a:srgbClr val="DDEEFF"/>
          </a:solidFill>
          <a:ln w="25400">
            <a:noFill/>
          </a:ln>
        </p:spPr>
        <p:txBody>
          <a:bodyPr wrap="square">
            <a:spAutoFit/>
          </a:bodyPr>
          <a:lstStyle/>
          <a:p>
            <a:pPr>
              <a:lnSpc>
                <a:spcPct val="130000"/>
              </a:lnSpc>
              <a:spcBef>
                <a:spcPts val="300"/>
              </a:spcBef>
            </a:pPr>
            <a:r>
              <a:rPr lang="en-US" altLang="zh-CN" sz="2200" b="1" dirty="0">
                <a:solidFill>
                  <a:srgbClr val="00B050"/>
                </a:solidFill>
                <a:latin typeface="+mn-lt"/>
              </a:rPr>
              <a:t>MOV [EBX], 255	             </a:t>
            </a:r>
            <a:r>
              <a:rPr lang="en-US" altLang="zh-CN" sz="2200" dirty="0">
                <a:solidFill>
                  <a:srgbClr val="FF0000"/>
                </a:solidFill>
                <a:latin typeface="+mn-lt"/>
              </a:rPr>
              <a:t>; </a:t>
            </a:r>
            <a:r>
              <a:rPr lang="zh-CN" altLang="en-US" sz="2200" dirty="0">
                <a:solidFill>
                  <a:srgbClr val="FF0000"/>
                </a:solidFill>
                <a:latin typeface="+mn-lt"/>
              </a:rPr>
              <a:t>错误：无明确类型 </a:t>
            </a:r>
            <a:r>
              <a:rPr lang="en-US" altLang="zh-CN" sz="2200" dirty="0">
                <a:solidFill>
                  <a:srgbClr val="FF0000"/>
                </a:solidFill>
                <a:latin typeface="+mn-lt"/>
              </a:rPr>
              <a:t>                         </a:t>
            </a:r>
            <a:endParaRPr lang="en-US" altLang="zh-CN" sz="2200" dirty="0">
              <a:solidFill>
                <a:srgbClr val="FF0000"/>
              </a:solidFill>
              <a:latin typeface="+mn-lt"/>
            </a:endParaRPr>
          </a:p>
          <a:p>
            <a:pPr>
              <a:lnSpc>
                <a:spcPct val="130000"/>
              </a:lnSpc>
              <a:spcBef>
                <a:spcPts val="300"/>
              </a:spcBef>
            </a:pPr>
            <a:r>
              <a:rPr lang="en-US" altLang="zh-CN" sz="2200" b="1" dirty="0">
                <a:solidFill>
                  <a:srgbClr val="00B050"/>
                </a:solidFill>
                <a:latin typeface="+mn-lt"/>
              </a:rPr>
              <a:t>mov byte </a:t>
            </a:r>
            <a:r>
              <a:rPr lang="en-US" altLang="zh-CN" sz="2200" b="1" dirty="0" err="1">
                <a:solidFill>
                  <a:srgbClr val="00B050"/>
                </a:solidFill>
                <a:latin typeface="+mn-lt"/>
              </a:rPr>
              <a:t>ptr</a:t>
            </a:r>
            <a:r>
              <a:rPr lang="en-US" altLang="zh-CN" sz="2200" b="1" dirty="0">
                <a:solidFill>
                  <a:srgbClr val="00B050"/>
                </a:solidFill>
                <a:latin typeface="+mn-lt"/>
              </a:rPr>
              <a:t> [</a:t>
            </a:r>
            <a:r>
              <a:rPr lang="en-US" altLang="zh-CN" sz="2200" b="1" dirty="0" err="1">
                <a:solidFill>
                  <a:srgbClr val="00B050"/>
                </a:solidFill>
                <a:latin typeface="+mn-lt"/>
              </a:rPr>
              <a:t>ebx</a:t>
            </a:r>
            <a:r>
              <a:rPr lang="en-US" altLang="zh-CN" sz="2200" b="1" dirty="0">
                <a:solidFill>
                  <a:srgbClr val="00B050"/>
                </a:solidFill>
                <a:latin typeface="+mn-lt"/>
              </a:rPr>
              <a:t>], 255            </a:t>
            </a:r>
            <a:r>
              <a:rPr lang="en-US" altLang="zh-CN" sz="2200" dirty="0">
                <a:solidFill>
                  <a:srgbClr val="FF0000"/>
                </a:solidFill>
                <a:latin typeface="+mn-lt"/>
              </a:rPr>
              <a:t>; </a:t>
            </a:r>
            <a:r>
              <a:rPr lang="zh-CN" altLang="en-US" sz="2200" dirty="0">
                <a:solidFill>
                  <a:srgbClr val="FF0000"/>
                </a:solidFill>
                <a:latin typeface="+mn-lt"/>
              </a:rPr>
              <a:t>正确：</a:t>
            </a:r>
            <a:r>
              <a:rPr lang="en-US" altLang="zh-CN" sz="2200" dirty="0">
                <a:solidFill>
                  <a:srgbClr val="FF0000"/>
                </a:solidFill>
                <a:latin typeface="+mn-lt"/>
              </a:rPr>
              <a:t>BYTE PTR</a:t>
            </a:r>
            <a:r>
              <a:rPr lang="zh-CN" altLang="en-US" sz="2200" dirty="0">
                <a:solidFill>
                  <a:srgbClr val="FF0000"/>
                </a:solidFill>
                <a:latin typeface="+mn-lt"/>
              </a:rPr>
              <a:t>说明是字节操作</a:t>
            </a:r>
            <a:endParaRPr lang="zh-CN" altLang="en-US" sz="2200" dirty="0">
              <a:solidFill>
                <a:srgbClr val="FF0000"/>
              </a:solidFill>
              <a:latin typeface="+mn-lt"/>
            </a:endParaRPr>
          </a:p>
          <a:p>
            <a:pPr>
              <a:lnSpc>
                <a:spcPct val="130000"/>
              </a:lnSpc>
              <a:spcBef>
                <a:spcPts val="300"/>
              </a:spcBef>
            </a:pPr>
            <a:r>
              <a:rPr lang="en-US" altLang="zh-CN" sz="2200" b="1" dirty="0">
                <a:solidFill>
                  <a:srgbClr val="00B050"/>
                </a:solidFill>
                <a:latin typeface="+mn-lt"/>
              </a:rPr>
              <a:t>mov word </a:t>
            </a:r>
            <a:r>
              <a:rPr lang="en-US" altLang="zh-CN" sz="2200" b="1" dirty="0" err="1">
                <a:solidFill>
                  <a:srgbClr val="00B050"/>
                </a:solidFill>
                <a:latin typeface="+mn-lt"/>
              </a:rPr>
              <a:t>ptr</a:t>
            </a:r>
            <a:r>
              <a:rPr lang="en-US" altLang="zh-CN" sz="2200" b="1" dirty="0">
                <a:solidFill>
                  <a:srgbClr val="00B050"/>
                </a:solidFill>
                <a:latin typeface="+mn-lt"/>
              </a:rPr>
              <a:t> [</a:t>
            </a:r>
            <a:r>
              <a:rPr lang="en-US" altLang="zh-CN" sz="2200" b="1" dirty="0" err="1">
                <a:solidFill>
                  <a:srgbClr val="00B050"/>
                </a:solidFill>
                <a:latin typeface="+mn-lt"/>
              </a:rPr>
              <a:t>ebx</a:t>
            </a:r>
            <a:r>
              <a:rPr lang="en-US" altLang="zh-CN" sz="2200" b="1" dirty="0">
                <a:solidFill>
                  <a:srgbClr val="00B050"/>
                </a:solidFill>
                <a:latin typeface="+mn-lt"/>
              </a:rPr>
              <a:t>], 255         </a:t>
            </a:r>
            <a:r>
              <a:rPr lang="en-US" altLang="zh-CN" sz="2200" dirty="0">
                <a:solidFill>
                  <a:srgbClr val="FF0000"/>
                </a:solidFill>
                <a:latin typeface="+mn-lt"/>
              </a:rPr>
              <a:t> ; </a:t>
            </a:r>
            <a:r>
              <a:rPr lang="zh-CN" altLang="en-US" sz="2200" dirty="0">
                <a:solidFill>
                  <a:srgbClr val="FF0000"/>
                </a:solidFill>
                <a:latin typeface="+mn-lt"/>
              </a:rPr>
              <a:t>正确：</a:t>
            </a:r>
            <a:r>
              <a:rPr lang="en-US" altLang="zh-CN" sz="2200" dirty="0">
                <a:solidFill>
                  <a:srgbClr val="FF0000"/>
                </a:solidFill>
                <a:latin typeface="+mn-lt"/>
              </a:rPr>
              <a:t>WORD PTR</a:t>
            </a:r>
            <a:r>
              <a:rPr lang="zh-CN" altLang="en-US" sz="2200" dirty="0">
                <a:solidFill>
                  <a:srgbClr val="FF0000"/>
                </a:solidFill>
                <a:latin typeface="+mn-lt"/>
              </a:rPr>
              <a:t>说明是字操作</a:t>
            </a:r>
            <a:endParaRPr lang="zh-CN" altLang="en-US" sz="2200" dirty="0">
              <a:solidFill>
                <a:srgbClr val="FF0000"/>
              </a:solidFill>
              <a:latin typeface="+mn-lt"/>
            </a:endParaRPr>
          </a:p>
          <a:p>
            <a:pPr>
              <a:lnSpc>
                <a:spcPct val="130000"/>
              </a:lnSpc>
              <a:spcBef>
                <a:spcPts val="300"/>
              </a:spcBef>
            </a:pPr>
            <a:r>
              <a:rPr lang="en-US" altLang="zh-CN" sz="2200" b="1" dirty="0">
                <a:solidFill>
                  <a:srgbClr val="00B050"/>
                </a:solidFill>
                <a:latin typeface="+mn-lt"/>
              </a:rPr>
              <a:t>mov </a:t>
            </a:r>
            <a:r>
              <a:rPr lang="en-US" altLang="zh-CN" sz="2200" b="1" dirty="0" err="1">
                <a:solidFill>
                  <a:srgbClr val="00B050"/>
                </a:solidFill>
                <a:latin typeface="+mn-lt"/>
              </a:rPr>
              <a:t>dword</a:t>
            </a:r>
            <a:r>
              <a:rPr lang="en-US" altLang="zh-CN" sz="2200" b="1" dirty="0">
                <a:solidFill>
                  <a:srgbClr val="00B050"/>
                </a:solidFill>
                <a:latin typeface="+mn-lt"/>
              </a:rPr>
              <a:t> </a:t>
            </a:r>
            <a:r>
              <a:rPr lang="en-US" altLang="zh-CN" sz="2200" b="1" dirty="0" err="1">
                <a:solidFill>
                  <a:srgbClr val="00B050"/>
                </a:solidFill>
                <a:latin typeface="+mn-lt"/>
              </a:rPr>
              <a:t>ptr</a:t>
            </a:r>
            <a:r>
              <a:rPr lang="en-US" altLang="zh-CN" sz="2200" b="1" dirty="0">
                <a:solidFill>
                  <a:srgbClr val="00B050"/>
                </a:solidFill>
                <a:latin typeface="+mn-lt"/>
              </a:rPr>
              <a:t> [</a:t>
            </a:r>
            <a:r>
              <a:rPr lang="en-US" altLang="zh-CN" sz="2200" b="1" dirty="0" err="1">
                <a:solidFill>
                  <a:srgbClr val="00B050"/>
                </a:solidFill>
                <a:latin typeface="+mn-lt"/>
              </a:rPr>
              <a:t>ebx</a:t>
            </a:r>
            <a:r>
              <a:rPr lang="en-US" altLang="zh-CN" sz="2200" b="1" dirty="0">
                <a:solidFill>
                  <a:srgbClr val="00B050"/>
                </a:solidFill>
                <a:latin typeface="+mn-lt"/>
              </a:rPr>
              <a:t>], 255        </a:t>
            </a:r>
            <a:r>
              <a:rPr lang="en-US" altLang="zh-CN" sz="2200" dirty="0">
                <a:solidFill>
                  <a:srgbClr val="FF0000"/>
                </a:solidFill>
                <a:latin typeface="+mn-lt"/>
              </a:rPr>
              <a:t>; </a:t>
            </a:r>
            <a:r>
              <a:rPr lang="zh-CN" altLang="en-US" sz="2200" dirty="0">
                <a:solidFill>
                  <a:srgbClr val="FF0000"/>
                </a:solidFill>
                <a:latin typeface="+mn-lt"/>
              </a:rPr>
              <a:t>正确：</a:t>
            </a:r>
            <a:r>
              <a:rPr lang="en-US" altLang="zh-CN" sz="2200" dirty="0">
                <a:solidFill>
                  <a:srgbClr val="FF0000"/>
                </a:solidFill>
                <a:latin typeface="+mn-lt"/>
              </a:rPr>
              <a:t>DWORD PTR</a:t>
            </a:r>
            <a:r>
              <a:rPr lang="zh-CN" altLang="en-US" sz="2200" dirty="0">
                <a:solidFill>
                  <a:srgbClr val="FF0000"/>
                </a:solidFill>
                <a:latin typeface="+mn-lt"/>
              </a:rPr>
              <a:t>说明是双字操作</a:t>
            </a:r>
            <a:endParaRPr lang="en-US" altLang="zh-CN" sz="2200" dirty="0">
              <a:solidFill>
                <a:srgbClr val="FF0000"/>
              </a:solidFill>
              <a:latin typeface="+mn-lt"/>
            </a:endParaRPr>
          </a:p>
        </p:txBody>
      </p:sp>
      <p:sp>
        <p:nvSpPr>
          <p:cNvPr id="14" name="内容占位符 2"/>
          <p:cNvSpPr txBox="1"/>
          <p:nvPr/>
        </p:nvSpPr>
        <p:spPr>
          <a:xfrm>
            <a:off x="3333889" y="2394064"/>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5" name="内容占位符 2"/>
          <p:cNvSpPr txBox="1"/>
          <p:nvPr/>
        </p:nvSpPr>
        <p:spPr>
          <a:xfrm>
            <a:off x="2605445" y="1090835"/>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7" name="内容占位符 2"/>
          <p:cNvSpPr txBox="1"/>
          <p:nvPr/>
        </p:nvSpPr>
        <p:spPr>
          <a:xfrm>
            <a:off x="3104783" y="1476772"/>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8" name="内容占位符 2"/>
          <p:cNvSpPr txBox="1"/>
          <p:nvPr/>
        </p:nvSpPr>
        <p:spPr>
          <a:xfrm>
            <a:off x="361315" y="621665"/>
            <a:ext cx="8136890" cy="593090"/>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操作数必须有明确的类型</a:t>
            </a:r>
            <a:endParaRPr lang="en-US" altLang="zh-CN" sz="2800" dirty="0">
              <a:latin typeface="+mn-lt"/>
            </a:endParaRPr>
          </a:p>
          <a:p>
            <a:pPr lvl="1" algn="just">
              <a:lnSpc>
                <a:spcPct val="130000"/>
              </a:lnSpc>
              <a:spcBef>
                <a:spcPts val="600"/>
              </a:spcBef>
              <a:buClr>
                <a:srgbClr val="0000FF"/>
              </a:buClr>
            </a:pPr>
            <a:r>
              <a:rPr lang="en-US" altLang="zh-CN" sz="2400" dirty="0">
                <a:solidFill>
                  <a:schemeClr val="tx1"/>
                </a:solidFill>
                <a:latin typeface="+mn-lt"/>
              </a:rPr>
              <a:t> </a:t>
            </a:r>
            <a:endParaRPr lang="en-US" altLang="zh-CN" sz="2400" dirty="0">
              <a:solidFill>
                <a:schemeClr val="tx1"/>
              </a:solidFill>
              <a:latin typeface="+mn-lt"/>
            </a:endParaRPr>
          </a:p>
        </p:txBody>
      </p:sp>
      <p:sp>
        <p:nvSpPr>
          <p:cNvPr id="2" name="内容占位符 2"/>
          <p:cNvSpPr txBox="1"/>
          <p:nvPr/>
        </p:nvSpPr>
        <p:spPr>
          <a:xfrm>
            <a:off x="3204984" y="1910462"/>
            <a:ext cx="868288" cy="773725"/>
          </a:xfrm>
          <a:prstGeom prst="rect">
            <a:avLst/>
          </a:prstGeom>
          <a:noFill/>
        </p:spPr>
        <p:txBody>
          <a:bodyPr/>
          <a:lstStyle/>
          <a:p>
            <a:pPr algn="just">
              <a:spcBef>
                <a:spcPts val="0"/>
              </a:spcBef>
              <a:buClr>
                <a:srgbClr val="0000FF"/>
              </a:buClr>
              <a:buSzPct val="85000"/>
              <a:defRPr/>
            </a:pPr>
            <a:r>
              <a:rPr lang="en-US" altLang="zh-CN" sz="5400" b="1">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4" name="矩形 3"/>
          <p:cNvSpPr/>
          <p:nvPr/>
        </p:nvSpPr>
        <p:spPr>
          <a:xfrm>
            <a:off x="470535" y="4013835"/>
            <a:ext cx="8446135" cy="2406015"/>
          </a:xfrm>
          <a:prstGeom prst="rect">
            <a:avLst/>
          </a:prstGeom>
          <a:solidFill>
            <a:srgbClr val="DDEEFF"/>
          </a:solidFill>
          <a:ln w="25400">
            <a:noFill/>
          </a:ln>
        </p:spPr>
        <p:txBody>
          <a:bodyPr wrap="square">
            <a:spAutoFit/>
          </a:bodyPr>
          <a:lstStyle/>
          <a:p>
            <a:pPr>
              <a:lnSpc>
                <a:spcPct val="130000"/>
              </a:lnSpc>
              <a:spcBef>
                <a:spcPts val="300"/>
              </a:spcBef>
            </a:pPr>
            <a:r>
              <a:rPr lang="en-US" altLang="zh-CN" sz="2200" b="1" dirty="0">
                <a:solidFill>
                  <a:srgbClr val="00B050"/>
                </a:solidFill>
                <a:latin typeface="+mn-lt"/>
              </a:rPr>
              <a:t>MOV [EBX+4], 200	             </a:t>
            </a:r>
            <a:r>
              <a:rPr lang="en-US" altLang="zh-CN" sz="2200" dirty="0">
                <a:solidFill>
                  <a:srgbClr val="FF0000"/>
                </a:solidFill>
                <a:latin typeface="+mn-lt"/>
              </a:rPr>
              <a:t>; </a:t>
            </a:r>
            <a:r>
              <a:rPr lang="zh-CN" altLang="en-US" sz="2200" dirty="0">
                <a:solidFill>
                  <a:srgbClr val="FF0000"/>
                </a:solidFill>
                <a:latin typeface="+mn-lt"/>
              </a:rPr>
              <a:t>错误：无明确类型</a:t>
            </a:r>
            <a:endParaRPr lang="zh-CN" altLang="en-US" sz="2200" dirty="0">
              <a:solidFill>
                <a:srgbClr val="FF0000"/>
              </a:solidFill>
              <a:latin typeface="+mn-lt"/>
            </a:endParaRPr>
          </a:p>
          <a:p>
            <a:pPr>
              <a:lnSpc>
                <a:spcPct val="130000"/>
              </a:lnSpc>
              <a:spcBef>
                <a:spcPts val="300"/>
              </a:spcBef>
            </a:pPr>
            <a:r>
              <a:rPr lang="en-US" altLang="zh-CN" sz="2200" b="1" dirty="0">
                <a:solidFill>
                  <a:srgbClr val="00B050"/>
                </a:solidFill>
                <a:latin typeface="+mn-lt"/>
              </a:rPr>
              <a:t>mov byte </a:t>
            </a:r>
            <a:r>
              <a:rPr lang="en-US" altLang="zh-CN" sz="2200" b="1" dirty="0" err="1">
                <a:solidFill>
                  <a:srgbClr val="00B050"/>
                </a:solidFill>
                <a:latin typeface="+mn-lt"/>
              </a:rPr>
              <a:t>ptr</a:t>
            </a:r>
            <a:r>
              <a:rPr lang="en-US" altLang="zh-CN" sz="2200" b="1" dirty="0">
                <a:solidFill>
                  <a:srgbClr val="00B050"/>
                </a:solidFill>
                <a:latin typeface="+mn-lt"/>
              </a:rPr>
              <a:t> [</a:t>
            </a:r>
            <a:r>
              <a:rPr lang="en-US" altLang="zh-CN" sz="2200" b="1" dirty="0" err="1">
                <a:solidFill>
                  <a:srgbClr val="00B050"/>
                </a:solidFill>
                <a:latin typeface="+mn-lt"/>
              </a:rPr>
              <a:t>ebx+4</a:t>
            </a:r>
            <a:r>
              <a:rPr lang="en-US" altLang="zh-CN" sz="2200" b="1" dirty="0">
                <a:solidFill>
                  <a:srgbClr val="00B050"/>
                </a:solidFill>
                <a:latin typeface="+mn-lt"/>
              </a:rPr>
              <a:t>], 200        </a:t>
            </a:r>
            <a:r>
              <a:rPr lang="en-US" altLang="zh-CN" sz="2200" dirty="0">
                <a:solidFill>
                  <a:srgbClr val="FF0000"/>
                </a:solidFill>
                <a:latin typeface="+mn-lt"/>
              </a:rPr>
              <a:t>; </a:t>
            </a:r>
            <a:r>
              <a:rPr lang="zh-CN" altLang="en-US" sz="2200" dirty="0">
                <a:solidFill>
                  <a:srgbClr val="FF0000"/>
                </a:solidFill>
                <a:latin typeface="+mn-lt"/>
              </a:rPr>
              <a:t>正确：</a:t>
            </a:r>
            <a:r>
              <a:rPr lang="en-US" altLang="zh-CN" sz="2200" dirty="0">
                <a:solidFill>
                  <a:srgbClr val="FF0000"/>
                </a:solidFill>
                <a:latin typeface="+mn-lt"/>
              </a:rPr>
              <a:t>BYTE PTR</a:t>
            </a:r>
            <a:r>
              <a:rPr lang="zh-CN" altLang="en-US" sz="2200" dirty="0">
                <a:solidFill>
                  <a:srgbClr val="FF0000"/>
                </a:solidFill>
                <a:latin typeface="+mn-lt"/>
              </a:rPr>
              <a:t>说明是字节操作</a:t>
            </a:r>
            <a:endParaRPr lang="zh-CN" altLang="en-US" sz="2200" dirty="0">
              <a:solidFill>
                <a:srgbClr val="FF0000"/>
              </a:solidFill>
              <a:latin typeface="+mn-lt"/>
            </a:endParaRPr>
          </a:p>
          <a:p>
            <a:pPr>
              <a:lnSpc>
                <a:spcPct val="130000"/>
              </a:lnSpc>
              <a:spcBef>
                <a:spcPts val="300"/>
              </a:spcBef>
            </a:pPr>
            <a:r>
              <a:rPr lang="en-US" altLang="zh-CN" sz="2200" b="1" dirty="0">
                <a:solidFill>
                  <a:srgbClr val="00B050"/>
                </a:solidFill>
                <a:latin typeface="+mn-lt"/>
              </a:rPr>
              <a:t>mov wvar[</a:t>
            </a:r>
            <a:r>
              <a:rPr lang="en-US" altLang="zh-CN" sz="2200" b="1" dirty="0" err="1">
                <a:solidFill>
                  <a:srgbClr val="00B050"/>
                </a:solidFill>
                <a:latin typeface="+mn-lt"/>
              </a:rPr>
              <a:t>esi</a:t>
            </a:r>
            <a:r>
              <a:rPr lang="en-US" altLang="zh-CN" sz="2200" b="1" dirty="0">
                <a:solidFill>
                  <a:srgbClr val="00B050"/>
                </a:solidFill>
                <a:latin typeface="+mn-lt"/>
              </a:rPr>
              <a:t>], 200         </a:t>
            </a:r>
            <a:r>
              <a:rPr lang="en-US" altLang="zh-CN" sz="2200" dirty="0">
                <a:solidFill>
                  <a:srgbClr val="FF0000"/>
                </a:solidFill>
                <a:latin typeface="+mn-lt"/>
              </a:rPr>
              <a:t>           ; </a:t>
            </a:r>
            <a:r>
              <a:rPr lang="zh-CN" altLang="en-US" sz="2200" dirty="0">
                <a:solidFill>
                  <a:srgbClr val="FF0000"/>
                </a:solidFill>
                <a:latin typeface="+mn-lt"/>
              </a:rPr>
              <a:t>正确：字变量</a:t>
            </a:r>
            <a:r>
              <a:rPr lang="en-US" altLang="zh-CN" sz="2200" dirty="0">
                <a:solidFill>
                  <a:srgbClr val="FF0000"/>
                </a:solidFill>
                <a:latin typeface="+mn-lt"/>
              </a:rPr>
              <a:t>wvar</a:t>
            </a:r>
            <a:r>
              <a:rPr lang="zh-CN" altLang="en-US" sz="2200" dirty="0">
                <a:solidFill>
                  <a:srgbClr val="FF0000"/>
                </a:solidFill>
                <a:latin typeface="+mn-lt"/>
              </a:rPr>
              <a:t>说明是字操作</a:t>
            </a:r>
            <a:endParaRPr lang="zh-CN" altLang="en-US" sz="2200" dirty="0">
              <a:solidFill>
                <a:srgbClr val="FF0000"/>
              </a:solidFill>
              <a:latin typeface="+mn-lt"/>
            </a:endParaRPr>
          </a:p>
          <a:p>
            <a:pPr>
              <a:lnSpc>
                <a:spcPct val="130000"/>
              </a:lnSpc>
              <a:spcBef>
                <a:spcPts val="300"/>
              </a:spcBef>
            </a:pPr>
            <a:r>
              <a:rPr lang="en-US" altLang="zh-CN" sz="2200" b="1" dirty="0">
                <a:solidFill>
                  <a:srgbClr val="00B050"/>
                </a:solidFill>
                <a:latin typeface="+mn-lt"/>
              </a:rPr>
              <a:t>mov </a:t>
            </a:r>
            <a:r>
              <a:rPr lang="en-US" altLang="zh-CN" sz="2200" b="1" dirty="0" err="1">
                <a:solidFill>
                  <a:srgbClr val="00B050"/>
                </a:solidFill>
                <a:latin typeface="+mn-lt"/>
              </a:rPr>
              <a:t>dvar</a:t>
            </a:r>
            <a:r>
              <a:rPr lang="en-US" altLang="zh-CN" sz="2200" b="1" dirty="0">
                <a:solidFill>
                  <a:srgbClr val="00B050"/>
                </a:solidFill>
                <a:latin typeface="+mn-lt"/>
              </a:rPr>
              <a:t>[</a:t>
            </a:r>
            <a:r>
              <a:rPr lang="en-US" altLang="zh-CN" sz="2200" b="1" dirty="0" err="1">
                <a:solidFill>
                  <a:srgbClr val="00B050"/>
                </a:solidFill>
                <a:latin typeface="+mn-lt"/>
              </a:rPr>
              <a:t>e</a:t>
            </a:r>
            <a:r>
              <a:rPr lang="en-US" altLang="zh-CN" sz="2200" b="1" dirty="0" err="1">
                <a:solidFill>
                  <a:srgbClr val="00B050"/>
                </a:solidFill>
                <a:latin typeface="+mn-lt"/>
              </a:rPr>
              <a:t>di*4</a:t>
            </a:r>
            <a:r>
              <a:rPr lang="en-US" altLang="zh-CN" sz="2200" b="1" dirty="0">
                <a:solidFill>
                  <a:srgbClr val="00B050"/>
                </a:solidFill>
                <a:latin typeface="+mn-lt"/>
              </a:rPr>
              <a:t>], 200                 </a:t>
            </a:r>
            <a:r>
              <a:rPr lang="en-US" altLang="zh-CN" sz="2200" dirty="0">
                <a:solidFill>
                  <a:srgbClr val="FF0000"/>
                </a:solidFill>
                <a:latin typeface="+mn-lt"/>
              </a:rPr>
              <a:t>; </a:t>
            </a:r>
            <a:r>
              <a:rPr lang="zh-CN" altLang="en-US" sz="2200" dirty="0">
                <a:solidFill>
                  <a:srgbClr val="FF0000"/>
                </a:solidFill>
                <a:latin typeface="+mn-lt"/>
              </a:rPr>
              <a:t>正确：双字变量</a:t>
            </a:r>
            <a:r>
              <a:rPr lang="en-US" altLang="zh-CN" sz="2200" dirty="0">
                <a:solidFill>
                  <a:srgbClr val="FF0000"/>
                </a:solidFill>
                <a:latin typeface="+mn-lt"/>
              </a:rPr>
              <a:t>dvar</a:t>
            </a:r>
            <a:r>
              <a:rPr lang="zh-CN" altLang="en-US" sz="2200" dirty="0">
                <a:solidFill>
                  <a:srgbClr val="FF0000"/>
                </a:solidFill>
                <a:latin typeface="+mn-lt"/>
              </a:rPr>
              <a:t>说明是双字</a:t>
            </a:r>
            <a:r>
              <a:rPr lang="zh-CN" altLang="en-US" sz="2200" dirty="0">
                <a:solidFill>
                  <a:srgbClr val="FF0000"/>
                </a:solidFill>
                <a:latin typeface="+mn-lt"/>
              </a:rPr>
              <a:t>操作</a:t>
            </a:r>
            <a:endParaRPr lang="zh-CN" altLang="en-US" sz="2200" dirty="0">
              <a:solidFill>
                <a:srgbClr val="FF0000"/>
              </a:solidFill>
              <a:latin typeface="+mn-lt"/>
            </a:endParaRPr>
          </a:p>
        </p:txBody>
      </p:sp>
      <p:sp>
        <p:nvSpPr>
          <p:cNvPr id="5" name="内容占位符 2"/>
          <p:cNvSpPr txBox="1"/>
          <p:nvPr/>
        </p:nvSpPr>
        <p:spPr>
          <a:xfrm>
            <a:off x="2771914" y="5175999"/>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7" name="内容占位符 2"/>
          <p:cNvSpPr txBox="1"/>
          <p:nvPr/>
        </p:nvSpPr>
        <p:spPr>
          <a:xfrm>
            <a:off x="2781975" y="3850545"/>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9" name="内容占位符 2"/>
          <p:cNvSpPr txBox="1"/>
          <p:nvPr/>
        </p:nvSpPr>
        <p:spPr>
          <a:xfrm>
            <a:off x="3403868" y="4258707"/>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0" name="内容占位符 2"/>
          <p:cNvSpPr txBox="1"/>
          <p:nvPr/>
        </p:nvSpPr>
        <p:spPr>
          <a:xfrm>
            <a:off x="2571254" y="4692397"/>
            <a:ext cx="868288" cy="773725"/>
          </a:xfrm>
          <a:prstGeom prst="rect">
            <a:avLst/>
          </a:prstGeom>
          <a:noFill/>
        </p:spPr>
        <p:txBody>
          <a:bodyPr/>
          <a:lstStyle/>
          <a:p>
            <a:pPr algn="just">
              <a:spcBef>
                <a:spcPts val="0"/>
              </a:spcBef>
              <a:buClr>
                <a:srgbClr val="0000FF"/>
              </a:buClr>
              <a:buSzPct val="85000"/>
              <a:defRPr/>
            </a:pPr>
            <a:r>
              <a:rPr lang="en-US" altLang="zh-CN" sz="5400" b="1">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1" name="Rounded Rectangular Callout 2"/>
          <p:cNvSpPr/>
          <p:nvPr/>
        </p:nvSpPr>
        <p:spPr bwMode="auto">
          <a:xfrm>
            <a:off x="459105" y="3295015"/>
            <a:ext cx="8445500" cy="545465"/>
          </a:xfrm>
          <a:prstGeom prst="wedgeRoundRectCallout">
            <a:avLst>
              <a:gd name="adj1" fmla="val -20314"/>
              <a:gd name="adj2" fmla="val 52768"/>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indent="0" algn="ctr" latinLnBrk="0">
              <a:lnSpc>
                <a:spcPct val="130000"/>
              </a:lnSpc>
            </a:pP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立即数和无变量名指示的存储单元没有明确的类型</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12" name="Rounded Rectangular Callout 2"/>
          <p:cNvSpPr/>
          <p:nvPr/>
        </p:nvSpPr>
        <p:spPr bwMode="auto">
          <a:xfrm>
            <a:off x="442595" y="6076950"/>
            <a:ext cx="8445500" cy="545465"/>
          </a:xfrm>
          <a:prstGeom prst="wedgeRoundRectCallout">
            <a:avLst>
              <a:gd name="adj1" fmla="val -20314"/>
              <a:gd name="adj2" fmla="val 52768"/>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indent="0" algn="ctr" latinLnBrk="0">
              <a:lnSpc>
                <a:spcPct val="130000"/>
              </a:lnSpc>
            </a:pP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有变量名指示的存储单元有明确的类型，即变量本身的类型</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MOV</a:t>
            </a:r>
            <a:r>
              <a:rPr lang="zh-CN" altLang="en-US" kern="0" dirty="0">
                <a:solidFill>
                  <a:srgbClr val="000000"/>
                </a:solidFill>
                <a:latin typeface="黑体" panose="02010609060101010101" pitchFamily="49" charset="-122"/>
                <a:cs typeface="+mj-cs"/>
              </a:rPr>
              <a:t>指令举例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68700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539552" y="1519150"/>
            <a:ext cx="8208912" cy="3679190"/>
          </a:xfrm>
          <a:prstGeom prst="rect">
            <a:avLst/>
          </a:prstGeom>
          <a:solidFill>
            <a:srgbClr val="DDEEFF"/>
          </a:solidFill>
          <a:ln w="25400">
            <a:noFill/>
          </a:ln>
        </p:spPr>
        <p:txBody>
          <a:bodyPr wrap="square">
            <a:spAutoFit/>
          </a:bodyPr>
          <a:lstStyle/>
          <a:p>
            <a:pPr>
              <a:lnSpc>
                <a:spcPct val="130000"/>
              </a:lnSpc>
              <a:spcBef>
                <a:spcPts val="300"/>
              </a:spcBef>
            </a:pPr>
            <a:r>
              <a:rPr lang="en-US" altLang="zh-CN" sz="2400" dirty="0">
                <a:solidFill>
                  <a:schemeClr val="tx1"/>
                </a:solidFill>
                <a:latin typeface="+mn-lt"/>
              </a:rPr>
              <a:t>; </a:t>
            </a:r>
            <a:r>
              <a:rPr lang="zh-CN" altLang="en-US" sz="2400" dirty="0">
                <a:solidFill>
                  <a:schemeClr val="tx1"/>
                </a:solidFill>
                <a:latin typeface="+mn-lt"/>
              </a:rPr>
              <a:t>假设</a:t>
            </a:r>
            <a:r>
              <a:rPr lang="en-US" altLang="zh-CN" sz="2400" dirty="0">
                <a:solidFill>
                  <a:schemeClr val="tx1"/>
                </a:solidFill>
                <a:latin typeface="+mn-lt"/>
              </a:rPr>
              <a:t>dbuf1</a:t>
            </a:r>
            <a:r>
              <a:rPr lang="zh-CN" altLang="en-US" sz="2400" dirty="0">
                <a:solidFill>
                  <a:schemeClr val="tx1"/>
                </a:solidFill>
                <a:latin typeface="+mn-lt"/>
              </a:rPr>
              <a:t>和</a:t>
            </a:r>
            <a:r>
              <a:rPr lang="en-US" altLang="zh-CN" sz="2400" dirty="0">
                <a:solidFill>
                  <a:schemeClr val="tx1"/>
                </a:solidFill>
                <a:latin typeface="+mn-lt"/>
              </a:rPr>
              <a:t>dbuf2</a:t>
            </a:r>
            <a:r>
              <a:rPr lang="zh-CN" altLang="en-US" sz="2400" dirty="0">
                <a:solidFill>
                  <a:schemeClr val="tx1"/>
                </a:solidFill>
                <a:latin typeface="+mn-lt"/>
              </a:rPr>
              <a:t>是两个双字变量，</a:t>
            </a:r>
            <a:r>
              <a:rPr lang="zh-CN" altLang="en-US" sz="2400" dirty="0">
                <a:solidFill>
                  <a:srgbClr val="FF0000"/>
                </a:solidFill>
                <a:latin typeface="+mn-lt"/>
              </a:rPr>
              <a:t>变量是存储器操作数</a:t>
            </a:r>
            <a:endParaRPr lang="zh-CN" altLang="en-US" sz="2400" dirty="0">
              <a:solidFill>
                <a:srgbClr val="FF0000"/>
              </a:solidFill>
              <a:latin typeface="+mn-lt"/>
            </a:endParaRPr>
          </a:p>
          <a:p>
            <a:pPr>
              <a:lnSpc>
                <a:spcPct val="130000"/>
              </a:lnSpc>
              <a:spcBef>
                <a:spcPts val="300"/>
              </a:spcBef>
            </a:pPr>
            <a:r>
              <a:rPr lang="en-US" altLang="zh-CN" sz="2400" b="1" dirty="0">
                <a:solidFill>
                  <a:srgbClr val="00B050"/>
                </a:solidFill>
                <a:latin typeface="+mn-lt"/>
              </a:rPr>
              <a:t>MOV [DBUF2], [DBUF1]</a:t>
            </a:r>
            <a:endParaRPr lang="en-US" altLang="zh-CN" sz="2400" b="1" dirty="0">
              <a:solidFill>
                <a:srgbClr val="00B050"/>
              </a:solidFill>
              <a:latin typeface="+mn-lt"/>
            </a:endParaRPr>
          </a:p>
          <a:p>
            <a:pPr>
              <a:lnSpc>
                <a:spcPct val="130000"/>
              </a:lnSpc>
              <a:spcBef>
                <a:spcPts val="300"/>
              </a:spcBef>
            </a:pPr>
            <a:r>
              <a:rPr lang="en-US" altLang="zh-CN" sz="2400" b="1" dirty="0">
                <a:solidFill>
                  <a:srgbClr val="00B050"/>
                </a:solidFill>
                <a:latin typeface="+mn-lt"/>
              </a:rPr>
              <a:t>	         </a:t>
            </a:r>
            <a:r>
              <a:rPr lang="en-US" altLang="zh-CN" sz="2400" dirty="0">
                <a:solidFill>
                  <a:srgbClr val="FF0000"/>
                </a:solidFill>
                <a:latin typeface="+mn-lt"/>
              </a:rPr>
              <a:t>; </a:t>
            </a:r>
            <a:r>
              <a:rPr lang="zh-CN" altLang="en-US" sz="2400" dirty="0">
                <a:solidFill>
                  <a:srgbClr val="FF0000"/>
                </a:solidFill>
                <a:latin typeface="+mn-lt"/>
              </a:rPr>
              <a:t>错误：两个操作数都是存储单元</a:t>
            </a:r>
            <a:endParaRPr lang="zh-CN" altLang="en-US" sz="2400" dirty="0">
              <a:solidFill>
                <a:srgbClr val="FF0000"/>
              </a:solidFill>
              <a:latin typeface="+mn-lt"/>
            </a:endParaRPr>
          </a:p>
          <a:p>
            <a:pPr>
              <a:lnSpc>
                <a:spcPct val="130000"/>
              </a:lnSpc>
              <a:spcBef>
                <a:spcPts val="300"/>
              </a:spcBef>
            </a:pPr>
            <a:r>
              <a:rPr lang="en-US" altLang="zh-CN" sz="2400" b="1" dirty="0">
                <a:solidFill>
                  <a:srgbClr val="00B050"/>
                </a:solidFill>
                <a:latin typeface="+mn-lt"/>
              </a:rPr>
              <a:t>mov eax, [dbuf1]</a:t>
            </a:r>
            <a:endParaRPr lang="en-US" altLang="zh-CN" sz="2400" b="1" dirty="0">
              <a:solidFill>
                <a:srgbClr val="00B050"/>
              </a:solidFill>
              <a:latin typeface="+mn-lt"/>
            </a:endParaRPr>
          </a:p>
          <a:p>
            <a:pPr>
              <a:lnSpc>
                <a:spcPct val="130000"/>
              </a:lnSpc>
              <a:spcBef>
                <a:spcPts val="300"/>
              </a:spcBef>
            </a:pPr>
            <a:r>
              <a:rPr lang="en-US" altLang="zh-CN" sz="2400" b="1" dirty="0">
                <a:solidFill>
                  <a:srgbClr val="00B050"/>
                </a:solidFill>
                <a:latin typeface="+mn-lt"/>
              </a:rPr>
              <a:t>                     </a:t>
            </a:r>
            <a:r>
              <a:rPr lang="en-US" altLang="zh-CN" sz="2400" dirty="0">
                <a:solidFill>
                  <a:schemeClr val="tx1"/>
                </a:solidFill>
                <a:latin typeface="+mn-lt"/>
              </a:rPr>
              <a:t>; </a:t>
            </a:r>
            <a:r>
              <a:rPr lang="zh-CN" altLang="en-US" sz="2400" dirty="0">
                <a:solidFill>
                  <a:schemeClr val="tx1"/>
                </a:solidFill>
                <a:latin typeface="+mn-lt"/>
              </a:rPr>
              <a:t>正确：</a:t>
            </a:r>
            <a:r>
              <a:rPr lang="en-US" altLang="zh-CN" sz="2400" dirty="0">
                <a:solidFill>
                  <a:schemeClr val="tx1"/>
                </a:solidFill>
                <a:latin typeface="+mn-lt"/>
              </a:rPr>
              <a:t>EAX</a:t>
            </a:r>
            <a:r>
              <a:rPr lang="zh-CN" altLang="en-US" sz="2400" dirty="0">
                <a:solidFill>
                  <a:schemeClr val="tx1"/>
                </a:solidFill>
                <a:latin typeface="+mn-lt"/>
              </a:rPr>
              <a:t>＝</a:t>
            </a:r>
            <a:r>
              <a:rPr lang="en-US" altLang="zh-CN" sz="2400" dirty="0">
                <a:solidFill>
                  <a:schemeClr val="tx1"/>
                </a:solidFill>
                <a:latin typeface="+mn-lt"/>
              </a:rPr>
              <a:t>DBUF1</a:t>
            </a:r>
            <a:r>
              <a:rPr lang="zh-CN" altLang="en-US" sz="2400" dirty="0">
                <a:solidFill>
                  <a:schemeClr val="tx1"/>
                </a:solidFill>
                <a:latin typeface="+mn-lt"/>
              </a:rPr>
              <a:t>（将</a:t>
            </a:r>
            <a:r>
              <a:rPr lang="en-US" altLang="zh-CN" sz="2400" dirty="0">
                <a:solidFill>
                  <a:schemeClr val="tx1"/>
                </a:solidFill>
                <a:latin typeface="+mn-lt"/>
              </a:rPr>
              <a:t>DBUF1</a:t>
            </a:r>
            <a:r>
              <a:rPr lang="zh-CN" altLang="en-US" sz="2400" dirty="0">
                <a:solidFill>
                  <a:schemeClr val="tx1"/>
                </a:solidFill>
                <a:latin typeface="+mn-lt"/>
              </a:rPr>
              <a:t>内容送</a:t>
            </a:r>
            <a:r>
              <a:rPr lang="en-US" altLang="zh-CN" sz="2400" dirty="0">
                <a:solidFill>
                  <a:schemeClr val="tx1"/>
                </a:solidFill>
                <a:latin typeface="+mn-lt"/>
              </a:rPr>
              <a:t>EAX</a:t>
            </a:r>
            <a:r>
              <a:rPr lang="zh-CN" altLang="en-US" sz="2400" dirty="0">
                <a:solidFill>
                  <a:schemeClr val="tx1"/>
                </a:solidFill>
                <a:latin typeface="+mn-lt"/>
              </a:rPr>
              <a:t>）</a:t>
            </a:r>
            <a:endParaRPr lang="zh-CN" altLang="en-US" sz="2400" dirty="0">
              <a:solidFill>
                <a:schemeClr val="tx1"/>
              </a:solidFill>
              <a:latin typeface="+mn-lt"/>
            </a:endParaRPr>
          </a:p>
          <a:p>
            <a:pPr>
              <a:lnSpc>
                <a:spcPct val="130000"/>
              </a:lnSpc>
              <a:spcBef>
                <a:spcPts val="300"/>
              </a:spcBef>
            </a:pPr>
            <a:r>
              <a:rPr lang="en-US" altLang="zh-CN" sz="2400" b="1" dirty="0">
                <a:solidFill>
                  <a:srgbClr val="00B050"/>
                </a:solidFill>
                <a:latin typeface="+mn-lt"/>
              </a:rPr>
              <a:t>mov [dbuf2], eax</a:t>
            </a:r>
            <a:endParaRPr lang="en-US" altLang="zh-CN" sz="2400" b="1" dirty="0">
              <a:solidFill>
                <a:srgbClr val="00B050"/>
              </a:solidFill>
              <a:latin typeface="+mn-lt"/>
            </a:endParaRPr>
          </a:p>
          <a:p>
            <a:pPr>
              <a:lnSpc>
                <a:spcPct val="130000"/>
              </a:lnSpc>
              <a:spcBef>
                <a:spcPts val="300"/>
              </a:spcBef>
            </a:pPr>
            <a:r>
              <a:rPr lang="en-US" altLang="zh-CN" sz="2400" b="1" dirty="0">
                <a:solidFill>
                  <a:srgbClr val="00B050"/>
                </a:solidFill>
                <a:latin typeface="+mn-lt"/>
              </a:rPr>
              <a:t>                     </a:t>
            </a:r>
            <a:r>
              <a:rPr lang="en-US" altLang="zh-CN" sz="2400" dirty="0">
                <a:solidFill>
                  <a:schemeClr val="tx1"/>
                </a:solidFill>
                <a:latin typeface="+mn-lt"/>
              </a:rPr>
              <a:t>; </a:t>
            </a:r>
            <a:r>
              <a:rPr lang="zh-CN" altLang="en-US" sz="2400" dirty="0">
                <a:solidFill>
                  <a:schemeClr val="tx1"/>
                </a:solidFill>
                <a:latin typeface="+mn-lt"/>
              </a:rPr>
              <a:t>正确：</a:t>
            </a:r>
            <a:r>
              <a:rPr lang="en-US" altLang="zh-CN" sz="2400" dirty="0">
                <a:solidFill>
                  <a:schemeClr val="tx1"/>
                </a:solidFill>
                <a:latin typeface="+mn-lt"/>
              </a:rPr>
              <a:t>DBUF2</a:t>
            </a:r>
            <a:r>
              <a:rPr lang="zh-CN" altLang="en-US" sz="2400" dirty="0">
                <a:solidFill>
                  <a:schemeClr val="tx1"/>
                </a:solidFill>
                <a:latin typeface="+mn-lt"/>
              </a:rPr>
              <a:t>＝</a:t>
            </a:r>
            <a:r>
              <a:rPr lang="en-US" altLang="zh-CN" sz="2400" dirty="0">
                <a:solidFill>
                  <a:schemeClr val="tx1"/>
                </a:solidFill>
                <a:latin typeface="+mn-lt"/>
              </a:rPr>
              <a:t>EAX</a:t>
            </a:r>
            <a:r>
              <a:rPr lang="zh-CN" altLang="en-US" sz="2400" dirty="0">
                <a:solidFill>
                  <a:schemeClr val="tx1"/>
                </a:solidFill>
                <a:latin typeface="+mn-lt"/>
              </a:rPr>
              <a:t>（将</a:t>
            </a:r>
            <a:r>
              <a:rPr lang="en-US" altLang="zh-CN" sz="2400" dirty="0">
                <a:solidFill>
                  <a:schemeClr val="tx1"/>
                </a:solidFill>
                <a:latin typeface="+mn-lt"/>
              </a:rPr>
              <a:t>EAX</a:t>
            </a:r>
            <a:r>
              <a:rPr lang="zh-CN" altLang="en-US" sz="2400" dirty="0">
                <a:solidFill>
                  <a:schemeClr val="tx1"/>
                </a:solidFill>
                <a:latin typeface="+mn-lt"/>
              </a:rPr>
              <a:t>内容送</a:t>
            </a:r>
            <a:r>
              <a:rPr lang="en-US" altLang="zh-CN" sz="2400" dirty="0">
                <a:solidFill>
                  <a:schemeClr val="tx1"/>
                </a:solidFill>
                <a:latin typeface="+mn-lt"/>
              </a:rPr>
              <a:t>DBUF2</a:t>
            </a:r>
            <a:r>
              <a:rPr lang="zh-CN" altLang="en-US" sz="2400" dirty="0">
                <a:solidFill>
                  <a:schemeClr val="tx1"/>
                </a:solidFill>
                <a:latin typeface="+mn-lt"/>
              </a:rPr>
              <a:t>）</a:t>
            </a:r>
            <a:endParaRPr lang="en-US" altLang="zh-CN" sz="2000" dirty="0">
              <a:solidFill>
                <a:schemeClr val="tx1"/>
              </a:solidFill>
              <a:latin typeface="+mn-lt"/>
            </a:endParaRPr>
          </a:p>
        </p:txBody>
      </p:sp>
      <p:sp>
        <p:nvSpPr>
          <p:cNvPr id="14" name="内容占位符 2"/>
          <p:cNvSpPr txBox="1"/>
          <p:nvPr/>
        </p:nvSpPr>
        <p:spPr>
          <a:xfrm>
            <a:off x="2700876" y="3878560"/>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5" name="内容占位符 2"/>
          <p:cNvSpPr txBox="1"/>
          <p:nvPr/>
        </p:nvSpPr>
        <p:spPr>
          <a:xfrm>
            <a:off x="3994165" y="1872616"/>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7" name="内容占位符 2"/>
          <p:cNvSpPr txBox="1"/>
          <p:nvPr/>
        </p:nvSpPr>
        <p:spPr>
          <a:xfrm>
            <a:off x="2694588" y="2821458"/>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8" name="内容占位符 2"/>
          <p:cNvSpPr txBox="1"/>
          <p:nvPr/>
        </p:nvSpPr>
        <p:spPr>
          <a:xfrm>
            <a:off x="467544" y="783755"/>
            <a:ext cx="8136904" cy="589528"/>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双操作数不允许都是存储单元</a:t>
            </a:r>
            <a:endParaRPr lang="zh-CN" altLang="en-US" sz="2800" dirty="0">
              <a:latin typeface="+mn-lt"/>
            </a:endParaRPr>
          </a:p>
          <a:p>
            <a:pPr lvl="1" algn="just">
              <a:lnSpc>
                <a:spcPct val="130000"/>
              </a:lnSpc>
              <a:spcBef>
                <a:spcPts val="600"/>
              </a:spcBef>
              <a:buClr>
                <a:srgbClr val="0000FF"/>
              </a:buClr>
            </a:pPr>
            <a:endParaRPr lang="zh-CN" altLang="en-US" sz="2400" dirty="0">
              <a:solidFill>
                <a:schemeClr val="tx1"/>
              </a:solidFill>
              <a:latin typeface="+mn-lt"/>
            </a:endParaRPr>
          </a:p>
        </p:txBody>
      </p:sp>
      <p:sp>
        <p:nvSpPr>
          <p:cNvPr id="2" name="AutoShape 4"/>
          <p:cNvSpPr>
            <a:spLocks noChangeArrowheads="1"/>
          </p:cNvSpPr>
          <p:nvPr/>
        </p:nvSpPr>
        <p:spPr bwMode="auto">
          <a:xfrm>
            <a:off x="559137" y="5336955"/>
            <a:ext cx="8208912" cy="617638"/>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3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两个存储器操作数不能直接传送，可以借助寄存器来实现</a:t>
            </a:r>
            <a:endParaRPr lang="en-US" altLang="zh-CN" sz="23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MOV</a:t>
            </a:r>
            <a:r>
              <a:rPr lang="zh-CN" altLang="en-US" kern="0" dirty="0">
                <a:solidFill>
                  <a:srgbClr val="000000"/>
                </a:solidFill>
                <a:latin typeface="黑体" panose="02010609060101010101" pitchFamily="49" charset="-122"/>
                <a:cs typeface="+mj-cs"/>
              </a:rPr>
              <a:t>指令举例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68700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539552" y="1519150"/>
            <a:ext cx="8208912" cy="3014980"/>
          </a:xfrm>
          <a:prstGeom prst="rect">
            <a:avLst/>
          </a:prstGeom>
          <a:solidFill>
            <a:srgbClr val="DDEEFF"/>
          </a:solidFill>
          <a:ln w="25400">
            <a:noFill/>
          </a:ln>
        </p:spPr>
        <p:txBody>
          <a:bodyPr wrap="square">
            <a:spAutoFit/>
          </a:bodyPr>
          <a:lstStyle/>
          <a:p>
            <a:pPr marL="0" indent="0" latinLnBrk="0">
              <a:lnSpc>
                <a:spcPct val="150000"/>
              </a:lnSpc>
              <a:spcBef>
                <a:spcPts val="300"/>
              </a:spcBef>
            </a:pPr>
            <a:r>
              <a:rPr lang="en-US" altLang="zh-CN" sz="2400" dirty="0">
                <a:solidFill>
                  <a:schemeClr val="tx1"/>
                </a:solidFill>
                <a:latin typeface="+mn-lt"/>
              </a:rPr>
              <a:t>; @DATA</a:t>
            </a:r>
            <a:r>
              <a:rPr lang="zh-CN" altLang="en-US" sz="2400" dirty="0">
                <a:solidFill>
                  <a:schemeClr val="tx1"/>
                </a:solidFill>
                <a:latin typeface="+mn-lt"/>
              </a:rPr>
              <a:t>是数据段地址</a:t>
            </a:r>
            <a:endParaRPr lang="zh-CN" altLang="en-US" sz="2400" dirty="0">
              <a:solidFill>
                <a:srgbClr val="FF0000"/>
              </a:solidFill>
              <a:latin typeface="+mn-lt"/>
            </a:endParaRPr>
          </a:p>
          <a:p>
            <a:pPr marL="0" indent="0" latinLnBrk="0">
              <a:lnSpc>
                <a:spcPct val="150000"/>
              </a:lnSpc>
              <a:spcBef>
                <a:spcPts val="300"/>
              </a:spcBef>
            </a:pPr>
            <a:r>
              <a:rPr lang="en-US" altLang="zh-CN" sz="2400" b="1" dirty="0">
                <a:solidFill>
                  <a:srgbClr val="00B050"/>
                </a:solidFill>
                <a:latin typeface="+mn-lt"/>
              </a:rPr>
              <a:t>MOV DS,@DATA</a:t>
            </a:r>
            <a:endParaRPr lang="en-US" altLang="zh-CN" sz="2400" b="1" dirty="0">
              <a:solidFill>
                <a:srgbClr val="00B050"/>
              </a:solidFill>
              <a:latin typeface="+mn-lt"/>
            </a:endParaRPr>
          </a:p>
          <a:p>
            <a:pPr marL="0" indent="0" latinLnBrk="0">
              <a:lnSpc>
                <a:spcPct val="150000"/>
              </a:lnSpc>
              <a:spcBef>
                <a:spcPts val="300"/>
              </a:spcBef>
            </a:pPr>
            <a:r>
              <a:rPr lang="en-US" altLang="zh-CN" sz="2400" b="1" dirty="0">
                <a:solidFill>
                  <a:srgbClr val="00B050"/>
                </a:solidFill>
                <a:latin typeface="+mn-lt"/>
              </a:rPr>
              <a:t>	                           </a:t>
            </a:r>
            <a:r>
              <a:rPr lang="en-US" altLang="zh-CN" sz="2400" dirty="0">
                <a:solidFill>
                  <a:srgbClr val="FF0000"/>
                </a:solidFill>
                <a:latin typeface="+mn-lt"/>
              </a:rPr>
              <a:t>; </a:t>
            </a:r>
            <a:r>
              <a:rPr lang="zh-CN" altLang="en-US" sz="2400" dirty="0">
                <a:solidFill>
                  <a:srgbClr val="FF0000"/>
                </a:solidFill>
                <a:latin typeface="+mn-lt"/>
              </a:rPr>
              <a:t>错误：立即数不能直接传送段寄存器</a:t>
            </a:r>
            <a:endParaRPr lang="zh-CN" altLang="en-US" sz="2400" dirty="0">
              <a:solidFill>
                <a:srgbClr val="FF0000"/>
              </a:solidFill>
              <a:latin typeface="+mn-lt"/>
            </a:endParaRPr>
          </a:p>
          <a:p>
            <a:pPr marL="0" indent="0" latinLnBrk="0">
              <a:lnSpc>
                <a:spcPct val="150000"/>
              </a:lnSpc>
              <a:spcBef>
                <a:spcPts val="300"/>
              </a:spcBef>
            </a:pPr>
            <a:r>
              <a:rPr lang="en-US" altLang="zh-CN" sz="2400" b="1" dirty="0">
                <a:solidFill>
                  <a:srgbClr val="00B050"/>
                </a:solidFill>
                <a:latin typeface="+mn-lt"/>
              </a:rPr>
              <a:t>mov ax, @data</a:t>
            </a:r>
            <a:endParaRPr lang="en-US" altLang="zh-CN" sz="2400" b="1" dirty="0">
              <a:solidFill>
                <a:srgbClr val="00B050"/>
              </a:solidFill>
              <a:latin typeface="+mn-lt"/>
            </a:endParaRPr>
          </a:p>
          <a:p>
            <a:pPr marL="0" indent="0" latinLnBrk="0">
              <a:lnSpc>
                <a:spcPct val="150000"/>
              </a:lnSpc>
              <a:spcBef>
                <a:spcPts val="300"/>
              </a:spcBef>
            </a:pPr>
            <a:r>
              <a:rPr lang="en-US" altLang="zh-CN" sz="2400" b="1" dirty="0">
                <a:solidFill>
                  <a:srgbClr val="00B050"/>
                </a:solidFill>
                <a:latin typeface="+mn-lt"/>
              </a:rPr>
              <a:t>mov ds, ax                      </a:t>
            </a:r>
            <a:r>
              <a:rPr lang="en-US" altLang="zh-CN" sz="2400" dirty="0">
                <a:solidFill>
                  <a:schemeClr val="tx1"/>
                </a:solidFill>
                <a:latin typeface="+mn-lt"/>
              </a:rPr>
              <a:t>; </a:t>
            </a:r>
            <a:r>
              <a:rPr lang="zh-CN" altLang="en-US" sz="2400" dirty="0">
                <a:solidFill>
                  <a:schemeClr val="tx1"/>
                </a:solidFill>
                <a:latin typeface="+mn-lt"/>
              </a:rPr>
              <a:t>正确：通过</a:t>
            </a:r>
            <a:r>
              <a:rPr lang="en-US" altLang="zh-CN" sz="2400" dirty="0">
                <a:solidFill>
                  <a:schemeClr val="tx1"/>
                </a:solidFill>
                <a:latin typeface="+mn-lt"/>
              </a:rPr>
              <a:t>AX</a:t>
            </a:r>
            <a:r>
              <a:rPr lang="zh-CN" altLang="en-US" sz="2400" dirty="0">
                <a:solidFill>
                  <a:schemeClr val="tx1"/>
                </a:solidFill>
                <a:latin typeface="+mn-lt"/>
              </a:rPr>
              <a:t>间接传送给</a:t>
            </a:r>
            <a:r>
              <a:rPr lang="en-US" altLang="zh-CN" sz="2400" dirty="0">
                <a:solidFill>
                  <a:schemeClr val="tx1"/>
                </a:solidFill>
                <a:latin typeface="+mn-lt"/>
              </a:rPr>
              <a:t>DS</a:t>
            </a:r>
            <a:endParaRPr lang="en-US" altLang="zh-CN" sz="2400" dirty="0">
              <a:solidFill>
                <a:schemeClr val="tx1"/>
              </a:solidFill>
              <a:latin typeface="+mn-lt"/>
            </a:endParaRPr>
          </a:p>
        </p:txBody>
      </p:sp>
      <p:sp>
        <p:nvSpPr>
          <p:cNvPr id="14" name="内容占位符 2"/>
          <p:cNvSpPr txBox="1"/>
          <p:nvPr/>
        </p:nvSpPr>
        <p:spPr>
          <a:xfrm>
            <a:off x="1971896" y="3787755"/>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5" name="内容占位符 2"/>
          <p:cNvSpPr txBox="1"/>
          <p:nvPr/>
        </p:nvSpPr>
        <p:spPr>
          <a:xfrm>
            <a:off x="3061350" y="2016126"/>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7" name="内容占位符 2"/>
          <p:cNvSpPr txBox="1"/>
          <p:nvPr/>
        </p:nvSpPr>
        <p:spPr>
          <a:xfrm>
            <a:off x="2407568" y="3180233"/>
            <a:ext cx="868288" cy="773725"/>
          </a:xfrm>
          <a:prstGeom prst="rect">
            <a:avLst/>
          </a:prstGeom>
          <a:noFill/>
        </p:spPr>
        <p:txBody>
          <a:bodyPr/>
          <a:lstStyle/>
          <a:p>
            <a:pPr algn="just">
              <a:spcBef>
                <a:spcPts val="0"/>
              </a:spcBef>
              <a:buClr>
                <a:srgbClr val="0000FF"/>
              </a:buClr>
              <a:buSzPct val="85000"/>
              <a:defRPr/>
            </a:pPr>
            <a:r>
              <a:rPr lang="en-US" altLang="zh-CN" sz="5400" b="1" dirty="0">
                <a:solidFill>
                  <a:srgbClr val="FF0000"/>
                </a:solidFill>
                <a:latin typeface="黑体" panose="02010609060101010101" pitchFamily="49" charset="-122"/>
              </a:rPr>
              <a:t>√</a:t>
            </a:r>
            <a:endParaRPr lang="zh-CN" altLang="en-US" sz="5400" dirty="0">
              <a:solidFill>
                <a:srgbClr val="FF0000"/>
              </a:solidFill>
              <a:latin typeface="+mn-lt"/>
            </a:endParaRPr>
          </a:p>
        </p:txBody>
      </p:sp>
      <p:sp>
        <p:nvSpPr>
          <p:cNvPr id="18" name="内容占位符 2"/>
          <p:cNvSpPr txBox="1"/>
          <p:nvPr/>
        </p:nvSpPr>
        <p:spPr>
          <a:xfrm>
            <a:off x="467544" y="783755"/>
            <a:ext cx="8136904" cy="589528"/>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不可随意操作专用寄存器（段</a:t>
            </a:r>
            <a:r>
              <a:rPr lang="zh-CN" altLang="en-US" sz="2800" dirty="0">
                <a:latin typeface="+mn-lt"/>
              </a:rPr>
              <a:t>寄存器）</a:t>
            </a:r>
            <a:endParaRPr lang="zh-CN" altLang="en-US" sz="2800" dirty="0">
              <a:latin typeface="+mn-lt"/>
            </a:endParaRPr>
          </a:p>
          <a:p>
            <a:pPr lvl="1" algn="just">
              <a:lnSpc>
                <a:spcPct val="130000"/>
              </a:lnSpc>
              <a:spcBef>
                <a:spcPts val="600"/>
              </a:spcBef>
              <a:buClr>
                <a:srgbClr val="0000FF"/>
              </a:buClr>
            </a:pPr>
            <a:endParaRPr lang="zh-CN" altLang="en-US" sz="2400" dirty="0">
              <a:solidFill>
                <a:schemeClr val="tx1"/>
              </a:solidFill>
              <a:latin typeface="+mn-l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68523"/>
            <a:ext cx="8136904" cy="55407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将源操作数和目的操作数内容交换</a:t>
            </a:r>
            <a:endParaRPr lang="zh-CN" altLang="en-US"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通用寄存器与通用寄存器之间</a:t>
            </a:r>
            <a:endParaRPr lang="zh-CN" altLang="en-US"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通用寄存器或存储器之间</a:t>
            </a: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zh-CN" altLang="en-US" sz="32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空操作指令</a:t>
            </a:r>
            <a:r>
              <a:rPr lang="en-US" altLang="zh-CN" sz="2800" dirty="0">
                <a:latin typeface="+mn-lt"/>
              </a:rPr>
              <a:t>NOP</a:t>
            </a:r>
            <a:r>
              <a:rPr lang="zh-CN" altLang="en-US" sz="2800" dirty="0">
                <a:latin typeface="+mn-lt"/>
              </a:rPr>
              <a:t>：</a:t>
            </a:r>
            <a:r>
              <a:rPr lang="en-US" altLang="zh-CN" sz="2800" dirty="0">
                <a:latin typeface="+mn-lt"/>
              </a:rPr>
              <a:t>XCHG EAX,EAX</a:t>
            </a:r>
            <a:endParaRPr lang="en-US" altLang="zh-CN"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处理器执行空操作该指令，需要化费时间，在主存中也要占用一个字节空间</a:t>
            </a:r>
            <a:endParaRPr lang="zh-CN" altLang="en-US"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实现短时间延时</a:t>
            </a:r>
            <a:endParaRPr lang="zh-CN" altLang="en-US"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临时占用代码空间</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交换指令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XCHG</a:t>
            </a:r>
            <a:r>
              <a:rPr kumimoji="1" lang="en-US" altLang="zh-CN" b="0" i="0" u="none" strike="noStrike" kern="0" cap="none" spc="0" normalizeH="0" baseline="0" noProof="0" dirty="0">
                <a:ln>
                  <a:noFill/>
                </a:ln>
                <a:solidFill>
                  <a:srgbClr val="000000"/>
                </a:solidFill>
                <a:effectLst/>
                <a:uLnTx/>
                <a:uFillTx/>
                <a:latin typeface="+mj-lt"/>
                <a:cs typeface="+mj-cs"/>
              </a:rPr>
              <a:t> (Exchange)</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34083" y="2383808"/>
            <a:ext cx="7560840" cy="140523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xchg</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ebx</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xchg</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edx</a:t>
            </a:r>
            <a:r>
              <a:rPr lang="en-US" altLang="zh-CN" sz="2200" b="1" dirty="0">
                <a:solidFill>
                  <a:srgbClr val="00B050"/>
                </a:solidFill>
                <a:latin typeface="+mj-lt"/>
                <a:ea typeface="黑体" panose="02010609060101010101" pitchFamily="49" charset="-122"/>
              </a:rPr>
              <a:t>, [var]</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xchg</a:t>
            </a:r>
            <a:r>
              <a:rPr lang="en-US" altLang="zh-CN" sz="2200" b="1" dirty="0">
                <a:solidFill>
                  <a:srgbClr val="00B050"/>
                </a:solidFill>
                <a:latin typeface="+mj-lt"/>
                <a:ea typeface="黑体" panose="02010609060101010101" pitchFamily="49" charset="-122"/>
              </a:rPr>
              <a:t> al, [</a:t>
            </a:r>
            <a:r>
              <a:rPr lang="en-US" altLang="zh-CN" sz="2200" b="1" dirty="0" err="1">
                <a:solidFill>
                  <a:srgbClr val="00B050"/>
                </a:solidFill>
                <a:latin typeface="+mj-lt"/>
                <a:ea typeface="黑体" panose="02010609060101010101" pitchFamily="49" charset="-122"/>
              </a:rPr>
              <a:t>edi</a:t>
            </a:r>
            <a:r>
              <a:rPr lang="en-US" altLang="zh-CN" sz="2200" b="1" dirty="0">
                <a:solidFill>
                  <a:srgbClr val="00B050"/>
                </a:solidFill>
                <a:latin typeface="+mj-lt"/>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68523"/>
            <a:ext cx="8136904" cy="5540797"/>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堆栈是“先进后出</a:t>
            </a:r>
            <a:r>
              <a:rPr lang="en-US" altLang="zh-CN" sz="2800" dirty="0">
                <a:latin typeface="+mn-lt"/>
              </a:rPr>
              <a:t>FILO”</a:t>
            </a:r>
            <a:r>
              <a:rPr lang="zh-CN" altLang="en-US" sz="2800" dirty="0">
                <a:latin typeface="+mn-lt"/>
              </a:rPr>
              <a:t>的存储区域，只有一个数据出入口，即当前栈顶（不断变化）</a:t>
            </a: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两种基本操作</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数据压进堆栈</a:t>
            </a:r>
            <a:r>
              <a:rPr lang="en-US" altLang="zh-CN" sz="2400" dirty="0">
                <a:solidFill>
                  <a:schemeClr val="tx1"/>
                </a:solidFill>
                <a:latin typeface="+mn-lt"/>
              </a:rPr>
              <a:t>PUSH</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数据弹出堆栈操作</a:t>
            </a:r>
            <a:r>
              <a:rPr lang="en-US" altLang="zh-CN" sz="2400" dirty="0">
                <a:solidFill>
                  <a:schemeClr val="tx1"/>
                </a:solidFill>
                <a:latin typeface="+mn-lt"/>
              </a:rPr>
              <a:t>POP</a:t>
            </a:r>
            <a:endParaRPr lang="zh-CN" altLang="en-US" sz="28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800" dirty="0">
                <a:latin typeface="+mn-lt"/>
              </a:rPr>
              <a:t>SS</a:t>
            </a:r>
            <a:r>
              <a:rPr lang="zh-CN" altLang="en-US" sz="2800" dirty="0">
                <a:latin typeface="+mn-lt"/>
              </a:rPr>
              <a:t>指向堆栈段的起始位置</a:t>
            </a: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800" dirty="0">
                <a:latin typeface="+mn-lt"/>
              </a:rPr>
              <a:t>ESP</a:t>
            </a:r>
            <a:r>
              <a:rPr lang="zh-CN" altLang="en-US" sz="2800" dirty="0">
                <a:latin typeface="+mn-lt"/>
              </a:rPr>
              <a:t>指定</a:t>
            </a:r>
            <a:r>
              <a:rPr lang="zh-CN" altLang="en-US" sz="2800" dirty="0">
                <a:solidFill>
                  <a:srgbClr val="00B050"/>
                </a:solidFill>
                <a:latin typeface="+mn-lt"/>
              </a:rPr>
              <a:t>栈顶</a:t>
            </a:r>
            <a:r>
              <a:rPr lang="en-US" altLang="zh-CN" sz="2800" dirty="0">
                <a:solidFill>
                  <a:srgbClr val="00B050"/>
                </a:solidFill>
                <a:latin typeface="+mn-lt"/>
              </a:rPr>
              <a:t>(Top of the stack)</a:t>
            </a:r>
            <a:endParaRPr lang="zh-CN" altLang="en-US" sz="2800" dirty="0">
              <a:solidFill>
                <a:srgbClr val="00B050"/>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数据进入堆栈，</a:t>
            </a:r>
            <a:r>
              <a:rPr lang="en-US" altLang="zh-CN" sz="2400" dirty="0">
                <a:solidFill>
                  <a:schemeClr val="tx1"/>
                </a:solidFill>
                <a:latin typeface="+mn-lt"/>
              </a:rPr>
              <a:t>ESP</a:t>
            </a:r>
            <a:r>
              <a:rPr lang="zh-CN" altLang="en-US" sz="2400" dirty="0">
                <a:solidFill>
                  <a:schemeClr val="tx1"/>
                </a:solidFill>
                <a:latin typeface="+mn-lt"/>
              </a:rPr>
              <a:t>逐渐减小</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数据依次弹出、</a:t>
            </a:r>
            <a:r>
              <a:rPr lang="en-US" altLang="zh-CN" sz="2400" dirty="0">
                <a:solidFill>
                  <a:schemeClr val="tx1"/>
                </a:solidFill>
                <a:latin typeface="+mn-lt"/>
              </a:rPr>
              <a:t>ESP</a:t>
            </a:r>
            <a:r>
              <a:rPr lang="zh-CN" altLang="en-US" sz="2400" dirty="0">
                <a:solidFill>
                  <a:schemeClr val="tx1"/>
                </a:solidFill>
                <a:latin typeface="+mn-lt"/>
              </a:rPr>
              <a:t>逐渐增大</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33051" y="59424"/>
            <a:ext cx="9551570" cy="849296"/>
          </a:xfrm>
          <a:prstGeom prst="rect">
            <a:avLst/>
          </a:prstGeom>
        </p:spPr>
        <p:txBody>
          <a:bodyPr>
            <a:normAutofit fontScale="92500"/>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3.1.2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堆栈操作指令</a:t>
            </a:r>
            <a:r>
              <a:rPr kumimoji="1" lang="en-US" altLang="zh-CN" b="0" i="0" u="none" strike="noStrike" kern="0" cap="none" spc="0" normalizeH="0" baseline="0" noProof="0" dirty="0">
                <a:ln>
                  <a:noFill/>
                </a:ln>
                <a:solidFill>
                  <a:srgbClr val="000000"/>
                </a:solidFill>
                <a:effectLst/>
                <a:uLnTx/>
                <a:uFillTx/>
                <a:latin typeface="+mj-lt"/>
                <a:cs typeface="+mj-cs"/>
              </a:rPr>
              <a:t>Stack </a:t>
            </a:r>
            <a:r>
              <a:rPr kumimoji="1" lang="en-US" altLang="zh-CN" sz="3200" b="0" i="0" u="none" strike="noStrike" kern="0" cap="none" spc="0" normalizeH="0" baseline="0" noProof="0" dirty="0">
                <a:ln>
                  <a:noFill/>
                </a:ln>
                <a:solidFill>
                  <a:srgbClr val="000000"/>
                </a:solidFill>
                <a:effectLst/>
                <a:uLnTx/>
                <a:uFillTx/>
                <a:latin typeface="+mj-lt"/>
                <a:cs typeface="+mj-cs"/>
              </a:rPr>
              <a:t>manipulation</a:t>
            </a:r>
            <a:r>
              <a:rPr kumimoji="1" lang="en-US" altLang="zh-CN" b="0" i="0" u="none" strike="noStrike" kern="0" cap="none" spc="0" normalizeH="0" baseline="0" noProof="0" dirty="0">
                <a:ln>
                  <a:noFill/>
                </a:ln>
                <a:solidFill>
                  <a:srgbClr val="000000"/>
                </a:solidFill>
                <a:effectLst/>
                <a:uLnTx/>
                <a:uFillTx/>
                <a:latin typeface="+mj-lt"/>
                <a:cs typeface="+mj-cs"/>
              </a:rPr>
              <a:t> instructions</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3" name="Group 4"/>
          <p:cNvGrpSpPr/>
          <p:nvPr/>
        </p:nvGrpSpPr>
        <p:grpSpPr bwMode="auto">
          <a:xfrm rot="10800000">
            <a:off x="6228185" y="3035420"/>
            <a:ext cx="1511300" cy="2016125"/>
            <a:chOff x="4582" y="1548"/>
            <a:chExt cx="952" cy="1270"/>
          </a:xfrm>
        </p:grpSpPr>
        <p:sp>
          <p:nvSpPr>
            <p:cNvPr id="4" name="Rectangle 5"/>
            <p:cNvSpPr>
              <a:spLocks noChangeArrowheads="1"/>
            </p:cNvSpPr>
            <p:nvPr/>
          </p:nvSpPr>
          <p:spPr bwMode="auto">
            <a:xfrm>
              <a:off x="4604" y="1570"/>
              <a:ext cx="907" cy="1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2400" b="0">
                <a:latin typeface="Arial" panose="020B0604020202020204" pitchFamily="34" charset="0"/>
              </a:endParaRPr>
            </a:p>
          </p:txBody>
        </p:sp>
        <p:sp>
          <p:nvSpPr>
            <p:cNvPr id="5" name="Freeform 6"/>
            <p:cNvSpPr/>
            <p:nvPr/>
          </p:nvSpPr>
          <p:spPr bwMode="auto">
            <a:xfrm>
              <a:off x="4582" y="1548"/>
              <a:ext cx="952" cy="1270"/>
            </a:xfrm>
            <a:custGeom>
              <a:avLst/>
              <a:gdLst>
                <a:gd name="T0" fmla="*/ 0 w 1021"/>
                <a:gd name="T1" fmla="*/ 0 h 1610"/>
                <a:gd name="T2" fmla="*/ 0 w 1021"/>
                <a:gd name="T3" fmla="*/ 623 h 1610"/>
                <a:gd name="T4" fmla="*/ 772 w 1021"/>
                <a:gd name="T5" fmla="*/ 623 h 1610"/>
                <a:gd name="T6" fmla="*/ 772 w 1021"/>
                <a:gd name="T7" fmla="*/ 0 h 1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21" h="1610">
                  <a:moveTo>
                    <a:pt x="0" y="0"/>
                  </a:moveTo>
                  <a:lnTo>
                    <a:pt x="0" y="1610"/>
                  </a:lnTo>
                  <a:lnTo>
                    <a:pt x="1021" y="1610"/>
                  </a:lnTo>
                  <a:lnTo>
                    <a:pt x="1021" y="0"/>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 name="Rectangle 7"/>
          <p:cNvSpPr>
            <a:spLocks noChangeArrowheads="1"/>
          </p:cNvSpPr>
          <p:nvPr/>
        </p:nvSpPr>
        <p:spPr bwMode="auto">
          <a:xfrm>
            <a:off x="6277398" y="3079247"/>
            <a:ext cx="1403350" cy="287338"/>
          </a:xfrm>
          <a:prstGeom prst="rect">
            <a:avLst/>
          </a:prstGeom>
          <a:solidFill>
            <a:schemeClr val="bg1">
              <a:lumMod val="90000"/>
            </a:schemeClr>
          </a:solidFill>
          <a:ln w="9525">
            <a:solidFill>
              <a:schemeClr val="tx1"/>
            </a:solidFill>
            <a:miter lim="800000"/>
          </a:ln>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000" dirty="0">
                <a:solidFill>
                  <a:srgbClr val="00B050"/>
                </a:solidFill>
                <a:latin typeface="+mj-lt"/>
              </a:rPr>
              <a:t>Word 1</a:t>
            </a:r>
            <a:endParaRPr lang="en-US" altLang="zh-CN" sz="2000" dirty="0">
              <a:solidFill>
                <a:srgbClr val="00B050"/>
              </a:solidFill>
              <a:latin typeface="+mj-lt"/>
            </a:endParaRPr>
          </a:p>
        </p:txBody>
      </p:sp>
      <p:sp>
        <p:nvSpPr>
          <p:cNvPr id="10" name="Rectangle 8"/>
          <p:cNvSpPr>
            <a:spLocks noChangeArrowheads="1"/>
          </p:cNvSpPr>
          <p:nvPr/>
        </p:nvSpPr>
        <p:spPr bwMode="auto">
          <a:xfrm>
            <a:off x="6277398" y="3420037"/>
            <a:ext cx="1403350" cy="287338"/>
          </a:xfrm>
          <a:prstGeom prst="rect">
            <a:avLst/>
          </a:prstGeom>
          <a:solidFill>
            <a:schemeClr val="bg1">
              <a:lumMod val="90000"/>
            </a:schemeClr>
          </a:solidFill>
          <a:ln w="9525">
            <a:solidFill>
              <a:schemeClr val="tx1"/>
            </a:solidFill>
            <a:miter lim="800000"/>
          </a:ln>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000" dirty="0">
                <a:solidFill>
                  <a:srgbClr val="00B050"/>
                </a:solidFill>
                <a:latin typeface="+mj-lt"/>
              </a:rPr>
              <a:t>Word 2</a:t>
            </a:r>
            <a:endParaRPr lang="en-US" altLang="zh-CN" sz="2000" dirty="0">
              <a:solidFill>
                <a:srgbClr val="00B050"/>
              </a:solidFill>
              <a:latin typeface="+mj-lt"/>
            </a:endParaRPr>
          </a:p>
        </p:txBody>
      </p:sp>
      <p:sp>
        <p:nvSpPr>
          <p:cNvPr id="11" name="Rectangle 9"/>
          <p:cNvSpPr>
            <a:spLocks noChangeArrowheads="1"/>
          </p:cNvSpPr>
          <p:nvPr/>
        </p:nvSpPr>
        <p:spPr bwMode="auto">
          <a:xfrm>
            <a:off x="6277398" y="3765125"/>
            <a:ext cx="1403350" cy="287338"/>
          </a:xfrm>
          <a:prstGeom prst="rect">
            <a:avLst/>
          </a:prstGeom>
          <a:solidFill>
            <a:schemeClr val="bg1">
              <a:lumMod val="90000"/>
            </a:schemeClr>
          </a:solidFill>
          <a:ln w="9525">
            <a:solidFill>
              <a:schemeClr val="tx1"/>
            </a:solidFill>
            <a:miter lim="800000"/>
          </a:ln>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000" dirty="0">
                <a:solidFill>
                  <a:srgbClr val="00B050"/>
                </a:solidFill>
                <a:latin typeface="+mj-lt"/>
              </a:rPr>
              <a:t>Word 3</a:t>
            </a:r>
            <a:endParaRPr lang="en-US" altLang="zh-CN" sz="2000" dirty="0">
              <a:solidFill>
                <a:srgbClr val="00B050"/>
              </a:solidFill>
              <a:latin typeface="+mj-lt"/>
            </a:endParaRPr>
          </a:p>
        </p:txBody>
      </p:sp>
      <p:sp>
        <p:nvSpPr>
          <p:cNvPr id="12" name="Rectangle 10"/>
          <p:cNvSpPr>
            <a:spLocks noChangeArrowheads="1"/>
          </p:cNvSpPr>
          <p:nvPr/>
        </p:nvSpPr>
        <p:spPr bwMode="auto">
          <a:xfrm>
            <a:off x="6277398" y="4115540"/>
            <a:ext cx="1403350" cy="287337"/>
          </a:xfrm>
          <a:prstGeom prst="rect">
            <a:avLst/>
          </a:prstGeom>
          <a:solidFill>
            <a:schemeClr val="bg1">
              <a:lumMod val="90000"/>
            </a:schemeClr>
          </a:solidFill>
          <a:ln w="9525">
            <a:solidFill>
              <a:schemeClr val="tx1"/>
            </a:solidFill>
            <a:miter lim="800000"/>
          </a:ln>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000" dirty="0">
                <a:solidFill>
                  <a:srgbClr val="00B050"/>
                </a:solidFill>
                <a:latin typeface="+mj-lt"/>
              </a:rPr>
              <a:t>Word 4</a:t>
            </a:r>
            <a:endParaRPr lang="en-US" altLang="zh-CN" sz="2000" dirty="0">
              <a:solidFill>
                <a:srgbClr val="00B050"/>
              </a:solidFill>
              <a:latin typeface="+mj-lt"/>
            </a:endParaRPr>
          </a:p>
        </p:txBody>
      </p:sp>
      <p:sp>
        <p:nvSpPr>
          <p:cNvPr id="13" name="Rectangle 11"/>
          <p:cNvSpPr>
            <a:spLocks noChangeArrowheads="1"/>
          </p:cNvSpPr>
          <p:nvPr/>
        </p:nvSpPr>
        <p:spPr bwMode="auto">
          <a:xfrm>
            <a:off x="6277398" y="4456330"/>
            <a:ext cx="1403350" cy="287337"/>
          </a:xfrm>
          <a:prstGeom prst="rect">
            <a:avLst/>
          </a:prstGeom>
          <a:solidFill>
            <a:schemeClr val="bg1">
              <a:lumMod val="90000"/>
            </a:schemeClr>
          </a:solidFill>
          <a:ln w="9525">
            <a:solidFill>
              <a:schemeClr val="tx1"/>
            </a:solidFill>
            <a:miter lim="800000"/>
          </a:ln>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000" dirty="0">
                <a:solidFill>
                  <a:srgbClr val="00B050"/>
                </a:solidFill>
                <a:latin typeface="+mj-lt"/>
              </a:rPr>
              <a:t>Word 5</a:t>
            </a:r>
            <a:endParaRPr lang="en-US" altLang="zh-CN" sz="2000" dirty="0">
              <a:solidFill>
                <a:srgbClr val="00B050"/>
              </a:solidFill>
              <a:latin typeface="+mj-lt"/>
            </a:endParaRPr>
          </a:p>
        </p:txBody>
      </p:sp>
      <p:sp>
        <p:nvSpPr>
          <p:cNvPr id="14" name="Rectangle 12"/>
          <p:cNvSpPr>
            <a:spLocks noChangeArrowheads="1"/>
          </p:cNvSpPr>
          <p:nvPr/>
        </p:nvSpPr>
        <p:spPr bwMode="auto">
          <a:xfrm>
            <a:off x="6084168" y="5161083"/>
            <a:ext cx="1894556" cy="358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8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80000"/>
              </a:lnSpc>
              <a:spcBef>
                <a:spcPct val="0"/>
              </a:spcBef>
              <a:buClrTx/>
              <a:buFontTx/>
              <a:buNone/>
            </a:pPr>
            <a:r>
              <a:rPr lang="en-US" altLang="zh-CN" sz="2400" dirty="0">
                <a:solidFill>
                  <a:srgbClr val="00B050"/>
                </a:solidFill>
                <a:latin typeface="+mj-lt"/>
              </a:rPr>
              <a:t>Pushdown Stack</a:t>
            </a:r>
            <a:endParaRPr lang="en-US" altLang="zh-CN" sz="2400" dirty="0">
              <a:solidFill>
                <a:srgbClr val="00B050"/>
              </a:solidFill>
              <a:latin typeface="+mj-lt"/>
            </a:endParaRPr>
          </a:p>
        </p:txBody>
      </p:sp>
      <p:sp>
        <p:nvSpPr>
          <p:cNvPr id="2" name="Rounded Rectangular Callout 2"/>
          <p:cNvSpPr/>
          <p:nvPr/>
        </p:nvSpPr>
        <p:spPr bwMode="auto">
          <a:xfrm>
            <a:off x="6228184" y="2492896"/>
            <a:ext cx="1541677" cy="434674"/>
          </a:xfrm>
          <a:prstGeom prst="wedgeRoundRectCallout">
            <a:avLst>
              <a:gd name="adj1" fmla="val 7341"/>
              <a:gd name="adj2" fmla="val -46402"/>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倒扣的桶</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19" name="Rectangle 12"/>
          <p:cNvSpPr>
            <a:spLocks noChangeArrowheads="1"/>
          </p:cNvSpPr>
          <p:nvPr/>
        </p:nvSpPr>
        <p:spPr bwMode="auto">
          <a:xfrm>
            <a:off x="7605961" y="3061262"/>
            <a:ext cx="1116013" cy="358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8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80000"/>
              </a:lnSpc>
              <a:spcBef>
                <a:spcPct val="0"/>
              </a:spcBef>
              <a:buClrTx/>
              <a:buFontTx/>
              <a:buNone/>
            </a:pPr>
            <a:r>
              <a:rPr lang="zh-CN" altLang="en-US" sz="2000" b="0" dirty="0">
                <a:solidFill>
                  <a:srgbClr val="FF0000"/>
                </a:solidFill>
                <a:latin typeface="黑体" panose="02010609060101010101" pitchFamily="49" charset="-122"/>
                <a:ea typeface="黑体" panose="02010609060101010101" pitchFamily="49" charset="-122"/>
              </a:rPr>
              <a:t>高地址</a:t>
            </a:r>
            <a:endParaRPr lang="en-US" altLang="zh-CN" sz="2000" b="0" dirty="0">
              <a:solidFill>
                <a:srgbClr val="FF0000"/>
              </a:solidFill>
              <a:latin typeface="黑体" panose="02010609060101010101" pitchFamily="49" charset="-122"/>
              <a:ea typeface="黑体" panose="02010609060101010101" pitchFamily="49" charset="-122"/>
            </a:endParaRPr>
          </a:p>
        </p:txBody>
      </p:sp>
      <p:sp>
        <p:nvSpPr>
          <p:cNvPr id="20" name="Rectangle 12"/>
          <p:cNvSpPr>
            <a:spLocks noChangeArrowheads="1"/>
          </p:cNvSpPr>
          <p:nvPr/>
        </p:nvSpPr>
        <p:spPr bwMode="auto">
          <a:xfrm>
            <a:off x="7596336" y="4438377"/>
            <a:ext cx="1116013" cy="358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8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80000"/>
              </a:lnSpc>
              <a:spcBef>
                <a:spcPct val="0"/>
              </a:spcBef>
              <a:buClrTx/>
              <a:buFontTx/>
              <a:buNone/>
            </a:pPr>
            <a:r>
              <a:rPr lang="zh-CN" altLang="en-US" sz="2000" b="0" dirty="0">
                <a:solidFill>
                  <a:srgbClr val="FF0000"/>
                </a:solidFill>
                <a:latin typeface="黑体" panose="02010609060101010101" pitchFamily="49" charset="-122"/>
                <a:ea typeface="黑体" panose="02010609060101010101" pitchFamily="49" charset="-122"/>
              </a:rPr>
              <a:t>低地址</a:t>
            </a:r>
            <a:endParaRPr lang="en-US" altLang="zh-CN" sz="2000" b="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1000" fill="hold"/>
                                        <p:tgtEl>
                                          <p:spTgt spid="10"/>
                                        </p:tgtEl>
                                        <p:attrNameLst>
                                          <p:attrName>ppt_x</p:attrName>
                                        </p:attrNameLst>
                                      </p:cBhvr>
                                      <p:tavLst>
                                        <p:tav tm="0">
                                          <p:val>
                                            <p:strVal val="#ppt_x"/>
                                          </p:val>
                                        </p:tav>
                                        <p:tav tm="100000">
                                          <p:val>
                                            <p:strVal val="#ppt_x"/>
                                          </p:val>
                                        </p:tav>
                                      </p:tavLst>
                                    </p:anim>
                                    <p:anim calcmode="lin" valueType="num">
                                      <p:cBhvr additive="base">
                                        <p:cTn id="13" dur="1000" fill="hold"/>
                                        <p:tgtEl>
                                          <p:spTgt spid="10"/>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1000" fill="hold"/>
                                        <p:tgtEl>
                                          <p:spTgt spid="11"/>
                                        </p:tgtEl>
                                        <p:attrNameLst>
                                          <p:attrName>ppt_x</p:attrName>
                                        </p:attrNameLst>
                                      </p:cBhvr>
                                      <p:tavLst>
                                        <p:tav tm="0">
                                          <p:val>
                                            <p:strVal val="#ppt_x"/>
                                          </p:val>
                                        </p:tav>
                                        <p:tav tm="100000">
                                          <p:val>
                                            <p:strVal val="#ppt_x"/>
                                          </p:val>
                                        </p:tav>
                                      </p:tavLst>
                                    </p:anim>
                                    <p:anim calcmode="lin" valueType="num">
                                      <p:cBhvr additive="base">
                                        <p:cTn id="18" dur="10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1000" fill="hold"/>
                                        <p:tgtEl>
                                          <p:spTgt spid="12"/>
                                        </p:tgtEl>
                                        <p:attrNameLst>
                                          <p:attrName>ppt_x</p:attrName>
                                        </p:attrNameLst>
                                      </p:cBhvr>
                                      <p:tavLst>
                                        <p:tav tm="0">
                                          <p:val>
                                            <p:strVal val="#ppt_x"/>
                                          </p:val>
                                        </p:tav>
                                        <p:tav tm="100000">
                                          <p:val>
                                            <p:strVal val="#ppt_x"/>
                                          </p:val>
                                        </p:tav>
                                      </p:tavLst>
                                    </p:anim>
                                    <p:anim calcmode="lin" valueType="num">
                                      <p:cBhvr additive="base">
                                        <p:cTn id="23" dur="1000" fill="hold"/>
                                        <p:tgtEl>
                                          <p:spTgt spid="12"/>
                                        </p:tgtEl>
                                        <p:attrNameLst>
                                          <p:attrName>ppt_y</p:attrName>
                                        </p:attrNameLst>
                                      </p:cBhvr>
                                      <p:tavLst>
                                        <p:tav tm="0">
                                          <p:val>
                                            <p:strVal val="1+#ppt_h/2"/>
                                          </p:val>
                                        </p:tav>
                                        <p:tav tm="100000">
                                          <p:val>
                                            <p:strVal val="#ppt_y"/>
                                          </p:val>
                                        </p:tav>
                                      </p:tavLst>
                                    </p:anim>
                                  </p:childTnLst>
                                </p:cTn>
                              </p:par>
                            </p:childTnLst>
                          </p:cTn>
                        </p:par>
                        <p:par>
                          <p:cTn id="24" fill="hold">
                            <p:stCondLst>
                              <p:cond delay="4000"/>
                            </p:stCondLst>
                            <p:childTnLst>
                              <p:par>
                                <p:cTn id="25" presetID="2" presetClass="entr" presetSubtype="4"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1000" fill="hold"/>
                                        <p:tgtEl>
                                          <p:spTgt spid="13"/>
                                        </p:tgtEl>
                                        <p:attrNameLst>
                                          <p:attrName>ppt_x</p:attrName>
                                        </p:attrNameLst>
                                      </p:cBhvr>
                                      <p:tavLst>
                                        <p:tav tm="0">
                                          <p:val>
                                            <p:strVal val="#ppt_x"/>
                                          </p:val>
                                        </p:tav>
                                        <p:tav tm="100000">
                                          <p:val>
                                            <p:strVal val="#ppt_x"/>
                                          </p:val>
                                        </p:tav>
                                      </p:tavLst>
                                    </p:anim>
                                    <p:anim calcmode="lin" valueType="num">
                                      <p:cBhvr additive="base">
                                        <p:cTn id="28"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nodeType="clickEffect">
                                  <p:stCondLst>
                                    <p:cond delay="0"/>
                                  </p:stCondLst>
                                  <p:childTnLst>
                                    <p:anim calcmode="lin" valueType="num">
                                      <p:cBhvr additive="base">
                                        <p:cTn id="32" dur="1000"/>
                                        <p:tgtEl>
                                          <p:spTgt spid="13"/>
                                        </p:tgtEl>
                                        <p:attrNameLst>
                                          <p:attrName>ppt_x</p:attrName>
                                        </p:attrNameLst>
                                      </p:cBhvr>
                                      <p:tavLst>
                                        <p:tav tm="0">
                                          <p:val>
                                            <p:strVal val="ppt_x"/>
                                          </p:val>
                                        </p:tav>
                                        <p:tav tm="100000">
                                          <p:val>
                                            <p:strVal val="ppt_x"/>
                                          </p:val>
                                        </p:tav>
                                      </p:tavLst>
                                    </p:anim>
                                    <p:anim calcmode="lin" valueType="num">
                                      <p:cBhvr additive="base">
                                        <p:cTn id="33" dur="1000"/>
                                        <p:tgtEl>
                                          <p:spTgt spid="13"/>
                                        </p:tgtEl>
                                        <p:attrNameLst>
                                          <p:attrName>ppt_y</p:attrName>
                                        </p:attrNameLst>
                                      </p:cBhvr>
                                      <p:tavLst>
                                        <p:tav tm="0">
                                          <p:val>
                                            <p:strVal val="ppt_y"/>
                                          </p:val>
                                        </p:tav>
                                        <p:tav tm="100000">
                                          <p:val>
                                            <p:strVal val="1+ppt_h/2"/>
                                          </p:val>
                                        </p:tav>
                                      </p:tavLst>
                                    </p:anim>
                                    <p:set>
                                      <p:cBhvr>
                                        <p:cTn id="34" dur="1" fill="hold">
                                          <p:stCondLst>
                                            <p:cond delay="999"/>
                                          </p:stCondLst>
                                        </p:cTn>
                                        <p:tgtEl>
                                          <p:spTgt spid="13"/>
                                        </p:tgtEl>
                                        <p:attrNameLst>
                                          <p:attrName>style.visibility</p:attrName>
                                        </p:attrNameLst>
                                      </p:cBhvr>
                                      <p:to>
                                        <p:strVal val="hidden"/>
                                      </p:to>
                                    </p:set>
                                  </p:childTnLst>
                                </p:cTn>
                              </p:par>
                            </p:childTnLst>
                          </p:cTn>
                        </p:par>
                        <p:par>
                          <p:cTn id="35" fill="hold">
                            <p:stCondLst>
                              <p:cond delay="1000"/>
                            </p:stCondLst>
                            <p:childTnLst>
                              <p:par>
                                <p:cTn id="36" presetID="2" presetClass="exit" presetSubtype="4" fill="hold" nodeType="afterEffect">
                                  <p:stCondLst>
                                    <p:cond delay="0"/>
                                  </p:stCondLst>
                                  <p:childTnLst>
                                    <p:anim calcmode="lin" valueType="num">
                                      <p:cBhvr additive="base">
                                        <p:cTn id="37" dur="1000"/>
                                        <p:tgtEl>
                                          <p:spTgt spid="12"/>
                                        </p:tgtEl>
                                        <p:attrNameLst>
                                          <p:attrName>ppt_x</p:attrName>
                                        </p:attrNameLst>
                                      </p:cBhvr>
                                      <p:tavLst>
                                        <p:tav tm="0">
                                          <p:val>
                                            <p:strVal val="ppt_x"/>
                                          </p:val>
                                        </p:tav>
                                        <p:tav tm="100000">
                                          <p:val>
                                            <p:strVal val="ppt_x"/>
                                          </p:val>
                                        </p:tav>
                                      </p:tavLst>
                                    </p:anim>
                                    <p:anim calcmode="lin" valueType="num">
                                      <p:cBhvr additive="base">
                                        <p:cTn id="38" dur="1000"/>
                                        <p:tgtEl>
                                          <p:spTgt spid="12"/>
                                        </p:tgtEl>
                                        <p:attrNameLst>
                                          <p:attrName>ppt_y</p:attrName>
                                        </p:attrNameLst>
                                      </p:cBhvr>
                                      <p:tavLst>
                                        <p:tav tm="0">
                                          <p:val>
                                            <p:strVal val="ppt_y"/>
                                          </p:val>
                                        </p:tav>
                                        <p:tav tm="100000">
                                          <p:val>
                                            <p:strVal val="1+ppt_h/2"/>
                                          </p:val>
                                        </p:tav>
                                      </p:tavLst>
                                    </p:anim>
                                    <p:set>
                                      <p:cBhvr>
                                        <p:cTn id="39" dur="1" fill="hold">
                                          <p:stCondLst>
                                            <p:cond delay="999"/>
                                          </p:stCondLst>
                                        </p:cTn>
                                        <p:tgtEl>
                                          <p:spTgt spid="12"/>
                                        </p:tgtEl>
                                        <p:attrNameLst>
                                          <p:attrName>style.visibility</p:attrName>
                                        </p:attrNameLst>
                                      </p:cBhvr>
                                      <p:to>
                                        <p:strVal val="hidden"/>
                                      </p:to>
                                    </p:set>
                                  </p:childTnLst>
                                </p:cTn>
                              </p:par>
                            </p:childTnLst>
                          </p:cTn>
                        </p:par>
                        <p:par>
                          <p:cTn id="40" fill="hold">
                            <p:stCondLst>
                              <p:cond delay="2000"/>
                            </p:stCondLst>
                            <p:childTnLst>
                              <p:par>
                                <p:cTn id="41" presetID="2" presetClass="exit" presetSubtype="4" fill="hold" nodeType="afterEffect">
                                  <p:stCondLst>
                                    <p:cond delay="0"/>
                                  </p:stCondLst>
                                  <p:childTnLst>
                                    <p:anim calcmode="lin" valueType="num">
                                      <p:cBhvr additive="base">
                                        <p:cTn id="42" dur="1000"/>
                                        <p:tgtEl>
                                          <p:spTgt spid="11"/>
                                        </p:tgtEl>
                                        <p:attrNameLst>
                                          <p:attrName>ppt_x</p:attrName>
                                        </p:attrNameLst>
                                      </p:cBhvr>
                                      <p:tavLst>
                                        <p:tav tm="0">
                                          <p:val>
                                            <p:strVal val="ppt_x"/>
                                          </p:val>
                                        </p:tav>
                                        <p:tav tm="100000">
                                          <p:val>
                                            <p:strVal val="ppt_x"/>
                                          </p:val>
                                        </p:tav>
                                      </p:tavLst>
                                    </p:anim>
                                    <p:anim calcmode="lin" valueType="num">
                                      <p:cBhvr additive="base">
                                        <p:cTn id="43" dur="1000"/>
                                        <p:tgtEl>
                                          <p:spTgt spid="11"/>
                                        </p:tgtEl>
                                        <p:attrNameLst>
                                          <p:attrName>ppt_y</p:attrName>
                                        </p:attrNameLst>
                                      </p:cBhvr>
                                      <p:tavLst>
                                        <p:tav tm="0">
                                          <p:val>
                                            <p:strVal val="ppt_y"/>
                                          </p:val>
                                        </p:tav>
                                        <p:tav tm="100000">
                                          <p:val>
                                            <p:strVal val="1+ppt_h/2"/>
                                          </p:val>
                                        </p:tav>
                                      </p:tavLst>
                                    </p:anim>
                                    <p:set>
                                      <p:cBhvr>
                                        <p:cTn id="44" dur="1" fill="hold">
                                          <p:stCondLst>
                                            <p:cond delay="999"/>
                                          </p:stCondLst>
                                        </p:cTn>
                                        <p:tgtEl>
                                          <p:spTgt spid="11"/>
                                        </p:tgtEl>
                                        <p:attrNameLst>
                                          <p:attrName>style.visibility</p:attrName>
                                        </p:attrNameLst>
                                      </p:cBhvr>
                                      <p:to>
                                        <p:strVal val="hidden"/>
                                      </p:to>
                                    </p:set>
                                  </p:childTnLst>
                                </p:cTn>
                              </p:par>
                            </p:childTnLst>
                          </p:cTn>
                        </p:par>
                        <p:par>
                          <p:cTn id="45" fill="hold">
                            <p:stCondLst>
                              <p:cond delay="3000"/>
                            </p:stCondLst>
                            <p:childTnLst>
                              <p:par>
                                <p:cTn id="46" presetID="2" presetClass="exit" presetSubtype="4" fill="hold" nodeType="afterEffect">
                                  <p:stCondLst>
                                    <p:cond delay="0"/>
                                  </p:stCondLst>
                                  <p:childTnLst>
                                    <p:anim calcmode="lin" valueType="num">
                                      <p:cBhvr additive="base">
                                        <p:cTn id="47" dur="1000"/>
                                        <p:tgtEl>
                                          <p:spTgt spid="10"/>
                                        </p:tgtEl>
                                        <p:attrNameLst>
                                          <p:attrName>ppt_x</p:attrName>
                                        </p:attrNameLst>
                                      </p:cBhvr>
                                      <p:tavLst>
                                        <p:tav tm="0">
                                          <p:val>
                                            <p:strVal val="ppt_x"/>
                                          </p:val>
                                        </p:tav>
                                        <p:tav tm="100000">
                                          <p:val>
                                            <p:strVal val="ppt_x"/>
                                          </p:val>
                                        </p:tav>
                                      </p:tavLst>
                                    </p:anim>
                                    <p:anim calcmode="lin" valueType="num">
                                      <p:cBhvr additive="base">
                                        <p:cTn id="48" dur="1000"/>
                                        <p:tgtEl>
                                          <p:spTgt spid="10"/>
                                        </p:tgtEl>
                                        <p:attrNameLst>
                                          <p:attrName>ppt_y</p:attrName>
                                        </p:attrNameLst>
                                      </p:cBhvr>
                                      <p:tavLst>
                                        <p:tav tm="0">
                                          <p:val>
                                            <p:strVal val="ppt_y"/>
                                          </p:val>
                                        </p:tav>
                                        <p:tav tm="100000">
                                          <p:val>
                                            <p:strVal val="1+ppt_h/2"/>
                                          </p:val>
                                        </p:tav>
                                      </p:tavLst>
                                    </p:anim>
                                    <p:set>
                                      <p:cBhvr>
                                        <p:cTn id="49" dur="1" fill="hold">
                                          <p:stCondLst>
                                            <p:cond delay="999"/>
                                          </p:stCondLst>
                                        </p:cTn>
                                        <p:tgtEl>
                                          <p:spTgt spid="10"/>
                                        </p:tgtEl>
                                        <p:attrNameLst>
                                          <p:attrName>style.visibility</p:attrName>
                                        </p:attrNameLst>
                                      </p:cBhvr>
                                      <p:to>
                                        <p:strVal val="hidden"/>
                                      </p:to>
                                    </p:set>
                                  </p:childTnLst>
                                </p:cTn>
                              </p:par>
                            </p:childTnLst>
                          </p:cTn>
                        </p:par>
                        <p:par>
                          <p:cTn id="50" fill="hold">
                            <p:stCondLst>
                              <p:cond delay="4000"/>
                            </p:stCondLst>
                            <p:childTnLst>
                              <p:par>
                                <p:cTn id="51" presetID="2" presetClass="exit" presetSubtype="4" fill="hold" nodeType="afterEffect">
                                  <p:stCondLst>
                                    <p:cond delay="0"/>
                                  </p:stCondLst>
                                  <p:childTnLst>
                                    <p:anim calcmode="lin" valueType="num">
                                      <p:cBhvr additive="base">
                                        <p:cTn id="52" dur="1000"/>
                                        <p:tgtEl>
                                          <p:spTgt spid="9"/>
                                        </p:tgtEl>
                                        <p:attrNameLst>
                                          <p:attrName>ppt_x</p:attrName>
                                        </p:attrNameLst>
                                      </p:cBhvr>
                                      <p:tavLst>
                                        <p:tav tm="0">
                                          <p:val>
                                            <p:strVal val="ppt_x"/>
                                          </p:val>
                                        </p:tav>
                                        <p:tav tm="100000">
                                          <p:val>
                                            <p:strVal val="ppt_x"/>
                                          </p:val>
                                        </p:tav>
                                      </p:tavLst>
                                    </p:anim>
                                    <p:anim calcmode="lin" valueType="num">
                                      <p:cBhvr additive="base">
                                        <p:cTn id="53" dur="1000"/>
                                        <p:tgtEl>
                                          <p:spTgt spid="9"/>
                                        </p:tgtEl>
                                        <p:attrNameLst>
                                          <p:attrName>ppt_y</p:attrName>
                                        </p:attrNameLst>
                                      </p:cBhvr>
                                      <p:tavLst>
                                        <p:tav tm="0">
                                          <p:val>
                                            <p:strVal val="ppt_y"/>
                                          </p:val>
                                        </p:tav>
                                        <p:tav tm="100000">
                                          <p:val>
                                            <p:strVal val="1+ppt_h/2"/>
                                          </p:val>
                                        </p:tav>
                                      </p:tavLst>
                                    </p:anim>
                                    <p:set>
                                      <p:cBhvr>
                                        <p:cTn id="54"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IA-32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处理器堆栈操作</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16809"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Picture 8" descr="fig030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536" y="1834314"/>
            <a:ext cx="8537773"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p:nvPr/>
        </p:nvSpPr>
        <p:spPr>
          <a:xfrm>
            <a:off x="251520" y="652218"/>
            <a:ext cx="8681789" cy="12516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把堆栈想象成一个倒扣的桶，栈底是高地址，进栈数据增多</a:t>
            </a:r>
            <a:r>
              <a:rPr lang="en-US" altLang="zh-CN" sz="2800" dirty="0">
                <a:latin typeface="+mn-lt"/>
              </a:rPr>
              <a:t>ESP(</a:t>
            </a:r>
            <a:r>
              <a:rPr lang="zh-CN" altLang="en-US" sz="2800" dirty="0">
                <a:latin typeface="+mn-lt"/>
              </a:rPr>
              <a:t>栈顶</a:t>
            </a:r>
            <a:r>
              <a:rPr lang="en-US" altLang="zh-CN" sz="2800" dirty="0">
                <a:latin typeface="+mn-lt"/>
              </a:rPr>
              <a:t>)</a:t>
            </a:r>
            <a:r>
              <a:rPr lang="zh-CN" altLang="en-US" sz="2800" dirty="0">
                <a:latin typeface="+mn-lt"/>
              </a:rPr>
              <a:t>下移</a:t>
            </a: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3" name="Rounded Rectangular Callout 2"/>
          <p:cNvSpPr/>
          <p:nvPr/>
        </p:nvSpPr>
        <p:spPr bwMode="auto">
          <a:xfrm>
            <a:off x="3563888" y="4498610"/>
            <a:ext cx="2016224" cy="414013"/>
          </a:xfrm>
          <a:prstGeom prst="wedgeRoundRectCallout">
            <a:avLst>
              <a:gd name="adj1" fmla="val 49630"/>
              <a:gd name="adj2" fmla="val 2261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栈顶是低地址</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7" name="矩形: 圆角 6"/>
          <p:cNvSpPr/>
          <p:nvPr/>
        </p:nvSpPr>
        <p:spPr bwMode="auto">
          <a:xfrm>
            <a:off x="3275856" y="2947942"/>
            <a:ext cx="720080" cy="360040"/>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rPr>
              <a:t>    </a:t>
            </a:r>
            <a:endParaRPr kumimoji="1" lang="zh-CN" altLang="en-US" sz="3600" b="0"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endParaRPr>
          </a:p>
        </p:txBody>
      </p:sp>
      <p:sp>
        <p:nvSpPr>
          <p:cNvPr id="10" name="矩形: 圆角 9"/>
          <p:cNvSpPr/>
          <p:nvPr/>
        </p:nvSpPr>
        <p:spPr bwMode="auto">
          <a:xfrm>
            <a:off x="8196283" y="2947942"/>
            <a:ext cx="720080" cy="360040"/>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1" name="矩形: 圆角 10"/>
          <p:cNvSpPr/>
          <p:nvPr/>
        </p:nvSpPr>
        <p:spPr bwMode="auto">
          <a:xfrm>
            <a:off x="5292080" y="2103096"/>
            <a:ext cx="720080" cy="360040"/>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2" name="矩形: 圆角 11"/>
          <p:cNvSpPr/>
          <p:nvPr/>
        </p:nvSpPr>
        <p:spPr bwMode="auto">
          <a:xfrm>
            <a:off x="5311330" y="5401206"/>
            <a:ext cx="720080" cy="360040"/>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3" name="矩形: 圆角 12"/>
          <p:cNvSpPr/>
          <p:nvPr/>
        </p:nvSpPr>
        <p:spPr bwMode="auto">
          <a:xfrm>
            <a:off x="376286" y="2093471"/>
            <a:ext cx="720080" cy="360040"/>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4" name="矩形: 圆角 13"/>
          <p:cNvSpPr/>
          <p:nvPr/>
        </p:nvSpPr>
        <p:spPr bwMode="auto">
          <a:xfrm>
            <a:off x="385911" y="5401206"/>
            <a:ext cx="720080" cy="360040"/>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692696"/>
            <a:ext cx="8136904" cy="55407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先将</a:t>
            </a:r>
            <a:r>
              <a:rPr lang="en-US" altLang="zh-CN" sz="2800" dirty="0">
                <a:latin typeface="+mn-lt"/>
              </a:rPr>
              <a:t>ESP</a:t>
            </a:r>
            <a:r>
              <a:rPr lang="zh-CN" altLang="en-US" sz="2800" dirty="0">
                <a:latin typeface="+mn-lt"/>
              </a:rPr>
              <a:t>减小作为当前栈顶，然后将源操作数</a:t>
            </a:r>
            <a:r>
              <a:rPr lang="en-US" altLang="zh-CN" sz="2800" dirty="0">
                <a:latin typeface="+mn-lt"/>
              </a:rPr>
              <a:t>(</a:t>
            </a:r>
            <a:r>
              <a:rPr lang="zh-CN" altLang="en-US" sz="2800" dirty="0">
                <a:latin typeface="+mn-lt"/>
              </a:rPr>
              <a:t>立即数、通用寄存器和段寄存器内容或存储器操作数</a:t>
            </a:r>
            <a:r>
              <a:rPr lang="en-US" altLang="zh-CN" sz="2800" dirty="0">
                <a:latin typeface="+mn-lt"/>
              </a:rPr>
              <a:t>)</a:t>
            </a:r>
            <a:r>
              <a:rPr lang="zh-CN" altLang="en-US" sz="2800" dirty="0">
                <a:latin typeface="+mn-lt"/>
              </a:rPr>
              <a:t>传送到当前栈顶</a:t>
            </a:r>
            <a:r>
              <a:rPr lang="en-US" altLang="zh-CN" sz="2800" dirty="0">
                <a:latin typeface="+mn-lt"/>
              </a:rPr>
              <a:t>(Push data into the stack)</a:t>
            </a: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zh-CN" altLang="en-US"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IA-32</a:t>
            </a:r>
            <a:r>
              <a:rPr lang="zh-CN" altLang="en-US" sz="2800" dirty="0">
                <a:latin typeface="+mn-lt"/>
              </a:rPr>
              <a:t>处理器的堆栈</a:t>
            </a:r>
            <a:r>
              <a:rPr lang="zh-CN" altLang="en-US" sz="2800" dirty="0">
                <a:solidFill>
                  <a:srgbClr val="FF0000"/>
                </a:solidFill>
                <a:latin typeface="+mn-lt"/>
              </a:rPr>
              <a:t>只能以字或双字为单位操作</a:t>
            </a:r>
            <a:endParaRPr lang="en-US" altLang="zh-CN" sz="28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进栈双字量数据时，</a:t>
            </a:r>
            <a:r>
              <a:rPr lang="en-US" altLang="zh-CN" sz="2400" dirty="0">
                <a:solidFill>
                  <a:schemeClr val="tx1"/>
                </a:solidFill>
                <a:latin typeface="+mn-lt"/>
              </a:rPr>
              <a:t>ESP</a:t>
            </a:r>
            <a:r>
              <a:rPr lang="zh-CN" altLang="en-US" sz="2400" dirty="0">
                <a:solidFill>
                  <a:schemeClr val="tx1"/>
                </a:solidFill>
                <a:latin typeface="+mn-lt"/>
              </a:rPr>
              <a:t>减</a:t>
            </a:r>
            <a:r>
              <a:rPr lang="en-US" altLang="zh-CN" sz="2400" dirty="0">
                <a:solidFill>
                  <a:schemeClr val="tx1"/>
                </a:solidFill>
                <a:latin typeface="+mn-lt"/>
              </a:rPr>
              <a:t>4</a:t>
            </a: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进栈字量数据时，</a:t>
            </a:r>
            <a:r>
              <a:rPr lang="en-US" altLang="zh-CN" sz="2400" dirty="0">
                <a:solidFill>
                  <a:schemeClr val="tx1"/>
                </a:solidFill>
                <a:latin typeface="+mn-lt"/>
              </a:rPr>
              <a:t>ESP</a:t>
            </a:r>
            <a:r>
              <a:rPr lang="zh-CN" altLang="en-US" sz="2400" dirty="0">
                <a:solidFill>
                  <a:schemeClr val="tx1"/>
                </a:solidFill>
                <a:latin typeface="+mn-lt"/>
              </a:rPr>
              <a:t>减</a:t>
            </a:r>
            <a:r>
              <a:rPr lang="en-US" altLang="zh-CN" sz="2400" dirty="0">
                <a:solidFill>
                  <a:schemeClr val="tx1"/>
                </a:solidFill>
                <a:latin typeface="+mn-lt"/>
              </a:rPr>
              <a:t>2</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进栈指令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PUSH</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33780" y="2493010"/>
            <a:ext cx="7560945" cy="1504950"/>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400" b="1" dirty="0">
                <a:solidFill>
                  <a:srgbClr val="00B050"/>
                </a:solidFill>
                <a:latin typeface="+mj-lt"/>
                <a:ea typeface="黑体" panose="02010609060101010101" pitchFamily="49" charset="-122"/>
              </a:rPr>
              <a:t>push </a:t>
            </a:r>
            <a:r>
              <a:rPr lang="en-US" altLang="zh-CN" sz="2400" b="1" dirty="0" err="1">
                <a:solidFill>
                  <a:srgbClr val="00B050"/>
                </a:solidFill>
                <a:latin typeface="+mj-lt"/>
                <a:ea typeface="黑体" panose="02010609060101010101" pitchFamily="49" charset="-122"/>
              </a:rPr>
              <a:t>r16/m16/i16/seg</a:t>
            </a:r>
            <a:endParaRPr lang="en-US" altLang="zh-CN" sz="2400" b="1" dirty="0" err="1">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400" b="1" dirty="0" err="1">
                <a:solidFill>
                  <a:srgbClr val="00B050"/>
                </a:solidFill>
                <a:latin typeface="+mj-lt"/>
                <a:ea typeface="黑体" panose="02010609060101010101" pitchFamily="49" charset="-122"/>
              </a:rPr>
              <a:t>     </a:t>
            </a:r>
            <a:r>
              <a:rPr lang="en-US" altLang="zh-CN" sz="2400" b="1" dirty="0">
                <a:solidFill>
                  <a:srgbClr val="00B050"/>
                </a:solidFill>
                <a:latin typeface="+mj-lt"/>
                <a:ea typeface="黑体" panose="02010609060101010101" pitchFamily="49" charset="-122"/>
                <a:sym typeface="+mn-ea"/>
              </a:rPr>
              <a:t>push </a:t>
            </a:r>
            <a:r>
              <a:rPr lang="en-US" altLang="zh-CN" sz="2400" b="1" dirty="0" err="1">
                <a:solidFill>
                  <a:srgbClr val="00B050"/>
                </a:solidFill>
                <a:latin typeface="+mj-lt"/>
                <a:ea typeface="黑体" panose="02010609060101010101" pitchFamily="49" charset="-122"/>
                <a:sym typeface="+mn-ea"/>
              </a:rPr>
              <a:t>r32/m32/i32</a:t>
            </a:r>
            <a:endParaRPr lang="en-US" altLang="zh-CN" sz="2400" b="1" dirty="0" err="1">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400" b="1" dirty="0">
                <a:solidFill>
                  <a:srgbClr val="FF0000"/>
                </a:solidFill>
                <a:latin typeface="+mj-lt"/>
                <a:ea typeface="黑体" panose="02010609060101010101" pitchFamily="49" charset="-122"/>
              </a:rPr>
              <a:t>     ① ESP</a:t>
            </a:r>
            <a:r>
              <a:rPr lang="zh-CN" altLang="en-US" sz="2400" b="1" dirty="0">
                <a:solidFill>
                  <a:srgbClr val="FF0000"/>
                </a:solidFill>
                <a:latin typeface="+mj-lt"/>
                <a:ea typeface="黑体" panose="02010609060101010101" pitchFamily="49" charset="-122"/>
              </a:rPr>
              <a:t>＝</a:t>
            </a:r>
            <a:r>
              <a:rPr lang="en-US" altLang="zh-CN" sz="2400" b="1" dirty="0">
                <a:solidFill>
                  <a:srgbClr val="FF0000"/>
                </a:solidFill>
                <a:latin typeface="+mj-lt"/>
                <a:ea typeface="黑体" panose="02010609060101010101" pitchFamily="49" charset="-122"/>
              </a:rPr>
              <a:t>ESP</a:t>
            </a:r>
            <a:r>
              <a:rPr lang="zh-CN" altLang="en-US" sz="2400" b="1" dirty="0">
                <a:solidFill>
                  <a:srgbClr val="FF0000"/>
                </a:solidFill>
                <a:latin typeface="+mj-lt"/>
                <a:ea typeface="黑体" panose="02010609060101010101" pitchFamily="49" charset="-122"/>
              </a:rPr>
              <a:t>－</a:t>
            </a:r>
            <a:r>
              <a:rPr lang="en-US" altLang="zh-CN" sz="2400" b="1" dirty="0">
                <a:solidFill>
                  <a:srgbClr val="FF0000"/>
                </a:solidFill>
                <a:latin typeface="+mj-lt"/>
                <a:ea typeface="黑体" panose="02010609060101010101" pitchFamily="49" charset="-122"/>
              </a:rPr>
              <a:t>4 (2)       </a:t>
            </a:r>
            <a:r>
              <a:rPr lang="zh-CN" altLang="en-US" sz="2400" b="1" dirty="0">
                <a:solidFill>
                  <a:srgbClr val="FF0000"/>
                </a:solidFill>
                <a:latin typeface="+mj-lt"/>
                <a:ea typeface="黑体" panose="02010609060101010101" pitchFamily="49" charset="-122"/>
              </a:rPr>
              <a:t>	② </a:t>
            </a:r>
            <a:r>
              <a:rPr lang="en-US" altLang="zh-CN" sz="2400" b="1" dirty="0">
                <a:solidFill>
                  <a:srgbClr val="FF0000"/>
                </a:solidFill>
                <a:latin typeface="+mj-lt"/>
                <a:ea typeface="黑体" panose="02010609060101010101" pitchFamily="49" charset="-122"/>
              </a:rPr>
              <a:t>SS:[ESP]</a:t>
            </a:r>
            <a:r>
              <a:rPr lang="zh-CN" altLang="en-US" sz="2400" b="1" dirty="0">
                <a:solidFill>
                  <a:srgbClr val="FF0000"/>
                </a:solidFill>
                <a:latin typeface="+mj-lt"/>
                <a:ea typeface="黑体" panose="02010609060101010101" pitchFamily="49" charset="-122"/>
              </a:rPr>
              <a:t>＝</a:t>
            </a:r>
            <a:r>
              <a:rPr lang="en-US" altLang="zh-CN" sz="2400" b="1" dirty="0" err="1">
                <a:solidFill>
                  <a:srgbClr val="FF0000"/>
                </a:solidFill>
                <a:latin typeface="+mj-lt"/>
                <a:ea typeface="黑体" panose="02010609060101010101" pitchFamily="49" charset="-122"/>
              </a:rPr>
              <a:t>src</a:t>
            </a:r>
            <a:r>
              <a:rPr lang="en-US" altLang="zh-CN" sz="2400" b="1" dirty="0">
                <a:solidFill>
                  <a:srgbClr val="FF0000"/>
                </a:solidFill>
                <a:latin typeface="+mj-lt"/>
                <a:ea typeface="黑体" panose="02010609060101010101" pitchFamily="49" charset="-122"/>
              </a:rPr>
              <a:t> </a:t>
            </a:r>
            <a:endParaRPr lang="en-US" altLang="zh-CN" sz="2400" b="1" dirty="0">
              <a:solidFill>
                <a:srgbClr val="FF0000"/>
              </a:solidFill>
              <a:latin typeface="+mj-lt"/>
              <a:ea typeface="黑体" panose="02010609060101010101" pitchFamily="49" charset="-122"/>
            </a:endParaRPr>
          </a:p>
        </p:txBody>
      </p:sp>
      <p:sp>
        <p:nvSpPr>
          <p:cNvPr id="3" name="Rectangle 3"/>
          <p:cNvSpPr>
            <a:spLocks noChangeArrowheads="1"/>
          </p:cNvSpPr>
          <p:nvPr/>
        </p:nvSpPr>
        <p:spPr bwMode="auto">
          <a:xfrm>
            <a:off x="1043608" y="5506695"/>
            <a:ext cx="7560840" cy="100811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400" b="1" dirty="0">
                <a:solidFill>
                  <a:srgbClr val="00B050"/>
                </a:solidFill>
                <a:latin typeface="+mj-lt"/>
                <a:ea typeface="黑体" panose="02010609060101010101" pitchFamily="49" charset="-122"/>
              </a:rPr>
              <a:t>push </a:t>
            </a:r>
            <a:r>
              <a:rPr lang="en-US" altLang="zh-CN" sz="2400" b="1" dirty="0" err="1">
                <a:solidFill>
                  <a:srgbClr val="00B050"/>
                </a:solidFill>
                <a:latin typeface="+mj-lt"/>
                <a:ea typeface="黑体" panose="02010609060101010101" pitchFamily="49" charset="-122"/>
              </a:rPr>
              <a:t>eax                         </a:t>
            </a:r>
            <a:r>
              <a:rPr lang="en-US" altLang="zh-CN" sz="2400" dirty="0" err="1">
                <a:solidFill>
                  <a:schemeClr val="tx1"/>
                </a:solidFill>
                <a:latin typeface="+mj-lt"/>
                <a:ea typeface="黑体" panose="02010609060101010101" pitchFamily="49" charset="-122"/>
              </a:rPr>
              <a:t>; eax</a:t>
            </a:r>
            <a:r>
              <a:rPr lang="zh-CN" altLang="en-US" sz="2400" dirty="0" err="1">
                <a:solidFill>
                  <a:schemeClr val="tx1"/>
                </a:solidFill>
                <a:latin typeface="+mj-lt"/>
                <a:ea typeface="黑体" panose="02010609060101010101" pitchFamily="49" charset="-122"/>
              </a:rPr>
              <a:t>进</a:t>
            </a:r>
            <a:r>
              <a:rPr lang="zh-CN" altLang="en-US" sz="2400" dirty="0">
                <a:solidFill>
                  <a:schemeClr val="tx1"/>
                </a:solidFill>
                <a:latin typeface="+mj-lt"/>
                <a:ea typeface="黑体" panose="02010609060101010101" pitchFamily="49" charset="-122"/>
                <a:sym typeface="+mn-ea"/>
              </a:rPr>
              <a:t>栈</a:t>
            </a:r>
            <a:r>
              <a:rPr lang="zh-CN" altLang="en-US" sz="2400" dirty="0" err="1">
                <a:solidFill>
                  <a:schemeClr val="tx1"/>
                </a:solidFill>
                <a:latin typeface="+mj-lt"/>
                <a:ea typeface="黑体" panose="02010609060101010101" pitchFamily="49" charset="-122"/>
              </a:rPr>
              <a:t>，</a:t>
            </a:r>
            <a:r>
              <a:rPr lang="en-US" altLang="zh-CN" sz="2400" dirty="0" err="1">
                <a:solidFill>
                  <a:schemeClr val="tx1"/>
                </a:solidFill>
                <a:latin typeface="+mj-lt"/>
                <a:ea typeface="黑体" panose="02010609060101010101" pitchFamily="49" charset="-122"/>
              </a:rPr>
              <a:t>ESP</a:t>
            </a:r>
            <a:r>
              <a:rPr lang="zh-CN" altLang="en-US" sz="2400" dirty="0" err="1">
                <a:solidFill>
                  <a:schemeClr val="tx1"/>
                </a:solidFill>
                <a:latin typeface="+mj-lt"/>
                <a:ea typeface="黑体" panose="02010609060101010101" pitchFamily="49" charset="-122"/>
              </a:rPr>
              <a:t>减</a:t>
            </a:r>
            <a:r>
              <a:rPr lang="en-US" altLang="zh-CN" sz="2400" dirty="0" err="1">
                <a:solidFill>
                  <a:schemeClr val="tx1"/>
                </a:solidFill>
                <a:latin typeface="+mj-lt"/>
                <a:ea typeface="黑体" panose="02010609060101010101" pitchFamily="49" charset="-122"/>
              </a:rPr>
              <a:t>4</a:t>
            </a:r>
            <a:endParaRPr lang="en-US" altLang="zh-CN" sz="24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400" b="1" dirty="0">
                <a:solidFill>
                  <a:srgbClr val="00B050"/>
                </a:solidFill>
                <a:latin typeface="+mj-lt"/>
                <a:ea typeface="黑体" panose="02010609060101010101" pitchFamily="49" charset="-122"/>
              </a:rPr>
              <a:t>     push </a:t>
            </a:r>
            <a:r>
              <a:rPr lang="en-US" altLang="zh-CN" sz="2400" b="1" dirty="0" err="1">
                <a:solidFill>
                  <a:srgbClr val="00B050"/>
                </a:solidFill>
                <a:latin typeface="+mj-lt"/>
                <a:ea typeface="黑体" panose="02010609060101010101" pitchFamily="49" charset="-122"/>
              </a:rPr>
              <a:t>word</a:t>
            </a:r>
            <a:r>
              <a:rPr lang="en-US" altLang="zh-CN" sz="2400" b="1" dirty="0">
                <a:solidFill>
                  <a:srgbClr val="00B050"/>
                </a:solidFill>
                <a:latin typeface="+mj-lt"/>
                <a:ea typeface="黑体" panose="02010609060101010101" pitchFamily="49" charset="-122"/>
              </a:rPr>
              <a:t> </a:t>
            </a:r>
            <a:r>
              <a:rPr lang="en-US" altLang="zh-CN" sz="2400" b="1" dirty="0" err="1">
                <a:solidFill>
                  <a:srgbClr val="00B050"/>
                </a:solidFill>
                <a:latin typeface="+mj-lt"/>
                <a:ea typeface="黑体" panose="02010609060101010101" pitchFamily="49" charset="-122"/>
              </a:rPr>
              <a:t>ptr</a:t>
            </a:r>
            <a:r>
              <a:rPr lang="en-US" altLang="zh-CN" sz="2400" b="1" dirty="0">
                <a:solidFill>
                  <a:srgbClr val="00B050"/>
                </a:solidFill>
                <a:latin typeface="+mj-lt"/>
                <a:ea typeface="黑体" panose="02010609060101010101" pitchFamily="49" charset="-122"/>
              </a:rPr>
              <a:t> [</a:t>
            </a:r>
            <a:r>
              <a:rPr lang="en-US" altLang="zh-CN" sz="2400" b="1" dirty="0" err="1">
                <a:solidFill>
                  <a:srgbClr val="00B050"/>
                </a:solidFill>
                <a:latin typeface="+mj-lt"/>
                <a:ea typeface="黑体" panose="02010609060101010101" pitchFamily="49" charset="-122"/>
              </a:rPr>
              <a:t>ebx</a:t>
            </a:r>
            <a:r>
              <a:rPr lang="en-US" altLang="zh-CN" sz="2400" b="1" dirty="0">
                <a:solidFill>
                  <a:srgbClr val="00B050"/>
                </a:solidFill>
                <a:latin typeface="+mj-lt"/>
                <a:ea typeface="黑体" panose="02010609060101010101" pitchFamily="49" charset="-122"/>
              </a:rPr>
              <a:t>]     </a:t>
            </a:r>
            <a:r>
              <a:rPr lang="en-US" altLang="zh-CN" sz="2400" dirty="0">
                <a:solidFill>
                  <a:schemeClr val="tx1"/>
                </a:solidFill>
                <a:latin typeface="+mj-lt"/>
                <a:ea typeface="黑体" panose="02010609060101010101" pitchFamily="49" charset="-122"/>
              </a:rPr>
              <a:t>; word</a:t>
            </a:r>
            <a:r>
              <a:rPr lang="zh-CN" altLang="en-US" sz="2400" dirty="0">
                <a:solidFill>
                  <a:schemeClr val="tx1"/>
                </a:solidFill>
                <a:latin typeface="+mj-lt"/>
                <a:ea typeface="黑体" panose="02010609060101010101" pitchFamily="49" charset="-122"/>
              </a:rPr>
              <a:t>数据进</a:t>
            </a:r>
            <a:r>
              <a:rPr lang="zh-CN" altLang="en-US" sz="2400" dirty="0">
                <a:solidFill>
                  <a:schemeClr val="tx1"/>
                </a:solidFill>
                <a:latin typeface="+mj-lt"/>
                <a:ea typeface="黑体" panose="02010609060101010101" pitchFamily="49" charset="-122"/>
              </a:rPr>
              <a:t>栈，</a:t>
            </a:r>
            <a:r>
              <a:rPr lang="en-US" altLang="zh-CN" sz="2400" dirty="0">
                <a:solidFill>
                  <a:schemeClr val="tx1"/>
                </a:solidFill>
                <a:latin typeface="+mj-lt"/>
                <a:ea typeface="黑体" panose="02010609060101010101" pitchFamily="49" charset="-122"/>
              </a:rPr>
              <a:t>ESP</a:t>
            </a:r>
            <a:r>
              <a:rPr lang="zh-CN" altLang="en-US" sz="2400" dirty="0">
                <a:solidFill>
                  <a:schemeClr val="tx1"/>
                </a:solidFill>
                <a:latin typeface="+mj-lt"/>
                <a:ea typeface="黑体" panose="02010609060101010101" pitchFamily="49" charset="-122"/>
              </a:rPr>
              <a:t>减</a:t>
            </a:r>
            <a:r>
              <a:rPr lang="en-US" altLang="zh-CN" sz="2400" dirty="0">
                <a:solidFill>
                  <a:schemeClr val="tx1"/>
                </a:solidFill>
                <a:latin typeface="+mj-lt"/>
                <a:ea typeface="黑体" panose="02010609060101010101" pitchFamily="49" charset="-122"/>
              </a:rPr>
              <a:t>2</a:t>
            </a:r>
            <a:endParaRPr lang="en-US" altLang="zh-CN" sz="2400" dirty="0">
              <a:solidFill>
                <a:schemeClr val="tx1"/>
              </a:solidFill>
              <a:latin typeface="+mj-lt"/>
              <a:ea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9" descr="fig030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4712" y="1601240"/>
            <a:ext cx="8355760" cy="4564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0" y="-28305"/>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进栈操作</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PUSH</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16809" y="731003"/>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251520" y="755179"/>
            <a:ext cx="8681789" cy="12516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PUSH</a:t>
            </a:r>
            <a:r>
              <a:rPr lang="zh-CN" altLang="en-US" sz="2800" dirty="0">
                <a:latin typeface="+mn-lt"/>
              </a:rPr>
              <a:t>指令等同于一条对</a:t>
            </a:r>
            <a:r>
              <a:rPr lang="en-US" altLang="zh-CN" sz="2800" dirty="0">
                <a:latin typeface="+mn-lt"/>
              </a:rPr>
              <a:t>ESP</a:t>
            </a:r>
            <a:r>
              <a:rPr lang="zh-CN" altLang="en-US" sz="2800" dirty="0">
                <a:latin typeface="+mn-lt"/>
              </a:rPr>
              <a:t>的减法指令</a:t>
            </a:r>
            <a:r>
              <a:rPr lang="en-US" altLang="zh-CN" sz="2800" dirty="0">
                <a:latin typeface="+mn-lt"/>
              </a:rPr>
              <a:t>(SUB)</a:t>
            </a:r>
            <a:r>
              <a:rPr lang="zh-CN" altLang="en-US" sz="2800" dirty="0">
                <a:latin typeface="+mn-lt"/>
              </a:rPr>
              <a:t>和一条传送指令</a:t>
            </a:r>
            <a:r>
              <a:rPr lang="en-US" altLang="zh-CN" sz="2800" dirty="0">
                <a:latin typeface="+mn-lt"/>
              </a:rPr>
              <a:t>(MOV)</a:t>
            </a:r>
            <a:endParaRPr lang="zh-CN" altLang="en-US" sz="2400" dirty="0">
              <a:solidFill>
                <a:schemeClr val="tx1"/>
              </a:solidFill>
              <a:latin typeface="+mn-lt"/>
            </a:endParaRPr>
          </a:p>
        </p:txBody>
      </p:sp>
      <p:sp>
        <p:nvSpPr>
          <p:cNvPr id="9" name="Rounded Rectangular Callout 2"/>
          <p:cNvSpPr/>
          <p:nvPr/>
        </p:nvSpPr>
        <p:spPr bwMode="auto">
          <a:xfrm>
            <a:off x="2843808" y="4806677"/>
            <a:ext cx="2360673" cy="1251696"/>
          </a:xfrm>
          <a:prstGeom prst="wedgeRoundRectCallout">
            <a:avLst>
              <a:gd name="adj1" fmla="val 48221"/>
              <a:gd name="adj2" fmla="val -106285"/>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数据以“低对低、高对高”的小端方式存放</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625013"/>
            <a:ext cx="8136904" cy="5540797"/>
          </a:xfrm>
          <a:prstGeom prst="rect">
            <a:avLst/>
          </a:prstGeom>
        </p:spPr>
        <p:txBody>
          <a:bodyPr/>
          <a:lstStyle/>
          <a:p>
            <a:pPr marL="457200" indent="-457200" algn="just" latinLnBrk="0">
              <a:lnSpc>
                <a:spcPct val="120000"/>
              </a:lnSpc>
              <a:spcBef>
                <a:spcPts val="0"/>
              </a:spcBef>
              <a:buClr>
                <a:srgbClr val="0000FF"/>
              </a:buClr>
              <a:buSzPct val="100000"/>
              <a:buFont typeface="Wingdings" panose="05000000000000000000" pitchFamily="2" charset="2"/>
              <a:buChar char="Ø"/>
              <a:defRPr/>
            </a:pPr>
            <a:r>
              <a:rPr lang="zh-CN" altLang="en-US" sz="2800" dirty="0">
                <a:latin typeface="+mn-lt"/>
              </a:rPr>
              <a:t>先将栈顶数据传送到目的操作数（通用寄存器、存储单元或段寄存器），然后将</a:t>
            </a:r>
            <a:r>
              <a:rPr lang="en-US" altLang="zh-CN" sz="2800" dirty="0">
                <a:latin typeface="+mn-lt"/>
              </a:rPr>
              <a:t>ESP</a:t>
            </a:r>
            <a:r>
              <a:rPr lang="zh-CN" altLang="en-US" sz="2800" dirty="0">
                <a:latin typeface="+mn-lt"/>
              </a:rPr>
              <a:t>增加作为当前栈顶</a:t>
            </a:r>
            <a:r>
              <a:rPr lang="en-US" altLang="zh-CN" sz="2800" dirty="0">
                <a:latin typeface="+mn-lt"/>
              </a:rPr>
              <a:t>(Pop data out of the stack)</a:t>
            </a: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200" dirty="0">
              <a:latin typeface="+mn-lt"/>
            </a:endParaRPr>
          </a:p>
          <a:p>
            <a:pPr marL="457200" indent="-457200" algn="just" latinLnBrk="0">
              <a:lnSpc>
                <a:spcPct val="120000"/>
              </a:lnSpc>
              <a:spcBef>
                <a:spcPts val="0"/>
              </a:spcBef>
              <a:buClr>
                <a:srgbClr val="0000FF"/>
              </a:buClr>
              <a:buSzPct val="100000"/>
              <a:buFont typeface="Wingdings" panose="05000000000000000000" pitchFamily="2" charset="2"/>
              <a:buChar char="Ø"/>
              <a:defRPr/>
            </a:pPr>
            <a:r>
              <a:rPr lang="en-US" altLang="zh-CN" sz="2800" dirty="0">
                <a:latin typeface="+mn-lt"/>
              </a:rPr>
              <a:t>IA-32</a:t>
            </a:r>
            <a:r>
              <a:rPr lang="zh-CN" altLang="en-US" sz="2800" dirty="0">
                <a:latin typeface="+mn-lt"/>
              </a:rPr>
              <a:t>处理器的堆栈</a:t>
            </a:r>
            <a:r>
              <a:rPr lang="zh-CN" altLang="en-US" sz="2800" dirty="0">
                <a:solidFill>
                  <a:srgbClr val="FF0000"/>
                </a:solidFill>
                <a:latin typeface="+mn-lt"/>
              </a:rPr>
              <a:t>只能以字或双字为单位操作</a:t>
            </a:r>
            <a:endParaRPr lang="en-US" altLang="zh-CN" sz="2800" dirty="0">
              <a:solidFill>
                <a:srgbClr val="FF0000"/>
              </a:solidFill>
              <a:latin typeface="+mn-lt"/>
            </a:endParaRPr>
          </a:p>
          <a:p>
            <a:pPr marL="914400" lvl="1" indent="-457200" algn="just" latinLnBrk="0">
              <a:lnSpc>
                <a:spcPct val="12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出栈双字量数据时，</a:t>
            </a:r>
            <a:r>
              <a:rPr lang="en-US" altLang="zh-CN" sz="2400" dirty="0">
                <a:solidFill>
                  <a:schemeClr val="tx1"/>
                </a:solidFill>
                <a:latin typeface="+mn-lt"/>
              </a:rPr>
              <a:t>ESP</a:t>
            </a:r>
            <a:r>
              <a:rPr lang="zh-CN" altLang="en-US" sz="2400" dirty="0">
                <a:solidFill>
                  <a:schemeClr val="tx1"/>
                </a:solidFill>
                <a:latin typeface="+mn-lt"/>
              </a:rPr>
              <a:t>加</a:t>
            </a:r>
            <a:r>
              <a:rPr lang="en-US" altLang="zh-CN" sz="2400" dirty="0">
                <a:solidFill>
                  <a:schemeClr val="tx1"/>
                </a:solidFill>
                <a:latin typeface="+mn-lt"/>
              </a:rPr>
              <a:t>4</a:t>
            </a:r>
            <a:endParaRPr lang="en-US" altLang="zh-CN" sz="2400" dirty="0">
              <a:solidFill>
                <a:schemeClr val="tx1"/>
              </a:solidFill>
              <a:latin typeface="+mn-lt"/>
            </a:endParaRPr>
          </a:p>
          <a:p>
            <a:pPr marL="914400" lvl="1" indent="-457200" algn="just" latinLnBrk="0">
              <a:lnSpc>
                <a:spcPct val="12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出栈字量数据时，</a:t>
            </a:r>
            <a:r>
              <a:rPr lang="en-US" altLang="zh-CN" sz="2400" dirty="0">
                <a:solidFill>
                  <a:schemeClr val="tx1"/>
                </a:solidFill>
                <a:latin typeface="+mn-lt"/>
              </a:rPr>
              <a:t>ESP</a:t>
            </a:r>
            <a:r>
              <a:rPr lang="zh-CN" altLang="en-US" sz="2400" dirty="0">
                <a:solidFill>
                  <a:schemeClr val="tx1"/>
                </a:solidFill>
                <a:latin typeface="+mn-lt"/>
              </a:rPr>
              <a:t>加</a:t>
            </a:r>
            <a:r>
              <a:rPr lang="en-US" altLang="zh-CN" sz="2400" dirty="0">
                <a:solidFill>
                  <a:schemeClr val="tx1"/>
                </a:solidFill>
                <a:latin typeface="+mn-lt"/>
              </a:rPr>
              <a:t>2</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出栈指令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POP</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654849"/>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33780" y="2245360"/>
            <a:ext cx="7560945" cy="148272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400" b="1" dirty="0">
                <a:solidFill>
                  <a:srgbClr val="00B050"/>
                </a:solidFill>
                <a:latin typeface="+mj-lt"/>
                <a:ea typeface="黑体" panose="02010609060101010101" pitchFamily="49" charset="-122"/>
              </a:rPr>
              <a:t>pop </a:t>
            </a:r>
            <a:r>
              <a:rPr lang="en-US" altLang="zh-CN" sz="2400" b="1" dirty="0" err="1">
                <a:solidFill>
                  <a:srgbClr val="00B050"/>
                </a:solidFill>
                <a:latin typeface="+mj-lt"/>
                <a:ea typeface="黑体" panose="02010609060101010101" pitchFamily="49" charset="-122"/>
              </a:rPr>
              <a:t>r16/m16/seg</a:t>
            </a:r>
            <a:endParaRPr lang="en-US" altLang="zh-CN" sz="2400" b="1" dirty="0" err="1">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400" b="1" dirty="0" err="1">
                <a:solidFill>
                  <a:srgbClr val="00B050"/>
                </a:solidFill>
                <a:latin typeface="+mj-lt"/>
                <a:ea typeface="黑体" panose="02010609060101010101" pitchFamily="49" charset="-122"/>
              </a:rPr>
              <a:t>pop r32/m32</a:t>
            </a:r>
            <a:endParaRPr lang="en-US" altLang="zh-CN" sz="24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400" b="1" dirty="0">
                <a:solidFill>
                  <a:srgbClr val="FF0000"/>
                </a:solidFill>
                <a:latin typeface="+mj-lt"/>
                <a:ea typeface="黑体" panose="02010609060101010101" pitchFamily="49" charset="-122"/>
              </a:rPr>
              <a:t>     ① </a:t>
            </a:r>
            <a:r>
              <a:rPr lang="en-US" altLang="zh-CN" sz="2400" b="1" dirty="0" err="1">
                <a:solidFill>
                  <a:srgbClr val="FF0000"/>
                </a:solidFill>
                <a:latin typeface="+mj-lt"/>
                <a:ea typeface="黑体" panose="02010609060101010101" pitchFamily="49" charset="-122"/>
              </a:rPr>
              <a:t>dest</a:t>
            </a:r>
            <a:r>
              <a:rPr lang="zh-CN" altLang="en-US" sz="2400" b="1" dirty="0">
                <a:solidFill>
                  <a:srgbClr val="FF0000"/>
                </a:solidFill>
                <a:latin typeface="+mj-lt"/>
                <a:ea typeface="黑体" panose="02010609060101010101" pitchFamily="49" charset="-122"/>
              </a:rPr>
              <a:t>＝</a:t>
            </a:r>
            <a:r>
              <a:rPr lang="en-US" altLang="zh-CN" sz="2400" b="1" dirty="0">
                <a:solidFill>
                  <a:srgbClr val="FF0000"/>
                </a:solidFill>
                <a:latin typeface="+mj-lt"/>
                <a:ea typeface="黑体" panose="02010609060101010101" pitchFamily="49" charset="-122"/>
              </a:rPr>
              <a:t>SS:[ESP]              ② ESP</a:t>
            </a:r>
            <a:r>
              <a:rPr lang="zh-CN" altLang="en-US" sz="2400" b="1" dirty="0">
                <a:solidFill>
                  <a:srgbClr val="FF0000"/>
                </a:solidFill>
                <a:latin typeface="+mj-lt"/>
                <a:ea typeface="黑体" panose="02010609060101010101" pitchFamily="49" charset="-122"/>
              </a:rPr>
              <a:t>＝</a:t>
            </a:r>
            <a:r>
              <a:rPr lang="en-US" altLang="zh-CN" sz="2400" b="1" dirty="0">
                <a:solidFill>
                  <a:srgbClr val="FF0000"/>
                </a:solidFill>
                <a:latin typeface="+mj-lt"/>
                <a:ea typeface="黑体" panose="02010609060101010101" pitchFamily="49" charset="-122"/>
              </a:rPr>
              <a:t>ESP</a:t>
            </a:r>
            <a:r>
              <a:rPr lang="zh-CN" altLang="en-US" sz="2400" b="1" dirty="0">
                <a:solidFill>
                  <a:srgbClr val="FF0000"/>
                </a:solidFill>
                <a:latin typeface="+mj-lt"/>
                <a:ea typeface="黑体" panose="02010609060101010101" pitchFamily="49" charset="-122"/>
              </a:rPr>
              <a:t>＋</a:t>
            </a:r>
            <a:r>
              <a:rPr lang="en-US" altLang="zh-CN" sz="2400" b="1" dirty="0">
                <a:solidFill>
                  <a:srgbClr val="FF0000"/>
                </a:solidFill>
                <a:latin typeface="+mj-lt"/>
                <a:ea typeface="黑体" panose="02010609060101010101" pitchFamily="49" charset="-122"/>
              </a:rPr>
              <a:t>4 (2)</a:t>
            </a:r>
            <a:endParaRPr lang="zh-CN" altLang="en-US" sz="2400" b="1" dirty="0">
              <a:solidFill>
                <a:srgbClr val="FF0000"/>
              </a:solidFill>
              <a:latin typeface="+mj-lt"/>
              <a:ea typeface="黑体" panose="02010609060101010101" pitchFamily="49" charset="-122"/>
            </a:endParaRPr>
          </a:p>
        </p:txBody>
      </p:sp>
      <p:sp>
        <p:nvSpPr>
          <p:cNvPr id="3" name="Rectangle 3"/>
          <p:cNvSpPr>
            <a:spLocks noChangeArrowheads="1"/>
          </p:cNvSpPr>
          <p:nvPr/>
        </p:nvSpPr>
        <p:spPr bwMode="auto">
          <a:xfrm>
            <a:off x="1043305" y="5207635"/>
            <a:ext cx="7560945" cy="1455420"/>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latinLnBrk="0">
              <a:lnSpc>
                <a:spcPct val="120000"/>
              </a:lnSpc>
              <a:spcBef>
                <a:spcPts val="0"/>
              </a:spcBef>
              <a:buClr>
                <a:srgbClr val="0000FF"/>
              </a:buClr>
              <a:buSzPct val="100000"/>
              <a:buNone/>
              <a:defRPr/>
            </a:pPr>
            <a:r>
              <a:rPr lang="en-US" altLang="zh-CN" sz="2400" b="1" dirty="0">
                <a:solidFill>
                  <a:srgbClr val="00B050"/>
                </a:solidFill>
                <a:latin typeface="+mj-lt"/>
                <a:ea typeface="黑体" panose="02010609060101010101" pitchFamily="49" charset="-122"/>
              </a:rPr>
              <a:t>pop </a:t>
            </a:r>
            <a:r>
              <a:rPr lang="en-US" altLang="zh-CN" sz="2400" b="1" dirty="0" err="1">
                <a:solidFill>
                  <a:srgbClr val="00B050"/>
                </a:solidFill>
                <a:latin typeface="+mj-lt"/>
                <a:ea typeface="黑体" panose="02010609060101010101" pitchFamily="49" charset="-122"/>
              </a:rPr>
              <a:t>eax                       </a:t>
            </a:r>
            <a:r>
              <a:rPr lang="en-US" altLang="zh-CN" sz="2200" b="1" dirty="0" err="1">
                <a:solidFill>
                  <a:srgbClr val="00B050"/>
                </a:solidFill>
                <a:latin typeface="+mj-lt"/>
                <a:ea typeface="黑体" panose="02010609060101010101" pitchFamily="49" charset="-122"/>
              </a:rPr>
              <a:t> </a:t>
            </a:r>
            <a:r>
              <a:rPr lang="en-US" altLang="zh-CN" sz="2200" dirty="0" err="1">
                <a:solidFill>
                  <a:schemeClr val="tx1"/>
                </a:solidFill>
                <a:latin typeface="+mj-lt"/>
                <a:ea typeface="黑体" panose="02010609060101010101" pitchFamily="49" charset="-122"/>
                <a:sym typeface="+mn-ea"/>
              </a:rPr>
              <a:t>; </a:t>
            </a:r>
            <a:r>
              <a:rPr lang="zh-CN" altLang="en-US" sz="2200" dirty="0" err="1">
                <a:solidFill>
                  <a:schemeClr val="tx1"/>
                </a:solidFill>
                <a:latin typeface="+mj-lt"/>
                <a:ea typeface="黑体" panose="02010609060101010101" pitchFamily="49" charset="-122"/>
                <a:sym typeface="+mn-ea"/>
              </a:rPr>
              <a:t>从</a:t>
            </a:r>
            <a:r>
              <a:rPr lang="zh-CN" altLang="en-US" sz="2200" dirty="0" err="1">
                <a:solidFill>
                  <a:schemeClr val="tx1"/>
                </a:solidFill>
                <a:latin typeface="+mj-lt"/>
                <a:ea typeface="黑体" panose="02010609060101010101" pitchFamily="49" charset="-122"/>
                <a:sym typeface="+mn-ea"/>
              </a:rPr>
              <a:t>栈顶取双字数据放入</a:t>
            </a:r>
            <a:r>
              <a:rPr lang="en-US" altLang="zh-CN" sz="2200" dirty="0" err="1">
                <a:solidFill>
                  <a:schemeClr val="tx1"/>
                </a:solidFill>
                <a:latin typeface="+mj-lt"/>
                <a:ea typeface="黑体" panose="02010609060101010101" pitchFamily="49" charset="-122"/>
                <a:sym typeface="+mn-ea"/>
              </a:rPr>
              <a:t>eax</a:t>
            </a:r>
            <a:r>
              <a:rPr lang="zh-CN" altLang="en-US" sz="2200" dirty="0" err="1">
                <a:solidFill>
                  <a:schemeClr val="tx1"/>
                </a:solidFill>
                <a:latin typeface="+mj-lt"/>
                <a:ea typeface="黑体" panose="02010609060101010101" pitchFamily="49" charset="-122"/>
                <a:sym typeface="+mn-ea"/>
              </a:rPr>
              <a:t>，</a:t>
            </a:r>
            <a:r>
              <a:rPr lang="en-US" altLang="zh-CN" sz="2200" dirty="0" err="1">
                <a:solidFill>
                  <a:schemeClr val="tx1"/>
                </a:solidFill>
                <a:latin typeface="+mj-lt"/>
                <a:ea typeface="黑体" panose="02010609060101010101" pitchFamily="49" charset="-122"/>
                <a:sym typeface="+mn-ea"/>
              </a:rPr>
              <a:t>ESP</a:t>
            </a:r>
            <a:r>
              <a:rPr lang="zh-CN" altLang="en-US" sz="2200" dirty="0" err="1">
                <a:solidFill>
                  <a:schemeClr val="tx1"/>
                </a:solidFill>
                <a:latin typeface="+mj-lt"/>
                <a:ea typeface="黑体" panose="02010609060101010101" pitchFamily="49" charset="-122"/>
                <a:sym typeface="+mn-ea"/>
              </a:rPr>
              <a:t>减</a:t>
            </a:r>
            <a:r>
              <a:rPr lang="en-US" altLang="zh-CN" sz="2200" dirty="0" err="1">
                <a:solidFill>
                  <a:schemeClr val="tx1"/>
                </a:solidFill>
                <a:latin typeface="+mj-lt"/>
                <a:ea typeface="黑体" panose="02010609060101010101" pitchFamily="49" charset="-122"/>
                <a:sym typeface="+mn-ea"/>
              </a:rPr>
              <a:t>4</a:t>
            </a:r>
            <a:endParaRPr lang="en-US" altLang="zh-CN" sz="2200" dirty="0">
              <a:solidFill>
                <a:schemeClr val="tx1"/>
              </a:solidFill>
              <a:latin typeface="+mj-lt"/>
              <a:ea typeface="黑体" panose="02010609060101010101" pitchFamily="49" charset="-122"/>
            </a:endParaRPr>
          </a:p>
          <a:p>
            <a:pPr marL="0" algn="just" latinLnBrk="0">
              <a:lnSpc>
                <a:spcPct val="120000"/>
              </a:lnSpc>
              <a:spcBef>
                <a:spcPts val="0"/>
              </a:spcBef>
              <a:buClr>
                <a:srgbClr val="0000FF"/>
              </a:buClr>
              <a:buSzTx/>
              <a:buFontTx/>
              <a:buNone/>
              <a:defRPr/>
            </a:pPr>
            <a:r>
              <a:rPr lang="en-US" altLang="zh-CN" sz="2400" b="1" dirty="0">
                <a:solidFill>
                  <a:srgbClr val="00B050"/>
                </a:solidFill>
                <a:latin typeface="+mj-lt"/>
                <a:ea typeface="黑体" panose="02010609060101010101" pitchFamily="49" charset="-122"/>
              </a:rPr>
              <a:t>pop </a:t>
            </a:r>
            <a:r>
              <a:rPr lang="en-US" altLang="zh-CN" sz="2400" b="1" dirty="0" err="1">
                <a:solidFill>
                  <a:srgbClr val="00B050"/>
                </a:solidFill>
                <a:latin typeface="+mj-lt"/>
                <a:ea typeface="黑体" panose="02010609060101010101" pitchFamily="49" charset="-122"/>
              </a:rPr>
              <a:t>word</a:t>
            </a:r>
            <a:r>
              <a:rPr lang="en-US" altLang="zh-CN" sz="2400" b="1" dirty="0">
                <a:solidFill>
                  <a:srgbClr val="00B050"/>
                </a:solidFill>
                <a:latin typeface="+mj-lt"/>
                <a:ea typeface="黑体" panose="02010609060101010101" pitchFamily="49" charset="-122"/>
              </a:rPr>
              <a:t> </a:t>
            </a:r>
            <a:r>
              <a:rPr lang="en-US" altLang="zh-CN" sz="2400" b="1" dirty="0" err="1">
                <a:solidFill>
                  <a:srgbClr val="00B050"/>
                </a:solidFill>
                <a:latin typeface="+mj-lt"/>
                <a:ea typeface="黑体" panose="02010609060101010101" pitchFamily="49" charset="-122"/>
              </a:rPr>
              <a:t>ptr</a:t>
            </a:r>
            <a:r>
              <a:rPr lang="en-US" altLang="zh-CN" sz="2400" b="1" dirty="0">
                <a:solidFill>
                  <a:srgbClr val="00B050"/>
                </a:solidFill>
                <a:latin typeface="+mj-lt"/>
                <a:ea typeface="黑体" panose="02010609060101010101" pitchFamily="49" charset="-122"/>
              </a:rPr>
              <a:t> [</a:t>
            </a:r>
            <a:r>
              <a:rPr lang="en-US" altLang="zh-CN" sz="2400" b="1" dirty="0" err="1">
                <a:solidFill>
                  <a:srgbClr val="00B050"/>
                </a:solidFill>
                <a:latin typeface="+mj-lt"/>
                <a:ea typeface="黑体" panose="02010609060101010101" pitchFamily="49" charset="-122"/>
              </a:rPr>
              <a:t>ebx</a:t>
            </a:r>
            <a:r>
              <a:rPr lang="en-US" altLang="zh-CN" sz="2400" b="1" dirty="0">
                <a:solidFill>
                  <a:srgbClr val="00B050"/>
                </a:solidFill>
                <a:latin typeface="+mj-lt"/>
                <a:ea typeface="黑体" panose="02010609060101010101" pitchFamily="49" charset="-122"/>
              </a:rPr>
              <a:t>]  </a:t>
            </a:r>
            <a:endParaRPr lang="en-US" altLang="zh-CN" sz="2400" b="1" dirty="0">
              <a:solidFill>
                <a:srgbClr val="00B050"/>
              </a:solidFill>
              <a:latin typeface="+mj-lt"/>
              <a:ea typeface="黑体" panose="02010609060101010101" pitchFamily="49" charset="-122"/>
            </a:endParaRPr>
          </a:p>
          <a:p>
            <a:pPr marL="0" algn="just" latinLnBrk="0">
              <a:lnSpc>
                <a:spcPct val="120000"/>
              </a:lnSpc>
              <a:spcBef>
                <a:spcPts val="0"/>
              </a:spcBef>
              <a:buClr>
                <a:srgbClr val="0000FF"/>
              </a:buClr>
              <a:buSzTx/>
              <a:buFontTx/>
              <a:buNone/>
              <a:defRPr/>
            </a:pPr>
            <a:r>
              <a:rPr lang="zh-CN" altLang="en-US" sz="2200" dirty="0" err="1">
                <a:solidFill>
                  <a:schemeClr val="tx1"/>
                </a:solidFill>
                <a:latin typeface="+mj-lt"/>
                <a:ea typeface="黑体" panose="02010609060101010101" pitchFamily="49" charset="-122"/>
              </a:rPr>
              <a:t>; 从栈顶取字量数据放入ebx所指示的内存单元，ESP减2</a:t>
            </a:r>
            <a:endParaRPr lang="zh-CN" altLang="en-US" sz="2200" dirty="0" err="1">
              <a:solidFill>
                <a:schemeClr val="tx1"/>
              </a:solidFill>
              <a:latin typeface="+mj-lt"/>
              <a:ea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fig030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6117" y="1556793"/>
            <a:ext cx="8376363" cy="463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0" y="-28305"/>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出栈指令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POP</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16809" y="709983"/>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251520" y="703206"/>
            <a:ext cx="8681789" cy="12516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POP</a:t>
            </a:r>
            <a:r>
              <a:rPr lang="zh-CN" altLang="en-US" sz="2800" dirty="0">
                <a:latin typeface="+mn-lt"/>
              </a:rPr>
              <a:t>指令等同于一条传送指令</a:t>
            </a:r>
            <a:r>
              <a:rPr lang="en-US" altLang="zh-CN" sz="2800" dirty="0">
                <a:latin typeface="+mn-lt"/>
              </a:rPr>
              <a:t>(MOV)</a:t>
            </a:r>
            <a:r>
              <a:rPr lang="zh-CN" altLang="en-US" sz="2800" dirty="0">
                <a:latin typeface="+mn-lt"/>
              </a:rPr>
              <a:t>和一条对</a:t>
            </a:r>
            <a:r>
              <a:rPr lang="en-US" altLang="zh-CN" sz="2800" dirty="0">
                <a:latin typeface="+mn-lt"/>
              </a:rPr>
              <a:t>ESP</a:t>
            </a:r>
            <a:r>
              <a:rPr lang="zh-CN" altLang="en-US" sz="2800" dirty="0">
                <a:latin typeface="+mn-lt"/>
              </a:rPr>
              <a:t>的加法指令</a:t>
            </a:r>
            <a:r>
              <a:rPr lang="en-US" altLang="zh-CN" sz="2800" dirty="0">
                <a:latin typeface="+mn-lt"/>
              </a:rPr>
              <a:t>(ADD)</a:t>
            </a:r>
            <a:endParaRPr lang="zh-CN" altLang="en-US" sz="2400" dirty="0">
              <a:solidFill>
                <a:schemeClr val="tx1"/>
              </a:solidFill>
              <a:latin typeface="+mn-lt"/>
            </a:endParaRPr>
          </a:p>
        </p:txBody>
      </p:sp>
      <p:sp>
        <p:nvSpPr>
          <p:cNvPr id="9" name="Rounded Rectangular Callout 2"/>
          <p:cNvSpPr/>
          <p:nvPr/>
        </p:nvSpPr>
        <p:spPr bwMode="auto">
          <a:xfrm>
            <a:off x="2843808" y="4841600"/>
            <a:ext cx="2360673" cy="1251696"/>
          </a:xfrm>
          <a:prstGeom prst="wedgeRoundRectCallout">
            <a:avLst>
              <a:gd name="adj1" fmla="val 58308"/>
              <a:gd name="adj2" fmla="val -97154"/>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数据以“低对低、高对高”的小端方式进行传送</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堆栈操作程序</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424411" y="835383"/>
            <a:ext cx="8424936" cy="5809615"/>
          </a:xfrm>
          <a:prstGeom prst="rect">
            <a:avLst/>
          </a:prstGeom>
          <a:solidFill>
            <a:srgbClr val="DDEEFF"/>
          </a:solidFill>
          <a:ln w="25400">
            <a:noFill/>
          </a:ln>
        </p:spPr>
        <p:txBody>
          <a:bodyPr wrap="square">
            <a:spAutoFit/>
          </a:bodyPr>
          <a:lstStyle/>
          <a:p>
            <a:pPr>
              <a:lnSpc>
                <a:spcPct val="130000"/>
              </a:lnSpc>
            </a:pPr>
            <a:r>
              <a:rPr lang="en-US" altLang="zh-CN" sz="2200" dirty="0">
                <a:solidFill>
                  <a:srgbClr val="FF0000"/>
                </a:solidFill>
                <a:latin typeface="+mn-lt"/>
              </a:rPr>
              <a:t>; </a:t>
            </a:r>
            <a:r>
              <a:rPr lang="zh-CN" altLang="en-US" sz="2200" dirty="0">
                <a:solidFill>
                  <a:srgbClr val="FF0000"/>
                </a:solidFill>
                <a:latin typeface="+mn-lt"/>
              </a:rPr>
              <a:t>数据段</a:t>
            </a:r>
            <a:endParaRPr lang="zh-CN" altLang="en-US" sz="2200" dirty="0">
              <a:solidFill>
                <a:srgbClr val="FF0000"/>
              </a:solidFill>
              <a:latin typeface="+mn-lt"/>
            </a:endParaRPr>
          </a:p>
          <a:p>
            <a:pPr>
              <a:lnSpc>
                <a:spcPct val="130000"/>
              </a:lnSpc>
            </a:pPr>
            <a:r>
              <a:rPr lang="en-US" altLang="zh-CN" sz="2200" b="1" dirty="0">
                <a:latin typeface="+mn-lt"/>
              </a:rPr>
              <a:t>ten	</a:t>
            </a:r>
            <a:r>
              <a:rPr lang="en-US" altLang="zh-CN" sz="2200" b="1" dirty="0">
                <a:latin typeface="+mn-lt"/>
              </a:rPr>
              <a:t>equ 10</a:t>
            </a:r>
            <a:endParaRPr lang="en-US" altLang="zh-CN" sz="2200" b="1" dirty="0">
              <a:latin typeface="+mn-lt"/>
            </a:endParaRPr>
          </a:p>
          <a:p>
            <a:pPr>
              <a:lnSpc>
                <a:spcPct val="130000"/>
              </a:lnSpc>
            </a:pPr>
            <a:r>
              <a:rPr lang="en-US" altLang="zh-CN" sz="2200" b="1" dirty="0" err="1">
                <a:latin typeface="+mn-lt"/>
              </a:rPr>
              <a:t>dvar</a:t>
            </a:r>
            <a:r>
              <a:rPr lang="en-US" altLang="zh-CN" sz="2200" b="1" dirty="0">
                <a:latin typeface="+mn-lt"/>
              </a:rPr>
              <a:t>	</a:t>
            </a:r>
            <a:r>
              <a:rPr lang="en-US" altLang="zh-CN" sz="2200" b="1" dirty="0" err="1">
                <a:latin typeface="+mn-lt"/>
              </a:rPr>
              <a:t>dword</a:t>
            </a:r>
            <a:r>
              <a:rPr lang="en-US" altLang="zh-CN" sz="2200" b="1" dirty="0">
                <a:latin typeface="+mn-lt"/>
              </a:rPr>
              <a:t> 67762000h,12345678h</a:t>
            </a:r>
            <a:endParaRPr lang="en-US" altLang="zh-CN" sz="2200" b="1" dirty="0">
              <a:latin typeface="+mn-lt"/>
            </a:endParaRPr>
          </a:p>
          <a:p>
            <a:pPr>
              <a:lnSpc>
                <a:spcPct val="130000"/>
              </a:lnSpc>
            </a:pPr>
            <a:r>
              <a:rPr lang="en-US" altLang="zh-CN" sz="2200" dirty="0">
                <a:solidFill>
                  <a:srgbClr val="FF0000"/>
                </a:solidFill>
                <a:latin typeface="+mn-lt"/>
              </a:rPr>
              <a:t>; </a:t>
            </a:r>
            <a:r>
              <a:rPr lang="zh-CN" altLang="en-US" sz="2200" dirty="0">
                <a:solidFill>
                  <a:srgbClr val="FF0000"/>
                </a:solidFill>
                <a:latin typeface="+mn-lt"/>
              </a:rPr>
              <a:t>代码段</a:t>
            </a:r>
            <a:endParaRPr lang="zh-CN" altLang="en-US" sz="2200" dirty="0">
              <a:solidFill>
                <a:srgbClr val="FF0000"/>
              </a:solidFill>
              <a:latin typeface="+mn-lt"/>
            </a:endParaRPr>
          </a:p>
          <a:p>
            <a:pPr>
              <a:lnSpc>
                <a:spcPct val="130000"/>
              </a:lnSpc>
            </a:pPr>
            <a:r>
              <a:rPr lang="en-US" altLang="zh-CN" sz="2200" b="1" dirty="0">
                <a:latin typeface="+mn-lt"/>
              </a:rPr>
              <a:t>mov eax, [dvar+4]</a:t>
            </a:r>
            <a:r>
              <a:rPr lang="en-US" altLang="zh-CN" sz="2200" b="1" dirty="0">
                <a:solidFill>
                  <a:srgbClr val="00B050"/>
                </a:solidFill>
                <a:latin typeface="+mn-lt"/>
              </a:rPr>
              <a:t>	</a:t>
            </a:r>
            <a:r>
              <a:rPr lang="en-US" altLang="zh-CN" sz="2200" dirty="0">
                <a:solidFill>
                  <a:srgbClr val="FF0000"/>
                </a:solidFill>
                <a:latin typeface="+mn-lt"/>
              </a:rPr>
              <a:t>; EAX</a:t>
            </a:r>
            <a:r>
              <a:rPr lang="zh-CN" altLang="en-US" sz="2200" dirty="0">
                <a:solidFill>
                  <a:srgbClr val="FF0000"/>
                </a:solidFill>
                <a:latin typeface="+mn-lt"/>
              </a:rPr>
              <a:t>＝</a:t>
            </a:r>
            <a:r>
              <a:rPr lang="en-US" altLang="zh-CN" sz="2200" dirty="0">
                <a:solidFill>
                  <a:srgbClr val="FF0000"/>
                </a:solidFill>
                <a:latin typeface="+mn-lt"/>
              </a:rPr>
              <a:t>12345678H</a:t>
            </a:r>
            <a:r>
              <a:rPr lang="zh-CN" altLang="en-US" sz="2200" dirty="0">
                <a:solidFill>
                  <a:srgbClr val="0000FF"/>
                </a:solidFill>
                <a:latin typeface="+mn-lt"/>
              </a:rPr>
              <a:t>（</a:t>
            </a:r>
            <a:r>
              <a:rPr lang="en-US" altLang="zh-CN" sz="2200" b="1" dirty="0">
                <a:solidFill>
                  <a:srgbClr val="0000FF"/>
                </a:solidFill>
                <a:latin typeface="+mn-lt"/>
                <a:sym typeface="+mn-ea"/>
              </a:rPr>
              <a:t>mov eax,dvar+4</a:t>
            </a:r>
            <a:r>
              <a:rPr lang="zh-CN" altLang="en-US" sz="2200" dirty="0">
                <a:solidFill>
                  <a:srgbClr val="0000FF"/>
                </a:solidFill>
                <a:latin typeface="+mn-lt"/>
              </a:rPr>
              <a:t>）</a:t>
            </a:r>
            <a:endParaRPr lang="en-US" altLang="zh-CN" sz="2200" dirty="0">
              <a:solidFill>
                <a:srgbClr val="FF0000"/>
              </a:solidFill>
              <a:latin typeface="+mn-lt"/>
            </a:endParaRPr>
          </a:p>
          <a:p>
            <a:pPr>
              <a:lnSpc>
                <a:spcPct val="130000"/>
              </a:lnSpc>
            </a:pPr>
            <a:r>
              <a:rPr lang="en-US" altLang="zh-CN" sz="2200" b="1" dirty="0">
                <a:latin typeface="+mn-lt"/>
              </a:rPr>
              <a:t>push </a:t>
            </a:r>
            <a:r>
              <a:rPr lang="en-US" altLang="zh-CN" sz="2200" b="1" dirty="0" err="1">
                <a:latin typeface="+mn-lt"/>
              </a:rPr>
              <a:t>eax</a:t>
            </a:r>
            <a:r>
              <a:rPr lang="en-US" altLang="zh-CN" sz="2200" b="1" dirty="0">
                <a:latin typeface="+mn-lt"/>
              </a:rPr>
              <a:t>	</a:t>
            </a:r>
            <a:r>
              <a:rPr lang="en-US" altLang="zh-CN" sz="2200" b="1" dirty="0">
                <a:solidFill>
                  <a:srgbClr val="00B050"/>
                </a:solidFill>
                <a:latin typeface="+mn-lt"/>
              </a:rPr>
              <a:t>	</a:t>
            </a:r>
            <a:r>
              <a:rPr lang="en-US" altLang="zh-CN" sz="2200" dirty="0">
                <a:solidFill>
                  <a:srgbClr val="FF0000"/>
                </a:solidFill>
                <a:latin typeface="+mn-lt"/>
              </a:rPr>
              <a:t>; </a:t>
            </a:r>
            <a:r>
              <a:rPr lang="zh-CN" altLang="en-US" sz="2200" dirty="0">
                <a:solidFill>
                  <a:srgbClr val="FF0000"/>
                </a:solidFill>
                <a:latin typeface="+mn-lt"/>
              </a:rPr>
              <a:t>将</a:t>
            </a:r>
            <a:r>
              <a:rPr lang="en-US" altLang="zh-CN" sz="2200" dirty="0">
                <a:solidFill>
                  <a:srgbClr val="FF0000"/>
                </a:solidFill>
                <a:latin typeface="+mn-lt"/>
              </a:rPr>
              <a:t>EAX</a:t>
            </a:r>
            <a:r>
              <a:rPr lang="zh-CN" altLang="en-US" sz="2200" dirty="0">
                <a:solidFill>
                  <a:srgbClr val="FF0000"/>
                </a:solidFill>
                <a:latin typeface="+mn-lt"/>
              </a:rPr>
              <a:t>内容压入堆栈</a:t>
            </a:r>
            <a:r>
              <a:rPr lang="en-US" altLang="zh-CN" sz="2200" dirty="0">
                <a:solidFill>
                  <a:srgbClr val="00B050"/>
                </a:solidFill>
                <a:latin typeface="+mn-lt"/>
              </a:rPr>
              <a:t>(12345678H)</a:t>
            </a:r>
            <a:endParaRPr lang="zh-CN" altLang="en-US" sz="2200" dirty="0">
              <a:solidFill>
                <a:srgbClr val="00B050"/>
              </a:solidFill>
              <a:latin typeface="+mn-lt"/>
            </a:endParaRPr>
          </a:p>
          <a:p>
            <a:pPr>
              <a:lnSpc>
                <a:spcPct val="130000"/>
              </a:lnSpc>
            </a:pPr>
            <a:r>
              <a:rPr lang="en-US" altLang="zh-CN" sz="2200" b="1" dirty="0">
                <a:latin typeface="+mn-lt"/>
              </a:rPr>
              <a:t>push </a:t>
            </a:r>
            <a:r>
              <a:rPr lang="en-US" altLang="zh-CN" sz="2200" b="1" dirty="0" err="1">
                <a:latin typeface="+mn-lt"/>
              </a:rPr>
              <a:t>dword</a:t>
            </a:r>
            <a:r>
              <a:rPr lang="en-US" altLang="zh-CN" sz="2200" b="1" dirty="0">
                <a:latin typeface="+mn-lt"/>
              </a:rPr>
              <a:t> </a:t>
            </a:r>
            <a:r>
              <a:rPr lang="en-US" altLang="zh-CN" sz="2200" b="1" dirty="0" err="1">
                <a:latin typeface="+mn-lt"/>
              </a:rPr>
              <a:t>ptr</a:t>
            </a:r>
            <a:r>
              <a:rPr lang="en-US" altLang="zh-CN" sz="2200" b="1" dirty="0">
                <a:latin typeface="+mn-lt"/>
              </a:rPr>
              <a:t> ten </a:t>
            </a:r>
            <a:r>
              <a:rPr lang="en-US" altLang="zh-CN" sz="2200" b="1" dirty="0">
                <a:solidFill>
                  <a:srgbClr val="00B050"/>
                </a:solidFill>
                <a:latin typeface="+mn-lt"/>
              </a:rPr>
              <a:t>	</a:t>
            </a:r>
            <a:r>
              <a:rPr lang="en-US" altLang="zh-CN" sz="2200" dirty="0">
                <a:solidFill>
                  <a:srgbClr val="FF0000"/>
                </a:solidFill>
                <a:latin typeface="+mn-lt"/>
              </a:rPr>
              <a:t>; </a:t>
            </a:r>
            <a:r>
              <a:rPr lang="zh-CN" altLang="en-US" sz="2200" dirty="0">
                <a:solidFill>
                  <a:srgbClr val="FF0000"/>
                </a:solidFill>
                <a:latin typeface="+mn-lt"/>
              </a:rPr>
              <a:t>将立即数以双字量压入堆栈</a:t>
            </a:r>
            <a:r>
              <a:rPr lang="en-US" altLang="zh-CN" sz="2200" dirty="0">
                <a:solidFill>
                  <a:srgbClr val="00B050"/>
                </a:solidFill>
                <a:latin typeface="+mn-lt"/>
              </a:rPr>
              <a:t>(0000000AH)</a:t>
            </a:r>
            <a:endParaRPr lang="zh-CN" altLang="en-US" sz="2200" dirty="0">
              <a:solidFill>
                <a:srgbClr val="00B050"/>
              </a:solidFill>
              <a:latin typeface="+mn-lt"/>
            </a:endParaRPr>
          </a:p>
          <a:p>
            <a:pPr>
              <a:lnSpc>
                <a:spcPct val="130000"/>
              </a:lnSpc>
            </a:pPr>
            <a:r>
              <a:rPr lang="en-US" altLang="zh-CN" sz="2200" b="1" dirty="0">
                <a:latin typeface="+mn-lt"/>
              </a:rPr>
              <a:t>push </a:t>
            </a:r>
            <a:r>
              <a:rPr lang="en-US" altLang="zh-CN" sz="2200" b="1" dirty="0">
                <a:highlight>
                  <a:srgbClr val="FFFF00"/>
                </a:highlight>
                <a:latin typeface="+mn-lt"/>
              </a:rPr>
              <a:t>[</a:t>
            </a:r>
            <a:r>
              <a:rPr lang="en-US" altLang="zh-CN" sz="2200" b="1" dirty="0" err="1">
                <a:highlight>
                  <a:srgbClr val="FFFF00"/>
                </a:highlight>
                <a:latin typeface="+mn-lt"/>
              </a:rPr>
              <a:t>dvar]</a:t>
            </a:r>
            <a:r>
              <a:rPr lang="en-US" altLang="zh-CN" sz="2200" b="1" dirty="0">
                <a:solidFill>
                  <a:srgbClr val="00B050"/>
                </a:solidFill>
                <a:latin typeface="+mn-lt"/>
              </a:rPr>
              <a:t>		</a:t>
            </a:r>
            <a:r>
              <a:rPr lang="en-US" altLang="zh-CN" sz="2200" dirty="0">
                <a:solidFill>
                  <a:srgbClr val="FF0000"/>
                </a:solidFill>
                <a:latin typeface="+mn-lt"/>
              </a:rPr>
              <a:t>; </a:t>
            </a:r>
            <a:r>
              <a:rPr lang="zh-CN" altLang="en-US" sz="2200" dirty="0">
                <a:solidFill>
                  <a:srgbClr val="FF0000"/>
                </a:solidFill>
                <a:latin typeface="+mn-lt"/>
              </a:rPr>
              <a:t>变量</a:t>
            </a:r>
            <a:r>
              <a:rPr lang="en-US" altLang="zh-CN" sz="2200" dirty="0">
                <a:solidFill>
                  <a:srgbClr val="FF0000"/>
                </a:solidFill>
                <a:latin typeface="+mn-lt"/>
              </a:rPr>
              <a:t>DVAR</a:t>
            </a:r>
            <a:r>
              <a:rPr lang="zh-CN" altLang="en-US" sz="2200" dirty="0">
                <a:solidFill>
                  <a:srgbClr val="FF0000"/>
                </a:solidFill>
                <a:latin typeface="+mn-lt"/>
              </a:rPr>
              <a:t>第一个数据压入堆栈</a:t>
            </a:r>
            <a:r>
              <a:rPr lang="en-US" altLang="zh-CN" sz="2200" dirty="0">
                <a:solidFill>
                  <a:srgbClr val="00B050"/>
                </a:solidFill>
                <a:latin typeface="+mn-lt"/>
              </a:rPr>
              <a:t>(67762000H)</a:t>
            </a:r>
            <a:endParaRPr lang="zh-CN" altLang="en-US" sz="2200" dirty="0">
              <a:solidFill>
                <a:srgbClr val="00B050"/>
              </a:solidFill>
              <a:latin typeface="+mn-lt"/>
            </a:endParaRPr>
          </a:p>
          <a:p>
            <a:pPr>
              <a:lnSpc>
                <a:spcPct val="130000"/>
              </a:lnSpc>
            </a:pPr>
            <a:r>
              <a:rPr lang="en-US" altLang="zh-CN" sz="2200" b="1" dirty="0">
                <a:latin typeface="+mn-lt"/>
              </a:rPr>
              <a:t>pop </a:t>
            </a:r>
            <a:r>
              <a:rPr lang="en-US" altLang="zh-CN" sz="2200" b="1" dirty="0" err="1">
                <a:latin typeface="+mn-lt"/>
              </a:rPr>
              <a:t>eax</a:t>
            </a:r>
            <a:r>
              <a:rPr lang="en-US" altLang="zh-CN" sz="2200" b="1" dirty="0">
                <a:solidFill>
                  <a:srgbClr val="00B050"/>
                </a:solidFill>
                <a:latin typeface="+mn-lt"/>
              </a:rPr>
              <a:t>		</a:t>
            </a:r>
            <a:r>
              <a:rPr lang="en-US" altLang="zh-CN" sz="2200" dirty="0">
                <a:solidFill>
                  <a:srgbClr val="FF0000"/>
                </a:solidFill>
                <a:latin typeface="+mn-lt"/>
              </a:rPr>
              <a:t>; </a:t>
            </a:r>
            <a:r>
              <a:rPr lang="zh-CN" altLang="en-US" sz="2200" dirty="0">
                <a:solidFill>
                  <a:srgbClr val="FF0000"/>
                </a:solidFill>
                <a:latin typeface="+mn-lt"/>
              </a:rPr>
              <a:t>栈顶数据弹出到</a:t>
            </a:r>
            <a:r>
              <a:rPr lang="en-US" altLang="zh-CN" sz="2200" dirty="0">
                <a:solidFill>
                  <a:srgbClr val="FF0000"/>
                </a:solidFill>
                <a:latin typeface="+mn-lt"/>
              </a:rPr>
              <a:t>EAX</a:t>
            </a:r>
            <a:r>
              <a:rPr lang="en-US" altLang="zh-CN" sz="2200" dirty="0">
                <a:solidFill>
                  <a:srgbClr val="00B050"/>
                </a:solidFill>
                <a:latin typeface="+mn-lt"/>
              </a:rPr>
              <a:t>(67762000H)</a:t>
            </a:r>
            <a:endParaRPr lang="zh-CN" altLang="en-US" sz="2200" dirty="0">
              <a:solidFill>
                <a:srgbClr val="00B050"/>
              </a:solidFill>
              <a:latin typeface="+mn-lt"/>
            </a:endParaRPr>
          </a:p>
          <a:p>
            <a:pPr>
              <a:lnSpc>
                <a:spcPct val="130000"/>
              </a:lnSpc>
            </a:pPr>
            <a:r>
              <a:rPr lang="en-US" altLang="zh-CN" sz="2200" b="1" dirty="0">
                <a:latin typeface="+mn-lt"/>
              </a:rPr>
              <a:t>pop [dvar+4]</a:t>
            </a:r>
            <a:r>
              <a:rPr lang="en-US" altLang="zh-CN" sz="2200" dirty="0">
                <a:solidFill>
                  <a:srgbClr val="FF0000"/>
                </a:solidFill>
                <a:latin typeface="+mn-lt"/>
              </a:rPr>
              <a:t>		; </a:t>
            </a:r>
            <a:r>
              <a:rPr lang="zh-CN" altLang="en-US" sz="2200" dirty="0">
                <a:solidFill>
                  <a:srgbClr val="FF0000"/>
                </a:solidFill>
                <a:latin typeface="+mn-lt"/>
              </a:rPr>
              <a:t>栈顶数据弹出到</a:t>
            </a:r>
            <a:r>
              <a:rPr lang="en-US" altLang="zh-CN" sz="2200" dirty="0">
                <a:solidFill>
                  <a:srgbClr val="FF0000"/>
                </a:solidFill>
                <a:latin typeface="+mn-lt"/>
              </a:rPr>
              <a:t>DVAR</a:t>
            </a:r>
            <a:r>
              <a:rPr lang="zh-CN" altLang="en-US" sz="2200" dirty="0">
                <a:solidFill>
                  <a:srgbClr val="FF0000"/>
                </a:solidFill>
                <a:latin typeface="+mn-lt"/>
              </a:rPr>
              <a:t>＋</a:t>
            </a:r>
            <a:r>
              <a:rPr lang="en-US" altLang="zh-CN" sz="2200" dirty="0">
                <a:solidFill>
                  <a:srgbClr val="FF0000"/>
                </a:solidFill>
                <a:latin typeface="+mn-lt"/>
              </a:rPr>
              <a:t>4</a:t>
            </a:r>
            <a:r>
              <a:rPr lang="en-US" altLang="zh-CN" sz="2200" dirty="0">
                <a:solidFill>
                  <a:srgbClr val="00B050"/>
                </a:solidFill>
                <a:latin typeface="+mn-lt"/>
              </a:rPr>
              <a:t>(0000000AH)</a:t>
            </a:r>
            <a:endParaRPr lang="zh-CN" altLang="en-US" sz="2200" dirty="0">
              <a:solidFill>
                <a:srgbClr val="00B050"/>
              </a:solidFill>
              <a:latin typeface="+mn-lt"/>
            </a:endParaRPr>
          </a:p>
          <a:p>
            <a:pPr>
              <a:lnSpc>
                <a:spcPct val="130000"/>
              </a:lnSpc>
            </a:pPr>
            <a:r>
              <a:rPr lang="en-US" altLang="zh-CN" sz="2200" b="1" dirty="0">
                <a:latin typeface="+mn-lt"/>
              </a:rPr>
              <a:t>mov </a:t>
            </a:r>
            <a:r>
              <a:rPr lang="en-US" altLang="zh-CN" sz="2200" b="1" dirty="0" err="1">
                <a:latin typeface="+mn-lt"/>
              </a:rPr>
              <a:t>ebx</a:t>
            </a:r>
            <a:r>
              <a:rPr lang="en-US" altLang="zh-CN" sz="2200" b="1" dirty="0">
                <a:latin typeface="+mn-lt"/>
              </a:rPr>
              <a:t>, [dvar+4]</a:t>
            </a:r>
            <a:r>
              <a:rPr lang="en-US" altLang="zh-CN" sz="2200" b="1" dirty="0">
                <a:solidFill>
                  <a:srgbClr val="00B050"/>
                </a:solidFill>
                <a:latin typeface="+mn-lt"/>
              </a:rPr>
              <a:t>	</a:t>
            </a:r>
            <a:r>
              <a:rPr lang="en-US" altLang="zh-CN" sz="2200" dirty="0">
                <a:solidFill>
                  <a:srgbClr val="FF0000"/>
                </a:solidFill>
                <a:latin typeface="+mn-lt"/>
              </a:rPr>
              <a:t>; EBX</a:t>
            </a:r>
            <a:r>
              <a:rPr lang="zh-CN" altLang="en-US" sz="2200" dirty="0">
                <a:solidFill>
                  <a:srgbClr val="FF0000"/>
                </a:solidFill>
                <a:latin typeface="+mn-lt"/>
              </a:rPr>
              <a:t>＝</a:t>
            </a:r>
            <a:r>
              <a:rPr lang="en-US" altLang="zh-CN" sz="2200" dirty="0">
                <a:solidFill>
                  <a:srgbClr val="FF0000"/>
                </a:solidFill>
                <a:latin typeface="+mn-lt"/>
              </a:rPr>
              <a:t>000000AH</a:t>
            </a:r>
            <a:endParaRPr lang="en-US" altLang="zh-CN" sz="2200" dirty="0">
              <a:solidFill>
                <a:srgbClr val="FF0000"/>
              </a:solidFill>
              <a:latin typeface="+mn-lt"/>
            </a:endParaRPr>
          </a:p>
          <a:p>
            <a:pPr>
              <a:lnSpc>
                <a:spcPct val="130000"/>
              </a:lnSpc>
            </a:pPr>
            <a:r>
              <a:rPr lang="en-US" altLang="zh-CN" sz="2200" b="1" dirty="0">
                <a:latin typeface="+mn-lt"/>
              </a:rPr>
              <a:t>pop </a:t>
            </a:r>
            <a:r>
              <a:rPr lang="en-US" altLang="zh-CN" sz="2200" b="1" dirty="0" err="1">
                <a:latin typeface="+mn-lt"/>
              </a:rPr>
              <a:t>ecx</a:t>
            </a:r>
            <a:r>
              <a:rPr lang="en-US" altLang="zh-CN" sz="2200" b="1" dirty="0">
                <a:latin typeface="+mn-lt"/>
              </a:rPr>
              <a:t>	</a:t>
            </a:r>
            <a:r>
              <a:rPr lang="en-US" altLang="zh-CN" sz="2200" b="1" dirty="0">
                <a:solidFill>
                  <a:srgbClr val="00B050"/>
                </a:solidFill>
                <a:latin typeface="+mn-lt"/>
              </a:rPr>
              <a:t>		</a:t>
            </a:r>
            <a:r>
              <a:rPr lang="en-US" altLang="zh-CN" sz="2200" dirty="0">
                <a:solidFill>
                  <a:srgbClr val="FF0000"/>
                </a:solidFill>
                <a:latin typeface="+mn-lt"/>
              </a:rPr>
              <a:t>; </a:t>
            </a:r>
            <a:r>
              <a:rPr lang="zh-CN" altLang="en-US" sz="2200" dirty="0">
                <a:solidFill>
                  <a:srgbClr val="FF0000"/>
                </a:solidFill>
                <a:latin typeface="+mn-lt"/>
              </a:rPr>
              <a:t>栈顶数据弹出到</a:t>
            </a:r>
            <a:r>
              <a:rPr lang="en-US" altLang="zh-CN" sz="2200" dirty="0">
                <a:solidFill>
                  <a:srgbClr val="FF0000"/>
                </a:solidFill>
                <a:latin typeface="+mn-lt"/>
              </a:rPr>
              <a:t>ECX</a:t>
            </a:r>
            <a:r>
              <a:rPr lang="en-US" altLang="zh-CN" sz="2200" dirty="0">
                <a:solidFill>
                  <a:srgbClr val="00B050"/>
                </a:solidFill>
                <a:latin typeface="+mn-lt"/>
              </a:rPr>
              <a:t>(12345678H)</a:t>
            </a:r>
            <a:endParaRPr lang="zh-CN" altLang="en-US" sz="2200" dirty="0">
              <a:solidFill>
                <a:srgbClr val="00B050"/>
              </a:solidFill>
              <a:latin typeface="+mn-lt"/>
            </a:endParaRPr>
          </a:p>
          <a:p>
            <a:pPr>
              <a:lnSpc>
                <a:spcPct val="130000"/>
              </a:lnSpc>
            </a:pPr>
            <a:r>
              <a:rPr lang="en-US" altLang="zh-CN" sz="2200" b="1" dirty="0">
                <a:latin typeface="+mn-lt"/>
              </a:rPr>
              <a:t>call </a:t>
            </a:r>
            <a:r>
              <a:rPr lang="en-US" altLang="zh-CN" sz="2200" b="1" dirty="0" err="1">
                <a:latin typeface="+mn-lt"/>
              </a:rPr>
              <a:t>disprd</a:t>
            </a:r>
            <a:endParaRPr lang="en-US" altLang="zh-CN" sz="2200" b="1" dirty="0">
              <a:latin typeface="+mn-lt"/>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02221"/>
            <a:ext cx="8424936" cy="5823123"/>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堆栈是程序中不可或缺的存储区域，被很多指令使用</a:t>
            </a:r>
            <a:endParaRPr lang="zh-CN" altLang="en-US" sz="26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200" dirty="0">
                <a:solidFill>
                  <a:schemeClr val="tx1"/>
                </a:solidFill>
                <a:latin typeface="+mn-lt"/>
              </a:rPr>
              <a:t>堆栈操作指令</a:t>
            </a:r>
            <a:r>
              <a:rPr lang="en-US" altLang="zh-CN" sz="2200" dirty="0">
                <a:solidFill>
                  <a:schemeClr val="tx1"/>
                </a:solidFill>
                <a:latin typeface="+mn-lt"/>
              </a:rPr>
              <a:t>PUSH</a:t>
            </a:r>
            <a:r>
              <a:rPr lang="zh-CN" altLang="en-US" sz="2200" dirty="0">
                <a:solidFill>
                  <a:schemeClr val="tx1"/>
                </a:solidFill>
                <a:latin typeface="+mn-lt"/>
              </a:rPr>
              <a:t>和</a:t>
            </a:r>
            <a:r>
              <a:rPr lang="en-US" altLang="zh-CN" sz="2200" dirty="0">
                <a:solidFill>
                  <a:schemeClr val="tx1"/>
                </a:solidFill>
                <a:latin typeface="+mn-lt"/>
              </a:rPr>
              <a:t>POP</a:t>
            </a:r>
            <a:endParaRPr lang="zh-CN" altLang="en-US" sz="22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200" dirty="0">
                <a:solidFill>
                  <a:schemeClr val="tx1"/>
                </a:solidFill>
                <a:latin typeface="+mn-lt"/>
              </a:rPr>
              <a:t>子程序调用</a:t>
            </a:r>
            <a:r>
              <a:rPr lang="en-US" altLang="zh-CN" sz="2200" dirty="0">
                <a:solidFill>
                  <a:schemeClr val="tx1"/>
                </a:solidFill>
                <a:latin typeface="+mn-lt"/>
              </a:rPr>
              <a:t>CALL</a:t>
            </a:r>
            <a:r>
              <a:rPr lang="zh-CN" altLang="en-US" sz="2200" dirty="0">
                <a:solidFill>
                  <a:schemeClr val="tx1"/>
                </a:solidFill>
                <a:latin typeface="+mn-lt"/>
              </a:rPr>
              <a:t>和返回</a:t>
            </a:r>
            <a:r>
              <a:rPr lang="en-US" altLang="zh-CN" sz="2200" dirty="0">
                <a:solidFill>
                  <a:schemeClr val="tx1"/>
                </a:solidFill>
                <a:latin typeface="+mn-lt"/>
              </a:rPr>
              <a:t>RET</a:t>
            </a:r>
            <a:r>
              <a:rPr lang="zh-CN" altLang="en-US" sz="2200" dirty="0">
                <a:solidFill>
                  <a:schemeClr val="tx1"/>
                </a:solidFill>
                <a:latin typeface="+mn-lt"/>
              </a:rPr>
              <a:t>，中断调用</a:t>
            </a:r>
            <a:r>
              <a:rPr lang="en-US" altLang="zh-CN" sz="2200" dirty="0">
                <a:solidFill>
                  <a:schemeClr val="tx1"/>
                </a:solidFill>
                <a:latin typeface="+mn-lt"/>
              </a:rPr>
              <a:t>INT</a:t>
            </a:r>
            <a:r>
              <a:rPr lang="zh-CN" altLang="en-US" sz="2200" dirty="0">
                <a:solidFill>
                  <a:schemeClr val="tx1"/>
                </a:solidFill>
                <a:latin typeface="+mn-lt"/>
              </a:rPr>
              <a:t>和返回</a:t>
            </a:r>
            <a:r>
              <a:rPr lang="en-US" altLang="zh-CN" sz="2200" dirty="0">
                <a:solidFill>
                  <a:schemeClr val="tx1"/>
                </a:solidFill>
                <a:latin typeface="+mn-lt"/>
              </a:rPr>
              <a:t>IRET</a:t>
            </a:r>
            <a:r>
              <a:rPr lang="zh-CN" altLang="en-US" sz="2200" dirty="0">
                <a:solidFill>
                  <a:schemeClr val="tx1"/>
                </a:solidFill>
                <a:latin typeface="+mn-lt"/>
              </a:rPr>
              <a:t>等</a:t>
            </a:r>
            <a:endParaRPr lang="zh-CN" altLang="en-US" sz="22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200" dirty="0">
                <a:solidFill>
                  <a:schemeClr val="tx1"/>
                </a:solidFill>
                <a:latin typeface="+mn-lt"/>
              </a:rPr>
              <a:t>内部异常、外部中断等也利用堆栈、修改</a:t>
            </a:r>
            <a:r>
              <a:rPr lang="en-US" altLang="zh-CN" sz="2200" dirty="0">
                <a:solidFill>
                  <a:schemeClr val="tx1"/>
                </a:solidFill>
                <a:latin typeface="+mn-lt"/>
              </a:rPr>
              <a:t>ESP</a:t>
            </a:r>
            <a:r>
              <a:rPr lang="zh-CN" altLang="en-US" sz="2200" dirty="0">
                <a:solidFill>
                  <a:schemeClr val="tx1"/>
                </a:solidFill>
                <a:latin typeface="+mn-lt"/>
              </a:rPr>
              <a:t>值</a:t>
            </a:r>
            <a:endParaRPr lang="zh-CN" altLang="en-US" sz="22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堆栈可用来临时存放数据，以便随时恢复它们</a:t>
            </a:r>
            <a:endParaRPr lang="zh-CN" altLang="en-US" sz="26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200" dirty="0">
                <a:solidFill>
                  <a:schemeClr val="tx1"/>
                </a:solidFill>
                <a:latin typeface="+mn-lt"/>
              </a:rPr>
              <a:t>常利用</a:t>
            </a:r>
            <a:r>
              <a:rPr lang="zh-CN" altLang="en-US" sz="2200" dirty="0">
                <a:solidFill>
                  <a:srgbClr val="FF0000"/>
                </a:solidFill>
                <a:latin typeface="+mn-lt"/>
              </a:rPr>
              <a:t>堆栈基址指针</a:t>
            </a:r>
            <a:r>
              <a:rPr lang="en-US" altLang="zh-CN" sz="2200" dirty="0">
                <a:solidFill>
                  <a:srgbClr val="FF0000"/>
                </a:solidFill>
                <a:latin typeface="+mn-lt"/>
              </a:rPr>
              <a:t>EBP</a:t>
            </a:r>
            <a:r>
              <a:rPr lang="zh-CN" altLang="en-US" sz="2200" dirty="0">
                <a:solidFill>
                  <a:schemeClr val="tx1"/>
                </a:solidFill>
                <a:latin typeface="+mn-lt"/>
              </a:rPr>
              <a:t>，</a:t>
            </a:r>
            <a:r>
              <a:rPr lang="zh-CN" altLang="en-US" sz="2200" dirty="0">
                <a:solidFill>
                  <a:schemeClr val="tx1"/>
                </a:solidFill>
                <a:highlight>
                  <a:srgbClr val="FFFF00"/>
                </a:highlight>
                <a:latin typeface="+mn-lt"/>
              </a:rPr>
              <a:t>随机读写</a:t>
            </a:r>
            <a:r>
              <a:rPr lang="zh-CN" altLang="en-US" sz="2200" dirty="0">
                <a:solidFill>
                  <a:schemeClr val="tx1"/>
                </a:solidFill>
                <a:latin typeface="+mn-lt"/>
              </a:rPr>
              <a:t>堆栈数据</a:t>
            </a:r>
            <a:endParaRPr lang="en-US" altLang="zh-CN" sz="22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sz="28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zh-CN" altLang="en-US"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利用堆栈</a:t>
            </a:r>
            <a:r>
              <a:rPr lang="zh-CN" altLang="en-US" sz="2600" dirty="0">
                <a:solidFill>
                  <a:srgbClr val="FF0000"/>
                </a:solidFill>
                <a:latin typeface="+mn-lt"/>
              </a:rPr>
              <a:t>实现主、子程序间传递参数</a:t>
            </a:r>
            <a:endParaRPr lang="zh-CN" altLang="en-US" sz="2600" dirty="0">
              <a:solidFill>
                <a:srgbClr val="FF0000"/>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堆栈还常用于子程序的寄存器保护和恢复</a:t>
            </a:r>
            <a:endParaRPr lang="zh-CN" altLang="en-US" sz="26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200" dirty="0">
                <a:solidFill>
                  <a:schemeClr val="tx1"/>
                </a:solidFill>
                <a:latin typeface="+mn-lt"/>
              </a:rPr>
              <a:t>将全部</a:t>
            </a:r>
            <a:r>
              <a:rPr lang="en-US" altLang="zh-CN" sz="2200" dirty="0">
                <a:solidFill>
                  <a:schemeClr val="tx1"/>
                </a:solidFill>
                <a:latin typeface="+mn-lt"/>
              </a:rPr>
              <a:t>32</a:t>
            </a:r>
            <a:r>
              <a:rPr lang="zh-CN" altLang="en-US" sz="2200" dirty="0">
                <a:solidFill>
                  <a:schemeClr val="tx1"/>
                </a:solidFill>
                <a:latin typeface="+mn-lt"/>
              </a:rPr>
              <a:t>位通用寄存器进展</a:t>
            </a:r>
            <a:r>
              <a:rPr lang="en-US" altLang="zh-CN" sz="2200" dirty="0">
                <a:solidFill>
                  <a:srgbClr val="FF0000"/>
                </a:solidFill>
                <a:latin typeface="+mn-lt"/>
              </a:rPr>
              <a:t>PUSHAD</a:t>
            </a:r>
            <a:r>
              <a:rPr lang="zh-CN" altLang="en-US" sz="2200" dirty="0">
                <a:solidFill>
                  <a:schemeClr val="tx1"/>
                </a:solidFill>
                <a:latin typeface="+mn-lt"/>
              </a:rPr>
              <a:t>和出栈</a:t>
            </a:r>
            <a:r>
              <a:rPr lang="en-US" altLang="zh-CN" sz="2200" dirty="0">
                <a:solidFill>
                  <a:srgbClr val="FF0000"/>
                </a:solidFill>
                <a:latin typeface="+mn-lt"/>
              </a:rPr>
              <a:t>POPAD</a:t>
            </a:r>
            <a:r>
              <a:rPr lang="zh-CN" altLang="en-US" sz="2200" dirty="0">
                <a:solidFill>
                  <a:schemeClr val="tx1"/>
                </a:solidFill>
                <a:latin typeface="+mn-lt"/>
              </a:rPr>
              <a:t>指令</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堆栈的应用</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Rectangle 3"/>
          <p:cNvSpPr>
            <a:spLocks noChangeArrowheads="1"/>
          </p:cNvSpPr>
          <p:nvPr/>
        </p:nvSpPr>
        <p:spPr bwMode="auto">
          <a:xfrm>
            <a:off x="1043608" y="3576835"/>
            <a:ext cx="7488832" cy="136433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mov </a:t>
            </a:r>
            <a:r>
              <a:rPr lang="en-US" altLang="zh-CN" sz="2200" b="1" dirty="0" err="1">
                <a:solidFill>
                  <a:srgbClr val="00B050"/>
                </a:solidFill>
                <a:latin typeface="+mj-lt"/>
                <a:ea typeface="黑体" panose="02010609060101010101" pitchFamily="49" charset="-122"/>
              </a:rPr>
              <a:t>ebp,esp</a:t>
            </a: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 EBP</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ESP</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mov </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,[ebp+8]	                  </a:t>
            </a:r>
            <a:r>
              <a:rPr lang="en-US" altLang="zh-CN" sz="2200" dirty="0">
                <a:solidFill>
                  <a:schemeClr val="tx1"/>
                </a:solidFill>
                <a:latin typeface="+mj-lt"/>
                <a:ea typeface="黑体" panose="02010609060101010101" pitchFamily="49" charset="-122"/>
              </a:rPr>
              <a:t>; EAX←SS:[EBP+8]</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mov [</a:t>
            </a:r>
            <a:r>
              <a:rPr lang="en-US" altLang="zh-CN" sz="2200" b="1" dirty="0" err="1">
                <a:solidFill>
                  <a:srgbClr val="00B050"/>
                </a:solidFill>
                <a:latin typeface="+mj-lt"/>
                <a:ea typeface="黑体" panose="02010609060101010101" pitchFamily="49" charset="-122"/>
              </a:rPr>
              <a:t>ebp</a:t>
            </a:r>
            <a:r>
              <a:rPr lang="en-US" altLang="zh-CN" sz="2200" b="1" dirty="0">
                <a:solidFill>
                  <a:srgbClr val="00B050"/>
                </a:solidFill>
                <a:latin typeface="+mj-lt"/>
                <a:ea typeface="黑体" panose="02010609060101010101" pitchFamily="49" charset="-122"/>
              </a:rPr>
              <a:t>],</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 SS:[EBP]←EAX</a:t>
            </a:r>
            <a:endParaRPr lang="en-US" altLang="zh-CN" sz="2200" dirty="0">
              <a:solidFill>
                <a:schemeClr val="tx1"/>
              </a:solidFill>
              <a:latin typeface="+mj-lt"/>
              <a:ea typeface="黑体" panose="020106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750" y="721360"/>
            <a:ext cx="8065135" cy="5598795"/>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数据传送类指令</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通用数据传送指令：</a:t>
            </a:r>
            <a:r>
              <a:rPr lang="en-US" altLang="zh-CN" sz="2400" dirty="0">
                <a:solidFill>
                  <a:srgbClr val="FF0000"/>
                </a:solidFill>
                <a:latin typeface="+mn-lt"/>
              </a:rPr>
              <a:t>MOV(Move)</a:t>
            </a:r>
            <a:r>
              <a:rPr lang="zh-CN" altLang="en-US" sz="2400" dirty="0">
                <a:solidFill>
                  <a:schemeClr val="tx1"/>
                </a:solidFill>
                <a:latin typeface="+mn-lt"/>
              </a:rPr>
              <a:t>和</a:t>
            </a:r>
            <a:r>
              <a:rPr lang="en-US" altLang="zh-CN" sz="2400" dirty="0">
                <a:solidFill>
                  <a:srgbClr val="FF0000"/>
                </a:solidFill>
                <a:latin typeface="+mn-lt"/>
              </a:rPr>
              <a:t>XCHG(Exchange)</a:t>
            </a:r>
            <a:endParaRPr lang="zh-CN" altLang="en-US" sz="2400" dirty="0">
              <a:solidFill>
                <a:srgbClr val="FF0000"/>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堆栈操作指令：</a:t>
            </a:r>
            <a:r>
              <a:rPr lang="en-US" altLang="zh-CN" sz="2400" dirty="0">
                <a:solidFill>
                  <a:srgbClr val="FF0000"/>
                </a:solidFill>
                <a:latin typeface="+mn-lt"/>
              </a:rPr>
              <a:t>PUSH</a:t>
            </a:r>
            <a:r>
              <a:rPr lang="zh-CN" altLang="en-US" sz="2400" dirty="0">
                <a:solidFill>
                  <a:schemeClr val="tx1"/>
                </a:solidFill>
                <a:latin typeface="+mn-lt"/>
              </a:rPr>
              <a:t>和</a:t>
            </a:r>
            <a:r>
              <a:rPr lang="en-US" altLang="zh-CN" sz="2400" dirty="0">
                <a:solidFill>
                  <a:srgbClr val="FF0000"/>
                </a:solidFill>
                <a:latin typeface="+mn-lt"/>
              </a:rPr>
              <a:t>POP</a:t>
            </a:r>
            <a:r>
              <a:rPr lang="zh-CN" altLang="en-US" sz="2400" dirty="0">
                <a:solidFill>
                  <a:schemeClr val="tx1"/>
                </a:solidFill>
                <a:latin typeface="+mn-lt"/>
              </a:rPr>
              <a:t>、</a:t>
            </a:r>
            <a:r>
              <a:rPr lang="en-US" altLang="zh-CN" sz="2400" dirty="0">
                <a:solidFill>
                  <a:srgbClr val="FF0000"/>
                </a:solidFill>
                <a:latin typeface="+mn-lt"/>
              </a:rPr>
              <a:t>PUSHAD</a:t>
            </a:r>
            <a:r>
              <a:rPr lang="zh-CN" altLang="en-US" sz="2400" dirty="0">
                <a:solidFill>
                  <a:schemeClr val="tx1"/>
                </a:solidFill>
                <a:latin typeface="+mn-lt"/>
              </a:rPr>
              <a:t>和</a:t>
            </a:r>
            <a:r>
              <a:rPr lang="en-US" altLang="zh-CN" sz="2400" dirty="0">
                <a:solidFill>
                  <a:srgbClr val="FF0000"/>
                </a:solidFill>
                <a:latin typeface="+mn-lt"/>
              </a:rPr>
              <a:t>POPAD</a:t>
            </a:r>
            <a:endParaRPr lang="zh-CN" altLang="en-US" sz="2400" dirty="0">
              <a:solidFill>
                <a:srgbClr val="FF0000"/>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其它传送指令</a:t>
            </a: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其它传送指令：针对特定需要设计的专用传送指令</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 </a:t>
            </a:r>
            <a:r>
              <a:rPr lang="zh-CN" altLang="en-US" sz="2400" dirty="0">
                <a:solidFill>
                  <a:schemeClr val="tx1"/>
                </a:solidFill>
                <a:latin typeface="+mn-lt"/>
              </a:rPr>
              <a:t>地址传送指令：</a:t>
            </a:r>
            <a:r>
              <a:rPr lang="en-US" altLang="zh-CN" sz="2400" dirty="0">
                <a:solidFill>
                  <a:schemeClr val="tx1"/>
                </a:solidFill>
                <a:latin typeface="+mn-lt"/>
              </a:rPr>
              <a:t> </a:t>
            </a:r>
            <a:r>
              <a:rPr lang="en-US" altLang="zh-CN" sz="2400" dirty="0">
                <a:solidFill>
                  <a:srgbClr val="00B050"/>
                </a:solidFill>
                <a:latin typeface="+mn-lt"/>
              </a:rPr>
              <a:t>LEA  </a:t>
            </a:r>
            <a:r>
              <a:rPr lang="en-US" altLang="zh-CN" sz="2400" dirty="0">
                <a:solidFill>
                  <a:schemeClr val="tx1"/>
                </a:solidFill>
                <a:latin typeface="+mn-lt"/>
              </a:rPr>
              <a:t>LDS  LES </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换码指令：</a:t>
            </a:r>
            <a:r>
              <a:rPr lang="en-US" altLang="zh-CN" sz="2400" b="1" dirty="0">
                <a:solidFill>
                  <a:srgbClr val="00B050"/>
                </a:solidFill>
                <a:latin typeface="+mj-lt"/>
                <a:ea typeface="黑体" panose="02010609060101010101" pitchFamily="49" charset="-122"/>
              </a:rPr>
              <a:t> </a:t>
            </a:r>
            <a:r>
              <a:rPr lang="en-US" altLang="zh-CN" sz="2400" dirty="0">
                <a:solidFill>
                  <a:srgbClr val="00B050"/>
                </a:solidFill>
                <a:latin typeface="+mj-lt"/>
                <a:ea typeface="黑体" panose="02010609060101010101" pitchFamily="49" charset="-122"/>
              </a:rPr>
              <a:t>XLAT(Translate)</a:t>
            </a:r>
            <a:endParaRPr lang="zh-CN" altLang="en-US" sz="2400" dirty="0">
              <a:solidFill>
                <a:srgbClr val="00B050"/>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标志传送指令：</a:t>
            </a:r>
            <a:r>
              <a:rPr lang="en-US" altLang="zh-CN" sz="2400" b="1" dirty="0">
                <a:solidFill>
                  <a:srgbClr val="00B050"/>
                </a:solidFill>
                <a:latin typeface="+mj-lt"/>
                <a:ea typeface="黑体" panose="02010609060101010101" pitchFamily="49" charset="-122"/>
              </a:rPr>
              <a:t> </a:t>
            </a:r>
            <a:r>
              <a:rPr lang="en-US" altLang="zh-CN" sz="2400" dirty="0">
                <a:solidFill>
                  <a:srgbClr val="00B050"/>
                </a:solidFill>
                <a:latin typeface="+mj-lt"/>
                <a:ea typeface="黑体" panose="02010609060101010101" pitchFamily="49" charset="-122"/>
              </a:rPr>
              <a:t>PUSHFD  </a:t>
            </a:r>
            <a:r>
              <a:rPr lang="en-US" altLang="zh-CN" sz="2400" dirty="0">
                <a:solidFill>
                  <a:srgbClr val="00B050"/>
                </a:solidFill>
                <a:latin typeface="+mj-lt"/>
              </a:rPr>
              <a:t>POPFD CLC  STC </a:t>
            </a:r>
            <a:r>
              <a:rPr lang="en-US" altLang="zh-CN" sz="2400" dirty="0">
                <a:solidFill>
                  <a:srgbClr val="00B050"/>
                </a:solidFill>
                <a:latin typeface="+mj-lt"/>
                <a:ea typeface="黑体" panose="02010609060101010101" pitchFamily="49" charset="-122"/>
              </a:rPr>
              <a:t>…</a:t>
            </a:r>
            <a:endParaRPr lang="en-US" altLang="zh-CN" sz="3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3.1.3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其他传送指令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21271"/>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地址传送指令获取存储器操作数的地址</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800" dirty="0">
                <a:latin typeface="+mn-lt"/>
              </a:rPr>
              <a:t>LEA</a:t>
            </a:r>
            <a:r>
              <a:rPr lang="zh-CN" altLang="en-US" sz="2800" dirty="0">
                <a:latin typeface="+mn-lt"/>
              </a:rPr>
              <a:t>指令类似的地址操作符</a:t>
            </a:r>
            <a:r>
              <a:rPr lang="en-US" altLang="zh-CN" sz="2800" dirty="0">
                <a:latin typeface="+mn-lt"/>
              </a:rPr>
              <a:t>OFFSET</a:t>
            </a:r>
            <a:r>
              <a:rPr lang="zh-CN" altLang="en-US" sz="2800" dirty="0">
                <a:latin typeface="+mn-lt"/>
              </a:rPr>
              <a:t>的作用</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LEA</a:t>
            </a:r>
            <a:r>
              <a:rPr lang="zh-CN" altLang="en-US" sz="2400" dirty="0">
                <a:solidFill>
                  <a:schemeClr val="tx1"/>
                </a:solidFill>
                <a:latin typeface="+mn-lt"/>
              </a:rPr>
              <a:t>指令</a:t>
            </a:r>
            <a:r>
              <a:rPr lang="zh-CN" altLang="en-US" sz="2400" dirty="0">
                <a:solidFill>
                  <a:srgbClr val="FF0000"/>
                </a:solidFill>
                <a:latin typeface="+mn-lt"/>
              </a:rPr>
              <a:t>在指令执行时</a:t>
            </a:r>
            <a:r>
              <a:rPr lang="zh-CN" altLang="en-US" sz="2400" dirty="0">
                <a:solidFill>
                  <a:schemeClr val="tx1"/>
                </a:solidFill>
                <a:latin typeface="+mn-lt"/>
              </a:rPr>
              <a:t>计算出偏移地址</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OFFSET</a:t>
            </a:r>
            <a:r>
              <a:rPr lang="zh-CN" altLang="en-US" sz="2400" dirty="0">
                <a:solidFill>
                  <a:schemeClr val="tx1"/>
                </a:solidFill>
                <a:latin typeface="+mn-lt"/>
              </a:rPr>
              <a:t>操作符</a:t>
            </a:r>
            <a:r>
              <a:rPr lang="zh-CN" altLang="en-US" sz="2400" dirty="0">
                <a:solidFill>
                  <a:srgbClr val="FF0000"/>
                </a:solidFill>
                <a:latin typeface="+mn-lt"/>
              </a:rPr>
              <a:t>在汇编阶段</a:t>
            </a:r>
            <a:r>
              <a:rPr lang="zh-CN" altLang="en-US" sz="2400" dirty="0">
                <a:solidFill>
                  <a:schemeClr val="tx1"/>
                </a:solidFill>
                <a:latin typeface="+mn-lt"/>
              </a:rPr>
              <a:t>取得变量的偏移地址</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OFFSET</a:t>
            </a:r>
            <a:r>
              <a:rPr lang="zh-CN" altLang="en-US" sz="2400" dirty="0">
                <a:solidFill>
                  <a:schemeClr val="tx1"/>
                </a:solidFill>
                <a:latin typeface="+mn-lt"/>
              </a:rPr>
              <a:t>无需在执行时计算、指令执行速度更快</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LEA</a:t>
            </a:r>
            <a:r>
              <a:rPr lang="zh-CN" altLang="en-US" sz="2400" dirty="0">
                <a:solidFill>
                  <a:schemeClr val="tx1"/>
                </a:solidFill>
                <a:latin typeface="+mn-lt"/>
              </a:rPr>
              <a:t>指令能获取汇编阶段无法确定的偏移地址</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地址传送指令</a:t>
            </a:r>
            <a:r>
              <a:rPr kumimoji="1" lang="en-US" altLang="zh-CN" b="0" i="0" u="none" strike="noStrike" kern="0" cap="none" spc="0" normalizeH="0" baseline="0" noProof="0" dirty="0">
                <a:ln>
                  <a:noFill/>
                </a:ln>
                <a:solidFill>
                  <a:srgbClr val="000000"/>
                </a:solidFill>
                <a:effectLst/>
                <a:uLnTx/>
                <a:uFillTx/>
                <a:latin typeface="+mj-lt"/>
                <a:cs typeface="+mj-cs"/>
              </a:rPr>
              <a:t>Address Transfer Instructions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43608" y="1428103"/>
            <a:ext cx="7488832" cy="99278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LEA r16/r32,mem</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;r16/r32←mem</a:t>
            </a:r>
            <a:r>
              <a:rPr lang="zh-CN" altLang="en-US" sz="2200" dirty="0">
                <a:solidFill>
                  <a:schemeClr val="tx1"/>
                </a:solidFill>
                <a:latin typeface="+mj-lt"/>
                <a:ea typeface="黑体" panose="02010609060101010101" pitchFamily="49" charset="-122"/>
              </a:rPr>
              <a:t>的有效地址</a:t>
            </a:r>
            <a:r>
              <a:rPr lang="en-US" altLang="zh-CN" sz="2200" dirty="0">
                <a:solidFill>
                  <a:schemeClr val="tx1"/>
                </a:solidFill>
                <a:latin typeface="+mj-lt"/>
                <a:ea typeface="黑体" panose="02010609060101010101" pitchFamily="49" charset="-122"/>
              </a:rPr>
              <a:t>EA</a:t>
            </a:r>
            <a:r>
              <a:rPr lang="zh-CN" altLang="en-US" sz="2200" dirty="0">
                <a:solidFill>
                  <a:schemeClr val="tx1"/>
                </a:solidFill>
                <a:latin typeface="+mj-lt"/>
                <a:ea typeface="黑体" panose="02010609060101010101" pitchFamily="49" charset="-122"/>
              </a:rPr>
              <a:t>（不需类型一致）</a:t>
            </a:r>
            <a:endParaRPr lang="zh-CN" altLang="en-US" sz="2200" dirty="0">
              <a:solidFill>
                <a:schemeClr val="tx1"/>
              </a:solidFill>
              <a:latin typeface="+mj-lt"/>
              <a:ea typeface="黑体" panose="02010609060101010101" pitchFamily="49" charset="-122"/>
            </a:endParaRPr>
          </a:p>
        </p:txBody>
      </p:sp>
      <p:sp>
        <p:nvSpPr>
          <p:cNvPr id="3" name="Rectangle 3"/>
          <p:cNvSpPr>
            <a:spLocks noChangeArrowheads="1"/>
          </p:cNvSpPr>
          <p:nvPr/>
        </p:nvSpPr>
        <p:spPr bwMode="auto">
          <a:xfrm>
            <a:off x="1043608" y="5431976"/>
            <a:ext cx="7488832" cy="920777"/>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lea </a:t>
            </a:r>
            <a:r>
              <a:rPr lang="en-US" altLang="zh-CN" sz="2200" b="1" dirty="0" err="1">
                <a:solidFill>
                  <a:srgbClr val="00B050"/>
                </a:solidFill>
                <a:latin typeface="+mj-lt"/>
                <a:ea typeface="黑体" panose="02010609060101010101" pitchFamily="49" charset="-122"/>
              </a:rPr>
              <a:t>esi</a:t>
            </a:r>
            <a:r>
              <a:rPr lang="en-US" altLang="zh-CN" sz="2200" b="1" dirty="0">
                <a:solidFill>
                  <a:srgbClr val="00B050"/>
                </a:solidFill>
                <a:latin typeface="+mj-lt"/>
                <a:ea typeface="黑体" panose="02010609060101010101" pitchFamily="49" charset="-122"/>
              </a:rPr>
              <a:t>, var</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mov </a:t>
            </a:r>
            <a:r>
              <a:rPr lang="en-US" altLang="zh-CN" sz="2200" b="1" dirty="0" err="1">
                <a:solidFill>
                  <a:srgbClr val="00B050"/>
                </a:solidFill>
                <a:latin typeface="+mj-lt"/>
                <a:ea typeface="黑体" panose="02010609060101010101" pitchFamily="49" charset="-122"/>
              </a:rPr>
              <a:t>edi</a:t>
            </a:r>
            <a:r>
              <a:rPr lang="en-US" altLang="zh-CN" sz="2200" b="1" dirty="0">
                <a:solidFill>
                  <a:srgbClr val="00B050"/>
                </a:solidFill>
                <a:latin typeface="+mj-lt"/>
                <a:ea typeface="黑体" panose="02010609060101010101" pitchFamily="49" charset="-122"/>
              </a:rPr>
              <a:t>, offset var</a:t>
            </a:r>
            <a:endParaRPr lang="en-US" altLang="zh-CN" sz="2200" b="1" dirty="0">
              <a:solidFill>
                <a:srgbClr val="00B050"/>
              </a:solidFill>
              <a:latin typeface="+mj-lt"/>
              <a:ea typeface="黑体" panose="02010609060101010101" pitchFamily="49" charset="-122"/>
            </a:endParaRPr>
          </a:p>
        </p:txBody>
      </p:sp>
      <p:sp>
        <p:nvSpPr>
          <p:cNvPr id="4" name="内容占位符 2"/>
          <p:cNvSpPr txBox="1"/>
          <p:nvPr/>
        </p:nvSpPr>
        <p:spPr>
          <a:xfrm>
            <a:off x="5724128" y="1424898"/>
            <a:ext cx="2808312" cy="457448"/>
          </a:xfrm>
          <a:prstGeom prst="rect">
            <a:avLst/>
          </a:prstGeom>
          <a:solidFill>
            <a:schemeClr val="bg1"/>
          </a:solidFill>
          <a:ln w="19050">
            <a:solidFill>
              <a:srgbClr val="00B050"/>
            </a:solidFill>
            <a:prstDash val="dash"/>
          </a:ln>
        </p:spPr>
        <p:txBody>
          <a:bodyPr/>
          <a:lstStyle/>
          <a:p>
            <a:pPr algn="ctr">
              <a:lnSpc>
                <a:spcPct val="120000"/>
              </a:lnSpc>
              <a:spcBef>
                <a:spcPts val="0"/>
              </a:spcBef>
              <a:buClr>
                <a:srgbClr val="0000FF"/>
              </a:buClr>
              <a:buSzPct val="100000"/>
              <a:defRPr/>
            </a:pPr>
            <a:r>
              <a:rPr lang="en-US" altLang="zh-CN" sz="2000" b="1" dirty="0">
                <a:solidFill>
                  <a:srgbClr val="FF0000"/>
                </a:solidFill>
                <a:latin typeface="+mn-lt"/>
              </a:rPr>
              <a:t>Load Effective Address</a:t>
            </a:r>
            <a:endParaRPr lang="en-US" altLang="zh-CN" sz="2800" b="1" dirty="0">
              <a:solidFill>
                <a:srgbClr val="FF0000"/>
              </a:solidFill>
              <a:latin typeface="+mn-lt"/>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39552" y="721271"/>
            <a:ext cx="8064896" cy="6136729"/>
          </a:xfrm>
          <a:prstGeom prst="rect">
            <a:avLst/>
          </a:prstGeom>
        </p:spPr>
        <p:txBody>
          <a:bodyPr/>
          <a:lstStyle/>
          <a:p>
            <a:pPr algn="just">
              <a:lnSpc>
                <a:spcPct val="130000"/>
              </a:lnSpc>
              <a:spcBef>
                <a:spcPts val="600"/>
              </a:spcBef>
              <a:buClr>
                <a:srgbClr val="0000FF"/>
              </a:buClr>
              <a:buSzPct val="100000"/>
              <a:defRPr/>
            </a:pPr>
            <a:r>
              <a:rPr lang="zh-CN" altLang="en-US" sz="2600" dirty="0">
                <a:solidFill>
                  <a:schemeClr val="tx1"/>
                </a:solidFill>
                <a:latin typeface="+mn-lt"/>
              </a:rPr>
              <a:t>例：</a:t>
            </a:r>
            <a:r>
              <a:rPr lang="en-US" altLang="zh-CN" sz="2600" dirty="0">
                <a:solidFill>
                  <a:schemeClr val="tx1"/>
                </a:solidFill>
                <a:latin typeface="+mn-lt"/>
              </a:rPr>
              <a:t>LEA</a:t>
            </a:r>
            <a:r>
              <a:rPr lang="zh-CN" altLang="en-US" sz="2600" dirty="0">
                <a:solidFill>
                  <a:schemeClr val="tx1"/>
                </a:solidFill>
                <a:latin typeface="+mn-lt"/>
              </a:rPr>
              <a:t>指令和</a:t>
            </a:r>
            <a:r>
              <a:rPr lang="en-US" altLang="zh-CN" sz="2600" dirty="0">
                <a:solidFill>
                  <a:schemeClr val="tx1"/>
                </a:solidFill>
                <a:latin typeface="+mn-lt"/>
              </a:rPr>
              <a:t>OFFSET</a:t>
            </a:r>
            <a:r>
              <a:rPr lang="zh-CN" altLang="en-US" sz="2600" dirty="0">
                <a:solidFill>
                  <a:schemeClr val="tx1"/>
                </a:solidFill>
                <a:latin typeface="+mn-lt"/>
              </a:rPr>
              <a:t>操作符</a:t>
            </a: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地址传送程序</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69243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 name="箭头: 左弧形 6"/>
          <p:cNvSpPr/>
          <p:nvPr/>
        </p:nvSpPr>
        <p:spPr bwMode="auto">
          <a:xfrm>
            <a:off x="323528" y="3284984"/>
            <a:ext cx="432048" cy="1080120"/>
          </a:xfrm>
          <a:prstGeom prst="curvedRightArrow">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4" name="Rounded Rectangular Callout 2"/>
          <p:cNvSpPr/>
          <p:nvPr/>
        </p:nvSpPr>
        <p:spPr bwMode="auto">
          <a:xfrm>
            <a:off x="2339752" y="5733256"/>
            <a:ext cx="6264696" cy="864096"/>
          </a:xfrm>
          <a:prstGeom prst="wedgeRoundRectCallout">
            <a:avLst>
              <a:gd name="adj1" fmla="val -38333"/>
              <a:gd name="adj2" fmla="val -112682"/>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不能使用</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mov </a:t>
            </a:r>
            <a:r>
              <a:rPr lang="en-US" altLang="zh-CN" sz="2200" b="1" dirty="0" err="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edx</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 offset [</a:t>
            </a:r>
            <a:r>
              <a:rPr lang="en-US" altLang="zh-CN" sz="2200" b="1" dirty="0" err="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esi+edi</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*4+100h]</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代替，因为在汇编阶段还不知道</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ESI</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和</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EDI</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的值</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3" name="矩形 2"/>
          <p:cNvSpPr/>
          <p:nvPr/>
        </p:nvSpPr>
        <p:spPr>
          <a:xfrm>
            <a:off x="683568" y="1268760"/>
            <a:ext cx="7920880" cy="4490085"/>
          </a:xfrm>
          <a:prstGeom prst="rect">
            <a:avLst/>
          </a:prstGeom>
          <a:solidFill>
            <a:srgbClr val="DDEEFF"/>
          </a:solidFill>
          <a:ln w="25400">
            <a:noFill/>
          </a:ln>
        </p:spPr>
        <p:txBody>
          <a:bodyPr wrap="square">
            <a:spAutoFit/>
          </a:bodyPr>
          <a:lstStyle/>
          <a:p>
            <a:pPr>
              <a:lnSpc>
                <a:spcPct val="130000"/>
              </a:lnSpc>
            </a:pPr>
            <a:r>
              <a:rPr lang="en-US" altLang="zh-CN" sz="2200" dirty="0">
                <a:solidFill>
                  <a:srgbClr val="FF0000"/>
                </a:solidFill>
                <a:latin typeface="+mn-lt"/>
              </a:rPr>
              <a:t>; </a:t>
            </a:r>
            <a:r>
              <a:rPr lang="zh-CN" altLang="en-US" sz="2200" dirty="0">
                <a:solidFill>
                  <a:srgbClr val="FF0000"/>
                </a:solidFill>
                <a:latin typeface="+mn-lt"/>
              </a:rPr>
              <a:t>数据段</a:t>
            </a:r>
            <a:endParaRPr lang="zh-CN" altLang="en-US" sz="2200" dirty="0">
              <a:solidFill>
                <a:srgbClr val="FF0000"/>
              </a:solidFill>
              <a:latin typeface="+mn-lt"/>
            </a:endParaRPr>
          </a:p>
          <a:p>
            <a:pPr>
              <a:lnSpc>
                <a:spcPct val="130000"/>
              </a:lnSpc>
            </a:pPr>
            <a:r>
              <a:rPr lang="en-US" altLang="zh-CN" sz="2200" b="1" dirty="0" err="1">
                <a:latin typeface="+mn-lt"/>
              </a:rPr>
              <a:t>dvar</a:t>
            </a:r>
            <a:r>
              <a:rPr lang="en-US" altLang="zh-CN" sz="2200" b="1" dirty="0">
                <a:latin typeface="+mn-lt"/>
              </a:rPr>
              <a:t>	</a:t>
            </a:r>
            <a:r>
              <a:rPr lang="en-US" altLang="zh-CN" sz="2200" b="1" dirty="0" err="1">
                <a:latin typeface="+mn-lt"/>
              </a:rPr>
              <a:t>dword</a:t>
            </a:r>
            <a:r>
              <a:rPr lang="en-US" altLang="zh-CN" sz="2200" b="1" dirty="0">
                <a:latin typeface="+mn-lt"/>
              </a:rPr>
              <a:t> 41424344h</a:t>
            </a:r>
            <a:endParaRPr lang="en-US" altLang="zh-CN" sz="2200" b="1" dirty="0">
              <a:latin typeface="+mn-lt"/>
            </a:endParaRPr>
          </a:p>
          <a:p>
            <a:pPr>
              <a:lnSpc>
                <a:spcPct val="130000"/>
              </a:lnSpc>
            </a:pPr>
            <a:r>
              <a:rPr lang="en-US" altLang="zh-CN" sz="2200" dirty="0">
                <a:solidFill>
                  <a:srgbClr val="FF0000"/>
                </a:solidFill>
                <a:latin typeface="+mn-lt"/>
              </a:rPr>
              <a:t>; </a:t>
            </a:r>
            <a:r>
              <a:rPr lang="zh-CN" altLang="en-US" sz="2200" dirty="0">
                <a:solidFill>
                  <a:srgbClr val="FF0000"/>
                </a:solidFill>
                <a:latin typeface="+mn-lt"/>
              </a:rPr>
              <a:t>代码段</a:t>
            </a:r>
            <a:endParaRPr lang="zh-CN" altLang="en-US" sz="2200" dirty="0">
              <a:solidFill>
                <a:srgbClr val="FF0000"/>
              </a:solidFill>
              <a:latin typeface="+mn-lt"/>
            </a:endParaRPr>
          </a:p>
          <a:p>
            <a:pPr>
              <a:lnSpc>
                <a:spcPct val="130000"/>
              </a:lnSpc>
            </a:pPr>
            <a:r>
              <a:rPr lang="en-US" altLang="zh-CN" sz="2200" b="1" dirty="0">
                <a:latin typeface="+mn-lt"/>
              </a:rPr>
              <a:t>mov </a:t>
            </a:r>
            <a:r>
              <a:rPr lang="en-US" altLang="zh-CN" sz="2200" b="1" dirty="0" err="1">
                <a:latin typeface="+mn-lt"/>
              </a:rPr>
              <a:t>eax</a:t>
            </a:r>
            <a:r>
              <a:rPr lang="en-US" altLang="zh-CN" sz="2200" b="1" dirty="0">
                <a:latin typeface="+mn-lt"/>
              </a:rPr>
              <a:t>, [</a:t>
            </a:r>
            <a:r>
              <a:rPr lang="en-US" altLang="zh-CN" sz="2200" b="1" dirty="0" err="1">
                <a:latin typeface="+mn-lt"/>
              </a:rPr>
              <a:t>dvar]</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41424344H</a:t>
            </a:r>
            <a:endParaRPr lang="en-US" altLang="zh-CN" sz="2200" dirty="0">
              <a:solidFill>
                <a:srgbClr val="FF0000"/>
              </a:solidFill>
              <a:latin typeface="+mn-lt"/>
            </a:endParaRPr>
          </a:p>
          <a:p>
            <a:pPr>
              <a:lnSpc>
                <a:spcPct val="130000"/>
              </a:lnSpc>
            </a:pPr>
            <a:r>
              <a:rPr lang="en-US" altLang="zh-CN" sz="2200" b="1" dirty="0">
                <a:solidFill>
                  <a:srgbClr val="00B050"/>
                </a:solidFill>
                <a:latin typeface="+mn-lt"/>
              </a:rPr>
              <a:t>lea </a:t>
            </a:r>
            <a:r>
              <a:rPr lang="en-US" altLang="zh-CN" sz="2200" b="1" dirty="0" err="1">
                <a:solidFill>
                  <a:srgbClr val="00B050"/>
                </a:solidFill>
                <a:latin typeface="+mn-lt"/>
              </a:rPr>
              <a:t>esi</a:t>
            </a:r>
            <a:r>
              <a:rPr lang="en-US" altLang="zh-CN" sz="2200" b="1" dirty="0">
                <a:solidFill>
                  <a:srgbClr val="00B050"/>
                </a:solidFill>
                <a:latin typeface="+mn-lt"/>
              </a:rPr>
              <a:t>, </a:t>
            </a:r>
            <a:r>
              <a:rPr lang="en-US" altLang="zh-CN" sz="2200" b="1" dirty="0" err="1">
                <a:solidFill>
                  <a:srgbClr val="00B050"/>
                </a:solidFill>
                <a:latin typeface="+mn-lt"/>
              </a:rPr>
              <a:t>dvar</a:t>
            </a:r>
            <a:r>
              <a:rPr lang="en-US" altLang="zh-CN" sz="2200" dirty="0">
                <a:solidFill>
                  <a:srgbClr val="00B050"/>
                </a:solidFill>
                <a:latin typeface="+mn-lt"/>
              </a:rPr>
              <a:t>	</a:t>
            </a:r>
            <a:r>
              <a:rPr lang="en-US" altLang="zh-CN" sz="2200" dirty="0">
                <a:solidFill>
                  <a:srgbClr val="FF0000"/>
                </a:solidFill>
                <a:latin typeface="+mn-lt"/>
              </a:rPr>
              <a:t>		; ESI</a:t>
            </a:r>
            <a:r>
              <a:rPr lang="zh-CN" altLang="en-US" sz="2200" dirty="0">
                <a:solidFill>
                  <a:srgbClr val="FF0000"/>
                </a:solidFill>
                <a:latin typeface="+mn-lt"/>
              </a:rPr>
              <a:t>指向</a:t>
            </a:r>
            <a:r>
              <a:rPr lang="en-US" altLang="zh-CN" sz="2200" dirty="0">
                <a:solidFill>
                  <a:srgbClr val="FF0000"/>
                </a:solidFill>
                <a:latin typeface="+mn-lt"/>
              </a:rPr>
              <a:t>DVAR</a:t>
            </a:r>
            <a:endParaRPr lang="en-US" altLang="zh-CN" sz="2200" dirty="0">
              <a:solidFill>
                <a:srgbClr val="FF0000"/>
              </a:solidFill>
              <a:latin typeface="+mn-lt"/>
            </a:endParaRPr>
          </a:p>
          <a:p>
            <a:pPr>
              <a:lnSpc>
                <a:spcPct val="130000"/>
              </a:lnSpc>
            </a:pPr>
            <a:r>
              <a:rPr lang="en-US" altLang="zh-CN" sz="2200" b="1" dirty="0">
                <a:latin typeface="+mn-lt"/>
              </a:rPr>
              <a:t>mov </a:t>
            </a:r>
            <a:r>
              <a:rPr lang="en-US" altLang="zh-CN" sz="2200" b="1" dirty="0" err="1">
                <a:latin typeface="+mn-lt"/>
              </a:rPr>
              <a:t>ebx</a:t>
            </a:r>
            <a:r>
              <a:rPr lang="en-US" altLang="zh-CN" sz="2200" b="1" dirty="0">
                <a:latin typeface="+mn-lt"/>
              </a:rPr>
              <a:t>, [</a:t>
            </a:r>
            <a:r>
              <a:rPr lang="en-US" altLang="zh-CN" sz="2200" b="1" dirty="0" err="1">
                <a:latin typeface="+mn-lt"/>
              </a:rPr>
              <a:t>esi</a:t>
            </a:r>
            <a:r>
              <a:rPr lang="en-US" altLang="zh-CN" sz="2200" b="1" dirty="0">
                <a:latin typeface="+mn-lt"/>
              </a:rPr>
              <a:t>]</a:t>
            </a:r>
            <a:r>
              <a:rPr lang="en-US" altLang="zh-CN" sz="2200" dirty="0">
                <a:solidFill>
                  <a:srgbClr val="FF0000"/>
                </a:solidFill>
                <a:latin typeface="+mn-lt"/>
              </a:rPr>
              <a:t>			; EBX</a:t>
            </a:r>
            <a:r>
              <a:rPr lang="zh-CN" altLang="en-US" sz="2200" dirty="0">
                <a:solidFill>
                  <a:srgbClr val="FF0000"/>
                </a:solidFill>
                <a:latin typeface="+mn-lt"/>
              </a:rPr>
              <a:t>＝</a:t>
            </a:r>
            <a:r>
              <a:rPr lang="en-US" altLang="zh-CN" sz="2200" dirty="0">
                <a:solidFill>
                  <a:srgbClr val="FF0000"/>
                </a:solidFill>
                <a:latin typeface="+mn-lt"/>
              </a:rPr>
              <a:t>41424344H</a:t>
            </a:r>
            <a:endParaRPr lang="en-US" altLang="zh-CN" sz="2200" dirty="0">
              <a:solidFill>
                <a:srgbClr val="FF0000"/>
              </a:solidFill>
              <a:latin typeface="+mn-lt"/>
            </a:endParaRPr>
          </a:p>
          <a:p>
            <a:pPr>
              <a:lnSpc>
                <a:spcPct val="130000"/>
              </a:lnSpc>
            </a:pPr>
            <a:r>
              <a:rPr lang="en-US" altLang="zh-CN" sz="2200" b="1" dirty="0">
                <a:solidFill>
                  <a:srgbClr val="00B050"/>
                </a:solidFill>
                <a:latin typeface="+mn-lt"/>
              </a:rPr>
              <a:t>mov </a:t>
            </a:r>
            <a:r>
              <a:rPr lang="en-US" altLang="zh-CN" sz="2200" b="1" dirty="0" err="1">
                <a:solidFill>
                  <a:srgbClr val="00B050"/>
                </a:solidFill>
                <a:latin typeface="+mn-lt"/>
              </a:rPr>
              <a:t>edi</a:t>
            </a:r>
            <a:r>
              <a:rPr lang="en-US" altLang="zh-CN" sz="2200" b="1" dirty="0">
                <a:solidFill>
                  <a:srgbClr val="00B050"/>
                </a:solidFill>
                <a:latin typeface="+mn-lt"/>
              </a:rPr>
              <a:t>, offset </a:t>
            </a:r>
            <a:r>
              <a:rPr lang="en-US" altLang="zh-CN" sz="2200" b="1" dirty="0" err="1">
                <a:solidFill>
                  <a:srgbClr val="00B050"/>
                </a:solidFill>
                <a:latin typeface="+mn-lt"/>
              </a:rPr>
              <a:t>dvar</a:t>
            </a:r>
            <a:r>
              <a:rPr lang="en-US" altLang="zh-CN" sz="2200" dirty="0">
                <a:solidFill>
                  <a:srgbClr val="FF0000"/>
                </a:solidFill>
                <a:latin typeface="+mn-lt"/>
              </a:rPr>
              <a:t>		; EDI</a:t>
            </a:r>
            <a:r>
              <a:rPr lang="zh-CN" altLang="en-US" sz="2200" dirty="0">
                <a:solidFill>
                  <a:srgbClr val="FF0000"/>
                </a:solidFill>
                <a:latin typeface="+mn-lt"/>
              </a:rPr>
              <a:t>指向</a:t>
            </a:r>
            <a:r>
              <a:rPr lang="en-US" altLang="zh-CN" sz="2200" dirty="0">
                <a:solidFill>
                  <a:srgbClr val="FF0000"/>
                </a:solidFill>
                <a:latin typeface="+mn-lt"/>
              </a:rPr>
              <a:t>DVAR</a:t>
            </a:r>
            <a:endParaRPr lang="en-US" altLang="zh-CN" sz="2200" dirty="0">
              <a:solidFill>
                <a:srgbClr val="FF0000"/>
              </a:solidFill>
              <a:latin typeface="+mn-lt"/>
            </a:endParaRPr>
          </a:p>
          <a:p>
            <a:pPr>
              <a:lnSpc>
                <a:spcPct val="130000"/>
              </a:lnSpc>
            </a:pPr>
            <a:r>
              <a:rPr lang="en-US" altLang="zh-CN" sz="2200" b="1" dirty="0">
                <a:latin typeface="+mn-lt"/>
              </a:rPr>
              <a:t>mov </a:t>
            </a:r>
            <a:r>
              <a:rPr lang="en-US" altLang="zh-CN" sz="2200" b="1" dirty="0" err="1">
                <a:latin typeface="+mn-lt"/>
              </a:rPr>
              <a:t>ecx</a:t>
            </a:r>
            <a:r>
              <a:rPr lang="en-US" altLang="zh-CN" sz="2200" b="1" dirty="0">
                <a:latin typeface="+mn-lt"/>
              </a:rPr>
              <a:t>, [</a:t>
            </a:r>
            <a:r>
              <a:rPr lang="en-US" altLang="zh-CN" sz="2200" b="1" dirty="0" err="1">
                <a:latin typeface="+mn-lt"/>
              </a:rPr>
              <a:t>edi</a:t>
            </a:r>
            <a:r>
              <a:rPr lang="en-US" altLang="zh-CN" sz="2200" b="1" dirty="0">
                <a:latin typeface="+mn-lt"/>
              </a:rPr>
              <a:t>] 	</a:t>
            </a:r>
            <a:r>
              <a:rPr lang="en-US" altLang="zh-CN" sz="2200" dirty="0">
                <a:solidFill>
                  <a:srgbClr val="FF0000"/>
                </a:solidFill>
                <a:latin typeface="+mn-lt"/>
              </a:rPr>
              <a:t>		; ECX</a:t>
            </a:r>
            <a:r>
              <a:rPr lang="zh-CN" altLang="en-US" sz="2200" dirty="0">
                <a:solidFill>
                  <a:srgbClr val="FF0000"/>
                </a:solidFill>
                <a:latin typeface="+mn-lt"/>
              </a:rPr>
              <a:t>＝</a:t>
            </a:r>
            <a:r>
              <a:rPr lang="en-US" altLang="zh-CN" sz="2200" dirty="0">
                <a:solidFill>
                  <a:srgbClr val="FF0000"/>
                </a:solidFill>
                <a:latin typeface="+mn-lt"/>
              </a:rPr>
              <a:t>41424344H</a:t>
            </a:r>
            <a:endParaRPr lang="en-US" altLang="zh-CN" sz="2200" dirty="0">
              <a:solidFill>
                <a:srgbClr val="FF0000"/>
              </a:solidFill>
              <a:latin typeface="+mn-lt"/>
            </a:endParaRPr>
          </a:p>
          <a:p>
            <a:pPr>
              <a:lnSpc>
                <a:spcPct val="130000"/>
              </a:lnSpc>
            </a:pPr>
            <a:r>
              <a:rPr lang="en-US" altLang="zh-CN" sz="2200" b="1" dirty="0">
                <a:solidFill>
                  <a:srgbClr val="00B050"/>
                </a:solidFill>
                <a:latin typeface="+mn-lt"/>
              </a:rPr>
              <a:t>lea </a:t>
            </a:r>
            <a:r>
              <a:rPr lang="en-US" altLang="zh-CN" sz="2200" b="1" dirty="0" err="1">
                <a:solidFill>
                  <a:srgbClr val="00B050"/>
                </a:solidFill>
                <a:latin typeface="+mn-lt"/>
              </a:rPr>
              <a:t>edx</a:t>
            </a:r>
            <a:r>
              <a:rPr lang="en-US" altLang="zh-CN" sz="2200" b="1" dirty="0">
                <a:solidFill>
                  <a:srgbClr val="00B050"/>
                </a:solidFill>
                <a:latin typeface="+mn-lt"/>
              </a:rPr>
              <a:t>, [</a:t>
            </a:r>
            <a:r>
              <a:rPr lang="en-US" altLang="zh-CN" sz="2200" b="1" dirty="0" err="1">
                <a:solidFill>
                  <a:srgbClr val="00B050"/>
                </a:solidFill>
                <a:latin typeface="+mn-lt"/>
              </a:rPr>
              <a:t>esi+edi</a:t>
            </a:r>
            <a:r>
              <a:rPr lang="en-US" altLang="zh-CN" sz="2200" b="1" dirty="0">
                <a:solidFill>
                  <a:srgbClr val="00B050"/>
                </a:solidFill>
                <a:latin typeface="+mn-lt"/>
              </a:rPr>
              <a:t>*4+100h] </a:t>
            </a:r>
            <a:r>
              <a:rPr lang="en-US" altLang="zh-CN" sz="2200" dirty="0">
                <a:solidFill>
                  <a:srgbClr val="FF0000"/>
                </a:solidFill>
                <a:latin typeface="+mn-lt"/>
              </a:rPr>
              <a:t>	; EDX</a:t>
            </a:r>
            <a:r>
              <a:rPr lang="zh-CN" altLang="en-US" sz="2200" dirty="0">
                <a:solidFill>
                  <a:srgbClr val="FF0000"/>
                </a:solidFill>
                <a:latin typeface="+mn-lt"/>
              </a:rPr>
              <a:t>＝</a:t>
            </a:r>
            <a:r>
              <a:rPr lang="en-US" altLang="zh-CN" sz="2200" dirty="0">
                <a:solidFill>
                  <a:srgbClr val="FF0000"/>
                </a:solidFill>
                <a:latin typeface="+mn-lt"/>
              </a:rPr>
              <a:t>ESI</a:t>
            </a:r>
            <a:r>
              <a:rPr lang="zh-CN" altLang="en-US" sz="2200" dirty="0">
                <a:solidFill>
                  <a:srgbClr val="FF0000"/>
                </a:solidFill>
                <a:latin typeface="+mn-lt"/>
              </a:rPr>
              <a:t>＋</a:t>
            </a:r>
            <a:r>
              <a:rPr lang="en-US" altLang="zh-CN" sz="2200" dirty="0">
                <a:solidFill>
                  <a:srgbClr val="FF0000"/>
                </a:solidFill>
                <a:latin typeface="+mn-lt"/>
              </a:rPr>
              <a:t>EDI×4</a:t>
            </a:r>
            <a:r>
              <a:rPr lang="zh-CN" altLang="en-US" sz="2200" dirty="0">
                <a:solidFill>
                  <a:srgbClr val="FF0000"/>
                </a:solidFill>
                <a:latin typeface="+mn-lt"/>
              </a:rPr>
              <a:t>＋</a:t>
            </a:r>
            <a:r>
              <a:rPr lang="en-US" altLang="zh-CN" sz="2200" dirty="0">
                <a:solidFill>
                  <a:srgbClr val="FF0000"/>
                </a:solidFill>
                <a:latin typeface="+mn-lt"/>
              </a:rPr>
              <a:t>100H</a:t>
            </a:r>
            <a:endParaRPr lang="en-US" altLang="zh-CN" sz="2200" dirty="0">
              <a:solidFill>
                <a:srgbClr val="FF0000"/>
              </a:solidFill>
              <a:latin typeface="+mn-lt"/>
            </a:endParaRPr>
          </a:p>
          <a:p>
            <a:pPr>
              <a:lnSpc>
                <a:spcPct val="130000"/>
              </a:lnSpc>
            </a:pPr>
            <a:r>
              <a:rPr lang="en-US" altLang="zh-CN" sz="2200" b="1" dirty="0">
                <a:latin typeface="+mn-lt"/>
              </a:rPr>
              <a:t>call </a:t>
            </a:r>
            <a:r>
              <a:rPr lang="en-US" altLang="zh-CN" sz="2200" b="1" dirty="0" err="1">
                <a:latin typeface="+mn-lt"/>
              </a:rPr>
              <a:t>disprd</a:t>
            </a:r>
            <a:endParaRPr lang="zh-CN" altLang="en-US" sz="2200" b="1" dirty="0">
              <a:latin typeface="+mn-lt"/>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20688"/>
            <a:ext cx="8208912" cy="6136729"/>
          </a:xfrm>
          <a:prstGeom prst="rect">
            <a:avLst/>
          </a:prstGeom>
        </p:spPr>
        <p:txBody>
          <a:bodyPr/>
          <a:lstStyle/>
          <a:p>
            <a:pPr marL="457200" indent="-457200" algn="just">
              <a:lnSpc>
                <a:spcPct val="130000"/>
              </a:lnSpc>
              <a:spcBef>
                <a:spcPts val="400"/>
              </a:spcBef>
              <a:buClr>
                <a:srgbClr val="0000FF"/>
              </a:buClr>
              <a:buSzPct val="100000"/>
              <a:buFont typeface="Wingdings" panose="05000000000000000000" pitchFamily="2" charset="2"/>
              <a:buChar char="Ø"/>
              <a:defRPr/>
            </a:pPr>
            <a:r>
              <a:rPr lang="en-US" altLang="zh-CN" sz="2800" dirty="0">
                <a:latin typeface="+mn-lt"/>
              </a:rPr>
              <a:t>XLAT</a:t>
            </a:r>
            <a:r>
              <a:rPr lang="zh-CN" altLang="en-US" sz="2800" dirty="0">
                <a:latin typeface="+mn-lt"/>
              </a:rPr>
              <a:t>指令功能：</a:t>
            </a:r>
            <a:r>
              <a:rPr lang="en-US" altLang="zh-CN" sz="2800" dirty="0">
                <a:latin typeface="+mn-lt"/>
              </a:rPr>
              <a:t>AL←[EBX</a:t>
            </a:r>
            <a:r>
              <a:rPr lang="zh-CN" altLang="en-US" sz="2800" dirty="0">
                <a:latin typeface="+mn-lt"/>
              </a:rPr>
              <a:t>＋</a:t>
            </a:r>
            <a:r>
              <a:rPr lang="en-US" altLang="zh-CN" sz="2800" dirty="0">
                <a:latin typeface="+mn-lt"/>
              </a:rPr>
              <a:t>AL]</a:t>
            </a:r>
            <a:endParaRPr lang="en-US" altLang="zh-CN" sz="2800" dirty="0">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用于将一种代码转换为另一种代码</a:t>
            </a:r>
            <a:endParaRPr lang="en-US" altLang="zh-CN"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将</a:t>
            </a:r>
            <a:r>
              <a:rPr lang="en-US" altLang="zh-CN" sz="2400" dirty="0">
                <a:solidFill>
                  <a:schemeClr val="tx1"/>
                </a:solidFill>
                <a:latin typeface="+mn-lt"/>
              </a:rPr>
              <a:t>EBX</a:t>
            </a:r>
            <a:r>
              <a:rPr lang="zh-CN" altLang="en-US" sz="2400" dirty="0">
                <a:solidFill>
                  <a:schemeClr val="tx1"/>
                </a:solidFill>
                <a:latin typeface="+mn-lt"/>
              </a:rPr>
              <a:t>指定的主存缓冲区中，</a:t>
            </a:r>
            <a:r>
              <a:rPr lang="en-US" altLang="zh-CN" sz="2400" dirty="0">
                <a:solidFill>
                  <a:schemeClr val="tx1"/>
                </a:solidFill>
                <a:latin typeface="+mn-lt"/>
              </a:rPr>
              <a:t>AL</a:t>
            </a:r>
            <a:r>
              <a:rPr lang="zh-CN" altLang="en-US" sz="2400" dirty="0">
                <a:solidFill>
                  <a:schemeClr val="tx1"/>
                </a:solidFill>
                <a:latin typeface="+mn-lt"/>
              </a:rPr>
              <a:t>指定的位移处的一个字节数据取出赋给</a:t>
            </a:r>
            <a:r>
              <a:rPr lang="en-US" altLang="zh-CN" sz="2400" dirty="0">
                <a:solidFill>
                  <a:schemeClr val="tx1"/>
                </a:solidFill>
                <a:latin typeface="+mn-lt"/>
              </a:rPr>
              <a:t>AL</a:t>
            </a:r>
            <a:endParaRPr lang="en-US" altLang="zh-CN"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隐含使用</a:t>
            </a:r>
            <a:r>
              <a:rPr lang="en-US" altLang="zh-CN" sz="2400" dirty="0">
                <a:solidFill>
                  <a:schemeClr val="tx1"/>
                </a:solidFill>
                <a:latin typeface="+mn-lt"/>
              </a:rPr>
              <a:t>EBX</a:t>
            </a:r>
            <a:r>
              <a:rPr lang="zh-CN" altLang="en-US" sz="2400" dirty="0">
                <a:solidFill>
                  <a:schemeClr val="tx1"/>
                </a:solidFill>
                <a:latin typeface="+mn-lt"/>
              </a:rPr>
              <a:t>和</a:t>
            </a:r>
            <a:r>
              <a:rPr lang="en-US" altLang="zh-CN" sz="2400" dirty="0">
                <a:solidFill>
                  <a:schemeClr val="tx1"/>
                </a:solidFill>
                <a:latin typeface="+mn-lt"/>
              </a:rPr>
              <a:t>AL</a:t>
            </a:r>
            <a:r>
              <a:rPr lang="zh-CN" altLang="en-US" sz="2400" dirty="0">
                <a:solidFill>
                  <a:schemeClr val="tx1"/>
                </a:solidFill>
                <a:latin typeface="+mn-lt"/>
              </a:rPr>
              <a:t>，助记符后无需写出操作数</a:t>
            </a:r>
            <a:endParaRPr lang="en-US" altLang="zh-CN" sz="2400" dirty="0">
              <a:solidFill>
                <a:schemeClr val="tx1"/>
              </a:solidFill>
              <a:latin typeface="+mn-lt"/>
            </a:endParaRPr>
          </a:p>
          <a:p>
            <a:pPr marL="457200" indent="-457200" algn="just">
              <a:lnSpc>
                <a:spcPct val="130000"/>
              </a:lnSpc>
              <a:spcBef>
                <a:spcPts val="400"/>
              </a:spcBef>
              <a:buClr>
                <a:srgbClr val="0000FF"/>
              </a:buClr>
              <a:buSzPct val="100000"/>
              <a:buFont typeface="Wingdings" panose="05000000000000000000" pitchFamily="2" charset="2"/>
              <a:buChar char="Ø"/>
              <a:defRPr/>
            </a:pPr>
            <a:r>
              <a:rPr lang="zh-CN" altLang="en-US" sz="2800" dirty="0">
                <a:solidFill>
                  <a:srgbClr val="FF0000"/>
                </a:solidFill>
                <a:latin typeface="+mn-lt"/>
              </a:rPr>
              <a:t>换码指令执行前：</a:t>
            </a:r>
            <a:endParaRPr lang="zh-CN" altLang="en-US" sz="2800" dirty="0">
              <a:solidFill>
                <a:srgbClr val="FF0000"/>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在主存建立一个</a:t>
            </a:r>
            <a:r>
              <a:rPr lang="zh-CN" altLang="en-US" sz="2400" dirty="0">
                <a:solidFill>
                  <a:srgbClr val="FF0000"/>
                </a:solidFill>
                <a:latin typeface="+mn-lt"/>
              </a:rPr>
              <a:t>字节量</a:t>
            </a:r>
            <a:r>
              <a:rPr lang="zh-CN" altLang="en-US" sz="2400" dirty="0">
                <a:solidFill>
                  <a:schemeClr val="tx1"/>
                </a:solidFill>
                <a:latin typeface="+mn-lt"/>
              </a:rPr>
              <a:t>表格，内含要转换的目标代码</a:t>
            </a:r>
            <a:endParaRPr lang="zh-CN" altLang="en-US"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表格首地址存放于</a:t>
            </a:r>
            <a:r>
              <a:rPr lang="en-US" altLang="zh-CN" sz="2400" dirty="0">
                <a:solidFill>
                  <a:schemeClr val="tx1"/>
                </a:solidFill>
                <a:latin typeface="+mn-lt"/>
              </a:rPr>
              <a:t>EBX</a:t>
            </a:r>
            <a:endParaRPr lang="en-US" altLang="zh-CN" sz="2400" dirty="0">
              <a:solidFill>
                <a:schemeClr val="tx1"/>
              </a:solidFill>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en-US" altLang="zh-CN" sz="2400" dirty="0">
                <a:solidFill>
                  <a:schemeClr val="tx1"/>
                </a:solidFill>
                <a:latin typeface="+mn-lt"/>
              </a:rPr>
              <a:t>AL</a:t>
            </a:r>
            <a:r>
              <a:rPr lang="zh-CN" altLang="en-US" sz="2400" dirty="0">
                <a:solidFill>
                  <a:schemeClr val="tx1"/>
                </a:solidFill>
                <a:latin typeface="+mn-lt"/>
              </a:rPr>
              <a:t>存放相对表格首地址的位移量</a:t>
            </a:r>
            <a:endParaRPr lang="en-US" altLang="zh-CN" sz="2400" dirty="0">
              <a:solidFill>
                <a:schemeClr val="tx1"/>
              </a:solidFill>
              <a:latin typeface="+mn-lt"/>
            </a:endParaRPr>
          </a:p>
          <a:p>
            <a:pPr marL="457200" indent="-457200" algn="just">
              <a:lnSpc>
                <a:spcPct val="130000"/>
              </a:lnSpc>
              <a:spcBef>
                <a:spcPts val="400"/>
              </a:spcBef>
              <a:buClr>
                <a:srgbClr val="0000FF"/>
              </a:buClr>
              <a:buSzPct val="100000"/>
              <a:buFont typeface="Wingdings" panose="05000000000000000000" pitchFamily="2" charset="2"/>
              <a:buChar char="Ø"/>
              <a:defRPr/>
            </a:pPr>
            <a:r>
              <a:rPr lang="zh-CN" altLang="en-US" sz="2800" dirty="0">
                <a:latin typeface="+mn-lt"/>
              </a:rPr>
              <a:t>换码指令执行后：</a:t>
            </a:r>
            <a:endParaRPr lang="zh-CN" altLang="en-US" sz="2800" dirty="0">
              <a:latin typeface="+mn-lt"/>
            </a:endParaRPr>
          </a:p>
          <a:p>
            <a:pPr marL="914400" lvl="1" indent="-457200" algn="just">
              <a:lnSpc>
                <a:spcPct val="130000"/>
              </a:lnSpc>
              <a:spcBef>
                <a:spcPts val="400"/>
              </a:spcBef>
              <a:buClr>
                <a:srgbClr val="0000FF"/>
              </a:buClr>
              <a:buFont typeface="Wingdings" panose="05000000000000000000" pitchFamily="2" charset="2"/>
              <a:buChar char="ü"/>
            </a:pPr>
            <a:r>
              <a:rPr lang="zh-CN" altLang="en-US" sz="2400" dirty="0">
                <a:solidFill>
                  <a:schemeClr val="tx1"/>
                </a:solidFill>
                <a:latin typeface="+mn-lt"/>
              </a:rPr>
              <a:t>将</a:t>
            </a:r>
            <a:r>
              <a:rPr lang="en-US" altLang="zh-CN" sz="2400" dirty="0">
                <a:solidFill>
                  <a:schemeClr val="tx1"/>
                </a:solidFill>
                <a:latin typeface="+mn-lt"/>
              </a:rPr>
              <a:t>AL</a:t>
            </a:r>
            <a:r>
              <a:rPr lang="zh-CN" altLang="en-US" sz="2400" dirty="0">
                <a:solidFill>
                  <a:schemeClr val="tx1"/>
                </a:solidFill>
                <a:latin typeface="+mn-lt"/>
              </a:rPr>
              <a:t>寄存器的内容转换为目标代码</a:t>
            </a: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换码指令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XLAT</a:t>
            </a:r>
            <a:r>
              <a:rPr lang="en-US" altLang="zh-CN" kern="0" dirty="0">
                <a:solidFill>
                  <a:srgbClr val="000000"/>
                </a:solidFill>
                <a:latin typeface="+mj-lt"/>
                <a:cs typeface="+mj-cs"/>
              </a:rPr>
              <a:t>(Translate)</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68112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换码显示程序</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342902"/>
            <a:ext cx="8016948" cy="5326458"/>
          </a:xfrm>
          <a:prstGeom prst="rect">
            <a:avLst/>
          </a:prstGeom>
          <a:solidFill>
            <a:srgbClr val="DDEEFF"/>
          </a:solidFill>
          <a:ln w="25400">
            <a:noFill/>
          </a:ln>
        </p:spPr>
        <p:txBody>
          <a:bodyPr wrap="square">
            <a:spAutoFit/>
          </a:bodyPr>
          <a:lstStyle/>
          <a:p>
            <a:pPr>
              <a:lnSpc>
                <a:spcPct val="130000"/>
              </a:lnSpc>
            </a:pPr>
            <a:r>
              <a:rPr lang="en-US" altLang="zh-CN" sz="2200" dirty="0">
                <a:solidFill>
                  <a:srgbClr val="FF0000"/>
                </a:solidFill>
                <a:latin typeface="+mn-lt"/>
              </a:rPr>
              <a:t>;</a:t>
            </a:r>
            <a:r>
              <a:rPr lang="zh-CN" altLang="en-US" sz="2200" dirty="0">
                <a:solidFill>
                  <a:srgbClr val="FF0000"/>
                </a:solidFill>
                <a:latin typeface="+mn-lt"/>
              </a:rPr>
              <a:t>数据段</a:t>
            </a:r>
            <a:endParaRPr lang="zh-CN" altLang="en-US" sz="2200" dirty="0">
              <a:solidFill>
                <a:srgbClr val="FF0000"/>
              </a:solidFill>
              <a:latin typeface="+mn-lt"/>
            </a:endParaRPr>
          </a:p>
          <a:p>
            <a:pPr>
              <a:lnSpc>
                <a:spcPct val="130000"/>
              </a:lnSpc>
            </a:pPr>
            <a:r>
              <a:rPr lang="en-US" altLang="zh-CN" sz="2200" b="1" dirty="0">
                <a:latin typeface="+mn-lt"/>
              </a:rPr>
              <a:t>num	byte 6, 7, 7, 8, 3, 0, 0, 0</a:t>
            </a:r>
            <a:r>
              <a:rPr lang="en-US" altLang="zh-CN" sz="2200" dirty="0">
                <a:solidFill>
                  <a:srgbClr val="FF0000"/>
                </a:solidFill>
                <a:latin typeface="+mn-lt"/>
              </a:rPr>
              <a:t>		; </a:t>
            </a:r>
            <a:r>
              <a:rPr lang="zh-CN" altLang="en-US" sz="2200" dirty="0">
                <a:solidFill>
                  <a:srgbClr val="FF0000"/>
                </a:solidFill>
                <a:latin typeface="+mn-lt"/>
              </a:rPr>
              <a:t>被转换数字</a:t>
            </a:r>
            <a:endParaRPr lang="zh-CN" altLang="en-US" sz="2200" dirty="0">
              <a:solidFill>
                <a:srgbClr val="FF0000"/>
              </a:solidFill>
              <a:latin typeface="+mn-lt"/>
            </a:endParaRPr>
          </a:p>
          <a:p>
            <a:pPr>
              <a:lnSpc>
                <a:spcPct val="130000"/>
              </a:lnSpc>
            </a:pPr>
            <a:r>
              <a:rPr lang="en-US" altLang="zh-CN" sz="2200" b="1" dirty="0">
                <a:latin typeface="+mn-lt"/>
              </a:rPr>
              <a:t>tab	byte '0123456789’</a:t>
            </a:r>
            <a:r>
              <a:rPr lang="en-US" altLang="zh-CN" sz="2200" dirty="0">
                <a:solidFill>
                  <a:srgbClr val="FF0000"/>
                </a:solidFill>
                <a:latin typeface="+mn-lt"/>
              </a:rPr>
              <a:t>		; </a:t>
            </a:r>
            <a:r>
              <a:rPr lang="zh-CN" altLang="en-US" sz="2200" dirty="0">
                <a:solidFill>
                  <a:srgbClr val="FF0000"/>
                </a:solidFill>
                <a:latin typeface="+mn-lt"/>
              </a:rPr>
              <a:t>代码表</a:t>
            </a:r>
            <a:endParaRPr lang="zh-CN" altLang="en-US" sz="2200" dirty="0">
              <a:solidFill>
                <a:srgbClr val="FF0000"/>
              </a:solidFill>
              <a:latin typeface="+mn-lt"/>
            </a:endParaRPr>
          </a:p>
          <a:p>
            <a:pPr>
              <a:lnSpc>
                <a:spcPct val="130000"/>
              </a:lnSpc>
            </a:pPr>
            <a:r>
              <a:rPr lang="en-US" altLang="zh-CN" sz="2200" dirty="0">
                <a:solidFill>
                  <a:srgbClr val="FF0000"/>
                </a:solidFill>
                <a:latin typeface="+mn-lt"/>
              </a:rPr>
              <a:t>;</a:t>
            </a:r>
            <a:r>
              <a:rPr lang="zh-CN" altLang="en-US" sz="2200" dirty="0">
                <a:solidFill>
                  <a:srgbClr val="FF0000"/>
                </a:solidFill>
                <a:latin typeface="+mn-lt"/>
              </a:rPr>
              <a:t>代码段</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mov </a:t>
            </a:r>
            <a:r>
              <a:rPr lang="en-US" altLang="zh-CN" sz="2200" b="1" dirty="0" err="1">
                <a:latin typeface="+mn-lt"/>
              </a:rPr>
              <a:t>ecx</a:t>
            </a:r>
            <a:r>
              <a:rPr lang="en-US" altLang="zh-CN" sz="2200" b="1" dirty="0">
                <a:latin typeface="+mn-lt"/>
              </a:rPr>
              <a:t>, </a:t>
            </a:r>
            <a:r>
              <a:rPr lang="en-US" altLang="zh-CN" sz="2200" b="1" dirty="0" err="1">
                <a:latin typeface="+mn-lt"/>
              </a:rPr>
              <a:t>lengthof</a:t>
            </a:r>
            <a:r>
              <a:rPr lang="en-US" altLang="zh-CN" sz="2200" b="1" dirty="0">
                <a:latin typeface="+mn-lt"/>
              </a:rPr>
              <a:t> num</a:t>
            </a:r>
            <a:endParaRPr lang="en-US" altLang="zh-CN" sz="2200" b="1" dirty="0">
              <a:latin typeface="+mn-lt"/>
            </a:endParaRPr>
          </a:p>
          <a:p>
            <a:pPr>
              <a:lnSpc>
                <a:spcPct val="130000"/>
              </a:lnSpc>
            </a:pPr>
            <a:r>
              <a:rPr lang="en-US" altLang="zh-CN" sz="2200" dirty="0">
                <a:solidFill>
                  <a:srgbClr val="FF0000"/>
                </a:solidFill>
                <a:latin typeface="+mn-lt"/>
              </a:rPr>
              <a:t>	</a:t>
            </a:r>
            <a:r>
              <a:rPr lang="en-US" altLang="zh-CN" sz="2200" b="1" dirty="0">
                <a:latin typeface="+mn-lt"/>
              </a:rPr>
              <a:t>mov </a:t>
            </a:r>
            <a:r>
              <a:rPr lang="en-US" altLang="zh-CN" sz="2200" b="1" dirty="0" err="1">
                <a:latin typeface="+mn-lt"/>
              </a:rPr>
              <a:t>esi</a:t>
            </a:r>
            <a:r>
              <a:rPr lang="en-US" altLang="zh-CN" sz="2200" b="1" dirty="0">
                <a:latin typeface="+mn-lt"/>
              </a:rPr>
              <a:t>, offset num</a:t>
            </a:r>
            <a:endParaRPr lang="en-US" altLang="zh-CN" sz="2200" b="1" dirty="0">
              <a:latin typeface="+mn-lt"/>
            </a:endParaRPr>
          </a:p>
          <a:p>
            <a:pPr>
              <a:lnSpc>
                <a:spcPct val="130000"/>
              </a:lnSpc>
            </a:pPr>
            <a:r>
              <a:rPr lang="en-US" altLang="zh-CN" sz="2200" b="1" dirty="0">
                <a:latin typeface="+mn-lt"/>
              </a:rPr>
              <a:t>	mov </a:t>
            </a:r>
            <a:r>
              <a:rPr lang="en-US" altLang="zh-CN" sz="2200" b="1" dirty="0" err="1">
                <a:latin typeface="+mn-lt"/>
              </a:rPr>
              <a:t>ebx</a:t>
            </a:r>
            <a:r>
              <a:rPr lang="en-US" altLang="zh-CN" sz="2200" b="1" dirty="0">
                <a:latin typeface="+mn-lt"/>
              </a:rPr>
              <a:t>, offset tab</a:t>
            </a:r>
            <a:r>
              <a:rPr lang="en-US" altLang="zh-CN" sz="2200" dirty="0">
                <a:solidFill>
                  <a:srgbClr val="FF0000"/>
                </a:solidFill>
                <a:latin typeface="+mn-lt"/>
              </a:rPr>
              <a:t>	; EBX</a:t>
            </a:r>
            <a:r>
              <a:rPr lang="zh-CN" altLang="en-US" sz="2200" dirty="0">
                <a:solidFill>
                  <a:srgbClr val="FF0000"/>
                </a:solidFill>
                <a:latin typeface="+mn-lt"/>
              </a:rPr>
              <a:t>指向代码表</a:t>
            </a:r>
            <a:endParaRPr lang="zh-CN" altLang="en-US" sz="2200" dirty="0">
              <a:solidFill>
                <a:srgbClr val="FF0000"/>
              </a:solidFill>
              <a:latin typeface="+mn-lt"/>
            </a:endParaRPr>
          </a:p>
          <a:p>
            <a:pPr>
              <a:lnSpc>
                <a:spcPct val="130000"/>
              </a:lnSpc>
            </a:pPr>
            <a:r>
              <a:rPr lang="en-US" altLang="zh-CN" sz="2200" b="1" dirty="0">
                <a:latin typeface="+mn-lt"/>
              </a:rPr>
              <a:t>again:	mov al, [</a:t>
            </a:r>
            <a:r>
              <a:rPr lang="en-US" altLang="zh-CN" sz="2200" b="1" dirty="0" err="1">
                <a:latin typeface="+mn-lt"/>
              </a:rPr>
              <a:t>esi</a:t>
            </a:r>
            <a:r>
              <a:rPr lang="en-US" altLang="zh-CN" sz="2200" b="1" dirty="0">
                <a:latin typeface="+mn-lt"/>
              </a:rPr>
              <a:t>]   </a:t>
            </a:r>
            <a:r>
              <a:rPr lang="en-US" altLang="zh-CN" sz="2200" dirty="0">
                <a:solidFill>
                  <a:srgbClr val="FF0000"/>
                </a:solidFill>
                <a:latin typeface="+mn-lt"/>
              </a:rPr>
              <a:t>; AL</a:t>
            </a:r>
            <a:r>
              <a:rPr lang="zh-CN" altLang="en-US" sz="2200" dirty="0">
                <a:solidFill>
                  <a:srgbClr val="FF0000"/>
                </a:solidFill>
                <a:latin typeface="+mn-lt"/>
              </a:rPr>
              <a:t>＝要转换的数字，相对代码表的位移量</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err="1">
                <a:latin typeface="+mn-lt"/>
              </a:rPr>
              <a:t>xlat</a:t>
            </a:r>
            <a:r>
              <a:rPr lang="en-US" altLang="zh-CN" sz="2200" dirty="0">
                <a:solidFill>
                  <a:srgbClr val="FF0000"/>
                </a:solidFill>
                <a:latin typeface="+mn-lt"/>
              </a:rPr>
              <a:t>			; </a:t>
            </a:r>
            <a:r>
              <a:rPr lang="zh-CN" altLang="en-US" sz="2200" dirty="0">
                <a:solidFill>
                  <a:srgbClr val="FF0000"/>
                </a:solidFill>
                <a:latin typeface="+mn-lt"/>
              </a:rPr>
              <a:t>换码</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call </a:t>
            </a:r>
            <a:r>
              <a:rPr lang="en-US" altLang="zh-CN" sz="2200" b="1" dirty="0" err="1">
                <a:latin typeface="+mn-lt"/>
              </a:rPr>
              <a:t>dispc</a:t>
            </a:r>
            <a:r>
              <a:rPr lang="en-US" altLang="zh-CN" sz="2200" dirty="0">
                <a:solidFill>
                  <a:srgbClr val="FF0000"/>
                </a:solidFill>
                <a:latin typeface="+mn-lt"/>
              </a:rPr>
              <a:t>		; </a:t>
            </a:r>
            <a:r>
              <a:rPr lang="zh-CN" altLang="en-US" sz="2200" dirty="0">
                <a:solidFill>
                  <a:srgbClr val="FF0000"/>
                </a:solidFill>
                <a:latin typeface="+mn-lt"/>
              </a:rPr>
              <a:t>显示</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add </a:t>
            </a:r>
            <a:r>
              <a:rPr lang="en-US" altLang="zh-CN" sz="2200" b="1" dirty="0" err="1">
                <a:latin typeface="+mn-lt"/>
              </a:rPr>
              <a:t>esi</a:t>
            </a:r>
            <a:r>
              <a:rPr lang="en-US" altLang="zh-CN" sz="2200" b="1" dirty="0">
                <a:latin typeface="+mn-lt"/>
              </a:rPr>
              <a:t>, 1	</a:t>
            </a:r>
            <a:r>
              <a:rPr lang="en-US" altLang="zh-CN" sz="2200" dirty="0">
                <a:solidFill>
                  <a:srgbClr val="FF0000"/>
                </a:solidFill>
                <a:latin typeface="+mn-lt"/>
              </a:rPr>
              <a:t>	; </a:t>
            </a:r>
            <a:r>
              <a:rPr lang="zh-CN" altLang="en-US" sz="2200" dirty="0">
                <a:solidFill>
                  <a:srgbClr val="FF0000"/>
                </a:solidFill>
                <a:latin typeface="+mn-lt"/>
              </a:rPr>
              <a:t>指向下一个数字</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loop again</a:t>
            </a:r>
            <a:r>
              <a:rPr lang="en-US" altLang="zh-CN" sz="2200" dirty="0">
                <a:solidFill>
                  <a:srgbClr val="FF0000"/>
                </a:solidFill>
                <a:latin typeface="+mn-lt"/>
              </a:rPr>
              <a:t>		; </a:t>
            </a:r>
            <a:r>
              <a:rPr lang="zh-CN" altLang="en-US" sz="2200" dirty="0">
                <a:solidFill>
                  <a:srgbClr val="FF0000"/>
                </a:solidFill>
                <a:latin typeface="+mn-lt"/>
              </a:rPr>
              <a:t>循环</a:t>
            </a:r>
            <a:endParaRPr lang="en-US" altLang="zh-CN" sz="2200" b="1" dirty="0">
              <a:latin typeface="+mn-lt"/>
            </a:endParaRPr>
          </a:p>
        </p:txBody>
      </p:sp>
      <p:sp>
        <p:nvSpPr>
          <p:cNvPr id="2" name="内容占位符 2"/>
          <p:cNvSpPr txBox="1"/>
          <p:nvPr/>
        </p:nvSpPr>
        <p:spPr>
          <a:xfrm>
            <a:off x="539552" y="721271"/>
            <a:ext cx="8064896" cy="6136729"/>
          </a:xfrm>
          <a:prstGeom prst="rect">
            <a:avLst/>
          </a:prstGeom>
        </p:spPr>
        <p:txBody>
          <a:bodyPr/>
          <a:lstStyle/>
          <a:p>
            <a:pPr algn="just">
              <a:lnSpc>
                <a:spcPct val="130000"/>
              </a:lnSpc>
              <a:spcBef>
                <a:spcPts val="600"/>
              </a:spcBef>
              <a:buClr>
                <a:srgbClr val="0000FF"/>
              </a:buClr>
              <a:buSzPct val="100000"/>
              <a:defRPr/>
            </a:pPr>
            <a:r>
              <a:rPr lang="zh-CN" altLang="en-US" sz="2600" b="1" dirty="0">
                <a:solidFill>
                  <a:schemeClr val="tx1"/>
                </a:solidFill>
                <a:latin typeface="+mn-lt"/>
              </a:rPr>
              <a:t>例：</a:t>
            </a:r>
            <a:r>
              <a:rPr lang="zh-CN" altLang="en-US" sz="2600" dirty="0">
                <a:solidFill>
                  <a:schemeClr val="tx1"/>
                </a:solidFill>
                <a:latin typeface="+mn-lt"/>
              </a:rPr>
              <a:t>把</a:t>
            </a:r>
            <a:r>
              <a:rPr lang="en-US" altLang="zh-CN" sz="2600" dirty="0">
                <a:solidFill>
                  <a:schemeClr val="tx1"/>
                </a:solidFill>
                <a:latin typeface="+mn-lt"/>
              </a:rPr>
              <a:t>num</a:t>
            </a:r>
            <a:r>
              <a:rPr lang="zh-CN" altLang="en-US" sz="2600" dirty="0">
                <a:solidFill>
                  <a:schemeClr val="tx1"/>
                </a:solidFill>
                <a:latin typeface="+mn-lt"/>
              </a:rPr>
              <a:t>变量中的数字转换成对应的</a:t>
            </a:r>
            <a:r>
              <a:rPr lang="en-US" altLang="zh-CN" sz="2600" dirty="0">
                <a:solidFill>
                  <a:schemeClr val="tx1"/>
                </a:solidFill>
                <a:latin typeface="+mn-lt"/>
              </a:rPr>
              <a:t>ASCII</a:t>
            </a:r>
            <a:r>
              <a:rPr lang="zh-CN" altLang="en-US" sz="2600" dirty="0">
                <a:solidFill>
                  <a:schemeClr val="tx1"/>
                </a:solidFill>
                <a:latin typeface="+mn-lt"/>
              </a:rPr>
              <a:t>码</a:t>
            </a:r>
            <a:endParaRPr lang="zh-CN" altLang="en-US" sz="2600" dirty="0">
              <a:solidFill>
                <a:schemeClr val="tx1"/>
              </a:solidFill>
              <a:latin typeface="+mn-lt"/>
            </a:endParaRPr>
          </a:p>
        </p:txBody>
      </p:sp>
      <p:sp>
        <p:nvSpPr>
          <p:cNvPr id="4" name="AutoShape 4"/>
          <p:cNvSpPr>
            <a:spLocks noChangeArrowheads="1"/>
          </p:cNvSpPr>
          <p:nvPr/>
        </p:nvSpPr>
        <p:spPr bwMode="auto">
          <a:xfrm>
            <a:off x="5864832" y="1329133"/>
            <a:ext cx="2787650" cy="471488"/>
          </a:xfrm>
          <a:prstGeom prst="flowChartAlternateProcess">
            <a:avLst/>
          </a:prstGeom>
          <a:gradFill rotWithShape="1">
            <a:gsLst>
              <a:gs pos="0">
                <a:schemeClr val="accent1">
                  <a:gamma/>
                  <a:shade val="54510"/>
                  <a:invGamma/>
                </a:schemeClr>
              </a:gs>
              <a:gs pos="50000">
                <a:schemeClr val="accent1"/>
              </a:gs>
              <a:gs pos="100000">
                <a:schemeClr val="accent1">
                  <a:gamma/>
                  <a:shade val="54510"/>
                  <a:invGamma/>
                </a:schemeClr>
              </a:gs>
            </a:gsLst>
            <a:lin ang="18900000" scaled="1"/>
          </a:gradFill>
          <a:ln w="9525">
            <a:solidFill>
              <a:schemeClr val="folHlink"/>
            </a:solidFill>
            <a:miter lim="800000"/>
            <a:headEnd type="none" w="sm" len="sm"/>
            <a:tailEnd type="none" w="sm" len="sm"/>
          </a:ln>
          <a:effectLst>
            <a:outerShdw dist="35921" dir="2700000" algn="ctr" rotWithShape="0">
              <a:schemeClr val="bg2"/>
            </a:outerShdw>
          </a:effectLst>
        </p:spPr>
        <p:txBody>
          <a:bodyPr lIns="90000" tIns="46800" rIns="90000" bIns="46800">
            <a:spAutoFit/>
          </a:bodyPr>
          <a:lstStyle/>
          <a:p>
            <a:pPr algn="ctr" eaLnBrk="1" hangingPunct="1">
              <a:lnSpc>
                <a:spcPct val="80000"/>
              </a:lnSpc>
              <a:defRPr/>
            </a:pPr>
            <a:r>
              <a:rPr lang="zh-CN" altLang="en-US" sz="2800" b="1">
                <a:solidFill>
                  <a:schemeClr val="bg1"/>
                </a:solidFill>
                <a:effectLst>
                  <a:outerShdw blurRad="38100" dist="38100" dir="2700000" algn="tl">
                    <a:srgbClr val="000000"/>
                  </a:outerShdw>
                </a:effectLst>
                <a:ea typeface="隶书" panose="02010509060101010101" pitchFamily="49" charset="-122"/>
              </a:rPr>
              <a:t>使用</a:t>
            </a:r>
            <a:r>
              <a:rPr lang="en-US" altLang="zh-CN" sz="2800" b="1">
                <a:solidFill>
                  <a:schemeClr val="bg1"/>
                </a:solidFill>
                <a:effectLst>
                  <a:outerShdw blurRad="38100" dist="38100" dir="2700000" algn="tl">
                    <a:srgbClr val="000000"/>
                  </a:outerShdw>
                </a:effectLst>
                <a:ea typeface="隶书" panose="02010509060101010101" pitchFamily="49" charset="-122"/>
              </a:rPr>
              <a:t>XLAT</a:t>
            </a:r>
            <a:r>
              <a:rPr lang="zh-CN" altLang="en-US" sz="2800" b="1">
                <a:solidFill>
                  <a:schemeClr val="bg1"/>
                </a:solidFill>
                <a:effectLst>
                  <a:outerShdw blurRad="38100" dist="38100" dir="2700000" algn="tl">
                    <a:srgbClr val="000000"/>
                  </a:outerShdw>
                </a:effectLst>
                <a:ea typeface="隶书" panose="02010509060101010101" pitchFamily="49" charset="-122"/>
              </a:rPr>
              <a:t>指令</a:t>
            </a:r>
            <a:endParaRPr lang="zh-CN" altLang="en-US" sz="2800" b="1">
              <a:solidFill>
                <a:schemeClr val="bg1"/>
              </a:solidFill>
              <a:effectLst>
                <a:outerShdw blurRad="38100" dist="38100" dir="2700000" algn="tl">
                  <a:srgbClr val="000000"/>
                </a:outerShdw>
              </a:effectLst>
              <a:ea typeface="隶书" panose="02010509060101010101" pitchFamily="49" charset="-122"/>
            </a:endParaRPr>
          </a:p>
        </p:txBody>
      </p:sp>
      <p:sp>
        <p:nvSpPr>
          <p:cNvPr id="5" name="Text Box 8"/>
          <p:cNvSpPr txBox="1">
            <a:spLocks noChangeArrowheads="1"/>
          </p:cNvSpPr>
          <p:nvPr/>
        </p:nvSpPr>
        <p:spPr bwMode="auto">
          <a:xfrm>
            <a:off x="7020272" y="6062464"/>
            <a:ext cx="1676400" cy="606896"/>
          </a:xfrm>
          <a:prstGeom prst="rect">
            <a:avLst/>
          </a:prstGeom>
          <a:solidFill>
            <a:srgbClr val="333333"/>
          </a:solidFill>
          <a:ln w="19050">
            <a:solidFill>
              <a:schemeClr val="accent1"/>
            </a:solidFill>
            <a:miter lim="800000"/>
            <a:headEnd type="none" w="sm" len="sm"/>
            <a:tailEnd type="none" w="sm" len="sm"/>
          </a:ln>
          <a:effectLst/>
          <a:extLst>
            <a:ext uri="{AF507438-7753-43E0-B8FC-AC1667EBCBE1}">
              <a14:hiddenEffects xmlns:a14="http://schemas.microsoft.com/office/drawing/2010/main">
                <a:effectLst>
                  <a:outerShdw sy="-100000" kx="3284103" algn="bl" rotWithShape="0">
                    <a:srgbClr val="808080"/>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buClrTx/>
              <a:buFontTx/>
              <a:buNone/>
            </a:pPr>
            <a:r>
              <a:rPr kumimoji="1" lang="en-US" altLang="zh-CN" sz="2800" dirty="0">
                <a:solidFill>
                  <a:schemeClr val="bg1"/>
                </a:solidFill>
              </a:rPr>
              <a:t>67783000</a:t>
            </a:r>
            <a:endParaRPr kumimoji="1" lang="en-US" altLang="zh-CN" sz="2800" dirty="0">
              <a:solidFill>
                <a:schemeClr val="bg1"/>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chemeClr val="tx1"/>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chemeClr val="tx1"/>
                </a:solidFill>
                <a:effectLst/>
                <a:uLnTx/>
                <a:uFillTx/>
                <a:latin typeface="黑体" panose="02010609060101010101" pitchFamily="49" charset="-122"/>
                <a:cs typeface="+mj-cs"/>
              </a:rPr>
              <a:t>3-3 </a:t>
            </a:r>
            <a:r>
              <a:rPr kumimoji="1" lang="zh-CN" altLang="en-US" b="0" i="0" u="none" strike="noStrike" kern="0" cap="none" spc="0" normalizeH="0" baseline="0" noProof="0" dirty="0">
                <a:ln>
                  <a:noFill/>
                </a:ln>
                <a:solidFill>
                  <a:schemeClr val="tx1"/>
                </a:solidFill>
                <a:effectLst/>
                <a:uLnTx/>
                <a:uFillTx/>
                <a:latin typeface="黑体" panose="02010609060101010101" pitchFamily="49" charset="-122"/>
                <a:cs typeface="+mj-cs"/>
              </a:rPr>
              <a:t>换码显示程序</a:t>
            </a:r>
            <a:r>
              <a:rPr kumimoji="1" lang="en-US" altLang="zh-CN" b="0" i="0" u="none" strike="noStrike" kern="0" cap="none" spc="0" normalizeH="0" baseline="0" noProof="0" dirty="0">
                <a:ln>
                  <a:noFill/>
                </a:ln>
                <a:solidFill>
                  <a:schemeClr val="tx1"/>
                </a:solidFill>
                <a:effectLst/>
                <a:uLnTx/>
                <a:uFillTx/>
                <a:latin typeface="黑体" panose="02010609060101010101" pitchFamily="49" charset="-122"/>
                <a:cs typeface="+mj-cs"/>
              </a:rPr>
              <a:t>-2</a:t>
            </a:r>
            <a:endParaRPr kumimoji="1" lang="zh-CN" altLang="en-US" b="0" i="0" u="none" strike="noStrike" kern="0" cap="none" spc="0" normalizeH="0" baseline="0" noProof="0" dirty="0">
              <a:ln>
                <a:noFill/>
              </a:ln>
              <a:solidFill>
                <a:schemeClr val="tx1"/>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342902"/>
            <a:ext cx="8016948" cy="5352619"/>
          </a:xfrm>
          <a:prstGeom prst="rect">
            <a:avLst/>
          </a:prstGeom>
          <a:solidFill>
            <a:srgbClr val="DDEEFF"/>
          </a:solidFill>
          <a:ln w="25400">
            <a:noFill/>
          </a:ln>
        </p:spPr>
        <p:txBody>
          <a:bodyPr wrap="square">
            <a:spAutoFit/>
          </a:bodyPr>
          <a:lstStyle/>
          <a:p>
            <a:pPr>
              <a:lnSpc>
                <a:spcPct val="110000"/>
              </a:lnSpc>
              <a:spcBef>
                <a:spcPts val="600"/>
              </a:spcBef>
              <a:spcAft>
                <a:spcPts val="600"/>
              </a:spcAft>
            </a:pPr>
            <a:r>
              <a:rPr lang="en-US" altLang="zh-CN" sz="2200" dirty="0">
                <a:solidFill>
                  <a:srgbClr val="FF0000"/>
                </a:solidFill>
                <a:latin typeface="+mn-lt"/>
              </a:rPr>
              <a:t>;</a:t>
            </a:r>
            <a:r>
              <a:rPr lang="zh-CN" altLang="en-US" sz="2200" dirty="0">
                <a:solidFill>
                  <a:srgbClr val="FF0000"/>
                </a:solidFill>
                <a:latin typeface="+mn-lt"/>
              </a:rPr>
              <a:t>数据段</a:t>
            </a:r>
            <a:endParaRPr lang="zh-CN" altLang="en-US" sz="2200" dirty="0">
              <a:solidFill>
                <a:srgbClr val="FF0000"/>
              </a:solidFill>
              <a:latin typeface="+mn-lt"/>
            </a:endParaRPr>
          </a:p>
          <a:p>
            <a:pPr>
              <a:lnSpc>
                <a:spcPct val="110000"/>
              </a:lnSpc>
            </a:pPr>
            <a:r>
              <a:rPr lang="en-US" altLang="zh-CN" sz="2200" b="1" dirty="0">
                <a:latin typeface="+mn-lt"/>
              </a:rPr>
              <a:t>num	byte 6, 7, 7, 8, 3, 0, 0, 0</a:t>
            </a:r>
            <a:r>
              <a:rPr lang="en-US" altLang="zh-CN" sz="2200" dirty="0">
                <a:solidFill>
                  <a:srgbClr val="FF0000"/>
                </a:solidFill>
                <a:latin typeface="+mn-lt"/>
              </a:rPr>
              <a:t>		; </a:t>
            </a:r>
            <a:r>
              <a:rPr lang="zh-CN" altLang="en-US" sz="2200" dirty="0">
                <a:solidFill>
                  <a:srgbClr val="FF0000"/>
                </a:solidFill>
                <a:latin typeface="+mn-lt"/>
              </a:rPr>
              <a:t>被转换数字</a:t>
            </a:r>
            <a:endParaRPr lang="zh-CN" altLang="en-US" sz="2200" dirty="0">
              <a:solidFill>
                <a:srgbClr val="FF0000"/>
              </a:solidFill>
              <a:latin typeface="+mn-lt"/>
            </a:endParaRPr>
          </a:p>
          <a:p>
            <a:pPr>
              <a:lnSpc>
                <a:spcPct val="110000"/>
              </a:lnSpc>
            </a:pPr>
            <a:r>
              <a:rPr lang="en-US" altLang="zh-CN" sz="2200" b="1" dirty="0">
                <a:latin typeface="+mn-lt"/>
              </a:rPr>
              <a:t>tab	byte '0123456789’</a:t>
            </a:r>
            <a:r>
              <a:rPr lang="en-US" altLang="zh-CN" sz="2200" dirty="0">
                <a:solidFill>
                  <a:srgbClr val="FF0000"/>
                </a:solidFill>
                <a:latin typeface="+mn-lt"/>
              </a:rPr>
              <a:t>		; </a:t>
            </a:r>
            <a:r>
              <a:rPr lang="zh-CN" altLang="en-US" sz="2200" dirty="0">
                <a:solidFill>
                  <a:srgbClr val="FF0000"/>
                </a:solidFill>
                <a:latin typeface="+mn-lt"/>
              </a:rPr>
              <a:t>代码表</a:t>
            </a:r>
            <a:endParaRPr lang="zh-CN" altLang="en-US" sz="2200" dirty="0">
              <a:solidFill>
                <a:srgbClr val="FF0000"/>
              </a:solidFill>
              <a:latin typeface="+mn-lt"/>
            </a:endParaRPr>
          </a:p>
          <a:p>
            <a:pPr>
              <a:lnSpc>
                <a:spcPct val="110000"/>
              </a:lnSpc>
            </a:pPr>
            <a:r>
              <a:rPr lang="en-US" altLang="zh-CN" sz="2200" dirty="0">
                <a:solidFill>
                  <a:srgbClr val="FF0000"/>
                </a:solidFill>
                <a:latin typeface="+mn-lt"/>
              </a:rPr>
              <a:t>;</a:t>
            </a:r>
            <a:r>
              <a:rPr lang="zh-CN" altLang="en-US" sz="2200" dirty="0">
                <a:solidFill>
                  <a:srgbClr val="FF0000"/>
                </a:solidFill>
                <a:latin typeface="+mn-lt"/>
              </a:rPr>
              <a:t>代码段</a:t>
            </a:r>
            <a:endParaRPr lang="zh-CN" altLang="en-US" sz="2200" dirty="0">
              <a:solidFill>
                <a:srgbClr val="FF0000"/>
              </a:solidFill>
              <a:latin typeface="+mn-lt"/>
            </a:endParaRPr>
          </a:p>
          <a:p>
            <a:pPr>
              <a:lnSpc>
                <a:spcPct val="110000"/>
              </a:lnSpc>
            </a:pPr>
            <a:r>
              <a:rPr lang="zh-CN" altLang="en-US" sz="2200" dirty="0">
                <a:solidFill>
                  <a:srgbClr val="FF0000"/>
                </a:solidFill>
                <a:latin typeface="+mn-lt"/>
              </a:rPr>
              <a:t>	</a:t>
            </a:r>
            <a:r>
              <a:rPr lang="en-US" altLang="zh-CN" sz="2200" b="1" dirty="0">
                <a:latin typeface="+mn-lt"/>
              </a:rPr>
              <a:t>mov </a:t>
            </a:r>
            <a:r>
              <a:rPr lang="en-US" altLang="zh-CN" sz="2200" b="1" dirty="0" err="1">
                <a:latin typeface="+mn-lt"/>
              </a:rPr>
              <a:t>ecx</a:t>
            </a:r>
            <a:r>
              <a:rPr lang="en-US" altLang="zh-CN" sz="2200" b="1" dirty="0">
                <a:latin typeface="+mn-lt"/>
              </a:rPr>
              <a:t>, </a:t>
            </a:r>
            <a:r>
              <a:rPr lang="en-US" altLang="zh-CN" sz="2200" b="1" dirty="0" err="1">
                <a:latin typeface="+mn-lt"/>
              </a:rPr>
              <a:t>lengthof</a:t>
            </a:r>
            <a:r>
              <a:rPr lang="en-US" altLang="zh-CN" sz="2200" b="1" dirty="0">
                <a:latin typeface="+mn-lt"/>
              </a:rPr>
              <a:t> num</a:t>
            </a:r>
            <a:endParaRPr lang="en-US" altLang="zh-CN" sz="2200" b="1" dirty="0">
              <a:latin typeface="+mn-lt"/>
            </a:endParaRPr>
          </a:p>
          <a:p>
            <a:pPr>
              <a:lnSpc>
                <a:spcPct val="110000"/>
              </a:lnSpc>
            </a:pPr>
            <a:r>
              <a:rPr lang="en-US" altLang="zh-CN" sz="2200" b="1" dirty="0">
                <a:latin typeface="+mn-lt"/>
              </a:rPr>
              <a:t>	mov </a:t>
            </a:r>
            <a:r>
              <a:rPr lang="en-US" altLang="zh-CN" sz="2200" b="1" dirty="0" err="1">
                <a:latin typeface="+mn-lt"/>
              </a:rPr>
              <a:t>esi</a:t>
            </a:r>
            <a:r>
              <a:rPr lang="en-US" altLang="zh-CN" sz="2200" b="1" dirty="0">
                <a:latin typeface="+mn-lt"/>
              </a:rPr>
              <a:t>, offset num</a:t>
            </a:r>
            <a:endParaRPr lang="en-US" altLang="zh-CN" sz="2200" b="1" dirty="0">
              <a:latin typeface="+mn-lt"/>
            </a:endParaRPr>
          </a:p>
          <a:p>
            <a:pPr>
              <a:lnSpc>
                <a:spcPct val="110000"/>
              </a:lnSpc>
            </a:pPr>
            <a:r>
              <a:rPr lang="en-US" altLang="zh-CN" sz="2200" b="1" dirty="0">
                <a:latin typeface="+mn-lt"/>
              </a:rPr>
              <a:t>	mov </a:t>
            </a:r>
            <a:r>
              <a:rPr lang="en-US" altLang="zh-CN" sz="2200" b="1" dirty="0" err="1">
                <a:latin typeface="+mn-lt"/>
              </a:rPr>
              <a:t>ebx</a:t>
            </a:r>
            <a:r>
              <a:rPr lang="en-US" altLang="zh-CN" sz="2200" b="1" dirty="0">
                <a:latin typeface="+mn-lt"/>
              </a:rPr>
              <a:t>, offset tab</a:t>
            </a:r>
            <a:r>
              <a:rPr lang="en-US" altLang="zh-CN" sz="2200" dirty="0">
                <a:solidFill>
                  <a:srgbClr val="FF0000"/>
                </a:solidFill>
                <a:latin typeface="+mn-lt"/>
              </a:rPr>
              <a:t>	; EBX</a:t>
            </a:r>
            <a:r>
              <a:rPr lang="zh-CN" altLang="en-US" sz="2200" dirty="0">
                <a:solidFill>
                  <a:srgbClr val="FF0000"/>
                </a:solidFill>
                <a:latin typeface="+mn-lt"/>
              </a:rPr>
              <a:t>指向代码表</a:t>
            </a:r>
            <a:endParaRPr lang="zh-CN" altLang="en-US" sz="2200" dirty="0">
              <a:solidFill>
                <a:srgbClr val="FF0000"/>
              </a:solidFill>
              <a:latin typeface="+mn-lt"/>
            </a:endParaRPr>
          </a:p>
          <a:p>
            <a:pPr>
              <a:lnSpc>
                <a:spcPct val="110000"/>
              </a:lnSpc>
            </a:pPr>
            <a:r>
              <a:rPr lang="en-US" altLang="zh-CN" sz="2200" b="1" dirty="0">
                <a:latin typeface="+mn-lt"/>
              </a:rPr>
              <a:t>again:	mov </a:t>
            </a:r>
            <a:r>
              <a:rPr lang="en-US" altLang="zh-CN" sz="2200" b="1" dirty="0" err="1">
                <a:latin typeface="+mn-lt"/>
              </a:rPr>
              <a:t>eax</a:t>
            </a:r>
            <a:r>
              <a:rPr lang="en-US" altLang="zh-CN" sz="2200" b="1" dirty="0">
                <a:latin typeface="+mn-lt"/>
              </a:rPr>
              <a:t>, 0</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0</a:t>
            </a:r>
            <a:endParaRPr lang="en-US" altLang="zh-CN" sz="2200" dirty="0">
              <a:solidFill>
                <a:srgbClr val="FF0000"/>
              </a:solidFill>
              <a:latin typeface="+mn-lt"/>
            </a:endParaRPr>
          </a:p>
          <a:p>
            <a:pPr>
              <a:lnSpc>
                <a:spcPct val="110000"/>
              </a:lnSpc>
            </a:pPr>
            <a:r>
              <a:rPr lang="en-US" altLang="zh-CN" sz="2200" dirty="0">
                <a:solidFill>
                  <a:srgbClr val="FF0000"/>
                </a:solidFill>
                <a:latin typeface="+mn-lt"/>
              </a:rPr>
              <a:t>	</a:t>
            </a:r>
            <a:r>
              <a:rPr lang="en-US" altLang="zh-CN" sz="2200" b="1" dirty="0">
                <a:latin typeface="+mn-lt"/>
              </a:rPr>
              <a:t>mov al, [</a:t>
            </a:r>
            <a:r>
              <a:rPr lang="en-US" altLang="zh-CN" sz="2200" b="1" dirty="0" err="1">
                <a:latin typeface="+mn-lt"/>
              </a:rPr>
              <a:t>esi</a:t>
            </a:r>
            <a:r>
              <a:rPr lang="en-US" altLang="zh-CN" sz="2200" b="1" dirty="0">
                <a:latin typeface="+mn-lt"/>
              </a:rPr>
              <a:t>]   </a:t>
            </a:r>
            <a:r>
              <a:rPr lang="en-US" altLang="zh-CN" sz="2200" dirty="0">
                <a:solidFill>
                  <a:srgbClr val="FF0000"/>
                </a:solidFill>
                <a:latin typeface="+mn-lt"/>
              </a:rPr>
              <a:t>; AL</a:t>
            </a:r>
            <a:r>
              <a:rPr lang="zh-CN" altLang="en-US" sz="2200" dirty="0">
                <a:solidFill>
                  <a:srgbClr val="FF0000"/>
                </a:solidFill>
                <a:latin typeface="+mn-lt"/>
              </a:rPr>
              <a:t>＝要转换的数字，相对代码表的位移量</a:t>
            </a:r>
            <a:endParaRPr lang="zh-CN" altLang="en-US" sz="2200" dirty="0">
              <a:solidFill>
                <a:srgbClr val="FF0000"/>
              </a:solidFill>
              <a:latin typeface="+mn-lt"/>
            </a:endParaRPr>
          </a:p>
          <a:p>
            <a:pPr>
              <a:lnSpc>
                <a:spcPct val="110000"/>
              </a:lnSpc>
            </a:pPr>
            <a:r>
              <a:rPr lang="zh-CN" altLang="en-US" sz="2200" dirty="0">
                <a:solidFill>
                  <a:srgbClr val="FF0000"/>
                </a:solidFill>
                <a:latin typeface="+mn-lt"/>
              </a:rPr>
              <a:t>	</a:t>
            </a:r>
            <a:r>
              <a:rPr lang="en-US" altLang="zh-CN" sz="2200" b="1" dirty="0">
                <a:latin typeface="+mn-lt"/>
              </a:rPr>
              <a:t>add </a:t>
            </a:r>
            <a:r>
              <a:rPr lang="en-US" altLang="zh-CN" sz="2200" b="1" dirty="0" err="1">
                <a:latin typeface="+mn-lt"/>
              </a:rPr>
              <a:t>eax</a:t>
            </a:r>
            <a:r>
              <a:rPr lang="en-US" altLang="zh-CN" sz="2200" b="1" dirty="0">
                <a:latin typeface="+mn-lt"/>
              </a:rPr>
              <a:t>, </a:t>
            </a:r>
            <a:r>
              <a:rPr lang="en-US" altLang="zh-CN" sz="2200" b="1" dirty="0" err="1">
                <a:latin typeface="+mn-lt"/>
              </a:rPr>
              <a:t>ebx</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EAX</a:t>
            </a:r>
            <a:r>
              <a:rPr lang="zh-CN" altLang="en-US" sz="2200" dirty="0">
                <a:solidFill>
                  <a:srgbClr val="FF0000"/>
                </a:solidFill>
                <a:latin typeface="+mn-lt"/>
              </a:rPr>
              <a:t>＋</a:t>
            </a:r>
            <a:r>
              <a:rPr lang="en-US" altLang="zh-CN" sz="2200" dirty="0">
                <a:solidFill>
                  <a:srgbClr val="FF0000"/>
                </a:solidFill>
                <a:latin typeface="+mn-lt"/>
              </a:rPr>
              <a:t>EBX</a:t>
            </a:r>
            <a:r>
              <a:rPr lang="zh-CN" altLang="en-US" sz="2200" dirty="0">
                <a:solidFill>
                  <a:srgbClr val="FF0000"/>
                </a:solidFill>
                <a:latin typeface="+mn-lt"/>
              </a:rPr>
              <a:t>，指向对应的字符</a:t>
            </a:r>
            <a:endParaRPr lang="zh-CN" altLang="en-US" sz="2200" dirty="0">
              <a:solidFill>
                <a:srgbClr val="FF0000"/>
              </a:solidFill>
              <a:latin typeface="+mn-lt"/>
            </a:endParaRPr>
          </a:p>
          <a:p>
            <a:pPr>
              <a:lnSpc>
                <a:spcPct val="110000"/>
              </a:lnSpc>
            </a:pPr>
            <a:r>
              <a:rPr lang="zh-CN" altLang="en-US" sz="2200" dirty="0">
                <a:solidFill>
                  <a:srgbClr val="FF0000"/>
                </a:solidFill>
                <a:latin typeface="+mn-lt"/>
              </a:rPr>
              <a:t>	</a:t>
            </a:r>
            <a:r>
              <a:rPr lang="en-US" altLang="zh-CN" sz="2200" b="1" dirty="0">
                <a:latin typeface="+mn-lt"/>
              </a:rPr>
              <a:t>mov al, [</a:t>
            </a:r>
            <a:r>
              <a:rPr lang="en-US" altLang="zh-CN" sz="2200" b="1" dirty="0" err="1">
                <a:latin typeface="+mn-lt"/>
              </a:rPr>
              <a:t>eax</a:t>
            </a:r>
            <a:r>
              <a:rPr lang="en-US" altLang="zh-CN" sz="2200" b="1" dirty="0">
                <a:latin typeface="+mn-lt"/>
              </a:rPr>
              <a:t>] </a:t>
            </a:r>
            <a:r>
              <a:rPr lang="en-US" altLang="zh-CN" sz="2200" dirty="0">
                <a:solidFill>
                  <a:srgbClr val="FF0000"/>
                </a:solidFill>
                <a:latin typeface="+mn-lt"/>
              </a:rPr>
              <a:t>		; </a:t>
            </a:r>
            <a:r>
              <a:rPr lang="zh-CN" altLang="en-US" sz="2200" dirty="0">
                <a:solidFill>
                  <a:srgbClr val="FF0000"/>
                </a:solidFill>
                <a:latin typeface="+mn-lt"/>
              </a:rPr>
              <a:t>换码</a:t>
            </a:r>
            <a:endParaRPr lang="zh-CN" altLang="en-US" sz="2200" dirty="0">
              <a:solidFill>
                <a:srgbClr val="FF0000"/>
              </a:solidFill>
              <a:latin typeface="+mn-lt"/>
            </a:endParaRPr>
          </a:p>
          <a:p>
            <a:pPr>
              <a:lnSpc>
                <a:spcPct val="110000"/>
              </a:lnSpc>
            </a:pPr>
            <a:r>
              <a:rPr lang="zh-CN" altLang="en-US" sz="2200" dirty="0">
                <a:solidFill>
                  <a:srgbClr val="FF0000"/>
                </a:solidFill>
                <a:latin typeface="+mn-lt"/>
              </a:rPr>
              <a:t>	</a:t>
            </a:r>
            <a:r>
              <a:rPr lang="en-US" altLang="zh-CN" sz="2200" b="1" dirty="0">
                <a:latin typeface="+mn-lt"/>
              </a:rPr>
              <a:t>call </a:t>
            </a:r>
            <a:r>
              <a:rPr lang="en-US" altLang="zh-CN" sz="2200" b="1" dirty="0" err="1">
                <a:latin typeface="+mn-lt"/>
              </a:rPr>
              <a:t>dispc</a:t>
            </a:r>
            <a:r>
              <a:rPr lang="en-US" altLang="zh-CN" sz="2200" dirty="0">
                <a:solidFill>
                  <a:srgbClr val="FF0000"/>
                </a:solidFill>
                <a:latin typeface="+mn-lt"/>
              </a:rPr>
              <a:t>		; </a:t>
            </a:r>
            <a:r>
              <a:rPr lang="zh-CN" altLang="en-US" sz="2200" dirty="0">
                <a:solidFill>
                  <a:srgbClr val="FF0000"/>
                </a:solidFill>
                <a:latin typeface="+mn-lt"/>
              </a:rPr>
              <a:t>显示</a:t>
            </a:r>
            <a:endParaRPr lang="zh-CN" altLang="en-US" sz="2200" dirty="0">
              <a:solidFill>
                <a:srgbClr val="FF0000"/>
              </a:solidFill>
              <a:latin typeface="+mn-lt"/>
            </a:endParaRPr>
          </a:p>
          <a:p>
            <a:pPr>
              <a:lnSpc>
                <a:spcPct val="110000"/>
              </a:lnSpc>
            </a:pPr>
            <a:r>
              <a:rPr lang="zh-CN" altLang="en-US" sz="2200" dirty="0">
                <a:solidFill>
                  <a:srgbClr val="FF0000"/>
                </a:solidFill>
                <a:latin typeface="+mn-lt"/>
              </a:rPr>
              <a:t>	</a:t>
            </a:r>
            <a:r>
              <a:rPr lang="en-US" altLang="zh-CN" sz="2200" b="1" dirty="0">
                <a:latin typeface="+mn-lt"/>
              </a:rPr>
              <a:t>add </a:t>
            </a:r>
            <a:r>
              <a:rPr lang="en-US" altLang="zh-CN" sz="2200" b="1" dirty="0" err="1">
                <a:latin typeface="+mn-lt"/>
              </a:rPr>
              <a:t>esi</a:t>
            </a:r>
            <a:r>
              <a:rPr lang="en-US" altLang="zh-CN" sz="2200" b="1" dirty="0">
                <a:latin typeface="+mn-lt"/>
              </a:rPr>
              <a:t>, 1	</a:t>
            </a:r>
            <a:r>
              <a:rPr lang="en-US" altLang="zh-CN" sz="2200" dirty="0">
                <a:solidFill>
                  <a:srgbClr val="FF0000"/>
                </a:solidFill>
                <a:latin typeface="+mn-lt"/>
              </a:rPr>
              <a:t>	; </a:t>
            </a:r>
            <a:r>
              <a:rPr lang="zh-CN" altLang="en-US" sz="2200" dirty="0">
                <a:solidFill>
                  <a:srgbClr val="FF0000"/>
                </a:solidFill>
                <a:latin typeface="+mn-lt"/>
              </a:rPr>
              <a:t>指向下一个数字</a:t>
            </a:r>
            <a:endParaRPr lang="zh-CN" altLang="en-US" sz="2200" dirty="0">
              <a:solidFill>
                <a:srgbClr val="FF0000"/>
              </a:solidFill>
              <a:latin typeface="+mn-lt"/>
            </a:endParaRPr>
          </a:p>
          <a:p>
            <a:pPr>
              <a:lnSpc>
                <a:spcPct val="110000"/>
              </a:lnSpc>
            </a:pPr>
            <a:r>
              <a:rPr lang="zh-CN" altLang="en-US" sz="2200" dirty="0">
                <a:solidFill>
                  <a:srgbClr val="FF0000"/>
                </a:solidFill>
                <a:latin typeface="+mn-lt"/>
              </a:rPr>
              <a:t>	</a:t>
            </a:r>
            <a:r>
              <a:rPr lang="en-US" altLang="zh-CN" sz="2200" b="1" dirty="0">
                <a:latin typeface="+mn-lt"/>
              </a:rPr>
              <a:t>loop again	</a:t>
            </a:r>
            <a:r>
              <a:rPr lang="en-US" altLang="zh-CN" sz="2200" dirty="0">
                <a:solidFill>
                  <a:srgbClr val="FF0000"/>
                </a:solidFill>
                <a:latin typeface="+mn-lt"/>
              </a:rPr>
              <a:t>	; </a:t>
            </a:r>
            <a:r>
              <a:rPr lang="zh-CN" altLang="en-US" sz="2200" dirty="0">
                <a:solidFill>
                  <a:srgbClr val="FF0000"/>
                </a:solidFill>
                <a:latin typeface="+mn-lt"/>
              </a:rPr>
              <a:t>循环</a:t>
            </a:r>
            <a:endParaRPr lang="zh-CN" altLang="en-US" sz="2200" dirty="0">
              <a:solidFill>
                <a:srgbClr val="FF0000"/>
              </a:solidFill>
              <a:latin typeface="+mn-lt"/>
            </a:endParaRPr>
          </a:p>
        </p:txBody>
      </p:sp>
      <p:sp>
        <p:nvSpPr>
          <p:cNvPr id="2" name="内容占位符 2"/>
          <p:cNvSpPr txBox="1"/>
          <p:nvPr/>
        </p:nvSpPr>
        <p:spPr>
          <a:xfrm>
            <a:off x="539552" y="721271"/>
            <a:ext cx="8064896" cy="6136729"/>
          </a:xfrm>
          <a:prstGeom prst="rect">
            <a:avLst/>
          </a:prstGeom>
        </p:spPr>
        <p:txBody>
          <a:bodyPr/>
          <a:lstStyle/>
          <a:p>
            <a:pPr algn="just">
              <a:lnSpc>
                <a:spcPct val="130000"/>
              </a:lnSpc>
              <a:spcBef>
                <a:spcPts val="600"/>
              </a:spcBef>
              <a:buClr>
                <a:srgbClr val="0000FF"/>
              </a:buClr>
              <a:buSzPct val="100000"/>
              <a:defRPr/>
            </a:pPr>
            <a:r>
              <a:rPr lang="zh-CN" altLang="en-US" sz="2600" b="1" dirty="0">
                <a:solidFill>
                  <a:schemeClr val="tx1"/>
                </a:solidFill>
                <a:latin typeface="+mn-lt"/>
              </a:rPr>
              <a:t>例：</a:t>
            </a:r>
            <a:r>
              <a:rPr lang="zh-CN" altLang="en-US" sz="2600" dirty="0">
                <a:solidFill>
                  <a:schemeClr val="tx1"/>
                </a:solidFill>
                <a:latin typeface="+mn-lt"/>
              </a:rPr>
              <a:t>把</a:t>
            </a:r>
            <a:r>
              <a:rPr lang="en-US" altLang="zh-CN" sz="2600" dirty="0">
                <a:solidFill>
                  <a:schemeClr val="tx1"/>
                </a:solidFill>
                <a:latin typeface="+mn-lt"/>
              </a:rPr>
              <a:t>num</a:t>
            </a:r>
            <a:r>
              <a:rPr lang="zh-CN" altLang="en-US" sz="2600" dirty="0">
                <a:solidFill>
                  <a:schemeClr val="tx1"/>
                </a:solidFill>
                <a:latin typeface="+mn-lt"/>
              </a:rPr>
              <a:t>变量中的数字转换成对应的</a:t>
            </a:r>
            <a:r>
              <a:rPr lang="en-US" altLang="zh-CN" sz="2600" dirty="0">
                <a:solidFill>
                  <a:schemeClr val="tx1"/>
                </a:solidFill>
                <a:latin typeface="+mn-lt"/>
              </a:rPr>
              <a:t>ASCII</a:t>
            </a:r>
            <a:r>
              <a:rPr lang="zh-CN" altLang="en-US" sz="2600" dirty="0">
                <a:solidFill>
                  <a:schemeClr val="tx1"/>
                </a:solidFill>
                <a:latin typeface="+mn-lt"/>
              </a:rPr>
              <a:t>码</a:t>
            </a:r>
            <a:endParaRPr lang="zh-CN" altLang="en-US" sz="2600" dirty="0">
              <a:solidFill>
                <a:schemeClr val="tx1"/>
              </a:solidFill>
              <a:latin typeface="+mn-lt"/>
            </a:endParaRPr>
          </a:p>
        </p:txBody>
      </p:sp>
      <p:sp>
        <p:nvSpPr>
          <p:cNvPr id="5" name="AutoShape 4"/>
          <p:cNvSpPr>
            <a:spLocks noChangeArrowheads="1"/>
          </p:cNvSpPr>
          <p:nvPr/>
        </p:nvSpPr>
        <p:spPr bwMode="auto">
          <a:xfrm>
            <a:off x="5630291" y="1342902"/>
            <a:ext cx="3070225" cy="471488"/>
          </a:xfrm>
          <a:prstGeom prst="flowChartAlternateProcess">
            <a:avLst/>
          </a:prstGeom>
          <a:gradFill rotWithShape="1">
            <a:gsLst>
              <a:gs pos="0">
                <a:schemeClr val="accent1">
                  <a:gamma/>
                  <a:shade val="54510"/>
                  <a:invGamma/>
                </a:schemeClr>
              </a:gs>
              <a:gs pos="50000">
                <a:schemeClr val="accent1"/>
              </a:gs>
              <a:gs pos="100000">
                <a:schemeClr val="accent1">
                  <a:gamma/>
                  <a:shade val="54510"/>
                  <a:invGamma/>
                </a:schemeClr>
              </a:gs>
            </a:gsLst>
            <a:lin ang="18900000" scaled="1"/>
          </a:gradFill>
          <a:ln w="9525">
            <a:solidFill>
              <a:schemeClr val="folHlink"/>
            </a:solidFill>
            <a:miter lim="800000"/>
            <a:headEnd type="none" w="sm" len="sm"/>
            <a:tailEnd type="none" w="sm" len="sm"/>
          </a:ln>
          <a:effectLst>
            <a:outerShdw dist="35921" dir="2700000" algn="ctr" rotWithShape="0">
              <a:schemeClr val="bg2"/>
            </a:outerShdw>
          </a:effectLst>
        </p:spPr>
        <p:txBody>
          <a:bodyPr lIns="90000" tIns="46800" rIns="90000" bIns="46800">
            <a:spAutoFit/>
          </a:bodyPr>
          <a:lstStyle/>
          <a:p>
            <a:pPr algn="ctr" eaLnBrk="1" hangingPunct="1">
              <a:lnSpc>
                <a:spcPct val="80000"/>
              </a:lnSpc>
              <a:defRPr/>
            </a:pPr>
            <a:r>
              <a:rPr lang="zh-CN" altLang="en-US" sz="2800" b="1" dirty="0">
                <a:solidFill>
                  <a:schemeClr val="bg1"/>
                </a:solidFill>
                <a:effectLst>
                  <a:outerShdw blurRad="38100" dist="38100" dir="2700000" algn="tl">
                    <a:srgbClr val="000000"/>
                  </a:outerShdw>
                </a:effectLst>
                <a:ea typeface="隶书" panose="02010509060101010101" pitchFamily="49" charset="-122"/>
              </a:rPr>
              <a:t>不使用</a:t>
            </a:r>
            <a:r>
              <a:rPr lang="en-US" altLang="zh-CN" sz="2800" b="1" dirty="0">
                <a:solidFill>
                  <a:schemeClr val="bg1"/>
                </a:solidFill>
                <a:effectLst>
                  <a:outerShdw blurRad="38100" dist="38100" dir="2700000" algn="tl">
                    <a:srgbClr val="000000"/>
                  </a:outerShdw>
                </a:effectLst>
                <a:ea typeface="隶书" panose="02010509060101010101" pitchFamily="49" charset="-122"/>
              </a:rPr>
              <a:t>XLAT</a:t>
            </a:r>
            <a:r>
              <a:rPr lang="zh-CN" altLang="en-US" sz="2800" b="1" dirty="0">
                <a:solidFill>
                  <a:schemeClr val="bg1"/>
                </a:solidFill>
                <a:effectLst>
                  <a:outerShdw blurRad="38100" dist="38100" dir="2700000" algn="tl">
                    <a:srgbClr val="000000"/>
                  </a:outerShdw>
                </a:effectLst>
                <a:ea typeface="隶书" panose="02010509060101010101" pitchFamily="49" charset="-122"/>
              </a:rPr>
              <a:t>指令</a:t>
            </a:r>
            <a:endParaRPr lang="zh-CN" altLang="en-US" sz="2800" b="1" dirty="0">
              <a:solidFill>
                <a:schemeClr val="bg1"/>
              </a:solidFill>
              <a:effectLst>
                <a:outerShdw blurRad="38100" dist="38100" dir="2700000" algn="tl">
                  <a:srgbClr val="000000"/>
                </a:outerShdw>
              </a:effectLst>
              <a:ea typeface="隶书" panose="02010509060101010101" pitchFamily="49" charset="-122"/>
            </a:endParaRPr>
          </a:p>
        </p:txBody>
      </p:sp>
      <p:sp>
        <p:nvSpPr>
          <p:cNvPr id="4" name="Text Box 8"/>
          <p:cNvSpPr txBox="1">
            <a:spLocks noChangeArrowheads="1"/>
          </p:cNvSpPr>
          <p:nvPr/>
        </p:nvSpPr>
        <p:spPr bwMode="auto">
          <a:xfrm>
            <a:off x="7020272" y="6062464"/>
            <a:ext cx="1676400" cy="606896"/>
          </a:xfrm>
          <a:prstGeom prst="rect">
            <a:avLst/>
          </a:prstGeom>
          <a:solidFill>
            <a:srgbClr val="333333"/>
          </a:solidFill>
          <a:ln w="19050">
            <a:solidFill>
              <a:schemeClr val="accent1"/>
            </a:solidFill>
            <a:miter lim="800000"/>
            <a:headEnd type="none" w="sm" len="sm"/>
            <a:tailEnd type="none" w="sm" len="sm"/>
          </a:ln>
          <a:effectLst/>
          <a:extLst>
            <a:ext uri="{AF507438-7753-43E0-B8FC-AC1667EBCBE1}">
              <a14:hiddenEffects xmlns:a14="http://schemas.microsoft.com/office/drawing/2010/main">
                <a:effectLst>
                  <a:outerShdw sy="-100000" kx="3284103" algn="bl" rotWithShape="0">
                    <a:srgbClr val="808080"/>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buClrTx/>
              <a:buFontTx/>
              <a:buNone/>
            </a:pPr>
            <a:r>
              <a:rPr kumimoji="1" lang="en-US" altLang="zh-CN" sz="2800" dirty="0">
                <a:solidFill>
                  <a:schemeClr val="bg1"/>
                </a:solidFill>
              </a:rPr>
              <a:t>67783000</a:t>
            </a:r>
            <a:endParaRPr kumimoji="1" lang="en-US" altLang="zh-CN" sz="2800" dirty="0">
              <a:solidFill>
                <a:schemeClr val="bg1"/>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换码显示程序</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342902"/>
            <a:ext cx="8016948" cy="5200270"/>
          </a:xfrm>
          <a:prstGeom prst="rect">
            <a:avLst/>
          </a:prstGeom>
          <a:solidFill>
            <a:srgbClr val="DDEEFF"/>
          </a:solidFill>
          <a:ln w="25400">
            <a:noFill/>
          </a:ln>
        </p:spPr>
        <p:txBody>
          <a:bodyPr wrap="square">
            <a:spAutoFit/>
          </a:bodyPr>
          <a:lstStyle/>
          <a:p>
            <a:pPr>
              <a:lnSpc>
                <a:spcPct val="110000"/>
              </a:lnSpc>
              <a:spcBef>
                <a:spcPts val="600"/>
              </a:spcBef>
              <a:spcAft>
                <a:spcPts val="600"/>
              </a:spcAft>
            </a:pPr>
            <a:r>
              <a:rPr lang="en-US" altLang="zh-CN" sz="2200" dirty="0">
                <a:solidFill>
                  <a:srgbClr val="FF0000"/>
                </a:solidFill>
                <a:latin typeface="+mn-lt"/>
              </a:rPr>
              <a:t>;</a:t>
            </a:r>
            <a:r>
              <a:rPr lang="zh-CN" altLang="en-US" sz="2200" dirty="0">
                <a:solidFill>
                  <a:srgbClr val="FF0000"/>
                </a:solidFill>
                <a:latin typeface="+mn-lt"/>
              </a:rPr>
              <a:t>数据段</a:t>
            </a:r>
            <a:endParaRPr lang="zh-CN" altLang="en-US" sz="2200" dirty="0">
              <a:solidFill>
                <a:srgbClr val="FF0000"/>
              </a:solidFill>
              <a:latin typeface="+mn-lt"/>
            </a:endParaRPr>
          </a:p>
          <a:p>
            <a:pPr>
              <a:lnSpc>
                <a:spcPct val="110000"/>
              </a:lnSpc>
            </a:pPr>
            <a:r>
              <a:rPr lang="en-US" altLang="zh-CN" sz="2200" b="1" dirty="0">
                <a:latin typeface="+mn-lt"/>
              </a:rPr>
              <a:t>num	byte 6, 7, 7, 8, 3, 0, 0, 0</a:t>
            </a:r>
            <a:r>
              <a:rPr lang="en-US" altLang="zh-CN" sz="2200" dirty="0">
                <a:solidFill>
                  <a:srgbClr val="FF0000"/>
                </a:solidFill>
                <a:latin typeface="+mn-lt"/>
              </a:rPr>
              <a:t>		; </a:t>
            </a:r>
            <a:r>
              <a:rPr lang="zh-CN" altLang="en-US" sz="2200" dirty="0">
                <a:solidFill>
                  <a:srgbClr val="FF0000"/>
                </a:solidFill>
                <a:latin typeface="+mn-lt"/>
              </a:rPr>
              <a:t>被转换数字</a:t>
            </a:r>
            <a:endParaRPr lang="zh-CN" altLang="en-US" sz="2200" dirty="0">
              <a:solidFill>
                <a:srgbClr val="FF0000"/>
              </a:solidFill>
              <a:latin typeface="+mn-lt"/>
            </a:endParaRPr>
          </a:p>
          <a:p>
            <a:pPr>
              <a:lnSpc>
                <a:spcPct val="110000"/>
              </a:lnSpc>
            </a:pPr>
            <a:r>
              <a:rPr lang="en-US" altLang="zh-CN" sz="2200" b="1" dirty="0">
                <a:latin typeface="+mn-lt"/>
              </a:rPr>
              <a:t>tab	byte '0123456789’</a:t>
            </a:r>
            <a:r>
              <a:rPr lang="en-US" altLang="zh-CN" sz="2200" dirty="0">
                <a:solidFill>
                  <a:srgbClr val="FF0000"/>
                </a:solidFill>
                <a:latin typeface="+mn-lt"/>
              </a:rPr>
              <a:t>		; </a:t>
            </a:r>
            <a:r>
              <a:rPr lang="zh-CN" altLang="en-US" sz="2200" dirty="0">
                <a:solidFill>
                  <a:srgbClr val="FF0000"/>
                </a:solidFill>
                <a:latin typeface="+mn-lt"/>
              </a:rPr>
              <a:t>代码表</a:t>
            </a:r>
            <a:endParaRPr lang="zh-CN" altLang="en-US" sz="2200" dirty="0">
              <a:solidFill>
                <a:srgbClr val="FF0000"/>
              </a:solidFill>
              <a:latin typeface="+mn-lt"/>
            </a:endParaRPr>
          </a:p>
          <a:p>
            <a:pPr>
              <a:lnSpc>
                <a:spcPct val="130000"/>
              </a:lnSpc>
            </a:pPr>
            <a:r>
              <a:rPr lang="en-US" altLang="zh-CN" sz="2200" dirty="0">
                <a:solidFill>
                  <a:srgbClr val="FF0000"/>
                </a:solidFill>
                <a:latin typeface="+mn-lt"/>
              </a:rPr>
              <a:t>;</a:t>
            </a:r>
            <a:r>
              <a:rPr lang="zh-CN" altLang="en-US" sz="2200" dirty="0">
                <a:solidFill>
                  <a:srgbClr val="FF0000"/>
                </a:solidFill>
                <a:latin typeface="+mn-lt"/>
              </a:rPr>
              <a:t> 代码段</a:t>
            </a:r>
            <a:endParaRPr lang="zh-CN" altLang="en-US" sz="2200" dirty="0">
              <a:solidFill>
                <a:srgbClr val="FF0000"/>
              </a:solidFill>
              <a:latin typeface="+mn-lt"/>
            </a:endParaRPr>
          </a:p>
          <a:p>
            <a:pPr>
              <a:lnSpc>
                <a:spcPct val="130000"/>
              </a:lnSpc>
            </a:pPr>
            <a:r>
              <a:rPr lang="zh-CN" altLang="en-US" sz="2200" b="1" dirty="0">
                <a:latin typeface="+mn-lt"/>
              </a:rPr>
              <a:t>	</a:t>
            </a:r>
            <a:r>
              <a:rPr lang="en-US" altLang="zh-CN" sz="2200" b="1" dirty="0">
                <a:latin typeface="+mn-lt"/>
              </a:rPr>
              <a:t>mov </a:t>
            </a:r>
            <a:r>
              <a:rPr lang="en-US" altLang="zh-CN" sz="2200" b="1" dirty="0" err="1">
                <a:latin typeface="+mn-lt"/>
              </a:rPr>
              <a:t>ecx</a:t>
            </a:r>
            <a:r>
              <a:rPr lang="en-US" altLang="zh-CN" sz="2200" b="1" dirty="0">
                <a:latin typeface="+mn-lt"/>
              </a:rPr>
              <a:t>, </a:t>
            </a:r>
            <a:r>
              <a:rPr lang="en-US" altLang="zh-CN" sz="2200" b="1" dirty="0" err="1">
                <a:latin typeface="+mn-lt"/>
              </a:rPr>
              <a:t>lengthof</a:t>
            </a:r>
            <a:r>
              <a:rPr lang="en-US" altLang="zh-CN" sz="2200" b="1" dirty="0">
                <a:latin typeface="+mn-lt"/>
              </a:rPr>
              <a:t> num</a:t>
            </a:r>
            <a:endParaRPr lang="en-US" altLang="zh-CN" sz="2200" b="1" dirty="0">
              <a:latin typeface="+mn-lt"/>
            </a:endParaRPr>
          </a:p>
          <a:p>
            <a:pPr>
              <a:lnSpc>
                <a:spcPct val="130000"/>
              </a:lnSpc>
            </a:pPr>
            <a:r>
              <a:rPr lang="en-US" altLang="zh-CN" sz="2200" b="1" dirty="0">
                <a:latin typeface="+mn-lt"/>
              </a:rPr>
              <a:t>	mov </a:t>
            </a:r>
            <a:r>
              <a:rPr lang="en-US" altLang="zh-CN" sz="2200" b="1" dirty="0" err="1">
                <a:latin typeface="+mn-lt"/>
              </a:rPr>
              <a:t>esi</a:t>
            </a:r>
            <a:r>
              <a:rPr lang="en-US" altLang="zh-CN" sz="2200" b="1" dirty="0">
                <a:latin typeface="+mn-lt"/>
              </a:rPr>
              <a:t>, offset num</a:t>
            </a:r>
            <a:endParaRPr lang="en-US" altLang="zh-CN" sz="2200" b="1" dirty="0">
              <a:latin typeface="+mn-lt"/>
            </a:endParaRPr>
          </a:p>
          <a:p>
            <a:pPr>
              <a:lnSpc>
                <a:spcPct val="130000"/>
              </a:lnSpc>
            </a:pPr>
            <a:r>
              <a:rPr lang="en-US" altLang="zh-CN" sz="2200" b="1" dirty="0">
                <a:latin typeface="+mn-lt"/>
              </a:rPr>
              <a:t>again:	mov </a:t>
            </a:r>
            <a:r>
              <a:rPr lang="en-US" altLang="zh-CN" sz="2200" b="1" dirty="0" err="1">
                <a:latin typeface="+mn-lt"/>
              </a:rPr>
              <a:t>eax</a:t>
            </a:r>
            <a:r>
              <a:rPr lang="en-US" altLang="zh-CN" sz="2200" b="1" dirty="0">
                <a:latin typeface="+mn-lt"/>
              </a:rPr>
              <a:t>, 0</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0</a:t>
            </a:r>
            <a:endParaRPr lang="en-US" altLang="zh-CN" sz="2200" dirty="0">
              <a:solidFill>
                <a:srgbClr val="FF0000"/>
              </a:solidFill>
              <a:latin typeface="+mn-lt"/>
            </a:endParaRPr>
          </a:p>
          <a:p>
            <a:pPr>
              <a:lnSpc>
                <a:spcPct val="130000"/>
              </a:lnSpc>
            </a:pPr>
            <a:r>
              <a:rPr lang="en-US" altLang="zh-CN" sz="2200" dirty="0">
                <a:solidFill>
                  <a:srgbClr val="FF0000"/>
                </a:solidFill>
                <a:latin typeface="+mn-lt"/>
              </a:rPr>
              <a:t>	</a:t>
            </a:r>
            <a:r>
              <a:rPr lang="en-US" altLang="zh-CN" sz="2200" b="1" dirty="0">
                <a:latin typeface="+mn-lt"/>
              </a:rPr>
              <a:t>mov al, [</a:t>
            </a:r>
            <a:r>
              <a:rPr lang="en-US" altLang="zh-CN" sz="2200" b="1" dirty="0" err="1">
                <a:latin typeface="+mn-lt"/>
              </a:rPr>
              <a:t>esi</a:t>
            </a:r>
            <a:r>
              <a:rPr lang="en-US" altLang="zh-CN" sz="2200" b="1" dirty="0">
                <a:latin typeface="+mn-lt"/>
              </a:rPr>
              <a:t>] </a:t>
            </a:r>
            <a:r>
              <a:rPr lang="en-US" altLang="zh-CN" sz="2200" b="1" dirty="0">
                <a:solidFill>
                  <a:srgbClr val="FF0000"/>
                </a:solidFill>
                <a:latin typeface="+mn-lt"/>
              </a:rPr>
              <a:t>  </a:t>
            </a:r>
            <a:r>
              <a:rPr lang="en-US" altLang="zh-CN" sz="2200" dirty="0">
                <a:solidFill>
                  <a:srgbClr val="FF0000"/>
                </a:solidFill>
                <a:latin typeface="+mn-lt"/>
              </a:rPr>
              <a:t>; AL</a:t>
            </a:r>
            <a:r>
              <a:rPr lang="zh-CN" altLang="en-US" sz="2200" dirty="0">
                <a:solidFill>
                  <a:srgbClr val="FF0000"/>
                </a:solidFill>
                <a:latin typeface="+mn-lt"/>
              </a:rPr>
              <a:t>＝要转换的数字，相对代码表的位移量</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mov al, tab[</a:t>
            </a:r>
            <a:r>
              <a:rPr lang="en-US" altLang="zh-CN" sz="2200" b="1" dirty="0" err="1">
                <a:latin typeface="+mn-lt"/>
              </a:rPr>
              <a:t>eax</a:t>
            </a:r>
            <a:r>
              <a:rPr lang="en-US" altLang="zh-CN" sz="2200" b="1" dirty="0">
                <a:latin typeface="+mn-lt"/>
              </a:rPr>
              <a:t>] </a:t>
            </a:r>
            <a:r>
              <a:rPr lang="en-US" altLang="zh-CN" sz="2200" dirty="0">
                <a:solidFill>
                  <a:srgbClr val="FF0000"/>
                </a:solidFill>
                <a:latin typeface="+mn-lt"/>
              </a:rPr>
              <a:t>	; </a:t>
            </a:r>
            <a:r>
              <a:rPr lang="zh-CN" altLang="en-US" sz="2200" dirty="0">
                <a:solidFill>
                  <a:srgbClr val="FF0000"/>
                </a:solidFill>
                <a:latin typeface="+mn-lt"/>
              </a:rPr>
              <a:t>换码</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call </a:t>
            </a:r>
            <a:r>
              <a:rPr lang="en-US" altLang="zh-CN" sz="2200" b="1" dirty="0" err="1">
                <a:latin typeface="+mn-lt"/>
              </a:rPr>
              <a:t>dispc</a:t>
            </a:r>
            <a:r>
              <a:rPr lang="en-US" altLang="zh-CN" sz="2200" dirty="0">
                <a:solidFill>
                  <a:srgbClr val="FF0000"/>
                </a:solidFill>
                <a:latin typeface="+mn-lt"/>
              </a:rPr>
              <a:t>		; </a:t>
            </a:r>
            <a:r>
              <a:rPr lang="zh-CN" altLang="en-US" sz="2200" dirty="0">
                <a:solidFill>
                  <a:srgbClr val="FF0000"/>
                </a:solidFill>
                <a:latin typeface="+mn-lt"/>
              </a:rPr>
              <a:t>显示</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add </a:t>
            </a:r>
            <a:r>
              <a:rPr lang="en-US" altLang="zh-CN" sz="2200" b="1" dirty="0" err="1">
                <a:latin typeface="+mn-lt"/>
              </a:rPr>
              <a:t>esi</a:t>
            </a:r>
            <a:r>
              <a:rPr lang="en-US" altLang="zh-CN" sz="2200" b="1" dirty="0">
                <a:latin typeface="+mn-lt"/>
              </a:rPr>
              <a:t>, 1</a:t>
            </a:r>
            <a:r>
              <a:rPr lang="en-US" altLang="zh-CN" sz="2200" dirty="0">
                <a:solidFill>
                  <a:srgbClr val="FF0000"/>
                </a:solidFill>
                <a:latin typeface="+mn-lt"/>
              </a:rPr>
              <a:t>		; </a:t>
            </a:r>
            <a:r>
              <a:rPr lang="zh-CN" altLang="en-US" sz="2200" dirty="0">
                <a:solidFill>
                  <a:srgbClr val="FF0000"/>
                </a:solidFill>
                <a:latin typeface="+mn-lt"/>
              </a:rPr>
              <a:t>指向下一个数字</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loop again</a:t>
            </a:r>
            <a:r>
              <a:rPr lang="en-US" altLang="zh-CN" sz="2200" dirty="0">
                <a:solidFill>
                  <a:srgbClr val="FF0000"/>
                </a:solidFill>
                <a:latin typeface="+mn-lt"/>
              </a:rPr>
              <a:t>		; </a:t>
            </a:r>
            <a:r>
              <a:rPr lang="zh-CN" altLang="en-US" sz="2200" dirty="0">
                <a:solidFill>
                  <a:srgbClr val="FF0000"/>
                </a:solidFill>
                <a:latin typeface="+mn-lt"/>
              </a:rPr>
              <a:t>循环</a:t>
            </a:r>
            <a:endParaRPr lang="zh-CN" altLang="en-US" sz="2200" dirty="0">
              <a:solidFill>
                <a:srgbClr val="FF0000"/>
              </a:solidFill>
              <a:latin typeface="+mn-lt"/>
            </a:endParaRPr>
          </a:p>
        </p:txBody>
      </p:sp>
      <p:sp>
        <p:nvSpPr>
          <p:cNvPr id="2" name="内容占位符 2"/>
          <p:cNvSpPr txBox="1"/>
          <p:nvPr/>
        </p:nvSpPr>
        <p:spPr>
          <a:xfrm>
            <a:off x="539552" y="721271"/>
            <a:ext cx="8064896" cy="6136729"/>
          </a:xfrm>
          <a:prstGeom prst="rect">
            <a:avLst/>
          </a:prstGeom>
        </p:spPr>
        <p:txBody>
          <a:bodyPr/>
          <a:lstStyle/>
          <a:p>
            <a:pPr algn="just">
              <a:lnSpc>
                <a:spcPct val="130000"/>
              </a:lnSpc>
              <a:spcBef>
                <a:spcPts val="600"/>
              </a:spcBef>
              <a:buClr>
                <a:srgbClr val="0000FF"/>
              </a:buClr>
              <a:buSzPct val="100000"/>
              <a:defRPr/>
            </a:pPr>
            <a:r>
              <a:rPr lang="zh-CN" altLang="en-US" sz="2600" b="1" dirty="0">
                <a:solidFill>
                  <a:schemeClr val="tx1"/>
                </a:solidFill>
                <a:latin typeface="+mn-lt"/>
              </a:rPr>
              <a:t>例：</a:t>
            </a:r>
            <a:r>
              <a:rPr lang="zh-CN" altLang="en-US" sz="2600" dirty="0">
                <a:solidFill>
                  <a:schemeClr val="tx1"/>
                </a:solidFill>
                <a:latin typeface="+mn-lt"/>
              </a:rPr>
              <a:t>把</a:t>
            </a:r>
            <a:r>
              <a:rPr lang="en-US" altLang="zh-CN" sz="2600" dirty="0">
                <a:solidFill>
                  <a:schemeClr val="tx1"/>
                </a:solidFill>
                <a:latin typeface="+mn-lt"/>
              </a:rPr>
              <a:t>num</a:t>
            </a:r>
            <a:r>
              <a:rPr lang="zh-CN" altLang="en-US" sz="2600" dirty="0">
                <a:solidFill>
                  <a:schemeClr val="tx1"/>
                </a:solidFill>
                <a:latin typeface="+mn-lt"/>
              </a:rPr>
              <a:t>变量中的数字转换成对应的</a:t>
            </a:r>
            <a:r>
              <a:rPr lang="en-US" altLang="zh-CN" sz="2600" dirty="0">
                <a:solidFill>
                  <a:schemeClr val="tx1"/>
                </a:solidFill>
                <a:latin typeface="+mn-lt"/>
              </a:rPr>
              <a:t>ASCII</a:t>
            </a:r>
            <a:r>
              <a:rPr lang="zh-CN" altLang="en-US" sz="2600" dirty="0">
                <a:solidFill>
                  <a:schemeClr val="tx1"/>
                </a:solidFill>
                <a:latin typeface="+mn-lt"/>
              </a:rPr>
              <a:t>码</a:t>
            </a:r>
            <a:endParaRPr lang="zh-CN" altLang="en-US" sz="2600" dirty="0">
              <a:solidFill>
                <a:schemeClr val="tx1"/>
              </a:solidFill>
              <a:latin typeface="+mn-lt"/>
            </a:endParaRPr>
          </a:p>
        </p:txBody>
      </p:sp>
      <p:sp>
        <p:nvSpPr>
          <p:cNvPr id="4" name="AutoShape 7"/>
          <p:cNvSpPr>
            <a:spLocks noChangeArrowheads="1"/>
          </p:cNvSpPr>
          <p:nvPr/>
        </p:nvSpPr>
        <p:spPr bwMode="auto">
          <a:xfrm>
            <a:off x="5887057" y="1348978"/>
            <a:ext cx="2765425" cy="471488"/>
          </a:xfrm>
          <a:prstGeom prst="flowChartAlternateProcess">
            <a:avLst/>
          </a:prstGeom>
          <a:gradFill rotWithShape="1">
            <a:gsLst>
              <a:gs pos="0">
                <a:schemeClr val="accent1">
                  <a:gamma/>
                  <a:shade val="54510"/>
                  <a:invGamma/>
                </a:schemeClr>
              </a:gs>
              <a:gs pos="50000">
                <a:schemeClr val="accent1"/>
              </a:gs>
              <a:gs pos="100000">
                <a:schemeClr val="accent1">
                  <a:gamma/>
                  <a:shade val="54510"/>
                  <a:invGamma/>
                </a:schemeClr>
              </a:gs>
            </a:gsLst>
            <a:lin ang="18900000" scaled="1"/>
          </a:gradFill>
          <a:ln w="9525">
            <a:solidFill>
              <a:schemeClr val="folHlink"/>
            </a:solidFill>
            <a:miter lim="800000"/>
            <a:headEnd type="none" w="sm" len="sm"/>
            <a:tailEnd type="none" w="sm" len="sm"/>
          </a:ln>
          <a:effectLst>
            <a:outerShdw dist="35921" dir="2700000" algn="ctr" rotWithShape="0">
              <a:schemeClr val="bg2"/>
            </a:outerShdw>
          </a:effectLst>
        </p:spPr>
        <p:txBody>
          <a:bodyPr lIns="90000" tIns="46800" rIns="90000" bIns="46800">
            <a:spAutoFit/>
          </a:bodyPr>
          <a:lstStyle/>
          <a:p>
            <a:pPr algn="ctr" eaLnBrk="1" hangingPunct="1">
              <a:lnSpc>
                <a:spcPct val="80000"/>
              </a:lnSpc>
              <a:defRPr/>
            </a:pPr>
            <a:r>
              <a:rPr lang="zh-CN" altLang="en-US" sz="2800" b="1" dirty="0">
                <a:solidFill>
                  <a:schemeClr val="bg1"/>
                </a:solidFill>
                <a:effectLst>
                  <a:outerShdw blurRad="38100" dist="38100" dir="2700000" algn="tl">
                    <a:srgbClr val="000000"/>
                  </a:outerShdw>
                </a:effectLst>
                <a:ea typeface="隶书" panose="02010509060101010101" pitchFamily="49" charset="-122"/>
              </a:rPr>
              <a:t>寄存器相对寻址</a:t>
            </a:r>
            <a:endParaRPr lang="zh-CN" altLang="en-US" sz="2800" b="1" dirty="0">
              <a:solidFill>
                <a:schemeClr val="bg1"/>
              </a:solidFill>
              <a:effectLst>
                <a:outerShdw blurRad="38100" dist="38100" dir="2700000" algn="tl">
                  <a:srgbClr val="000000"/>
                </a:outerShdw>
              </a:effectLst>
              <a:ea typeface="隶书" panose="02010509060101010101" pitchFamily="49" charset="-122"/>
            </a:endParaRPr>
          </a:p>
        </p:txBody>
      </p:sp>
      <p:sp>
        <p:nvSpPr>
          <p:cNvPr id="7" name="Text Box 8"/>
          <p:cNvSpPr txBox="1">
            <a:spLocks noChangeArrowheads="1"/>
          </p:cNvSpPr>
          <p:nvPr/>
        </p:nvSpPr>
        <p:spPr bwMode="auto">
          <a:xfrm>
            <a:off x="7020272" y="5918448"/>
            <a:ext cx="1676400" cy="606896"/>
          </a:xfrm>
          <a:prstGeom prst="rect">
            <a:avLst/>
          </a:prstGeom>
          <a:solidFill>
            <a:srgbClr val="333333"/>
          </a:solidFill>
          <a:ln w="19050">
            <a:solidFill>
              <a:schemeClr val="accent1"/>
            </a:solidFill>
            <a:miter lim="800000"/>
            <a:headEnd type="none" w="sm" len="sm"/>
            <a:tailEnd type="none" w="sm" len="sm"/>
          </a:ln>
          <a:effectLst/>
          <a:extLst>
            <a:ext uri="{AF507438-7753-43E0-B8FC-AC1667EBCBE1}">
              <a14:hiddenEffects xmlns:a14="http://schemas.microsoft.com/office/drawing/2010/main">
                <a:effectLst>
                  <a:outerShdw sy="-100000" kx="3284103" algn="bl" rotWithShape="0">
                    <a:srgbClr val="808080"/>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buClrTx/>
              <a:buFontTx/>
              <a:buNone/>
            </a:pPr>
            <a:r>
              <a:rPr kumimoji="1" lang="en-US" altLang="zh-CN" sz="2800" dirty="0">
                <a:solidFill>
                  <a:schemeClr val="bg1"/>
                </a:solidFill>
              </a:rPr>
              <a:t>67783000</a:t>
            </a:r>
            <a:endParaRPr kumimoji="1" lang="en-US" altLang="zh-CN" sz="2800" dirty="0">
              <a:solidFill>
                <a:schemeClr val="bg1"/>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21271"/>
            <a:ext cx="8208912" cy="6136729"/>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直接操作标志寄存器</a:t>
            </a:r>
            <a:endParaRPr lang="zh-CN" altLang="en-US"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标志位操作指令：</a:t>
            </a:r>
            <a:r>
              <a:rPr lang="zh-CN" altLang="en-US" sz="2800" dirty="0">
                <a:solidFill>
                  <a:srgbClr val="FF0000"/>
                </a:solidFill>
                <a:latin typeface="+mn-lt"/>
              </a:rPr>
              <a:t>直接改变</a:t>
            </a:r>
            <a:r>
              <a:rPr lang="en-US" altLang="zh-CN" sz="2800" dirty="0">
                <a:solidFill>
                  <a:srgbClr val="FF0000"/>
                </a:solidFill>
                <a:latin typeface="+mn-lt"/>
              </a:rPr>
              <a:t>CF</a:t>
            </a:r>
            <a:r>
              <a:rPr lang="zh-CN" altLang="en-US" sz="2800" dirty="0">
                <a:solidFill>
                  <a:srgbClr val="FF0000"/>
                </a:solidFill>
                <a:latin typeface="+mn-lt"/>
              </a:rPr>
              <a:t>、</a:t>
            </a:r>
            <a:r>
              <a:rPr lang="en-US" altLang="zh-CN" sz="2800" dirty="0">
                <a:solidFill>
                  <a:srgbClr val="FF0000"/>
                </a:solidFill>
                <a:latin typeface="+mn-lt"/>
              </a:rPr>
              <a:t>DF</a:t>
            </a:r>
            <a:r>
              <a:rPr lang="zh-CN" altLang="en-US" sz="2800" dirty="0">
                <a:solidFill>
                  <a:srgbClr val="FF0000"/>
                </a:solidFill>
                <a:latin typeface="+mn-lt"/>
              </a:rPr>
              <a:t>、</a:t>
            </a:r>
            <a:r>
              <a:rPr lang="en-US" altLang="zh-CN" sz="2800" dirty="0">
                <a:solidFill>
                  <a:srgbClr val="FF0000"/>
                </a:solidFill>
                <a:latin typeface="+mn-lt"/>
              </a:rPr>
              <a:t>IF</a:t>
            </a:r>
            <a:r>
              <a:rPr lang="zh-CN" altLang="en-US" sz="2800" dirty="0">
                <a:solidFill>
                  <a:srgbClr val="FF0000"/>
                </a:solidFill>
                <a:latin typeface="+mn-lt"/>
              </a:rPr>
              <a:t>标志</a:t>
            </a:r>
            <a:endParaRPr lang="zh-CN" altLang="en-US" sz="28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12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针对</a:t>
            </a:r>
            <a:r>
              <a:rPr lang="en-US" altLang="zh-CN" sz="2800" dirty="0">
                <a:latin typeface="+mn-lt"/>
              </a:rPr>
              <a:t>32</a:t>
            </a:r>
            <a:r>
              <a:rPr lang="zh-CN" altLang="en-US" sz="2800" dirty="0">
                <a:latin typeface="+mn-lt"/>
              </a:rPr>
              <a:t>位标志寄存器</a:t>
            </a:r>
            <a:r>
              <a:rPr lang="en-US" altLang="zh-CN" sz="2800" dirty="0">
                <a:latin typeface="+mn-lt"/>
              </a:rPr>
              <a:t>EFLAGS</a:t>
            </a:r>
            <a:r>
              <a:rPr lang="zh-CN" altLang="en-US" sz="2800" dirty="0">
                <a:latin typeface="+mn-lt"/>
              </a:rPr>
              <a:t>，可以用</a:t>
            </a:r>
            <a:r>
              <a:rPr lang="en-US" altLang="zh-CN" sz="2800" dirty="0">
                <a:latin typeface="+mn-lt"/>
              </a:rPr>
              <a:t>PUSHFD</a:t>
            </a:r>
            <a:r>
              <a:rPr lang="zh-CN" altLang="en-US" sz="2800" dirty="0">
                <a:latin typeface="+mn-lt"/>
              </a:rPr>
              <a:t>将全部内容压入堆栈，用</a:t>
            </a:r>
            <a:r>
              <a:rPr lang="en-US" altLang="zh-CN" sz="2800" dirty="0">
                <a:latin typeface="+mn-lt"/>
              </a:rPr>
              <a:t>POPFD</a:t>
            </a:r>
            <a:r>
              <a:rPr lang="zh-CN" altLang="en-US" sz="2800" dirty="0">
                <a:latin typeface="+mn-lt"/>
              </a:rPr>
              <a:t>将栈顶数据弹出</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标志传送指令</a:t>
            </a:r>
            <a:r>
              <a:rPr kumimoji="1" lang="en-US" altLang="zh-CN" b="0" i="0" u="none" strike="noStrike" kern="0" cap="none" spc="0" normalizeH="0" baseline="0" noProof="0" dirty="0">
                <a:ln>
                  <a:noFill/>
                </a:ln>
                <a:solidFill>
                  <a:srgbClr val="000000"/>
                </a:solidFill>
                <a:effectLst/>
                <a:uLnTx/>
                <a:uFillTx/>
                <a:latin typeface="+mj-lt"/>
                <a:cs typeface="+mj-cs"/>
              </a:rPr>
              <a:t>Flag transfer instructions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3" name="表格 3"/>
          <p:cNvGraphicFramePr>
            <a:graphicFrameLocks noGrp="1"/>
          </p:cNvGraphicFramePr>
          <p:nvPr/>
        </p:nvGraphicFramePr>
        <p:xfrm>
          <a:off x="1121246" y="1916832"/>
          <a:ext cx="7464152" cy="3444100"/>
        </p:xfrm>
        <a:graphic>
          <a:graphicData uri="http://schemas.openxmlformats.org/drawingml/2006/table">
            <a:tbl>
              <a:tblPr firstRow="1" bandRow="1">
                <a:tableStyleId>{5C22544A-7EE6-4342-B048-85BDC9FD1C3A}</a:tableStyleId>
              </a:tblPr>
              <a:tblGrid>
                <a:gridCol w="1585614"/>
                <a:gridCol w="5878538"/>
              </a:tblGrid>
              <a:tr h="370840">
                <a:tc>
                  <a:txBody>
                    <a:bodyPr/>
                    <a:lstStyle/>
                    <a:p>
                      <a:pPr algn="ctr"/>
                      <a:r>
                        <a:rPr kumimoji="0" lang="zh-CN" altLang="en-US" sz="24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rPr>
                        <a:t>指令</a:t>
                      </a:r>
                      <a:endParaRPr lang="zh-CN" altLang="en-US" sz="24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normalizeH="0" baseline="0" dirty="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rPr>
                        <a:t>功能</a:t>
                      </a:r>
                      <a:endParaRPr kumimoji="0" lang="zh-CN" altLang="en-US" sz="2400" b="1" i="0" u="none" strike="noStrike" kern="1200" cap="none" normalizeH="0" baseline="0" dirty="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endParaRPr>
                    </a:p>
                  </a:txBody>
                  <a:tcPr/>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CLC</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复位进位标志：</a:t>
                      </a:r>
                      <a:r>
                        <a:rPr kumimoji="0" lang="en-US" altLang="zh-CN" sz="2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CF←0</a:t>
                      </a:r>
                      <a:endParaRPr kumimoji="0" lang="en-US" altLang="zh-CN" sz="2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STC</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置位进位标志：</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CF←1</a:t>
                      </a:r>
                      <a:endPar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CMC</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求反进位标志：原为</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变为</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，原为</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变为</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a:t>
                      </a:r>
                      <a:endPar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CLD</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复位方向标志：</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DF←0</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，串操作后地址增大</a:t>
                      </a:r>
                      <a:endPar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STD</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置位方向标志：</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DF←1</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，串操作后地址减小</a:t>
                      </a:r>
                      <a:endPar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CLI</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复位中断标志：</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IF←0</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，禁止可屏蔽中断</a:t>
                      </a:r>
                      <a:endPar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r h="370840">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rPr>
                        <a:t>STI</a:t>
                      </a:r>
                      <a:endParaRPr kumimoji="0" lang="en-US" altLang="zh-CN" sz="2200" b="1" i="0" u="none" strike="noStrike" cap="none" normalizeH="0" baseline="0" dirty="0">
                        <a:ln>
                          <a:noFill/>
                        </a:ln>
                        <a:solidFill>
                          <a:schemeClr val="tx2"/>
                        </a:solidFill>
                        <a:effectLst/>
                        <a:latin typeface="+mj-lt"/>
                        <a:ea typeface="黑体" panose="02010609060101010101" pitchFamily="49" charset="-122"/>
                        <a:cs typeface="Times New Roman" panose="02020603050405020304" pitchFamily="18" charset="0"/>
                      </a:endParaRPr>
                    </a:p>
                  </a:txBody>
                  <a:tcPr marT="45710" marB="45710" anchor="ctr" horzOverflow="overflow"/>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置位中断标志：</a:t>
                      </a:r>
                      <a:r>
                        <a:rPr kumimoji="0" lang="en-US" altLang="zh-CN"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IF←1</a:t>
                      </a:r>
                      <a:r>
                        <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，允许可屏蔽中断</a:t>
                      </a:r>
                      <a:endParaRPr kumimoji="0" lang="zh-CN" altLang="en-US" sz="2200" b="0"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10" marB="45710" anchor="ctr" horzOverflow="overflow"/>
                </a:tc>
              </a:tr>
            </a:tbl>
          </a:graphicData>
        </a:graphic>
      </p:graphicFrame>
      <p:sp>
        <p:nvSpPr>
          <p:cNvPr id="2" name="AutoShape 4"/>
          <p:cNvSpPr>
            <a:spLocks noChangeArrowheads="1"/>
          </p:cNvSpPr>
          <p:nvPr/>
        </p:nvSpPr>
        <p:spPr bwMode="auto">
          <a:xfrm>
            <a:off x="1121246" y="3212976"/>
            <a:ext cx="7464153" cy="970012"/>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除了标志为目的操作数的标志传送指令外，其它数据</a:t>
            </a:r>
            <a:endPar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传送指令不影响标志状态标志</a:t>
            </a:r>
            <a:endPar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21271"/>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算术运算</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对数据进行加减乘除</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基本的数据处理方法</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加减运算有“和”或“差”的结果外，还有进借位、溢出等状态标志，也是结果的一部分</a:t>
            </a: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注意算术运算类指令对标志的影响</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掌握：加法和减法指令</a:t>
            </a:r>
            <a:r>
              <a:rPr lang="en-US" altLang="zh-CN" sz="2400" dirty="0">
                <a:solidFill>
                  <a:schemeClr val="tx1"/>
                </a:solidFill>
                <a:latin typeface="+mn-lt"/>
              </a:rPr>
              <a:t>(Add</a:t>
            </a:r>
            <a:r>
              <a:rPr lang="zh-CN" altLang="en-US" sz="2400" dirty="0">
                <a:solidFill>
                  <a:schemeClr val="tx1"/>
                </a:solidFill>
                <a:latin typeface="+mn-lt"/>
              </a:rPr>
              <a:t>、</a:t>
            </a:r>
            <a:r>
              <a:rPr lang="en-US" altLang="zh-CN" sz="2400" dirty="0">
                <a:solidFill>
                  <a:schemeClr val="tx1"/>
                </a:solidFill>
                <a:latin typeface="+mn-lt"/>
              </a:rPr>
              <a:t>Subtract)</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熟悉：乘法和除法指令</a:t>
            </a:r>
            <a:r>
              <a:rPr lang="en-US" altLang="zh-CN" sz="2400" dirty="0">
                <a:solidFill>
                  <a:schemeClr val="tx1"/>
                </a:solidFill>
                <a:latin typeface="+mn-lt"/>
              </a:rPr>
              <a:t>(Multiply</a:t>
            </a:r>
            <a:r>
              <a:rPr lang="zh-CN" altLang="en-US" sz="2400" dirty="0">
                <a:solidFill>
                  <a:schemeClr val="tx1"/>
                </a:solidFill>
                <a:latin typeface="+mn-lt"/>
              </a:rPr>
              <a:t>、</a:t>
            </a:r>
            <a:r>
              <a:rPr lang="en-US" altLang="zh-CN" sz="2400" dirty="0">
                <a:solidFill>
                  <a:schemeClr val="tx1"/>
                </a:solidFill>
                <a:latin typeface="+mn-lt"/>
              </a:rPr>
              <a:t>Divide)</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理解：零位扩展和符号扩展</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算术运算类指令</a:t>
            </a:r>
            <a:r>
              <a:rPr kumimoji="1" lang="en-US" altLang="zh-CN" b="0" i="0" u="none" strike="noStrike" kern="0" cap="none" spc="0" normalizeH="0" baseline="0" noProof="0" dirty="0">
                <a:ln>
                  <a:noFill/>
                </a:ln>
                <a:solidFill>
                  <a:srgbClr val="000000"/>
                </a:solidFill>
                <a:effectLst/>
                <a:uLnTx/>
                <a:uFillTx/>
                <a:latin typeface="+mj-lt"/>
                <a:cs typeface="+mj-cs"/>
              </a:rPr>
              <a:t>Arithmetic instructions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 name="WordArt 5"/>
          <p:cNvSpPr>
            <a:spLocks noChangeArrowheads="1" noChangeShapeType="1" noTextEdit="1"/>
          </p:cNvSpPr>
          <p:nvPr/>
        </p:nvSpPr>
        <p:spPr bwMode="auto">
          <a:xfrm>
            <a:off x="5004048" y="1454893"/>
            <a:ext cx="3429000" cy="914400"/>
          </a:xfrm>
          <a:prstGeom prst="rect">
            <a:avLst/>
          </a:prstGeom>
        </p:spPr>
        <p:txBody>
          <a:bodyPr wrap="none" fromWordArt="1">
            <a:prstTxWarp prst="textPlain">
              <a:avLst>
                <a:gd name="adj" fmla="val 50000"/>
              </a:avLst>
            </a:prstTxWarp>
          </a:bodyPr>
          <a:lstStyle/>
          <a:p>
            <a:pPr algn="ctr" eaLnBrk="1" hangingPunct="1">
              <a:defRPr/>
            </a:pPr>
            <a:r>
              <a:rPr lang="zh-CN" altLang="en-US" sz="3600" kern="10" dirty="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宋体" panose="02010600030101010101" pitchFamily="2" charset="-122"/>
              </a:rPr>
              <a:t>＋－</a:t>
            </a:r>
            <a:r>
              <a:rPr lang="en-US" altLang="zh-CN" sz="3600" kern="10" dirty="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宋体" panose="02010600030101010101" pitchFamily="2" charset="-122"/>
              </a:rPr>
              <a:t>×÷</a:t>
            </a:r>
            <a:endParaRPr lang="zh-CN" altLang="en-US" sz="3600" kern="10" dirty="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状态标志用来记录指令执行结果的辅助信息</a:t>
            </a: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除了标志为目的操作数的标志传送指令外，其它数据传送指令不影响标志</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加减运算和逻辑运算指令会设置标志</a:t>
            </a: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状态标志又是程序分支的各种条件</a:t>
            </a: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处理器主要使用</a:t>
            </a:r>
            <a:r>
              <a:rPr lang="zh-CN" altLang="en-US" sz="2400" dirty="0">
                <a:solidFill>
                  <a:srgbClr val="FF0000"/>
                </a:solidFill>
                <a:latin typeface="+mn-lt"/>
              </a:rPr>
              <a:t>其中</a:t>
            </a:r>
            <a:r>
              <a:rPr lang="en-US" altLang="zh-CN" sz="2400" dirty="0">
                <a:solidFill>
                  <a:srgbClr val="FF0000"/>
                </a:solidFill>
                <a:latin typeface="+mn-lt"/>
              </a:rPr>
              <a:t>5</a:t>
            </a:r>
            <a:r>
              <a:rPr lang="zh-CN" altLang="en-US" sz="2400" dirty="0">
                <a:solidFill>
                  <a:srgbClr val="FF0000"/>
                </a:solidFill>
                <a:latin typeface="+mn-lt"/>
              </a:rPr>
              <a:t>个标志</a:t>
            </a:r>
            <a:r>
              <a:rPr lang="zh-CN" altLang="en-US" sz="2400" dirty="0">
                <a:solidFill>
                  <a:schemeClr val="tx1"/>
                </a:solidFill>
                <a:latin typeface="+mn-lt"/>
              </a:rPr>
              <a:t>构成各种条件，分支指令通过检查这些标志来实现程序分支</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3.2.1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状态标志</a:t>
            </a:r>
            <a:r>
              <a:rPr kumimoji="1" lang="en-US" altLang="zh-CN" b="0" i="0" u="none" strike="noStrike" kern="0" cap="none" spc="0" normalizeH="0" baseline="0" noProof="0" dirty="0">
                <a:ln>
                  <a:noFill/>
                </a:ln>
                <a:solidFill>
                  <a:srgbClr val="000000"/>
                </a:solidFill>
                <a:effectLst/>
                <a:uLnTx/>
                <a:uFillTx/>
                <a:latin typeface="+mj-lt"/>
                <a:cs typeface="+mj-cs"/>
              </a:rPr>
              <a:t>Status flags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4739454"/>
            <a:ext cx="7488832" cy="149785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     CF</a:t>
            </a:r>
            <a:r>
              <a:rPr lang="zh-CN" altLang="en-US" sz="2200" b="1" dirty="0">
                <a:solidFill>
                  <a:srgbClr val="FF0000"/>
                </a:solidFill>
                <a:latin typeface="+mj-lt"/>
                <a:ea typeface="黑体" panose="02010609060101010101" pitchFamily="49" charset="-122"/>
              </a:rPr>
              <a:t>：</a:t>
            </a:r>
            <a:r>
              <a:rPr lang="zh-CN" altLang="en-US" sz="2200" dirty="0">
                <a:solidFill>
                  <a:srgbClr val="00B050"/>
                </a:solidFill>
                <a:latin typeface="+mj-lt"/>
                <a:ea typeface="黑体" panose="02010609060101010101" pitchFamily="49" charset="-122"/>
              </a:rPr>
              <a:t>进位标志</a:t>
            </a:r>
            <a:r>
              <a:rPr lang="en-US" altLang="zh-CN" sz="2200" dirty="0">
                <a:solidFill>
                  <a:srgbClr val="00B050"/>
                </a:solidFill>
                <a:latin typeface="+mj-lt"/>
                <a:ea typeface="黑体" panose="02010609060101010101" pitchFamily="49" charset="-122"/>
              </a:rPr>
              <a:t>Carry Flag       </a:t>
            </a:r>
            <a:r>
              <a:rPr lang="en-US" altLang="zh-CN" sz="2200" b="1" dirty="0">
                <a:solidFill>
                  <a:srgbClr val="FF0000"/>
                </a:solidFill>
                <a:latin typeface="+mj-lt"/>
                <a:ea typeface="黑体" panose="02010609060101010101" pitchFamily="49" charset="-122"/>
              </a:rPr>
              <a:t>OF</a:t>
            </a:r>
            <a:r>
              <a:rPr lang="zh-CN" altLang="en-US" sz="2200" b="1" dirty="0">
                <a:solidFill>
                  <a:srgbClr val="FF0000"/>
                </a:solidFill>
                <a:latin typeface="+mj-lt"/>
                <a:ea typeface="黑体" panose="02010609060101010101" pitchFamily="49" charset="-122"/>
              </a:rPr>
              <a:t>：</a:t>
            </a:r>
            <a:r>
              <a:rPr lang="zh-CN" altLang="en-US" sz="2200" dirty="0">
                <a:solidFill>
                  <a:srgbClr val="00B050"/>
                </a:solidFill>
                <a:latin typeface="+mj-lt"/>
                <a:ea typeface="黑体" panose="02010609060101010101" pitchFamily="49" charset="-122"/>
              </a:rPr>
              <a:t>溢出标志</a:t>
            </a:r>
            <a:r>
              <a:rPr lang="en-US" altLang="zh-CN" sz="2200" dirty="0">
                <a:solidFill>
                  <a:srgbClr val="00B050"/>
                </a:solidFill>
                <a:latin typeface="+mj-lt"/>
                <a:ea typeface="黑体" panose="02010609060101010101" pitchFamily="49" charset="-122"/>
              </a:rPr>
              <a:t>Overflow Flag</a:t>
            </a:r>
            <a:endParaRPr lang="en-US" altLang="zh-CN" sz="2200"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     ZF</a:t>
            </a:r>
            <a:r>
              <a:rPr lang="zh-CN" altLang="en-US" sz="2200" b="1" dirty="0">
                <a:solidFill>
                  <a:srgbClr val="FF0000"/>
                </a:solidFill>
                <a:latin typeface="+mj-lt"/>
                <a:ea typeface="黑体" panose="02010609060101010101" pitchFamily="49" charset="-122"/>
              </a:rPr>
              <a:t>：</a:t>
            </a:r>
            <a:r>
              <a:rPr lang="zh-CN" altLang="en-US" sz="2200" dirty="0">
                <a:solidFill>
                  <a:srgbClr val="00B050"/>
                </a:solidFill>
                <a:latin typeface="+mj-lt"/>
                <a:ea typeface="黑体" panose="02010609060101010101" pitchFamily="49" charset="-122"/>
              </a:rPr>
              <a:t>零标志</a:t>
            </a:r>
            <a:r>
              <a:rPr lang="en-US" altLang="zh-CN" sz="2200" dirty="0">
                <a:solidFill>
                  <a:srgbClr val="00B050"/>
                </a:solidFill>
                <a:latin typeface="+mj-lt"/>
                <a:ea typeface="黑体" panose="02010609060101010101" pitchFamily="49" charset="-122"/>
              </a:rPr>
              <a:t>Zero                     </a:t>
            </a:r>
            <a:r>
              <a:rPr lang="en-US" altLang="zh-CN" sz="2200" b="1" dirty="0">
                <a:solidFill>
                  <a:srgbClr val="FF0000"/>
                </a:solidFill>
                <a:latin typeface="+mj-lt"/>
                <a:ea typeface="黑体" panose="02010609060101010101" pitchFamily="49" charset="-122"/>
              </a:rPr>
              <a:t>SF</a:t>
            </a:r>
            <a:r>
              <a:rPr lang="zh-CN" altLang="en-US" sz="2200" b="1" dirty="0">
                <a:solidFill>
                  <a:srgbClr val="FF0000"/>
                </a:solidFill>
                <a:latin typeface="+mj-lt"/>
                <a:ea typeface="黑体" panose="02010609060101010101" pitchFamily="49" charset="-122"/>
              </a:rPr>
              <a:t>：</a:t>
            </a:r>
            <a:r>
              <a:rPr lang="zh-CN" altLang="en-US" sz="2200" dirty="0">
                <a:solidFill>
                  <a:srgbClr val="00B050"/>
                </a:solidFill>
                <a:latin typeface="+mj-lt"/>
                <a:ea typeface="黑体" panose="02010609060101010101" pitchFamily="49" charset="-122"/>
              </a:rPr>
              <a:t>符号标志</a:t>
            </a:r>
            <a:r>
              <a:rPr lang="en-US" altLang="zh-CN" sz="2200" dirty="0">
                <a:solidFill>
                  <a:srgbClr val="00B050"/>
                </a:solidFill>
                <a:latin typeface="+mj-lt"/>
                <a:ea typeface="黑体" panose="02010609060101010101" pitchFamily="49" charset="-122"/>
              </a:rPr>
              <a:t>Sigh Flag</a:t>
            </a:r>
            <a:endParaRPr lang="en-US" altLang="zh-CN" sz="2200"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     PF</a:t>
            </a:r>
            <a:r>
              <a:rPr lang="zh-CN" altLang="en-US" sz="2200" b="1" dirty="0">
                <a:solidFill>
                  <a:srgbClr val="FF0000"/>
                </a:solidFill>
                <a:latin typeface="+mj-lt"/>
                <a:ea typeface="黑体" panose="02010609060101010101" pitchFamily="49" charset="-122"/>
              </a:rPr>
              <a:t>：</a:t>
            </a:r>
            <a:r>
              <a:rPr lang="zh-CN" altLang="en-US" sz="2200" dirty="0">
                <a:solidFill>
                  <a:srgbClr val="00B050"/>
                </a:solidFill>
                <a:latin typeface="+mj-lt"/>
                <a:ea typeface="黑体" panose="02010609060101010101" pitchFamily="49" charset="-122"/>
              </a:rPr>
              <a:t>奇偶标志</a:t>
            </a:r>
            <a:r>
              <a:rPr lang="en-US" altLang="zh-CN" sz="2200" dirty="0">
                <a:solidFill>
                  <a:srgbClr val="00B050"/>
                </a:solidFill>
                <a:latin typeface="+mj-lt"/>
                <a:ea typeface="黑体" panose="02010609060101010101" pitchFamily="49" charset="-122"/>
              </a:rPr>
              <a:t>Parity Flag</a:t>
            </a:r>
            <a:endParaRPr lang="en-US" altLang="zh-CN" sz="2200" dirty="0">
              <a:solidFill>
                <a:srgbClr val="00B050"/>
              </a:solidFill>
              <a:latin typeface="+mj-lt"/>
              <a:ea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进位标志是针对</a:t>
            </a:r>
            <a:r>
              <a:rPr lang="zh-CN" altLang="en-US" sz="2800" dirty="0">
                <a:solidFill>
                  <a:srgbClr val="FF0000"/>
                </a:solidFill>
                <a:latin typeface="+mn-lt"/>
              </a:rPr>
              <a:t>无符号整数</a:t>
            </a:r>
            <a:r>
              <a:rPr lang="zh-CN" altLang="en-US" sz="2800" dirty="0">
                <a:latin typeface="+mn-lt"/>
              </a:rPr>
              <a:t>运算设计的</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判断无符号数据加减运算结果是否超出范围、是否需要利用进（借）位反映正确结果</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6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3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当加减运算结果的</a:t>
            </a:r>
            <a:r>
              <a:rPr lang="zh-CN" altLang="en-US" sz="2800" dirty="0">
                <a:solidFill>
                  <a:srgbClr val="FF0000"/>
                </a:solidFill>
                <a:latin typeface="+mn-lt"/>
              </a:rPr>
              <a:t>最高有效位</a:t>
            </a:r>
            <a:r>
              <a:rPr lang="zh-CN" altLang="en-US" sz="2800" dirty="0">
                <a:latin typeface="+mn-lt"/>
              </a:rPr>
              <a:t>有进位（加法）或借位（减法）时，进位标志置</a:t>
            </a:r>
            <a:r>
              <a:rPr lang="en-US" altLang="zh-CN" sz="2800" dirty="0">
                <a:latin typeface="+mn-lt"/>
              </a:rPr>
              <a:t>1</a:t>
            </a:r>
            <a:r>
              <a:rPr lang="zh-CN" altLang="en-US" sz="2800" dirty="0">
                <a:latin typeface="+mn-lt"/>
              </a:rPr>
              <a:t>，即</a:t>
            </a:r>
            <a:r>
              <a:rPr lang="en-US" altLang="zh-CN" sz="2800" dirty="0">
                <a:latin typeface="+mn-lt"/>
              </a:rPr>
              <a:t>CF</a:t>
            </a:r>
            <a:r>
              <a:rPr lang="zh-CN" altLang="en-US" sz="2800" dirty="0">
                <a:latin typeface="+mn-lt"/>
              </a:rPr>
              <a:t>＝</a:t>
            </a:r>
            <a:r>
              <a:rPr lang="en-US" altLang="zh-CN" sz="2800" dirty="0">
                <a:latin typeface="+mn-lt"/>
              </a:rPr>
              <a:t>1</a:t>
            </a:r>
            <a:r>
              <a:rPr lang="zh-CN" altLang="en-US" sz="2800" dirty="0">
                <a:latin typeface="+mn-lt"/>
              </a:rPr>
              <a:t>；否则</a:t>
            </a:r>
            <a:r>
              <a:rPr lang="en-US" altLang="zh-CN" sz="2800" dirty="0">
                <a:latin typeface="+mn-lt"/>
              </a:rPr>
              <a:t>CF</a:t>
            </a:r>
            <a:r>
              <a:rPr lang="zh-CN" altLang="en-US" sz="2800" dirty="0">
                <a:latin typeface="+mn-lt"/>
              </a:rPr>
              <a:t>＝</a:t>
            </a:r>
            <a:r>
              <a:rPr lang="en-US" altLang="zh-CN" sz="2800" dirty="0">
                <a:latin typeface="+mn-lt"/>
              </a:rPr>
              <a:t>0</a:t>
            </a:r>
            <a:endParaRPr lang="en-US" altLang="zh-CN"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进位标志</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CF</a:t>
            </a:r>
            <a:r>
              <a:rPr kumimoji="1" lang="en-US" altLang="zh-CN" b="0" i="0" u="none" strike="noStrike" kern="0" cap="none" spc="0" normalizeH="0" baseline="0" noProof="0" dirty="0">
                <a:ln>
                  <a:noFill/>
                </a:ln>
                <a:solidFill>
                  <a:srgbClr val="000000"/>
                </a:solidFill>
                <a:effectLst/>
                <a:uLnTx/>
                <a:uFillTx/>
                <a:latin typeface="+mj-lt"/>
                <a:cs typeface="+mj-cs"/>
              </a:rPr>
              <a:t> (Carry Flag)</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043608" y="2492896"/>
            <a:ext cx="7488832" cy="223224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      </a:t>
            </a:r>
            <a:r>
              <a:rPr lang="en-US" altLang="zh-CN" sz="2200" dirty="0">
                <a:solidFill>
                  <a:srgbClr val="00B050"/>
                </a:solidFill>
                <a:latin typeface="+mj-lt"/>
                <a:ea typeface="黑体" panose="02010609060101010101" pitchFamily="49" charset="-122"/>
              </a:rPr>
              <a:t>N</a:t>
            </a:r>
            <a:r>
              <a:rPr lang="zh-CN" altLang="en-US" sz="2200" dirty="0">
                <a:solidFill>
                  <a:srgbClr val="00B050"/>
                </a:solidFill>
                <a:latin typeface="+mj-lt"/>
                <a:ea typeface="黑体" panose="02010609060101010101" pitchFamily="49" charset="-122"/>
              </a:rPr>
              <a:t>个二进制位表达无符号整数的范围为</a:t>
            </a:r>
            <a:r>
              <a:rPr lang="en-US" altLang="zh-CN" sz="2200" dirty="0">
                <a:solidFill>
                  <a:srgbClr val="FF0000"/>
                </a:solidFill>
                <a:latin typeface="+mj-lt"/>
                <a:ea typeface="黑体" panose="02010609060101010101" pitchFamily="49" charset="-122"/>
              </a:rPr>
              <a:t>0</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2</a:t>
            </a:r>
            <a:r>
              <a:rPr lang="en-US" altLang="zh-CN" sz="2200" baseline="30000" dirty="0">
                <a:solidFill>
                  <a:srgbClr val="FF0000"/>
                </a:solidFill>
                <a:latin typeface="+mj-lt"/>
                <a:ea typeface="黑体" panose="02010609060101010101" pitchFamily="49" charset="-122"/>
              </a:rPr>
              <a:t>N</a:t>
            </a:r>
            <a:r>
              <a:rPr lang="en-US" altLang="zh-CN" sz="2200" dirty="0">
                <a:solidFill>
                  <a:srgbClr val="FF0000"/>
                </a:solidFill>
                <a:latin typeface="+mj-lt"/>
                <a:ea typeface="黑体" panose="02010609060101010101" pitchFamily="49" charset="-122"/>
              </a:rPr>
              <a:t>-1</a:t>
            </a:r>
            <a:r>
              <a:rPr lang="zh-CN" altLang="en-US" sz="2200" dirty="0">
                <a:solidFill>
                  <a:srgbClr val="00B050"/>
                </a:solidFill>
                <a:latin typeface="+mj-lt"/>
                <a:ea typeface="黑体" panose="02010609060101010101" pitchFamily="49" charset="-122"/>
              </a:rPr>
              <a:t>，如果加减</a:t>
            </a:r>
            <a:r>
              <a:rPr lang="zh-CN" altLang="en-US" sz="2200" dirty="0">
                <a:solidFill>
                  <a:srgbClr val="FF0000"/>
                </a:solidFill>
                <a:latin typeface="+mj-lt"/>
                <a:ea typeface="黑体" panose="02010609060101010101" pitchFamily="49" charset="-122"/>
              </a:rPr>
              <a:t>运算结果超出了这个范围，就是产生了进位或借位</a:t>
            </a:r>
            <a:endParaRPr lang="zh-CN" altLang="en-US"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      </a:t>
            </a:r>
            <a:r>
              <a:rPr lang="en-US" altLang="zh-CN" sz="2200" dirty="0">
                <a:solidFill>
                  <a:srgbClr val="00B050"/>
                </a:solidFill>
                <a:latin typeface="+mj-lt"/>
                <a:ea typeface="黑体" panose="02010609060101010101" pitchFamily="49" charset="-122"/>
              </a:rPr>
              <a:t>8</a:t>
            </a:r>
            <a:r>
              <a:rPr lang="zh-CN" altLang="en-US" sz="2200" dirty="0">
                <a:solidFill>
                  <a:srgbClr val="00B050"/>
                </a:solidFill>
                <a:latin typeface="+mj-lt"/>
                <a:ea typeface="黑体" panose="02010609060101010101" pitchFamily="49" charset="-122"/>
              </a:rPr>
              <a:t>位：</a:t>
            </a:r>
            <a:r>
              <a:rPr lang="en-US" altLang="zh-CN" sz="2200" dirty="0">
                <a:solidFill>
                  <a:srgbClr val="00B050"/>
                </a:solidFill>
                <a:latin typeface="+mj-lt"/>
                <a:ea typeface="黑体" panose="02010609060101010101" pitchFamily="49" charset="-122"/>
              </a:rPr>
              <a:t>0</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255</a:t>
            </a:r>
            <a:endParaRPr lang="en-US" altLang="zh-CN" sz="2200"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00B050"/>
                </a:solidFill>
                <a:latin typeface="+mj-lt"/>
                <a:ea typeface="黑体" panose="02010609060101010101" pitchFamily="49" charset="-122"/>
              </a:rPr>
              <a:t>      16</a:t>
            </a:r>
            <a:r>
              <a:rPr lang="zh-CN" altLang="en-US" sz="2200" dirty="0">
                <a:solidFill>
                  <a:srgbClr val="00B050"/>
                </a:solidFill>
                <a:latin typeface="+mj-lt"/>
                <a:ea typeface="黑体" panose="02010609060101010101" pitchFamily="49" charset="-122"/>
              </a:rPr>
              <a:t>位：</a:t>
            </a:r>
            <a:r>
              <a:rPr lang="en-US" altLang="zh-CN" sz="2200" dirty="0">
                <a:solidFill>
                  <a:srgbClr val="00B050"/>
                </a:solidFill>
                <a:latin typeface="+mj-lt"/>
                <a:ea typeface="黑体" panose="02010609060101010101" pitchFamily="49" charset="-122"/>
              </a:rPr>
              <a:t>0</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65535</a:t>
            </a:r>
            <a:endParaRPr lang="en-US" altLang="zh-CN" sz="2200"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00B050"/>
                </a:solidFill>
                <a:latin typeface="+mj-lt"/>
                <a:ea typeface="黑体" panose="02010609060101010101" pitchFamily="49" charset="-122"/>
              </a:rPr>
              <a:t>      32</a:t>
            </a:r>
            <a:r>
              <a:rPr lang="zh-CN" altLang="en-US" sz="2200" dirty="0">
                <a:solidFill>
                  <a:srgbClr val="00B050"/>
                </a:solidFill>
                <a:latin typeface="+mj-lt"/>
                <a:ea typeface="黑体" panose="02010609060101010101" pitchFamily="49" charset="-122"/>
              </a:rPr>
              <a:t>位：</a:t>
            </a:r>
            <a:r>
              <a:rPr lang="en-US" altLang="zh-CN" sz="2200" dirty="0">
                <a:solidFill>
                  <a:srgbClr val="00B050"/>
                </a:solidFill>
                <a:latin typeface="+mj-lt"/>
                <a:ea typeface="黑体" panose="02010609060101010101" pitchFamily="49" charset="-122"/>
              </a:rPr>
              <a:t>0</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2</a:t>
            </a:r>
            <a:r>
              <a:rPr lang="en-US" altLang="zh-CN" sz="2200" baseline="30000" dirty="0">
                <a:solidFill>
                  <a:srgbClr val="00B050"/>
                </a:solidFill>
                <a:latin typeface="+mj-lt"/>
                <a:ea typeface="黑体" panose="02010609060101010101" pitchFamily="49" charset="-122"/>
              </a:rPr>
              <a:t>32</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1</a:t>
            </a:r>
            <a:endParaRPr lang="en-US" altLang="zh-CN" sz="2200" dirty="0">
              <a:solidFill>
                <a:srgbClr val="00B050"/>
              </a:solidFill>
              <a:latin typeface="+mj-lt"/>
              <a:ea typeface="黑体"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914400" lvl="1" indent="-457200" algn="just">
              <a:lnSpc>
                <a:spcPct val="130000"/>
              </a:lnSpc>
              <a:spcBef>
                <a:spcPts val="600"/>
              </a:spcBef>
              <a:buClr>
                <a:srgbClr val="0000FF"/>
              </a:buClr>
              <a:buFont typeface="Wingdings" panose="05000000000000000000" pitchFamily="2" charset="2"/>
              <a:buChar char="ü"/>
            </a:pPr>
            <a:endParaRPr lang="en-US" altLang="zh-CN" sz="26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3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进位标志</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CF</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：举例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9609" y="75136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801688" y="922437"/>
            <a:ext cx="7488832" cy="254738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1</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00111010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10110110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十六进制表达：</a:t>
            </a:r>
            <a:r>
              <a:rPr lang="en-US" altLang="zh-CN" sz="2200" dirty="0">
                <a:solidFill>
                  <a:schemeClr val="tx1"/>
                </a:solidFill>
                <a:latin typeface="+mj-lt"/>
                <a:ea typeface="黑体" panose="02010609060101010101" pitchFamily="49" charset="-122"/>
              </a:rPr>
              <a:t>3A</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7C</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B6</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转换成十进制数：</a:t>
            </a:r>
            <a:r>
              <a:rPr lang="en-US" altLang="zh-CN" sz="2200" dirty="0">
                <a:solidFill>
                  <a:schemeClr val="tx1"/>
                </a:solidFill>
                <a:latin typeface="+mj-lt"/>
                <a:ea typeface="黑体" panose="02010609060101010101" pitchFamily="49" charset="-122"/>
              </a:rPr>
              <a:t>58</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124</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182</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没有产生进位：</a:t>
            </a:r>
            <a:r>
              <a:rPr lang="en-US" altLang="zh-CN" sz="2200" dirty="0">
                <a:solidFill>
                  <a:schemeClr val="tx1"/>
                </a:solidFill>
                <a:latin typeface="+mj-lt"/>
                <a:ea typeface="黑体" panose="02010609060101010101" pitchFamily="49" charset="-122"/>
              </a:rPr>
              <a:t>CF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a:t>
            </a:r>
            <a:endParaRPr lang="en-US" altLang="zh-CN" sz="2200" dirty="0">
              <a:solidFill>
                <a:schemeClr val="tx1"/>
              </a:solidFill>
              <a:latin typeface="+mj-lt"/>
              <a:ea typeface="黑体" panose="02010609060101010101" pitchFamily="49" charset="-122"/>
            </a:endParaRPr>
          </a:p>
        </p:txBody>
      </p:sp>
      <p:sp>
        <p:nvSpPr>
          <p:cNvPr id="2" name="Rectangle 3"/>
          <p:cNvSpPr>
            <a:spLocks noChangeArrowheads="1"/>
          </p:cNvSpPr>
          <p:nvPr/>
        </p:nvSpPr>
        <p:spPr bwMode="auto">
          <a:xfrm>
            <a:off x="801688" y="3861048"/>
            <a:ext cx="7488832" cy="254738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2</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10101010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00100110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十六进制表达：</a:t>
            </a:r>
            <a:r>
              <a:rPr lang="en-US" altLang="zh-CN" sz="2200" dirty="0">
                <a:solidFill>
                  <a:schemeClr val="tx1"/>
                </a:solidFill>
                <a:latin typeface="+mj-lt"/>
                <a:ea typeface="黑体" panose="02010609060101010101" pitchFamily="49" charset="-122"/>
              </a:rPr>
              <a:t>AA</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7C</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26</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转换成十进制数：</a:t>
            </a:r>
            <a:r>
              <a:rPr lang="en-US" altLang="zh-CN" sz="2200" dirty="0">
                <a:solidFill>
                  <a:schemeClr val="tx1"/>
                </a:solidFill>
                <a:latin typeface="+mj-lt"/>
                <a:ea typeface="黑体" panose="02010609060101010101" pitchFamily="49" charset="-122"/>
              </a:rPr>
              <a:t>170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124</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294</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256</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38</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产生进位：</a:t>
            </a:r>
            <a:r>
              <a:rPr lang="en-US" altLang="zh-CN" sz="2200" dirty="0">
                <a:solidFill>
                  <a:srgbClr val="FF0000"/>
                </a:solidFill>
                <a:latin typeface="+mj-lt"/>
                <a:ea typeface="黑体" panose="02010609060101010101" pitchFamily="49" charset="-122"/>
              </a:rPr>
              <a:t>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endParaRPr lang="en-US" altLang="zh-CN" sz="2200" dirty="0">
              <a:solidFill>
                <a:srgbClr val="FF0000"/>
              </a:solidFill>
              <a:latin typeface="+mj-lt"/>
              <a:ea typeface="黑体" panose="02010609060101010101" pitchFamily="49" charset="-122"/>
            </a:endParaRPr>
          </a:p>
        </p:txBody>
      </p:sp>
      <p:sp>
        <p:nvSpPr>
          <p:cNvPr id="5" name="Rounded Rectangular Callout 2"/>
          <p:cNvSpPr/>
          <p:nvPr/>
        </p:nvSpPr>
        <p:spPr bwMode="auto">
          <a:xfrm>
            <a:off x="5983064" y="5864702"/>
            <a:ext cx="2304256" cy="400869"/>
          </a:xfrm>
          <a:prstGeom prst="wedgeRoundRectCallout">
            <a:avLst>
              <a:gd name="adj1" fmla="val -142967"/>
              <a:gd name="adj2" fmla="val 30420"/>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r>
              <a:rPr lang="zh-CN" altLang="en-US" sz="1600" dirty="0">
                <a:solidFill>
                  <a:srgbClr val="FFFF00"/>
                </a:solidFill>
                <a:latin typeface="黑体" panose="02010609060101010101" pitchFamily="49" charset="-122"/>
                <a:ea typeface="黑体" panose="02010609060101010101" pitchFamily="49" charset="-122"/>
              </a:rPr>
              <a:t>进位</a:t>
            </a:r>
            <a:r>
              <a:rPr lang="en-US" altLang="zh-CN" sz="1600" dirty="0">
                <a:solidFill>
                  <a:srgbClr val="FFFF00"/>
                </a:solidFill>
                <a:latin typeface="黑体" panose="02010609060101010101" pitchFamily="49" charset="-122"/>
                <a:ea typeface="黑体" panose="02010609060101010101" pitchFamily="49" charset="-122"/>
              </a:rPr>
              <a:t>1</a:t>
            </a:r>
            <a:r>
              <a:rPr lang="zh-CN" altLang="en-US" sz="1600" dirty="0">
                <a:solidFill>
                  <a:srgbClr val="FFFF00"/>
                </a:solidFill>
                <a:latin typeface="黑体" panose="02010609060101010101" pitchFamily="49" charset="-122"/>
                <a:ea typeface="黑体" panose="02010609060101010101" pitchFamily="49" charset="-122"/>
              </a:rPr>
              <a:t>表达</a:t>
            </a:r>
            <a:r>
              <a:rPr lang="en-US" altLang="zh-CN" sz="1600" dirty="0">
                <a:solidFill>
                  <a:srgbClr val="FFFF00"/>
                </a:solidFill>
                <a:latin typeface="黑体" panose="02010609060101010101" pitchFamily="49" charset="-122"/>
                <a:ea typeface="黑体" panose="02010609060101010101" pitchFamily="49" charset="-122"/>
              </a:rPr>
              <a:t>256</a:t>
            </a:r>
            <a:endParaRPr lang="en-US" altLang="zh-CN" sz="1600" dirty="0">
              <a:solidFill>
                <a:srgbClr val="FFFF00"/>
              </a:solidFill>
              <a:latin typeface="黑体" panose="02010609060101010101" pitchFamily="49" charset="-122"/>
              <a:ea typeface="黑体" panose="02010609060101010101" pitchFamily="49" charset="-122"/>
            </a:endParaRPr>
          </a:p>
        </p:txBody>
      </p:sp>
      <p:pic>
        <p:nvPicPr>
          <p:cNvPr id="9" name="Picture 4" descr="142"/>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79512" y="3645024"/>
            <a:ext cx="8675688"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ounded Rectangular Callout 2"/>
          <p:cNvSpPr/>
          <p:nvPr/>
        </p:nvSpPr>
        <p:spPr bwMode="auto">
          <a:xfrm>
            <a:off x="5983064" y="1952812"/>
            <a:ext cx="2304256" cy="573474"/>
          </a:xfrm>
          <a:prstGeom prst="wedgeRoundRectCallout">
            <a:avLst>
              <a:gd name="adj1" fmla="val -79400"/>
              <a:gd name="adj2" fmla="val 5615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1600" dirty="0">
                <a:solidFill>
                  <a:srgbClr val="FFFF00"/>
                </a:solidFill>
                <a:latin typeface="黑体" panose="02010609060101010101" pitchFamily="49" charset="-122"/>
                <a:ea typeface="黑体" panose="02010609060101010101" pitchFamily="49" charset="-122"/>
              </a:rPr>
              <a:t>结果没有超出</a:t>
            </a:r>
            <a:r>
              <a:rPr lang="en-US" altLang="zh-CN" sz="1600" dirty="0">
                <a:solidFill>
                  <a:srgbClr val="FFFF00"/>
                </a:solidFill>
                <a:latin typeface="黑体" panose="02010609060101010101" pitchFamily="49" charset="-122"/>
                <a:ea typeface="黑体" panose="02010609060101010101" pitchFamily="49" charset="-122"/>
              </a:rPr>
              <a:t>0~255</a:t>
            </a:r>
            <a:r>
              <a:rPr lang="zh-CN" altLang="en-US" sz="1600" dirty="0">
                <a:solidFill>
                  <a:srgbClr val="FFFF00"/>
                </a:solidFill>
                <a:latin typeface="黑体" panose="02010609060101010101" pitchFamily="49" charset="-122"/>
                <a:ea typeface="黑体" panose="02010609060101010101" pitchFamily="49" charset="-122"/>
              </a:rPr>
              <a:t>的范围，没有产生进位</a:t>
            </a:r>
            <a:endParaRPr lang="en-US" altLang="zh-CN" sz="1600" dirty="0">
              <a:solidFill>
                <a:srgbClr val="FFFF00"/>
              </a:solidFill>
              <a:latin typeface="黑体" panose="02010609060101010101" pitchFamily="49" charset="-122"/>
              <a:ea typeface="黑体" panose="02010609060101010101" pitchFamily="49" charset="-122"/>
            </a:endParaRPr>
          </a:p>
        </p:txBody>
      </p:sp>
      <p:sp>
        <p:nvSpPr>
          <p:cNvPr id="10" name="Rounded Rectangular Callout 2"/>
          <p:cNvSpPr/>
          <p:nvPr/>
        </p:nvSpPr>
        <p:spPr bwMode="auto">
          <a:xfrm>
            <a:off x="5983064" y="4848002"/>
            <a:ext cx="2304256" cy="573474"/>
          </a:xfrm>
          <a:prstGeom prst="wedgeRoundRectCallout">
            <a:avLst>
              <a:gd name="adj1" fmla="val -76828"/>
              <a:gd name="adj2" fmla="val 73131"/>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1600" dirty="0">
                <a:solidFill>
                  <a:srgbClr val="FFFF00"/>
                </a:solidFill>
                <a:latin typeface="黑体" panose="02010609060101010101" pitchFamily="49" charset="-122"/>
                <a:ea typeface="黑体" panose="02010609060101010101" pitchFamily="49" charset="-122"/>
              </a:rPr>
              <a:t>结果超出</a:t>
            </a:r>
            <a:r>
              <a:rPr lang="en-US" altLang="zh-CN" sz="1600" dirty="0">
                <a:solidFill>
                  <a:srgbClr val="FFFF00"/>
                </a:solidFill>
                <a:latin typeface="黑体" panose="02010609060101010101" pitchFamily="49" charset="-122"/>
                <a:ea typeface="黑体" panose="02010609060101010101" pitchFamily="49" charset="-122"/>
              </a:rPr>
              <a:t>0~255</a:t>
            </a:r>
            <a:r>
              <a:rPr lang="zh-CN" altLang="en-US" sz="1600" dirty="0">
                <a:solidFill>
                  <a:srgbClr val="FFFF00"/>
                </a:solidFill>
                <a:latin typeface="黑体" panose="02010609060101010101" pitchFamily="49" charset="-122"/>
                <a:ea typeface="黑体" panose="02010609060101010101" pitchFamily="49" charset="-122"/>
              </a:rPr>
              <a:t>的范围，产生进位</a:t>
            </a:r>
            <a:endParaRPr lang="en-US" altLang="zh-CN" sz="1600" dirty="0">
              <a:solidFill>
                <a:srgbClr val="FFFF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6903685" y="4523218"/>
            <a:ext cx="2240315" cy="2232248"/>
          </a:xfrm>
          <a:prstGeom prst="rect">
            <a:avLst/>
          </a:prstGeom>
        </p:spPr>
      </p:pic>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溢出标志是针对</a:t>
            </a:r>
            <a:r>
              <a:rPr lang="zh-CN" altLang="en-US" sz="2800" dirty="0">
                <a:solidFill>
                  <a:srgbClr val="FF0000"/>
                </a:solidFill>
                <a:latin typeface="+mn-lt"/>
              </a:rPr>
              <a:t>有符号整数</a:t>
            </a:r>
            <a:r>
              <a:rPr lang="zh-CN" altLang="en-US" sz="2800" dirty="0">
                <a:latin typeface="+mn-lt"/>
              </a:rPr>
              <a:t>运算设计的</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判断有符号数据加减运算结果是否超出范围</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6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当有符号整数加减运算结果有溢出，</a:t>
            </a:r>
            <a:endParaRPr lang="en-US" altLang="zh-CN" sz="2800" dirty="0">
              <a:latin typeface="+mn-lt"/>
            </a:endParaRPr>
          </a:p>
          <a:p>
            <a:pPr algn="just">
              <a:lnSpc>
                <a:spcPct val="130000"/>
              </a:lnSpc>
              <a:spcBef>
                <a:spcPts val="0"/>
              </a:spcBef>
              <a:buClr>
                <a:srgbClr val="0000FF"/>
              </a:buClr>
              <a:buSzPct val="100000"/>
              <a:defRPr/>
            </a:pPr>
            <a:r>
              <a:rPr lang="en-US" altLang="zh-CN" sz="2800" dirty="0">
                <a:latin typeface="+mn-lt"/>
              </a:rPr>
              <a:t>      </a:t>
            </a:r>
            <a:r>
              <a:rPr lang="zh-CN" altLang="en-US" sz="2800" dirty="0">
                <a:latin typeface="+mn-lt"/>
              </a:rPr>
              <a:t>则</a:t>
            </a:r>
            <a:r>
              <a:rPr lang="en-US" altLang="zh-CN" sz="2800" dirty="0">
                <a:latin typeface="+mn-lt"/>
              </a:rPr>
              <a:t>OF</a:t>
            </a:r>
            <a:r>
              <a:rPr lang="zh-CN" altLang="en-US" sz="2800" dirty="0">
                <a:latin typeface="+mn-lt"/>
              </a:rPr>
              <a:t>＝</a:t>
            </a:r>
            <a:r>
              <a:rPr lang="en-US" altLang="zh-CN" sz="2800" dirty="0">
                <a:latin typeface="+mn-lt"/>
              </a:rPr>
              <a:t>1</a:t>
            </a:r>
            <a:r>
              <a:rPr lang="zh-CN" altLang="en-US" sz="2800" dirty="0">
                <a:latin typeface="+mn-lt"/>
              </a:rPr>
              <a:t>；否则</a:t>
            </a:r>
            <a:r>
              <a:rPr lang="en-US" altLang="zh-CN" sz="2800" dirty="0">
                <a:latin typeface="+mn-lt"/>
              </a:rPr>
              <a:t>OF</a:t>
            </a:r>
            <a:r>
              <a:rPr lang="zh-CN" altLang="en-US" sz="2800" dirty="0">
                <a:latin typeface="+mn-lt"/>
              </a:rPr>
              <a:t>＝</a:t>
            </a:r>
            <a:r>
              <a:rPr lang="en-US" altLang="zh-CN" sz="2800" dirty="0">
                <a:latin typeface="+mn-lt"/>
              </a:rPr>
              <a:t>0</a:t>
            </a:r>
            <a:endParaRPr lang="en-US" altLang="zh-CN"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溢出标志</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OF</a:t>
            </a:r>
            <a:r>
              <a:rPr lang="en-US" altLang="zh-CN" kern="0" dirty="0">
                <a:solidFill>
                  <a:srgbClr val="000000"/>
                </a:solidFill>
                <a:latin typeface="+mj-lt"/>
                <a:cs typeface="+mj-cs"/>
              </a:rPr>
              <a:t> (Overflow Flag)</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043608" y="2013222"/>
            <a:ext cx="7488832" cy="227987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      </a:t>
            </a:r>
            <a:r>
              <a:rPr lang="en-US" altLang="zh-CN" sz="2200" dirty="0">
                <a:solidFill>
                  <a:srgbClr val="00B050"/>
                </a:solidFill>
                <a:latin typeface="+mj-lt"/>
                <a:ea typeface="黑体" panose="02010609060101010101" pitchFamily="49" charset="-122"/>
              </a:rPr>
              <a:t>N</a:t>
            </a:r>
            <a:r>
              <a:rPr lang="zh-CN" altLang="en-US" sz="2200" dirty="0">
                <a:solidFill>
                  <a:srgbClr val="00B050"/>
                </a:solidFill>
                <a:latin typeface="+mj-lt"/>
                <a:ea typeface="黑体" panose="02010609060101010101" pitchFamily="49" charset="-122"/>
              </a:rPr>
              <a:t>个二进制位表达有符号整数的范围为</a:t>
            </a:r>
            <a:r>
              <a:rPr lang="en-US" altLang="zh-CN" sz="2200" dirty="0">
                <a:solidFill>
                  <a:srgbClr val="FF0000"/>
                </a:solidFill>
                <a:latin typeface="+mj-lt"/>
                <a:ea typeface="黑体" panose="02010609060101010101" pitchFamily="49" charset="-122"/>
              </a:rPr>
              <a:t>-2</a:t>
            </a:r>
            <a:r>
              <a:rPr lang="en-US" altLang="zh-CN" sz="2200" baseline="30000" dirty="0">
                <a:solidFill>
                  <a:srgbClr val="FF0000"/>
                </a:solidFill>
                <a:latin typeface="+mj-lt"/>
                <a:ea typeface="黑体" panose="02010609060101010101" pitchFamily="49" charset="-122"/>
              </a:rPr>
              <a:t>N-1</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2</a:t>
            </a:r>
            <a:r>
              <a:rPr lang="en-US" altLang="zh-CN" sz="2200" baseline="30000" dirty="0">
                <a:solidFill>
                  <a:srgbClr val="FF0000"/>
                </a:solidFill>
                <a:latin typeface="+mj-lt"/>
                <a:ea typeface="黑体" panose="02010609060101010101" pitchFamily="49" charset="-122"/>
              </a:rPr>
              <a:t>N-1</a:t>
            </a:r>
            <a:r>
              <a:rPr lang="zh-CN" altLang="en-US" sz="2200" baseline="300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-1</a:t>
            </a:r>
            <a:r>
              <a:rPr lang="zh-CN" altLang="en-US" sz="2200" dirty="0">
                <a:solidFill>
                  <a:srgbClr val="00B050"/>
                </a:solidFill>
                <a:latin typeface="+mj-lt"/>
                <a:ea typeface="黑体" panose="02010609060101010101" pitchFamily="49" charset="-122"/>
              </a:rPr>
              <a:t>，如果加减</a:t>
            </a:r>
            <a:r>
              <a:rPr lang="zh-CN" altLang="en-US" sz="2200" dirty="0">
                <a:solidFill>
                  <a:srgbClr val="FF0000"/>
                </a:solidFill>
                <a:latin typeface="+mj-lt"/>
                <a:ea typeface="黑体" panose="02010609060101010101" pitchFamily="49" charset="-122"/>
              </a:rPr>
              <a:t>运算结果超出了这个范围，就是产生了溢出</a:t>
            </a:r>
            <a:endParaRPr lang="zh-CN" altLang="en-US"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      </a:t>
            </a:r>
            <a:r>
              <a:rPr lang="en-US" altLang="zh-CN" sz="2200" dirty="0">
                <a:solidFill>
                  <a:srgbClr val="00B050"/>
                </a:solidFill>
                <a:latin typeface="+mj-lt"/>
                <a:ea typeface="黑体" panose="02010609060101010101" pitchFamily="49" charset="-122"/>
              </a:rPr>
              <a:t>8</a:t>
            </a:r>
            <a:r>
              <a:rPr lang="zh-CN" altLang="en-US" sz="2200" dirty="0">
                <a:solidFill>
                  <a:srgbClr val="00B050"/>
                </a:solidFill>
                <a:latin typeface="+mj-lt"/>
                <a:ea typeface="黑体" panose="02010609060101010101" pitchFamily="49" charset="-122"/>
              </a:rPr>
              <a:t>位：－</a:t>
            </a:r>
            <a:r>
              <a:rPr lang="en-US" altLang="zh-CN" sz="2200" dirty="0">
                <a:solidFill>
                  <a:srgbClr val="00B050"/>
                </a:solidFill>
                <a:latin typeface="+mj-lt"/>
                <a:ea typeface="黑体" panose="02010609060101010101" pitchFamily="49" charset="-122"/>
              </a:rPr>
              <a:t>128</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127</a:t>
            </a:r>
            <a:endParaRPr lang="en-US" altLang="zh-CN" sz="2200"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00B050"/>
                </a:solidFill>
                <a:latin typeface="+mj-lt"/>
                <a:ea typeface="黑体" panose="02010609060101010101" pitchFamily="49" charset="-122"/>
              </a:rPr>
              <a:t>      16</a:t>
            </a:r>
            <a:r>
              <a:rPr lang="zh-CN" altLang="en-US" sz="2200" dirty="0">
                <a:solidFill>
                  <a:srgbClr val="00B050"/>
                </a:solidFill>
                <a:latin typeface="+mj-lt"/>
                <a:ea typeface="黑体" panose="02010609060101010101" pitchFamily="49" charset="-122"/>
              </a:rPr>
              <a:t>位：－</a:t>
            </a:r>
            <a:r>
              <a:rPr lang="en-US" altLang="zh-CN" sz="2200" dirty="0">
                <a:solidFill>
                  <a:srgbClr val="00B050"/>
                </a:solidFill>
                <a:latin typeface="+mj-lt"/>
                <a:ea typeface="黑体" panose="02010609060101010101" pitchFamily="49" charset="-122"/>
              </a:rPr>
              <a:t>32768</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32767</a:t>
            </a:r>
            <a:endParaRPr lang="en-US" altLang="zh-CN" sz="2200"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00B050"/>
                </a:solidFill>
                <a:latin typeface="+mj-lt"/>
                <a:ea typeface="黑体" panose="02010609060101010101" pitchFamily="49" charset="-122"/>
              </a:rPr>
              <a:t>      32</a:t>
            </a:r>
            <a:r>
              <a:rPr lang="zh-CN" altLang="en-US" sz="2200" dirty="0">
                <a:solidFill>
                  <a:srgbClr val="00B050"/>
                </a:solidFill>
                <a:latin typeface="+mj-lt"/>
                <a:ea typeface="黑体" panose="02010609060101010101" pitchFamily="49" charset="-122"/>
              </a:rPr>
              <a:t>位：－</a:t>
            </a:r>
            <a:r>
              <a:rPr lang="en-US" altLang="zh-CN" sz="2200" dirty="0">
                <a:solidFill>
                  <a:srgbClr val="00B050"/>
                </a:solidFill>
                <a:latin typeface="+mj-lt"/>
                <a:ea typeface="黑体" panose="02010609060101010101" pitchFamily="49" charset="-122"/>
              </a:rPr>
              <a:t>2</a:t>
            </a:r>
            <a:r>
              <a:rPr lang="en-US" altLang="zh-CN" sz="2200" baseline="30000" dirty="0">
                <a:solidFill>
                  <a:srgbClr val="00B050"/>
                </a:solidFill>
                <a:latin typeface="+mj-lt"/>
                <a:ea typeface="黑体" panose="02010609060101010101" pitchFamily="49" charset="-122"/>
              </a:rPr>
              <a:t>31</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2</a:t>
            </a:r>
            <a:r>
              <a:rPr lang="en-US" altLang="zh-CN" sz="2200" baseline="30000" dirty="0">
                <a:solidFill>
                  <a:srgbClr val="00B050"/>
                </a:solidFill>
                <a:latin typeface="+mj-lt"/>
                <a:ea typeface="黑体" panose="02010609060101010101" pitchFamily="49" charset="-122"/>
              </a:rPr>
              <a:t>31</a:t>
            </a:r>
            <a:r>
              <a:rPr lang="zh-CN" altLang="en-US" sz="2200" dirty="0">
                <a:solidFill>
                  <a:srgbClr val="00B050"/>
                </a:solidFill>
                <a:latin typeface="+mj-lt"/>
                <a:ea typeface="黑体" panose="02010609060101010101" pitchFamily="49" charset="-122"/>
              </a:rPr>
              <a:t>－</a:t>
            </a:r>
            <a:r>
              <a:rPr lang="en-US" altLang="zh-CN" sz="2200" dirty="0">
                <a:solidFill>
                  <a:srgbClr val="00B050"/>
                </a:solidFill>
                <a:latin typeface="+mj-lt"/>
                <a:ea typeface="黑体" panose="02010609060101010101" pitchFamily="49" charset="-122"/>
              </a:rPr>
              <a:t>1</a:t>
            </a:r>
            <a:endParaRPr lang="en-US" altLang="zh-CN" sz="2200" dirty="0">
              <a:solidFill>
                <a:srgbClr val="00B050"/>
              </a:solidFill>
              <a:latin typeface="+mj-lt"/>
              <a:ea typeface="黑体" panose="02010609060101010101" pitchFamily="49" charset="-122"/>
            </a:endParaRPr>
          </a:p>
        </p:txBody>
      </p:sp>
      <p:sp>
        <p:nvSpPr>
          <p:cNvPr id="2" name="WordArt 4"/>
          <p:cNvSpPr>
            <a:spLocks noChangeArrowheads="1" noChangeShapeType="1" noTextEdit="1"/>
          </p:cNvSpPr>
          <p:nvPr/>
        </p:nvSpPr>
        <p:spPr bwMode="auto">
          <a:xfrm rot="6520844">
            <a:off x="5796924" y="4973989"/>
            <a:ext cx="2526504" cy="885825"/>
          </a:xfrm>
          <a:prstGeom prst="rect">
            <a:avLst/>
          </a:prstGeom>
        </p:spPr>
        <p:txBody>
          <a:bodyPr vert="eaVert" wrap="none" fromWordArt="1">
            <a:prstTxWarp prst="textInflateTop">
              <a:avLst>
                <a:gd name="adj" fmla="val 31917"/>
              </a:avLst>
            </a:prstTxWarp>
          </a:bodyPr>
          <a:lstStyle/>
          <a:p>
            <a:pPr algn="ctr" fontAlgn="auto"/>
            <a:r>
              <a:rPr lang="zh-CN" altLang="en-US" sz="3600" kern="10" dirty="0">
                <a:ln w="19050">
                  <a:solidFill>
                    <a:srgbClr val="99CCFF"/>
                  </a:solidFill>
                  <a:round/>
                </a:ln>
                <a:solidFill>
                  <a:srgbClr val="0066CC"/>
                </a:solidFill>
                <a:effectLst>
                  <a:outerShdw dist="35921" dir="2700000" algn="ctr" rotWithShape="0">
                    <a:srgbClr val="990000"/>
                  </a:outerShdw>
                </a:effectLst>
                <a:latin typeface="+mn-ea"/>
                <a:ea typeface="+mn-ea"/>
                <a:cs typeface="+mn-ea"/>
              </a:rPr>
              <a:t>杯中水已满，</a:t>
            </a:r>
            <a:endParaRPr lang="zh-CN" altLang="en-US" sz="3600" kern="10" dirty="0">
              <a:ln w="19050">
                <a:solidFill>
                  <a:srgbClr val="99CCFF"/>
                </a:solidFill>
                <a:round/>
              </a:ln>
              <a:solidFill>
                <a:srgbClr val="0066CC"/>
              </a:solidFill>
              <a:effectLst>
                <a:outerShdw dist="35921" dir="2700000" algn="ctr" rotWithShape="0">
                  <a:srgbClr val="990000"/>
                </a:outerShdw>
              </a:effectLst>
              <a:latin typeface="+mn-ea"/>
              <a:ea typeface="+mn-ea"/>
              <a:cs typeface="+mn-ea"/>
            </a:endParaRPr>
          </a:p>
          <a:p>
            <a:pPr algn="ctr" fontAlgn="auto"/>
            <a:r>
              <a:rPr lang="zh-CN" altLang="en-US" sz="3600" kern="10" dirty="0">
                <a:ln w="19050">
                  <a:solidFill>
                    <a:srgbClr val="99CCFF"/>
                  </a:solidFill>
                  <a:round/>
                </a:ln>
                <a:solidFill>
                  <a:srgbClr val="0066CC"/>
                </a:solidFill>
                <a:effectLst>
                  <a:outerShdw dist="35921" dir="2700000" algn="ctr" rotWithShape="0">
                    <a:srgbClr val="990000"/>
                  </a:outerShdw>
                </a:effectLst>
                <a:latin typeface="+mn-ea"/>
                <a:ea typeface="+mn-ea"/>
                <a:cs typeface="+mn-ea"/>
              </a:rPr>
              <a:t>再加就溢出！</a:t>
            </a:r>
            <a:endParaRPr lang="zh-CN" altLang="en-US" sz="3600" kern="10" dirty="0">
              <a:ln w="19050">
                <a:solidFill>
                  <a:srgbClr val="99CCFF"/>
                </a:solidFill>
                <a:round/>
              </a:ln>
              <a:solidFill>
                <a:srgbClr val="0066CC"/>
              </a:solidFill>
              <a:effectLst>
                <a:outerShdw dist="35921" dir="2700000" algn="ctr" rotWithShape="0">
                  <a:srgbClr val="990000"/>
                </a:outerShdw>
              </a:effectLst>
              <a:latin typeface="+mn-ea"/>
              <a:ea typeface="+mn-ea"/>
              <a:cs typeface="+mn-ea"/>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914400" lvl="1" indent="-457200" algn="just">
              <a:lnSpc>
                <a:spcPct val="130000"/>
              </a:lnSpc>
              <a:spcBef>
                <a:spcPts val="600"/>
              </a:spcBef>
              <a:buClr>
                <a:srgbClr val="0000FF"/>
              </a:buClr>
              <a:buFont typeface="Wingdings" panose="05000000000000000000" pitchFamily="2" charset="2"/>
              <a:buChar char="ü"/>
            </a:pPr>
            <a:endParaRPr lang="en-US" altLang="zh-CN" sz="26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3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溢出标志</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OF</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：举例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9609" y="75136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801688" y="922437"/>
            <a:ext cx="7488832" cy="254738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1</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00111010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rgbClr val="FF0000"/>
                </a:solidFill>
                <a:highlight>
                  <a:srgbClr val="FFFF00"/>
                </a:highlight>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0110110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十六进制表达：</a:t>
            </a:r>
            <a:r>
              <a:rPr lang="en-US" altLang="zh-CN" sz="2200" dirty="0">
                <a:solidFill>
                  <a:schemeClr val="tx1"/>
                </a:solidFill>
                <a:latin typeface="+mj-lt"/>
                <a:ea typeface="黑体" panose="02010609060101010101" pitchFamily="49" charset="-122"/>
              </a:rPr>
              <a:t>3A</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7C</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B6</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转换成十进制数：</a:t>
            </a:r>
            <a:r>
              <a:rPr lang="en-US" altLang="zh-CN" sz="2200" dirty="0">
                <a:solidFill>
                  <a:schemeClr val="tx1"/>
                </a:solidFill>
                <a:latin typeface="+mj-lt"/>
                <a:ea typeface="黑体" panose="02010609060101010101" pitchFamily="49" charset="-122"/>
              </a:rPr>
              <a:t>58</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124</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182</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超出范围：</a:t>
            </a:r>
            <a:r>
              <a:rPr lang="en-US" altLang="zh-CN" sz="2200" dirty="0">
                <a:solidFill>
                  <a:srgbClr val="FF0000"/>
                </a:solidFill>
                <a:latin typeface="+mj-lt"/>
                <a:ea typeface="黑体" panose="02010609060101010101" pitchFamily="49" charset="-122"/>
              </a:rPr>
              <a:t>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a:t>
            </a:r>
            <a:r>
              <a:rPr lang="zh-CN" altLang="en-US" sz="2200" dirty="0">
                <a:solidFill>
                  <a:srgbClr val="FF0000"/>
                </a:solidFill>
                <a:latin typeface="+mj-lt"/>
                <a:ea typeface="黑体" panose="02010609060101010101" pitchFamily="49" charset="-122"/>
              </a:rPr>
              <a:t>（两个正数相加，结果为负数）</a:t>
            </a:r>
            <a:endParaRPr lang="en-US" altLang="zh-CN" sz="2200" dirty="0">
              <a:solidFill>
                <a:srgbClr val="FF0000"/>
              </a:solidFill>
              <a:latin typeface="+mj-lt"/>
              <a:ea typeface="黑体" panose="02010609060101010101" pitchFamily="49" charset="-122"/>
            </a:endParaRPr>
          </a:p>
        </p:txBody>
      </p:sp>
      <p:sp>
        <p:nvSpPr>
          <p:cNvPr id="2" name="Rectangle 3"/>
          <p:cNvSpPr>
            <a:spLocks noChangeArrowheads="1"/>
          </p:cNvSpPr>
          <p:nvPr/>
        </p:nvSpPr>
        <p:spPr bwMode="auto">
          <a:xfrm>
            <a:off x="801688" y="3861048"/>
            <a:ext cx="7488832" cy="254738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2</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10101010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a:t>
            </a:r>
            <a:r>
              <a:rPr lang="en-US" altLang="zh-CN" sz="2200" dirty="0">
                <a:solidFill>
                  <a:schemeClr val="tx1"/>
                </a:solidFill>
                <a:highlight>
                  <a:srgbClr val="FFFF00"/>
                </a:highlight>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]00100110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十六进制表达：</a:t>
            </a:r>
            <a:r>
              <a:rPr lang="en-US" altLang="zh-CN" sz="2200" dirty="0">
                <a:solidFill>
                  <a:schemeClr val="tx1"/>
                </a:solidFill>
                <a:latin typeface="+mj-lt"/>
                <a:ea typeface="黑体" panose="02010609060101010101" pitchFamily="49" charset="-122"/>
              </a:rPr>
              <a:t>AA</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7C</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a:t>
            </a:r>
            <a:r>
              <a:rPr lang="en-US" altLang="zh-CN" sz="2200" dirty="0">
                <a:solidFill>
                  <a:schemeClr val="tx1"/>
                </a:solidFill>
                <a:highlight>
                  <a:srgbClr val="FFFF00"/>
                </a:highlight>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]26</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转换成十进制数：</a:t>
            </a:r>
            <a:r>
              <a:rPr lang="en-US" altLang="zh-CN" sz="2200" dirty="0">
                <a:solidFill>
                  <a:schemeClr val="tx1"/>
                </a:solidFill>
                <a:latin typeface="+mj-lt"/>
                <a:ea typeface="黑体" panose="02010609060101010101" pitchFamily="49" charset="-122"/>
              </a:rPr>
              <a:t>-86</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124</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38</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没有超出范围：</a:t>
            </a:r>
            <a:r>
              <a:rPr lang="en-US" altLang="zh-CN" sz="2200" dirty="0">
                <a:solidFill>
                  <a:srgbClr val="FF0000"/>
                </a:solidFill>
                <a:latin typeface="+mj-lt"/>
                <a:ea typeface="黑体" panose="02010609060101010101" pitchFamily="49" charset="-122"/>
              </a:rPr>
              <a:t>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endParaRPr lang="en-US" altLang="zh-CN" sz="2200" dirty="0">
              <a:solidFill>
                <a:srgbClr val="FF0000"/>
              </a:solidFill>
              <a:latin typeface="+mj-lt"/>
              <a:ea typeface="黑体" panose="02010609060101010101" pitchFamily="49" charset="-122"/>
            </a:endParaRPr>
          </a:p>
        </p:txBody>
      </p:sp>
      <p:sp>
        <p:nvSpPr>
          <p:cNvPr id="4" name="Rounded Rectangular Callout 2"/>
          <p:cNvSpPr/>
          <p:nvPr/>
        </p:nvSpPr>
        <p:spPr bwMode="auto">
          <a:xfrm>
            <a:off x="5986264" y="1995997"/>
            <a:ext cx="2304256" cy="573474"/>
          </a:xfrm>
          <a:prstGeom prst="wedgeRoundRectCallout">
            <a:avLst>
              <a:gd name="adj1" fmla="val -79400"/>
              <a:gd name="adj2" fmla="val 5615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1600" dirty="0">
                <a:solidFill>
                  <a:srgbClr val="FFFF00"/>
                </a:solidFill>
                <a:latin typeface="黑体" panose="02010609060101010101" pitchFamily="49" charset="-122"/>
                <a:ea typeface="黑体" panose="02010609060101010101" pitchFamily="49" charset="-122"/>
              </a:rPr>
              <a:t>结果超出</a:t>
            </a:r>
            <a:r>
              <a:rPr lang="en-US" altLang="zh-CN" sz="1600" dirty="0">
                <a:solidFill>
                  <a:srgbClr val="FFFF00"/>
                </a:solidFill>
                <a:latin typeface="黑体" panose="02010609060101010101" pitchFamily="49" charset="-122"/>
                <a:ea typeface="黑体" panose="02010609060101010101" pitchFamily="49" charset="-122"/>
              </a:rPr>
              <a:t>-128~127</a:t>
            </a:r>
            <a:r>
              <a:rPr lang="zh-CN" altLang="en-US" sz="1600" dirty="0">
                <a:solidFill>
                  <a:srgbClr val="FFFF00"/>
                </a:solidFill>
                <a:latin typeface="黑体" panose="02010609060101010101" pitchFamily="49" charset="-122"/>
                <a:ea typeface="黑体" panose="02010609060101010101" pitchFamily="49" charset="-122"/>
              </a:rPr>
              <a:t>的范围，产生溢出</a:t>
            </a:r>
            <a:endParaRPr lang="en-US" altLang="zh-CN" sz="1600" dirty="0">
              <a:solidFill>
                <a:srgbClr val="FFFF00"/>
              </a:solidFill>
              <a:latin typeface="黑体" panose="02010609060101010101" pitchFamily="49" charset="-122"/>
              <a:ea typeface="黑体" panose="02010609060101010101" pitchFamily="49" charset="-122"/>
            </a:endParaRPr>
          </a:p>
        </p:txBody>
      </p:sp>
      <p:sp>
        <p:nvSpPr>
          <p:cNvPr id="5" name="Rounded Rectangular Callout 2"/>
          <p:cNvSpPr/>
          <p:nvPr/>
        </p:nvSpPr>
        <p:spPr bwMode="auto">
          <a:xfrm>
            <a:off x="5580112" y="4082290"/>
            <a:ext cx="752707" cy="357450"/>
          </a:xfrm>
          <a:prstGeom prst="wedgeRoundRectCallout">
            <a:avLst>
              <a:gd name="adj1" fmla="val -77748"/>
              <a:gd name="adj2" fmla="val 66504"/>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r>
              <a:rPr lang="en-US" altLang="zh-CN" sz="1600" dirty="0">
                <a:solidFill>
                  <a:srgbClr val="FFFF00"/>
                </a:solidFill>
                <a:latin typeface="黑体" panose="02010609060101010101" pitchFamily="49" charset="-122"/>
                <a:ea typeface="黑体" panose="02010609060101010101" pitchFamily="49" charset="-122"/>
              </a:rPr>
              <a:t>CF=1</a:t>
            </a:r>
            <a:endParaRPr lang="en-US" altLang="zh-CN" sz="1600" dirty="0">
              <a:solidFill>
                <a:srgbClr val="FFFF00"/>
              </a:solidFill>
              <a:latin typeface="黑体" panose="02010609060101010101" pitchFamily="49" charset="-122"/>
              <a:ea typeface="黑体" panose="02010609060101010101" pitchFamily="49" charset="-122"/>
            </a:endParaRPr>
          </a:p>
        </p:txBody>
      </p:sp>
      <p:pic>
        <p:nvPicPr>
          <p:cNvPr id="9" name="Picture 4" descr="142"/>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79512" y="3645024"/>
            <a:ext cx="8675688"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ounded Rectangular Callout 2"/>
          <p:cNvSpPr/>
          <p:nvPr/>
        </p:nvSpPr>
        <p:spPr bwMode="auto">
          <a:xfrm>
            <a:off x="5986264" y="930384"/>
            <a:ext cx="2317204" cy="573474"/>
          </a:xfrm>
          <a:prstGeom prst="wedgeRoundRectCallout">
            <a:avLst>
              <a:gd name="adj1" fmla="val -78976"/>
              <a:gd name="adj2" fmla="val 58670"/>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1600" dirty="0">
                <a:solidFill>
                  <a:srgbClr val="FFFF00"/>
                </a:solidFill>
                <a:latin typeface="黑体" panose="02010609060101010101" pitchFamily="49" charset="-122"/>
                <a:ea typeface="黑体" panose="02010609060101010101" pitchFamily="49" charset="-122"/>
              </a:rPr>
              <a:t>有符号数的最高位为</a:t>
            </a:r>
            <a:r>
              <a:rPr lang="en-US" altLang="zh-CN" sz="1600" dirty="0">
                <a:solidFill>
                  <a:srgbClr val="FFFF00"/>
                </a:solidFill>
                <a:latin typeface="黑体" panose="02010609060101010101" pitchFamily="49" charset="-122"/>
                <a:ea typeface="黑体" panose="02010609060101010101" pitchFamily="49" charset="-122"/>
              </a:rPr>
              <a:t>1</a:t>
            </a:r>
            <a:r>
              <a:rPr lang="zh-CN" altLang="en-US" sz="1600" dirty="0">
                <a:solidFill>
                  <a:srgbClr val="FFFF00"/>
                </a:solidFill>
                <a:latin typeface="黑体" panose="02010609060101010101" pitchFamily="49" charset="-122"/>
                <a:ea typeface="黑体" panose="02010609060101010101" pitchFamily="49" charset="-122"/>
              </a:rPr>
              <a:t>，表达的是负数</a:t>
            </a:r>
            <a:r>
              <a:rPr lang="en-US" altLang="zh-CN" sz="1600" dirty="0">
                <a:solidFill>
                  <a:srgbClr val="FFFF00"/>
                </a:solidFill>
                <a:latin typeface="黑体" panose="02010609060101010101" pitchFamily="49" charset="-122"/>
                <a:ea typeface="黑体" panose="02010609060101010101" pitchFamily="49" charset="-122"/>
              </a:rPr>
              <a:t>-74</a:t>
            </a:r>
            <a:endParaRPr lang="en-US" altLang="zh-CN" sz="1600" dirty="0">
              <a:solidFill>
                <a:srgbClr val="FFFF00"/>
              </a:solidFill>
              <a:latin typeface="黑体" panose="02010609060101010101" pitchFamily="49" charset="-122"/>
              <a:ea typeface="黑体" panose="02010609060101010101" pitchFamily="49" charset="-122"/>
            </a:endParaRPr>
          </a:p>
        </p:txBody>
      </p:sp>
      <p:sp>
        <p:nvSpPr>
          <p:cNvPr id="10" name="Rounded Rectangular Callout 2"/>
          <p:cNvSpPr/>
          <p:nvPr/>
        </p:nvSpPr>
        <p:spPr bwMode="auto">
          <a:xfrm>
            <a:off x="4932040" y="5839885"/>
            <a:ext cx="3358480" cy="573474"/>
          </a:xfrm>
          <a:prstGeom prst="wedgeRoundRectCallout">
            <a:avLst>
              <a:gd name="adj1" fmla="val -68084"/>
              <a:gd name="adj2" fmla="val 1112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1600" dirty="0">
                <a:solidFill>
                  <a:srgbClr val="FFFF00"/>
                </a:solidFill>
                <a:latin typeface="黑体" panose="02010609060101010101" pitchFamily="49" charset="-122"/>
                <a:ea typeface="黑体" panose="02010609060101010101" pitchFamily="49" charset="-122"/>
              </a:rPr>
              <a:t>因为进行的是有符号数据运算，所以不考虑无符号运算出现的进位</a:t>
            </a:r>
            <a:r>
              <a:rPr lang="en-US" altLang="zh-CN" sz="1600" dirty="0">
                <a:solidFill>
                  <a:srgbClr val="FFFF00"/>
                </a:solidFill>
                <a:latin typeface="黑体" panose="02010609060101010101" pitchFamily="49" charset="-122"/>
                <a:ea typeface="黑体" panose="02010609060101010101" pitchFamily="49" charset="-122"/>
              </a:rPr>
              <a:t>CF</a:t>
            </a:r>
            <a:endParaRPr lang="en-US" altLang="zh-CN" sz="1600" dirty="0">
              <a:solidFill>
                <a:srgbClr val="FFFF00"/>
              </a:solidFill>
              <a:latin typeface="黑体" panose="02010609060101010101" pitchFamily="49" charset="-122"/>
              <a:ea typeface="黑体" panose="02010609060101010101" pitchFamily="49" charset="-122"/>
            </a:endParaRPr>
          </a:p>
        </p:txBody>
      </p:sp>
      <p:sp>
        <p:nvSpPr>
          <p:cNvPr id="11" name="Rounded Rectangular Callout 2"/>
          <p:cNvSpPr/>
          <p:nvPr/>
        </p:nvSpPr>
        <p:spPr bwMode="auto">
          <a:xfrm>
            <a:off x="5956465" y="4917415"/>
            <a:ext cx="2304256" cy="573474"/>
          </a:xfrm>
          <a:prstGeom prst="wedgeRoundRectCallout">
            <a:avLst>
              <a:gd name="adj1" fmla="val -79400"/>
              <a:gd name="adj2" fmla="val 5615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r>
              <a:rPr lang="zh-CN" altLang="en-US" sz="1600" dirty="0">
                <a:solidFill>
                  <a:srgbClr val="FFFF00"/>
                </a:solidFill>
                <a:latin typeface="黑体" panose="02010609060101010101" pitchFamily="49" charset="-122"/>
                <a:ea typeface="黑体" panose="02010609060101010101" pitchFamily="49" charset="-122"/>
              </a:rPr>
              <a:t>结果没有超出</a:t>
            </a:r>
            <a:r>
              <a:rPr lang="en-US" altLang="zh-CN" sz="1600" dirty="0">
                <a:solidFill>
                  <a:srgbClr val="FFFF00"/>
                </a:solidFill>
                <a:latin typeface="黑体" panose="02010609060101010101" pitchFamily="49" charset="-122"/>
                <a:ea typeface="黑体" panose="02010609060101010101" pitchFamily="49" charset="-122"/>
              </a:rPr>
              <a:t>-128~127</a:t>
            </a:r>
            <a:r>
              <a:rPr lang="zh-CN" altLang="en-US" sz="1600" dirty="0">
                <a:solidFill>
                  <a:srgbClr val="FFFF00"/>
                </a:solidFill>
                <a:latin typeface="黑体" panose="02010609060101010101" pitchFamily="49" charset="-122"/>
                <a:ea typeface="黑体" panose="02010609060101010101" pitchFamily="49" charset="-122"/>
              </a:rPr>
              <a:t>的范围，所以没有溢出</a:t>
            </a:r>
            <a:endParaRPr lang="en-US" altLang="zh-CN" sz="1600" dirty="0">
              <a:solidFill>
                <a:srgbClr val="FFFF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58180"/>
            <a:ext cx="8280920"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进位标志反映无符号整数运算结果是否超出范围</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有进位，加上进位或借位后运算结果仍然正确</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溢出标志反映有符号整数运算结果是否超出范围</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有溢出，运算结果已经不正确</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处理器按照无符号整数求得结果</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设置进位标志</a:t>
            </a:r>
            <a:r>
              <a:rPr lang="en-US" altLang="zh-CN" sz="2400" dirty="0">
                <a:solidFill>
                  <a:schemeClr val="tx1"/>
                </a:solidFill>
                <a:latin typeface="+mn-lt"/>
              </a:rPr>
              <a:t>CF</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设置溢出标志</a:t>
            </a:r>
            <a:r>
              <a:rPr lang="en-US" altLang="zh-CN" sz="2400" dirty="0">
                <a:solidFill>
                  <a:schemeClr val="tx1"/>
                </a:solidFill>
                <a:latin typeface="+mn-lt"/>
              </a:rPr>
              <a:t>OF</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程序员决定</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操作数是无符号数，关心进位标志</a:t>
            </a:r>
            <a:r>
              <a:rPr lang="en-US" altLang="zh-CN" sz="2400" dirty="0">
                <a:solidFill>
                  <a:schemeClr val="tx1"/>
                </a:solidFill>
                <a:latin typeface="+mn-lt"/>
              </a:rPr>
              <a:t>CF</a:t>
            </a:r>
            <a:endParaRPr lang="zh-CN" altLang="en-US"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操作数是有符号数，注意溢出标志</a:t>
            </a:r>
            <a:r>
              <a:rPr lang="en-US" altLang="zh-CN" sz="2400" dirty="0">
                <a:solidFill>
                  <a:schemeClr val="tx1"/>
                </a:solidFill>
                <a:latin typeface="+mn-lt"/>
              </a:rPr>
              <a:t>OF</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进位和溢出的区别</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92696"/>
            <a:ext cx="8208912"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处理器硬件判断规则</a:t>
            </a:r>
            <a:endParaRPr lang="zh-CN" altLang="en-US" sz="26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最高位</a:t>
            </a:r>
            <a:r>
              <a:rPr lang="en-US" altLang="zh-CN" sz="2400" dirty="0">
                <a:solidFill>
                  <a:schemeClr val="tx1"/>
                </a:solidFill>
                <a:latin typeface="+mn-lt"/>
              </a:rPr>
              <a:t>(most significant bit, </a:t>
            </a:r>
            <a:r>
              <a:rPr lang="en-US" altLang="zh-CN" sz="2400" dirty="0" err="1">
                <a:solidFill>
                  <a:schemeClr val="tx1"/>
                </a:solidFill>
                <a:latin typeface="+mn-lt"/>
              </a:rPr>
              <a:t>msb</a:t>
            </a:r>
            <a:r>
              <a:rPr lang="en-US" altLang="zh-CN" sz="2400" dirty="0">
                <a:solidFill>
                  <a:schemeClr val="tx1"/>
                </a:solidFill>
                <a:latin typeface="+mn-lt"/>
              </a:rPr>
              <a:t>)</a:t>
            </a:r>
            <a:r>
              <a:rPr lang="zh-CN" altLang="en-US" sz="2400" dirty="0">
                <a:solidFill>
                  <a:schemeClr val="tx1"/>
                </a:solidFill>
                <a:latin typeface="+mn-lt"/>
              </a:rPr>
              <a:t>和次高位</a:t>
            </a:r>
            <a:r>
              <a:rPr lang="en-US" altLang="zh-CN" sz="2400" dirty="0">
                <a:solidFill>
                  <a:schemeClr val="tx1"/>
                </a:solidFill>
                <a:latin typeface="+mn-lt"/>
              </a:rPr>
              <a:t>(second significant bit, 2sb)</a:t>
            </a:r>
            <a:r>
              <a:rPr lang="zh-CN" altLang="en-US" sz="2400" dirty="0">
                <a:solidFill>
                  <a:schemeClr val="tx1"/>
                </a:solidFill>
                <a:latin typeface="+mn-lt"/>
              </a:rPr>
              <a:t>同时有进位或同时无进位，无溢出；最高位和次高位进位状态不同，有溢出</a:t>
            </a: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人工判断的简单规则</a:t>
            </a:r>
            <a:endParaRPr lang="en-US" altLang="zh-CN" sz="26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rgbClr val="FF0000"/>
                </a:solidFill>
                <a:latin typeface="+mn-lt"/>
              </a:rPr>
              <a:t>只有</a:t>
            </a:r>
            <a:r>
              <a:rPr lang="zh-CN" altLang="en-US" sz="2400" dirty="0">
                <a:solidFill>
                  <a:schemeClr val="tx1"/>
                </a:solidFill>
                <a:latin typeface="+mn-lt"/>
              </a:rPr>
              <a:t>当两个</a:t>
            </a:r>
            <a:r>
              <a:rPr lang="zh-CN" altLang="en-US" sz="2400" dirty="0">
                <a:solidFill>
                  <a:srgbClr val="FF0000"/>
                </a:solidFill>
                <a:latin typeface="+mn-lt"/>
              </a:rPr>
              <a:t>相同符号数相加</a:t>
            </a:r>
            <a:r>
              <a:rPr lang="zh-CN" altLang="en-US" sz="2400" dirty="0">
                <a:solidFill>
                  <a:schemeClr val="tx1"/>
                </a:solidFill>
                <a:latin typeface="+mn-lt"/>
              </a:rPr>
              <a:t>（含两个不同符号数相减），而</a:t>
            </a:r>
            <a:r>
              <a:rPr lang="zh-CN" altLang="en-US" sz="2400" dirty="0">
                <a:solidFill>
                  <a:srgbClr val="FF0000"/>
                </a:solidFill>
                <a:latin typeface="+mn-lt"/>
              </a:rPr>
              <a:t>运算结果的符号与原数据符号相反时</a:t>
            </a:r>
            <a:r>
              <a:rPr lang="zh-CN" altLang="en-US" sz="2400" dirty="0">
                <a:solidFill>
                  <a:schemeClr val="tx1"/>
                </a:solidFill>
                <a:latin typeface="+mn-lt"/>
              </a:rPr>
              <a:t>，产生溢出；其他情况下，不会产生溢出</a:t>
            </a: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溢出标志的判断</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 name="Group 4"/>
          <p:cNvGrpSpPr/>
          <p:nvPr/>
        </p:nvGrpSpPr>
        <p:grpSpPr bwMode="auto">
          <a:xfrm>
            <a:off x="1907704" y="4771727"/>
            <a:ext cx="6072188" cy="1825625"/>
            <a:chOff x="748" y="2779"/>
            <a:chExt cx="3825" cy="1150"/>
          </a:xfrm>
        </p:grpSpPr>
        <p:grpSp>
          <p:nvGrpSpPr>
            <p:cNvPr id="3" name="Group 5"/>
            <p:cNvGrpSpPr/>
            <p:nvPr/>
          </p:nvGrpSpPr>
          <p:grpSpPr bwMode="auto">
            <a:xfrm>
              <a:off x="1927" y="2840"/>
              <a:ext cx="1406" cy="1089"/>
              <a:chOff x="3470" y="2976"/>
              <a:chExt cx="1406" cy="1089"/>
            </a:xfrm>
          </p:grpSpPr>
          <p:sp>
            <p:nvSpPr>
              <p:cNvPr id="22" name="filecab3"/>
              <p:cNvSpPr>
                <a:spLocks noEditPoints="1" noChangeArrowheads="1"/>
              </p:cNvSpPr>
              <p:nvPr/>
            </p:nvSpPr>
            <p:spPr bwMode="auto">
              <a:xfrm flipV="1">
                <a:off x="3470" y="2976"/>
                <a:ext cx="1406" cy="108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999 w 21600"/>
                  <a:gd name="T25" fmla="*/ 516 h 21600"/>
                  <a:gd name="T26" fmla="*/ 20540 w 21600"/>
                  <a:gd name="T27" fmla="*/ 1876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10788" y="0"/>
                    </a:moveTo>
                    <a:lnTo>
                      <a:pt x="0" y="0"/>
                    </a:lnTo>
                    <a:lnTo>
                      <a:pt x="0" y="10800"/>
                    </a:lnTo>
                    <a:lnTo>
                      <a:pt x="0" y="19099"/>
                    </a:lnTo>
                    <a:lnTo>
                      <a:pt x="8466" y="19099"/>
                    </a:lnTo>
                    <a:lnTo>
                      <a:pt x="8490" y="19440"/>
                    </a:lnTo>
                    <a:lnTo>
                      <a:pt x="8537" y="20008"/>
                    </a:lnTo>
                    <a:lnTo>
                      <a:pt x="8607" y="20349"/>
                    </a:lnTo>
                    <a:lnTo>
                      <a:pt x="8701" y="20691"/>
                    </a:lnTo>
                    <a:lnTo>
                      <a:pt x="8842" y="21145"/>
                    </a:lnTo>
                    <a:lnTo>
                      <a:pt x="9053" y="21373"/>
                    </a:lnTo>
                    <a:lnTo>
                      <a:pt x="9264" y="21600"/>
                    </a:lnTo>
                    <a:lnTo>
                      <a:pt x="9545" y="21600"/>
                    </a:lnTo>
                    <a:lnTo>
                      <a:pt x="10718" y="21600"/>
                    </a:lnTo>
                    <a:lnTo>
                      <a:pt x="11891" y="21600"/>
                    </a:lnTo>
                    <a:lnTo>
                      <a:pt x="12266" y="21600"/>
                    </a:lnTo>
                    <a:lnTo>
                      <a:pt x="12477" y="21429"/>
                    </a:lnTo>
                    <a:lnTo>
                      <a:pt x="12618" y="21202"/>
                    </a:lnTo>
                    <a:lnTo>
                      <a:pt x="12758" y="20861"/>
                    </a:lnTo>
                    <a:lnTo>
                      <a:pt x="12922" y="20349"/>
                    </a:lnTo>
                    <a:lnTo>
                      <a:pt x="12993" y="19952"/>
                    </a:lnTo>
                    <a:lnTo>
                      <a:pt x="13016" y="19440"/>
                    </a:lnTo>
                    <a:lnTo>
                      <a:pt x="13063" y="19099"/>
                    </a:lnTo>
                    <a:lnTo>
                      <a:pt x="21600" y="19099"/>
                    </a:lnTo>
                    <a:lnTo>
                      <a:pt x="21600" y="10800"/>
                    </a:lnTo>
                    <a:lnTo>
                      <a:pt x="21600" y="0"/>
                    </a:lnTo>
                    <a:lnTo>
                      <a:pt x="10788" y="0"/>
                    </a:lnTo>
                    <a:close/>
                    <a:moveTo>
                      <a:pt x="9053" y="19099"/>
                    </a:moveTo>
                    <a:lnTo>
                      <a:pt x="9053" y="19440"/>
                    </a:lnTo>
                    <a:lnTo>
                      <a:pt x="9076" y="19611"/>
                    </a:lnTo>
                    <a:lnTo>
                      <a:pt x="9123" y="19781"/>
                    </a:lnTo>
                    <a:lnTo>
                      <a:pt x="9193" y="20008"/>
                    </a:lnTo>
                    <a:lnTo>
                      <a:pt x="9264" y="20179"/>
                    </a:lnTo>
                    <a:lnTo>
                      <a:pt x="9334" y="20293"/>
                    </a:lnTo>
                    <a:lnTo>
                      <a:pt x="9405" y="20349"/>
                    </a:lnTo>
                    <a:lnTo>
                      <a:pt x="9545" y="20349"/>
                    </a:lnTo>
                    <a:lnTo>
                      <a:pt x="11891" y="20349"/>
                    </a:lnTo>
                    <a:lnTo>
                      <a:pt x="12031" y="20349"/>
                    </a:lnTo>
                    <a:lnTo>
                      <a:pt x="12172" y="20236"/>
                    </a:lnTo>
                    <a:lnTo>
                      <a:pt x="12266" y="20179"/>
                    </a:lnTo>
                    <a:lnTo>
                      <a:pt x="12336" y="20008"/>
                    </a:lnTo>
                    <a:lnTo>
                      <a:pt x="12383" y="19838"/>
                    </a:lnTo>
                    <a:lnTo>
                      <a:pt x="12430" y="19611"/>
                    </a:lnTo>
                    <a:lnTo>
                      <a:pt x="12477" y="19440"/>
                    </a:lnTo>
                    <a:lnTo>
                      <a:pt x="12477" y="19099"/>
                    </a:lnTo>
                    <a:lnTo>
                      <a:pt x="9053" y="19099"/>
                    </a:lnTo>
                    <a:close/>
                  </a:path>
                  <a:path w="21600" h="21600" extrusionOk="0">
                    <a:moveTo>
                      <a:pt x="9053" y="19099"/>
                    </a:moveTo>
                    <a:lnTo>
                      <a:pt x="0" y="19099"/>
                    </a:lnTo>
                    <a:lnTo>
                      <a:pt x="21600" y="19099"/>
                    </a:lnTo>
                  </a:path>
                </a:pathLst>
              </a:custGeom>
              <a:solidFill>
                <a:schemeClr val="bg1">
                  <a:lumMod val="90000"/>
                </a:schemeClr>
              </a:solidFill>
              <a:ln w="9525">
                <a:solidFill>
                  <a:srgbClr val="000000"/>
                </a:solidFill>
                <a:miter lim="800000"/>
              </a:ln>
              <a:effectLst>
                <a:outerShdw dist="107763" dir="2700000" algn="ctr" rotWithShape="0">
                  <a:srgbClr val="808080"/>
                </a:outerShdw>
              </a:effectLst>
            </p:spPr>
            <p:txBody>
              <a:bodyPr rot="10800000"/>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Tx/>
                  <a:buNone/>
                </a:pPr>
                <a:r>
                  <a:rPr lang="zh-CN" altLang="en-US" sz="2800" dirty="0">
                    <a:solidFill>
                      <a:srgbClr val="0000CC"/>
                    </a:solidFill>
                    <a:latin typeface="Arial" panose="020B0604020202020204" pitchFamily="34" charset="0"/>
                  </a:rPr>
                  <a:t>　</a:t>
                </a:r>
                <a:r>
                  <a:rPr lang="en-US" altLang="zh-CN" sz="2800" dirty="0">
                    <a:solidFill>
                      <a:srgbClr val="CC3300"/>
                    </a:solidFill>
                  </a:rPr>
                  <a:t>0</a:t>
                </a:r>
                <a:r>
                  <a:rPr lang="en-US" altLang="zh-CN" sz="2800" dirty="0">
                    <a:solidFill>
                      <a:srgbClr val="0000CC"/>
                    </a:solidFill>
                  </a:rPr>
                  <a:t>0</a:t>
                </a:r>
                <a:r>
                  <a:rPr lang="en-US" altLang="zh-CN" sz="2800" dirty="0"/>
                  <a:t>111010</a:t>
                </a:r>
                <a:endParaRPr lang="en-US" altLang="zh-CN" sz="2800" dirty="0"/>
              </a:p>
              <a:p>
                <a:pPr eaLnBrk="1" hangingPunct="1">
                  <a:spcBef>
                    <a:spcPct val="0"/>
                  </a:spcBef>
                  <a:buClrTx/>
                  <a:buFontTx/>
                  <a:buNone/>
                </a:pPr>
                <a:r>
                  <a:rPr lang="zh-CN" altLang="en-US" sz="2800" dirty="0">
                    <a:solidFill>
                      <a:srgbClr val="0000CC"/>
                    </a:solidFill>
                  </a:rPr>
                  <a:t>＋</a:t>
                </a:r>
                <a:r>
                  <a:rPr lang="en-US" altLang="zh-CN" sz="2800" dirty="0">
                    <a:solidFill>
                      <a:srgbClr val="CC3300"/>
                    </a:solidFill>
                  </a:rPr>
                  <a:t>0</a:t>
                </a:r>
                <a:r>
                  <a:rPr lang="en-US" altLang="zh-CN" sz="2800" dirty="0">
                    <a:solidFill>
                      <a:srgbClr val="0000CC"/>
                    </a:solidFill>
                  </a:rPr>
                  <a:t>1</a:t>
                </a:r>
                <a:r>
                  <a:rPr lang="en-US" altLang="zh-CN" sz="2800" dirty="0"/>
                  <a:t>111100</a:t>
                </a:r>
                <a:endParaRPr lang="en-US" altLang="zh-CN" sz="2800" dirty="0"/>
              </a:p>
              <a:p>
                <a:pPr eaLnBrk="1" hangingPunct="1">
                  <a:buClrTx/>
                  <a:buFontTx/>
                  <a:buNone/>
                </a:pPr>
                <a:r>
                  <a:rPr lang="zh-CN" altLang="en-US" sz="2800" dirty="0">
                    <a:solidFill>
                      <a:srgbClr val="CC3300"/>
                    </a:solidFill>
                  </a:rPr>
                  <a:t>　</a:t>
                </a:r>
                <a:r>
                  <a:rPr lang="en-US" altLang="zh-CN" sz="2800" dirty="0">
                    <a:solidFill>
                      <a:srgbClr val="CC3300"/>
                    </a:solidFill>
                  </a:rPr>
                  <a:t>1</a:t>
                </a:r>
                <a:r>
                  <a:rPr lang="en-US" altLang="zh-CN" sz="2800" dirty="0">
                    <a:solidFill>
                      <a:srgbClr val="0000CC"/>
                    </a:solidFill>
                  </a:rPr>
                  <a:t>0</a:t>
                </a:r>
                <a:r>
                  <a:rPr lang="en-US" altLang="zh-CN" sz="2800" dirty="0"/>
                  <a:t>110110</a:t>
                </a:r>
                <a:endParaRPr lang="zh-CN" altLang="en-US" sz="2800" dirty="0"/>
              </a:p>
            </p:txBody>
          </p:sp>
          <p:sp>
            <p:nvSpPr>
              <p:cNvPr id="23" name="Line 7"/>
              <p:cNvSpPr>
                <a:spLocks noChangeShapeType="1"/>
              </p:cNvSpPr>
              <p:nvPr/>
            </p:nvSpPr>
            <p:spPr bwMode="auto">
              <a:xfrm>
                <a:off x="3615" y="3738"/>
                <a:ext cx="118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 name="Group 8"/>
            <p:cNvGrpSpPr/>
            <p:nvPr/>
          </p:nvGrpSpPr>
          <p:grpSpPr bwMode="auto">
            <a:xfrm>
              <a:off x="748" y="2971"/>
              <a:ext cx="1243" cy="271"/>
              <a:chOff x="866" y="2971"/>
              <a:chExt cx="1243" cy="271"/>
            </a:xfrm>
          </p:grpSpPr>
          <p:sp>
            <p:nvSpPr>
              <p:cNvPr id="20" name="Text Box 9"/>
              <p:cNvSpPr txBox="1">
                <a:spLocks noChangeArrowheads="1"/>
              </p:cNvSpPr>
              <p:nvPr/>
            </p:nvSpPr>
            <p:spPr bwMode="auto">
              <a:xfrm>
                <a:off x="866" y="2971"/>
                <a:ext cx="47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dirty="0">
                    <a:solidFill>
                      <a:srgbClr val="660066"/>
                    </a:solidFill>
                    <a:latin typeface="黑体" panose="02010609060101010101" pitchFamily="49" charset="-122"/>
                    <a:ea typeface="黑体" panose="02010609060101010101" pitchFamily="49" charset="-122"/>
                  </a:rPr>
                  <a:t>正数</a:t>
                </a:r>
                <a:endParaRPr lang="zh-CN" altLang="en-US" sz="2200" dirty="0">
                  <a:solidFill>
                    <a:srgbClr val="660066"/>
                  </a:solidFill>
                  <a:latin typeface="黑体" panose="02010609060101010101" pitchFamily="49" charset="-122"/>
                  <a:ea typeface="黑体" panose="02010609060101010101" pitchFamily="49" charset="-122"/>
                </a:endParaRPr>
              </a:p>
            </p:txBody>
          </p:sp>
          <p:sp>
            <p:nvSpPr>
              <p:cNvPr id="21" name="Line 10"/>
              <p:cNvSpPr>
                <a:spLocks noChangeShapeType="1"/>
              </p:cNvSpPr>
              <p:nvPr/>
            </p:nvSpPr>
            <p:spPr bwMode="auto">
              <a:xfrm>
                <a:off x="1338" y="3113"/>
                <a:ext cx="771" cy="0"/>
              </a:xfrm>
              <a:prstGeom prst="line">
                <a:avLst/>
              </a:prstGeom>
              <a:noFill/>
              <a:ln w="9525">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 name="Group 11"/>
            <p:cNvGrpSpPr/>
            <p:nvPr/>
          </p:nvGrpSpPr>
          <p:grpSpPr bwMode="auto">
            <a:xfrm>
              <a:off x="748" y="3294"/>
              <a:ext cx="1243" cy="271"/>
              <a:chOff x="866" y="2971"/>
              <a:chExt cx="1243" cy="271"/>
            </a:xfrm>
          </p:grpSpPr>
          <p:sp>
            <p:nvSpPr>
              <p:cNvPr id="18" name="Text Box 12"/>
              <p:cNvSpPr txBox="1">
                <a:spLocks noChangeArrowheads="1"/>
              </p:cNvSpPr>
              <p:nvPr/>
            </p:nvSpPr>
            <p:spPr bwMode="auto">
              <a:xfrm>
                <a:off x="866" y="2971"/>
                <a:ext cx="47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200" dirty="0">
                    <a:solidFill>
                      <a:srgbClr val="660066"/>
                    </a:solidFill>
                    <a:latin typeface="黑体" panose="02010609060101010101" pitchFamily="49" charset="-122"/>
                    <a:ea typeface="黑体" panose="02010609060101010101" pitchFamily="49" charset="-122"/>
                  </a:rPr>
                  <a:t>正数</a:t>
                </a:r>
                <a:endParaRPr lang="zh-CN" altLang="en-US" sz="2200" dirty="0">
                  <a:solidFill>
                    <a:srgbClr val="660066"/>
                  </a:solidFill>
                  <a:latin typeface="黑体" panose="02010609060101010101" pitchFamily="49" charset="-122"/>
                  <a:ea typeface="黑体" panose="02010609060101010101" pitchFamily="49" charset="-122"/>
                </a:endParaRPr>
              </a:p>
            </p:txBody>
          </p:sp>
          <p:sp>
            <p:nvSpPr>
              <p:cNvPr id="19" name="Line 13"/>
              <p:cNvSpPr>
                <a:spLocks noChangeShapeType="1"/>
              </p:cNvSpPr>
              <p:nvPr/>
            </p:nvSpPr>
            <p:spPr bwMode="auto">
              <a:xfrm>
                <a:off x="1338" y="3113"/>
                <a:ext cx="771" cy="0"/>
              </a:xfrm>
              <a:prstGeom prst="line">
                <a:avLst/>
              </a:prstGeom>
              <a:noFill/>
              <a:ln w="9525">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 name="Group 14"/>
            <p:cNvGrpSpPr/>
            <p:nvPr/>
          </p:nvGrpSpPr>
          <p:grpSpPr bwMode="auto">
            <a:xfrm>
              <a:off x="748" y="3612"/>
              <a:ext cx="1243" cy="271"/>
              <a:chOff x="866" y="2971"/>
              <a:chExt cx="1243" cy="271"/>
            </a:xfrm>
          </p:grpSpPr>
          <p:sp>
            <p:nvSpPr>
              <p:cNvPr id="16" name="Text Box 15"/>
              <p:cNvSpPr txBox="1">
                <a:spLocks noChangeArrowheads="1"/>
              </p:cNvSpPr>
              <p:nvPr/>
            </p:nvSpPr>
            <p:spPr bwMode="auto">
              <a:xfrm>
                <a:off x="866" y="2971"/>
                <a:ext cx="47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200" dirty="0">
                    <a:solidFill>
                      <a:srgbClr val="660066"/>
                    </a:solidFill>
                    <a:latin typeface="黑体" panose="02010609060101010101" pitchFamily="49" charset="-122"/>
                    <a:ea typeface="黑体" panose="02010609060101010101" pitchFamily="49" charset="-122"/>
                  </a:rPr>
                  <a:t>负数</a:t>
                </a:r>
                <a:endParaRPr lang="zh-CN" altLang="en-US" sz="2200" dirty="0">
                  <a:solidFill>
                    <a:srgbClr val="660066"/>
                  </a:solidFill>
                  <a:latin typeface="黑体" panose="02010609060101010101" pitchFamily="49" charset="-122"/>
                  <a:ea typeface="黑体" panose="02010609060101010101" pitchFamily="49" charset="-122"/>
                </a:endParaRPr>
              </a:p>
            </p:txBody>
          </p:sp>
          <p:sp>
            <p:nvSpPr>
              <p:cNvPr id="17" name="Line 16"/>
              <p:cNvSpPr>
                <a:spLocks noChangeShapeType="1"/>
              </p:cNvSpPr>
              <p:nvPr/>
            </p:nvSpPr>
            <p:spPr bwMode="auto">
              <a:xfrm>
                <a:off x="1338" y="3113"/>
                <a:ext cx="771" cy="0"/>
              </a:xfrm>
              <a:prstGeom prst="line">
                <a:avLst/>
              </a:prstGeom>
              <a:noFill/>
              <a:ln w="9525">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 name="Group 17"/>
            <p:cNvGrpSpPr/>
            <p:nvPr/>
          </p:nvGrpSpPr>
          <p:grpSpPr bwMode="auto">
            <a:xfrm>
              <a:off x="2336" y="2779"/>
              <a:ext cx="2218" cy="288"/>
              <a:chOff x="2336" y="2779"/>
              <a:chExt cx="2218" cy="288"/>
            </a:xfrm>
          </p:grpSpPr>
          <p:sp>
            <p:nvSpPr>
              <p:cNvPr id="14" name="Text Box 18"/>
              <p:cNvSpPr txBox="1">
                <a:spLocks noChangeArrowheads="1"/>
              </p:cNvSpPr>
              <p:nvPr/>
            </p:nvSpPr>
            <p:spPr bwMode="auto">
              <a:xfrm>
                <a:off x="3632" y="2779"/>
                <a:ext cx="92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dirty="0">
                    <a:solidFill>
                      <a:srgbClr val="CC3300"/>
                    </a:solidFill>
                    <a:latin typeface="黑体" panose="02010609060101010101" pitchFamily="49" charset="-122"/>
                    <a:ea typeface="黑体" panose="02010609060101010101" pitchFamily="49" charset="-122"/>
                  </a:rPr>
                  <a:t>最高位</a:t>
                </a:r>
                <a:r>
                  <a:rPr lang="en-US" altLang="zh-CN" sz="2200" dirty="0" err="1">
                    <a:solidFill>
                      <a:srgbClr val="CC3300"/>
                    </a:solidFill>
                    <a:latin typeface="黑体" panose="02010609060101010101" pitchFamily="49" charset="-122"/>
                    <a:ea typeface="黑体" panose="02010609060101010101" pitchFamily="49" charset="-122"/>
                  </a:rPr>
                  <a:t>msb</a:t>
                </a:r>
                <a:endParaRPr lang="zh-CN" altLang="en-US" sz="2200" dirty="0">
                  <a:solidFill>
                    <a:srgbClr val="CC3300"/>
                  </a:solidFill>
                  <a:latin typeface="黑体" panose="02010609060101010101" pitchFamily="49" charset="-122"/>
                  <a:ea typeface="黑体" panose="02010609060101010101" pitchFamily="49" charset="-122"/>
                </a:endParaRPr>
              </a:p>
            </p:txBody>
          </p:sp>
          <p:sp>
            <p:nvSpPr>
              <p:cNvPr id="15" name="Line 19"/>
              <p:cNvSpPr>
                <a:spLocks noChangeShapeType="1"/>
              </p:cNvSpPr>
              <p:nvPr/>
            </p:nvSpPr>
            <p:spPr bwMode="auto">
              <a:xfrm flipH="1">
                <a:off x="2336" y="2922"/>
                <a:ext cx="1337" cy="145"/>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 name="Group 20"/>
            <p:cNvGrpSpPr/>
            <p:nvPr/>
          </p:nvGrpSpPr>
          <p:grpSpPr bwMode="auto">
            <a:xfrm>
              <a:off x="2472" y="3249"/>
              <a:ext cx="2101" cy="436"/>
              <a:chOff x="2472" y="3249"/>
              <a:chExt cx="2101" cy="436"/>
            </a:xfrm>
          </p:grpSpPr>
          <p:sp>
            <p:nvSpPr>
              <p:cNvPr id="12" name="Text Box 21"/>
              <p:cNvSpPr txBox="1">
                <a:spLocks noChangeArrowheads="1"/>
              </p:cNvSpPr>
              <p:nvPr/>
            </p:nvSpPr>
            <p:spPr bwMode="auto">
              <a:xfrm>
                <a:off x="3651" y="3414"/>
                <a:ext cx="92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dirty="0">
                    <a:solidFill>
                      <a:srgbClr val="0000CC"/>
                    </a:solidFill>
                    <a:latin typeface="黑体" panose="02010609060101010101" pitchFamily="49" charset="-122"/>
                    <a:ea typeface="黑体" panose="02010609060101010101" pitchFamily="49" charset="-122"/>
                  </a:rPr>
                  <a:t>次高位</a:t>
                </a:r>
                <a:r>
                  <a:rPr lang="en-US" altLang="zh-CN" sz="2200" dirty="0">
                    <a:solidFill>
                      <a:srgbClr val="0000CC"/>
                    </a:solidFill>
                    <a:latin typeface="黑体" panose="02010609060101010101" pitchFamily="49" charset="-122"/>
                    <a:ea typeface="黑体" panose="02010609060101010101" pitchFamily="49" charset="-122"/>
                  </a:rPr>
                  <a:t>2sb</a:t>
                </a:r>
                <a:endParaRPr lang="zh-CN" altLang="en-US" sz="2200" dirty="0">
                  <a:solidFill>
                    <a:srgbClr val="0000CC"/>
                  </a:solidFill>
                  <a:latin typeface="黑体" panose="02010609060101010101" pitchFamily="49" charset="-122"/>
                  <a:ea typeface="黑体" panose="02010609060101010101" pitchFamily="49" charset="-122"/>
                </a:endParaRPr>
              </a:p>
            </p:txBody>
          </p:sp>
          <p:sp>
            <p:nvSpPr>
              <p:cNvPr id="13" name="Line 22"/>
              <p:cNvSpPr>
                <a:spLocks noChangeShapeType="1"/>
              </p:cNvSpPr>
              <p:nvPr/>
            </p:nvSpPr>
            <p:spPr bwMode="auto">
              <a:xfrm flipH="1" flipV="1">
                <a:off x="2472" y="3249"/>
                <a:ext cx="1226" cy="317"/>
              </a:xfrm>
              <a:prstGeom prst="line">
                <a:avLst/>
              </a:prstGeom>
              <a:noFill/>
              <a:ln w="9525">
                <a:solidFill>
                  <a:srgbClr val="00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运算结果为</a:t>
            </a:r>
            <a:r>
              <a:rPr lang="en-US" altLang="zh-CN" sz="2800" dirty="0">
                <a:latin typeface="+mn-lt"/>
              </a:rPr>
              <a:t>0</a:t>
            </a:r>
            <a:r>
              <a:rPr lang="zh-CN" altLang="en-US" sz="2800" dirty="0">
                <a:latin typeface="+mn-lt"/>
              </a:rPr>
              <a:t>，则</a:t>
            </a:r>
            <a:r>
              <a:rPr lang="en-US" altLang="zh-CN" sz="2800" dirty="0">
                <a:latin typeface="+mn-lt"/>
              </a:rPr>
              <a:t>ZF</a:t>
            </a:r>
            <a:r>
              <a:rPr lang="zh-CN" altLang="en-US" sz="2800" dirty="0">
                <a:latin typeface="+mn-lt"/>
              </a:rPr>
              <a:t>＝</a:t>
            </a:r>
            <a:r>
              <a:rPr lang="en-US" altLang="zh-CN" sz="2800" dirty="0">
                <a:latin typeface="+mn-lt"/>
              </a:rPr>
              <a:t>1</a:t>
            </a:r>
            <a:r>
              <a:rPr lang="zh-CN" altLang="en-US" sz="2800" dirty="0">
                <a:latin typeface="+mn-lt"/>
              </a:rPr>
              <a:t>，否则</a:t>
            </a:r>
            <a:r>
              <a:rPr lang="en-US" altLang="zh-CN" sz="2800" dirty="0">
                <a:latin typeface="+mn-lt"/>
              </a:rPr>
              <a:t>ZF</a:t>
            </a:r>
            <a:r>
              <a:rPr lang="zh-CN" altLang="en-US" sz="2800" dirty="0">
                <a:latin typeface="+mn-lt"/>
              </a:rPr>
              <a:t>＝</a:t>
            </a:r>
            <a:r>
              <a:rPr lang="en-US" altLang="zh-CN" sz="2800" dirty="0">
                <a:latin typeface="+mn-lt"/>
              </a:rPr>
              <a:t>0</a:t>
            </a: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6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3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零标志</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ZF</a:t>
            </a:r>
            <a:r>
              <a:rPr lang="en-US" altLang="zh-CN" kern="0" dirty="0">
                <a:solidFill>
                  <a:srgbClr val="000000"/>
                </a:solidFill>
                <a:latin typeface="+mj-lt"/>
                <a:cs typeface="+mj-cs"/>
              </a:rPr>
              <a:t> (Zero Flag)</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43608" y="1484784"/>
            <a:ext cx="7488832" cy="1696321"/>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1</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00111010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10110110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结果不是</a:t>
            </a:r>
            <a:r>
              <a:rPr lang="en-US" altLang="zh-CN" sz="2200" dirty="0">
                <a:solidFill>
                  <a:schemeClr val="tx1"/>
                </a:solidFill>
                <a:latin typeface="+mj-lt"/>
                <a:ea typeface="黑体" panose="02010609060101010101" pitchFamily="49" charset="-122"/>
              </a:rPr>
              <a:t>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ZF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a:t>
            </a:r>
            <a:endParaRPr lang="en-US" altLang="zh-CN" sz="2200" dirty="0">
              <a:solidFill>
                <a:schemeClr val="tx1"/>
              </a:solidFill>
              <a:latin typeface="+mj-lt"/>
              <a:ea typeface="黑体" panose="02010609060101010101" pitchFamily="49" charset="-122"/>
            </a:endParaRPr>
          </a:p>
        </p:txBody>
      </p:sp>
      <p:sp>
        <p:nvSpPr>
          <p:cNvPr id="3" name="Rectangle 3"/>
          <p:cNvSpPr>
            <a:spLocks noChangeArrowheads="1"/>
          </p:cNvSpPr>
          <p:nvPr/>
        </p:nvSpPr>
        <p:spPr bwMode="auto">
          <a:xfrm>
            <a:off x="1043608" y="3861048"/>
            <a:ext cx="7488832" cy="163085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2</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10000100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00000000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结果是</a:t>
            </a:r>
            <a:r>
              <a:rPr lang="en-US" altLang="zh-CN" sz="2200" dirty="0">
                <a:solidFill>
                  <a:schemeClr val="tx1"/>
                </a:solidFill>
                <a:latin typeface="+mj-lt"/>
                <a:ea typeface="黑体" panose="02010609060101010101" pitchFamily="49" charset="-122"/>
              </a:rPr>
              <a:t>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ZF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a:t>
            </a:r>
            <a:endParaRPr lang="en-US" altLang="zh-CN" sz="2200" dirty="0">
              <a:solidFill>
                <a:schemeClr val="tx1"/>
              </a:solidFill>
              <a:latin typeface="+mj-lt"/>
              <a:ea typeface="黑体" panose="02010609060101010101" pitchFamily="49" charset="-122"/>
            </a:endParaRPr>
          </a:p>
        </p:txBody>
      </p:sp>
      <p:sp>
        <p:nvSpPr>
          <p:cNvPr id="10" name="Line 8"/>
          <p:cNvSpPr>
            <a:spLocks noChangeShapeType="1"/>
          </p:cNvSpPr>
          <p:nvPr/>
        </p:nvSpPr>
        <p:spPr bwMode="auto">
          <a:xfrm>
            <a:off x="5029945" y="4810869"/>
            <a:ext cx="100811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flipH="1" flipV="1">
            <a:off x="5451749" y="4845916"/>
            <a:ext cx="293811" cy="239247"/>
          </a:xfrm>
          <a:prstGeom prst="line">
            <a:avLst/>
          </a:prstGeom>
          <a:noFill/>
          <a:ln w="19050">
            <a:solidFill>
              <a:srgbClr val="0000FF"/>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10"/>
          <p:cNvSpPr txBox="1">
            <a:spLocks noChangeArrowheads="1"/>
          </p:cNvSpPr>
          <p:nvPr/>
        </p:nvSpPr>
        <p:spPr bwMode="auto">
          <a:xfrm>
            <a:off x="5461992" y="5028054"/>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00FF"/>
                </a:solidFill>
                <a:latin typeface="黑体" panose="02010609060101010101" pitchFamily="49" charset="-122"/>
                <a:ea typeface="黑体" panose="02010609060101010101" pitchFamily="49" charset="-122"/>
              </a:rPr>
              <a:t>结果</a:t>
            </a:r>
            <a:endParaRPr lang="zh-CN" altLang="en-US" sz="2200" b="0" dirty="0">
              <a:solidFill>
                <a:srgbClr val="0000FF"/>
              </a:solidFill>
              <a:latin typeface="黑体" panose="02010609060101010101" pitchFamily="49" charset="-122"/>
              <a:ea typeface="黑体" panose="02010609060101010101" pitchFamily="49" charset="-122"/>
            </a:endParaRPr>
          </a:p>
        </p:txBody>
      </p:sp>
      <p:sp>
        <p:nvSpPr>
          <p:cNvPr id="14" name="Text Box 12"/>
          <p:cNvSpPr txBox="1">
            <a:spLocks noChangeArrowheads="1"/>
          </p:cNvSpPr>
          <p:nvPr/>
        </p:nvSpPr>
        <p:spPr bwMode="auto">
          <a:xfrm>
            <a:off x="4453880" y="5036527"/>
            <a:ext cx="75212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进位</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15" name="Line 9"/>
          <p:cNvSpPr>
            <a:spLocks noChangeShapeType="1"/>
          </p:cNvSpPr>
          <p:nvPr/>
        </p:nvSpPr>
        <p:spPr bwMode="auto">
          <a:xfrm flipH="1" flipV="1">
            <a:off x="4813920" y="4819592"/>
            <a:ext cx="0" cy="279308"/>
          </a:xfrm>
          <a:prstGeom prst="line">
            <a:avLst/>
          </a:prstGeom>
          <a:noFill/>
          <a:ln w="19050">
            <a:solidFill>
              <a:srgbClr val="00B05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AutoShape 4"/>
          <p:cNvSpPr>
            <a:spLocks noChangeArrowheads="1"/>
          </p:cNvSpPr>
          <p:nvPr/>
        </p:nvSpPr>
        <p:spPr bwMode="auto">
          <a:xfrm>
            <a:off x="5681818" y="2677390"/>
            <a:ext cx="2850621" cy="952046"/>
          </a:xfrm>
          <a:prstGeom prst="cloudCallout">
            <a:avLst>
              <a:gd name="adj1" fmla="val -48266"/>
              <a:gd name="adj2" fmla="val -75500"/>
            </a:avLst>
          </a:prstGeom>
          <a:solidFill>
            <a:schemeClr val="bg1">
              <a:lumMod val="90000"/>
            </a:schemeClr>
          </a:solidFill>
          <a:ln w="9525">
            <a:no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90000"/>
              </a:lnSpc>
              <a:spcBef>
                <a:spcPct val="10000"/>
              </a:spcBef>
              <a:buClrTx/>
              <a:buFontTx/>
              <a:buNone/>
            </a:pPr>
            <a:r>
              <a:rPr lang="zh-CN" altLang="en-US" sz="2200" dirty="0">
                <a:solidFill>
                  <a:srgbClr val="00B050"/>
                </a:solidFill>
                <a:latin typeface="黑体" panose="02010609060101010101" pitchFamily="49" charset="-122"/>
                <a:ea typeface="黑体" panose="02010609060101010101" pitchFamily="49" charset="-122"/>
              </a:rPr>
              <a:t>结果不是</a:t>
            </a:r>
            <a:r>
              <a:rPr lang="en-US" altLang="zh-CN" sz="2200" dirty="0">
                <a:solidFill>
                  <a:srgbClr val="00B050"/>
                </a:solidFill>
                <a:latin typeface="黑体" panose="02010609060101010101" pitchFamily="49" charset="-122"/>
                <a:ea typeface="黑体" panose="02010609060101010101" pitchFamily="49" charset="-122"/>
              </a:rPr>
              <a:t>0</a:t>
            </a:r>
            <a:r>
              <a:rPr lang="zh-CN" altLang="en-US" sz="2200" dirty="0">
                <a:solidFill>
                  <a:srgbClr val="00B050"/>
                </a:solidFill>
                <a:latin typeface="黑体" panose="02010609060101010101" pitchFamily="49" charset="-122"/>
                <a:ea typeface="黑体" panose="02010609060101010101" pitchFamily="49" charset="-122"/>
              </a:rPr>
              <a:t>，</a:t>
            </a:r>
            <a:endParaRPr lang="zh-CN" altLang="en-US" sz="2200" dirty="0">
              <a:solidFill>
                <a:srgbClr val="00B050"/>
              </a:solidFill>
              <a:latin typeface="黑体" panose="02010609060101010101" pitchFamily="49" charset="-122"/>
              <a:ea typeface="黑体" panose="02010609060101010101" pitchFamily="49" charset="-122"/>
            </a:endParaRPr>
          </a:p>
          <a:p>
            <a:pPr algn="ctr" eaLnBrk="1" hangingPunct="1">
              <a:lnSpc>
                <a:spcPct val="90000"/>
              </a:lnSpc>
              <a:spcBef>
                <a:spcPct val="10000"/>
              </a:spcBef>
              <a:buClrTx/>
              <a:buFontTx/>
              <a:buNone/>
            </a:pPr>
            <a:r>
              <a:rPr lang="en-US" altLang="zh-CN" sz="2200" dirty="0">
                <a:solidFill>
                  <a:srgbClr val="00B050"/>
                </a:solidFill>
                <a:latin typeface="黑体" panose="02010609060101010101" pitchFamily="49" charset="-122"/>
                <a:ea typeface="黑体" panose="02010609060101010101" pitchFamily="49" charset="-122"/>
              </a:rPr>
              <a:t>ZF</a:t>
            </a:r>
            <a:r>
              <a:rPr lang="zh-CN" altLang="en-US" sz="2200" dirty="0">
                <a:solidFill>
                  <a:srgbClr val="00B050"/>
                </a:solidFill>
                <a:latin typeface="黑体" panose="02010609060101010101" pitchFamily="49" charset="-122"/>
                <a:ea typeface="黑体" panose="02010609060101010101" pitchFamily="49" charset="-122"/>
              </a:rPr>
              <a:t>标志是</a:t>
            </a:r>
            <a:r>
              <a:rPr lang="en-US" altLang="zh-CN" sz="2200" dirty="0">
                <a:solidFill>
                  <a:srgbClr val="00B050"/>
                </a:solidFill>
                <a:latin typeface="黑体" panose="02010609060101010101" pitchFamily="49" charset="-122"/>
                <a:ea typeface="黑体" panose="02010609060101010101" pitchFamily="49" charset="-122"/>
              </a:rPr>
              <a:t>0 </a:t>
            </a:r>
            <a:endParaRPr lang="zh-CN" altLang="en-US" sz="2200" dirty="0">
              <a:solidFill>
                <a:srgbClr val="00B050"/>
              </a:solidFill>
              <a:latin typeface="黑体" panose="02010609060101010101" pitchFamily="49" charset="-122"/>
              <a:ea typeface="黑体" panose="02010609060101010101" pitchFamily="49" charset="-122"/>
            </a:endParaRPr>
          </a:p>
        </p:txBody>
      </p:sp>
      <p:sp>
        <p:nvSpPr>
          <p:cNvPr id="17" name="AutoShape 4"/>
          <p:cNvSpPr>
            <a:spLocks noChangeArrowheads="1"/>
          </p:cNvSpPr>
          <p:nvPr/>
        </p:nvSpPr>
        <p:spPr bwMode="auto">
          <a:xfrm>
            <a:off x="5630027" y="5316775"/>
            <a:ext cx="2902413" cy="920537"/>
          </a:xfrm>
          <a:prstGeom prst="cloudCallout">
            <a:avLst>
              <a:gd name="adj1" fmla="val -32649"/>
              <a:gd name="adj2" fmla="val -102806"/>
            </a:avLst>
          </a:prstGeom>
          <a:solidFill>
            <a:schemeClr val="bg1">
              <a:lumMod val="90000"/>
            </a:schemeClr>
          </a:solidFill>
          <a:ln w="9525">
            <a:no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90000"/>
              </a:lnSpc>
              <a:spcBef>
                <a:spcPct val="1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只看运算结果，不管进位</a:t>
            </a:r>
            <a:endParaRPr lang="zh-CN" altLang="en-US" sz="22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64704"/>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运算结果最高位为</a:t>
            </a:r>
            <a:r>
              <a:rPr lang="en-US" altLang="zh-CN" sz="2800" dirty="0">
                <a:latin typeface="+mn-lt"/>
              </a:rPr>
              <a:t>1</a:t>
            </a:r>
            <a:r>
              <a:rPr lang="zh-CN" altLang="en-US" sz="2800" dirty="0">
                <a:latin typeface="+mn-lt"/>
              </a:rPr>
              <a:t>，则</a:t>
            </a:r>
            <a:r>
              <a:rPr lang="en-US" altLang="zh-CN" sz="2800" dirty="0">
                <a:latin typeface="+mn-lt"/>
              </a:rPr>
              <a:t>SF</a:t>
            </a:r>
            <a:r>
              <a:rPr lang="zh-CN" altLang="en-US" sz="2800" dirty="0">
                <a:latin typeface="+mn-lt"/>
              </a:rPr>
              <a:t>＝</a:t>
            </a:r>
            <a:r>
              <a:rPr lang="en-US" altLang="zh-CN" sz="2800" dirty="0">
                <a:latin typeface="+mn-lt"/>
              </a:rPr>
              <a:t>1</a:t>
            </a:r>
            <a:r>
              <a:rPr lang="zh-CN" altLang="en-US" sz="2800" dirty="0">
                <a:latin typeface="+mn-lt"/>
              </a:rPr>
              <a:t>；否则</a:t>
            </a:r>
            <a:r>
              <a:rPr lang="en-US" altLang="zh-CN" sz="2800" dirty="0">
                <a:latin typeface="+mn-lt"/>
              </a:rPr>
              <a:t>SF</a:t>
            </a:r>
            <a:r>
              <a:rPr lang="zh-CN" altLang="en-US" sz="2800" dirty="0">
                <a:latin typeface="+mn-lt"/>
              </a:rPr>
              <a:t>＝</a:t>
            </a:r>
            <a:r>
              <a:rPr lang="en-US" altLang="zh-CN" sz="2800" dirty="0">
                <a:latin typeface="+mn-lt"/>
              </a:rPr>
              <a:t>0</a:t>
            </a:r>
            <a:endParaRPr lang="en-US" altLang="zh-CN"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3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符号标志</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SF</a:t>
            </a:r>
            <a:r>
              <a:rPr lang="en-US" altLang="zh-CN" kern="0" dirty="0">
                <a:solidFill>
                  <a:srgbClr val="000000"/>
                </a:solidFill>
                <a:latin typeface="+mj-lt"/>
                <a:cs typeface="+mj-cs"/>
              </a:rPr>
              <a:t> (Sign Flag)</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43607" y="1516655"/>
            <a:ext cx="7488832" cy="1696321"/>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1</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00111010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0110110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最高位＝</a:t>
            </a:r>
            <a:r>
              <a:rPr lang="en-US" altLang="zh-CN" sz="2200" dirty="0">
                <a:solidFill>
                  <a:schemeClr val="tx1"/>
                </a:solidFill>
                <a:latin typeface="+mj-lt"/>
                <a:ea typeface="黑体" panose="02010609060101010101" pitchFamily="49" charset="-122"/>
              </a:rPr>
              <a:t>1</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SF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a:t>
            </a:r>
            <a:endParaRPr lang="en-US" altLang="zh-CN" sz="2200" dirty="0">
              <a:solidFill>
                <a:schemeClr val="tx1"/>
              </a:solidFill>
              <a:latin typeface="+mj-lt"/>
              <a:ea typeface="黑体" panose="02010609060101010101" pitchFamily="49" charset="-122"/>
            </a:endParaRPr>
          </a:p>
        </p:txBody>
      </p:sp>
      <p:sp>
        <p:nvSpPr>
          <p:cNvPr id="3" name="Rectangle 3"/>
          <p:cNvSpPr>
            <a:spLocks noChangeArrowheads="1"/>
          </p:cNvSpPr>
          <p:nvPr/>
        </p:nvSpPr>
        <p:spPr bwMode="auto">
          <a:xfrm>
            <a:off x="1043607" y="3861048"/>
            <a:ext cx="7488832" cy="163085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2</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10000100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a:t>
            </a:r>
            <a:r>
              <a:rPr lang="en-US" altLang="zh-CN" sz="2200" dirty="0">
                <a:solidFill>
                  <a:srgbClr val="FF0000"/>
                </a:solidFill>
                <a:latin typeface="+mj-lt"/>
                <a:ea typeface="黑体" panose="02010609060101010101" pitchFamily="49" charset="-122"/>
              </a:rPr>
              <a:t>0</a:t>
            </a:r>
            <a:r>
              <a:rPr lang="en-US" altLang="zh-CN" sz="2200" dirty="0">
                <a:solidFill>
                  <a:schemeClr val="tx1"/>
                </a:solidFill>
                <a:latin typeface="+mj-lt"/>
                <a:ea typeface="黑体" panose="02010609060101010101" pitchFamily="49" charset="-122"/>
              </a:rPr>
              <a:t>0000000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最高位＝</a:t>
            </a:r>
            <a:r>
              <a:rPr lang="en-US" altLang="zh-CN" sz="2200" dirty="0">
                <a:solidFill>
                  <a:schemeClr val="tx1"/>
                </a:solidFill>
                <a:latin typeface="+mj-lt"/>
                <a:ea typeface="黑体" panose="02010609060101010101" pitchFamily="49" charset="-122"/>
              </a:rPr>
              <a:t>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SF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a:t>
            </a:r>
            <a:endParaRPr lang="en-US" altLang="zh-CN" sz="2200" dirty="0">
              <a:solidFill>
                <a:schemeClr val="tx1"/>
              </a:solidFill>
              <a:latin typeface="+mj-lt"/>
              <a:ea typeface="黑体" panose="02010609060101010101" pitchFamily="49" charset="-122"/>
            </a:endParaRPr>
          </a:p>
        </p:txBody>
      </p:sp>
      <p:sp>
        <p:nvSpPr>
          <p:cNvPr id="10" name="Line 8"/>
          <p:cNvSpPr>
            <a:spLocks noChangeShapeType="1"/>
          </p:cNvSpPr>
          <p:nvPr/>
        </p:nvSpPr>
        <p:spPr bwMode="auto">
          <a:xfrm>
            <a:off x="5029944" y="4810869"/>
            <a:ext cx="100811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flipH="1" flipV="1">
            <a:off x="5451748" y="4845916"/>
            <a:ext cx="293811" cy="239247"/>
          </a:xfrm>
          <a:prstGeom prst="line">
            <a:avLst/>
          </a:prstGeom>
          <a:noFill/>
          <a:ln w="19050">
            <a:solidFill>
              <a:srgbClr val="0000FF"/>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10"/>
          <p:cNvSpPr txBox="1">
            <a:spLocks noChangeArrowheads="1"/>
          </p:cNvSpPr>
          <p:nvPr/>
        </p:nvSpPr>
        <p:spPr bwMode="auto">
          <a:xfrm>
            <a:off x="5461991" y="5028054"/>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00FF"/>
                </a:solidFill>
                <a:latin typeface="黑体" panose="02010609060101010101" pitchFamily="49" charset="-122"/>
                <a:ea typeface="黑体" panose="02010609060101010101" pitchFamily="49" charset="-122"/>
              </a:rPr>
              <a:t>结果</a:t>
            </a:r>
            <a:endParaRPr lang="zh-CN" altLang="en-US" sz="2200" b="0" dirty="0">
              <a:solidFill>
                <a:srgbClr val="0000FF"/>
              </a:solidFill>
              <a:latin typeface="黑体" panose="02010609060101010101" pitchFamily="49" charset="-122"/>
              <a:ea typeface="黑体" panose="02010609060101010101" pitchFamily="49" charset="-122"/>
            </a:endParaRPr>
          </a:p>
        </p:txBody>
      </p:sp>
      <p:sp>
        <p:nvSpPr>
          <p:cNvPr id="14" name="Text Box 12"/>
          <p:cNvSpPr txBox="1">
            <a:spLocks noChangeArrowheads="1"/>
          </p:cNvSpPr>
          <p:nvPr/>
        </p:nvSpPr>
        <p:spPr bwMode="auto">
          <a:xfrm>
            <a:off x="4453879" y="5036527"/>
            <a:ext cx="75212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进位</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15" name="Line 9"/>
          <p:cNvSpPr>
            <a:spLocks noChangeShapeType="1"/>
          </p:cNvSpPr>
          <p:nvPr/>
        </p:nvSpPr>
        <p:spPr bwMode="auto">
          <a:xfrm flipH="1" flipV="1">
            <a:off x="4813919" y="4819592"/>
            <a:ext cx="0" cy="279308"/>
          </a:xfrm>
          <a:prstGeom prst="line">
            <a:avLst/>
          </a:prstGeom>
          <a:noFill/>
          <a:ln w="19050">
            <a:solidFill>
              <a:srgbClr val="00B05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AutoShape 4"/>
          <p:cNvSpPr>
            <a:spLocks noChangeArrowheads="1"/>
          </p:cNvSpPr>
          <p:nvPr/>
        </p:nvSpPr>
        <p:spPr bwMode="auto">
          <a:xfrm>
            <a:off x="5317976" y="2677390"/>
            <a:ext cx="3214464" cy="824308"/>
          </a:xfrm>
          <a:prstGeom prst="cloudCallout">
            <a:avLst>
              <a:gd name="adj1" fmla="val -48266"/>
              <a:gd name="adj2" fmla="val -75500"/>
            </a:avLst>
          </a:prstGeom>
          <a:solidFill>
            <a:schemeClr val="bg1">
              <a:lumMod val="90000"/>
            </a:schemeClr>
          </a:solidFill>
          <a:ln w="9525">
            <a:no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90000"/>
              </a:lnSpc>
              <a:spcBef>
                <a:spcPct val="1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最高位</a:t>
            </a:r>
            <a:r>
              <a:rPr lang="en-US" altLang="zh-CN" sz="2200" dirty="0">
                <a:solidFill>
                  <a:srgbClr val="FF0000"/>
                </a:solidFill>
                <a:latin typeface="黑体" panose="02010609060101010101" pitchFamily="49" charset="-122"/>
                <a:ea typeface="黑体" panose="02010609060101010101" pitchFamily="49" charset="-122"/>
              </a:rPr>
              <a:t>=</a:t>
            </a:r>
            <a:r>
              <a:rPr lang="zh-CN" altLang="en-US" sz="2200" dirty="0">
                <a:solidFill>
                  <a:srgbClr val="FF0000"/>
                </a:solidFill>
                <a:latin typeface="黑体" panose="02010609060101010101" pitchFamily="49" charset="-122"/>
                <a:ea typeface="黑体" panose="02010609060101010101" pitchFamily="49" charset="-122"/>
              </a:rPr>
              <a:t>符号位</a:t>
            </a:r>
            <a:r>
              <a:rPr lang="en-US" altLang="zh-CN" sz="2200" dirty="0">
                <a:solidFill>
                  <a:srgbClr val="FF0000"/>
                </a:solidFill>
                <a:latin typeface="黑体" panose="02010609060101010101" pitchFamily="49" charset="-122"/>
                <a:ea typeface="黑体" panose="02010609060101010101" pitchFamily="49" charset="-122"/>
              </a:rPr>
              <a:t>=SF</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17" name="AutoShape 4"/>
          <p:cNvSpPr>
            <a:spLocks noChangeArrowheads="1"/>
          </p:cNvSpPr>
          <p:nvPr/>
        </p:nvSpPr>
        <p:spPr bwMode="auto">
          <a:xfrm>
            <a:off x="5292080" y="5316776"/>
            <a:ext cx="3266255" cy="849296"/>
          </a:xfrm>
          <a:prstGeom prst="cloudCallout">
            <a:avLst>
              <a:gd name="adj1" fmla="val -32649"/>
              <a:gd name="adj2" fmla="val -102806"/>
            </a:avLst>
          </a:prstGeom>
          <a:solidFill>
            <a:schemeClr val="bg1">
              <a:lumMod val="90000"/>
            </a:schemeClr>
          </a:solidFill>
          <a:ln w="9525">
            <a:no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90000"/>
              </a:lnSpc>
              <a:spcBef>
                <a:spcPct val="1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只看最高位，不管进位</a:t>
            </a:r>
            <a:endParaRPr lang="zh-CN" altLang="en-US" sz="22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当运算结果</a:t>
            </a:r>
            <a:r>
              <a:rPr lang="zh-CN" altLang="en-US" sz="2600" dirty="0">
                <a:solidFill>
                  <a:srgbClr val="FF0000"/>
                </a:solidFill>
                <a:latin typeface="+mn-lt"/>
              </a:rPr>
              <a:t>最低字节</a:t>
            </a:r>
            <a:r>
              <a:rPr lang="en-US" altLang="zh-CN" sz="2600" dirty="0">
                <a:solidFill>
                  <a:srgbClr val="FF0000"/>
                </a:solidFill>
                <a:latin typeface="+mn-lt"/>
              </a:rPr>
              <a:t>(Least Significant Byte, LSB)</a:t>
            </a:r>
            <a:r>
              <a:rPr lang="zh-CN" altLang="en-US" sz="2600" dirty="0">
                <a:latin typeface="+mn-lt"/>
              </a:rPr>
              <a:t>中“</a:t>
            </a:r>
            <a:r>
              <a:rPr lang="en-US" altLang="zh-CN" sz="2600" dirty="0">
                <a:latin typeface="+mn-lt"/>
              </a:rPr>
              <a:t>1”</a:t>
            </a:r>
            <a:r>
              <a:rPr lang="zh-CN" altLang="en-US" sz="2600" dirty="0">
                <a:latin typeface="+mn-lt"/>
              </a:rPr>
              <a:t>的个数为零或偶数时，</a:t>
            </a:r>
            <a:r>
              <a:rPr lang="en-US" altLang="zh-CN" sz="2600" dirty="0">
                <a:latin typeface="+mn-lt"/>
              </a:rPr>
              <a:t>PF</a:t>
            </a:r>
            <a:r>
              <a:rPr lang="zh-CN" altLang="en-US" sz="2600" dirty="0">
                <a:latin typeface="+mn-lt"/>
              </a:rPr>
              <a:t>＝</a:t>
            </a:r>
            <a:r>
              <a:rPr lang="en-US" altLang="zh-CN" sz="2600" dirty="0">
                <a:latin typeface="+mn-lt"/>
              </a:rPr>
              <a:t>1</a:t>
            </a:r>
            <a:r>
              <a:rPr lang="zh-CN" altLang="en-US" sz="2600" dirty="0">
                <a:latin typeface="+mn-lt"/>
              </a:rPr>
              <a:t>；否则</a:t>
            </a:r>
            <a:r>
              <a:rPr lang="en-US" altLang="zh-CN" sz="2600" dirty="0">
                <a:latin typeface="+mn-lt"/>
              </a:rPr>
              <a:t>PF</a:t>
            </a:r>
            <a:r>
              <a:rPr lang="zh-CN" altLang="en-US" sz="2600" dirty="0">
                <a:latin typeface="+mn-lt"/>
              </a:rPr>
              <a:t>＝</a:t>
            </a:r>
            <a:r>
              <a:rPr lang="en-US" altLang="zh-CN" sz="2600" dirty="0">
                <a:latin typeface="+mn-lt"/>
              </a:rPr>
              <a:t>0</a:t>
            </a:r>
            <a:endParaRPr lang="en-US" altLang="zh-CN" sz="26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奇偶标志</a:t>
            </a:r>
            <a:r>
              <a:rPr kumimoji="1" lang="en-US" altLang="zh-CN" b="0" i="0" u="none" strike="noStrike" kern="0" cap="none" spc="0" normalizeH="0" baseline="0" noProof="0" dirty="0">
                <a:ln>
                  <a:noFill/>
                </a:ln>
                <a:solidFill>
                  <a:srgbClr val="000000"/>
                </a:solidFill>
                <a:effectLst/>
                <a:uLnTx/>
                <a:uFillTx/>
                <a:latin typeface="+mj-lt"/>
                <a:cs typeface="+mj-cs"/>
              </a:rPr>
              <a:t>PF(</a:t>
            </a:r>
            <a:r>
              <a:rPr lang="en-US" altLang="zh-CN" kern="0" dirty="0">
                <a:solidFill>
                  <a:srgbClr val="000000"/>
                </a:solidFill>
                <a:latin typeface="+mj-lt"/>
                <a:cs typeface="+mj-cs"/>
              </a:rPr>
              <a:t>P</a:t>
            </a:r>
            <a:r>
              <a:rPr kumimoji="1" lang="en-US" altLang="zh-CN" b="0" i="0" u="none" strike="noStrike" kern="0" cap="none" spc="0" normalizeH="0" baseline="0" noProof="0" dirty="0">
                <a:ln>
                  <a:noFill/>
                </a:ln>
                <a:solidFill>
                  <a:srgbClr val="000000"/>
                </a:solidFill>
                <a:effectLst/>
                <a:uLnTx/>
                <a:uFillTx/>
                <a:latin typeface="+mj-lt"/>
                <a:cs typeface="+mj-cs"/>
              </a:rPr>
              <a:t>arity Flag)</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43607" y="1988840"/>
            <a:ext cx="7488832" cy="1696321"/>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1</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00111010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0</a:t>
            </a:r>
            <a:r>
              <a:rPr lang="en-US" altLang="zh-CN" sz="2200" dirty="0">
                <a:solidFill>
                  <a:srgbClr val="FF0000"/>
                </a:solidFill>
                <a:latin typeface="+mj-lt"/>
                <a:ea typeface="黑体" panose="02010609060101010101" pitchFamily="49" charset="-122"/>
              </a:rPr>
              <a:t>11</a:t>
            </a:r>
            <a:r>
              <a:rPr lang="en-US" altLang="zh-CN" sz="2200" dirty="0">
                <a:solidFill>
                  <a:schemeClr val="tx1"/>
                </a:solidFill>
                <a:latin typeface="+mj-lt"/>
                <a:ea typeface="黑体" panose="02010609060101010101" pitchFamily="49" charset="-122"/>
              </a:rPr>
              <a:t>0</a:t>
            </a:r>
            <a:r>
              <a:rPr lang="en-US" altLang="zh-CN" sz="2200" dirty="0">
                <a:solidFill>
                  <a:srgbClr val="FF0000"/>
                </a:solidFill>
                <a:latin typeface="+mj-lt"/>
                <a:ea typeface="黑体" panose="02010609060101010101" pitchFamily="49" charset="-122"/>
              </a:rPr>
              <a:t>11</a:t>
            </a:r>
            <a:r>
              <a:rPr lang="en-US" altLang="zh-CN" sz="2200" dirty="0">
                <a:solidFill>
                  <a:schemeClr val="tx1"/>
                </a:solidFill>
                <a:latin typeface="+mj-lt"/>
                <a:ea typeface="黑体" panose="02010609060101010101" pitchFamily="49" charset="-122"/>
              </a:rPr>
              <a:t>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dirty="0">
                <a:solidFill>
                  <a:schemeClr val="tx1"/>
                </a:solidFill>
                <a:latin typeface="+mj-lt"/>
                <a:ea typeface="黑体" panose="02010609060101010101" pitchFamily="49" charset="-122"/>
              </a:rPr>
              <a:t>	“1”</a:t>
            </a:r>
            <a:r>
              <a:rPr lang="zh-CN" altLang="en-US" sz="2200" dirty="0">
                <a:solidFill>
                  <a:schemeClr val="tx1"/>
                </a:solidFill>
                <a:latin typeface="+mj-lt"/>
                <a:ea typeface="黑体" panose="02010609060101010101" pitchFamily="49" charset="-122"/>
              </a:rPr>
              <a:t>的个数为</a:t>
            </a:r>
            <a:r>
              <a:rPr lang="en-US" altLang="zh-CN" sz="2200" dirty="0">
                <a:solidFill>
                  <a:schemeClr val="tx1"/>
                </a:solidFill>
                <a:latin typeface="+mj-lt"/>
                <a:ea typeface="黑体" panose="02010609060101010101" pitchFamily="49" charset="-122"/>
              </a:rPr>
              <a:t>5</a:t>
            </a:r>
            <a:r>
              <a:rPr lang="zh-CN" altLang="en-US" sz="2200" dirty="0">
                <a:solidFill>
                  <a:schemeClr val="tx1"/>
                </a:solidFill>
                <a:latin typeface="+mj-lt"/>
                <a:ea typeface="黑体" panose="02010609060101010101" pitchFamily="49" charset="-122"/>
              </a:rPr>
              <a:t>个：</a:t>
            </a:r>
            <a:r>
              <a:rPr lang="en-US" altLang="zh-CN" sz="2200" dirty="0">
                <a:solidFill>
                  <a:schemeClr val="tx1"/>
                </a:solidFill>
                <a:latin typeface="+mj-lt"/>
                <a:ea typeface="黑体" panose="02010609060101010101" pitchFamily="49" charset="-122"/>
              </a:rPr>
              <a:t>PF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endParaRPr lang="en-US" altLang="zh-CN" sz="2200" dirty="0">
              <a:solidFill>
                <a:schemeClr val="tx1"/>
              </a:solidFill>
              <a:latin typeface="+mj-lt"/>
              <a:ea typeface="黑体" panose="02010609060101010101" pitchFamily="49" charset="-122"/>
            </a:endParaRPr>
          </a:p>
        </p:txBody>
      </p:sp>
      <p:sp>
        <p:nvSpPr>
          <p:cNvPr id="3" name="Rectangle 3"/>
          <p:cNvSpPr>
            <a:spLocks noChangeArrowheads="1"/>
          </p:cNvSpPr>
          <p:nvPr/>
        </p:nvSpPr>
        <p:spPr bwMode="auto">
          <a:xfrm>
            <a:off x="1043607" y="4293096"/>
            <a:ext cx="7488832" cy="163085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例</a:t>
            </a:r>
            <a:r>
              <a:rPr lang="en-US" altLang="zh-CN" sz="2200" dirty="0">
                <a:solidFill>
                  <a:schemeClr val="tx1"/>
                </a:solidFill>
                <a:latin typeface="+mj-lt"/>
                <a:ea typeface="黑体" panose="02010609060101010101" pitchFamily="49" charset="-122"/>
              </a:rPr>
              <a:t>2</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8</a:t>
            </a:r>
            <a:r>
              <a:rPr lang="zh-CN" altLang="en-US" sz="2200" dirty="0">
                <a:solidFill>
                  <a:schemeClr val="tx1"/>
                </a:solidFill>
                <a:latin typeface="+mj-lt"/>
                <a:ea typeface="黑体" panose="02010609060101010101" pitchFamily="49" charset="-122"/>
              </a:rPr>
              <a:t>位二进制数相加</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zh-CN" altLang="en-US" sz="2200" dirty="0">
                <a:solidFill>
                  <a:schemeClr val="tx1"/>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10000100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01111100</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[1]00000000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dirty="0">
                <a:solidFill>
                  <a:schemeClr val="tx1"/>
                </a:solidFill>
                <a:latin typeface="+mj-lt"/>
                <a:ea typeface="黑体" panose="02010609060101010101" pitchFamily="49" charset="-122"/>
              </a:rPr>
              <a:t>	“1”</a:t>
            </a:r>
            <a:r>
              <a:rPr lang="zh-CN" altLang="en-US" sz="2200" dirty="0">
                <a:solidFill>
                  <a:schemeClr val="tx1"/>
                </a:solidFill>
                <a:latin typeface="+mj-lt"/>
                <a:ea typeface="黑体" panose="02010609060101010101" pitchFamily="49" charset="-122"/>
              </a:rPr>
              <a:t>的个数为</a:t>
            </a:r>
            <a:r>
              <a:rPr lang="en-US" altLang="zh-CN" sz="2200" dirty="0">
                <a:solidFill>
                  <a:schemeClr val="tx1"/>
                </a:solidFill>
                <a:latin typeface="+mj-lt"/>
                <a:ea typeface="黑体" panose="02010609060101010101" pitchFamily="49" charset="-122"/>
              </a:rPr>
              <a:t>0</a:t>
            </a:r>
            <a:r>
              <a:rPr lang="zh-CN" altLang="en-US" sz="2200" dirty="0">
                <a:solidFill>
                  <a:schemeClr val="tx1"/>
                </a:solidFill>
                <a:latin typeface="+mj-lt"/>
                <a:ea typeface="黑体" panose="02010609060101010101" pitchFamily="49" charset="-122"/>
              </a:rPr>
              <a:t>个：</a:t>
            </a:r>
            <a:r>
              <a:rPr lang="en-US" altLang="zh-CN" sz="2200" dirty="0">
                <a:solidFill>
                  <a:schemeClr val="tx1"/>
                </a:solidFill>
                <a:latin typeface="+mj-lt"/>
                <a:ea typeface="黑体" panose="02010609060101010101" pitchFamily="49" charset="-122"/>
              </a:rPr>
              <a:t>PF</a:t>
            </a:r>
            <a:r>
              <a:rPr lang="zh-CN" altLang="en-US" sz="2200" dirty="0">
                <a:solidFill>
                  <a:schemeClr val="tx1"/>
                </a:solidFill>
                <a:latin typeface="+mj-lt"/>
                <a:ea typeface="黑体" panose="02010609060101010101" pitchFamily="49" charset="-122"/>
              </a:rPr>
              <a:t>＝</a:t>
            </a:r>
            <a:r>
              <a:rPr lang="en-US" altLang="zh-CN" sz="2200" dirty="0">
                <a:solidFill>
                  <a:schemeClr val="tx1"/>
                </a:solidFill>
                <a:latin typeface="+mj-lt"/>
                <a:ea typeface="黑体" panose="02010609060101010101" pitchFamily="49" charset="-122"/>
              </a:rPr>
              <a:t>1</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endParaRPr lang="en-US" altLang="zh-CN" sz="2200" dirty="0">
              <a:solidFill>
                <a:schemeClr val="tx1"/>
              </a:solidFill>
              <a:latin typeface="+mj-lt"/>
              <a:ea typeface="黑体" panose="02010609060101010101" pitchFamily="49" charset="-122"/>
            </a:endParaRPr>
          </a:p>
        </p:txBody>
      </p:sp>
      <p:sp>
        <p:nvSpPr>
          <p:cNvPr id="10" name="Line 8"/>
          <p:cNvSpPr>
            <a:spLocks noChangeShapeType="1"/>
          </p:cNvSpPr>
          <p:nvPr/>
        </p:nvSpPr>
        <p:spPr bwMode="auto">
          <a:xfrm>
            <a:off x="5029944" y="5242917"/>
            <a:ext cx="100811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flipH="1" flipV="1">
            <a:off x="5451748" y="5277964"/>
            <a:ext cx="293811" cy="239247"/>
          </a:xfrm>
          <a:prstGeom prst="line">
            <a:avLst/>
          </a:prstGeom>
          <a:noFill/>
          <a:ln w="19050">
            <a:solidFill>
              <a:srgbClr val="0000FF"/>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10"/>
          <p:cNvSpPr txBox="1">
            <a:spLocks noChangeArrowheads="1"/>
          </p:cNvSpPr>
          <p:nvPr/>
        </p:nvSpPr>
        <p:spPr bwMode="auto">
          <a:xfrm>
            <a:off x="5461991" y="5460102"/>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00FF"/>
                </a:solidFill>
                <a:latin typeface="黑体" panose="02010609060101010101" pitchFamily="49" charset="-122"/>
                <a:ea typeface="黑体" panose="02010609060101010101" pitchFamily="49" charset="-122"/>
              </a:rPr>
              <a:t>结果</a:t>
            </a:r>
            <a:endParaRPr lang="zh-CN" altLang="en-US" sz="2200" b="0" dirty="0">
              <a:solidFill>
                <a:srgbClr val="0000FF"/>
              </a:solidFill>
              <a:latin typeface="黑体" panose="02010609060101010101" pitchFamily="49" charset="-122"/>
              <a:ea typeface="黑体" panose="02010609060101010101" pitchFamily="49" charset="-122"/>
            </a:endParaRPr>
          </a:p>
        </p:txBody>
      </p:sp>
      <p:sp>
        <p:nvSpPr>
          <p:cNvPr id="14" name="Text Box 12"/>
          <p:cNvSpPr txBox="1">
            <a:spLocks noChangeArrowheads="1"/>
          </p:cNvSpPr>
          <p:nvPr/>
        </p:nvSpPr>
        <p:spPr bwMode="auto">
          <a:xfrm>
            <a:off x="4453879" y="4221088"/>
            <a:ext cx="75212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进位</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15" name="Line 9"/>
          <p:cNvSpPr>
            <a:spLocks noChangeShapeType="1"/>
          </p:cNvSpPr>
          <p:nvPr/>
        </p:nvSpPr>
        <p:spPr bwMode="auto">
          <a:xfrm flipH="1">
            <a:off x="4813919" y="4641631"/>
            <a:ext cx="0" cy="295571"/>
          </a:xfrm>
          <a:prstGeom prst="line">
            <a:avLst/>
          </a:prstGeom>
          <a:noFill/>
          <a:ln w="19050">
            <a:solidFill>
              <a:srgbClr val="00B05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AutoShape 4"/>
          <p:cNvSpPr>
            <a:spLocks noChangeArrowheads="1"/>
          </p:cNvSpPr>
          <p:nvPr/>
        </p:nvSpPr>
        <p:spPr bwMode="auto">
          <a:xfrm>
            <a:off x="5451748" y="3181446"/>
            <a:ext cx="3080692" cy="894466"/>
          </a:xfrm>
          <a:prstGeom prst="cloudCallout">
            <a:avLst>
              <a:gd name="adj1" fmla="val -48266"/>
              <a:gd name="adj2" fmla="val -75500"/>
            </a:avLst>
          </a:prstGeom>
          <a:solidFill>
            <a:schemeClr val="bg1">
              <a:lumMod val="90000"/>
            </a:schemeClr>
          </a:solidFill>
          <a:ln w="9525">
            <a:no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90000"/>
              </a:lnSpc>
              <a:spcBef>
                <a:spcPct val="1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仅看最低</a:t>
            </a:r>
            <a:r>
              <a:rPr lang="en-US" altLang="zh-CN" sz="2200" dirty="0">
                <a:solidFill>
                  <a:srgbClr val="FF0000"/>
                </a:solidFill>
                <a:latin typeface="黑体" panose="02010609060101010101" pitchFamily="49" charset="-122"/>
                <a:ea typeface="黑体" panose="02010609060101010101" pitchFamily="49" charset="-122"/>
              </a:rPr>
              <a:t>8</a:t>
            </a:r>
            <a:r>
              <a:rPr lang="zh-CN" altLang="en-US" sz="2200" dirty="0">
                <a:solidFill>
                  <a:srgbClr val="FF0000"/>
                </a:solidFill>
                <a:latin typeface="黑体" panose="02010609060101010101" pitchFamily="49" charset="-122"/>
                <a:ea typeface="黑体" panose="02010609060101010101" pitchFamily="49" charset="-122"/>
              </a:rPr>
              <a:t>位中“</a:t>
            </a:r>
            <a:r>
              <a:rPr lang="en-US" altLang="zh-CN" sz="2200" dirty="0">
                <a:solidFill>
                  <a:srgbClr val="FF0000"/>
                </a:solidFill>
                <a:latin typeface="黑体" panose="02010609060101010101" pitchFamily="49" charset="-122"/>
                <a:ea typeface="黑体" panose="02010609060101010101" pitchFamily="49" charset="-122"/>
              </a:rPr>
              <a:t>1”</a:t>
            </a:r>
            <a:r>
              <a:rPr lang="zh-CN" altLang="en-US" sz="2200" dirty="0">
                <a:solidFill>
                  <a:srgbClr val="FF0000"/>
                </a:solidFill>
                <a:latin typeface="黑体" panose="02010609060101010101" pitchFamily="49" charset="-122"/>
                <a:ea typeface="黑体" panose="02010609060101010101" pitchFamily="49" charset="-122"/>
              </a:rPr>
              <a:t>的个数</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17" name="AutoShape 4"/>
          <p:cNvSpPr>
            <a:spLocks noChangeArrowheads="1"/>
          </p:cNvSpPr>
          <p:nvPr/>
        </p:nvSpPr>
        <p:spPr bwMode="auto">
          <a:xfrm>
            <a:off x="5652120" y="5752306"/>
            <a:ext cx="2880320" cy="849296"/>
          </a:xfrm>
          <a:prstGeom prst="cloudCallout">
            <a:avLst>
              <a:gd name="adj1" fmla="val -29149"/>
              <a:gd name="adj2" fmla="val -106171"/>
            </a:avLst>
          </a:prstGeom>
          <a:solidFill>
            <a:schemeClr val="bg1">
              <a:lumMod val="90000"/>
            </a:schemeClr>
          </a:solidFill>
          <a:ln w="9525">
            <a:no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90000"/>
              </a:lnSpc>
              <a:spcBef>
                <a:spcPct val="1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只看运算结果，不管进位</a:t>
            </a:r>
            <a:endParaRPr lang="zh-CN" altLang="en-US" sz="22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58180"/>
            <a:ext cx="8150621"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加法运算</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加法指令 </a:t>
            </a:r>
            <a:r>
              <a:rPr lang="en-US" altLang="zh-CN" sz="2400" dirty="0">
                <a:solidFill>
                  <a:schemeClr val="tx1"/>
                </a:solidFill>
                <a:latin typeface="+mn-lt"/>
              </a:rPr>
              <a:t>ADD</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带进位加法指令 </a:t>
            </a:r>
            <a:r>
              <a:rPr lang="en-US" altLang="zh-CN" sz="2400" dirty="0">
                <a:solidFill>
                  <a:schemeClr val="tx1"/>
                </a:solidFill>
                <a:latin typeface="+mn-lt"/>
              </a:rPr>
              <a:t>ADC</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增量指令 </a:t>
            </a:r>
            <a:r>
              <a:rPr lang="en-US" altLang="zh-CN" sz="2400" dirty="0">
                <a:solidFill>
                  <a:schemeClr val="tx1"/>
                </a:solidFill>
                <a:latin typeface="+mn-lt"/>
              </a:rPr>
              <a:t>INC</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对状态标志位的影响</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en-US" altLang="zh-CN" sz="2400" dirty="0">
                <a:solidFill>
                  <a:srgbClr val="FF0000"/>
                </a:solidFill>
                <a:latin typeface="+mn-lt"/>
              </a:rPr>
              <a:t>INC</a:t>
            </a:r>
            <a:r>
              <a:rPr lang="zh-CN" altLang="en-US" sz="2400" dirty="0">
                <a:solidFill>
                  <a:srgbClr val="FF0000"/>
                </a:solidFill>
                <a:latin typeface="+mn-lt"/>
              </a:rPr>
              <a:t>指令不影响进位标志</a:t>
            </a:r>
            <a:r>
              <a:rPr lang="en-US" altLang="zh-CN" sz="2400" dirty="0">
                <a:solidFill>
                  <a:srgbClr val="FF0000"/>
                </a:solidFill>
                <a:latin typeface="+mn-lt"/>
              </a:rPr>
              <a:t>CF</a:t>
            </a:r>
            <a:endParaRPr lang="en-US" altLang="zh-CN" sz="2400" dirty="0">
              <a:solidFill>
                <a:srgbClr val="FF0000"/>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其他指令按定义影响全部状态标志位，即按照运算结果相应设置各个状态标志为</a:t>
            </a:r>
            <a:r>
              <a:rPr lang="en-US" altLang="zh-CN" sz="2400" dirty="0">
                <a:solidFill>
                  <a:schemeClr val="tx1"/>
                </a:solidFill>
                <a:latin typeface="+mn-lt"/>
              </a:rPr>
              <a:t>0</a:t>
            </a:r>
            <a:r>
              <a:rPr lang="zh-CN" altLang="en-US" sz="2400" dirty="0">
                <a:solidFill>
                  <a:schemeClr val="tx1"/>
                </a:solidFill>
                <a:latin typeface="+mn-lt"/>
              </a:rPr>
              <a:t>或为</a:t>
            </a:r>
            <a:r>
              <a:rPr lang="en-US" altLang="zh-CN" sz="2400" dirty="0">
                <a:solidFill>
                  <a:schemeClr val="tx1"/>
                </a:solidFill>
                <a:latin typeface="+mn-lt"/>
              </a:rPr>
              <a:t>1</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3.5.2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加法指令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AutoShape 4"/>
          <p:cNvSpPr>
            <a:spLocks noChangeArrowheads="1"/>
          </p:cNvSpPr>
          <p:nvPr/>
        </p:nvSpPr>
        <p:spPr bwMode="auto">
          <a:xfrm>
            <a:off x="1057325" y="5157192"/>
            <a:ext cx="7547123" cy="970012"/>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数据传送类指令不影响（＝不改变）状态标志</a:t>
            </a:r>
            <a:endPar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加法和减法指令根据结果按定义改变状态标志</a:t>
            </a:r>
            <a:endPar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目的操作数加上源操作数，和送到目的操作数</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寄存器与立即数、寄存器、存储单元的加法</a:t>
            </a:r>
            <a:endParaRPr lang="zh-CN" altLang="en-US"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存储单元与立即数、寄存器的加法</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按照定义影响</a:t>
            </a:r>
            <a:r>
              <a:rPr lang="en-US" altLang="zh-CN" sz="2800" dirty="0">
                <a:latin typeface="+mn-lt"/>
              </a:rPr>
              <a:t>5</a:t>
            </a:r>
            <a:r>
              <a:rPr lang="zh-CN" altLang="en-US" sz="2800" dirty="0">
                <a:latin typeface="+mn-lt"/>
              </a:rPr>
              <a:t>个状态标志位</a:t>
            </a: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加法指令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ADD</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3501008"/>
            <a:ext cx="7488832" cy="315404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eax,0aaff7348h</a:t>
            </a:r>
            <a:r>
              <a:rPr lang="en-US" altLang="zh-CN" sz="2200" b="1"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AAFF7348H</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add al,27h			;al=48h+27h</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AAFF73</a:t>
            </a:r>
            <a:r>
              <a:rPr lang="en-US" altLang="zh-CN" sz="2200" dirty="0">
                <a:solidFill>
                  <a:srgbClr val="0000FF"/>
                </a:solidFill>
                <a:latin typeface="+mj-lt"/>
                <a:ea typeface="黑体" panose="02010609060101010101" pitchFamily="49" charset="-122"/>
              </a:rPr>
              <a:t>6FH</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SF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ZF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PF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add ax,3fffh			;ax=736fh+3fffh</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AAFF</a:t>
            </a:r>
            <a:r>
              <a:rPr lang="en-US" altLang="zh-CN" sz="2200" dirty="0">
                <a:solidFill>
                  <a:srgbClr val="0000FF"/>
                </a:solidFill>
                <a:latin typeface="+mj-lt"/>
                <a:ea typeface="黑体" panose="02010609060101010101" pitchFamily="49" charset="-122"/>
              </a:rPr>
              <a:t>B36EH</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zh-CN" altLang="en-US"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SF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r>
              <a:rPr lang="zh-CN" altLang="en-US"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ZF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r>
              <a:rPr lang="zh-CN" altLang="en-US"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PF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r>
              <a:rPr lang="zh-CN" altLang="en-US"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add eax,88000000h		;</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 0aaffb36eh+88000000h	</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0000FF"/>
                </a:solidFill>
                <a:latin typeface="+mj-lt"/>
                <a:ea typeface="黑体" panose="02010609060101010101" pitchFamily="49" charset="-122"/>
              </a:rPr>
              <a:t>32FFB36EH</a:t>
            </a:r>
            <a:r>
              <a:rPr lang="en-US" altLang="zh-CN" sz="2200" dirty="0">
                <a:solidFill>
                  <a:srgbClr val="FF0000"/>
                </a:solidFill>
                <a:latin typeface="+mj-lt"/>
                <a:ea typeface="黑体" panose="02010609060101010101" pitchFamily="49" charset="-122"/>
              </a:rPr>
              <a:t>, 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SF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ZF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PF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endParaRPr lang="en-US" altLang="zh-CN" sz="2200" dirty="0">
              <a:solidFill>
                <a:srgbClr val="00B050"/>
              </a:solidFill>
              <a:latin typeface="+mj-lt"/>
              <a:ea typeface="黑体" panose="02010609060101010101" pitchFamily="49" charset="-122"/>
            </a:endParaRPr>
          </a:p>
        </p:txBody>
      </p:sp>
      <p:sp>
        <p:nvSpPr>
          <p:cNvPr id="2" name="Rectangle 3"/>
          <p:cNvSpPr>
            <a:spLocks noChangeArrowheads="1"/>
          </p:cNvSpPr>
          <p:nvPr/>
        </p:nvSpPr>
        <p:spPr bwMode="auto">
          <a:xfrm>
            <a:off x="1115616" y="1350293"/>
            <a:ext cx="748883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ADD </a:t>
            </a:r>
            <a:r>
              <a:rPr lang="en-US" altLang="zh-CN" sz="2200" b="1" dirty="0" err="1">
                <a:solidFill>
                  <a:srgbClr val="FF0000"/>
                </a:solidFill>
                <a:latin typeface="+mj-lt"/>
                <a:ea typeface="黑体" panose="02010609060101010101" pitchFamily="49" charset="-122"/>
              </a:rPr>
              <a:t>dest,src</a:t>
            </a:r>
            <a:r>
              <a:rPr lang="en-US" altLang="zh-CN" sz="2200" b="1" dirty="0">
                <a:solidFill>
                  <a:srgbClr val="FF0000"/>
                </a:solidFill>
                <a:latin typeface="+mj-lt"/>
                <a:ea typeface="黑体" panose="02010609060101010101" pitchFamily="49" charset="-122"/>
              </a:rPr>
              <a:t>	;</a:t>
            </a:r>
            <a:r>
              <a:rPr lang="zh-CN" altLang="en-US" sz="2200" b="1" dirty="0">
                <a:solidFill>
                  <a:srgbClr val="FF0000"/>
                </a:solidFill>
                <a:latin typeface="+mj-lt"/>
                <a:ea typeface="黑体" panose="02010609060101010101" pitchFamily="49" charset="-122"/>
              </a:rPr>
              <a:t>加法：</a:t>
            </a:r>
            <a:r>
              <a:rPr lang="en-US" altLang="zh-CN" sz="2200" b="1" dirty="0" err="1">
                <a:solidFill>
                  <a:srgbClr val="FF0000"/>
                </a:solidFill>
                <a:latin typeface="+mj-lt"/>
                <a:ea typeface="黑体" panose="02010609060101010101" pitchFamily="49" charset="-122"/>
              </a:rPr>
              <a:t>dest←dest</a:t>
            </a:r>
            <a:r>
              <a:rPr lang="zh-CN" altLang="en-US" sz="2200" b="1" dirty="0">
                <a:solidFill>
                  <a:srgbClr val="FF0000"/>
                </a:solidFill>
                <a:latin typeface="+mj-lt"/>
                <a:ea typeface="黑体" panose="02010609060101010101" pitchFamily="49" charset="-122"/>
              </a:rPr>
              <a:t>＋</a:t>
            </a:r>
            <a:r>
              <a:rPr lang="en-US" altLang="zh-CN" sz="2200" b="1" dirty="0" err="1">
                <a:solidFill>
                  <a:srgbClr val="FF0000"/>
                </a:solidFill>
                <a:latin typeface="+mj-lt"/>
                <a:ea typeface="黑体" panose="02010609060101010101" pitchFamily="49" charset="-122"/>
              </a:rPr>
              <a:t>src</a:t>
            </a:r>
            <a:endParaRPr lang="en-US" altLang="zh-CN" sz="2200" dirty="0">
              <a:solidFill>
                <a:srgbClr val="00B050"/>
              </a:solidFill>
              <a:latin typeface="+mj-lt"/>
              <a:ea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92696"/>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两个操作数相加，再加</a:t>
            </a:r>
            <a:r>
              <a:rPr lang="en-US" altLang="zh-CN" sz="2800" dirty="0">
                <a:latin typeface="+mn-lt"/>
              </a:rPr>
              <a:t>CF</a:t>
            </a:r>
            <a:r>
              <a:rPr lang="zh-CN" altLang="en-US" sz="2800" dirty="0">
                <a:latin typeface="+mn-lt"/>
              </a:rPr>
              <a:t>，结果送目的操作数</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en-US" altLang="zh-CN" sz="24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按照定义影响</a:t>
            </a:r>
            <a:r>
              <a:rPr lang="en-US" altLang="zh-CN" sz="2800" dirty="0">
                <a:latin typeface="+mn-lt"/>
              </a:rPr>
              <a:t>5</a:t>
            </a:r>
            <a:r>
              <a:rPr lang="zh-CN" altLang="en-US" sz="2800" dirty="0">
                <a:latin typeface="+mn-lt"/>
              </a:rPr>
              <a:t>个状态标志位</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与</a:t>
            </a:r>
            <a:r>
              <a:rPr lang="en-US" altLang="zh-CN" sz="2800" dirty="0">
                <a:latin typeface="+mn-lt"/>
              </a:rPr>
              <a:t>ADD</a:t>
            </a:r>
            <a:r>
              <a:rPr lang="zh-CN" altLang="en-US" sz="2800" dirty="0">
                <a:latin typeface="+mn-lt"/>
              </a:rPr>
              <a:t>指令相结合实现多精度数的加法</a:t>
            </a:r>
            <a:endParaRPr lang="en-US" altLang="zh-CN"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先将两个操作数的低</a:t>
            </a:r>
            <a:r>
              <a:rPr lang="en-US" altLang="zh-CN" sz="2400" dirty="0">
                <a:solidFill>
                  <a:schemeClr val="tx1"/>
                </a:solidFill>
                <a:latin typeface="+mn-lt"/>
              </a:rPr>
              <a:t>32</a:t>
            </a:r>
            <a:r>
              <a:rPr lang="zh-CN" altLang="en-US" sz="2400" dirty="0">
                <a:solidFill>
                  <a:schemeClr val="tx1"/>
                </a:solidFill>
                <a:latin typeface="+mn-lt"/>
              </a:rPr>
              <a:t>位相加（</a:t>
            </a:r>
            <a:r>
              <a:rPr lang="en-US" altLang="zh-CN" sz="2400" dirty="0">
                <a:solidFill>
                  <a:schemeClr val="tx1"/>
                </a:solidFill>
                <a:latin typeface="+mn-lt"/>
              </a:rPr>
              <a:t>ADD</a:t>
            </a:r>
            <a:r>
              <a:rPr lang="zh-CN" altLang="en-US" sz="2400" dirty="0">
                <a:solidFill>
                  <a:schemeClr val="tx1"/>
                </a:solidFill>
                <a:latin typeface="+mn-lt"/>
              </a:rPr>
              <a:t>指令）</a:t>
            </a:r>
            <a:endParaRPr lang="zh-CN" altLang="en-US"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再加高</a:t>
            </a:r>
            <a:r>
              <a:rPr lang="en-US" altLang="zh-CN" sz="2400" dirty="0">
                <a:solidFill>
                  <a:schemeClr val="tx1"/>
                </a:solidFill>
                <a:latin typeface="+mn-lt"/>
              </a:rPr>
              <a:t>32</a:t>
            </a:r>
            <a:r>
              <a:rPr lang="zh-CN" altLang="en-US" sz="2400" dirty="0">
                <a:solidFill>
                  <a:schemeClr val="tx1"/>
                </a:solidFill>
                <a:latin typeface="+mn-lt"/>
              </a:rPr>
              <a:t>位部分、并将进位加到高位（</a:t>
            </a:r>
            <a:r>
              <a:rPr lang="en-US" altLang="zh-CN" sz="2400" dirty="0">
                <a:solidFill>
                  <a:schemeClr val="tx1"/>
                </a:solidFill>
                <a:latin typeface="+mn-lt"/>
              </a:rPr>
              <a:t>ADC</a:t>
            </a:r>
            <a:r>
              <a:rPr lang="zh-CN" altLang="en-US" sz="2400" dirty="0">
                <a:solidFill>
                  <a:schemeClr val="tx1"/>
                </a:solidFill>
                <a:latin typeface="+mn-lt"/>
              </a:rPr>
              <a:t>指令）</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带进位加法指令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ADC</a:t>
            </a:r>
            <a:r>
              <a:rPr kumimoji="1" lang="en-US" altLang="zh-CN" b="0" i="0" u="none" strike="noStrike" kern="0" cap="none" spc="0" normalizeH="0" baseline="0" noProof="0" dirty="0">
                <a:ln>
                  <a:noFill/>
                </a:ln>
                <a:solidFill>
                  <a:srgbClr val="000000"/>
                </a:solidFill>
                <a:effectLst/>
                <a:uLnTx/>
                <a:uFillTx/>
                <a:latin typeface="+mj-lt"/>
                <a:cs typeface="+mj-cs"/>
              </a:rPr>
              <a:t> (</a:t>
            </a:r>
            <a:r>
              <a:rPr lang="en-US" altLang="zh-CN" b="0" i="0" dirty="0">
                <a:solidFill>
                  <a:srgbClr val="202124"/>
                </a:solidFill>
                <a:effectLst/>
                <a:latin typeface="+mj-lt"/>
              </a:rPr>
              <a:t>Add with Carry</a:t>
            </a:r>
            <a:r>
              <a:rPr kumimoji="1" lang="en-US" altLang="zh-CN" b="0" i="0" u="none" strike="noStrike" kern="0" cap="none" spc="0" normalizeH="0" baseline="0" noProof="0" dirty="0">
                <a:ln>
                  <a:noFill/>
                </a:ln>
                <a:solidFill>
                  <a:srgbClr val="000000"/>
                </a:solidFill>
                <a:effectLst/>
                <a:uLnTx/>
                <a:uFillTx/>
                <a:latin typeface="+mj-lt"/>
                <a:cs typeface="+mj-cs"/>
              </a:rPr>
              <a:t>)</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15029"/>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4077072"/>
            <a:ext cx="7431682" cy="2736304"/>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14000"/>
              </a:lnSpc>
              <a:spcBef>
                <a:spcPts val="0"/>
              </a:spcBef>
              <a:buClr>
                <a:srgbClr val="0000FF"/>
              </a:buClr>
              <a:buSzPct val="100000"/>
              <a:buNone/>
              <a:defRPr/>
            </a:pPr>
            <a:r>
              <a:rPr lang="en-US" altLang="zh-CN" sz="2200" b="1" dirty="0">
                <a:solidFill>
                  <a:schemeClr val="tx1"/>
                </a:solidFill>
                <a:latin typeface="+mj-lt"/>
                <a:ea typeface="黑体" panose="02010609060101010101" pitchFamily="49" charset="-122"/>
              </a:rPr>
              <a:t>〔</a:t>
            </a:r>
            <a:r>
              <a:rPr lang="zh-CN" altLang="en-US" sz="2200" b="1" dirty="0">
                <a:solidFill>
                  <a:schemeClr val="tx1"/>
                </a:solidFill>
                <a:latin typeface="+mj-lt"/>
                <a:ea typeface="黑体" panose="02010609060101010101" pitchFamily="49" charset="-122"/>
              </a:rPr>
              <a:t>例</a:t>
            </a:r>
            <a:r>
              <a:rPr lang="en-US" altLang="zh-CN" sz="2200" b="1" dirty="0">
                <a:solidFill>
                  <a:schemeClr val="tx1"/>
                </a:solidFill>
                <a:latin typeface="+mj-lt"/>
                <a:ea typeface="黑体" panose="02010609060101010101" pitchFamily="49" charset="-122"/>
              </a:rPr>
              <a:t>3-4〕64</a:t>
            </a:r>
            <a:r>
              <a:rPr lang="zh-CN" altLang="en-US" sz="2200" b="1" dirty="0">
                <a:solidFill>
                  <a:schemeClr val="tx1"/>
                </a:solidFill>
                <a:latin typeface="+mj-lt"/>
                <a:ea typeface="黑体" panose="02010609060101010101" pitchFamily="49" charset="-122"/>
              </a:rPr>
              <a:t>位数据相加程序</a:t>
            </a:r>
            <a:endParaRPr lang="en-US" altLang="zh-CN" sz="2200" b="1" dirty="0">
              <a:solidFill>
                <a:schemeClr val="tx1"/>
              </a:solidFill>
              <a:latin typeface="+mj-lt"/>
              <a:ea typeface="黑体" panose="02010609060101010101" pitchFamily="49" charset="-122"/>
            </a:endParaRPr>
          </a:p>
          <a:p>
            <a:pPr marL="0" indent="0" algn="just">
              <a:lnSpc>
                <a:spcPct val="114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qvar1  qword 6778300082347856h	</a:t>
            </a:r>
            <a:r>
              <a:rPr lang="en-US" altLang="zh-CN" sz="2200" dirty="0">
                <a:solidFill>
                  <a:srgbClr val="FF0000"/>
                </a:solidFill>
                <a:latin typeface="+mj-lt"/>
                <a:ea typeface="黑体" panose="02010609060101010101" pitchFamily="49" charset="-122"/>
              </a:rPr>
              <a:t>;64</a:t>
            </a:r>
            <a:r>
              <a:rPr lang="zh-CN" altLang="en-US" sz="2200" dirty="0">
                <a:solidFill>
                  <a:srgbClr val="FF0000"/>
                </a:solidFill>
                <a:latin typeface="+mj-lt"/>
                <a:ea typeface="黑体" panose="02010609060101010101" pitchFamily="49" charset="-122"/>
              </a:rPr>
              <a:t>位数据</a:t>
            </a:r>
            <a:r>
              <a:rPr lang="en-US" altLang="zh-CN" sz="2200" dirty="0">
                <a:solidFill>
                  <a:srgbClr val="FF0000"/>
                </a:solidFill>
                <a:latin typeface="+mj-lt"/>
                <a:ea typeface="黑体" panose="02010609060101010101" pitchFamily="49" charset="-122"/>
              </a:rPr>
              <a:t>1</a:t>
            </a:r>
            <a:endParaRPr lang="en-US" altLang="zh-CN" sz="2200" dirty="0">
              <a:solidFill>
                <a:srgbClr val="FF0000"/>
              </a:solidFill>
              <a:latin typeface="+mj-lt"/>
              <a:ea typeface="黑体" panose="02010609060101010101" pitchFamily="49" charset="-122"/>
            </a:endParaRPr>
          </a:p>
          <a:p>
            <a:pPr marL="0" indent="0" algn="just">
              <a:lnSpc>
                <a:spcPct val="114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qvar2  qword 6776200012348998h	</a:t>
            </a:r>
            <a:r>
              <a:rPr lang="en-US" altLang="zh-CN" sz="2200" dirty="0">
                <a:solidFill>
                  <a:srgbClr val="FF0000"/>
                </a:solidFill>
                <a:latin typeface="+mj-lt"/>
                <a:ea typeface="黑体" panose="02010609060101010101" pitchFamily="49" charset="-122"/>
              </a:rPr>
              <a:t>;64</a:t>
            </a:r>
            <a:r>
              <a:rPr lang="zh-CN" altLang="en-US" sz="2200" dirty="0">
                <a:solidFill>
                  <a:srgbClr val="FF0000"/>
                </a:solidFill>
                <a:latin typeface="+mj-lt"/>
                <a:ea typeface="黑体" panose="02010609060101010101" pitchFamily="49" charset="-122"/>
              </a:rPr>
              <a:t>位数据</a:t>
            </a:r>
            <a:endParaRPr lang="zh-CN" altLang="en-US" sz="2200" dirty="0">
              <a:solidFill>
                <a:srgbClr val="FF0000"/>
              </a:solidFill>
              <a:latin typeface="+mj-lt"/>
              <a:ea typeface="黑体" panose="02010609060101010101" pitchFamily="49" charset="-122"/>
            </a:endParaRPr>
          </a:p>
          <a:p>
            <a:pPr marL="0" indent="0" algn="just">
              <a:lnSpc>
                <a:spcPct val="114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dword</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ptr</a:t>
            </a:r>
            <a:r>
              <a:rPr lang="en-US" altLang="zh-CN" sz="2200" b="1" dirty="0">
                <a:solidFill>
                  <a:srgbClr val="00B050"/>
                </a:solidFill>
                <a:latin typeface="+mj-lt"/>
                <a:ea typeface="黑体" panose="02010609060101010101" pitchFamily="49" charset="-122"/>
              </a:rPr>
              <a:t> [qvar1]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取低</a:t>
            </a:r>
            <a:r>
              <a:rPr lang="en-US" altLang="zh-CN" sz="2200" dirty="0">
                <a:solidFill>
                  <a:srgbClr val="FF0000"/>
                </a:solidFill>
                <a:latin typeface="+mj-lt"/>
                <a:ea typeface="黑体" panose="02010609060101010101" pitchFamily="49" charset="-122"/>
              </a:rPr>
              <a:t>32</a:t>
            </a:r>
            <a:r>
              <a:rPr lang="zh-CN" altLang="en-US" sz="2200" dirty="0">
                <a:solidFill>
                  <a:srgbClr val="FF0000"/>
                </a:solidFill>
                <a:latin typeface="+mj-lt"/>
                <a:ea typeface="黑体" panose="02010609060101010101" pitchFamily="49" charset="-122"/>
              </a:rPr>
              <a:t>位</a:t>
            </a:r>
            <a:endParaRPr lang="zh-CN" altLang="en-US" sz="2200" dirty="0">
              <a:solidFill>
                <a:srgbClr val="FF0000"/>
              </a:solidFill>
              <a:latin typeface="+mj-lt"/>
              <a:ea typeface="黑体" panose="02010609060101010101" pitchFamily="49" charset="-122"/>
            </a:endParaRPr>
          </a:p>
          <a:p>
            <a:pPr marL="0" indent="0" algn="just">
              <a:lnSpc>
                <a:spcPct val="114000"/>
              </a:lnSpc>
              <a:spcBef>
                <a:spcPts val="0"/>
              </a:spcBef>
              <a:buClr>
                <a:srgbClr val="0000FF"/>
              </a:buClr>
              <a:buSzPct val="100000"/>
              <a:buNone/>
              <a:defRPr/>
            </a:pPr>
            <a:r>
              <a:rPr lang="en-US" altLang="zh-CN" sz="2200" b="1" dirty="0">
                <a:solidFill>
                  <a:srgbClr val="0000FF"/>
                </a:solidFill>
                <a:latin typeface="+mj-lt"/>
                <a:ea typeface="黑体" panose="02010609060101010101" pitchFamily="49" charset="-122"/>
              </a:rPr>
              <a:t>add</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dword</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ptr</a:t>
            </a:r>
            <a:r>
              <a:rPr lang="en-US" altLang="zh-CN" sz="2200" b="1" dirty="0">
                <a:solidFill>
                  <a:srgbClr val="00B050"/>
                </a:solidFill>
                <a:latin typeface="+mj-lt"/>
                <a:ea typeface="黑体" panose="02010609060101010101" pitchFamily="49" charset="-122"/>
              </a:rPr>
              <a:t> [qvar2]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加低</a:t>
            </a:r>
            <a:r>
              <a:rPr lang="en-US" altLang="zh-CN" sz="2200" dirty="0">
                <a:solidFill>
                  <a:srgbClr val="FF0000"/>
                </a:solidFill>
                <a:latin typeface="+mj-lt"/>
                <a:ea typeface="黑体" panose="02010609060101010101" pitchFamily="49" charset="-122"/>
              </a:rPr>
              <a:t>32</a:t>
            </a:r>
            <a:r>
              <a:rPr lang="zh-CN" altLang="en-US" sz="2200" dirty="0">
                <a:solidFill>
                  <a:srgbClr val="FF0000"/>
                </a:solidFill>
                <a:latin typeface="+mj-lt"/>
                <a:ea typeface="黑体" panose="02010609060101010101" pitchFamily="49" charset="-122"/>
              </a:rPr>
              <a:t>位，设置</a:t>
            </a:r>
            <a:r>
              <a:rPr lang="en-US" altLang="zh-CN" sz="2200" dirty="0">
                <a:solidFill>
                  <a:srgbClr val="FF0000"/>
                </a:solidFill>
                <a:latin typeface="+mj-lt"/>
                <a:ea typeface="黑体" panose="02010609060101010101" pitchFamily="49" charset="-122"/>
              </a:rPr>
              <a:t>CF</a:t>
            </a:r>
            <a:endParaRPr lang="en-US" altLang="zh-CN" sz="2200" dirty="0">
              <a:solidFill>
                <a:srgbClr val="FF0000"/>
              </a:solidFill>
              <a:latin typeface="+mj-lt"/>
              <a:ea typeface="黑体" panose="02010609060101010101" pitchFamily="49" charset="-122"/>
            </a:endParaRPr>
          </a:p>
          <a:p>
            <a:pPr marL="0" indent="0" algn="just">
              <a:lnSpc>
                <a:spcPct val="114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a:t>
            </a:r>
            <a:r>
              <a:rPr lang="en-US" altLang="zh-CN" sz="2200" b="1" dirty="0" err="1">
                <a:solidFill>
                  <a:srgbClr val="00B050"/>
                </a:solidFill>
                <a:latin typeface="+mj-lt"/>
                <a:ea typeface="黑体" panose="02010609060101010101" pitchFamily="49" charset="-122"/>
              </a:rPr>
              <a:t>edx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dword</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ptr</a:t>
            </a:r>
            <a:r>
              <a:rPr lang="en-US" altLang="zh-CN" sz="2200" b="1" dirty="0">
                <a:solidFill>
                  <a:srgbClr val="00B050"/>
                </a:solidFill>
                <a:latin typeface="+mj-lt"/>
                <a:ea typeface="黑体" panose="02010609060101010101" pitchFamily="49" charset="-122"/>
              </a:rPr>
              <a:t> [qvar1+4]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取高</a:t>
            </a:r>
            <a:r>
              <a:rPr lang="en-US" altLang="zh-CN" sz="2200" dirty="0">
                <a:solidFill>
                  <a:srgbClr val="FF0000"/>
                </a:solidFill>
                <a:latin typeface="+mj-lt"/>
                <a:ea typeface="黑体" panose="02010609060101010101" pitchFamily="49" charset="-122"/>
              </a:rPr>
              <a:t>32</a:t>
            </a:r>
            <a:r>
              <a:rPr lang="zh-CN" altLang="en-US" sz="2200" dirty="0">
                <a:solidFill>
                  <a:srgbClr val="FF0000"/>
                </a:solidFill>
                <a:latin typeface="+mj-lt"/>
                <a:ea typeface="黑体" panose="02010609060101010101" pitchFamily="49" charset="-122"/>
              </a:rPr>
              <a:t>位</a:t>
            </a:r>
            <a:endParaRPr lang="zh-CN" altLang="en-US" sz="2200" dirty="0">
              <a:solidFill>
                <a:srgbClr val="FF0000"/>
              </a:solidFill>
              <a:latin typeface="+mj-lt"/>
              <a:ea typeface="黑体" panose="02010609060101010101" pitchFamily="49" charset="-122"/>
            </a:endParaRPr>
          </a:p>
          <a:p>
            <a:pPr marL="0" indent="0" algn="just">
              <a:lnSpc>
                <a:spcPct val="114000"/>
              </a:lnSpc>
              <a:spcBef>
                <a:spcPts val="0"/>
              </a:spcBef>
              <a:buClr>
                <a:srgbClr val="0000FF"/>
              </a:buClr>
              <a:buSzPct val="100000"/>
              <a:buNone/>
              <a:defRPr/>
            </a:pPr>
            <a:r>
              <a:rPr lang="en-US" altLang="zh-CN" sz="2200" b="1" dirty="0" err="1">
                <a:solidFill>
                  <a:srgbClr val="0000FF"/>
                </a:solidFill>
                <a:latin typeface="+mj-lt"/>
                <a:ea typeface="黑体" panose="02010609060101010101" pitchFamily="49" charset="-122"/>
              </a:rPr>
              <a:t>adc</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edx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dword</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ptr</a:t>
            </a:r>
            <a:r>
              <a:rPr lang="en-US" altLang="zh-CN" sz="2200" b="1" dirty="0">
                <a:solidFill>
                  <a:srgbClr val="00B050"/>
                </a:solidFill>
                <a:latin typeface="+mj-lt"/>
                <a:ea typeface="黑体" panose="02010609060101010101" pitchFamily="49" charset="-122"/>
              </a:rPr>
              <a:t> [qvar2+4]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加高</a:t>
            </a:r>
            <a:r>
              <a:rPr lang="en-US" altLang="zh-CN" sz="2200" dirty="0">
                <a:solidFill>
                  <a:srgbClr val="FF0000"/>
                </a:solidFill>
                <a:latin typeface="+mj-lt"/>
                <a:ea typeface="黑体" panose="02010609060101010101" pitchFamily="49" charset="-122"/>
              </a:rPr>
              <a:t>32</a:t>
            </a:r>
            <a:r>
              <a:rPr lang="zh-CN" altLang="en-US" sz="2200" dirty="0">
                <a:solidFill>
                  <a:srgbClr val="FF0000"/>
                </a:solidFill>
                <a:latin typeface="+mj-lt"/>
                <a:ea typeface="黑体" panose="02010609060101010101" pitchFamily="49" charset="-122"/>
              </a:rPr>
              <a:t>位，同时加</a:t>
            </a:r>
            <a:r>
              <a:rPr lang="en-US" altLang="zh-CN" sz="2200" dirty="0">
                <a:solidFill>
                  <a:srgbClr val="FF0000"/>
                </a:solidFill>
                <a:latin typeface="+mj-lt"/>
                <a:ea typeface="黑体" panose="02010609060101010101" pitchFamily="49" charset="-122"/>
              </a:rPr>
              <a:t>CF</a:t>
            </a:r>
            <a:endParaRPr lang="en-US" altLang="zh-CN" sz="2200" dirty="0">
              <a:solidFill>
                <a:srgbClr val="FF0000"/>
              </a:solidFill>
              <a:latin typeface="+mj-lt"/>
              <a:ea typeface="黑体" panose="02010609060101010101" pitchFamily="49" charset="-122"/>
            </a:endParaRPr>
          </a:p>
        </p:txBody>
      </p:sp>
      <p:sp>
        <p:nvSpPr>
          <p:cNvPr id="2" name="Rectangle 3"/>
          <p:cNvSpPr>
            <a:spLocks noChangeArrowheads="1"/>
          </p:cNvSpPr>
          <p:nvPr/>
        </p:nvSpPr>
        <p:spPr bwMode="auto">
          <a:xfrm>
            <a:off x="1115616" y="1340768"/>
            <a:ext cx="743168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ADC </a:t>
            </a:r>
            <a:r>
              <a:rPr lang="en-US" altLang="zh-CN" sz="2200" b="1" dirty="0" err="1">
                <a:solidFill>
                  <a:srgbClr val="FF0000"/>
                </a:solidFill>
                <a:latin typeface="+mj-lt"/>
                <a:ea typeface="黑体" panose="02010609060101010101" pitchFamily="49" charset="-122"/>
              </a:rPr>
              <a:t>dest,src</a:t>
            </a:r>
            <a:r>
              <a:rPr lang="en-US" altLang="zh-CN" sz="2200" b="1" dirty="0">
                <a:solidFill>
                  <a:srgbClr val="FF0000"/>
                </a:solidFill>
                <a:latin typeface="+mj-lt"/>
                <a:ea typeface="黑体" panose="02010609060101010101" pitchFamily="49" charset="-122"/>
              </a:rPr>
              <a:t>	;</a:t>
            </a:r>
            <a:r>
              <a:rPr lang="zh-CN" altLang="en-US" sz="2200" b="1" dirty="0">
                <a:solidFill>
                  <a:srgbClr val="FF0000"/>
                </a:solidFill>
                <a:latin typeface="+mj-lt"/>
                <a:ea typeface="黑体" panose="02010609060101010101" pitchFamily="49" charset="-122"/>
              </a:rPr>
              <a:t>带进位加法：</a:t>
            </a:r>
            <a:r>
              <a:rPr lang="en-US" altLang="zh-CN" sz="2200" b="1" dirty="0" err="1">
                <a:solidFill>
                  <a:srgbClr val="FF0000"/>
                </a:solidFill>
                <a:latin typeface="+mj-lt"/>
                <a:ea typeface="黑体" panose="02010609060101010101" pitchFamily="49" charset="-122"/>
              </a:rPr>
              <a:t>dest←dest</a:t>
            </a:r>
            <a:r>
              <a:rPr lang="zh-CN" altLang="en-US" sz="2200" b="1" dirty="0">
                <a:solidFill>
                  <a:srgbClr val="FF0000"/>
                </a:solidFill>
                <a:latin typeface="+mj-lt"/>
                <a:ea typeface="黑体" panose="02010609060101010101" pitchFamily="49" charset="-122"/>
              </a:rPr>
              <a:t>＋</a:t>
            </a:r>
            <a:r>
              <a:rPr lang="en-US" altLang="zh-CN" sz="2200" b="1" dirty="0" err="1">
                <a:solidFill>
                  <a:srgbClr val="FF0000"/>
                </a:solidFill>
                <a:latin typeface="+mj-lt"/>
                <a:ea typeface="黑体" panose="02010609060101010101" pitchFamily="49" charset="-122"/>
              </a:rPr>
              <a:t>src</a:t>
            </a:r>
            <a:r>
              <a:rPr lang="zh-CN" altLang="en-US" sz="2200" b="1" dirty="0">
                <a:solidFill>
                  <a:srgbClr val="FF0000"/>
                </a:solidFill>
                <a:latin typeface="+mj-lt"/>
                <a:ea typeface="黑体" panose="02010609060101010101" pitchFamily="49" charset="-122"/>
              </a:rPr>
              <a:t>＋</a:t>
            </a:r>
            <a:r>
              <a:rPr lang="en-US" altLang="zh-CN" sz="2200" b="1" dirty="0">
                <a:solidFill>
                  <a:srgbClr val="FF0000"/>
                </a:solidFill>
                <a:latin typeface="+mj-lt"/>
                <a:ea typeface="黑体" panose="02010609060101010101" pitchFamily="49" charset="-122"/>
              </a:rPr>
              <a:t>CF</a:t>
            </a:r>
            <a:endParaRPr lang="en-US" altLang="zh-CN" sz="2200" dirty="0">
              <a:solidFill>
                <a:srgbClr val="00B050"/>
              </a:solidFill>
              <a:latin typeface="+mj-lt"/>
              <a:ea typeface="黑体" panose="02010609060101010101" pitchFamily="49"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只有一个操作数：寄存器或存储单元</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对操作数加</a:t>
            </a:r>
            <a:r>
              <a:rPr lang="en-US" altLang="zh-CN" sz="2800" dirty="0">
                <a:latin typeface="+mn-lt"/>
              </a:rPr>
              <a:t>1</a:t>
            </a:r>
            <a:r>
              <a:rPr lang="zh-CN" altLang="en-US" sz="2800" dirty="0">
                <a:latin typeface="+mn-lt"/>
              </a:rPr>
              <a:t>（增量）再将结果返回原处</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en-US" altLang="zh-CN"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用于计数器和地址指针的调整</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solidFill>
                  <a:srgbClr val="FF0000"/>
                </a:solidFill>
                <a:latin typeface="+mn-lt"/>
              </a:rPr>
              <a:t>不影响进位</a:t>
            </a:r>
            <a:r>
              <a:rPr lang="en-US" altLang="zh-CN" sz="2800" dirty="0">
                <a:solidFill>
                  <a:srgbClr val="FF0000"/>
                </a:solidFill>
                <a:latin typeface="+mn-lt"/>
              </a:rPr>
              <a:t>CF</a:t>
            </a:r>
            <a:r>
              <a:rPr lang="zh-CN" altLang="en-US" sz="2800" dirty="0">
                <a:solidFill>
                  <a:srgbClr val="FF0000"/>
                </a:solidFill>
                <a:latin typeface="+mn-lt"/>
              </a:rPr>
              <a:t>标志</a:t>
            </a:r>
            <a:r>
              <a:rPr lang="zh-CN" altLang="en-US" sz="2800" dirty="0">
                <a:latin typeface="+mn-lt"/>
              </a:rPr>
              <a:t>，影响其他状态标志位</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增量指令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INC</a:t>
            </a:r>
            <a:r>
              <a:rPr lang="en-US" altLang="zh-CN" kern="0" dirty="0">
                <a:solidFill>
                  <a:srgbClr val="000000"/>
                </a:solidFill>
                <a:latin typeface="+mj-lt"/>
                <a:cs typeface="+mj-cs"/>
              </a:rPr>
              <a:t> (Increment by 1)</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3980779"/>
            <a:ext cx="7431682" cy="189649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inc</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ecx</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inc</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esi</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inc</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wvar</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inc</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dvar</a:t>
            </a:r>
            <a:r>
              <a:rPr lang="en-US" altLang="zh-CN" sz="2200" b="1" dirty="0">
                <a:solidFill>
                  <a:srgbClr val="00B050"/>
                </a:solidFill>
                <a:latin typeface="+mj-lt"/>
                <a:ea typeface="黑体" panose="02010609060101010101" pitchFamily="49" charset="-122"/>
              </a:rPr>
              <a:t>[</a:t>
            </a:r>
            <a:r>
              <a:rPr lang="en-US" altLang="zh-CN" sz="2200" b="1" dirty="0" err="1">
                <a:solidFill>
                  <a:srgbClr val="00B050"/>
                </a:solidFill>
                <a:latin typeface="+mj-lt"/>
                <a:ea typeface="黑体" panose="02010609060101010101" pitchFamily="49" charset="-122"/>
              </a:rPr>
              <a:t>ebx+edi</a:t>
            </a:r>
            <a:r>
              <a:rPr lang="en-US" altLang="zh-CN" sz="2200" b="1" dirty="0">
                <a:solidFill>
                  <a:srgbClr val="00B050"/>
                </a:solidFill>
                <a:latin typeface="+mj-lt"/>
                <a:ea typeface="黑体" panose="02010609060101010101" pitchFamily="49" charset="-122"/>
              </a:rPr>
              <a:t>]</a:t>
            </a:r>
            <a:endParaRPr lang="en-US" altLang="zh-CN" sz="2200" dirty="0">
              <a:solidFill>
                <a:srgbClr val="FF0000"/>
              </a:solidFill>
              <a:latin typeface="+mj-lt"/>
              <a:ea typeface="黑体" panose="02010609060101010101" pitchFamily="49" charset="-122"/>
            </a:endParaRPr>
          </a:p>
        </p:txBody>
      </p:sp>
      <p:sp>
        <p:nvSpPr>
          <p:cNvPr id="2" name="Rectangle 3"/>
          <p:cNvSpPr>
            <a:spLocks noChangeArrowheads="1"/>
          </p:cNvSpPr>
          <p:nvPr/>
        </p:nvSpPr>
        <p:spPr bwMode="auto">
          <a:xfrm>
            <a:off x="1115616" y="2026940"/>
            <a:ext cx="743168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INC reg/mem	;</a:t>
            </a:r>
            <a:r>
              <a:rPr lang="zh-CN" altLang="en-US" sz="2200" b="1" dirty="0">
                <a:solidFill>
                  <a:srgbClr val="FF0000"/>
                </a:solidFill>
                <a:latin typeface="+mj-lt"/>
                <a:ea typeface="黑体" panose="02010609060101010101" pitchFamily="49" charset="-122"/>
              </a:rPr>
              <a:t>加</a:t>
            </a:r>
            <a:r>
              <a:rPr lang="en-US" altLang="zh-CN" sz="2200" b="1" dirty="0">
                <a:solidFill>
                  <a:srgbClr val="FF0000"/>
                </a:solidFill>
                <a:latin typeface="+mj-lt"/>
                <a:ea typeface="黑体" panose="02010609060101010101" pitchFamily="49" charset="-122"/>
              </a:rPr>
              <a:t>1</a:t>
            </a:r>
            <a:r>
              <a:rPr lang="zh-CN" altLang="en-US" sz="2200" b="1" dirty="0">
                <a:solidFill>
                  <a:srgbClr val="FF0000"/>
                </a:solidFill>
                <a:latin typeface="+mj-lt"/>
                <a:ea typeface="黑体" panose="02010609060101010101" pitchFamily="49" charset="-122"/>
              </a:rPr>
              <a:t>：</a:t>
            </a:r>
            <a:r>
              <a:rPr lang="en-US" altLang="zh-CN" sz="2200" b="1" dirty="0">
                <a:solidFill>
                  <a:srgbClr val="FF0000"/>
                </a:solidFill>
                <a:latin typeface="+mj-lt"/>
                <a:ea typeface="黑体" panose="02010609060101010101" pitchFamily="49" charset="-122"/>
              </a:rPr>
              <a:t>reg/</a:t>
            </a:r>
            <a:r>
              <a:rPr lang="en-US" altLang="zh-CN" sz="2200" b="1" dirty="0" err="1">
                <a:solidFill>
                  <a:srgbClr val="FF0000"/>
                </a:solidFill>
                <a:latin typeface="+mj-lt"/>
                <a:ea typeface="黑体" panose="02010609060101010101" pitchFamily="49" charset="-122"/>
              </a:rPr>
              <a:t>mem←reg</a:t>
            </a:r>
            <a:r>
              <a:rPr lang="en-US" altLang="zh-CN" sz="2200" b="1" dirty="0">
                <a:solidFill>
                  <a:srgbClr val="FF0000"/>
                </a:solidFill>
                <a:latin typeface="+mj-lt"/>
                <a:ea typeface="黑体" panose="02010609060101010101" pitchFamily="49" charset="-122"/>
              </a:rPr>
              <a:t>/mem</a:t>
            </a:r>
            <a:r>
              <a:rPr lang="zh-CN" altLang="en-US" sz="2200" b="1" dirty="0">
                <a:solidFill>
                  <a:srgbClr val="FF0000"/>
                </a:solidFill>
                <a:latin typeface="+mj-lt"/>
                <a:ea typeface="黑体" panose="02010609060101010101" pitchFamily="49" charset="-122"/>
              </a:rPr>
              <a:t>＋</a:t>
            </a:r>
            <a:r>
              <a:rPr lang="en-US" altLang="zh-CN" sz="2200" b="1" dirty="0">
                <a:solidFill>
                  <a:srgbClr val="FF0000"/>
                </a:solidFill>
                <a:latin typeface="+mj-lt"/>
                <a:ea typeface="黑体" panose="02010609060101010101" pitchFamily="49" charset="-122"/>
              </a:rPr>
              <a:t>1</a:t>
            </a:r>
            <a:endParaRPr lang="en-US" altLang="zh-CN" sz="2200" b="1" dirty="0">
              <a:solidFill>
                <a:srgbClr val="FF0000"/>
              </a:solidFill>
              <a:latin typeface="+mj-lt"/>
              <a:ea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92696"/>
            <a:ext cx="8150621"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减法运算</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减法指令 </a:t>
            </a:r>
            <a:r>
              <a:rPr lang="en-US" altLang="zh-CN" sz="2400" dirty="0">
                <a:solidFill>
                  <a:schemeClr val="tx1"/>
                </a:solidFill>
                <a:latin typeface="+mn-lt"/>
              </a:rPr>
              <a:t>SUB</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带借位减法指令 </a:t>
            </a:r>
            <a:r>
              <a:rPr lang="en-US" altLang="zh-CN" sz="2400" dirty="0">
                <a:solidFill>
                  <a:schemeClr val="tx1"/>
                </a:solidFill>
                <a:latin typeface="+mn-lt"/>
              </a:rPr>
              <a:t>SBB</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减量指令 </a:t>
            </a:r>
            <a:r>
              <a:rPr lang="en-US" altLang="zh-CN" sz="2400" dirty="0">
                <a:solidFill>
                  <a:schemeClr val="tx1"/>
                </a:solidFill>
                <a:latin typeface="+mn-lt"/>
              </a:rPr>
              <a:t>DEC</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求补指令 </a:t>
            </a:r>
            <a:r>
              <a:rPr lang="en-US" altLang="zh-CN" sz="2400" dirty="0">
                <a:solidFill>
                  <a:schemeClr val="tx1"/>
                </a:solidFill>
                <a:latin typeface="+mn-lt"/>
              </a:rPr>
              <a:t>NEG</a:t>
            </a: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比较指令 </a:t>
            </a:r>
            <a:r>
              <a:rPr lang="en-US" altLang="zh-CN" sz="2400" dirty="0">
                <a:solidFill>
                  <a:schemeClr val="tx1"/>
                </a:solidFill>
                <a:latin typeface="+mn-lt"/>
              </a:rPr>
              <a:t>CMP</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对状态标志位的影响</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en-US" altLang="zh-CN" sz="2400" dirty="0">
                <a:solidFill>
                  <a:srgbClr val="FF0000"/>
                </a:solidFill>
                <a:latin typeface="+mn-lt"/>
              </a:rPr>
              <a:t>DEC</a:t>
            </a:r>
            <a:r>
              <a:rPr lang="zh-CN" altLang="en-US" sz="2400" dirty="0">
                <a:solidFill>
                  <a:srgbClr val="FF0000"/>
                </a:solidFill>
                <a:latin typeface="+mn-lt"/>
              </a:rPr>
              <a:t>不影响</a:t>
            </a:r>
            <a:r>
              <a:rPr lang="en-US" altLang="zh-CN" sz="2400" dirty="0">
                <a:solidFill>
                  <a:srgbClr val="FF0000"/>
                </a:solidFill>
                <a:latin typeface="+mn-lt"/>
              </a:rPr>
              <a:t>CF</a:t>
            </a:r>
            <a:r>
              <a:rPr lang="zh-CN" altLang="en-US" sz="2400" dirty="0">
                <a:solidFill>
                  <a:srgbClr val="FF0000"/>
                </a:solidFill>
                <a:latin typeface="+mn-lt"/>
              </a:rPr>
              <a:t>标志</a:t>
            </a:r>
            <a:endParaRPr lang="zh-CN" altLang="en-US" sz="2400" dirty="0">
              <a:solidFill>
                <a:srgbClr val="FF0000"/>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其他按定义影响全部状态标志位 </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3.2.3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减法指令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AutoShape 4"/>
          <p:cNvSpPr>
            <a:spLocks noChangeArrowheads="1"/>
          </p:cNvSpPr>
          <p:nvPr/>
        </p:nvSpPr>
        <p:spPr bwMode="auto">
          <a:xfrm>
            <a:off x="1066850" y="5589240"/>
            <a:ext cx="7547123" cy="970012"/>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数据传送类指令不影响（＝不改变）状态标志</a:t>
            </a:r>
            <a:endPar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加法和减法指令根据结果按定义改变状态标志</a:t>
            </a:r>
            <a:endPar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目的操作数减去源操作数，差送到目的操作数</a:t>
            </a:r>
            <a:endParaRPr lang="zh-CN" altLang="en-US"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endParaRPr lang="en-US" altLang="zh-CN"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寄存器与立即数、寄存器、存储单元的减法</a:t>
            </a:r>
            <a:endParaRPr lang="zh-CN" altLang="en-US"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存储单元与立即数、寄存器的减法</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按照定义影响</a:t>
            </a:r>
            <a:r>
              <a:rPr lang="en-US" altLang="zh-CN" sz="2800" dirty="0">
                <a:latin typeface="+mn-lt"/>
              </a:rPr>
              <a:t>5</a:t>
            </a:r>
            <a:r>
              <a:rPr lang="zh-CN" altLang="en-US" sz="2800" dirty="0">
                <a:latin typeface="+mn-lt"/>
              </a:rPr>
              <a:t>个状态标志位</a:t>
            </a: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减法指令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SUB</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3501008"/>
            <a:ext cx="7488832" cy="315404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eax,0aaff7348h  	</a:t>
            </a: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AAFF7348H</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sub al,27h			;al=48h-27h</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AAFF73</a:t>
            </a:r>
            <a:r>
              <a:rPr lang="en-US" altLang="zh-CN" sz="2200" dirty="0">
                <a:solidFill>
                  <a:srgbClr val="0000FF"/>
                </a:solidFill>
                <a:latin typeface="+mj-lt"/>
                <a:ea typeface="黑体" panose="02010609060101010101" pitchFamily="49" charset="-122"/>
              </a:rPr>
              <a:t>21H</a:t>
            </a:r>
            <a:r>
              <a:rPr lang="en-US" altLang="zh-CN" sz="2200" dirty="0">
                <a:solidFill>
                  <a:srgbClr val="FF0000"/>
                </a:solidFill>
                <a:latin typeface="+mj-lt"/>
                <a:ea typeface="黑体" panose="02010609060101010101" pitchFamily="49" charset="-122"/>
              </a:rPr>
              <a:t>, 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SF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ZF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PF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sub ax,3fffh			;ax=7321h-3fffh</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AAFF</a:t>
            </a:r>
            <a:r>
              <a:rPr lang="en-US" altLang="zh-CN" sz="2200" dirty="0">
                <a:solidFill>
                  <a:srgbClr val="0000FF"/>
                </a:solidFill>
                <a:latin typeface="+mj-lt"/>
                <a:ea typeface="黑体" panose="02010609060101010101" pitchFamily="49" charset="-122"/>
              </a:rPr>
              <a:t>3322H</a:t>
            </a:r>
            <a:r>
              <a:rPr lang="en-US" altLang="zh-CN" sz="2200" dirty="0">
                <a:solidFill>
                  <a:srgbClr val="FF0000"/>
                </a:solidFill>
                <a:latin typeface="+mj-lt"/>
                <a:ea typeface="黑体" panose="02010609060101010101" pitchFamily="49" charset="-122"/>
              </a:rPr>
              <a:t>, 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SF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ZF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PF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sub eax,0bb000000h	;</a:t>
            </a:r>
            <a:r>
              <a:rPr lang="en-US" altLang="zh-CN" sz="2200" b="1" dirty="0" err="1">
                <a:solidFill>
                  <a:srgbClr val="00B050"/>
                </a:solidFill>
                <a:latin typeface="+mj-lt"/>
                <a:ea typeface="黑体" panose="02010609060101010101" pitchFamily="49" charset="-122"/>
              </a:rPr>
              <a:t>eax</a:t>
            </a:r>
            <a:r>
              <a:rPr lang="en-US" altLang="zh-CN" sz="2200" b="1">
                <a:solidFill>
                  <a:srgbClr val="00B050"/>
                </a:solidFill>
                <a:latin typeface="+mj-lt"/>
                <a:ea typeface="黑体" panose="02010609060101010101" pitchFamily="49" charset="-122"/>
              </a:rPr>
              <a:t>= 0aaff3322h-0bb000000h</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dirty="0">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a:t>
            </a:r>
            <a:r>
              <a:rPr lang="en-US" altLang="zh-CN" sz="2200" dirty="0">
                <a:solidFill>
                  <a:srgbClr val="0000FF"/>
                </a:solidFill>
                <a:latin typeface="+mj-lt"/>
                <a:ea typeface="黑体" panose="02010609060101010101" pitchFamily="49" charset="-122"/>
              </a:rPr>
              <a:t>EFFF3322H</a:t>
            </a:r>
            <a:r>
              <a:rPr lang="en-US" altLang="zh-CN" sz="2200" dirty="0">
                <a:solidFill>
                  <a:srgbClr val="FF0000"/>
                </a:solidFill>
                <a:latin typeface="+mj-lt"/>
                <a:ea typeface="黑体" panose="02010609060101010101" pitchFamily="49" charset="-122"/>
              </a:rPr>
              <a:t>, OF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SF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ZF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0, PF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 CF</a:t>
            </a:r>
            <a:r>
              <a:rPr lang="zh-CN" altLang="en-US" sz="2200" dirty="0">
                <a:solidFill>
                  <a:srgbClr val="FF0000"/>
                </a:solidFill>
                <a:latin typeface="+mj-lt"/>
                <a:ea typeface="黑体" panose="02010609060101010101" pitchFamily="49" charset="-122"/>
              </a:rPr>
              <a:t>＝</a:t>
            </a:r>
            <a:r>
              <a:rPr lang="en-US" altLang="zh-CN" sz="2200" dirty="0">
                <a:solidFill>
                  <a:srgbClr val="FF0000"/>
                </a:solidFill>
                <a:latin typeface="+mj-lt"/>
                <a:ea typeface="黑体" panose="02010609060101010101" pitchFamily="49" charset="-122"/>
              </a:rPr>
              <a:t>1</a:t>
            </a:r>
            <a:endParaRPr lang="en-US" altLang="zh-CN" sz="2200" dirty="0">
              <a:solidFill>
                <a:srgbClr val="FF0000"/>
              </a:solidFill>
              <a:latin typeface="+mj-lt"/>
              <a:ea typeface="黑体" panose="02010609060101010101" pitchFamily="49" charset="-122"/>
            </a:endParaRPr>
          </a:p>
        </p:txBody>
      </p:sp>
      <p:sp>
        <p:nvSpPr>
          <p:cNvPr id="2" name="Rectangle 3"/>
          <p:cNvSpPr>
            <a:spLocks noChangeArrowheads="1"/>
          </p:cNvSpPr>
          <p:nvPr/>
        </p:nvSpPr>
        <p:spPr bwMode="auto">
          <a:xfrm>
            <a:off x="1115616" y="1350293"/>
            <a:ext cx="748883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SUB </a:t>
            </a:r>
            <a:r>
              <a:rPr lang="en-US" altLang="zh-CN" sz="2200" b="1" dirty="0" err="1">
                <a:solidFill>
                  <a:srgbClr val="FF0000"/>
                </a:solidFill>
                <a:latin typeface="+mj-lt"/>
                <a:ea typeface="黑体" panose="02010609060101010101" pitchFamily="49" charset="-122"/>
              </a:rPr>
              <a:t>dest</a:t>
            </a:r>
            <a:r>
              <a:rPr lang="en-US" altLang="zh-CN" sz="2200" b="1" dirty="0">
                <a:solidFill>
                  <a:srgbClr val="FF0000"/>
                </a:solidFill>
                <a:latin typeface="+mj-lt"/>
                <a:ea typeface="黑体" panose="02010609060101010101" pitchFamily="49" charset="-122"/>
              </a:rPr>
              <a:t>, </a:t>
            </a:r>
            <a:r>
              <a:rPr lang="en-US" altLang="zh-CN" sz="2200" b="1" dirty="0" err="1">
                <a:solidFill>
                  <a:srgbClr val="FF0000"/>
                </a:solidFill>
                <a:latin typeface="+mj-lt"/>
                <a:ea typeface="黑体" panose="02010609060101010101" pitchFamily="49" charset="-122"/>
              </a:rPr>
              <a:t>src</a:t>
            </a:r>
            <a:r>
              <a:rPr lang="en-US" altLang="zh-CN" sz="2200" b="1" dirty="0">
                <a:solidFill>
                  <a:srgbClr val="FF0000"/>
                </a:solidFill>
                <a:latin typeface="+mj-lt"/>
                <a:ea typeface="黑体" panose="02010609060101010101" pitchFamily="49" charset="-122"/>
              </a:rPr>
              <a:t>   		;</a:t>
            </a:r>
            <a:r>
              <a:rPr lang="zh-CN" altLang="en-US" sz="2200" b="1" dirty="0">
                <a:solidFill>
                  <a:srgbClr val="FF0000"/>
                </a:solidFill>
                <a:latin typeface="+mj-lt"/>
                <a:ea typeface="黑体" panose="02010609060101010101" pitchFamily="49" charset="-122"/>
              </a:rPr>
              <a:t>减法：</a:t>
            </a:r>
            <a:r>
              <a:rPr lang="en-US" altLang="zh-CN" sz="2200" b="1" dirty="0" err="1">
                <a:solidFill>
                  <a:srgbClr val="FF0000"/>
                </a:solidFill>
                <a:latin typeface="+mj-lt"/>
                <a:ea typeface="黑体" panose="02010609060101010101" pitchFamily="49" charset="-122"/>
              </a:rPr>
              <a:t>dest←dest-src</a:t>
            </a:r>
            <a:endParaRPr lang="en-US" altLang="zh-CN" sz="2200" dirty="0">
              <a:solidFill>
                <a:srgbClr val="00B050"/>
              </a:solidFill>
              <a:latin typeface="+mj-lt"/>
              <a:ea typeface="黑体" panose="02010609060101010101"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74229"/>
            <a:ext cx="8064896" cy="5268814"/>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目的操作数减去源操作数，再减</a:t>
            </a:r>
            <a:r>
              <a:rPr lang="en-US" altLang="zh-CN" sz="2800" dirty="0">
                <a:latin typeface="+mn-lt"/>
              </a:rPr>
              <a:t>CF</a:t>
            </a:r>
            <a:r>
              <a:rPr lang="zh-CN" altLang="en-US" sz="2800" dirty="0">
                <a:latin typeface="+mn-lt"/>
              </a:rPr>
              <a:t>，结果送目的操作数</a:t>
            </a: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en-US" altLang="zh-CN" sz="32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按照定义影响</a:t>
            </a:r>
            <a:r>
              <a:rPr lang="en-US" altLang="zh-CN" sz="2800" dirty="0">
                <a:latin typeface="+mn-lt"/>
              </a:rPr>
              <a:t>5</a:t>
            </a:r>
            <a:r>
              <a:rPr lang="zh-CN" altLang="en-US" sz="2800" dirty="0">
                <a:latin typeface="+mn-lt"/>
              </a:rPr>
              <a:t>个状态标志位</a:t>
            </a: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与</a:t>
            </a:r>
            <a:r>
              <a:rPr lang="en-US" altLang="zh-CN" sz="2800" dirty="0">
                <a:latin typeface="+mn-lt"/>
              </a:rPr>
              <a:t>SUB</a:t>
            </a:r>
            <a:r>
              <a:rPr lang="zh-CN" altLang="en-US" sz="2800" dirty="0">
                <a:latin typeface="+mn-lt"/>
              </a:rPr>
              <a:t>指令相结合实现多精度数的减法</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先将两个操作数的低</a:t>
            </a:r>
            <a:r>
              <a:rPr lang="en-US" altLang="zh-CN" sz="2400" dirty="0">
                <a:solidFill>
                  <a:schemeClr val="tx1"/>
                </a:solidFill>
                <a:latin typeface="+mn-lt"/>
              </a:rPr>
              <a:t>32</a:t>
            </a:r>
            <a:r>
              <a:rPr lang="zh-CN" altLang="en-US" sz="2400" dirty="0">
                <a:solidFill>
                  <a:schemeClr val="tx1"/>
                </a:solidFill>
                <a:latin typeface="+mn-lt"/>
              </a:rPr>
              <a:t>位相减（</a:t>
            </a:r>
            <a:r>
              <a:rPr lang="en-US" altLang="zh-CN" sz="2400" dirty="0">
                <a:solidFill>
                  <a:schemeClr val="tx1"/>
                </a:solidFill>
                <a:latin typeface="+mn-lt"/>
              </a:rPr>
              <a:t>SUB</a:t>
            </a:r>
            <a:r>
              <a:rPr lang="zh-CN" altLang="en-US" sz="2400" dirty="0">
                <a:solidFill>
                  <a:schemeClr val="tx1"/>
                </a:solidFill>
                <a:latin typeface="+mn-lt"/>
              </a:rPr>
              <a:t>指令）</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然后减高位部分、并减去借位（</a:t>
            </a:r>
            <a:r>
              <a:rPr lang="en-US" altLang="zh-CN" sz="2400" dirty="0">
                <a:solidFill>
                  <a:schemeClr val="tx1"/>
                </a:solidFill>
                <a:latin typeface="+mn-lt"/>
              </a:rPr>
              <a:t>SBB</a:t>
            </a:r>
            <a:r>
              <a:rPr lang="zh-CN" altLang="en-US" sz="2400" dirty="0">
                <a:solidFill>
                  <a:schemeClr val="tx1"/>
                </a:solidFill>
                <a:latin typeface="+mn-lt"/>
              </a:rPr>
              <a:t>指令）</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带借位减法指令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SBB</a:t>
            </a:r>
            <a:r>
              <a:rPr kumimoji="1" lang="en-US" altLang="zh-CN" b="0" i="0" u="none" strike="noStrike" kern="0" cap="none" spc="0" normalizeH="0" baseline="0" noProof="0" dirty="0">
                <a:ln>
                  <a:noFill/>
                </a:ln>
                <a:solidFill>
                  <a:srgbClr val="000000"/>
                </a:solidFill>
                <a:effectLst/>
                <a:uLnTx/>
                <a:uFillTx/>
                <a:latin typeface="+mj-lt"/>
                <a:cs typeface="+mj-cs"/>
              </a:rPr>
              <a:t> (Subtract with Borrow)</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115616" y="2017415"/>
            <a:ext cx="743168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SBB </a:t>
            </a:r>
            <a:r>
              <a:rPr lang="en-US" altLang="zh-CN" sz="2200" b="1" dirty="0" err="1">
                <a:solidFill>
                  <a:srgbClr val="FF0000"/>
                </a:solidFill>
                <a:latin typeface="+mj-lt"/>
                <a:ea typeface="黑体" panose="02010609060101010101" pitchFamily="49" charset="-122"/>
              </a:rPr>
              <a:t>dest</a:t>
            </a:r>
            <a:r>
              <a:rPr lang="en-US" altLang="zh-CN" sz="2200" b="1" dirty="0">
                <a:solidFill>
                  <a:srgbClr val="FF0000"/>
                </a:solidFill>
                <a:latin typeface="+mj-lt"/>
                <a:ea typeface="黑体" panose="02010609060101010101" pitchFamily="49" charset="-122"/>
              </a:rPr>
              <a:t>, </a:t>
            </a:r>
            <a:r>
              <a:rPr lang="en-US" altLang="zh-CN" sz="2200" b="1" dirty="0" err="1">
                <a:solidFill>
                  <a:srgbClr val="FF0000"/>
                </a:solidFill>
                <a:latin typeface="+mj-lt"/>
                <a:ea typeface="黑体" panose="02010609060101010101" pitchFamily="49" charset="-122"/>
              </a:rPr>
              <a:t>src</a:t>
            </a:r>
            <a:r>
              <a:rPr lang="en-US" altLang="zh-CN" sz="2200" b="1" dirty="0">
                <a:solidFill>
                  <a:srgbClr val="FF0000"/>
                </a:solidFill>
                <a:latin typeface="+mj-lt"/>
                <a:ea typeface="黑体" panose="02010609060101010101" pitchFamily="49" charset="-122"/>
              </a:rPr>
              <a:t>	       ;</a:t>
            </a:r>
            <a:r>
              <a:rPr lang="zh-CN" altLang="en-US" sz="2200" b="1" dirty="0">
                <a:solidFill>
                  <a:srgbClr val="FF0000"/>
                </a:solidFill>
                <a:latin typeface="+mj-lt"/>
                <a:ea typeface="黑体" panose="02010609060101010101" pitchFamily="49" charset="-122"/>
              </a:rPr>
              <a:t>带借位减法：</a:t>
            </a:r>
            <a:r>
              <a:rPr lang="en-US" altLang="zh-CN" sz="2200" b="1" dirty="0" err="1">
                <a:solidFill>
                  <a:srgbClr val="FF0000"/>
                </a:solidFill>
                <a:latin typeface="+mj-lt"/>
                <a:ea typeface="黑体" panose="02010609060101010101" pitchFamily="49" charset="-122"/>
              </a:rPr>
              <a:t>dest</a:t>
            </a:r>
            <a:r>
              <a:rPr lang="en-US" altLang="zh-CN" sz="2200" b="1" dirty="0">
                <a:solidFill>
                  <a:srgbClr val="FF0000"/>
                </a:solidFill>
                <a:latin typeface="+mj-lt"/>
                <a:ea typeface="黑体" panose="02010609060101010101" pitchFamily="49" charset="-122"/>
              </a:rPr>
              <a:t> ← </a:t>
            </a:r>
            <a:r>
              <a:rPr lang="en-US" altLang="zh-CN" sz="2200" b="1" dirty="0" err="1">
                <a:solidFill>
                  <a:srgbClr val="FF0000"/>
                </a:solidFill>
                <a:latin typeface="+mj-lt"/>
                <a:ea typeface="黑体" panose="02010609060101010101" pitchFamily="49" charset="-122"/>
              </a:rPr>
              <a:t>dest</a:t>
            </a:r>
            <a:r>
              <a:rPr lang="en-US" altLang="zh-CN" sz="2200" b="1" dirty="0">
                <a:solidFill>
                  <a:srgbClr val="FF0000"/>
                </a:solidFill>
                <a:latin typeface="+mj-lt"/>
                <a:ea typeface="黑体" panose="02010609060101010101" pitchFamily="49" charset="-122"/>
              </a:rPr>
              <a:t>–</a:t>
            </a:r>
            <a:r>
              <a:rPr lang="en-US" altLang="zh-CN" sz="2200" b="1" dirty="0" err="1">
                <a:solidFill>
                  <a:srgbClr val="FF0000"/>
                </a:solidFill>
                <a:latin typeface="+mj-lt"/>
                <a:ea typeface="黑体" panose="02010609060101010101" pitchFamily="49" charset="-122"/>
              </a:rPr>
              <a:t>src</a:t>
            </a:r>
            <a:r>
              <a:rPr lang="en-US" altLang="zh-CN" sz="2200" b="1" dirty="0">
                <a:solidFill>
                  <a:srgbClr val="FF0000"/>
                </a:solidFill>
                <a:latin typeface="+mj-lt"/>
                <a:ea typeface="黑体" panose="02010609060101010101" pitchFamily="49" charset="-122"/>
              </a:rPr>
              <a:t>–CF</a:t>
            </a:r>
            <a:endParaRPr lang="en-US" altLang="zh-CN" sz="2200" dirty="0">
              <a:solidFill>
                <a:srgbClr val="00B050"/>
              </a:solidFill>
              <a:latin typeface="+mj-lt"/>
              <a:ea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只有一个操作数：寄存器或存储单元</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对操作数减</a:t>
            </a:r>
            <a:r>
              <a:rPr lang="en-US" altLang="zh-CN" sz="2800" dirty="0">
                <a:latin typeface="+mn-lt"/>
              </a:rPr>
              <a:t>1</a:t>
            </a:r>
            <a:r>
              <a:rPr lang="zh-CN" altLang="en-US" sz="2800" dirty="0">
                <a:latin typeface="+mn-lt"/>
              </a:rPr>
              <a:t>（减量）再将结果返回原处</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en-US" altLang="zh-CN"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用于计数器和地址指针的调整</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solidFill>
                  <a:srgbClr val="FF0000"/>
                </a:solidFill>
                <a:latin typeface="+mn-lt"/>
              </a:rPr>
              <a:t>不影响进位</a:t>
            </a:r>
            <a:r>
              <a:rPr lang="en-US" altLang="zh-CN" sz="2800" dirty="0">
                <a:solidFill>
                  <a:srgbClr val="FF0000"/>
                </a:solidFill>
                <a:latin typeface="+mn-lt"/>
              </a:rPr>
              <a:t>CF</a:t>
            </a:r>
            <a:r>
              <a:rPr lang="zh-CN" altLang="en-US" sz="2800" dirty="0">
                <a:solidFill>
                  <a:srgbClr val="FF0000"/>
                </a:solidFill>
                <a:latin typeface="+mn-lt"/>
              </a:rPr>
              <a:t>标志</a:t>
            </a:r>
            <a:r>
              <a:rPr lang="zh-CN" altLang="en-US" sz="2800" dirty="0">
                <a:latin typeface="+mn-lt"/>
              </a:rPr>
              <a:t>，影响其他状态标志位</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减量指令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DEC</a:t>
            </a:r>
            <a:r>
              <a:rPr kumimoji="1" lang="en-US" altLang="zh-CN" b="0" i="0" u="none" strike="noStrike" kern="0" cap="none" spc="0" normalizeH="0" baseline="0" noProof="0" dirty="0">
                <a:ln>
                  <a:noFill/>
                </a:ln>
                <a:solidFill>
                  <a:srgbClr val="000000"/>
                </a:solidFill>
                <a:effectLst/>
                <a:uLnTx/>
                <a:uFillTx/>
                <a:latin typeface="+mj-lt"/>
                <a:cs typeface="+mj-cs"/>
              </a:rPr>
              <a:t> (Decrement by 1)</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3980779"/>
            <a:ext cx="7431682" cy="189649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dec </a:t>
            </a:r>
            <a:r>
              <a:rPr lang="en-US" altLang="zh-CN" sz="2200" b="1" dirty="0" err="1">
                <a:solidFill>
                  <a:srgbClr val="00B050"/>
                </a:solidFill>
                <a:latin typeface="+mj-lt"/>
                <a:ea typeface="黑体" panose="02010609060101010101" pitchFamily="49" charset="-122"/>
              </a:rPr>
              <a:t>ecx</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dec </a:t>
            </a:r>
            <a:r>
              <a:rPr lang="en-US" altLang="zh-CN" sz="2200" b="1" dirty="0" err="1">
                <a:solidFill>
                  <a:srgbClr val="00B050"/>
                </a:solidFill>
                <a:latin typeface="+mj-lt"/>
                <a:ea typeface="黑体" panose="02010609060101010101" pitchFamily="49" charset="-122"/>
              </a:rPr>
              <a:t>esi</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dec </a:t>
            </a:r>
            <a:r>
              <a:rPr lang="en-US" altLang="zh-CN" sz="2200" b="1" dirty="0" err="1">
                <a:solidFill>
                  <a:srgbClr val="00B050"/>
                </a:solidFill>
                <a:latin typeface="+mj-lt"/>
                <a:ea typeface="黑体" panose="02010609060101010101" pitchFamily="49" charset="-122"/>
              </a:rPr>
              <a:t>wvar</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dec </a:t>
            </a:r>
            <a:r>
              <a:rPr lang="en-US" altLang="zh-CN" sz="2200" b="1" dirty="0" err="1">
                <a:solidFill>
                  <a:srgbClr val="00B050"/>
                </a:solidFill>
                <a:latin typeface="+mj-lt"/>
                <a:ea typeface="黑体" panose="02010609060101010101" pitchFamily="49" charset="-122"/>
              </a:rPr>
              <a:t>dvar</a:t>
            </a:r>
            <a:r>
              <a:rPr lang="en-US" altLang="zh-CN" sz="2200" b="1" dirty="0">
                <a:solidFill>
                  <a:srgbClr val="00B050"/>
                </a:solidFill>
                <a:latin typeface="+mj-lt"/>
                <a:ea typeface="黑体" panose="02010609060101010101" pitchFamily="49" charset="-122"/>
              </a:rPr>
              <a:t>[</a:t>
            </a:r>
            <a:r>
              <a:rPr lang="en-US" altLang="zh-CN" sz="2200" b="1" dirty="0" err="1">
                <a:solidFill>
                  <a:srgbClr val="00B050"/>
                </a:solidFill>
                <a:latin typeface="+mj-lt"/>
                <a:ea typeface="黑体" panose="02010609060101010101" pitchFamily="49" charset="-122"/>
              </a:rPr>
              <a:t>ebx+edi</a:t>
            </a:r>
            <a:r>
              <a:rPr lang="en-US" altLang="zh-CN" sz="2200" b="1" dirty="0">
                <a:solidFill>
                  <a:srgbClr val="00B050"/>
                </a:solidFill>
                <a:latin typeface="+mj-lt"/>
                <a:ea typeface="黑体" panose="02010609060101010101" pitchFamily="49" charset="-122"/>
              </a:rPr>
              <a:t>]</a:t>
            </a:r>
            <a:endParaRPr lang="en-US" altLang="zh-CN" sz="2200" dirty="0">
              <a:solidFill>
                <a:srgbClr val="FF0000"/>
              </a:solidFill>
              <a:latin typeface="+mj-lt"/>
              <a:ea typeface="黑体" panose="02010609060101010101" pitchFamily="49" charset="-122"/>
            </a:endParaRPr>
          </a:p>
        </p:txBody>
      </p:sp>
      <p:sp>
        <p:nvSpPr>
          <p:cNvPr id="2" name="Rectangle 3"/>
          <p:cNvSpPr>
            <a:spLocks noChangeArrowheads="1"/>
          </p:cNvSpPr>
          <p:nvPr/>
        </p:nvSpPr>
        <p:spPr bwMode="auto">
          <a:xfrm>
            <a:off x="1115616" y="2026940"/>
            <a:ext cx="743168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DEC reg/mem		;</a:t>
            </a:r>
            <a:r>
              <a:rPr lang="zh-CN" altLang="en-US" sz="2200" b="1" dirty="0">
                <a:solidFill>
                  <a:srgbClr val="FF0000"/>
                </a:solidFill>
                <a:latin typeface="+mj-lt"/>
                <a:ea typeface="黑体" panose="02010609060101010101" pitchFamily="49" charset="-122"/>
              </a:rPr>
              <a:t>减</a:t>
            </a:r>
            <a:r>
              <a:rPr lang="en-US" altLang="zh-CN" sz="2200" b="1" dirty="0">
                <a:solidFill>
                  <a:srgbClr val="FF0000"/>
                </a:solidFill>
                <a:latin typeface="+mj-lt"/>
                <a:ea typeface="黑体" panose="02010609060101010101" pitchFamily="49" charset="-122"/>
              </a:rPr>
              <a:t>1</a:t>
            </a:r>
            <a:r>
              <a:rPr lang="zh-CN" altLang="en-US" sz="2200" b="1" dirty="0">
                <a:solidFill>
                  <a:srgbClr val="FF0000"/>
                </a:solidFill>
                <a:latin typeface="+mj-lt"/>
                <a:ea typeface="黑体" panose="02010609060101010101" pitchFamily="49" charset="-122"/>
              </a:rPr>
              <a:t>：</a:t>
            </a:r>
            <a:r>
              <a:rPr lang="en-US" altLang="zh-CN" sz="2200" b="1" dirty="0">
                <a:solidFill>
                  <a:srgbClr val="FF0000"/>
                </a:solidFill>
                <a:latin typeface="+mj-lt"/>
                <a:ea typeface="黑体" panose="02010609060101010101" pitchFamily="49" charset="-122"/>
              </a:rPr>
              <a:t>reg/</a:t>
            </a:r>
            <a:r>
              <a:rPr lang="en-US" altLang="zh-CN" sz="2200" b="1" dirty="0" err="1">
                <a:solidFill>
                  <a:srgbClr val="FF0000"/>
                </a:solidFill>
                <a:latin typeface="+mj-lt"/>
                <a:ea typeface="黑体" panose="02010609060101010101" pitchFamily="49" charset="-122"/>
              </a:rPr>
              <a:t>mem←reg</a:t>
            </a:r>
            <a:r>
              <a:rPr lang="en-US" altLang="zh-CN" sz="2200" b="1" dirty="0">
                <a:solidFill>
                  <a:srgbClr val="FF0000"/>
                </a:solidFill>
                <a:latin typeface="+mj-lt"/>
                <a:ea typeface="黑体" panose="02010609060101010101" pitchFamily="49" charset="-122"/>
              </a:rPr>
              <a:t>/mem</a:t>
            </a:r>
            <a:r>
              <a:rPr lang="zh-CN" altLang="en-US" sz="2200" b="1" dirty="0">
                <a:solidFill>
                  <a:srgbClr val="FF0000"/>
                </a:solidFill>
                <a:latin typeface="+mj-lt"/>
                <a:ea typeface="黑体" panose="02010609060101010101" pitchFamily="49" charset="-122"/>
              </a:rPr>
              <a:t>－</a:t>
            </a:r>
            <a:r>
              <a:rPr lang="en-US" altLang="zh-CN" sz="2200" b="1" dirty="0">
                <a:solidFill>
                  <a:srgbClr val="FF0000"/>
                </a:solidFill>
                <a:latin typeface="+mj-lt"/>
                <a:ea typeface="黑体" panose="02010609060101010101" pitchFamily="49" charset="-122"/>
              </a:rPr>
              <a:t>1</a:t>
            </a:r>
            <a:endParaRPr lang="en-US" altLang="zh-CN" sz="2200" b="1" dirty="0">
              <a:solidFill>
                <a:srgbClr val="FF0000"/>
              </a:solidFill>
              <a:latin typeface="+mj-lt"/>
              <a:ea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1285875"/>
            <a:ext cx="7690048" cy="2143125"/>
          </a:xfrm>
          <a:prstGeom prst="rect">
            <a:avLst/>
          </a:prstGeom>
          <a:noFill/>
        </p:spPr>
        <p:txBody>
          <a:bodyPr vert="horz" wrap="square" rtlCol="0" anchor="ctr" anchorCtr="0">
            <a:noAutofit/>
          </a:bodyPr>
          <a:lstStyle/>
          <a:p>
            <a:pPr>
              <a:lnSpc>
                <a:spcPct val="150000"/>
              </a:lnSpc>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顺序执行指令“</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MOV EAX, 0”</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和“</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SUB EAX, 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EAX</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CF</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bwMode="auto">
          <a:xfrm>
            <a:off x="6172200" y="5229200"/>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0"/>
    </p:custData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36434" y="404664"/>
            <a:ext cx="7596006" cy="2143125"/>
          </a:xfrm>
          <a:prstGeom prst="rect">
            <a:avLst/>
          </a:prstGeom>
          <a:noFill/>
        </p:spPr>
        <p:txBody>
          <a:bodyPr vert="horz" wrap="square" rtlCol="0" anchor="ctr" anchorCtr="0">
            <a:noAutofit/>
          </a:bodyPr>
          <a:lstStyle/>
          <a:p>
            <a:pPr>
              <a:lnSpc>
                <a:spcPct val="150000"/>
              </a:lnSpc>
            </a:pPr>
            <a:r>
              <a:rPr lang="zh-CN" altLang="en-US" sz="2800" dirty="0">
                <a:solidFill>
                  <a:srgbClr val="000000"/>
                </a:solidFill>
                <a:latin typeface="黑体" panose="02010609060101010101" pitchFamily="49" charset="-122"/>
                <a:sym typeface="微软雅黑" panose="020B0503020204020204" charset="-122"/>
              </a:rPr>
              <a:t>执行 </a:t>
            </a:r>
            <a:r>
              <a:rPr lang="en-US" altLang="zh-CN" sz="2800" dirty="0">
                <a:solidFill>
                  <a:srgbClr val="000000"/>
                </a:solidFill>
                <a:latin typeface="+mj-lt"/>
                <a:sym typeface="微软雅黑" panose="020B0503020204020204" charset="-122"/>
              </a:rPr>
              <a:t>INC</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指令除对于 </a:t>
            </a:r>
            <a:r>
              <a:rPr lang="en-US" altLang="zh-CN" sz="2800" dirty="0">
                <a:solidFill>
                  <a:srgbClr val="000000"/>
                </a:solidFill>
                <a:latin typeface="+mj-lt"/>
                <a:sym typeface="微软雅黑" panose="020B0503020204020204" charset="-122"/>
              </a:rPr>
              <a:t>SF</a:t>
            </a:r>
            <a:r>
              <a:rPr lang="zh-CN" altLang="en-US" sz="2800" dirty="0">
                <a:solidFill>
                  <a:srgbClr val="000000"/>
                </a:solidFill>
                <a:latin typeface="黑体" panose="02010609060101010101" pitchFamily="49" charset="-122"/>
                <a:sym typeface="微软雅黑" panose="020B0503020204020204" charset="-122"/>
              </a:rPr>
              <a:t>、 </a:t>
            </a:r>
            <a:r>
              <a:rPr lang="en-US" altLang="zh-CN" sz="2800" dirty="0">
                <a:solidFill>
                  <a:srgbClr val="000000"/>
                </a:solidFill>
                <a:latin typeface="+mj-lt"/>
                <a:sym typeface="微软雅黑" panose="020B0503020204020204" charset="-122"/>
              </a:rPr>
              <a:t>ZF</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有影响外，还要影响的标志位是（ ）。</a:t>
            </a:r>
            <a:endParaRPr lang="zh-CN" altLang="en-US" sz="2800" dirty="0">
              <a:solidFill>
                <a:srgbClr val="000000"/>
              </a:solidFill>
              <a:latin typeface="黑体" panose="02010609060101010101" pitchFamily="49" charset="-122"/>
              <a:sym typeface="微软雅黑" panose="020B0503020204020204" charset="-122"/>
            </a:endParaRPr>
          </a:p>
        </p:txBody>
      </p:sp>
      <p:sp>
        <p:nvSpPr>
          <p:cNvPr id="5" name="文本框 4"/>
          <p:cNvSpPr txBox="1"/>
          <p:nvPr>
            <p:custDataLst>
              <p:tags r:id="rId2"/>
            </p:custDataLst>
          </p:nvPr>
        </p:nvSpPr>
        <p:spPr>
          <a:xfrm>
            <a:off x="1828800" y="2276872"/>
            <a:ext cx="6400800" cy="642938"/>
          </a:xfrm>
          <a:prstGeom prst="rect">
            <a:avLst/>
          </a:prstGeom>
          <a:noFill/>
        </p:spPr>
        <p:txBody>
          <a:bodyPr vert="horz" rtlCol="0" anchor="ctr" anchorCtr="0">
            <a:noAutofit/>
          </a:bodyPr>
          <a:lstStyle/>
          <a:p>
            <a:r>
              <a:rPr lang="en-US" altLang="zh-CN" sz="2800" dirty="0">
                <a:solidFill>
                  <a:srgbClr val="000000"/>
                </a:solidFill>
                <a:latin typeface="+mj-lt"/>
                <a:ea typeface="微软雅黑" panose="020B0503020204020204" charset="-122"/>
                <a:sym typeface="微软雅黑" panose="020B0503020204020204" charset="-122"/>
              </a:rPr>
              <a:t>AF,</a:t>
            </a:r>
            <a:r>
              <a:rPr lang="zh-CN" altLang="en-US" sz="2800" dirty="0">
                <a:solidFill>
                  <a:srgbClr val="000000"/>
                </a:solidFill>
                <a:latin typeface="+mj-lt"/>
                <a:ea typeface="微软雅黑" panose="020B0503020204020204" charset="-122"/>
                <a:sym typeface="微软雅黑" panose="020B0503020204020204" charset="-122"/>
              </a:rPr>
              <a:t>  </a:t>
            </a:r>
            <a:r>
              <a:rPr lang="en-US" altLang="zh-CN" sz="2800" dirty="0">
                <a:solidFill>
                  <a:srgbClr val="000000"/>
                </a:solidFill>
                <a:latin typeface="+mj-lt"/>
                <a:ea typeface="微软雅黑" panose="020B0503020204020204" charset="-122"/>
                <a:sym typeface="微软雅黑" panose="020B0503020204020204" charset="-122"/>
              </a:rPr>
              <a:t>PF,</a:t>
            </a:r>
            <a:r>
              <a:rPr lang="zh-CN" altLang="en-US" sz="2800" dirty="0">
                <a:solidFill>
                  <a:srgbClr val="000000"/>
                </a:solidFill>
                <a:latin typeface="+mj-lt"/>
                <a:ea typeface="微软雅黑" panose="020B0503020204020204" charset="-122"/>
                <a:sym typeface="微软雅黑" panose="020B0503020204020204" charset="-122"/>
              </a:rPr>
              <a:t>  </a:t>
            </a:r>
            <a:r>
              <a:rPr lang="en-US" altLang="zh-CN" sz="2800" dirty="0">
                <a:solidFill>
                  <a:srgbClr val="000000"/>
                </a:solidFill>
                <a:latin typeface="+mj-lt"/>
                <a:ea typeface="微软雅黑" panose="020B0503020204020204" charset="-122"/>
                <a:sym typeface="微软雅黑" panose="020B0503020204020204" charset="-122"/>
              </a:rPr>
              <a:t>CF</a:t>
            </a:r>
            <a:endParaRPr lang="zh-CN" altLang="en-US" sz="2800" dirty="0">
              <a:solidFill>
                <a:srgbClr val="000000"/>
              </a:solidFill>
              <a:latin typeface="+mj-lt"/>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134122"/>
            <a:ext cx="6400800" cy="642938"/>
          </a:xfrm>
          <a:prstGeom prst="rect">
            <a:avLst/>
          </a:prstGeom>
          <a:noFill/>
        </p:spPr>
        <p:txBody>
          <a:bodyPr vert="horz" rtlCol="0" anchor="ctr" anchorCtr="0">
            <a:noAutofit/>
          </a:bodyPr>
          <a:lstStyle/>
          <a:p>
            <a:r>
              <a:rPr lang="en-US" altLang="zh-CN" sz="2800" dirty="0">
                <a:solidFill>
                  <a:srgbClr val="000000"/>
                </a:solidFill>
                <a:latin typeface="+mj-lt"/>
                <a:ea typeface="微软雅黑" panose="020B0503020204020204" charset="-122"/>
                <a:sym typeface="微软雅黑" panose="020B0503020204020204" charset="-122"/>
              </a:rPr>
              <a:t>OF,</a:t>
            </a:r>
            <a:r>
              <a:rPr lang="zh-CN" altLang="en-US" sz="2800" dirty="0">
                <a:solidFill>
                  <a:srgbClr val="000000"/>
                </a:solidFill>
                <a:latin typeface="+mj-lt"/>
                <a:ea typeface="微软雅黑" panose="020B0503020204020204" charset="-122"/>
                <a:sym typeface="微软雅黑" panose="020B0503020204020204" charset="-122"/>
              </a:rPr>
              <a:t>  </a:t>
            </a:r>
            <a:r>
              <a:rPr lang="en-US" altLang="zh-CN" sz="2800" dirty="0">
                <a:solidFill>
                  <a:srgbClr val="000000"/>
                </a:solidFill>
                <a:latin typeface="+mj-lt"/>
                <a:ea typeface="微软雅黑" panose="020B0503020204020204" charset="-122"/>
                <a:sym typeface="微软雅黑" panose="020B0503020204020204" charset="-122"/>
              </a:rPr>
              <a:t>AF,  CF</a:t>
            </a:r>
            <a:endParaRPr lang="zh-CN" altLang="en-US" sz="2800" dirty="0">
              <a:solidFill>
                <a:srgbClr val="000000"/>
              </a:solidFill>
              <a:latin typeface="+mj-lt"/>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3991372"/>
            <a:ext cx="6400800" cy="642938"/>
          </a:xfrm>
          <a:prstGeom prst="rect">
            <a:avLst/>
          </a:prstGeom>
          <a:noFill/>
        </p:spPr>
        <p:txBody>
          <a:bodyPr vert="horz" rtlCol="0" anchor="ctr" anchorCtr="0">
            <a:noAutofit/>
          </a:bodyPr>
          <a:lstStyle/>
          <a:p>
            <a:r>
              <a:rPr lang="en-US" altLang="zh-CN" sz="2800" dirty="0">
                <a:solidFill>
                  <a:srgbClr val="000000"/>
                </a:solidFill>
                <a:latin typeface="+mj-lt"/>
                <a:ea typeface="微软雅黑" panose="020B0503020204020204" charset="-122"/>
                <a:sym typeface="微软雅黑" panose="020B0503020204020204" charset="-122"/>
              </a:rPr>
              <a:t>OF,</a:t>
            </a:r>
            <a:r>
              <a:rPr lang="zh-CN" altLang="en-US" sz="2800" dirty="0">
                <a:solidFill>
                  <a:srgbClr val="000000"/>
                </a:solidFill>
                <a:latin typeface="+mj-lt"/>
                <a:ea typeface="微软雅黑" panose="020B0503020204020204" charset="-122"/>
                <a:sym typeface="微软雅黑" panose="020B0503020204020204" charset="-122"/>
              </a:rPr>
              <a:t>  </a:t>
            </a:r>
            <a:r>
              <a:rPr lang="en-US" altLang="zh-CN" sz="2800" dirty="0">
                <a:solidFill>
                  <a:srgbClr val="000000"/>
                </a:solidFill>
                <a:latin typeface="+mj-lt"/>
                <a:ea typeface="微软雅黑" panose="020B0503020204020204" charset="-122"/>
                <a:sym typeface="微软雅黑" panose="020B0503020204020204" charset="-122"/>
              </a:rPr>
              <a:t>PF,  CF</a:t>
            </a:r>
            <a:endParaRPr lang="zh-CN" altLang="en-US" sz="2800" dirty="0">
              <a:solidFill>
                <a:srgbClr val="000000"/>
              </a:solidFill>
              <a:latin typeface="+mj-lt"/>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4848622"/>
            <a:ext cx="6400800" cy="642938"/>
          </a:xfrm>
          <a:prstGeom prst="rect">
            <a:avLst/>
          </a:prstGeom>
          <a:noFill/>
        </p:spPr>
        <p:txBody>
          <a:bodyPr vert="horz" rtlCol="0" anchor="ctr" anchorCtr="0">
            <a:noAutofit/>
          </a:bodyPr>
          <a:lstStyle/>
          <a:p>
            <a:r>
              <a:rPr lang="en-US" altLang="zh-CN" sz="2800" dirty="0">
                <a:solidFill>
                  <a:srgbClr val="000000"/>
                </a:solidFill>
                <a:latin typeface="+mj-lt"/>
                <a:ea typeface="微软雅黑" panose="020B0503020204020204" charset="-122"/>
                <a:sym typeface="微软雅黑" panose="020B0503020204020204" charset="-122"/>
              </a:rPr>
              <a:t>OF,</a:t>
            </a:r>
            <a:r>
              <a:rPr lang="zh-CN" altLang="en-US" sz="2800" dirty="0">
                <a:solidFill>
                  <a:srgbClr val="000000"/>
                </a:solidFill>
                <a:latin typeface="+mj-lt"/>
                <a:ea typeface="微软雅黑" panose="020B0503020204020204" charset="-122"/>
                <a:sym typeface="微软雅黑" panose="020B0503020204020204" charset="-122"/>
              </a:rPr>
              <a:t>  </a:t>
            </a:r>
            <a:r>
              <a:rPr lang="en-US" altLang="zh-CN" sz="2800" dirty="0">
                <a:solidFill>
                  <a:srgbClr val="000000"/>
                </a:solidFill>
                <a:latin typeface="+mj-lt"/>
                <a:ea typeface="微软雅黑" panose="020B0503020204020204" charset="-122"/>
                <a:sym typeface="微软雅黑" panose="020B0503020204020204" charset="-122"/>
              </a:rPr>
              <a:t>AF,  PF</a:t>
            </a:r>
            <a:endParaRPr lang="zh-CN" altLang="en-US" sz="2800" dirty="0">
              <a:solidFill>
                <a:srgbClr val="000000"/>
              </a:solidFill>
              <a:latin typeface="+mj-lt"/>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bwMode="auto">
          <a:xfrm>
            <a:off x="1114425" y="234116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A</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bwMode="auto">
          <a:xfrm>
            <a:off x="1114425" y="319841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B</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bwMode="auto">
          <a:xfrm>
            <a:off x="1114425" y="405566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C</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bwMode="auto">
          <a:xfrm>
            <a:off x="1114425" y="4912915"/>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D</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bwMode="auto">
          <a:xfrm>
            <a:off x="6172200" y="5705872"/>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提交</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5" name="ColorBlock"/>
            <p:cNvSpPr/>
            <p:nvPr>
              <p:custDataLst>
                <p:tags r:id="rId13"/>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对操作数执行求补运算，即用零减去操作数</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en-US" altLang="zh-CN"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对标志的影响与用零作减法的</a:t>
            </a:r>
            <a:r>
              <a:rPr lang="en-US" altLang="zh-CN" sz="2800" dirty="0">
                <a:latin typeface="+mn-lt"/>
              </a:rPr>
              <a:t>SUB</a:t>
            </a:r>
            <a:r>
              <a:rPr lang="zh-CN" altLang="en-US" sz="2800" dirty="0">
                <a:latin typeface="+mn-lt"/>
              </a:rPr>
              <a:t>指令一样</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可用于求补码或由补码求其绝对值</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4.</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求补指令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NEG</a:t>
            </a:r>
            <a:r>
              <a:rPr kumimoji="1" lang="en-US" altLang="zh-CN" b="0" i="0" u="none" strike="noStrike" kern="0" cap="none" spc="0" normalizeH="0" baseline="0" noProof="0" dirty="0">
                <a:ln>
                  <a:noFill/>
                </a:ln>
                <a:solidFill>
                  <a:srgbClr val="000000"/>
                </a:solidFill>
                <a:effectLst/>
                <a:uLnTx/>
                <a:uFillTx/>
                <a:latin typeface="+mj-lt"/>
                <a:cs typeface="+mj-cs"/>
              </a:rPr>
              <a:t> (Negate)</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 name="Rectangle 3"/>
          <p:cNvSpPr>
            <a:spLocks noChangeArrowheads="1"/>
          </p:cNvSpPr>
          <p:nvPr/>
        </p:nvSpPr>
        <p:spPr bwMode="auto">
          <a:xfrm>
            <a:off x="1115616" y="3355278"/>
            <a:ext cx="7431682" cy="277611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ax,0ff64h</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neg al		</a:t>
            </a:r>
            <a:r>
              <a:rPr lang="en-US" altLang="zh-CN" sz="2200" dirty="0">
                <a:solidFill>
                  <a:srgbClr val="FF0000"/>
                </a:solidFill>
                <a:latin typeface="+mj-lt"/>
                <a:ea typeface="黑体" panose="02010609060101010101" pitchFamily="49" charset="-122"/>
              </a:rPr>
              <a:t>;AX=FF9CH, OF=0, SF=1, ZF=0, PF=1, CF=1</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sub al,9dh	</a:t>
            </a:r>
            <a:r>
              <a:rPr lang="en-US" altLang="zh-CN" sz="2200" dirty="0">
                <a:solidFill>
                  <a:srgbClr val="FF0000"/>
                </a:solidFill>
                <a:latin typeface="+mj-lt"/>
                <a:ea typeface="黑体" panose="02010609060101010101" pitchFamily="49" charset="-122"/>
              </a:rPr>
              <a:t>;AX=FFFFH, OF=0, SF=1, ZF=0, PF=1, CF=1</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neg ax	</a:t>
            </a:r>
            <a:r>
              <a:rPr lang="en-US" altLang="zh-CN" sz="2200" dirty="0">
                <a:solidFill>
                  <a:srgbClr val="FF0000"/>
                </a:solidFill>
                <a:latin typeface="+mj-lt"/>
                <a:ea typeface="黑体" panose="02010609060101010101" pitchFamily="49" charset="-122"/>
              </a:rPr>
              <a:t>;AX=0001H, OF=0, SF=0, ZF=0, PF=0, CF=1</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dec al		</a:t>
            </a:r>
            <a:r>
              <a:rPr lang="en-US" altLang="zh-CN" sz="2200" dirty="0">
                <a:solidFill>
                  <a:srgbClr val="FF0000"/>
                </a:solidFill>
                <a:latin typeface="+mj-lt"/>
                <a:ea typeface="黑体" panose="02010609060101010101" pitchFamily="49" charset="-122"/>
              </a:rPr>
              <a:t>;AX=0000H, OF=0, SF=0, ZF=1, PF=1, CF=1</a:t>
            </a:r>
            <a:endParaRPr lang="en-US" altLang="zh-CN"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neg ax	</a:t>
            </a:r>
            <a:r>
              <a:rPr lang="en-US" altLang="zh-CN" sz="2200" dirty="0">
                <a:solidFill>
                  <a:srgbClr val="FF0000"/>
                </a:solidFill>
                <a:latin typeface="+mj-lt"/>
                <a:ea typeface="黑体" panose="02010609060101010101" pitchFamily="49" charset="-122"/>
              </a:rPr>
              <a:t>;AX=0000H, OF=0, SF=0, ZF=1, PF=1, CF=0</a:t>
            </a:r>
            <a:endParaRPr lang="en-US" altLang="zh-CN" sz="2200" dirty="0">
              <a:solidFill>
                <a:srgbClr val="FF0000"/>
              </a:solidFill>
              <a:latin typeface="+mj-lt"/>
              <a:ea typeface="黑体" panose="02010609060101010101" pitchFamily="49" charset="-122"/>
            </a:endParaRPr>
          </a:p>
        </p:txBody>
      </p:sp>
      <p:sp>
        <p:nvSpPr>
          <p:cNvPr id="2" name="Rectangle 3"/>
          <p:cNvSpPr>
            <a:spLocks noChangeArrowheads="1"/>
          </p:cNvSpPr>
          <p:nvPr/>
        </p:nvSpPr>
        <p:spPr bwMode="auto">
          <a:xfrm>
            <a:off x="1115616" y="1437159"/>
            <a:ext cx="743168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nn-NO" altLang="zh-CN" sz="2200" b="1" dirty="0">
                <a:solidFill>
                  <a:srgbClr val="FF0000"/>
                </a:solidFill>
                <a:latin typeface="+mj-lt"/>
                <a:ea typeface="黑体" panose="02010609060101010101" pitchFamily="49" charset="-122"/>
              </a:rPr>
              <a:t>NEG reg/mem		;reg/mem←0</a:t>
            </a:r>
            <a:r>
              <a:rPr lang="zh-CN" altLang="nn-NO" sz="2200" b="1" dirty="0">
                <a:solidFill>
                  <a:srgbClr val="FF0000"/>
                </a:solidFill>
                <a:latin typeface="+mj-lt"/>
                <a:ea typeface="黑体" panose="02010609060101010101" pitchFamily="49" charset="-122"/>
              </a:rPr>
              <a:t>－</a:t>
            </a:r>
            <a:r>
              <a:rPr lang="nn-NO" altLang="zh-CN" sz="2200" b="1" dirty="0">
                <a:solidFill>
                  <a:srgbClr val="FF0000"/>
                </a:solidFill>
                <a:latin typeface="+mj-lt"/>
                <a:ea typeface="黑体" panose="02010609060101010101" pitchFamily="49" charset="-122"/>
              </a:rPr>
              <a:t>reg/mem</a:t>
            </a:r>
            <a:endParaRPr lang="nn-NO" altLang="zh-CN" sz="2200" b="1" dirty="0">
              <a:solidFill>
                <a:srgbClr val="FF0000"/>
              </a:solidFill>
              <a:latin typeface="+mj-lt"/>
              <a:ea typeface="黑体" panose="02010609060101010101"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48655"/>
            <a:ext cx="8064896"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将目的操作数减去源操作数，差值</a:t>
            </a:r>
            <a:r>
              <a:rPr lang="zh-CN" altLang="en-US" sz="2800" dirty="0">
                <a:solidFill>
                  <a:srgbClr val="FF0000"/>
                </a:solidFill>
                <a:latin typeface="+mn-lt"/>
              </a:rPr>
              <a:t>不回送</a:t>
            </a:r>
            <a:r>
              <a:rPr lang="zh-CN" altLang="en-US" sz="2800" dirty="0">
                <a:latin typeface="+mn-lt"/>
              </a:rPr>
              <a:t>目的操作数</a:t>
            </a:r>
            <a:endParaRPr lang="en-US" altLang="zh-CN"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按照减法结果影响状态标志</a:t>
            </a:r>
            <a:endParaRPr lang="en-US" altLang="zh-CN"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根据标志状态获知两个操作数的大小关系</a:t>
            </a:r>
            <a:endParaRPr lang="zh-CN" altLang="en-US"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给</a:t>
            </a:r>
            <a:r>
              <a:rPr lang="zh-CN" altLang="en-US" sz="2400" dirty="0">
                <a:solidFill>
                  <a:srgbClr val="FF0000"/>
                </a:solidFill>
                <a:latin typeface="+mn-lt"/>
              </a:rPr>
              <a:t>条件转移</a:t>
            </a:r>
            <a:r>
              <a:rPr lang="zh-CN" altLang="en-US" sz="2400" dirty="0">
                <a:solidFill>
                  <a:schemeClr val="tx1"/>
                </a:solidFill>
                <a:latin typeface="+mn-lt"/>
              </a:rPr>
              <a:t>等指令使用其形成的状态标志</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en-US" altLang="zh-CN" dirty="0">
              <a:latin typeface="+mn-lt"/>
            </a:endParaRPr>
          </a:p>
          <a:p>
            <a:pPr algn="just">
              <a:lnSpc>
                <a:spcPct val="130000"/>
              </a:lnSpc>
              <a:spcBef>
                <a:spcPts val="300"/>
              </a:spcBef>
              <a:buClr>
                <a:srgbClr val="0000FF"/>
              </a:buClr>
              <a:buSzPct val="100000"/>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5.</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比较指令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CMP</a:t>
            </a:r>
            <a:r>
              <a:rPr lang="en-US" altLang="zh-CN" kern="0" dirty="0">
                <a:solidFill>
                  <a:srgbClr val="000000"/>
                </a:solidFill>
                <a:latin typeface="+mj-lt"/>
                <a:cs typeface="+mj-cs"/>
              </a:rPr>
              <a:t> (Compare)</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115616" y="1941215"/>
            <a:ext cx="7431682" cy="504056"/>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nn-NO" altLang="zh-CN" sz="2200" b="1" dirty="0">
                <a:solidFill>
                  <a:srgbClr val="FF0000"/>
                </a:solidFill>
                <a:latin typeface="+mj-lt"/>
                <a:ea typeface="黑体" panose="02010609060101010101" pitchFamily="49" charset="-122"/>
              </a:rPr>
              <a:t>CMP dest,src	;</a:t>
            </a:r>
            <a:r>
              <a:rPr lang="zh-CN" altLang="en-US" sz="2200" b="1" dirty="0">
                <a:solidFill>
                  <a:srgbClr val="FF0000"/>
                </a:solidFill>
                <a:latin typeface="+mj-lt"/>
                <a:ea typeface="黑体" panose="02010609060101010101" pitchFamily="49" charset="-122"/>
              </a:rPr>
              <a:t>做减法运算：</a:t>
            </a:r>
            <a:r>
              <a:rPr lang="nn-NO" altLang="zh-CN" sz="2200" b="1" dirty="0">
                <a:solidFill>
                  <a:srgbClr val="FF0000"/>
                </a:solidFill>
                <a:latin typeface="+mj-lt"/>
                <a:ea typeface="黑体" panose="02010609060101010101" pitchFamily="49" charset="-122"/>
              </a:rPr>
              <a:t>dest</a:t>
            </a:r>
            <a:r>
              <a:rPr lang="zh-CN" altLang="nn-NO" sz="2200" b="1" dirty="0">
                <a:solidFill>
                  <a:srgbClr val="FF0000"/>
                </a:solidFill>
                <a:latin typeface="+mj-lt"/>
                <a:ea typeface="黑体" panose="02010609060101010101" pitchFamily="49" charset="-122"/>
              </a:rPr>
              <a:t>－</a:t>
            </a:r>
            <a:r>
              <a:rPr lang="nn-NO" altLang="zh-CN" sz="2200" b="1" dirty="0">
                <a:solidFill>
                  <a:srgbClr val="FF0000"/>
                </a:solidFill>
                <a:latin typeface="+mj-lt"/>
                <a:ea typeface="黑体" panose="02010609060101010101" pitchFamily="49" charset="-122"/>
              </a:rPr>
              <a:t>src</a:t>
            </a:r>
            <a:endParaRPr lang="nn-NO" altLang="zh-CN" sz="2200" b="1" dirty="0">
              <a:solidFill>
                <a:srgbClr val="FF0000"/>
              </a:solidFill>
              <a:latin typeface="+mj-lt"/>
              <a:ea typeface="黑体" panose="02010609060101010101" pitchFamily="49" charset="-122"/>
            </a:endParaRPr>
          </a:p>
        </p:txBody>
      </p:sp>
      <p:grpSp>
        <p:nvGrpSpPr>
          <p:cNvPr id="3" name="Group 5"/>
          <p:cNvGrpSpPr/>
          <p:nvPr/>
        </p:nvGrpSpPr>
        <p:grpSpPr bwMode="auto">
          <a:xfrm>
            <a:off x="654404" y="4509120"/>
            <a:ext cx="7864540" cy="1624754"/>
            <a:chOff x="95" y="2813"/>
            <a:chExt cx="5579" cy="1134"/>
          </a:xfrm>
        </p:grpSpPr>
        <p:sp>
          <p:nvSpPr>
            <p:cNvPr id="4" name="AutoShape 6"/>
            <p:cNvSpPr>
              <a:spLocks noChangeArrowheads="1"/>
            </p:cNvSpPr>
            <p:nvPr/>
          </p:nvSpPr>
          <p:spPr bwMode="auto">
            <a:xfrm>
              <a:off x="95" y="2813"/>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200" dirty="0">
                  <a:solidFill>
                    <a:srgbClr val="00B050"/>
                  </a:solidFill>
                  <a:latin typeface="Arial" panose="020B0604020202020204" pitchFamily="34" charset="0"/>
                </a:rPr>
                <a:t>ADD</a:t>
              </a:r>
              <a:r>
                <a:rPr lang="zh-CN" altLang="en-US" sz="2200" dirty="0">
                  <a:solidFill>
                    <a:srgbClr val="00B050"/>
                  </a:solidFill>
                  <a:latin typeface="Arial" panose="020B0604020202020204" pitchFamily="34" charset="0"/>
                </a:rPr>
                <a:t>与</a:t>
              </a:r>
              <a:r>
                <a:rPr lang="en-US" altLang="zh-CN" sz="2200" dirty="0">
                  <a:solidFill>
                    <a:srgbClr val="00B050"/>
                  </a:solidFill>
                  <a:latin typeface="Arial" panose="020B0604020202020204" pitchFamily="34" charset="0"/>
                </a:rPr>
                <a:t>ADC</a:t>
              </a:r>
              <a:r>
                <a:rPr lang="zh-CN" altLang="en-US" sz="2200" dirty="0">
                  <a:solidFill>
                    <a:srgbClr val="00B050"/>
                  </a:solidFill>
                  <a:latin typeface="Arial" panose="020B0604020202020204" pitchFamily="34" charset="0"/>
                </a:rPr>
                <a:t>？</a:t>
              </a:r>
              <a:endParaRPr lang="zh-CN" altLang="en-US" sz="2200" dirty="0">
                <a:solidFill>
                  <a:srgbClr val="00B050"/>
                </a:solidFill>
                <a:latin typeface="Arial" panose="020B0604020202020204" pitchFamily="34" charset="0"/>
              </a:endParaRPr>
            </a:p>
          </p:txBody>
        </p:sp>
        <p:sp>
          <p:nvSpPr>
            <p:cNvPr id="5" name="AutoShape 7"/>
            <p:cNvSpPr>
              <a:spLocks noChangeArrowheads="1"/>
            </p:cNvSpPr>
            <p:nvPr/>
          </p:nvSpPr>
          <p:spPr bwMode="auto">
            <a:xfrm>
              <a:off x="3815" y="2813"/>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200" dirty="0">
                  <a:solidFill>
                    <a:srgbClr val="00B050"/>
                  </a:solidFill>
                  <a:latin typeface="Arial" panose="020B0604020202020204" pitchFamily="34" charset="0"/>
                </a:rPr>
                <a:t>INC</a:t>
              </a:r>
              <a:r>
                <a:rPr lang="zh-CN" altLang="en-US" sz="2200" dirty="0">
                  <a:solidFill>
                    <a:srgbClr val="00B050"/>
                  </a:solidFill>
                  <a:latin typeface="Arial" panose="020B0604020202020204" pitchFamily="34" charset="0"/>
                </a:rPr>
                <a:t>与</a:t>
              </a:r>
              <a:r>
                <a:rPr lang="en-US" altLang="zh-CN" sz="2200" dirty="0">
                  <a:solidFill>
                    <a:srgbClr val="00B050"/>
                  </a:solidFill>
                  <a:latin typeface="Arial" panose="020B0604020202020204" pitchFamily="34" charset="0"/>
                </a:rPr>
                <a:t>DEC</a:t>
              </a:r>
              <a:r>
                <a:rPr lang="zh-CN" altLang="en-US" sz="2200" dirty="0">
                  <a:solidFill>
                    <a:srgbClr val="00B050"/>
                  </a:solidFill>
                  <a:latin typeface="Arial" panose="020B0604020202020204" pitchFamily="34" charset="0"/>
                </a:rPr>
                <a:t>？</a:t>
              </a:r>
              <a:endParaRPr lang="zh-CN" altLang="en-US" sz="2200" dirty="0">
                <a:solidFill>
                  <a:srgbClr val="00B050"/>
                </a:solidFill>
                <a:latin typeface="Arial" panose="020B0604020202020204" pitchFamily="34" charset="0"/>
              </a:endParaRPr>
            </a:p>
          </p:txBody>
        </p:sp>
        <p:sp>
          <p:nvSpPr>
            <p:cNvPr id="9" name="AutoShape 8"/>
            <p:cNvSpPr>
              <a:spLocks noChangeArrowheads="1"/>
            </p:cNvSpPr>
            <p:nvPr/>
          </p:nvSpPr>
          <p:spPr bwMode="auto">
            <a:xfrm>
              <a:off x="1910" y="2813"/>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200" dirty="0">
                  <a:solidFill>
                    <a:srgbClr val="00B050"/>
                  </a:solidFill>
                  <a:latin typeface="Arial" panose="020B0604020202020204" pitchFamily="34" charset="0"/>
                </a:rPr>
                <a:t>SUB</a:t>
              </a:r>
              <a:r>
                <a:rPr lang="zh-CN" altLang="en-US" sz="2200" dirty="0">
                  <a:solidFill>
                    <a:srgbClr val="00B050"/>
                  </a:solidFill>
                  <a:latin typeface="Arial" panose="020B0604020202020204" pitchFamily="34" charset="0"/>
                </a:rPr>
                <a:t>与</a:t>
              </a:r>
              <a:r>
                <a:rPr lang="en-US" altLang="zh-CN" sz="2200" dirty="0">
                  <a:solidFill>
                    <a:srgbClr val="00B050"/>
                  </a:solidFill>
                  <a:latin typeface="Arial" panose="020B0604020202020204" pitchFamily="34" charset="0"/>
                </a:rPr>
                <a:t>SBB</a:t>
              </a:r>
              <a:r>
                <a:rPr lang="zh-CN" altLang="en-US" sz="2200" dirty="0">
                  <a:solidFill>
                    <a:srgbClr val="00B050"/>
                  </a:solidFill>
                  <a:latin typeface="Arial" panose="020B0604020202020204" pitchFamily="34" charset="0"/>
                </a:rPr>
                <a:t>？</a:t>
              </a:r>
              <a:endParaRPr lang="zh-CN" altLang="en-US" sz="2200" dirty="0">
                <a:solidFill>
                  <a:srgbClr val="00B050"/>
                </a:solidFill>
                <a:latin typeface="Arial" panose="020B0604020202020204" pitchFamily="34" charset="0"/>
              </a:endParaRPr>
            </a:p>
          </p:txBody>
        </p:sp>
        <p:sp>
          <p:nvSpPr>
            <p:cNvPr id="10" name="AutoShape 9"/>
            <p:cNvSpPr>
              <a:spLocks noChangeArrowheads="1"/>
            </p:cNvSpPr>
            <p:nvPr/>
          </p:nvSpPr>
          <p:spPr bwMode="auto">
            <a:xfrm>
              <a:off x="95" y="3402"/>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200" dirty="0">
                  <a:solidFill>
                    <a:srgbClr val="00B050"/>
                  </a:solidFill>
                  <a:latin typeface="Arial" panose="020B0604020202020204" pitchFamily="34" charset="0"/>
                </a:rPr>
                <a:t>ADD</a:t>
              </a:r>
              <a:r>
                <a:rPr lang="zh-CN" altLang="en-US" sz="2200" dirty="0">
                  <a:solidFill>
                    <a:srgbClr val="00B050"/>
                  </a:solidFill>
                  <a:latin typeface="Arial" panose="020B0604020202020204" pitchFamily="34" charset="0"/>
                </a:rPr>
                <a:t>与</a:t>
              </a:r>
              <a:r>
                <a:rPr lang="en-US" altLang="zh-CN" sz="2200" dirty="0">
                  <a:solidFill>
                    <a:srgbClr val="00B050"/>
                  </a:solidFill>
                  <a:latin typeface="Arial" panose="020B0604020202020204" pitchFamily="34" charset="0"/>
                </a:rPr>
                <a:t>SUB</a:t>
              </a:r>
              <a:r>
                <a:rPr lang="zh-CN" altLang="en-US" sz="2200" dirty="0">
                  <a:solidFill>
                    <a:srgbClr val="00B050"/>
                  </a:solidFill>
                  <a:latin typeface="Arial" panose="020B0604020202020204" pitchFamily="34" charset="0"/>
                </a:rPr>
                <a:t>？</a:t>
              </a:r>
              <a:endParaRPr lang="zh-CN" altLang="en-US" sz="2200" dirty="0">
                <a:solidFill>
                  <a:srgbClr val="00B050"/>
                </a:solidFill>
                <a:latin typeface="Arial" panose="020B0604020202020204" pitchFamily="34" charset="0"/>
              </a:endParaRPr>
            </a:p>
          </p:txBody>
        </p:sp>
        <p:sp>
          <p:nvSpPr>
            <p:cNvPr id="11" name="AutoShape 10"/>
            <p:cNvSpPr>
              <a:spLocks noChangeArrowheads="1"/>
            </p:cNvSpPr>
            <p:nvPr/>
          </p:nvSpPr>
          <p:spPr bwMode="auto">
            <a:xfrm>
              <a:off x="1910" y="3402"/>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200" dirty="0">
                  <a:solidFill>
                    <a:srgbClr val="00B050"/>
                  </a:solidFill>
                  <a:latin typeface="Arial" panose="020B0604020202020204" pitchFamily="34" charset="0"/>
                </a:rPr>
                <a:t>SUB</a:t>
              </a:r>
              <a:r>
                <a:rPr lang="zh-CN" altLang="en-US" sz="2200" dirty="0">
                  <a:solidFill>
                    <a:srgbClr val="00B050"/>
                  </a:solidFill>
                  <a:latin typeface="Arial" panose="020B0604020202020204" pitchFamily="34" charset="0"/>
                </a:rPr>
                <a:t>与</a:t>
              </a:r>
              <a:r>
                <a:rPr lang="en-US" altLang="zh-CN" sz="2200" dirty="0">
                  <a:solidFill>
                    <a:srgbClr val="00B050"/>
                  </a:solidFill>
                  <a:latin typeface="Arial" panose="020B0604020202020204" pitchFamily="34" charset="0"/>
                </a:rPr>
                <a:t>NEG</a:t>
              </a:r>
              <a:r>
                <a:rPr lang="zh-CN" altLang="en-US" sz="2200" dirty="0">
                  <a:solidFill>
                    <a:srgbClr val="00B050"/>
                  </a:solidFill>
                  <a:latin typeface="Arial" panose="020B0604020202020204" pitchFamily="34" charset="0"/>
                </a:rPr>
                <a:t>？</a:t>
              </a:r>
              <a:endParaRPr lang="zh-CN" altLang="en-US" sz="2200" dirty="0">
                <a:solidFill>
                  <a:srgbClr val="00B050"/>
                </a:solidFill>
                <a:latin typeface="Arial" panose="020B0604020202020204" pitchFamily="34" charset="0"/>
              </a:endParaRPr>
            </a:p>
          </p:txBody>
        </p:sp>
        <p:sp>
          <p:nvSpPr>
            <p:cNvPr id="12" name="AutoShape 11"/>
            <p:cNvSpPr>
              <a:spLocks noChangeArrowheads="1"/>
            </p:cNvSpPr>
            <p:nvPr/>
          </p:nvSpPr>
          <p:spPr bwMode="auto">
            <a:xfrm>
              <a:off x="3815" y="3402"/>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None/>
              </a:pPr>
              <a:r>
                <a:rPr lang="en-US" altLang="zh-CN" sz="2200" dirty="0">
                  <a:solidFill>
                    <a:srgbClr val="00B050"/>
                  </a:solidFill>
                  <a:latin typeface="Arial" panose="020B0604020202020204" pitchFamily="34" charset="0"/>
                </a:rPr>
                <a:t>SUB</a:t>
              </a:r>
              <a:r>
                <a:rPr lang="zh-CN" altLang="en-US" sz="2200" dirty="0">
                  <a:solidFill>
                    <a:srgbClr val="00B050"/>
                  </a:solidFill>
                  <a:latin typeface="Arial" panose="020B0604020202020204" pitchFamily="34" charset="0"/>
                </a:rPr>
                <a:t>与</a:t>
              </a:r>
              <a:r>
                <a:rPr lang="en-US" altLang="zh-CN" sz="2200" dirty="0">
                  <a:solidFill>
                    <a:srgbClr val="00B050"/>
                  </a:solidFill>
                  <a:latin typeface="Arial" panose="020B0604020202020204" pitchFamily="34" charset="0"/>
                </a:rPr>
                <a:t>CMP</a:t>
              </a:r>
              <a:r>
                <a:rPr lang="zh-CN" altLang="en-US" sz="2200" dirty="0">
                  <a:solidFill>
                    <a:srgbClr val="00B050"/>
                  </a:solidFill>
                  <a:latin typeface="Arial" panose="020B0604020202020204" pitchFamily="34" charset="0"/>
                </a:rPr>
                <a:t>？</a:t>
              </a:r>
              <a:endParaRPr lang="zh-CN" altLang="en-US" sz="2200" dirty="0">
                <a:solidFill>
                  <a:srgbClr val="00B050"/>
                </a:solidFill>
                <a:latin typeface="Arial" panose="020B0604020202020204" pitchFamily="34" charset="0"/>
              </a:endParaRPr>
            </a:p>
          </p:txBody>
        </p:sp>
      </p:grpSp>
      <p:sp>
        <p:nvSpPr>
          <p:cNvPr id="14" name="Rounded Rectangular Callout 2"/>
          <p:cNvSpPr/>
          <p:nvPr/>
        </p:nvSpPr>
        <p:spPr bwMode="auto">
          <a:xfrm>
            <a:off x="6819106" y="1628800"/>
            <a:ext cx="1728192" cy="517308"/>
          </a:xfrm>
          <a:prstGeom prst="wedgeRoundRectCallout">
            <a:avLst>
              <a:gd name="adj1" fmla="val -33792"/>
              <a:gd name="adj2" fmla="val -11455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SUB</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与</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CMP</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a:t>
            </a:r>
            <a:endPar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600" decel="100000"/>
                                        <p:tgtEl>
                                          <p:spTgt spid="3"/>
                                        </p:tgtEl>
                                      </p:cBhvr>
                                    </p:animEffect>
                                    <p:anim calcmode="lin" valueType="num">
                                      <p:cBhvr>
                                        <p:cTn id="8" dur="1600" decel="100000" fill="hold"/>
                                        <p:tgtEl>
                                          <p:spTgt spid="3"/>
                                        </p:tgtEl>
                                        <p:attrNameLst>
                                          <p:attrName>style.rotation</p:attrName>
                                        </p:attrNameLst>
                                      </p:cBhvr>
                                      <p:tavLst>
                                        <p:tav tm="0">
                                          <p:val>
                                            <p:fltVal val="-90"/>
                                          </p:val>
                                        </p:tav>
                                        <p:tav tm="100000">
                                          <p:val>
                                            <p:fltVal val="0"/>
                                          </p:val>
                                        </p:tav>
                                      </p:tavLst>
                                    </p:anim>
                                    <p:anim calcmode="lin" valueType="num">
                                      <p:cBhvr>
                                        <p:cTn id="9" dur="1600" decel="100000" fill="hold"/>
                                        <p:tgtEl>
                                          <p:spTgt spid="3"/>
                                        </p:tgtEl>
                                        <p:attrNameLst>
                                          <p:attrName>ppt_x</p:attrName>
                                        </p:attrNameLst>
                                      </p:cBhvr>
                                      <p:tavLst>
                                        <p:tav tm="0">
                                          <p:val>
                                            <p:strVal val="#ppt_x+0.4"/>
                                          </p:val>
                                        </p:tav>
                                        <p:tav tm="100000">
                                          <p:val>
                                            <p:strVal val="#ppt_x-0.05"/>
                                          </p:val>
                                        </p:tav>
                                      </p:tavLst>
                                    </p:anim>
                                    <p:anim calcmode="lin" valueType="num">
                                      <p:cBhvr>
                                        <p:cTn id="10" dur="1600" decel="100000" fill="hold"/>
                                        <p:tgtEl>
                                          <p:spTgt spid="3"/>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3"/>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546956" y="1124744"/>
            <a:ext cx="8050088" cy="2143125"/>
          </a:xfrm>
          <a:prstGeom prst="rect">
            <a:avLst/>
          </a:prstGeom>
          <a:noFill/>
        </p:spPr>
        <p:txBody>
          <a:bodyPr vert="horz" wrap="square" rtlCol="0" anchor="ctr" anchorCtr="0">
            <a:noAutofit/>
          </a:bodyPr>
          <a:lstStyle/>
          <a:p>
            <a:pPr>
              <a:lnSpc>
                <a:spcPct val="150000"/>
              </a:lnSpc>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已知：寄存器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AX=7836H</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，指令：</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CMP AX</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9A5EH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执行后，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AX=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CF=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OF=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3]</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bwMode="auto">
          <a:xfrm>
            <a:off x="6172200" y="4941168"/>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0"/>
    </p:custData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39552" y="721271"/>
            <a:ext cx="8064896" cy="6136729"/>
          </a:xfrm>
          <a:prstGeom prst="rect">
            <a:avLst/>
          </a:prstGeom>
        </p:spPr>
        <p:txBody>
          <a:bodyPr/>
          <a:lstStyle/>
          <a:p>
            <a:pPr algn="just">
              <a:lnSpc>
                <a:spcPct val="130000"/>
              </a:lnSpc>
              <a:spcBef>
                <a:spcPts val="0"/>
              </a:spcBef>
              <a:buClr>
                <a:srgbClr val="0000FF"/>
              </a:buClr>
              <a:buSzPct val="100000"/>
              <a:defRPr/>
            </a:pPr>
            <a:r>
              <a:rPr lang="zh-CN" altLang="en-US" sz="2600" dirty="0">
                <a:solidFill>
                  <a:schemeClr val="tx1"/>
                </a:solidFill>
                <a:latin typeface="+mn-lt"/>
              </a:rPr>
              <a:t>例：将小写字母组成的字符串改成大写字母</a:t>
            </a:r>
            <a:endParaRPr lang="en-US" altLang="zh-CN" sz="2600" dirty="0">
              <a:solidFill>
                <a:schemeClr val="tx1"/>
              </a:solidFill>
              <a:latin typeface="+mn-lt"/>
            </a:endParaRPr>
          </a:p>
          <a:p>
            <a:pPr algn="just">
              <a:lnSpc>
                <a:spcPct val="130000"/>
              </a:lnSpc>
              <a:spcBef>
                <a:spcPts val="0"/>
              </a:spcBef>
              <a:buClr>
                <a:srgbClr val="0000FF"/>
              </a:buClr>
              <a:buSzPct val="100000"/>
              <a:defRPr/>
            </a:pPr>
            <a:r>
              <a:rPr lang="en-US" altLang="zh-CN" sz="2400" b="0" i="0" dirty="0">
                <a:solidFill>
                  <a:schemeClr val="tx1"/>
                </a:solidFill>
                <a:effectLst/>
                <a:latin typeface="+mj-lt"/>
              </a:rPr>
              <a:t>Convert the uppercase letters (strings) into lowercase letters</a:t>
            </a:r>
            <a:endParaRPr lang="zh-CN" altLang="en-US" sz="2400" dirty="0">
              <a:solidFill>
                <a:schemeClr val="tx1"/>
              </a:solidFill>
              <a:latin typeface="+mj-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3-5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大小写字母转换程序</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endPar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868214"/>
            <a:ext cx="8016948" cy="4446217"/>
          </a:xfrm>
          <a:prstGeom prst="rect">
            <a:avLst/>
          </a:prstGeom>
          <a:solidFill>
            <a:srgbClr val="DDEEFF"/>
          </a:solidFill>
          <a:ln w="25400">
            <a:noFill/>
          </a:ln>
        </p:spPr>
        <p:txBody>
          <a:bodyPr wrap="square">
            <a:spAutoFit/>
          </a:bodyPr>
          <a:lstStyle/>
          <a:p>
            <a:pPr>
              <a:lnSpc>
                <a:spcPct val="130000"/>
              </a:lnSpc>
            </a:pPr>
            <a:r>
              <a:rPr lang="en-US" altLang="zh-CN" sz="2200" dirty="0">
                <a:solidFill>
                  <a:srgbClr val="FF0000"/>
                </a:solidFill>
                <a:latin typeface="+mn-lt"/>
              </a:rPr>
              <a:t>; </a:t>
            </a:r>
            <a:r>
              <a:rPr lang="zh-CN" altLang="en-US" sz="2200" dirty="0">
                <a:solidFill>
                  <a:srgbClr val="FF0000"/>
                </a:solidFill>
                <a:latin typeface="+mn-lt"/>
              </a:rPr>
              <a:t>数据段</a:t>
            </a:r>
            <a:endParaRPr lang="zh-CN" altLang="en-US" sz="2200" dirty="0">
              <a:solidFill>
                <a:srgbClr val="FF0000"/>
              </a:solidFill>
              <a:latin typeface="+mn-lt"/>
            </a:endParaRPr>
          </a:p>
          <a:p>
            <a:pPr>
              <a:lnSpc>
                <a:spcPct val="130000"/>
              </a:lnSpc>
            </a:pPr>
            <a:r>
              <a:rPr lang="en-US" altLang="zh-CN" sz="2200" b="1" dirty="0">
                <a:latin typeface="+mn-lt"/>
              </a:rPr>
              <a:t>msg	byte 'welcome', 0</a:t>
            </a:r>
            <a:endParaRPr lang="en-US" altLang="zh-CN" sz="2200" b="1" dirty="0">
              <a:latin typeface="+mn-lt"/>
            </a:endParaRPr>
          </a:p>
          <a:p>
            <a:pPr>
              <a:lnSpc>
                <a:spcPct val="130000"/>
              </a:lnSpc>
            </a:pPr>
            <a:r>
              <a:rPr lang="en-US" altLang="zh-CN" sz="2200" dirty="0">
                <a:solidFill>
                  <a:srgbClr val="FF0000"/>
                </a:solidFill>
                <a:latin typeface="+mn-lt"/>
              </a:rPr>
              <a:t>; </a:t>
            </a:r>
            <a:r>
              <a:rPr lang="zh-CN" altLang="en-US" sz="2200" dirty="0">
                <a:solidFill>
                  <a:srgbClr val="FF0000"/>
                </a:solidFill>
                <a:latin typeface="+mn-lt"/>
              </a:rPr>
              <a:t>代码段</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mov </a:t>
            </a:r>
            <a:r>
              <a:rPr lang="en-US" altLang="zh-CN" sz="2200" b="1" dirty="0" err="1">
                <a:latin typeface="+mn-lt"/>
              </a:rPr>
              <a:t>ecx</a:t>
            </a:r>
            <a:r>
              <a:rPr lang="en-US" altLang="zh-CN" sz="2200" b="1" dirty="0">
                <a:latin typeface="+mn-lt"/>
              </a:rPr>
              <a:t>, (</a:t>
            </a:r>
            <a:r>
              <a:rPr lang="en-US" altLang="zh-CN" sz="2200" b="1" dirty="0" err="1">
                <a:latin typeface="+mn-lt"/>
              </a:rPr>
              <a:t>lengthof</a:t>
            </a:r>
            <a:r>
              <a:rPr lang="en-US" altLang="zh-CN" sz="2200" b="1" dirty="0">
                <a:latin typeface="+mn-lt"/>
              </a:rPr>
              <a:t> msg)</a:t>
            </a:r>
            <a:r>
              <a:rPr lang="en-US" altLang="zh-CN" sz="2200" b="1" dirty="0">
                <a:solidFill>
                  <a:srgbClr val="FF0000"/>
                </a:solidFill>
                <a:latin typeface="+mn-lt"/>
              </a:rPr>
              <a:t>-1     </a:t>
            </a:r>
            <a:r>
              <a:rPr lang="en-US" altLang="zh-CN" sz="1400" b="1" dirty="0">
                <a:solidFill>
                  <a:srgbClr val="FF0000"/>
                </a:solidFill>
                <a:latin typeface="+mn-lt"/>
              </a:rPr>
              <a:t> </a:t>
            </a:r>
            <a:r>
              <a:rPr lang="en-US" altLang="zh-CN" sz="2200" dirty="0">
                <a:solidFill>
                  <a:srgbClr val="FF0000"/>
                </a:solidFill>
                <a:latin typeface="+mn-lt"/>
              </a:rPr>
              <a:t>; ECX</a:t>
            </a:r>
            <a:r>
              <a:rPr lang="zh-CN" altLang="en-US" sz="2200" dirty="0">
                <a:solidFill>
                  <a:srgbClr val="FF0000"/>
                </a:solidFill>
                <a:latin typeface="+mn-lt"/>
              </a:rPr>
              <a:t>等于字符串长度</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mov ebx,0</a:t>
            </a:r>
            <a:r>
              <a:rPr lang="en-US" altLang="zh-CN" sz="2200" dirty="0">
                <a:solidFill>
                  <a:srgbClr val="FF0000"/>
                </a:solidFill>
                <a:latin typeface="+mn-lt"/>
              </a:rPr>
              <a:t>		          ; EBX</a:t>
            </a:r>
            <a:r>
              <a:rPr lang="zh-CN" altLang="en-US" sz="2200" dirty="0">
                <a:solidFill>
                  <a:srgbClr val="FF0000"/>
                </a:solidFill>
                <a:latin typeface="+mn-lt"/>
              </a:rPr>
              <a:t>＝</a:t>
            </a:r>
            <a:r>
              <a:rPr lang="en-US" altLang="zh-CN" sz="2200" dirty="0">
                <a:solidFill>
                  <a:srgbClr val="FF0000"/>
                </a:solidFill>
                <a:latin typeface="+mn-lt"/>
              </a:rPr>
              <a:t>0</a:t>
            </a:r>
            <a:r>
              <a:rPr lang="zh-CN" altLang="en-US" sz="2200" dirty="0">
                <a:solidFill>
                  <a:srgbClr val="FF0000"/>
                </a:solidFill>
                <a:latin typeface="+mn-lt"/>
              </a:rPr>
              <a:t>指向头一个字母</a:t>
            </a:r>
            <a:endParaRPr lang="zh-CN" altLang="en-US" sz="2200" dirty="0">
              <a:solidFill>
                <a:srgbClr val="FF0000"/>
              </a:solidFill>
              <a:latin typeface="+mn-lt"/>
            </a:endParaRPr>
          </a:p>
          <a:p>
            <a:pPr>
              <a:lnSpc>
                <a:spcPct val="130000"/>
              </a:lnSpc>
            </a:pPr>
            <a:r>
              <a:rPr lang="en-US" altLang="zh-CN" sz="2200" b="1" dirty="0">
                <a:latin typeface="+mn-lt"/>
              </a:rPr>
              <a:t>again:	sub msg[</a:t>
            </a:r>
            <a:r>
              <a:rPr lang="en-US" altLang="zh-CN" sz="2200" b="1" dirty="0" err="1">
                <a:latin typeface="+mn-lt"/>
              </a:rPr>
              <a:t>ebx</a:t>
            </a:r>
            <a:r>
              <a:rPr lang="en-US" altLang="zh-CN" sz="2200" b="1" dirty="0">
                <a:latin typeface="+mn-lt"/>
              </a:rPr>
              <a:t>], 'a'-'A'</a:t>
            </a:r>
            <a:r>
              <a:rPr lang="en-US" altLang="zh-CN" sz="2200" dirty="0">
                <a:solidFill>
                  <a:srgbClr val="FF0000"/>
                </a:solidFill>
                <a:latin typeface="+mn-lt"/>
              </a:rPr>
              <a:t>	          ; </a:t>
            </a:r>
            <a:r>
              <a:rPr lang="zh-CN" altLang="en-US" sz="2200" dirty="0">
                <a:solidFill>
                  <a:srgbClr val="FF0000"/>
                </a:solidFill>
                <a:latin typeface="+mn-lt"/>
              </a:rPr>
              <a:t>小写字母减</a:t>
            </a:r>
            <a:r>
              <a:rPr lang="en-US" altLang="zh-CN" sz="2200" dirty="0">
                <a:solidFill>
                  <a:srgbClr val="FF0000"/>
                </a:solidFill>
                <a:latin typeface="+mn-lt"/>
              </a:rPr>
              <a:t>20H</a:t>
            </a:r>
            <a:r>
              <a:rPr lang="zh-CN" altLang="en-US" sz="2200" dirty="0">
                <a:solidFill>
                  <a:srgbClr val="FF0000"/>
                </a:solidFill>
                <a:latin typeface="+mn-lt"/>
              </a:rPr>
              <a:t>转换为大写</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err="1">
                <a:latin typeface="+mn-lt"/>
              </a:rPr>
              <a:t>inc</a:t>
            </a:r>
            <a:r>
              <a:rPr lang="en-US" altLang="zh-CN" sz="2200" b="1" dirty="0">
                <a:latin typeface="+mn-lt"/>
              </a:rPr>
              <a:t> </a:t>
            </a:r>
            <a:r>
              <a:rPr lang="en-US" altLang="zh-CN" sz="2200" b="1" dirty="0" err="1">
                <a:latin typeface="+mn-lt"/>
              </a:rPr>
              <a:t>ebx</a:t>
            </a:r>
            <a:r>
              <a:rPr lang="en-US" altLang="zh-CN" sz="2200" b="1" dirty="0">
                <a:latin typeface="+mn-lt"/>
              </a:rPr>
              <a:t>	</a:t>
            </a:r>
            <a:r>
              <a:rPr lang="en-US" altLang="zh-CN" sz="2200" dirty="0">
                <a:solidFill>
                  <a:srgbClr val="FF0000"/>
                </a:solidFill>
                <a:latin typeface="+mn-lt"/>
              </a:rPr>
              <a:t>		          ; </a:t>
            </a:r>
            <a:r>
              <a:rPr lang="zh-CN" altLang="en-US" sz="2200" dirty="0">
                <a:solidFill>
                  <a:srgbClr val="FF0000"/>
                </a:solidFill>
                <a:latin typeface="+mn-lt"/>
              </a:rPr>
              <a:t>指向下一个字母</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latin typeface="+mn-lt"/>
              </a:rPr>
              <a:t>loop again</a:t>
            </a:r>
            <a:r>
              <a:rPr lang="en-US" altLang="zh-CN" sz="2200" dirty="0">
                <a:solidFill>
                  <a:srgbClr val="FF0000"/>
                </a:solidFill>
                <a:latin typeface="+mn-lt"/>
              </a:rPr>
              <a:t>		          ; </a:t>
            </a:r>
            <a:r>
              <a:rPr lang="zh-CN" altLang="en-US" sz="2200" dirty="0">
                <a:solidFill>
                  <a:srgbClr val="FF0000"/>
                </a:solidFill>
                <a:latin typeface="+mn-lt"/>
              </a:rPr>
              <a:t>循环</a:t>
            </a:r>
            <a:endParaRPr lang="zh-CN" altLang="en-US" sz="2200" dirty="0">
              <a:solidFill>
                <a:srgbClr val="FF0000"/>
              </a:solidFill>
              <a:latin typeface="+mn-lt"/>
            </a:endParaRPr>
          </a:p>
          <a:p>
            <a:pPr>
              <a:lnSpc>
                <a:spcPct val="130000"/>
              </a:lnSpc>
            </a:pPr>
            <a:r>
              <a:rPr lang="zh-CN" altLang="en-US" sz="2200" dirty="0">
                <a:solidFill>
                  <a:srgbClr val="FF0000"/>
                </a:solidFill>
                <a:latin typeface="+mn-lt"/>
              </a:rPr>
              <a:t>	</a:t>
            </a:r>
            <a:r>
              <a:rPr lang="en-US" altLang="zh-CN" sz="2200" b="1" dirty="0">
                <a:solidFill>
                  <a:schemeClr val="tx1"/>
                </a:solidFill>
                <a:latin typeface="+mn-lt"/>
              </a:rPr>
              <a:t>mov </a:t>
            </a:r>
            <a:r>
              <a:rPr lang="en-US" altLang="zh-CN" sz="2200" b="1" dirty="0" err="1">
                <a:solidFill>
                  <a:schemeClr val="tx1"/>
                </a:solidFill>
                <a:latin typeface="+mn-lt"/>
              </a:rPr>
              <a:t>eax</a:t>
            </a:r>
            <a:r>
              <a:rPr lang="en-US" altLang="zh-CN" sz="2200" b="1" dirty="0">
                <a:solidFill>
                  <a:schemeClr val="tx1"/>
                </a:solidFill>
                <a:latin typeface="+mn-lt"/>
              </a:rPr>
              <a:t>, offset msg</a:t>
            </a:r>
            <a:endParaRPr lang="en-US" altLang="zh-CN" sz="2200" b="1" dirty="0">
              <a:solidFill>
                <a:schemeClr val="tx1"/>
              </a:solidFill>
              <a:latin typeface="+mn-lt"/>
            </a:endParaRPr>
          </a:p>
          <a:p>
            <a:pPr>
              <a:lnSpc>
                <a:spcPct val="130000"/>
              </a:lnSpc>
            </a:pPr>
            <a:r>
              <a:rPr lang="en-US" altLang="zh-CN" sz="2200" dirty="0">
                <a:solidFill>
                  <a:schemeClr val="tx1"/>
                </a:solidFill>
                <a:latin typeface="+mn-lt"/>
              </a:rPr>
              <a:t>	</a:t>
            </a:r>
            <a:r>
              <a:rPr lang="en-US" altLang="zh-CN" sz="2200" b="1" dirty="0">
                <a:solidFill>
                  <a:schemeClr val="tx1"/>
                </a:solidFill>
                <a:latin typeface="+mn-lt"/>
              </a:rPr>
              <a:t>call </a:t>
            </a:r>
            <a:r>
              <a:rPr lang="en-US" altLang="zh-CN" sz="2200" b="1" dirty="0" err="1">
                <a:solidFill>
                  <a:schemeClr val="tx1"/>
                </a:solidFill>
                <a:latin typeface="+mn-lt"/>
              </a:rPr>
              <a:t>dispmsg</a:t>
            </a:r>
            <a:r>
              <a:rPr lang="en-US" altLang="zh-CN" sz="2200" b="1" dirty="0">
                <a:solidFill>
                  <a:schemeClr val="tx1"/>
                </a:solidFill>
                <a:latin typeface="+mn-lt"/>
              </a:rPr>
              <a:t>	</a:t>
            </a:r>
            <a:r>
              <a:rPr lang="en-US" altLang="zh-CN" sz="2200" dirty="0">
                <a:solidFill>
                  <a:schemeClr val="tx1"/>
                </a:solidFill>
                <a:latin typeface="+mn-lt"/>
              </a:rPr>
              <a:t>	          ; </a:t>
            </a:r>
            <a:r>
              <a:rPr lang="zh-CN" altLang="en-US" sz="2200" dirty="0">
                <a:solidFill>
                  <a:schemeClr val="tx1"/>
                </a:solidFill>
                <a:latin typeface="+mn-lt"/>
              </a:rPr>
              <a:t>显示</a:t>
            </a:r>
            <a:endParaRPr lang="zh-CN" altLang="en-US" sz="2200" b="1" dirty="0">
              <a:solidFill>
                <a:schemeClr val="tx1"/>
              </a:solidFill>
              <a:latin typeface="+mn-lt"/>
            </a:endParaRPr>
          </a:p>
        </p:txBody>
      </p:sp>
      <p:sp>
        <p:nvSpPr>
          <p:cNvPr id="4" name="AutoShape 4"/>
          <p:cNvSpPr>
            <a:spLocks noChangeArrowheads="1"/>
          </p:cNvSpPr>
          <p:nvPr/>
        </p:nvSpPr>
        <p:spPr bwMode="auto">
          <a:xfrm>
            <a:off x="5723396" y="1868214"/>
            <a:ext cx="2929086" cy="849296"/>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寄存器相对寻址</a:t>
            </a:r>
            <a:endPar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大小写字母相差</a:t>
            </a: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20H</a:t>
            </a:r>
            <a:endPar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39552" y="721271"/>
            <a:ext cx="8064896" cy="6136729"/>
          </a:xfrm>
          <a:prstGeom prst="rect">
            <a:avLst/>
          </a:prstGeom>
        </p:spPr>
        <p:txBody>
          <a:bodyPr/>
          <a:lstStyle/>
          <a:p>
            <a:pPr algn="just">
              <a:lnSpc>
                <a:spcPct val="130000"/>
              </a:lnSpc>
              <a:spcBef>
                <a:spcPts val="0"/>
              </a:spcBef>
              <a:buClr>
                <a:srgbClr val="0000FF"/>
              </a:buClr>
              <a:buSzPct val="100000"/>
              <a:defRPr/>
            </a:pPr>
            <a:r>
              <a:rPr lang="zh-CN" altLang="en-US" sz="2600" dirty="0">
                <a:solidFill>
                  <a:schemeClr val="tx1"/>
                </a:solidFill>
                <a:latin typeface="+mn-lt"/>
              </a:rPr>
              <a:t>例：将小写字母组成的字符串改成大写字母</a:t>
            </a:r>
            <a:endParaRPr lang="en-US" altLang="zh-CN" sz="2600" dirty="0">
              <a:solidFill>
                <a:schemeClr val="tx1"/>
              </a:solidFill>
              <a:latin typeface="+mn-lt"/>
            </a:endParaRPr>
          </a:p>
          <a:p>
            <a:pPr algn="just">
              <a:lnSpc>
                <a:spcPct val="130000"/>
              </a:lnSpc>
              <a:spcBef>
                <a:spcPts val="0"/>
              </a:spcBef>
              <a:buClr>
                <a:srgbClr val="0000FF"/>
              </a:buClr>
              <a:buSzPct val="100000"/>
              <a:defRPr/>
            </a:pPr>
            <a:r>
              <a:rPr lang="zh-CN" altLang="en-US" sz="2400" b="0" i="0" dirty="0">
                <a:solidFill>
                  <a:schemeClr val="tx1"/>
                </a:solidFill>
                <a:effectLst/>
                <a:highlight>
                  <a:srgbClr val="FFFF00"/>
                </a:highlight>
                <a:latin typeface="+mj-lt"/>
              </a:rPr>
              <a:t>教材中的写法，使用</a:t>
            </a:r>
            <a:r>
              <a:rPr lang="en-US" altLang="zh-CN" sz="2400" b="0" i="0" dirty="0">
                <a:solidFill>
                  <a:schemeClr val="tx1"/>
                </a:solidFill>
                <a:effectLst/>
                <a:highlight>
                  <a:srgbClr val="FFFF00"/>
                </a:highlight>
                <a:latin typeface="+mj-lt"/>
              </a:rPr>
              <a:t>CMP</a:t>
            </a:r>
            <a:r>
              <a:rPr lang="zh-CN" altLang="en-US" sz="2400" b="0" i="0" dirty="0">
                <a:solidFill>
                  <a:schemeClr val="tx1"/>
                </a:solidFill>
                <a:effectLst/>
                <a:highlight>
                  <a:srgbClr val="FFFF00"/>
                </a:highlight>
                <a:latin typeface="+mj-lt"/>
              </a:rPr>
              <a:t>指令实现循环结构</a:t>
            </a:r>
            <a:endParaRPr lang="zh-CN" altLang="en-US" sz="2400" b="0" i="0" dirty="0">
              <a:solidFill>
                <a:schemeClr val="tx1"/>
              </a:solidFill>
              <a:effectLst/>
              <a:highlight>
                <a:srgbClr val="FFFF00"/>
              </a:highlight>
              <a:latin typeface="+mj-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3-5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大小写字母转换程序</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endPar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868214"/>
            <a:ext cx="8016948" cy="4490085"/>
          </a:xfrm>
          <a:prstGeom prst="rect">
            <a:avLst/>
          </a:prstGeom>
          <a:solidFill>
            <a:srgbClr val="DDEEFF"/>
          </a:solidFill>
          <a:ln w="25400">
            <a:noFill/>
          </a:ln>
        </p:spPr>
        <p:txBody>
          <a:bodyPr wrap="square">
            <a:spAutoFit/>
          </a:bodyPr>
          <a:lstStyle/>
          <a:p>
            <a:pPr>
              <a:lnSpc>
                <a:spcPct val="130000"/>
              </a:lnSpc>
            </a:pPr>
            <a:r>
              <a:rPr lang="en-US" altLang="zh-CN" sz="2200" dirty="0">
                <a:solidFill>
                  <a:schemeClr val="tx1"/>
                </a:solidFill>
                <a:latin typeface="+mn-lt"/>
              </a:rPr>
              <a:t>;</a:t>
            </a:r>
            <a:r>
              <a:rPr lang="zh-CN" altLang="en-US" sz="2200" dirty="0">
                <a:solidFill>
                  <a:schemeClr val="tx1"/>
                </a:solidFill>
                <a:latin typeface="+mn-lt"/>
              </a:rPr>
              <a:t>数据段</a:t>
            </a:r>
            <a:endParaRPr lang="zh-CN" altLang="en-US" sz="2200" dirty="0">
              <a:solidFill>
                <a:schemeClr val="tx1"/>
              </a:solidFill>
              <a:latin typeface="+mn-lt"/>
            </a:endParaRPr>
          </a:p>
          <a:p>
            <a:pPr>
              <a:lnSpc>
                <a:spcPct val="130000"/>
              </a:lnSpc>
            </a:pPr>
            <a:r>
              <a:rPr lang="en-US" altLang="zh-CN" sz="2200" b="1" dirty="0">
                <a:latin typeface="+mn-lt"/>
              </a:rPr>
              <a:t>msg	byte 'welcome',0</a:t>
            </a:r>
            <a:endParaRPr lang="en-US" altLang="zh-CN" sz="2200" b="1" dirty="0">
              <a:latin typeface="+mn-lt"/>
            </a:endParaRPr>
          </a:p>
          <a:p>
            <a:pPr>
              <a:lnSpc>
                <a:spcPct val="130000"/>
              </a:lnSpc>
            </a:pPr>
            <a:r>
              <a:rPr lang="en-US" altLang="zh-CN" sz="2200" b="1" dirty="0">
                <a:latin typeface="+mn-lt"/>
              </a:rPr>
              <a:t>count equ $-msg		       </a:t>
            </a:r>
            <a:r>
              <a:rPr lang="en-US" altLang="zh-CN" sz="2200" b="1" dirty="0">
                <a:solidFill>
                  <a:srgbClr val="FF0000"/>
                </a:solidFill>
                <a:latin typeface="+mn-lt"/>
              </a:rPr>
              <a:t>;count</a:t>
            </a:r>
            <a:r>
              <a:rPr lang="zh-CN" altLang="en-US" sz="2200" b="1" dirty="0">
                <a:solidFill>
                  <a:srgbClr val="FF0000"/>
                </a:solidFill>
                <a:latin typeface="+mn-lt"/>
              </a:rPr>
              <a:t>等于字符个数</a:t>
            </a:r>
            <a:endParaRPr lang="zh-CN" altLang="en-US" sz="2200" b="1" dirty="0">
              <a:latin typeface="+mn-lt"/>
            </a:endParaRPr>
          </a:p>
          <a:p>
            <a:pPr>
              <a:lnSpc>
                <a:spcPct val="130000"/>
              </a:lnSpc>
            </a:pPr>
            <a:r>
              <a:rPr lang="en-US" altLang="zh-CN" sz="2200" dirty="0">
                <a:solidFill>
                  <a:schemeClr val="tx1"/>
                </a:solidFill>
                <a:latin typeface="+mn-lt"/>
              </a:rPr>
              <a:t>;</a:t>
            </a:r>
            <a:r>
              <a:rPr lang="zh-CN" altLang="en-US" sz="2200" dirty="0">
                <a:solidFill>
                  <a:schemeClr val="tx1"/>
                </a:solidFill>
                <a:latin typeface="+mn-lt"/>
              </a:rPr>
              <a:t>代码段</a:t>
            </a:r>
            <a:endParaRPr lang="zh-CN" altLang="en-US" sz="2200" dirty="0">
              <a:solidFill>
                <a:schemeClr val="tx1"/>
              </a:solidFill>
              <a:latin typeface="+mn-lt"/>
            </a:endParaRPr>
          </a:p>
          <a:p>
            <a:pPr>
              <a:lnSpc>
                <a:spcPct val="130000"/>
              </a:lnSpc>
            </a:pPr>
            <a:r>
              <a:rPr lang="en-US" altLang="zh-CN" sz="2200" b="1" dirty="0">
                <a:latin typeface="+mn-lt"/>
              </a:rPr>
              <a:t>	mov ecx,count-1	       </a:t>
            </a:r>
            <a:r>
              <a:rPr lang="en-US" altLang="zh-CN" sz="2200" b="1" dirty="0">
                <a:solidFill>
                  <a:srgbClr val="FF0000"/>
                </a:solidFill>
                <a:latin typeface="+mn-lt"/>
              </a:rPr>
              <a:t>;ECX</a:t>
            </a:r>
            <a:r>
              <a:rPr lang="zh-CN" altLang="en-US" sz="2200" b="1" dirty="0">
                <a:solidFill>
                  <a:srgbClr val="FF0000"/>
                </a:solidFill>
                <a:latin typeface="+mn-lt"/>
              </a:rPr>
              <a:t>等于字符串长度</a:t>
            </a:r>
            <a:endParaRPr lang="zh-CN" altLang="en-US" sz="2200" b="1" dirty="0">
              <a:latin typeface="+mn-lt"/>
            </a:endParaRPr>
          </a:p>
          <a:p>
            <a:pPr>
              <a:lnSpc>
                <a:spcPct val="130000"/>
              </a:lnSpc>
            </a:pPr>
            <a:r>
              <a:rPr lang="en-US" altLang="zh-CN" sz="2200" b="1" dirty="0">
                <a:latin typeface="+mn-lt"/>
              </a:rPr>
              <a:t>	mov ebx,0		       </a:t>
            </a:r>
            <a:r>
              <a:rPr lang="en-US" altLang="zh-CN" sz="2200" b="1" dirty="0">
                <a:solidFill>
                  <a:srgbClr val="FF0000"/>
                </a:solidFill>
                <a:latin typeface="+mn-lt"/>
              </a:rPr>
              <a:t>;EBX</a:t>
            </a:r>
            <a:r>
              <a:rPr lang="zh-CN" altLang="en-US" sz="2200" b="1" dirty="0">
                <a:solidFill>
                  <a:srgbClr val="FF0000"/>
                </a:solidFill>
                <a:latin typeface="+mn-lt"/>
              </a:rPr>
              <a:t>＝</a:t>
            </a:r>
            <a:r>
              <a:rPr lang="en-US" altLang="zh-CN" sz="2200" b="1" dirty="0">
                <a:solidFill>
                  <a:srgbClr val="FF0000"/>
                </a:solidFill>
                <a:latin typeface="+mn-lt"/>
              </a:rPr>
              <a:t>0</a:t>
            </a:r>
            <a:r>
              <a:rPr lang="zh-CN" altLang="en-US" sz="2200" b="1" dirty="0">
                <a:solidFill>
                  <a:srgbClr val="FF0000"/>
                </a:solidFill>
                <a:latin typeface="+mn-lt"/>
              </a:rPr>
              <a:t>指向头一个字母</a:t>
            </a:r>
            <a:endParaRPr lang="zh-CN" altLang="en-US" sz="2200" b="1" dirty="0">
              <a:latin typeface="+mn-lt"/>
            </a:endParaRPr>
          </a:p>
          <a:p>
            <a:pPr>
              <a:lnSpc>
                <a:spcPct val="130000"/>
              </a:lnSpc>
            </a:pPr>
            <a:r>
              <a:rPr lang="en-US" altLang="zh-CN" sz="2200" b="1" dirty="0">
                <a:latin typeface="+mn-lt"/>
              </a:rPr>
              <a:t>again:	sub msg[ebx],'a'-'A'	       </a:t>
            </a:r>
            <a:r>
              <a:rPr lang="en-US" altLang="zh-CN" sz="2200" b="1" dirty="0">
                <a:solidFill>
                  <a:srgbClr val="FF0000"/>
                </a:solidFill>
                <a:latin typeface="+mn-lt"/>
              </a:rPr>
              <a:t>;</a:t>
            </a:r>
            <a:r>
              <a:rPr lang="zh-CN" altLang="en-US" sz="2200" b="1" dirty="0">
                <a:solidFill>
                  <a:srgbClr val="FF0000"/>
                </a:solidFill>
                <a:latin typeface="+mn-lt"/>
              </a:rPr>
              <a:t>小写字母减</a:t>
            </a:r>
            <a:r>
              <a:rPr lang="en-US" altLang="zh-CN" sz="2200" b="1" dirty="0">
                <a:solidFill>
                  <a:srgbClr val="FF0000"/>
                </a:solidFill>
                <a:latin typeface="+mn-lt"/>
              </a:rPr>
              <a:t>20H</a:t>
            </a:r>
            <a:r>
              <a:rPr lang="zh-CN" altLang="en-US" sz="2200" b="1" dirty="0">
                <a:solidFill>
                  <a:srgbClr val="FF0000"/>
                </a:solidFill>
                <a:latin typeface="+mn-lt"/>
              </a:rPr>
              <a:t>转换为大写</a:t>
            </a:r>
            <a:endParaRPr lang="zh-CN" altLang="en-US" sz="2200" b="1" dirty="0">
              <a:latin typeface="+mn-lt"/>
            </a:endParaRPr>
          </a:p>
          <a:p>
            <a:pPr>
              <a:lnSpc>
                <a:spcPct val="130000"/>
              </a:lnSpc>
            </a:pPr>
            <a:r>
              <a:rPr lang="en-US" altLang="zh-CN" sz="2200" b="1" dirty="0">
                <a:latin typeface="+mn-lt"/>
              </a:rPr>
              <a:t>	inc ebx			       </a:t>
            </a:r>
            <a:r>
              <a:rPr lang="en-US" altLang="zh-CN" sz="2200" b="1" dirty="0">
                <a:solidFill>
                  <a:srgbClr val="FF0000"/>
                </a:solidFill>
                <a:latin typeface="+mn-lt"/>
              </a:rPr>
              <a:t>;</a:t>
            </a:r>
            <a:r>
              <a:rPr lang="zh-CN" altLang="en-US" sz="2200" b="1" dirty="0">
                <a:solidFill>
                  <a:srgbClr val="FF0000"/>
                </a:solidFill>
                <a:latin typeface="+mn-lt"/>
              </a:rPr>
              <a:t>指向下一个字母</a:t>
            </a:r>
            <a:endParaRPr lang="zh-CN" altLang="en-US" sz="2200" b="1" dirty="0">
              <a:latin typeface="+mn-lt"/>
            </a:endParaRPr>
          </a:p>
          <a:p>
            <a:pPr>
              <a:lnSpc>
                <a:spcPct val="130000"/>
              </a:lnSpc>
            </a:pPr>
            <a:r>
              <a:rPr lang="en-US" altLang="zh-CN" sz="2200" b="1" dirty="0">
                <a:latin typeface="+mn-lt"/>
              </a:rPr>
              <a:t>	cmp ebx,ecx		       </a:t>
            </a:r>
            <a:r>
              <a:rPr lang="en-US" altLang="zh-CN" sz="2200" b="1" dirty="0">
                <a:solidFill>
                  <a:srgbClr val="FF0000"/>
                </a:solidFill>
                <a:latin typeface="+mn-lt"/>
              </a:rPr>
              <a:t>;</a:t>
            </a:r>
            <a:r>
              <a:rPr lang="zh-CN" altLang="en-US" sz="2200" b="1" dirty="0">
                <a:solidFill>
                  <a:srgbClr val="FF0000"/>
                </a:solidFill>
                <a:latin typeface="+mn-lt"/>
              </a:rPr>
              <a:t>指向下一个字母</a:t>
            </a:r>
            <a:endParaRPr lang="zh-CN" altLang="en-US" sz="2200" b="1" dirty="0">
              <a:latin typeface="+mn-lt"/>
            </a:endParaRPr>
          </a:p>
          <a:p>
            <a:pPr>
              <a:lnSpc>
                <a:spcPct val="130000"/>
              </a:lnSpc>
            </a:pPr>
            <a:r>
              <a:rPr lang="en-US" altLang="zh-CN" sz="2200" b="1" dirty="0">
                <a:latin typeface="+mn-lt"/>
              </a:rPr>
              <a:t>	jbe again		       </a:t>
            </a:r>
            <a:r>
              <a:rPr lang="en-US" altLang="zh-CN" sz="2200" b="1" dirty="0">
                <a:solidFill>
                  <a:srgbClr val="FF0000"/>
                </a:solidFill>
                <a:latin typeface="+mn-lt"/>
              </a:rPr>
              <a:t>;</a:t>
            </a:r>
            <a:r>
              <a:rPr lang="zh-CN" altLang="en-US" sz="2200" b="1" dirty="0">
                <a:solidFill>
                  <a:srgbClr val="FF0000"/>
                </a:solidFill>
                <a:latin typeface="+mn-lt"/>
              </a:rPr>
              <a:t>循环</a:t>
            </a:r>
            <a:endParaRPr lang="zh-CN" altLang="en-US" sz="2200" b="1" dirty="0">
              <a:solidFill>
                <a:srgbClr val="FF0000"/>
              </a:solidFill>
              <a:latin typeface="+mn-lt"/>
            </a:endParaRPr>
          </a:p>
        </p:txBody>
      </p:sp>
      <p:sp>
        <p:nvSpPr>
          <p:cNvPr id="5" name="AutoShape 4"/>
          <p:cNvSpPr>
            <a:spLocks noChangeArrowheads="1"/>
          </p:cNvSpPr>
          <p:nvPr/>
        </p:nvSpPr>
        <p:spPr bwMode="auto">
          <a:xfrm>
            <a:off x="5991860" y="1868170"/>
            <a:ext cx="2660650" cy="848995"/>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just"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大写＝小写－</a:t>
            </a: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20H</a:t>
            </a:r>
            <a:endPar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algn="just" eaLnBrk="1" hangingPunct="1">
              <a:lnSpc>
                <a:spcPct val="12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小写＝大写＋</a:t>
            </a: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20H</a:t>
            </a:r>
            <a:endPar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49516"/>
            <a:ext cx="8064896" cy="6136729"/>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数据传送类指令</a:t>
            </a:r>
            <a:r>
              <a:rPr lang="en-US" altLang="zh-CN" sz="2800" dirty="0">
                <a:latin typeface="+mn-lt"/>
              </a:rPr>
              <a:t>(Data Transfer Instructions)</a:t>
            </a:r>
            <a:endParaRPr lang="zh-CN" altLang="en-US" sz="2800" dirty="0">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通用数据传送指令：</a:t>
            </a:r>
            <a:r>
              <a:rPr lang="en-US" altLang="zh-CN" sz="2400" dirty="0">
                <a:solidFill>
                  <a:srgbClr val="00B050"/>
                </a:solidFill>
                <a:latin typeface="+mn-lt"/>
              </a:rPr>
              <a:t>MOV</a:t>
            </a:r>
            <a:r>
              <a:rPr lang="zh-CN" altLang="en-US" sz="2400" dirty="0">
                <a:solidFill>
                  <a:schemeClr val="tx1"/>
                </a:solidFill>
                <a:latin typeface="+mn-lt"/>
              </a:rPr>
              <a:t>和</a:t>
            </a:r>
            <a:r>
              <a:rPr lang="en-US" altLang="zh-CN" sz="2400" dirty="0">
                <a:solidFill>
                  <a:srgbClr val="00B050"/>
                </a:solidFill>
                <a:latin typeface="+mn-lt"/>
              </a:rPr>
              <a:t>XCHG</a:t>
            </a:r>
            <a:endParaRPr lang="zh-CN" altLang="en-US" sz="2400" dirty="0">
              <a:solidFill>
                <a:srgbClr val="00B050"/>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堆栈操作指令：</a:t>
            </a:r>
            <a:r>
              <a:rPr lang="en-US" altLang="zh-CN" sz="2400" dirty="0">
                <a:solidFill>
                  <a:srgbClr val="00B050"/>
                </a:solidFill>
                <a:latin typeface="+mn-lt"/>
              </a:rPr>
              <a:t>PUSH</a:t>
            </a:r>
            <a:r>
              <a:rPr lang="zh-CN" altLang="en-US" sz="2400" dirty="0">
                <a:solidFill>
                  <a:schemeClr val="tx1"/>
                </a:solidFill>
                <a:latin typeface="+mn-lt"/>
              </a:rPr>
              <a:t>和</a:t>
            </a:r>
            <a:r>
              <a:rPr lang="en-US" altLang="zh-CN" sz="2400" dirty="0">
                <a:solidFill>
                  <a:srgbClr val="00B050"/>
                </a:solidFill>
                <a:latin typeface="+mn-lt"/>
              </a:rPr>
              <a:t>POP</a:t>
            </a:r>
            <a:r>
              <a:rPr lang="zh-CN" altLang="en-US" sz="2400" dirty="0">
                <a:solidFill>
                  <a:schemeClr val="tx1"/>
                </a:solidFill>
                <a:latin typeface="+mn-lt"/>
              </a:rPr>
              <a:t>、</a:t>
            </a:r>
            <a:r>
              <a:rPr lang="en-US" altLang="zh-CN" sz="2400" dirty="0">
                <a:solidFill>
                  <a:srgbClr val="00B050"/>
                </a:solidFill>
                <a:latin typeface="+mn-lt"/>
              </a:rPr>
              <a:t>PUSHAD</a:t>
            </a:r>
            <a:r>
              <a:rPr lang="zh-CN" altLang="en-US" sz="2400" dirty="0">
                <a:solidFill>
                  <a:schemeClr val="tx1"/>
                </a:solidFill>
                <a:latin typeface="+mn-lt"/>
              </a:rPr>
              <a:t>和</a:t>
            </a:r>
            <a:r>
              <a:rPr lang="en-US" altLang="zh-CN" sz="2400" dirty="0">
                <a:solidFill>
                  <a:srgbClr val="00B050"/>
                </a:solidFill>
                <a:latin typeface="+mn-lt"/>
              </a:rPr>
              <a:t>POPAD</a:t>
            </a:r>
            <a:endParaRPr lang="zh-CN" altLang="en-US" sz="2400" dirty="0">
              <a:solidFill>
                <a:srgbClr val="00B050"/>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其它传送指令</a:t>
            </a:r>
            <a:endParaRPr lang="en-US" altLang="zh-CN" sz="2400" dirty="0">
              <a:solidFill>
                <a:schemeClr val="tx1"/>
              </a:solidFill>
              <a:latin typeface="+mn-lt"/>
            </a:endParaRP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算术运算类指令</a:t>
            </a:r>
            <a:r>
              <a:rPr lang="en-US" altLang="zh-CN" sz="2800" dirty="0">
                <a:latin typeface="+mn-lt"/>
              </a:rPr>
              <a:t>(Arithmetic Instructions)</a:t>
            </a:r>
            <a:endParaRPr lang="zh-CN" altLang="en-US" sz="2800" dirty="0">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加法指令：</a:t>
            </a:r>
            <a:r>
              <a:rPr lang="en-US" altLang="zh-CN" sz="2400" b="1" dirty="0">
                <a:solidFill>
                  <a:srgbClr val="00B050"/>
                </a:solidFill>
                <a:latin typeface="+mj-lt"/>
                <a:ea typeface="黑体" panose="02010609060101010101" pitchFamily="49" charset="-122"/>
              </a:rPr>
              <a:t> </a:t>
            </a:r>
            <a:r>
              <a:rPr lang="en-US" altLang="zh-CN" sz="2400" dirty="0">
                <a:solidFill>
                  <a:srgbClr val="00B050"/>
                </a:solidFill>
                <a:latin typeface="+mn-lt"/>
              </a:rPr>
              <a:t>ADD</a:t>
            </a:r>
            <a:r>
              <a:rPr lang="zh-CN" altLang="en-US" sz="2400" dirty="0">
                <a:solidFill>
                  <a:schemeClr val="tx1"/>
                </a:solidFill>
                <a:latin typeface="+mn-lt"/>
              </a:rPr>
              <a:t>、</a:t>
            </a:r>
            <a:r>
              <a:rPr lang="en-US" altLang="zh-CN" sz="2400" dirty="0">
                <a:solidFill>
                  <a:srgbClr val="00B050"/>
                </a:solidFill>
                <a:latin typeface="+mn-lt"/>
              </a:rPr>
              <a:t>ADC</a:t>
            </a:r>
            <a:r>
              <a:rPr lang="zh-CN" altLang="en-US" sz="2400" dirty="0">
                <a:solidFill>
                  <a:schemeClr val="tx1"/>
                </a:solidFill>
                <a:latin typeface="+mn-lt"/>
              </a:rPr>
              <a:t>和</a:t>
            </a:r>
            <a:r>
              <a:rPr lang="en-US" altLang="zh-CN" sz="2400" dirty="0">
                <a:solidFill>
                  <a:srgbClr val="00B050"/>
                </a:solidFill>
                <a:latin typeface="+mn-lt"/>
              </a:rPr>
              <a:t>INC</a:t>
            </a:r>
            <a:endParaRPr lang="zh-CN" altLang="en-US" sz="2400" dirty="0">
              <a:solidFill>
                <a:srgbClr val="00B050"/>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减法指令：</a:t>
            </a:r>
            <a:r>
              <a:rPr lang="en-US" altLang="zh-CN" sz="2400" b="1" dirty="0">
                <a:solidFill>
                  <a:srgbClr val="00B050"/>
                </a:solidFill>
                <a:latin typeface="+mj-lt"/>
                <a:ea typeface="黑体" panose="02010609060101010101" pitchFamily="49" charset="-122"/>
              </a:rPr>
              <a:t> </a:t>
            </a:r>
            <a:r>
              <a:rPr lang="en-US" altLang="zh-CN" sz="2400" dirty="0">
                <a:solidFill>
                  <a:srgbClr val="00B050"/>
                </a:solidFill>
                <a:latin typeface="+mn-lt"/>
              </a:rPr>
              <a:t>SUB</a:t>
            </a:r>
            <a:r>
              <a:rPr lang="zh-CN" altLang="en-US" sz="2400" dirty="0">
                <a:solidFill>
                  <a:schemeClr val="tx1"/>
                </a:solidFill>
                <a:latin typeface="+mn-lt"/>
              </a:rPr>
              <a:t>、</a:t>
            </a:r>
            <a:r>
              <a:rPr lang="en-US" altLang="zh-CN" sz="2400" dirty="0">
                <a:solidFill>
                  <a:srgbClr val="00B050"/>
                </a:solidFill>
                <a:latin typeface="+mn-lt"/>
              </a:rPr>
              <a:t>SBB</a:t>
            </a:r>
            <a:r>
              <a:rPr lang="zh-CN" altLang="en-US" sz="2400" dirty="0">
                <a:solidFill>
                  <a:schemeClr val="tx1"/>
                </a:solidFill>
                <a:latin typeface="+mn-lt"/>
              </a:rPr>
              <a:t>、</a:t>
            </a:r>
            <a:r>
              <a:rPr lang="en-US" altLang="zh-CN" sz="2400" dirty="0">
                <a:solidFill>
                  <a:srgbClr val="00B050"/>
                </a:solidFill>
                <a:latin typeface="+mn-lt"/>
              </a:rPr>
              <a:t>DEC</a:t>
            </a:r>
            <a:r>
              <a:rPr lang="zh-CN" altLang="en-US" sz="2400" dirty="0">
                <a:solidFill>
                  <a:schemeClr val="tx1"/>
                </a:solidFill>
                <a:latin typeface="+mn-lt"/>
              </a:rPr>
              <a:t>、</a:t>
            </a:r>
            <a:r>
              <a:rPr lang="en-US" altLang="zh-CN" sz="2400" dirty="0">
                <a:solidFill>
                  <a:srgbClr val="00B050"/>
                </a:solidFill>
                <a:latin typeface="+mn-lt"/>
              </a:rPr>
              <a:t>CMP</a:t>
            </a:r>
            <a:r>
              <a:rPr lang="zh-CN" altLang="en-US" sz="2400" dirty="0">
                <a:solidFill>
                  <a:schemeClr val="tx1"/>
                </a:solidFill>
                <a:latin typeface="+mn-lt"/>
              </a:rPr>
              <a:t>和</a:t>
            </a:r>
            <a:r>
              <a:rPr lang="en-US" altLang="zh-CN" sz="2400" dirty="0">
                <a:solidFill>
                  <a:srgbClr val="00B050"/>
                </a:solidFill>
                <a:latin typeface="+mn-lt"/>
              </a:rPr>
              <a:t>NEG</a:t>
            </a:r>
            <a:endParaRPr lang="en-US" altLang="zh-CN" sz="2400" dirty="0">
              <a:solidFill>
                <a:srgbClr val="00B050"/>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乘法除法指令：</a:t>
            </a:r>
            <a:r>
              <a:rPr lang="en-US" altLang="zh-CN" sz="2400" dirty="0">
                <a:solidFill>
                  <a:srgbClr val="FF0000"/>
                </a:solidFill>
                <a:latin typeface="+mn-lt"/>
              </a:rPr>
              <a:t>MUL</a:t>
            </a:r>
            <a:r>
              <a:rPr lang="zh-CN" altLang="en-US" sz="2400" dirty="0">
                <a:solidFill>
                  <a:srgbClr val="FF0000"/>
                </a:solidFill>
                <a:latin typeface="+mn-lt"/>
              </a:rPr>
              <a:t>、</a:t>
            </a:r>
            <a:r>
              <a:rPr lang="en-US" altLang="zh-CN" sz="2400" dirty="0">
                <a:solidFill>
                  <a:srgbClr val="FF0000"/>
                </a:solidFill>
                <a:latin typeface="+mn-lt"/>
              </a:rPr>
              <a:t>IMUL</a:t>
            </a:r>
            <a:r>
              <a:rPr lang="zh-CN" altLang="en-US" sz="2400" dirty="0">
                <a:solidFill>
                  <a:srgbClr val="FF0000"/>
                </a:solidFill>
                <a:latin typeface="+mn-lt"/>
              </a:rPr>
              <a:t>、</a:t>
            </a:r>
            <a:r>
              <a:rPr lang="en-US" altLang="zh-CN" sz="2400" dirty="0">
                <a:solidFill>
                  <a:srgbClr val="FF0000"/>
                </a:solidFill>
                <a:latin typeface="+mn-lt"/>
              </a:rPr>
              <a:t>DIV</a:t>
            </a:r>
            <a:r>
              <a:rPr lang="zh-CN" altLang="en-US" sz="2400" dirty="0">
                <a:solidFill>
                  <a:srgbClr val="FF0000"/>
                </a:solidFill>
                <a:latin typeface="+mn-lt"/>
              </a:rPr>
              <a:t>、</a:t>
            </a:r>
            <a:r>
              <a:rPr lang="en-US" altLang="zh-CN" sz="2400" dirty="0">
                <a:solidFill>
                  <a:srgbClr val="FF0000"/>
                </a:solidFill>
                <a:latin typeface="+mn-lt"/>
              </a:rPr>
              <a:t>IDIV</a:t>
            </a:r>
            <a:r>
              <a:rPr lang="en-US" altLang="zh-CN" sz="2400" dirty="0">
                <a:solidFill>
                  <a:srgbClr val="FF0000"/>
                </a:solidFill>
              </a:rPr>
              <a:t>…</a:t>
            </a:r>
            <a:endParaRPr lang="en-US" altLang="zh-CN" sz="2400" dirty="0">
              <a:solidFill>
                <a:srgbClr val="FF0000"/>
              </a:solidFill>
            </a:endParaRPr>
          </a:p>
          <a:p>
            <a:pPr lvl="1" indent="-457200" algn="just" latinLnBrk="0">
              <a:lnSpc>
                <a:spcPct val="130000"/>
              </a:lnSpc>
              <a:spcBef>
                <a:spcPts val="0"/>
              </a:spcBef>
              <a:buClr>
                <a:srgbClr val="0000FF"/>
              </a:buClr>
              <a:buSzTx/>
              <a:buFont typeface="Wingdings" panose="05000000000000000000" pitchFamily="2" charset="2"/>
              <a:buChar char="Ø"/>
              <a:defRPr/>
            </a:pPr>
            <a:r>
              <a:rPr lang="zh-CN" altLang="en-US" sz="2800" dirty="0">
                <a:latin typeface="+mn-lt"/>
                <a:sym typeface="+mn-ea"/>
              </a:rPr>
              <a:t>其他运算指令</a:t>
            </a:r>
            <a:endParaRPr lang="zh-CN" altLang="en-US" sz="2800" dirty="0">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零位扩展和符号扩展指令：</a:t>
            </a:r>
            <a:r>
              <a:rPr lang="en-US" altLang="zh-CN" sz="2400" dirty="0">
                <a:solidFill>
                  <a:srgbClr val="FF0000"/>
                </a:solidFill>
                <a:latin typeface="+mn-lt"/>
              </a:rPr>
              <a:t>MOVZX</a:t>
            </a:r>
            <a:r>
              <a:rPr lang="zh-CN" altLang="en-US" sz="2400" dirty="0">
                <a:solidFill>
                  <a:srgbClr val="FF0000"/>
                </a:solidFill>
                <a:latin typeface="+mn-lt"/>
              </a:rPr>
              <a:t>、</a:t>
            </a:r>
            <a:r>
              <a:rPr lang="en-US" altLang="zh-CN" sz="2400" dirty="0">
                <a:solidFill>
                  <a:srgbClr val="FF0000"/>
                </a:solidFill>
                <a:latin typeface="+mn-lt"/>
              </a:rPr>
              <a:t>MOVSX</a:t>
            </a:r>
            <a:r>
              <a:rPr lang="zh-CN" altLang="en-US" sz="2400" dirty="0">
                <a:solidFill>
                  <a:srgbClr val="FF0000"/>
                </a:solidFill>
                <a:latin typeface="+mn-lt"/>
              </a:rPr>
              <a:t>、</a:t>
            </a:r>
            <a:r>
              <a:rPr lang="en-US" altLang="zh-CN" sz="2400" dirty="0">
                <a:solidFill>
                  <a:srgbClr val="FF0000"/>
                </a:solidFill>
                <a:latin typeface="+mn-lt"/>
              </a:rPr>
              <a:t>CBW</a:t>
            </a:r>
            <a:r>
              <a:rPr lang="zh-CN" altLang="en-US" sz="2400" dirty="0">
                <a:solidFill>
                  <a:srgbClr val="FF0000"/>
                </a:solidFill>
                <a:latin typeface="+mn-lt"/>
              </a:rPr>
              <a:t>、</a:t>
            </a:r>
            <a:r>
              <a:rPr lang="en-US" altLang="zh-CN" sz="2400" dirty="0">
                <a:solidFill>
                  <a:srgbClr val="FF0000"/>
                </a:solidFill>
                <a:latin typeface="+mn-lt"/>
              </a:rPr>
              <a:t>CWD</a:t>
            </a:r>
            <a:r>
              <a:rPr lang="en-US" altLang="zh-CN" sz="2400" dirty="0">
                <a:solidFill>
                  <a:srgbClr val="FF0000"/>
                </a:solidFill>
              </a:rPr>
              <a:t>…</a:t>
            </a:r>
            <a:r>
              <a:rPr lang="en-US" altLang="zh-CN" sz="2400" dirty="0">
                <a:solidFill>
                  <a:srgbClr val="FF0000"/>
                </a:solidFill>
                <a:latin typeface="+mn-lt"/>
              </a:rPr>
              <a:t> </a:t>
            </a:r>
            <a:endParaRPr lang="zh-CN" altLang="en-US" sz="2400" dirty="0">
              <a:solidFill>
                <a:srgbClr val="FF0000"/>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strike="sngStrike" dirty="0">
                <a:solidFill>
                  <a:schemeClr val="tx1"/>
                </a:solidFill>
                <a:latin typeface="+mn-lt"/>
              </a:rPr>
              <a:t>十进制调整指令</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3.2.4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乘法除法等指令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654849"/>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61628" y="594350"/>
            <a:ext cx="8496944" cy="6136729"/>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en-US" altLang="zh-CN" sz="2800" dirty="0">
                <a:solidFill>
                  <a:schemeClr val="tx1"/>
                </a:solidFill>
                <a:latin typeface="+mn-lt"/>
              </a:rPr>
              <a:t>IA-32</a:t>
            </a:r>
            <a:r>
              <a:rPr lang="zh-CN" altLang="en-US" sz="2800" dirty="0">
                <a:solidFill>
                  <a:schemeClr val="tx1"/>
                </a:solidFill>
                <a:latin typeface="+mn-lt"/>
              </a:rPr>
              <a:t>处理器的乘法和除法指令比较特殊</a:t>
            </a:r>
            <a:endParaRPr lang="zh-CN" altLang="en-US" sz="2800" dirty="0">
              <a:solidFill>
                <a:schemeClr val="tx1"/>
              </a:solidFill>
              <a:latin typeface="+mn-lt"/>
            </a:endParaRPr>
          </a:p>
          <a:p>
            <a:pPr marL="914400" indent="-457200" algn="just" latinLnBrk="0">
              <a:lnSpc>
                <a:spcPct val="130000"/>
              </a:lnSpc>
              <a:spcBef>
                <a:spcPts val="0"/>
              </a:spcBef>
              <a:buClr>
                <a:srgbClr val="0000FF"/>
              </a:buClr>
              <a:buSzTx/>
              <a:buFont typeface="Wingdings" panose="05000000000000000000" charset="0"/>
              <a:buChar char="ü"/>
              <a:defRPr/>
            </a:pPr>
            <a:r>
              <a:rPr lang="zh-CN" altLang="en-US" sz="2400" dirty="0">
                <a:solidFill>
                  <a:schemeClr val="tx1"/>
                </a:solidFill>
                <a:latin typeface="+mn-lt"/>
              </a:rPr>
              <a:t>针对无符号数</a:t>
            </a:r>
            <a:r>
              <a:rPr lang="zh-CN" altLang="en-US" sz="2400" b="1" dirty="0">
                <a:latin typeface="+mn-lt"/>
                <a:sym typeface="+mn-ea"/>
              </a:rPr>
              <a:t>MUL</a:t>
            </a:r>
            <a:r>
              <a:rPr lang="zh-CN" altLang="en-US" sz="2400" dirty="0">
                <a:solidFill>
                  <a:schemeClr val="tx1"/>
                </a:solidFill>
                <a:latin typeface="+mn-lt"/>
              </a:rPr>
              <a:t>和有符号数</a:t>
            </a:r>
            <a:r>
              <a:rPr lang="zh-CN" altLang="en-US" sz="2400" b="1" dirty="0">
                <a:solidFill>
                  <a:srgbClr val="0000FF"/>
                </a:solidFill>
                <a:latin typeface="+mn-lt"/>
                <a:sym typeface="+mn-ea"/>
              </a:rPr>
              <a:t>IMUL</a:t>
            </a:r>
            <a:r>
              <a:rPr lang="zh-CN" altLang="en-US" sz="2400" dirty="0">
                <a:solidFill>
                  <a:schemeClr val="tx1"/>
                </a:solidFill>
                <a:latin typeface="+mn-lt"/>
              </a:rPr>
              <a:t>有各自的指令</a:t>
            </a:r>
            <a:endParaRPr lang="zh-CN" altLang="en-US" sz="2400" dirty="0">
              <a:solidFill>
                <a:schemeClr val="tx1"/>
              </a:solidFill>
              <a:latin typeface="+mn-lt"/>
            </a:endParaRPr>
          </a:p>
          <a:p>
            <a:pPr marL="914400" indent="-457200" algn="just" latinLnBrk="0">
              <a:lnSpc>
                <a:spcPct val="130000"/>
              </a:lnSpc>
              <a:spcBef>
                <a:spcPts val="0"/>
              </a:spcBef>
              <a:buClr>
                <a:srgbClr val="0000FF"/>
              </a:buClr>
              <a:buSzPct val="100000"/>
              <a:buFont typeface="Wingdings" panose="05000000000000000000" charset="0"/>
              <a:buChar char="ü"/>
              <a:defRPr/>
            </a:pPr>
            <a:r>
              <a:rPr lang="zh-CN" altLang="en-US" sz="2400" dirty="0">
                <a:solidFill>
                  <a:schemeClr val="tx1"/>
                </a:solidFill>
                <a:latin typeface="+mn-lt"/>
              </a:rPr>
              <a:t>有符号数指令前用</a:t>
            </a:r>
            <a:r>
              <a:rPr lang="zh-CN" altLang="en-US" sz="2400" b="1" dirty="0">
                <a:solidFill>
                  <a:srgbClr val="0000FF"/>
                </a:solidFill>
                <a:latin typeface="+mn-lt"/>
              </a:rPr>
              <a:t>I</a:t>
            </a:r>
            <a:r>
              <a:rPr lang="zh-CN" altLang="en-US" sz="2400" dirty="0">
                <a:solidFill>
                  <a:schemeClr val="tx1"/>
                </a:solidFill>
                <a:latin typeface="+mn-lt"/>
              </a:rPr>
              <a:t>（sIgned）表示</a:t>
            </a:r>
            <a:endParaRPr lang="zh-CN" altLang="en-US" sz="2800" dirty="0">
              <a:solidFill>
                <a:schemeClr val="tx1"/>
              </a:solidFill>
              <a:latin typeface="+mn-lt"/>
            </a:endParaRPr>
          </a:p>
          <a:p>
            <a:pPr marL="914400" indent="-457200" algn="just" latinLnBrk="0">
              <a:lnSpc>
                <a:spcPct val="130000"/>
              </a:lnSpc>
              <a:spcBef>
                <a:spcPts val="0"/>
              </a:spcBef>
              <a:buClr>
                <a:srgbClr val="0000FF"/>
              </a:buClr>
              <a:buSzTx/>
              <a:buFont typeface="Wingdings" panose="05000000000000000000" charset="0"/>
              <a:buChar char="ü"/>
              <a:defRPr/>
            </a:pPr>
            <a:r>
              <a:rPr lang="zh-CN" altLang="en-US" sz="2400" dirty="0">
                <a:solidFill>
                  <a:schemeClr val="tx1"/>
                </a:solidFill>
                <a:latin typeface="+mn-lt"/>
              </a:rPr>
              <a:t>隐含使用</a:t>
            </a:r>
            <a:r>
              <a:rPr lang="zh-CN" altLang="en-US" sz="2400" b="1" dirty="0">
                <a:latin typeface="+mn-lt"/>
              </a:rPr>
              <a:t>EAX</a:t>
            </a:r>
            <a:r>
              <a:rPr lang="zh-CN" altLang="en-US" sz="2400" dirty="0">
                <a:solidFill>
                  <a:schemeClr val="tx1"/>
                </a:solidFill>
                <a:latin typeface="+mn-lt"/>
              </a:rPr>
              <a:t>（和</a:t>
            </a:r>
            <a:r>
              <a:rPr lang="zh-CN" altLang="en-US" sz="2400" b="1" dirty="0">
                <a:latin typeface="+mn-lt"/>
              </a:rPr>
              <a:t>EDX</a:t>
            </a:r>
            <a:r>
              <a:rPr lang="zh-CN" altLang="en-US" sz="2400" dirty="0">
                <a:solidFill>
                  <a:schemeClr val="tx1"/>
                </a:solidFill>
                <a:latin typeface="+mn-lt"/>
              </a:rPr>
              <a:t>）寄存器</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乘法指令</a:t>
            </a:r>
            <a:r>
              <a:rPr lang="en-US" altLang="zh-CN" kern="0" dirty="0">
                <a:solidFill>
                  <a:srgbClr val="000000"/>
                </a:solidFill>
                <a:latin typeface="+mj-lt"/>
                <a:cs typeface="+mj-cs"/>
              </a:rPr>
              <a:t>Multiply</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60468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3" name="Group 186"/>
          <p:cNvGraphicFramePr>
            <a:graphicFrameLocks noGrp="1"/>
          </p:cNvGraphicFramePr>
          <p:nvPr/>
        </p:nvGraphicFramePr>
        <p:xfrm>
          <a:off x="263940" y="2739539"/>
          <a:ext cx="8686800" cy="3932430"/>
        </p:xfrm>
        <a:graphic>
          <a:graphicData uri="http://schemas.openxmlformats.org/drawingml/2006/table">
            <a:tbl>
              <a:tblPr/>
              <a:tblGrid>
                <a:gridCol w="2435852"/>
                <a:gridCol w="3816424"/>
                <a:gridCol w="2434524"/>
              </a:tblGrid>
              <a:tr h="457277">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指令类型</a:t>
                      </a:r>
                      <a:endPar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solidFill>
                      <a:schemeClr val="bg2">
                        <a:lumMod val="20000"/>
                        <a:lumOff val="80000"/>
                      </a:schemeClr>
                    </a:solid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操作数组合及功能</a:t>
                      </a:r>
                      <a:endPar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solidFill>
                      <a:schemeClr val="bg2">
                        <a:lumMod val="20000"/>
                        <a:lumOff val="80000"/>
                      </a:schemeClr>
                    </a:solid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举例</a:t>
                      </a:r>
                      <a:endPar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solidFill>
                      <a:schemeClr val="bg2">
                        <a:lumMod val="20000"/>
                        <a:lumOff val="80000"/>
                      </a:schemeClr>
                    </a:solidFill>
                  </a:tcPr>
                </a:tc>
              </a:tr>
              <a:tr h="823099">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无符号数乘法</a:t>
                      </a:r>
                      <a:endPar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0000FF"/>
                          </a:solidFill>
                          <a:effectLst/>
                          <a:latin typeface="+mj-lt"/>
                          <a:ea typeface="宋体" panose="02010600030101010101" pitchFamily="2" charset="-122"/>
                          <a:cs typeface="Times New Roman" panose="02020603050405020304" pitchFamily="18" charset="0"/>
                        </a:rPr>
                        <a:t>MUL</a:t>
                      </a:r>
                      <a:r>
                        <a:rPr kumimoji="0" lang="en-US" altLang="zh-CN" sz="2000" b="1" i="0" u="none" strike="noStrike"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 </a:t>
                      </a:r>
                      <a:r>
                        <a:rPr kumimoji="0" lang="en-US" altLang="zh-CN" sz="2000" b="1" i="0" u="none" strike="noStrike" cap="none" normalizeH="0" baseline="0" dirty="0" err="1">
                          <a:ln>
                            <a:noFill/>
                          </a:ln>
                          <a:solidFill>
                            <a:srgbClr val="00B050"/>
                          </a:solidFill>
                          <a:effectLst/>
                          <a:latin typeface="+mj-lt"/>
                          <a:ea typeface="宋体" panose="02010600030101010101" pitchFamily="2" charset="-122"/>
                          <a:cs typeface="Times New Roman" panose="02020603050405020304" pitchFamily="18" charset="0"/>
                        </a:rPr>
                        <a:t>src</a:t>
                      </a:r>
                      <a:endParaRPr kumimoji="0" lang="zh-CN" altLang="en-US" sz="2000" b="1" i="0" u="none" strike="noStrike" cap="none" normalizeH="0" baseline="0" dirty="0">
                        <a:ln>
                          <a:noFill/>
                        </a:ln>
                        <a:solidFill>
                          <a:srgbClr val="00B050"/>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2">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AX</a:t>
                      </a:r>
                      <a:r>
                        <a:rPr kumimoji="0" lang="zh-CN" altLang="pt-BR" sz="2000" b="1" i="0" u="none" strike="noStrike"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a:t>
                      </a:r>
                      <a:r>
                        <a:rPr kumimoji="0" lang="pt-BR" altLang="zh-CN" sz="2000" b="1" i="0" u="none" strike="noStrike"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AL×</a:t>
                      </a:r>
                      <a:r>
                        <a:rPr kumimoji="0" lang="pt-BR" altLang="zh-CN" sz="2000" b="1" i="0" u="none" strike="noStrike"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src</a:t>
                      </a:r>
                      <a:r>
                        <a:rPr kumimoji="0" lang="pt-BR" altLang="zh-CN" sz="2000" b="1" i="0" u="none" strike="noStrike"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(r8/m8)</a:t>
                      </a:r>
                      <a:endParaRPr kumimoji="0" lang="en-US" altLang="zh-CN" sz="2000" b="1" i="0" u="none" strike="noStrike"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DX.AX</a:t>
                      </a:r>
                      <a:r>
                        <a:rPr kumimoji="0" lang="zh-CN" altLang="pt-BR" sz="2000" b="1" i="0" u="none" strike="noStrike"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a:t>
                      </a:r>
                      <a:r>
                        <a:rPr kumimoji="0" lang="pt-BR" altLang="zh-CN" sz="2000" b="1" i="0" u="none" strike="noStrike"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AX×</a:t>
                      </a:r>
                      <a:r>
                        <a:rPr kumimoji="0" lang="pt-BR" altLang="zh-CN" sz="2000" b="1" i="0" u="none" strike="noStrike"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src</a:t>
                      </a: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(r16/m16)</a:t>
                      </a:r>
                      <a:endPar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cap="none" normalizeH="0" baseline="0" dirty="0">
                          <a:ln>
                            <a:noFill/>
                          </a:ln>
                          <a:solidFill>
                            <a:srgbClr val="FF0000"/>
                          </a:solidFill>
                          <a:effectLst/>
                          <a:latin typeface="+mj-lt"/>
                          <a:ea typeface="宋体" panose="02010600030101010101" pitchFamily="2" charset="-122"/>
                        </a:rPr>
                        <a:t>EDX.EAX</a:t>
                      </a:r>
                      <a:r>
                        <a:rPr kumimoji="0" lang="zh-CN" altLang="pt-BR" sz="2000" b="1" i="0" u="none" strike="noStrike" cap="none" normalizeH="0" baseline="0" dirty="0">
                          <a:ln>
                            <a:noFill/>
                          </a:ln>
                          <a:solidFill>
                            <a:srgbClr val="FF0000"/>
                          </a:solidFill>
                          <a:effectLst/>
                          <a:latin typeface="+mj-lt"/>
                          <a:ea typeface="宋体" panose="02010600030101010101" pitchFamily="2" charset="-122"/>
                        </a:rPr>
                        <a:t>＝</a:t>
                      </a:r>
                      <a:r>
                        <a:rPr kumimoji="0" lang="pt-BR" altLang="zh-CN" sz="2000" b="1" i="0" u="none" strike="noStrike" cap="none" normalizeH="0" baseline="0" dirty="0">
                          <a:ln>
                            <a:noFill/>
                          </a:ln>
                          <a:solidFill>
                            <a:srgbClr val="FF0000"/>
                          </a:solidFill>
                          <a:effectLst/>
                          <a:latin typeface="+mj-lt"/>
                          <a:ea typeface="宋体" panose="02010600030101010101" pitchFamily="2" charset="-122"/>
                        </a:rPr>
                        <a:t>EAX×</a:t>
                      </a:r>
                      <a:r>
                        <a:rPr kumimoji="0" lang="pt-BR" altLang="zh-CN" sz="2000" b="1" i="0" u="none" strike="noStrike" cap="none" normalizeH="0" baseline="0" dirty="0">
                          <a:ln>
                            <a:noFill/>
                          </a:ln>
                          <a:solidFill>
                            <a:srgbClr val="00B050"/>
                          </a:solidFill>
                          <a:effectLst/>
                          <a:latin typeface="+mj-lt"/>
                          <a:ea typeface="宋体" panose="02010600030101010101" pitchFamily="2" charset="-122"/>
                        </a:rPr>
                        <a:t>src</a:t>
                      </a:r>
                      <a:r>
                        <a:rPr kumimoji="0" lang="pt-BR" altLang="zh-CN" sz="2000" b="1" i="0" u="none" strike="noStrike" cap="none" normalizeH="0" baseline="0" dirty="0">
                          <a:ln>
                            <a:noFill/>
                          </a:ln>
                          <a:solidFill>
                            <a:schemeClr val="tx1"/>
                          </a:solidFill>
                          <a:effectLst/>
                          <a:latin typeface="+mj-lt"/>
                          <a:ea typeface="宋体" panose="02010600030101010101" pitchFamily="2" charset="-122"/>
                        </a:rPr>
                        <a:t>(r32/m32)</a:t>
                      </a:r>
                      <a:endParaRPr kumimoji="0" lang="pt-BR" altLang="zh-CN" sz="2000" b="1" i="0" u="none" strike="noStrike" cap="none" normalizeH="0" baseline="0" dirty="0">
                        <a:ln>
                          <a:noFill/>
                        </a:ln>
                        <a:solidFill>
                          <a:schemeClr val="tx1"/>
                        </a:solidFill>
                        <a:effectLst/>
                        <a:latin typeface="+mj-lt"/>
                        <a:ea typeface="宋体" panose="02010600030101010101" pitchFamily="2" charset="-122"/>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2">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kern="1200"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mul </a:t>
                      </a:r>
                      <a:r>
                        <a:rPr kumimoji="0" lang="pt-BR"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bl</a:t>
                      </a:r>
                      <a:endParaRPr kumimoji="0" lang="en-US"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kern="1200"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imul </a:t>
                      </a:r>
                      <a:r>
                        <a:rPr kumimoji="0" lang="pt-BR"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bx</a:t>
                      </a:r>
                      <a:endParaRPr kumimoji="0" lang="en-US"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kern="1200" cap="none" normalizeH="0" baseline="0" dirty="0">
                          <a:ln>
                            <a:noFill/>
                          </a:ln>
                          <a:solidFill>
                            <a:srgbClr val="FF0000"/>
                          </a:solidFill>
                          <a:effectLst/>
                          <a:latin typeface="+mj-lt"/>
                          <a:ea typeface="宋体" panose="02010600030101010101" pitchFamily="2" charset="-122"/>
                          <a:cs typeface="Times New Roman" panose="02020603050405020304" pitchFamily="18" charset="0"/>
                        </a:rPr>
                        <a:t>mul </a:t>
                      </a:r>
                      <a:r>
                        <a:rPr kumimoji="0" lang="pt-BR"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dvar</a:t>
                      </a:r>
                      <a:endParaRPr kumimoji="0" lang="pt-BR"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823099">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有符号数乘法</a:t>
                      </a:r>
                      <a:endPar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kern="1200" cap="none" normalizeH="0" baseline="0" dirty="0">
                          <a:ln>
                            <a:noFill/>
                          </a:ln>
                          <a:solidFill>
                            <a:srgbClr val="0000FF"/>
                          </a:solidFill>
                          <a:effectLst/>
                          <a:latin typeface="+mj-lt"/>
                          <a:ea typeface="宋体" panose="02010600030101010101" pitchFamily="2" charset="-122"/>
                          <a:cs typeface="Times New Roman" panose="02020603050405020304" pitchFamily="18" charset="0"/>
                        </a:rPr>
                        <a:t>IMUL</a:t>
                      </a:r>
                      <a:r>
                        <a:rPr kumimoji="0" lang="en-US" altLang="zh-CN"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rPr>
                        <a:t> </a:t>
                      </a:r>
                      <a:r>
                        <a:rPr kumimoji="0" lang="en-US" altLang="zh-CN" sz="2000" b="1" i="0" u="none" strike="noStrike" kern="1200" cap="none" normalizeH="0" baseline="0" dirty="0" err="1">
                          <a:ln>
                            <a:noFill/>
                          </a:ln>
                          <a:solidFill>
                            <a:srgbClr val="00B050"/>
                          </a:solidFill>
                          <a:effectLst/>
                          <a:latin typeface="+mj-lt"/>
                          <a:ea typeface="宋体" panose="02010600030101010101" pitchFamily="2" charset="-122"/>
                          <a:cs typeface="Times New Roman" panose="02020603050405020304" pitchFamily="18" charset="0"/>
                        </a:rPr>
                        <a:t>src</a:t>
                      </a:r>
                      <a:endParaRPr kumimoji="0" lang="zh-CN" altLang="en-US" sz="2000" b="1" i="0" u="none" strike="noStrike" kern="1200" cap="none" normalizeH="0" baseline="0" dirty="0">
                        <a:ln>
                          <a:noFill/>
                        </a:ln>
                        <a:solidFill>
                          <a:srgbClr val="00B050"/>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vMerge="1">
                  <a:tcPr/>
                </a:tc>
                <a:tc vMerge="1">
                  <a:tcPr/>
                </a:tc>
              </a:tr>
              <a:tr h="823099">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双操作数乘法</a:t>
                      </a:r>
                      <a:endParaRPr kumimoji="0" lang="zh-CN" altLang="en-US" sz="2000" b="1" i="0" u="non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IMUL </a:t>
                      </a:r>
                      <a:r>
                        <a:rPr kumimoji="0" lang="en-US" altLang="zh-CN" sz="2000" b="1" i="0" u="none" strike="noStrike" kern="1200" cap="none" normalizeH="0" baseline="0" dirty="0" err="1">
                          <a:ln>
                            <a:noFill/>
                          </a:ln>
                          <a:solidFill>
                            <a:schemeClr val="tx1"/>
                          </a:solidFill>
                          <a:effectLst/>
                          <a:latin typeface="+mj-lt"/>
                          <a:ea typeface="宋体" panose="02010600030101010101" pitchFamily="2" charset="-122"/>
                          <a:cs typeface="Times New Roman" panose="02020603050405020304" pitchFamily="18" charset="0"/>
                        </a:rPr>
                        <a:t>dest,src</a:t>
                      </a:r>
                      <a:endParaRPr kumimoji="0" lang="zh-CN" altLang="en-US"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r16</a:t>
                      </a:r>
                      <a:r>
                        <a:rPr kumimoji="0" lang="zh-CN" altLang="pt-BR"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a:t>
                      </a: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r16×r16/m16/i8/i16</a:t>
                      </a:r>
                      <a:endPar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r32</a:t>
                      </a:r>
                      <a:r>
                        <a:rPr kumimoji="0" lang="zh-CN" altLang="pt-BR"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a:t>
                      </a: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r32×r32/m32/i8/i32</a:t>
                      </a:r>
                      <a:endPar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imul eax,10</a:t>
                      </a:r>
                      <a:endPar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imul ebx,ecx</a:t>
                      </a:r>
                      <a:endPar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823099">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三操作数乘法</a:t>
                      </a:r>
                      <a:endParaRPr kumimoji="0" lang="zh-CN" altLang="en-US" sz="2000" b="1" i="0" u="none" kern="1200"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IMUL </a:t>
                      </a:r>
                      <a:r>
                        <a:rPr kumimoji="0" lang="en-US" altLang="zh-CN" sz="2000" b="1" i="0" u="none" strike="noStrike" kern="1200" cap="none" normalizeH="0" baseline="0" dirty="0" err="1">
                          <a:ln>
                            <a:noFill/>
                          </a:ln>
                          <a:solidFill>
                            <a:schemeClr val="tx1"/>
                          </a:solidFill>
                          <a:effectLst/>
                          <a:latin typeface="+mj-lt"/>
                          <a:ea typeface="宋体" panose="02010600030101010101" pitchFamily="2" charset="-122"/>
                          <a:cs typeface="Times New Roman" panose="02020603050405020304" pitchFamily="18" charset="0"/>
                        </a:rPr>
                        <a:t>dest,src,imm</a:t>
                      </a:r>
                      <a:endParaRPr kumimoji="0" lang="zh-CN" altLang="en-US"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r16</a:t>
                      </a:r>
                      <a:r>
                        <a:rPr kumimoji="0" lang="zh-CN" altLang="pt-BR"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a:t>
                      </a: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r16/m16×i8/i16</a:t>
                      </a:r>
                      <a:endPar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r32</a:t>
                      </a:r>
                      <a:r>
                        <a:rPr kumimoji="0" lang="zh-CN" altLang="pt-BR"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a:t>
                      </a: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r32/m32×i8/i32</a:t>
                      </a:r>
                      <a:endPar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imul ax,bx,-2</a:t>
                      </a:r>
                      <a:endParaRPr kumimoji="0" lang="en-US"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rPr>
                        <a:t>imul eax,dword ptr [esi+8],5</a:t>
                      </a:r>
                      <a:endParaRPr kumimoji="0" lang="pt-BR" altLang="zh-CN" sz="2000" b="1" i="0" u="none" strike="noStrike" kern="1200" cap="none" normalizeH="0" baseline="0" dirty="0">
                        <a:ln>
                          <a:noFill/>
                        </a:ln>
                        <a:solidFill>
                          <a:schemeClr val="tx1"/>
                        </a:solidFill>
                        <a:effectLst/>
                        <a:latin typeface="+mj-lt"/>
                        <a:ea typeface="宋体" panose="02010600030101010101" pitchFamily="2" charset="-122"/>
                        <a:cs typeface="Times New Roman" panose="02020603050405020304" pitchFamily="18" charset="0"/>
                      </a:endParaRPr>
                    </a:p>
                  </a:txBody>
                  <a:tcPr marT="45728" marB="4572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乘法指令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115616" y="1876695"/>
            <a:ext cx="7488832" cy="155230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mov al, 0a5h	</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作为无符号数，表示真值</a:t>
            </a:r>
            <a:r>
              <a:rPr lang="en-US" altLang="zh-CN" sz="2200" dirty="0">
                <a:solidFill>
                  <a:schemeClr val="tx1"/>
                </a:solidFill>
                <a:latin typeface="+mj-lt"/>
                <a:ea typeface="黑体" panose="02010609060101010101" pitchFamily="49" charset="-122"/>
              </a:rPr>
              <a:t>165</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mov bl, 64h</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作为无符号数，表示真值</a:t>
            </a:r>
            <a:r>
              <a:rPr lang="en-US" altLang="zh-CN" sz="2200" dirty="0">
                <a:solidFill>
                  <a:schemeClr val="tx1"/>
                </a:solidFill>
                <a:latin typeface="+mj-lt"/>
                <a:ea typeface="黑体" panose="02010609060101010101" pitchFamily="49" charset="-122"/>
              </a:rPr>
              <a:t>100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b="1" dirty="0" err="1">
                <a:solidFill>
                  <a:srgbClr val="FF0000"/>
                </a:solidFill>
                <a:latin typeface="+mj-lt"/>
                <a:ea typeface="黑体" panose="02010609060101010101" pitchFamily="49" charset="-122"/>
              </a:rPr>
              <a:t>mul</a:t>
            </a:r>
            <a:r>
              <a:rPr lang="en-US" altLang="zh-CN" sz="2200" b="1" dirty="0">
                <a:solidFill>
                  <a:srgbClr val="00B050"/>
                </a:solidFill>
                <a:latin typeface="+mj-lt"/>
                <a:ea typeface="黑体" panose="02010609060101010101" pitchFamily="49" charset="-122"/>
              </a:rPr>
              <a:t> bl	</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结果存入</a:t>
            </a:r>
            <a:r>
              <a:rPr lang="en-US" altLang="zh-CN" sz="2200" dirty="0">
                <a:solidFill>
                  <a:schemeClr val="tx1"/>
                </a:solidFill>
                <a:latin typeface="+mj-lt"/>
                <a:ea typeface="黑体" panose="02010609060101010101" pitchFamily="49" charset="-122"/>
              </a:rPr>
              <a:t>ax=4074h</a:t>
            </a:r>
            <a:r>
              <a:rPr lang="zh-CN" altLang="en-US" sz="2200" dirty="0">
                <a:solidFill>
                  <a:schemeClr val="tx1"/>
                </a:solidFill>
                <a:latin typeface="+mj-lt"/>
                <a:ea typeface="黑体" panose="02010609060101010101" pitchFamily="49" charset="-122"/>
              </a:rPr>
              <a:t>，表示真值</a:t>
            </a:r>
            <a:r>
              <a:rPr lang="en-US" altLang="zh-CN" sz="2200" dirty="0">
                <a:solidFill>
                  <a:schemeClr val="tx1"/>
                </a:solidFill>
                <a:latin typeface="+mj-lt"/>
                <a:ea typeface="黑体" panose="02010609060101010101" pitchFamily="49" charset="-122"/>
              </a:rPr>
              <a:t>16500</a:t>
            </a:r>
            <a:endParaRPr lang="en-US" altLang="zh-CN" sz="2200" dirty="0">
              <a:solidFill>
                <a:schemeClr val="tx1"/>
              </a:solidFill>
              <a:latin typeface="+mj-lt"/>
              <a:ea typeface="黑体" panose="02010609060101010101" pitchFamily="49" charset="-122"/>
            </a:endParaRPr>
          </a:p>
        </p:txBody>
      </p:sp>
      <p:sp>
        <p:nvSpPr>
          <p:cNvPr id="5" name="内容占位符 2"/>
          <p:cNvSpPr txBox="1"/>
          <p:nvPr/>
        </p:nvSpPr>
        <p:spPr>
          <a:xfrm>
            <a:off x="539552" y="692696"/>
            <a:ext cx="8064896" cy="5268814"/>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计算二进制数乘法</a:t>
            </a:r>
            <a:r>
              <a:rPr lang="en-US" altLang="zh-CN" sz="2800" dirty="0">
                <a:latin typeface="+mn-lt"/>
              </a:rPr>
              <a:t>A5H×64H</a:t>
            </a:r>
            <a:endParaRPr lang="en-US" altLang="zh-CN" sz="32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用</a:t>
            </a:r>
            <a:r>
              <a:rPr lang="en-US" altLang="zh-CN" sz="2400" dirty="0">
                <a:solidFill>
                  <a:schemeClr val="tx1"/>
                </a:solidFill>
                <a:latin typeface="+mn-lt"/>
              </a:rPr>
              <a:t>MUL</a:t>
            </a:r>
            <a:r>
              <a:rPr lang="zh-CN" altLang="en-US" sz="2400" dirty="0">
                <a:solidFill>
                  <a:schemeClr val="tx1"/>
                </a:solidFill>
                <a:latin typeface="+mn-lt"/>
              </a:rPr>
              <a:t>进行</a:t>
            </a:r>
            <a:r>
              <a:rPr lang="en-US" altLang="zh-CN" sz="2400" dirty="0">
                <a:solidFill>
                  <a:schemeClr val="tx1"/>
                </a:solidFill>
                <a:latin typeface="+mn-lt"/>
              </a:rPr>
              <a:t>8</a:t>
            </a:r>
            <a:r>
              <a:rPr lang="zh-CN" altLang="en-US" sz="2400" dirty="0">
                <a:solidFill>
                  <a:schemeClr val="tx1"/>
                </a:solidFill>
                <a:latin typeface="+mn-lt"/>
              </a:rPr>
              <a:t>位无符号乘法运算</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8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en-US" altLang="zh-CN" sz="2800" dirty="0">
              <a:solidFill>
                <a:schemeClr val="tx1"/>
              </a:solidFill>
              <a:latin typeface="+mn-lt"/>
            </a:endParaRPr>
          </a:p>
          <a:p>
            <a:pPr lvl="1" algn="just">
              <a:lnSpc>
                <a:spcPct val="130000"/>
              </a:lnSpc>
              <a:spcBef>
                <a:spcPts val="600"/>
              </a:spcBef>
              <a:buClr>
                <a:srgbClr val="0000FF"/>
              </a:buClr>
            </a:pPr>
            <a:endParaRPr lang="en-US" altLang="zh-CN" sz="12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用</a:t>
            </a:r>
            <a:r>
              <a:rPr lang="en-US" altLang="zh-CN" sz="2400" dirty="0">
                <a:solidFill>
                  <a:schemeClr val="tx1"/>
                </a:solidFill>
                <a:latin typeface="+mn-lt"/>
              </a:rPr>
              <a:t>IMUL</a:t>
            </a:r>
            <a:r>
              <a:rPr lang="zh-CN" altLang="en-US" sz="2400" dirty="0">
                <a:solidFill>
                  <a:schemeClr val="tx1"/>
                </a:solidFill>
                <a:latin typeface="+mn-lt"/>
              </a:rPr>
              <a:t>进行</a:t>
            </a:r>
            <a:r>
              <a:rPr lang="en-US" altLang="zh-CN" sz="2400" dirty="0">
                <a:solidFill>
                  <a:schemeClr val="tx1"/>
                </a:solidFill>
                <a:latin typeface="+mn-lt"/>
              </a:rPr>
              <a:t>8</a:t>
            </a:r>
            <a:r>
              <a:rPr lang="zh-CN" altLang="en-US" sz="2400" dirty="0">
                <a:solidFill>
                  <a:schemeClr val="tx1"/>
                </a:solidFill>
                <a:latin typeface="+mn-lt"/>
              </a:rPr>
              <a:t>位有符号乘法运算</a:t>
            </a:r>
            <a:endParaRPr lang="zh-CN" altLang="en-US"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9" name="Rectangle 3"/>
          <p:cNvSpPr>
            <a:spLocks noChangeArrowheads="1"/>
          </p:cNvSpPr>
          <p:nvPr/>
        </p:nvSpPr>
        <p:spPr bwMode="auto">
          <a:xfrm>
            <a:off x="1115616" y="3964927"/>
            <a:ext cx="7488832" cy="155230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mov al, 0a5h	</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作为有符号数，表示真值</a:t>
            </a:r>
            <a:r>
              <a:rPr lang="en-US" altLang="zh-CN" sz="2200" dirty="0">
                <a:solidFill>
                  <a:schemeClr val="tx1"/>
                </a:solidFill>
                <a:latin typeface="+mj-lt"/>
                <a:ea typeface="黑体" panose="02010609060101010101" pitchFamily="49" charset="-122"/>
              </a:rPr>
              <a:t>-91</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mov bl, 64h</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作为有符号数，表示真值</a:t>
            </a:r>
            <a:r>
              <a:rPr lang="en-US" altLang="zh-CN" sz="2200" dirty="0">
                <a:solidFill>
                  <a:schemeClr val="tx1"/>
                </a:solidFill>
                <a:latin typeface="+mj-lt"/>
                <a:ea typeface="黑体" panose="02010609060101010101" pitchFamily="49" charset="-122"/>
              </a:rPr>
              <a:t>100</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600"/>
              </a:spcBef>
              <a:buClr>
                <a:srgbClr val="0000FF"/>
              </a:buClr>
              <a:buSzPct val="100000"/>
              <a:buNone/>
              <a:defRPr/>
            </a:pPr>
            <a:r>
              <a:rPr lang="en-US" altLang="zh-CN" sz="2200" b="1" dirty="0" err="1">
                <a:solidFill>
                  <a:srgbClr val="FF0000"/>
                </a:solidFill>
                <a:latin typeface="+mj-lt"/>
                <a:ea typeface="黑体" panose="02010609060101010101" pitchFamily="49" charset="-122"/>
              </a:rPr>
              <a:t>imul</a:t>
            </a:r>
            <a:r>
              <a:rPr lang="en-US" altLang="zh-CN" sz="2200" b="1" dirty="0">
                <a:solidFill>
                  <a:srgbClr val="00B050"/>
                </a:solidFill>
                <a:latin typeface="+mj-lt"/>
                <a:ea typeface="黑体" panose="02010609060101010101" pitchFamily="49" charset="-122"/>
              </a:rPr>
              <a:t> bl	</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结果存入</a:t>
            </a:r>
            <a:r>
              <a:rPr lang="en-US" altLang="zh-CN" sz="2200" dirty="0">
                <a:solidFill>
                  <a:schemeClr val="tx1"/>
                </a:solidFill>
                <a:latin typeface="+mj-lt"/>
                <a:ea typeface="黑体" panose="02010609060101010101" pitchFamily="49" charset="-122"/>
              </a:rPr>
              <a:t>ax=DC74h</a:t>
            </a:r>
            <a:r>
              <a:rPr lang="zh-CN" altLang="en-US" sz="2200" dirty="0">
                <a:solidFill>
                  <a:schemeClr val="tx1"/>
                </a:solidFill>
                <a:latin typeface="+mj-lt"/>
                <a:ea typeface="黑体" panose="02010609060101010101" pitchFamily="49" charset="-122"/>
              </a:rPr>
              <a:t>，表示真值</a:t>
            </a:r>
            <a:r>
              <a:rPr lang="en-US" altLang="zh-CN" sz="2200" dirty="0">
                <a:solidFill>
                  <a:schemeClr val="tx1"/>
                </a:solidFill>
                <a:latin typeface="+mj-lt"/>
                <a:ea typeface="黑体" panose="02010609060101010101" pitchFamily="49" charset="-122"/>
              </a:rPr>
              <a:t>-9100</a:t>
            </a:r>
            <a:endParaRPr lang="en-US" altLang="zh-CN" sz="2200" dirty="0">
              <a:solidFill>
                <a:schemeClr val="tx1"/>
              </a:solidFill>
              <a:latin typeface="+mj-lt"/>
              <a:ea typeface="黑体" panose="02010609060101010101" pitchFamily="49" charset="-122"/>
            </a:endParaRPr>
          </a:p>
        </p:txBody>
      </p:sp>
      <p:sp>
        <p:nvSpPr>
          <p:cNvPr id="13" name="AutoShape 4"/>
          <p:cNvSpPr>
            <a:spLocks noChangeArrowheads="1"/>
          </p:cNvSpPr>
          <p:nvPr/>
        </p:nvSpPr>
        <p:spPr bwMode="auto">
          <a:xfrm>
            <a:off x="1086470" y="5661249"/>
            <a:ext cx="7547123" cy="576064"/>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同一个二进制编码表示无符号数和有符号数时，真值可能不同</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61628" y="748655"/>
            <a:ext cx="8496944" cy="6136729"/>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solidFill>
                  <a:schemeClr val="tx1"/>
                </a:solidFill>
                <a:latin typeface="+mn-lt"/>
              </a:rPr>
              <a:t>除法指令只指出源操作数</a:t>
            </a:r>
            <a:r>
              <a:rPr lang="en-US" altLang="zh-CN" sz="2800" dirty="0" err="1">
                <a:solidFill>
                  <a:schemeClr val="tx1"/>
                </a:solidFill>
                <a:latin typeface="+mn-lt"/>
              </a:rPr>
              <a:t>src</a:t>
            </a:r>
            <a:r>
              <a:rPr lang="zh-CN" altLang="en-US" sz="2800" dirty="0">
                <a:solidFill>
                  <a:schemeClr val="tx1"/>
                </a:solidFill>
                <a:latin typeface="+mn-lt"/>
              </a:rPr>
              <a:t>（</a:t>
            </a:r>
            <a:r>
              <a:rPr lang="zh-CN" altLang="en-US" sz="2800" dirty="0">
                <a:solidFill>
                  <a:srgbClr val="00B050"/>
                </a:solidFill>
                <a:latin typeface="+mn-lt"/>
              </a:rPr>
              <a:t>寄存器或存储单元</a:t>
            </a:r>
            <a:r>
              <a:rPr lang="zh-CN" altLang="en-US" sz="2800" dirty="0">
                <a:solidFill>
                  <a:schemeClr val="tx1"/>
                </a:solidFill>
                <a:latin typeface="+mn-lt"/>
              </a:rPr>
              <a:t>），隐含使用目的操作数</a:t>
            </a:r>
            <a:endParaRPr lang="zh-CN" altLang="en-US" sz="28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solidFill>
                  <a:schemeClr val="tx1"/>
                </a:solidFill>
                <a:latin typeface="+mn-lt"/>
              </a:rPr>
              <a:t>无符号数除法指令</a:t>
            </a:r>
            <a:r>
              <a:rPr lang="en-US" altLang="zh-CN" sz="2800" dirty="0">
                <a:latin typeface="+mn-lt"/>
              </a:rPr>
              <a:t>DIV</a:t>
            </a:r>
            <a:r>
              <a:rPr lang="zh-CN" altLang="en-US" sz="2800" dirty="0">
                <a:solidFill>
                  <a:schemeClr val="tx1"/>
                </a:solidFill>
                <a:latin typeface="+mn-lt"/>
              </a:rPr>
              <a:t>和有符号数除法指令</a:t>
            </a:r>
            <a:r>
              <a:rPr lang="en-US" altLang="zh-CN" sz="2800" dirty="0">
                <a:latin typeface="+mn-lt"/>
              </a:rPr>
              <a:t>IDIV</a:t>
            </a:r>
            <a:endParaRPr lang="en-US" altLang="zh-CN"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en-US" altLang="zh-CN"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除法指令</a:t>
            </a:r>
            <a:r>
              <a:rPr kumimoji="1" lang="en-US" altLang="zh-CN" b="0" i="0" u="none" strike="noStrike" kern="0" cap="none" spc="0" normalizeH="0" baseline="0" noProof="0" dirty="0">
                <a:ln>
                  <a:noFill/>
                </a:ln>
                <a:solidFill>
                  <a:srgbClr val="000000"/>
                </a:solidFill>
                <a:effectLst/>
                <a:uLnTx/>
                <a:uFillTx/>
                <a:latin typeface="+mj-lt"/>
                <a:cs typeface="+mj-cs"/>
              </a:rPr>
              <a:t>Divide</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2" name="Group 32"/>
          <p:cNvGraphicFramePr>
            <a:graphicFrameLocks noGrp="1"/>
          </p:cNvGraphicFramePr>
          <p:nvPr/>
        </p:nvGraphicFramePr>
        <p:xfrm>
          <a:off x="630610" y="2708920"/>
          <a:ext cx="8051676" cy="3311526"/>
        </p:xfrm>
        <a:graphic>
          <a:graphicData uri="http://schemas.openxmlformats.org/drawingml/2006/table">
            <a:tbl>
              <a:tblPr/>
              <a:tblGrid>
                <a:gridCol w="2212975"/>
                <a:gridCol w="4568825"/>
                <a:gridCol w="1269876"/>
              </a:tblGrid>
              <a:tr h="574675">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指令</a:t>
                      </a:r>
                      <a:endPar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操作数组合及功能</a:t>
                      </a:r>
                      <a:endPar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举例</a:t>
                      </a:r>
                      <a:endParaRPr kumimoji="0"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1357313">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无符号除法：</a:t>
                      </a:r>
                      <a:endParaRPr kumimoji="0" lang="zh-CN" altLang="en-US" sz="22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en-US" altLang="zh-CN" sz="2200" b="1" i="0" u="none" strike="noStrike" cap="none" normalizeH="0" baseline="0" dirty="0">
                          <a:ln>
                            <a:noFill/>
                          </a:ln>
                          <a:solidFill>
                            <a:srgbClr val="0000FF"/>
                          </a:solidFill>
                          <a:effectLst/>
                          <a:latin typeface="+mj-lt"/>
                          <a:ea typeface="宋体" panose="02010600030101010101" pitchFamily="2" charset="-122"/>
                        </a:rPr>
                        <a:t>DIV </a:t>
                      </a:r>
                      <a:r>
                        <a:rPr kumimoji="0" lang="en-US" altLang="zh-CN" sz="2200" b="1" i="0" u="none" strike="noStrike" cap="none" normalizeH="0" baseline="0" dirty="0" err="1">
                          <a:ln>
                            <a:noFill/>
                          </a:ln>
                          <a:solidFill>
                            <a:srgbClr val="0000FF"/>
                          </a:solidFill>
                          <a:effectLst/>
                          <a:latin typeface="+mj-lt"/>
                          <a:ea typeface="宋体" panose="02010600030101010101" pitchFamily="2" charset="-122"/>
                        </a:rPr>
                        <a:t>src</a:t>
                      </a:r>
                      <a:endParaRPr kumimoji="0" lang="zh-CN" altLang="en-US" sz="2200" b="1" i="0" u="none" strike="noStrike" cap="none" normalizeH="0" baseline="0" dirty="0">
                        <a:ln>
                          <a:noFill/>
                        </a:ln>
                        <a:solidFill>
                          <a:srgbClr val="0000FF"/>
                        </a:solidFill>
                        <a:effectLst/>
                        <a:latin typeface="+mj-lt"/>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30000"/>
                        </a:lnSpc>
                        <a:spcBef>
                          <a:spcPts val="0"/>
                        </a:spcBef>
                        <a:spcAft>
                          <a:spcPct val="0"/>
                        </a:spcAft>
                        <a:buClr>
                          <a:schemeClr val="folHlink"/>
                        </a:buClr>
                        <a:buSzTx/>
                        <a:buFont typeface="Wingdings" panose="05000000000000000000" pitchFamily="2" charset="2"/>
                        <a:buNone/>
                      </a:pPr>
                      <a:r>
                        <a:rPr kumimoji="0" lang="en-US" altLang="zh-CN" sz="2200" b="1" i="0" u="none" strike="noStrike" cap="none" normalizeH="0" baseline="0" dirty="0">
                          <a:ln>
                            <a:noFill/>
                          </a:ln>
                          <a:solidFill>
                            <a:srgbClr val="FF0000"/>
                          </a:solidFill>
                          <a:effectLst/>
                          <a:latin typeface="+mj-lt"/>
                          <a:ea typeface="宋体" panose="02010600030101010101" pitchFamily="2" charset="-122"/>
                        </a:rPr>
                        <a:t>AL←AX÷r8/m8</a:t>
                      </a:r>
                      <a:r>
                        <a:rPr kumimoji="0" lang="zh-CN" altLang="en-US" sz="22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的商</a:t>
                      </a:r>
                      <a:endParaRPr kumimoji="0" lang="zh-CN" altLang="en-US" sz="22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30000"/>
                        </a:lnSpc>
                        <a:spcBef>
                          <a:spcPts val="0"/>
                        </a:spcBef>
                        <a:spcAft>
                          <a:spcPct val="0"/>
                        </a:spcAft>
                        <a:buClr>
                          <a:schemeClr val="folHlink"/>
                        </a:buClr>
                        <a:buSzTx/>
                        <a:buFont typeface="Wingdings" panose="05000000000000000000" pitchFamily="2" charset="2"/>
                        <a:buNone/>
                      </a:pPr>
                      <a:r>
                        <a:rPr kumimoji="0" lang="en-US" altLang="zh-CN" sz="2200" b="1" i="0" u="none" strike="noStrike" cap="none" normalizeH="0" baseline="0" dirty="0">
                          <a:ln>
                            <a:noFill/>
                          </a:ln>
                          <a:solidFill>
                            <a:srgbClr val="FF0000"/>
                          </a:solidFill>
                          <a:effectLst/>
                          <a:latin typeface="+mj-lt"/>
                          <a:ea typeface="宋体" panose="02010600030101010101" pitchFamily="2" charset="-122"/>
                        </a:rPr>
                        <a:t>AH←AX÷r8/m8</a:t>
                      </a:r>
                      <a:r>
                        <a:rPr kumimoji="0" lang="zh-CN" altLang="en-US" sz="22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的余数</a:t>
                      </a:r>
                      <a:endParaRPr kumimoji="0" lang="zh-CN" altLang="en-US" sz="22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30000"/>
                        </a:lnSpc>
                        <a:spcBef>
                          <a:spcPts val="0"/>
                        </a:spcBef>
                        <a:spcAft>
                          <a:spcPct val="0"/>
                        </a:spcAft>
                        <a:buClr>
                          <a:schemeClr val="folHlink"/>
                        </a:buClr>
                        <a:buSzTx/>
                        <a:buFont typeface="Wingdings" panose="05000000000000000000" pitchFamily="2" charset="2"/>
                        <a:buNone/>
                      </a:pPr>
                      <a:r>
                        <a:rPr kumimoji="0" lang="en-US" altLang="zh-CN" sz="2200" b="1" i="0" u="none" strike="noStrike" cap="none" normalizeH="0" baseline="0" dirty="0">
                          <a:ln>
                            <a:noFill/>
                          </a:ln>
                          <a:solidFill>
                            <a:srgbClr val="00B050"/>
                          </a:solidFill>
                          <a:effectLst/>
                          <a:latin typeface="+mj-lt"/>
                          <a:ea typeface="宋体" panose="02010600030101010101" pitchFamily="2" charset="-122"/>
                        </a:rPr>
                        <a:t>AX←DX.AX÷r16/m16</a:t>
                      </a:r>
                      <a:r>
                        <a:rPr kumimoji="0" lang="zh-CN" altLang="en-US" sz="2200" b="1" i="0" u="none" strike="noStrike" cap="none" normalizeH="0" baseline="0" dirty="0">
                          <a:ln>
                            <a:noFill/>
                          </a:ln>
                          <a:solidFill>
                            <a:srgbClr val="00B050"/>
                          </a:solidFill>
                          <a:effectLst/>
                          <a:latin typeface="黑体" panose="02010609060101010101" pitchFamily="49" charset="-122"/>
                          <a:ea typeface="黑体" panose="02010609060101010101" pitchFamily="49" charset="-122"/>
                        </a:rPr>
                        <a:t>的商</a:t>
                      </a:r>
                      <a:endParaRPr kumimoji="0" lang="zh-CN" altLang="en-US" sz="2200" b="1" i="0" u="none" strike="noStrike" cap="none" normalizeH="0" baseline="0" dirty="0">
                        <a:ln>
                          <a:noFill/>
                        </a:ln>
                        <a:solidFill>
                          <a:srgbClr val="00B050"/>
                        </a:solidFill>
                        <a:effectLst/>
                        <a:latin typeface="黑体" panose="02010609060101010101" pitchFamily="49" charset="-122"/>
                        <a:ea typeface="黑体" panose="02010609060101010101" pitchFamily="49" charset="-122"/>
                      </a:endParaRPr>
                    </a:p>
                    <a:p>
                      <a:pPr marL="0" marR="0" lvl="0" indent="0" algn="just" defTabSz="914400" rtl="0" eaLnBrk="1" fontAlgn="base" latinLnBrk="0" hangingPunct="1">
                        <a:lnSpc>
                          <a:spcPct val="130000"/>
                        </a:lnSpc>
                        <a:spcBef>
                          <a:spcPts val="0"/>
                        </a:spcBef>
                        <a:spcAft>
                          <a:spcPct val="0"/>
                        </a:spcAft>
                        <a:buClr>
                          <a:schemeClr val="folHlink"/>
                        </a:buClr>
                        <a:buSzTx/>
                        <a:buFont typeface="Wingdings" panose="05000000000000000000" pitchFamily="2" charset="2"/>
                        <a:buNone/>
                      </a:pPr>
                      <a:r>
                        <a:rPr kumimoji="0" lang="en-US" altLang="zh-CN" sz="2200" b="1" i="0" u="none" strike="noStrike" cap="none" normalizeH="0" baseline="0" dirty="0">
                          <a:ln>
                            <a:noFill/>
                          </a:ln>
                          <a:solidFill>
                            <a:srgbClr val="00B050"/>
                          </a:solidFill>
                          <a:effectLst/>
                          <a:latin typeface="+mj-lt"/>
                          <a:ea typeface="宋体" panose="02010600030101010101" pitchFamily="2" charset="-122"/>
                        </a:rPr>
                        <a:t>DX←DX.AX÷r16/m16</a:t>
                      </a:r>
                      <a:r>
                        <a:rPr kumimoji="0" lang="zh-CN" altLang="en-US" sz="2200" b="1" i="0" u="none" strike="noStrike" kern="1200" cap="none" normalizeH="0" baseline="0" dirty="0">
                          <a:ln>
                            <a:noFill/>
                          </a:ln>
                          <a:solidFill>
                            <a:srgbClr val="00B050"/>
                          </a:solidFill>
                          <a:effectLst/>
                          <a:latin typeface="黑体" panose="02010609060101010101" pitchFamily="49" charset="-122"/>
                          <a:ea typeface="黑体" panose="02010609060101010101" pitchFamily="49" charset="-122"/>
                          <a:cs typeface="+mn-cs"/>
                        </a:rPr>
                        <a:t>的余数</a:t>
                      </a:r>
                      <a:endParaRPr kumimoji="0" lang="zh-CN" altLang="en-US" sz="2200" b="1" i="0" u="none" strike="noStrike" kern="1200" cap="none" normalizeH="0" baseline="0" dirty="0">
                        <a:ln>
                          <a:noFill/>
                        </a:ln>
                        <a:solidFill>
                          <a:srgbClr val="00B050"/>
                        </a:solidFill>
                        <a:effectLst/>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30000"/>
                        </a:lnSpc>
                        <a:spcBef>
                          <a:spcPts val="0"/>
                        </a:spcBef>
                        <a:spcAft>
                          <a:spcPct val="0"/>
                        </a:spcAft>
                        <a:buClr>
                          <a:schemeClr val="folHlink"/>
                        </a:buClr>
                        <a:buSzTx/>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mj-lt"/>
                          <a:ea typeface="宋体" panose="02010600030101010101" pitchFamily="2" charset="-122"/>
                        </a:rPr>
                        <a:t>EAX←EDX.EAX÷r32/m32</a:t>
                      </a:r>
                      <a:r>
                        <a:rPr kumimoji="0" lang="zh-CN" altLang="en-US" sz="22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的商</a:t>
                      </a:r>
                      <a:endParaRPr kumimoji="0" lang="zh-CN" altLang="en-US" sz="22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just" defTabSz="914400" rtl="0" eaLnBrk="1" fontAlgn="base" latinLnBrk="0" hangingPunct="1">
                        <a:lnSpc>
                          <a:spcPct val="130000"/>
                        </a:lnSpc>
                        <a:spcBef>
                          <a:spcPts val="0"/>
                        </a:spcBef>
                        <a:spcAft>
                          <a:spcPct val="0"/>
                        </a:spcAft>
                        <a:buClr>
                          <a:schemeClr val="folHlink"/>
                        </a:buClr>
                        <a:buSzTx/>
                        <a:buFont typeface="Wingdings" panose="05000000000000000000" pitchFamily="2" charset="2"/>
                        <a:buNone/>
                      </a:pPr>
                      <a:r>
                        <a:rPr kumimoji="0" lang="en-US" altLang="zh-CN" sz="2200" b="1" i="0" u="none" strike="noStrike" kern="1200" cap="none" normalizeH="0" baseline="0" dirty="0">
                          <a:ln>
                            <a:noFill/>
                          </a:ln>
                          <a:solidFill>
                            <a:schemeClr val="tx1"/>
                          </a:solidFill>
                          <a:effectLst/>
                          <a:latin typeface="+mj-lt"/>
                          <a:ea typeface="宋体" panose="02010600030101010101" pitchFamily="2" charset="-122"/>
                          <a:cs typeface="+mn-cs"/>
                        </a:rPr>
                        <a:t>EDX←EDX.EAX÷r32/m32</a:t>
                      </a:r>
                      <a:r>
                        <a:rPr kumimoji="0" lang="zh-CN" altLang="en-US" sz="2200" b="1"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mn-cs"/>
                        </a:rPr>
                        <a:t>的余数</a:t>
                      </a:r>
                      <a:endParaRPr kumimoji="0" lang="zh-CN" altLang="en-US" sz="2200" b="1"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rPr>
                        <a:t>div bl</a:t>
                      </a:r>
                      <a:endPar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endPar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rPr>
                        <a:t>idiv bx</a:t>
                      </a:r>
                      <a:endPar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endPar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pt-BR" altLang="zh-CN" sz="2200" b="1" i="0" u="none" strike="noStrike" kern="1200" cap="none" normalizeH="0" baseline="0" dirty="0">
                          <a:ln>
                            <a:noFill/>
                          </a:ln>
                          <a:solidFill>
                            <a:srgbClr val="0000FF"/>
                          </a:solidFill>
                          <a:effectLst/>
                          <a:latin typeface="+mj-lt"/>
                          <a:ea typeface="宋体" panose="02010600030101010101" pitchFamily="2" charset="-122"/>
                          <a:cs typeface="+mn-cs"/>
                        </a:rPr>
                        <a:t>div ebx</a:t>
                      </a:r>
                      <a:endParaRPr kumimoji="0" lang="zh-CN" altLang="en-US" sz="2200" b="1" i="0" u="none" strike="noStrike" kern="1200" cap="none" normalizeH="0" baseline="0" dirty="0">
                        <a:ln>
                          <a:noFill/>
                        </a:ln>
                        <a:solidFill>
                          <a:srgbClr val="0000FF"/>
                        </a:solidFill>
                        <a:effectLst/>
                        <a:latin typeface="+mj-lt"/>
                        <a:ea typeface="宋体" panose="02010600030101010101"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r h="1379538">
                <a:tc>
                  <a:txBody>
                    <a:bodyPr/>
                    <a:lstStyle>
                      <a:lvl1pPr algn="just">
                        <a:spcBef>
                          <a:spcPct val="20000"/>
                        </a:spcBef>
                        <a:buClr>
                          <a:schemeClr val="folHlink"/>
                        </a:buClr>
                        <a:buFont typeface="Wingdings" panose="05000000000000000000" pitchFamily="2" charset="2"/>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defRPr sz="20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defRPr b="1">
                          <a:solidFill>
                            <a:schemeClr val="tx1"/>
                          </a:solidFill>
                          <a:latin typeface="宋体" panose="02010600030101010101" pitchFamily="2" charset="-122"/>
                          <a:ea typeface="宋体" panose="02010600030101010101" pitchFamily="2" charset="-122"/>
                        </a:defRPr>
                      </a:lvl9pPr>
                    </a:lstStyle>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zh-CN" altLang="en-US" sz="2200" b="1"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mn-cs"/>
                        </a:rPr>
                        <a:t>有符号除法：</a:t>
                      </a:r>
                      <a:endParaRPr kumimoji="0" lang="zh-CN" altLang="en-US" sz="2200" b="1"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20000"/>
                        </a:lnSpc>
                        <a:spcBef>
                          <a:spcPct val="20000"/>
                        </a:spcBef>
                        <a:spcAft>
                          <a:spcPct val="0"/>
                        </a:spcAft>
                        <a:buClr>
                          <a:schemeClr val="folHlink"/>
                        </a:buClr>
                        <a:buSzTx/>
                        <a:buFont typeface="Wingdings" panose="05000000000000000000" pitchFamily="2" charset="2"/>
                        <a:buNone/>
                      </a:pPr>
                      <a:r>
                        <a:rPr kumimoji="0" lang="en-US" altLang="zh-CN" sz="2200" b="1" i="0" u="none" strike="noStrike" kern="1200" cap="none" normalizeH="0" baseline="0" dirty="0">
                          <a:ln>
                            <a:noFill/>
                          </a:ln>
                          <a:solidFill>
                            <a:srgbClr val="0000FF"/>
                          </a:solidFill>
                          <a:effectLst/>
                          <a:latin typeface="+mj-lt"/>
                          <a:ea typeface="宋体" panose="02010600030101010101" pitchFamily="2" charset="-122"/>
                          <a:cs typeface="+mn-cs"/>
                        </a:rPr>
                        <a:t>IDIV </a:t>
                      </a:r>
                      <a:r>
                        <a:rPr kumimoji="0" lang="en-US" altLang="zh-CN" sz="2200" b="1" i="0" u="none" strike="noStrike" kern="1200" cap="none" normalizeH="0" baseline="0" dirty="0" err="1">
                          <a:ln>
                            <a:noFill/>
                          </a:ln>
                          <a:solidFill>
                            <a:srgbClr val="0000FF"/>
                          </a:solidFill>
                          <a:effectLst/>
                          <a:latin typeface="+mj-lt"/>
                          <a:ea typeface="宋体" panose="02010600030101010101" pitchFamily="2" charset="-122"/>
                          <a:cs typeface="+mn-cs"/>
                        </a:rPr>
                        <a:t>src</a:t>
                      </a:r>
                      <a:endParaRPr kumimoji="0" lang="zh-CN" altLang="en-US" sz="2200" b="1" i="0" u="none" strike="noStrike" kern="1200" cap="none" normalizeH="0" baseline="0" dirty="0">
                        <a:ln>
                          <a:noFill/>
                        </a:ln>
                        <a:solidFill>
                          <a:srgbClr val="0000FF"/>
                        </a:solidFill>
                        <a:effectLst/>
                        <a:latin typeface="+mj-lt"/>
                        <a:ea typeface="宋体" panose="02010600030101010101" pitchFamily="2" charset="-122"/>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a:tc>
                <a:tc vMerge="1">
                  <a:tcPr/>
                </a:tc>
              </a:tr>
            </a:tbl>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822325" y="995045"/>
            <a:ext cx="7407275" cy="2362200"/>
          </a:xfrm>
          <a:prstGeom prst="rect">
            <a:avLst/>
          </a:prstGeom>
          <a:noFill/>
        </p:spPr>
        <p:txBody>
          <a:bodyPr vert="horz" wrap="square" rtlCol="0" anchor="ctr" anchorCtr="0">
            <a:noAutofit/>
          </a:bodyPr>
          <a:lstStyle/>
          <a:p>
            <a:pPr marL="0" indent="457200" latinLnBrk="0">
              <a:lnSpc>
                <a:spcPct val="150000"/>
              </a:lnSpc>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乘除法运算针对无符号数和有符号数，有两种不同的指令。只有一种指令的加减法如何区别无符号数和有符号数运算？</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bwMode="auto">
          <a:xfrm>
            <a:off x="6172200" y="4797152"/>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0"/>
    </p:custData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3.2.5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零位扩展和符号扩展指令</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694738"/>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92695"/>
            <a:ext cx="8064896" cy="4820717"/>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600" dirty="0">
                <a:latin typeface="+mn-lt"/>
              </a:rPr>
              <a:t>大多数指令要求两个操作数类型一致，当</a:t>
            </a:r>
            <a:r>
              <a:rPr lang="en-US" altLang="zh-CN" sz="2600" dirty="0">
                <a:latin typeface="+mn-lt"/>
              </a:rPr>
              <a:t>32</a:t>
            </a:r>
            <a:r>
              <a:rPr lang="zh-CN" altLang="en-US" sz="2600" dirty="0">
                <a:latin typeface="+mn-lt"/>
              </a:rPr>
              <a:t>位与</a:t>
            </a:r>
            <a:r>
              <a:rPr lang="en-US" altLang="zh-CN" sz="2600" dirty="0">
                <a:latin typeface="+mn-lt"/>
              </a:rPr>
              <a:t>16</a:t>
            </a:r>
            <a:r>
              <a:rPr lang="zh-CN" altLang="en-US" sz="2600" dirty="0">
                <a:latin typeface="+mn-lt"/>
              </a:rPr>
              <a:t>位数据进行加减运算时，需先将</a:t>
            </a:r>
            <a:r>
              <a:rPr lang="en-US" altLang="zh-CN" sz="2600" dirty="0">
                <a:latin typeface="+mn-lt"/>
              </a:rPr>
              <a:t>16</a:t>
            </a:r>
            <a:r>
              <a:rPr lang="zh-CN" altLang="en-US" sz="2600" dirty="0">
                <a:latin typeface="+mn-lt"/>
              </a:rPr>
              <a:t>位扩展为</a:t>
            </a:r>
            <a:r>
              <a:rPr lang="en-US" altLang="zh-CN" sz="2600" dirty="0">
                <a:latin typeface="+mn-lt"/>
              </a:rPr>
              <a:t>32</a:t>
            </a:r>
            <a:r>
              <a:rPr lang="zh-CN" altLang="en-US" sz="2600" dirty="0">
                <a:latin typeface="+mn-lt"/>
              </a:rPr>
              <a:t>位。</a:t>
            </a:r>
            <a:endParaRPr lang="en-US" altLang="zh-CN" sz="26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600" dirty="0">
                <a:latin typeface="+mn-lt"/>
              </a:rPr>
              <a:t>零位扩展对应</a:t>
            </a:r>
            <a:r>
              <a:rPr lang="zh-CN" altLang="en-US" sz="2600" dirty="0">
                <a:solidFill>
                  <a:srgbClr val="FF0000"/>
                </a:solidFill>
                <a:latin typeface="+mn-lt"/>
              </a:rPr>
              <a:t>无符号数</a:t>
            </a:r>
            <a:r>
              <a:rPr lang="zh-CN" altLang="en-US" sz="2600" dirty="0">
                <a:latin typeface="+mn-lt"/>
              </a:rPr>
              <a:t>：</a:t>
            </a:r>
            <a:r>
              <a:rPr lang="en-US" altLang="zh-CN" sz="2600" dirty="0">
                <a:solidFill>
                  <a:srgbClr val="FF0000"/>
                </a:solidFill>
                <a:latin typeface="+mn-lt"/>
              </a:rPr>
              <a:t>MOVZX</a:t>
            </a:r>
            <a:r>
              <a:rPr lang="zh-CN" altLang="en-US" sz="2600" dirty="0">
                <a:latin typeface="+mn-lt"/>
              </a:rPr>
              <a:t>指令</a:t>
            </a:r>
            <a:r>
              <a:rPr lang="en-US" altLang="zh-CN" sz="2600" dirty="0">
                <a:latin typeface="+mn-lt"/>
              </a:rPr>
              <a:t>(Move with Zero-Extend)</a:t>
            </a:r>
            <a:endParaRPr lang="zh-CN" altLang="en-US" sz="26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前面</a:t>
            </a:r>
            <a:r>
              <a:rPr lang="zh-CN" altLang="en-US" sz="2400" dirty="0">
                <a:solidFill>
                  <a:srgbClr val="FF0000"/>
                </a:solidFill>
                <a:latin typeface="+mn-lt"/>
              </a:rPr>
              <a:t>加</a:t>
            </a:r>
            <a:r>
              <a:rPr lang="en-US" altLang="zh-CN" sz="2400" dirty="0">
                <a:solidFill>
                  <a:srgbClr val="FF0000"/>
                </a:solidFill>
                <a:latin typeface="+mn-lt"/>
              </a:rPr>
              <a:t>0</a:t>
            </a:r>
            <a:r>
              <a:rPr lang="zh-CN" altLang="en-US" sz="2400" dirty="0">
                <a:solidFill>
                  <a:schemeClr val="tx1"/>
                </a:solidFill>
                <a:latin typeface="+mn-lt"/>
              </a:rPr>
              <a:t>实现位数扩展</a:t>
            </a:r>
            <a:endParaRPr lang="zh-CN" altLang="en-US" sz="2400" dirty="0">
              <a:solidFill>
                <a:schemeClr val="tx1"/>
              </a:solidFill>
              <a:latin typeface="+mn-lt"/>
            </a:endParaRPr>
          </a:p>
          <a:p>
            <a:pPr lvl="8" algn="just">
              <a:lnSpc>
                <a:spcPct val="130000"/>
              </a:lnSpc>
              <a:buClr>
                <a:srgbClr val="0000FF"/>
              </a:buClr>
            </a:pPr>
            <a:endParaRPr lang="en-US" altLang="zh-CN" sz="32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12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符号扩展对应</a:t>
            </a:r>
            <a:r>
              <a:rPr lang="zh-CN" altLang="en-US" sz="2600" dirty="0">
                <a:solidFill>
                  <a:srgbClr val="FF0000"/>
                </a:solidFill>
                <a:latin typeface="+mn-lt"/>
              </a:rPr>
              <a:t>有符号数</a:t>
            </a:r>
            <a:r>
              <a:rPr lang="zh-CN" altLang="en-US" sz="2600" dirty="0">
                <a:latin typeface="+mn-lt"/>
              </a:rPr>
              <a:t>：</a:t>
            </a:r>
            <a:r>
              <a:rPr lang="en-US" altLang="zh-CN" sz="2600" dirty="0">
                <a:solidFill>
                  <a:srgbClr val="FF0000"/>
                </a:solidFill>
                <a:latin typeface="+mn-lt"/>
              </a:rPr>
              <a:t>MOVSX</a:t>
            </a:r>
            <a:r>
              <a:rPr lang="zh-CN" altLang="en-US" sz="2600" dirty="0">
                <a:latin typeface="+mn-lt"/>
              </a:rPr>
              <a:t>指令</a:t>
            </a:r>
            <a:r>
              <a:rPr lang="en-US" altLang="zh-CN" sz="2600" dirty="0">
                <a:latin typeface="+mn-lt"/>
              </a:rPr>
              <a:t>(Move with Sign-Extend)</a:t>
            </a:r>
            <a:endParaRPr lang="zh-CN" altLang="en-US" sz="26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前面</a:t>
            </a:r>
            <a:r>
              <a:rPr lang="zh-CN" altLang="en-US" sz="2400" dirty="0">
                <a:solidFill>
                  <a:srgbClr val="FF0000"/>
                </a:solidFill>
                <a:latin typeface="+mn-lt"/>
              </a:rPr>
              <a:t>加符号位（最高位）</a:t>
            </a:r>
            <a:r>
              <a:rPr lang="zh-CN" altLang="en-US" sz="2400" dirty="0">
                <a:solidFill>
                  <a:schemeClr val="tx1"/>
                </a:solidFill>
                <a:latin typeface="+mn-lt"/>
              </a:rPr>
              <a:t>实现位数扩展</a:t>
            </a:r>
            <a:endParaRPr lang="zh-CN" altLang="en-US" sz="2400" dirty="0">
              <a:solidFill>
                <a:schemeClr val="tx1"/>
              </a:solidFill>
              <a:latin typeface="+mn-lt"/>
            </a:endParaRPr>
          </a:p>
        </p:txBody>
      </p:sp>
      <p:sp>
        <p:nvSpPr>
          <p:cNvPr id="9" name="Rectangle 3"/>
          <p:cNvSpPr>
            <a:spLocks noChangeArrowheads="1"/>
          </p:cNvSpPr>
          <p:nvPr/>
        </p:nvSpPr>
        <p:spPr bwMode="auto">
          <a:xfrm>
            <a:off x="1115616" y="5301208"/>
            <a:ext cx="7488832" cy="136815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al, 82h	</a:t>
            </a:r>
            <a:r>
              <a:rPr lang="en-US" altLang="zh-CN" sz="2200" dirty="0">
                <a:solidFill>
                  <a:schemeClr val="tx1"/>
                </a:solidFill>
                <a:latin typeface="+mj-lt"/>
                <a:ea typeface="黑体" panose="02010609060101010101" pitchFamily="49" charset="-122"/>
              </a:rPr>
              <a:t>	;AL=1000 0010 B(</a:t>
            </a:r>
            <a:r>
              <a:rPr lang="zh-CN" altLang="en-US" sz="2200" dirty="0">
                <a:solidFill>
                  <a:srgbClr val="FF0000"/>
                </a:solidFill>
                <a:latin typeface="+mj-lt"/>
                <a:ea typeface="黑体" panose="02010609060101010101" pitchFamily="49" charset="-122"/>
              </a:rPr>
              <a:t>最高的符号位是</a:t>
            </a:r>
            <a:r>
              <a:rPr lang="en-US" altLang="zh-CN" sz="2200" dirty="0">
                <a:solidFill>
                  <a:srgbClr val="FF0000"/>
                </a:solidFill>
                <a:latin typeface="+mj-lt"/>
                <a:ea typeface="黑体" panose="02010609060101010101" pitchFamily="49" charset="-122"/>
              </a:rPr>
              <a:t>1</a:t>
            </a:r>
            <a:r>
              <a:rPr lang="en-US" altLang="zh-CN" sz="2200" dirty="0">
                <a:solidFill>
                  <a:schemeClr val="tx1"/>
                </a:solidFill>
                <a:latin typeface="+mj-lt"/>
                <a:ea typeface="黑体" panose="02010609060101010101" pitchFamily="49" charset="-122"/>
              </a:rPr>
              <a:t>)</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movsx</a:t>
            </a:r>
            <a:r>
              <a:rPr lang="en-US" altLang="zh-CN" sz="2200" b="1" dirty="0">
                <a:solidFill>
                  <a:srgbClr val="00B050"/>
                </a:solidFill>
                <a:latin typeface="+mj-lt"/>
                <a:ea typeface="黑体" panose="02010609060101010101" pitchFamily="49" charset="-122"/>
              </a:rPr>
              <a:t> bx, al</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符号扩展：</a:t>
            </a:r>
            <a:r>
              <a:rPr lang="en-US" altLang="zh-CN" sz="2200" dirty="0">
                <a:solidFill>
                  <a:schemeClr val="tx1"/>
                </a:solidFill>
                <a:latin typeface="+mj-lt"/>
                <a:ea typeface="黑体" panose="02010609060101010101" pitchFamily="49" charset="-122"/>
              </a:rPr>
              <a:t>BX=FF82h</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movsx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ebx</a:t>
            </a:r>
            <a:r>
              <a:rPr lang="en-US" altLang="zh-CN" sz="2200" b="1" dirty="0">
                <a:solidFill>
                  <a:srgbClr val="00B050"/>
                </a:solidFill>
                <a:latin typeface="+mj-lt"/>
                <a:ea typeface="黑体" panose="02010609060101010101" pitchFamily="49" charset="-122"/>
              </a:rPr>
              <a:t>, al	</a:t>
            </a:r>
            <a:r>
              <a:rPr lang="en-US" altLang="zh-CN" sz="2200" dirty="0">
                <a:solidFill>
                  <a:schemeClr val="tx1"/>
                </a:solidFill>
                <a:latin typeface="+mj-lt"/>
                <a:ea typeface="黑体" panose="02010609060101010101" pitchFamily="49" charset="-122"/>
              </a:rPr>
              <a:t>;</a:t>
            </a:r>
            <a:r>
              <a:rPr lang="zh-CN" altLang="en-US" sz="2200" dirty="0">
                <a:solidFill>
                  <a:schemeClr val="tx1"/>
                </a:solidFill>
                <a:latin typeface="+mj-lt"/>
                <a:ea typeface="黑体" panose="02010609060101010101" pitchFamily="49" charset="-122"/>
              </a:rPr>
              <a:t>符号扩展：</a:t>
            </a:r>
            <a:r>
              <a:rPr lang="en-US" altLang="zh-CN" sz="2200" dirty="0">
                <a:solidFill>
                  <a:schemeClr val="tx1"/>
                </a:solidFill>
                <a:latin typeface="+mj-lt"/>
                <a:ea typeface="黑体" panose="02010609060101010101" pitchFamily="49" charset="-122"/>
              </a:rPr>
              <a:t>EBX=FFFFFF82h</a:t>
            </a:r>
            <a:endParaRPr lang="en-US" altLang="zh-CN" sz="2200" b="1" dirty="0">
              <a:solidFill>
                <a:srgbClr val="00B050"/>
              </a:solidFill>
              <a:latin typeface="+mj-lt"/>
              <a:ea typeface="黑体" panose="02010609060101010101" pitchFamily="49" charset="-122"/>
            </a:endParaRPr>
          </a:p>
        </p:txBody>
      </p:sp>
      <p:sp>
        <p:nvSpPr>
          <p:cNvPr id="3" name="Rectangle 3"/>
          <p:cNvSpPr>
            <a:spLocks noChangeArrowheads="1"/>
          </p:cNvSpPr>
          <p:nvPr/>
        </p:nvSpPr>
        <p:spPr bwMode="auto">
          <a:xfrm>
            <a:off x="1115616" y="2852936"/>
            <a:ext cx="7488832" cy="136815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mov al, 82h	</a:t>
            </a:r>
            <a:r>
              <a:rPr lang="en-US" altLang="zh-CN" sz="2200" dirty="0">
                <a:solidFill>
                  <a:schemeClr val="tx1"/>
                </a:solidFill>
                <a:latin typeface="+mj-lt"/>
                <a:ea typeface="黑体" panose="02010609060101010101" pitchFamily="49" charset="-122"/>
              </a:rPr>
              <a:t>	;AL=82h</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movzx</a:t>
            </a:r>
            <a:r>
              <a:rPr lang="en-US" altLang="zh-CN" sz="2200" b="1" dirty="0">
                <a:solidFill>
                  <a:srgbClr val="00B050"/>
                </a:solidFill>
                <a:latin typeface="+mj-lt"/>
                <a:ea typeface="黑体" panose="02010609060101010101" pitchFamily="49" charset="-122"/>
              </a:rPr>
              <a:t> bx, al</a:t>
            </a:r>
            <a:r>
              <a:rPr lang="en-US" altLang="zh-CN" sz="2200" dirty="0">
                <a:solidFill>
                  <a:schemeClr val="tx1"/>
                </a:solidFill>
                <a:latin typeface="+mj-lt"/>
                <a:ea typeface="黑体" panose="02010609060101010101" pitchFamily="49" charset="-122"/>
              </a:rPr>
              <a:t>		;</a:t>
            </a:r>
            <a:r>
              <a:rPr lang="zh-CN" altLang="en-US" sz="2200" dirty="0">
                <a:solidFill>
                  <a:schemeClr val="tx1"/>
                </a:solidFill>
                <a:latin typeface="+mj-lt"/>
                <a:ea typeface="黑体" panose="02010609060101010101" pitchFamily="49" charset="-122"/>
              </a:rPr>
              <a:t>零位扩展：</a:t>
            </a:r>
            <a:r>
              <a:rPr lang="en-US" altLang="zh-CN" sz="2200" dirty="0">
                <a:solidFill>
                  <a:schemeClr val="tx1"/>
                </a:solidFill>
                <a:latin typeface="+mj-lt"/>
                <a:ea typeface="黑体" panose="02010609060101010101" pitchFamily="49" charset="-122"/>
              </a:rPr>
              <a:t>BX=0082h</a:t>
            </a:r>
            <a:endParaRPr lang="en-US" altLang="zh-CN"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movzx</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ebx</a:t>
            </a:r>
            <a:r>
              <a:rPr lang="en-US" altLang="zh-CN" sz="2200" b="1" dirty="0">
                <a:solidFill>
                  <a:srgbClr val="00B050"/>
                </a:solidFill>
                <a:latin typeface="+mj-lt"/>
                <a:ea typeface="黑体" panose="02010609060101010101" pitchFamily="49" charset="-122"/>
              </a:rPr>
              <a:t>, al	</a:t>
            </a:r>
            <a:r>
              <a:rPr lang="en-US" altLang="zh-CN" sz="2200" dirty="0">
                <a:solidFill>
                  <a:schemeClr val="tx1"/>
                </a:solidFill>
                <a:latin typeface="+mj-lt"/>
                <a:ea typeface="黑体" panose="02010609060101010101" pitchFamily="49" charset="-122"/>
              </a:rPr>
              <a:t>;</a:t>
            </a:r>
            <a:r>
              <a:rPr lang="zh-CN" altLang="en-US" sz="2200" dirty="0">
                <a:solidFill>
                  <a:schemeClr val="tx1"/>
                </a:solidFill>
                <a:latin typeface="+mj-lt"/>
                <a:ea typeface="黑体" panose="02010609060101010101" pitchFamily="49" charset="-122"/>
              </a:rPr>
              <a:t>零位扩展：</a:t>
            </a:r>
            <a:r>
              <a:rPr lang="en-US" altLang="zh-CN" sz="2200" dirty="0">
                <a:solidFill>
                  <a:schemeClr val="tx1"/>
                </a:solidFill>
                <a:latin typeface="+mj-lt"/>
                <a:ea typeface="黑体" panose="02010609060101010101" pitchFamily="49" charset="-122"/>
              </a:rPr>
              <a:t>EBX=00000082h</a:t>
            </a:r>
            <a:endParaRPr lang="en-US" altLang="zh-CN" sz="2200" dirty="0">
              <a:solidFill>
                <a:schemeClr val="tx1"/>
              </a:solidFill>
              <a:latin typeface="+mj-lt"/>
              <a:ea typeface="黑体" panose="02010609060101010101" pitchFamily="49" charset="-122"/>
            </a:endParaRPr>
          </a:p>
        </p:txBody>
      </p:sp>
      <p:sp>
        <p:nvSpPr>
          <p:cNvPr id="13" name="AutoShape 4"/>
          <p:cNvSpPr>
            <a:spLocks noChangeArrowheads="1"/>
          </p:cNvSpPr>
          <p:nvPr/>
        </p:nvSpPr>
        <p:spPr bwMode="auto">
          <a:xfrm>
            <a:off x="5436096" y="2852936"/>
            <a:ext cx="3168352" cy="485044"/>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120000"/>
              </a:lnSpc>
              <a:spcBef>
                <a:spcPct val="0"/>
              </a:spcBef>
              <a:buClrTx/>
              <a:buFontTx/>
              <a:buNone/>
            </a:pPr>
            <a:r>
              <a:rPr lang="zh-CN" altLang="en-US" sz="2200" dirty="0">
                <a:solidFill>
                  <a:srgbClr val="FFFF0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rPr>
              <a:t>位数加长，但大小不变</a:t>
            </a:r>
            <a:endParaRPr lang="zh-CN" altLang="en-US" sz="2200" dirty="0">
              <a:solidFill>
                <a:srgbClr val="FFFF0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endParaRPr>
          </a:p>
        </p:txBody>
      </p:sp>
      <p:sp>
        <p:nvSpPr>
          <p:cNvPr id="2" name="AutoShape 4"/>
          <p:cNvSpPr>
            <a:spLocks noChangeArrowheads="1"/>
          </p:cNvSpPr>
          <p:nvPr/>
        </p:nvSpPr>
        <p:spPr bwMode="auto">
          <a:xfrm>
            <a:off x="5436096" y="4785577"/>
            <a:ext cx="3168352" cy="485044"/>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120000"/>
              </a:lnSpc>
              <a:spcBef>
                <a:spcPct val="0"/>
              </a:spcBef>
              <a:buClrTx/>
              <a:buFontTx/>
              <a:buNone/>
            </a:pPr>
            <a:r>
              <a:rPr lang="zh-CN" altLang="en-US" sz="2200" dirty="0">
                <a:solidFill>
                  <a:srgbClr val="FFFF0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rPr>
              <a:t>目的操作数只支持寄存器</a:t>
            </a:r>
            <a:endParaRPr lang="zh-CN" altLang="en-US" sz="2200" dirty="0">
              <a:solidFill>
                <a:srgbClr val="FFFF0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其它符号扩展指令</a:t>
            </a:r>
            <a:endParaRPr kumimoji="1" lang="zh-CN" altLang="en-US" b="0" i="0" u="non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16772"/>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92696"/>
            <a:ext cx="8136904" cy="5904656"/>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其它符号扩展指令</a:t>
            </a:r>
            <a:endParaRPr lang="zh-CN" altLang="en-US" sz="26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CBW(Convert Byte to Word)</a:t>
            </a:r>
            <a:r>
              <a:rPr lang="zh-CN" altLang="en-US" sz="2400" dirty="0">
                <a:solidFill>
                  <a:schemeClr val="tx1"/>
                </a:solidFill>
                <a:latin typeface="+mn-lt"/>
              </a:rPr>
              <a:t>：将 </a:t>
            </a:r>
            <a:r>
              <a:rPr lang="en-US" altLang="zh-CN" sz="2400" dirty="0">
                <a:solidFill>
                  <a:schemeClr val="tx1"/>
                </a:solidFill>
                <a:latin typeface="+mn-lt"/>
              </a:rPr>
              <a:t>AL </a:t>
            </a:r>
            <a:r>
              <a:rPr lang="zh-CN" altLang="en-US" sz="2400" dirty="0">
                <a:solidFill>
                  <a:schemeClr val="tx1"/>
                </a:solidFill>
                <a:latin typeface="+mn-lt"/>
              </a:rPr>
              <a:t>扩展为 </a:t>
            </a:r>
            <a:r>
              <a:rPr lang="en-US" altLang="zh-CN" sz="2400" dirty="0">
                <a:solidFill>
                  <a:schemeClr val="tx1"/>
                </a:solidFill>
                <a:latin typeface="+mn-lt"/>
              </a:rPr>
              <a:t>AX</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CWD(Convert Word to </a:t>
            </a:r>
            <a:r>
              <a:rPr lang="en-US" altLang="zh-CN" sz="2400" dirty="0" err="1">
                <a:solidFill>
                  <a:schemeClr val="tx1"/>
                </a:solidFill>
                <a:latin typeface="+mn-lt"/>
              </a:rPr>
              <a:t>Dword</a:t>
            </a:r>
            <a:r>
              <a:rPr lang="en-US" altLang="zh-CN" sz="2400" dirty="0">
                <a:solidFill>
                  <a:schemeClr val="tx1"/>
                </a:solidFill>
                <a:latin typeface="+mn-lt"/>
              </a:rPr>
              <a:t>)</a:t>
            </a:r>
            <a:r>
              <a:rPr lang="zh-CN" altLang="en-US" sz="2400" dirty="0">
                <a:solidFill>
                  <a:schemeClr val="tx1"/>
                </a:solidFill>
                <a:latin typeface="+mn-lt"/>
              </a:rPr>
              <a:t>：将 </a:t>
            </a:r>
            <a:r>
              <a:rPr lang="en-US" altLang="zh-CN" sz="2400" dirty="0">
                <a:solidFill>
                  <a:schemeClr val="tx1"/>
                </a:solidFill>
                <a:latin typeface="+mn-lt"/>
              </a:rPr>
              <a:t>AX </a:t>
            </a:r>
            <a:r>
              <a:rPr lang="zh-CN" altLang="en-US" sz="2400" dirty="0">
                <a:solidFill>
                  <a:schemeClr val="tx1"/>
                </a:solidFill>
                <a:latin typeface="+mn-lt"/>
              </a:rPr>
              <a:t>扩展为 </a:t>
            </a:r>
            <a:r>
              <a:rPr lang="en-US" altLang="zh-CN" sz="2400" dirty="0">
                <a:solidFill>
                  <a:schemeClr val="tx1"/>
                </a:solidFill>
                <a:latin typeface="+mn-lt"/>
              </a:rPr>
              <a:t>DX:AX</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CWDE(Convert Word to Extended </a:t>
            </a:r>
            <a:r>
              <a:rPr lang="en-US" altLang="zh-CN" sz="2400" dirty="0" err="1">
                <a:solidFill>
                  <a:schemeClr val="tx1"/>
                </a:solidFill>
                <a:latin typeface="+mn-lt"/>
              </a:rPr>
              <a:t>Dword</a:t>
            </a:r>
            <a:r>
              <a:rPr lang="en-US" altLang="zh-CN" sz="2400" dirty="0">
                <a:solidFill>
                  <a:schemeClr val="tx1"/>
                </a:solidFill>
                <a:latin typeface="+mn-lt"/>
              </a:rPr>
              <a:t>)</a:t>
            </a:r>
            <a:r>
              <a:rPr lang="zh-CN" altLang="en-US" sz="2400" dirty="0">
                <a:solidFill>
                  <a:schemeClr val="tx1"/>
                </a:solidFill>
                <a:latin typeface="+mn-lt"/>
              </a:rPr>
              <a:t>：将 </a:t>
            </a:r>
            <a:r>
              <a:rPr lang="en-US" altLang="zh-CN" sz="2400" dirty="0">
                <a:solidFill>
                  <a:schemeClr val="tx1"/>
                </a:solidFill>
                <a:latin typeface="+mn-lt"/>
              </a:rPr>
              <a:t>AX </a:t>
            </a:r>
            <a:r>
              <a:rPr lang="zh-CN" altLang="en-US" sz="2400" dirty="0">
                <a:solidFill>
                  <a:schemeClr val="tx1"/>
                </a:solidFill>
                <a:latin typeface="+mn-lt"/>
              </a:rPr>
              <a:t>扩展为 </a:t>
            </a:r>
            <a:r>
              <a:rPr lang="en-US" altLang="zh-CN" sz="2400" dirty="0">
                <a:solidFill>
                  <a:schemeClr val="tx1"/>
                </a:solidFill>
                <a:latin typeface="+mn-lt"/>
              </a:rPr>
              <a:t>EAX </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CDQ(Convert </a:t>
            </a:r>
            <a:r>
              <a:rPr lang="en-US" altLang="zh-CN" sz="2400" dirty="0" err="1">
                <a:solidFill>
                  <a:schemeClr val="tx1"/>
                </a:solidFill>
                <a:latin typeface="+mn-lt"/>
              </a:rPr>
              <a:t>Dword</a:t>
            </a:r>
            <a:r>
              <a:rPr lang="en-US" altLang="zh-CN" sz="2400" dirty="0">
                <a:solidFill>
                  <a:schemeClr val="tx1"/>
                </a:solidFill>
                <a:latin typeface="+mn-lt"/>
              </a:rPr>
              <a:t> to Qword)</a:t>
            </a:r>
            <a:r>
              <a:rPr lang="zh-CN" altLang="en-US" sz="2400" dirty="0">
                <a:solidFill>
                  <a:schemeClr val="tx1"/>
                </a:solidFill>
                <a:latin typeface="+mn-lt"/>
              </a:rPr>
              <a:t>：将 </a:t>
            </a:r>
            <a:r>
              <a:rPr lang="en-US" altLang="zh-CN" sz="2400" dirty="0">
                <a:solidFill>
                  <a:schemeClr val="tx1"/>
                </a:solidFill>
                <a:latin typeface="+mn-lt"/>
              </a:rPr>
              <a:t>EAX </a:t>
            </a:r>
            <a:r>
              <a:rPr lang="zh-CN" altLang="en-US" sz="2400" dirty="0">
                <a:solidFill>
                  <a:schemeClr val="tx1"/>
                </a:solidFill>
                <a:latin typeface="+mn-lt"/>
              </a:rPr>
              <a:t>扩展为 </a:t>
            </a:r>
            <a:r>
              <a:rPr lang="en-US" altLang="zh-CN" sz="2400" dirty="0">
                <a:solidFill>
                  <a:schemeClr val="tx1"/>
                </a:solidFill>
                <a:latin typeface="+mn-lt"/>
              </a:rPr>
              <a:t>64 </a:t>
            </a:r>
            <a:r>
              <a:rPr lang="zh-CN" altLang="en-US" sz="2400" dirty="0">
                <a:solidFill>
                  <a:schemeClr val="tx1"/>
                </a:solidFill>
                <a:latin typeface="+mn-lt"/>
              </a:rPr>
              <a:t>位数 </a:t>
            </a:r>
            <a:r>
              <a:rPr lang="en-US" altLang="zh-CN" sz="2400" dirty="0">
                <a:solidFill>
                  <a:schemeClr val="tx1"/>
                </a:solidFill>
                <a:latin typeface="+mn-lt"/>
              </a:rPr>
              <a:t>EDX:EAX </a:t>
            </a: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latin typeface="+mn-lt"/>
              </a:rPr>
              <a:t>Intel 8086</a:t>
            </a:r>
            <a:r>
              <a:rPr lang="zh-CN" altLang="en-US" sz="2600" dirty="0">
                <a:latin typeface="+mn-lt"/>
              </a:rPr>
              <a:t>只支持</a:t>
            </a:r>
            <a:r>
              <a:rPr lang="en-US" altLang="zh-CN" sz="2600" dirty="0">
                <a:latin typeface="+mn-lt"/>
              </a:rPr>
              <a:t>CBW</a:t>
            </a:r>
            <a:r>
              <a:rPr lang="zh-CN" altLang="en-US" sz="2600" dirty="0">
                <a:latin typeface="+mn-lt"/>
              </a:rPr>
              <a:t>和</a:t>
            </a:r>
            <a:r>
              <a:rPr lang="en-US" altLang="zh-CN" sz="2600" dirty="0">
                <a:latin typeface="+mn-lt"/>
              </a:rPr>
              <a:t>CWD</a:t>
            </a:r>
            <a:r>
              <a:rPr lang="zh-CN" altLang="en-US" sz="2600" dirty="0">
                <a:latin typeface="+mn-lt"/>
              </a:rPr>
              <a:t>指令，不支持包括</a:t>
            </a:r>
            <a:r>
              <a:rPr lang="en-US" altLang="zh-CN" sz="2600" dirty="0">
                <a:latin typeface="+mn-lt"/>
              </a:rPr>
              <a:t>MOVZX</a:t>
            </a:r>
            <a:r>
              <a:rPr lang="zh-CN" altLang="en-US" sz="2600" dirty="0">
                <a:latin typeface="+mn-lt"/>
              </a:rPr>
              <a:t>和</a:t>
            </a:r>
            <a:r>
              <a:rPr lang="en-US" altLang="zh-CN" sz="2600" dirty="0">
                <a:latin typeface="+mn-lt"/>
              </a:rPr>
              <a:t>MOVSX</a:t>
            </a:r>
            <a:r>
              <a:rPr lang="zh-CN" altLang="en-US" sz="2600" dirty="0">
                <a:latin typeface="+mn-lt"/>
              </a:rPr>
              <a:t>在内的其它扩展指令</a:t>
            </a:r>
            <a:endParaRPr lang="zh-CN" altLang="en-US"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符号扩展指令都是用符号位填充多出的空间，对</a:t>
            </a:r>
            <a:r>
              <a:rPr lang="en-US" altLang="zh-CN" sz="2600" dirty="0">
                <a:latin typeface="+mn-lt"/>
              </a:rPr>
              <a:t>EFLAGS</a:t>
            </a:r>
            <a:r>
              <a:rPr lang="zh-CN" altLang="en-US" sz="2600" dirty="0">
                <a:latin typeface="+mn-lt"/>
              </a:rPr>
              <a:t>无影响，也无参数</a:t>
            </a:r>
            <a:endParaRPr lang="en-US" altLang="zh-CN" sz="2600" dirty="0">
              <a:latin typeface="+mn-lt"/>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39552" y="721271"/>
            <a:ext cx="8064896" cy="6136729"/>
          </a:xfrm>
          <a:prstGeom prst="rect">
            <a:avLst/>
          </a:prstGeom>
        </p:spPr>
        <p:txBody>
          <a:bodyPr/>
          <a:lstStyle/>
          <a:p>
            <a:pPr algn="just">
              <a:lnSpc>
                <a:spcPct val="130000"/>
              </a:lnSpc>
              <a:spcBef>
                <a:spcPts val="0"/>
              </a:spcBef>
              <a:buClr>
                <a:srgbClr val="0000FF"/>
              </a:buClr>
              <a:buSzPct val="100000"/>
              <a:defRPr/>
            </a:pPr>
            <a:r>
              <a:rPr lang="zh-CN" altLang="en-US" sz="2600" dirty="0">
                <a:solidFill>
                  <a:schemeClr val="tx1"/>
                </a:solidFill>
                <a:latin typeface="+mn-lt"/>
              </a:rPr>
              <a:t>例：将</a:t>
            </a:r>
            <a:r>
              <a:rPr lang="zh-CN" altLang="en-US" sz="2600" dirty="0">
                <a:solidFill>
                  <a:schemeClr val="tx1"/>
                </a:solidFill>
                <a:sym typeface="+mn-ea"/>
              </a:rPr>
              <a:t>摄氏温度</a:t>
            </a:r>
            <a:r>
              <a:rPr lang="en-US" altLang="zh-CN" sz="2600" dirty="0">
                <a:solidFill>
                  <a:schemeClr val="tx1"/>
                </a:solidFill>
                <a:sym typeface="+mn-ea"/>
              </a:rPr>
              <a:t>C</a:t>
            </a:r>
            <a:r>
              <a:rPr lang="zh-CN" altLang="en-US" sz="2600" dirty="0">
                <a:solidFill>
                  <a:schemeClr val="tx1"/>
                </a:solidFill>
                <a:sym typeface="+mn-ea"/>
              </a:rPr>
              <a:t>转换为华氏温度</a:t>
            </a:r>
            <a:r>
              <a:rPr lang="en-US" altLang="zh-CN" sz="2600" dirty="0">
                <a:solidFill>
                  <a:schemeClr val="tx1"/>
                </a:solidFill>
                <a:sym typeface="+mn-ea"/>
              </a:rPr>
              <a:t>F</a:t>
            </a:r>
            <a:endParaRPr lang="en-US" altLang="zh-CN" sz="2600" dirty="0">
              <a:solidFill>
                <a:schemeClr val="tx1"/>
              </a:solidFill>
              <a:sym typeface="+mn-ea"/>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3-6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温度转换程序</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509439"/>
            <a:ext cx="8016948" cy="4929505"/>
          </a:xfrm>
          <a:prstGeom prst="rect">
            <a:avLst/>
          </a:prstGeom>
          <a:solidFill>
            <a:srgbClr val="DDEEFF"/>
          </a:solidFill>
          <a:ln w="25400">
            <a:noFill/>
          </a:ln>
        </p:spPr>
        <p:txBody>
          <a:bodyPr wrap="square">
            <a:spAutoFit/>
          </a:bodyPr>
          <a:lstStyle/>
          <a:p>
            <a:pPr>
              <a:lnSpc>
                <a:spcPct val="130000"/>
              </a:lnSpc>
            </a:pPr>
            <a:r>
              <a:rPr lang="en-US" altLang="zh-CN" sz="2200" dirty="0">
                <a:solidFill>
                  <a:schemeClr val="tx1"/>
                </a:solidFill>
                <a:latin typeface="+mn-lt"/>
              </a:rPr>
              <a:t>;</a:t>
            </a:r>
            <a:r>
              <a:rPr lang="zh-CN" altLang="en-US" sz="2200" dirty="0">
                <a:solidFill>
                  <a:schemeClr val="tx1"/>
                </a:solidFill>
                <a:latin typeface="+mn-lt"/>
              </a:rPr>
              <a:t>数据段</a:t>
            </a:r>
            <a:endParaRPr lang="zh-CN" altLang="en-US" sz="2200" dirty="0">
              <a:solidFill>
                <a:schemeClr val="tx1"/>
              </a:solidFill>
              <a:latin typeface="+mn-lt"/>
            </a:endParaRPr>
          </a:p>
          <a:p>
            <a:pPr>
              <a:lnSpc>
                <a:spcPct val="130000"/>
              </a:lnSpc>
            </a:pPr>
            <a:r>
              <a:rPr lang="en-US" altLang="zh-CN" sz="2200" b="1" dirty="0">
                <a:solidFill>
                  <a:srgbClr val="0000FF"/>
                </a:solidFill>
                <a:latin typeface="+mn-lt"/>
              </a:rPr>
              <a:t>tempc	dw 26</a:t>
            </a:r>
            <a:r>
              <a:rPr lang="en-US" altLang="zh-CN" sz="2200" b="1" dirty="0">
                <a:solidFill>
                  <a:srgbClr val="FF0000"/>
                </a:solidFill>
                <a:latin typeface="+mn-lt"/>
              </a:rPr>
              <a:t>			</a:t>
            </a:r>
            <a:r>
              <a:rPr lang="en-US" altLang="zh-CN" sz="2200" dirty="0">
                <a:solidFill>
                  <a:srgbClr val="FF0000"/>
                </a:solidFill>
                <a:latin typeface="+mn-lt"/>
              </a:rPr>
              <a:t>;</a:t>
            </a:r>
            <a:r>
              <a:rPr lang="zh-CN" altLang="en-US" sz="2200" dirty="0">
                <a:solidFill>
                  <a:srgbClr val="FF0000"/>
                </a:solidFill>
                <a:latin typeface="+mn-lt"/>
              </a:rPr>
              <a:t>假设一个摄氏温度</a:t>
            </a:r>
            <a:r>
              <a:rPr lang="en-US" altLang="zh-CN" sz="2200" dirty="0">
                <a:solidFill>
                  <a:srgbClr val="FF0000"/>
                </a:solidFill>
                <a:latin typeface="+mn-lt"/>
              </a:rPr>
              <a:t>C</a:t>
            </a:r>
            <a:endParaRPr lang="en-US" altLang="zh-CN" sz="2200" dirty="0">
              <a:solidFill>
                <a:srgbClr val="FF0000"/>
              </a:solidFill>
              <a:latin typeface="+mn-lt"/>
            </a:endParaRPr>
          </a:p>
          <a:p>
            <a:pPr>
              <a:lnSpc>
                <a:spcPct val="130000"/>
              </a:lnSpc>
            </a:pPr>
            <a:r>
              <a:rPr lang="en-US" altLang="zh-CN" sz="2200" b="1" dirty="0">
                <a:solidFill>
                  <a:srgbClr val="0000FF"/>
                </a:solidFill>
                <a:latin typeface="+mn-lt"/>
              </a:rPr>
              <a:t>tempf	dw 0</a:t>
            </a:r>
            <a:r>
              <a:rPr lang="en-US" altLang="zh-CN" sz="2200" b="1" dirty="0">
                <a:solidFill>
                  <a:srgbClr val="FF0000"/>
                </a:solidFill>
                <a:latin typeface="+mn-lt"/>
              </a:rPr>
              <a:t>			</a:t>
            </a:r>
            <a:r>
              <a:rPr lang="en-US" altLang="zh-CN" sz="2200" dirty="0">
                <a:solidFill>
                  <a:srgbClr val="FF0000"/>
                </a:solidFill>
                <a:latin typeface="+mn-lt"/>
              </a:rPr>
              <a:t>;</a:t>
            </a:r>
            <a:r>
              <a:rPr lang="zh-CN" altLang="en-US" sz="2200" dirty="0">
                <a:solidFill>
                  <a:srgbClr val="FF0000"/>
                </a:solidFill>
                <a:latin typeface="+mn-lt"/>
              </a:rPr>
              <a:t>保存华氏温度</a:t>
            </a:r>
            <a:r>
              <a:rPr lang="en-US" altLang="zh-CN" sz="2200" dirty="0">
                <a:solidFill>
                  <a:srgbClr val="FF0000"/>
                </a:solidFill>
                <a:latin typeface="+mn-lt"/>
              </a:rPr>
              <a:t>F</a:t>
            </a:r>
            <a:endParaRPr lang="en-US" altLang="zh-CN" sz="2200" dirty="0">
              <a:solidFill>
                <a:srgbClr val="FF0000"/>
              </a:solidFill>
              <a:latin typeface="+mn-lt"/>
            </a:endParaRPr>
          </a:p>
          <a:p>
            <a:pPr>
              <a:lnSpc>
                <a:spcPct val="130000"/>
              </a:lnSpc>
            </a:pPr>
            <a:r>
              <a:rPr lang="en-US" altLang="zh-CN" sz="2200" dirty="0">
                <a:solidFill>
                  <a:schemeClr val="tx1"/>
                </a:solidFill>
                <a:latin typeface="+mn-lt"/>
              </a:rPr>
              <a:t>;</a:t>
            </a:r>
            <a:r>
              <a:rPr lang="zh-CN" altLang="en-US" sz="2200" dirty="0">
                <a:solidFill>
                  <a:schemeClr val="tx1"/>
                </a:solidFill>
                <a:latin typeface="+mn-lt"/>
              </a:rPr>
              <a:t>代码段</a:t>
            </a:r>
            <a:endParaRPr lang="zh-CN" altLang="en-US" sz="2200" dirty="0">
              <a:solidFill>
                <a:schemeClr val="tx1"/>
              </a:solidFill>
              <a:latin typeface="+mn-lt"/>
            </a:endParaRPr>
          </a:p>
          <a:p>
            <a:pPr>
              <a:lnSpc>
                <a:spcPct val="130000"/>
              </a:lnSpc>
            </a:pPr>
            <a:r>
              <a:rPr lang="en-US" altLang="zh-CN" sz="2200" b="1" dirty="0">
                <a:solidFill>
                  <a:srgbClr val="0000FF"/>
                </a:solidFill>
                <a:latin typeface="+mn-lt"/>
              </a:rPr>
              <a:t>movsx eax, [tempc]</a:t>
            </a:r>
            <a:r>
              <a:rPr lang="en-US" altLang="zh-CN" sz="2200" b="1" dirty="0">
                <a:solidFill>
                  <a:srgbClr val="FF0000"/>
                </a:solidFill>
                <a:latin typeface="+mn-lt"/>
              </a:rPr>
              <a:t>		</a:t>
            </a:r>
            <a:r>
              <a:rPr lang="en-US" altLang="zh-CN" sz="2200" dirty="0">
                <a:solidFill>
                  <a:srgbClr val="FF0000"/>
                </a:solidFill>
                <a:latin typeface="+mn-lt"/>
              </a:rPr>
              <a:t>;16</a:t>
            </a:r>
            <a:r>
              <a:rPr lang="zh-CN" altLang="en-US" sz="2200" dirty="0">
                <a:solidFill>
                  <a:srgbClr val="FF0000"/>
                </a:solidFill>
                <a:latin typeface="+mn-lt"/>
              </a:rPr>
              <a:t>位有符号数符号扩展</a:t>
            </a:r>
            <a:endParaRPr lang="zh-CN" altLang="en-US" sz="2200" dirty="0">
              <a:solidFill>
                <a:srgbClr val="FF0000"/>
              </a:solidFill>
              <a:latin typeface="+mn-lt"/>
            </a:endParaRPr>
          </a:p>
          <a:p>
            <a:pPr>
              <a:lnSpc>
                <a:spcPct val="130000"/>
              </a:lnSpc>
            </a:pPr>
            <a:r>
              <a:rPr lang="en-US" altLang="zh-CN" sz="2200" b="1" dirty="0">
                <a:solidFill>
                  <a:srgbClr val="0000FF"/>
                </a:solidFill>
                <a:latin typeface="+mn-lt"/>
              </a:rPr>
              <a:t>imul eax, 9</a:t>
            </a:r>
            <a:r>
              <a:rPr lang="en-US" altLang="zh-CN" sz="2200" b="1" dirty="0">
                <a:solidFill>
                  <a:srgbClr val="FF0000"/>
                </a:solidFill>
                <a:latin typeface="+mn-lt"/>
              </a:rPr>
              <a:t>			</a:t>
            </a:r>
            <a:r>
              <a:rPr lang="en-US" altLang="zh-CN" sz="2200" dirty="0">
                <a:solidFill>
                  <a:srgbClr val="FF0000"/>
                </a:solidFill>
                <a:latin typeface="+mn-lt"/>
              </a:rPr>
              <a:t>;EAX</a:t>
            </a:r>
            <a:r>
              <a:rPr lang="zh-CN" altLang="en-US" sz="2200" dirty="0">
                <a:solidFill>
                  <a:srgbClr val="FF0000"/>
                </a:solidFill>
                <a:latin typeface="+mn-lt"/>
              </a:rPr>
              <a:t>＝</a:t>
            </a:r>
            <a:r>
              <a:rPr lang="en-US" altLang="zh-CN" sz="2200" dirty="0">
                <a:solidFill>
                  <a:srgbClr val="FF0000"/>
                </a:solidFill>
                <a:latin typeface="+mn-lt"/>
              </a:rPr>
              <a:t>EAX</a:t>
            </a:r>
            <a:r>
              <a:rPr lang="en-US" altLang="en-US" sz="2200" dirty="0">
                <a:solidFill>
                  <a:srgbClr val="FF0000"/>
                </a:solidFill>
                <a:latin typeface="+mn-lt"/>
              </a:rPr>
              <a:t>×</a:t>
            </a:r>
            <a:r>
              <a:rPr lang="en-US" altLang="zh-CN" sz="2200" dirty="0">
                <a:solidFill>
                  <a:srgbClr val="FF0000"/>
                </a:solidFill>
                <a:latin typeface="+mn-lt"/>
              </a:rPr>
              <a:t>9</a:t>
            </a:r>
            <a:endParaRPr lang="en-US" altLang="zh-CN" sz="2200" dirty="0">
              <a:solidFill>
                <a:srgbClr val="FF0000"/>
              </a:solidFill>
              <a:latin typeface="+mn-lt"/>
            </a:endParaRPr>
          </a:p>
          <a:p>
            <a:pPr>
              <a:lnSpc>
                <a:spcPct val="130000"/>
              </a:lnSpc>
            </a:pPr>
            <a:r>
              <a:rPr lang="en-US" altLang="zh-CN" sz="2200" b="1" dirty="0">
                <a:solidFill>
                  <a:srgbClr val="0000FF"/>
                </a:solidFill>
                <a:latin typeface="+mn-lt"/>
              </a:rPr>
              <a:t>cdq</a:t>
            </a:r>
            <a:r>
              <a:rPr lang="en-US" altLang="zh-CN" sz="2200" b="1" dirty="0">
                <a:solidFill>
                  <a:srgbClr val="FF0000"/>
                </a:solidFill>
                <a:latin typeface="+mn-lt"/>
              </a:rPr>
              <a:t>				</a:t>
            </a:r>
            <a:r>
              <a:rPr lang="en-US" altLang="zh-CN" sz="2200" dirty="0">
                <a:solidFill>
                  <a:srgbClr val="FF0000"/>
                </a:solidFill>
                <a:latin typeface="+mn-lt"/>
              </a:rPr>
              <a:t>;EAX</a:t>
            </a:r>
            <a:r>
              <a:rPr lang="zh-CN" altLang="en-US" sz="2200" dirty="0">
                <a:solidFill>
                  <a:srgbClr val="FF0000"/>
                </a:solidFill>
                <a:latin typeface="+mn-lt"/>
              </a:rPr>
              <a:t>符号扩展为</a:t>
            </a:r>
            <a:r>
              <a:rPr lang="en-US" altLang="zh-CN" sz="2200" dirty="0">
                <a:solidFill>
                  <a:srgbClr val="FF0000"/>
                </a:solidFill>
                <a:latin typeface="+mn-lt"/>
              </a:rPr>
              <a:t>EDX</a:t>
            </a:r>
            <a:r>
              <a:rPr lang="zh-CN" altLang="en-US" sz="2200" dirty="0">
                <a:solidFill>
                  <a:srgbClr val="FF0000"/>
                </a:solidFill>
                <a:latin typeface="+mn-lt"/>
              </a:rPr>
              <a:t>和</a:t>
            </a:r>
            <a:r>
              <a:rPr lang="en-US" altLang="zh-CN" sz="2200" dirty="0">
                <a:solidFill>
                  <a:srgbClr val="FF0000"/>
                </a:solidFill>
                <a:latin typeface="+mn-lt"/>
              </a:rPr>
              <a:t>EAX</a:t>
            </a:r>
            <a:endParaRPr lang="en-US" altLang="zh-CN" sz="2200" dirty="0">
              <a:solidFill>
                <a:srgbClr val="FF0000"/>
              </a:solidFill>
              <a:latin typeface="+mn-lt"/>
            </a:endParaRPr>
          </a:p>
          <a:p>
            <a:pPr algn="l">
              <a:lnSpc>
                <a:spcPct val="130000"/>
              </a:lnSpc>
              <a:buClrTx/>
              <a:buSzTx/>
              <a:buFontTx/>
            </a:pPr>
            <a:r>
              <a:rPr lang="en-US" altLang="zh-CN" sz="2200" b="1" dirty="0">
                <a:solidFill>
                  <a:srgbClr val="0000FF"/>
                </a:solidFill>
                <a:latin typeface="+mn-lt"/>
              </a:rPr>
              <a:t>mov ebx, 5                                  </a:t>
            </a:r>
            <a:r>
              <a:rPr lang="en-US" altLang="zh-CN" sz="2200" dirty="0">
                <a:solidFill>
                  <a:srgbClr val="0000FF"/>
                </a:solidFill>
                <a:latin typeface="+mn-lt"/>
              </a:rPr>
              <a:t>;把除数放入寄存器</a:t>
            </a:r>
            <a:endParaRPr lang="en-US" altLang="zh-CN" sz="2200" dirty="0">
              <a:solidFill>
                <a:srgbClr val="0000FF"/>
              </a:solidFill>
              <a:latin typeface="+mn-lt"/>
            </a:endParaRPr>
          </a:p>
          <a:p>
            <a:pPr>
              <a:lnSpc>
                <a:spcPct val="130000"/>
              </a:lnSpc>
            </a:pPr>
            <a:r>
              <a:rPr lang="en-US" altLang="zh-CN" sz="2200" b="1" dirty="0">
                <a:solidFill>
                  <a:srgbClr val="0000FF"/>
                </a:solidFill>
                <a:latin typeface="+mn-lt"/>
              </a:rPr>
              <a:t>idiv ebx</a:t>
            </a:r>
            <a:r>
              <a:rPr lang="en-US" altLang="zh-CN" sz="2200" b="1" dirty="0">
                <a:solidFill>
                  <a:srgbClr val="FF0000"/>
                </a:solidFill>
                <a:latin typeface="+mn-lt"/>
              </a:rPr>
              <a:t>			</a:t>
            </a:r>
            <a:r>
              <a:rPr lang="en-US" altLang="zh-CN" sz="2200" dirty="0">
                <a:solidFill>
                  <a:srgbClr val="FF0000"/>
                </a:solidFill>
                <a:latin typeface="+mn-lt"/>
              </a:rPr>
              <a:t>;EAX</a:t>
            </a:r>
            <a:r>
              <a:rPr lang="zh-CN" altLang="en-US" sz="2200" dirty="0">
                <a:solidFill>
                  <a:srgbClr val="FF0000"/>
                </a:solidFill>
                <a:latin typeface="+mn-lt"/>
              </a:rPr>
              <a:t>＝</a:t>
            </a:r>
            <a:r>
              <a:rPr lang="en-US" altLang="zh-CN" sz="2200" dirty="0">
                <a:solidFill>
                  <a:srgbClr val="FF0000"/>
                </a:solidFill>
                <a:latin typeface="+mn-lt"/>
              </a:rPr>
              <a:t>C</a:t>
            </a:r>
            <a:r>
              <a:rPr lang="en-US" altLang="en-US" sz="2200" dirty="0">
                <a:solidFill>
                  <a:srgbClr val="FF0000"/>
                </a:solidFill>
                <a:latin typeface="+mn-lt"/>
              </a:rPr>
              <a:t>×</a:t>
            </a:r>
            <a:r>
              <a:rPr lang="en-US" altLang="zh-CN" sz="2200" dirty="0">
                <a:solidFill>
                  <a:srgbClr val="FF0000"/>
                </a:solidFill>
                <a:latin typeface="+mn-lt"/>
              </a:rPr>
              <a:t>9/5</a:t>
            </a:r>
            <a:endParaRPr lang="en-US" altLang="zh-CN" sz="2200" dirty="0">
              <a:solidFill>
                <a:srgbClr val="FF0000"/>
              </a:solidFill>
              <a:latin typeface="+mn-lt"/>
            </a:endParaRPr>
          </a:p>
          <a:p>
            <a:pPr>
              <a:lnSpc>
                <a:spcPct val="130000"/>
              </a:lnSpc>
            </a:pPr>
            <a:r>
              <a:rPr lang="en-US" altLang="zh-CN" sz="2200" b="1" dirty="0">
                <a:solidFill>
                  <a:srgbClr val="0000FF"/>
                </a:solidFill>
                <a:latin typeface="+mn-lt"/>
              </a:rPr>
              <a:t>add eax, 32</a:t>
            </a:r>
            <a:r>
              <a:rPr lang="en-US" altLang="zh-CN" sz="2200" b="1" dirty="0">
                <a:solidFill>
                  <a:srgbClr val="FF0000"/>
                </a:solidFill>
                <a:latin typeface="+mn-lt"/>
              </a:rPr>
              <a:t>			</a:t>
            </a:r>
            <a:r>
              <a:rPr lang="en-US" altLang="zh-CN" sz="2200" dirty="0">
                <a:solidFill>
                  <a:srgbClr val="FF0000"/>
                </a:solidFill>
                <a:latin typeface="+mn-lt"/>
              </a:rPr>
              <a:t>;EAX</a:t>
            </a:r>
            <a:r>
              <a:rPr lang="zh-CN" altLang="en-US" sz="2200" dirty="0">
                <a:solidFill>
                  <a:srgbClr val="FF0000"/>
                </a:solidFill>
                <a:latin typeface="+mn-lt"/>
              </a:rPr>
              <a:t>＝</a:t>
            </a:r>
            <a:r>
              <a:rPr lang="en-US" altLang="zh-CN" sz="2200" dirty="0">
                <a:solidFill>
                  <a:srgbClr val="FF0000"/>
                </a:solidFill>
                <a:latin typeface="+mn-lt"/>
              </a:rPr>
              <a:t>F</a:t>
            </a:r>
            <a:r>
              <a:rPr lang="zh-CN" altLang="en-US" sz="2200" dirty="0">
                <a:solidFill>
                  <a:srgbClr val="FF0000"/>
                </a:solidFill>
                <a:latin typeface="+mn-lt"/>
              </a:rPr>
              <a:t>＝</a:t>
            </a:r>
            <a:r>
              <a:rPr lang="en-US" altLang="zh-CN" sz="2200" dirty="0">
                <a:solidFill>
                  <a:srgbClr val="FF0000"/>
                </a:solidFill>
                <a:latin typeface="+mn-lt"/>
              </a:rPr>
              <a:t>C</a:t>
            </a:r>
            <a:r>
              <a:rPr lang="en-US" altLang="en-US" sz="2200" dirty="0">
                <a:solidFill>
                  <a:srgbClr val="FF0000"/>
                </a:solidFill>
                <a:latin typeface="+mn-lt"/>
              </a:rPr>
              <a:t>×</a:t>
            </a:r>
            <a:r>
              <a:rPr lang="en-US" altLang="zh-CN" sz="2200" dirty="0">
                <a:solidFill>
                  <a:srgbClr val="FF0000"/>
                </a:solidFill>
                <a:latin typeface="+mn-lt"/>
              </a:rPr>
              <a:t>9/5</a:t>
            </a:r>
            <a:r>
              <a:rPr lang="zh-CN" altLang="en-US" sz="2200" dirty="0">
                <a:solidFill>
                  <a:srgbClr val="FF0000"/>
                </a:solidFill>
                <a:latin typeface="+mn-lt"/>
              </a:rPr>
              <a:t>＋</a:t>
            </a:r>
            <a:r>
              <a:rPr lang="en-US" altLang="zh-CN" sz="2200" dirty="0">
                <a:solidFill>
                  <a:srgbClr val="FF0000"/>
                </a:solidFill>
                <a:latin typeface="+mn-lt"/>
              </a:rPr>
              <a:t>32</a:t>
            </a:r>
            <a:endParaRPr lang="en-US" altLang="zh-CN" sz="2200" dirty="0">
              <a:solidFill>
                <a:srgbClr val="FF0000"/>
              </a:solidFill>
              <a:latin typeface="+mn-lt"/>
            </a:endParaRPr>
          </a:p>
          <a:p>
            <a:pPr>
              <a:lnSpc>
                <a:spcPct val="130000"/>
              </a:lnSpc>
            </a:pPr>
            <a:r>
              <a:rPr lang="en-US" altLang="zh-CN" sz="2200" b="1" dirty="0">
                <a:solidFill>
                  <a:srgbClr val="0000FF"/>
                </a:solidFill>
                <a:latin typeface="+mn-lt"/>
              </a:rPr>
              <a:t>mov [tempf], ax	</a:t>
            </a:r>
            <a:r>
              <a:rPr lang="en-US" altLang="zh-CN" sz="2200" b="1" dirty="0">
                <a:solidFill>
                  <a:srgbClr val="FF0000"/>
                </a:solidFill>
                <a:latin typeface="+mn-lt"/>
              </a:rPr>
              <a:t>	</a:t>
            </a:r>
            <a:r>
              <a:rPr lang="en-US" altLang="zh-CN" sz="2200" dirty="0">
                <a:solidFill>
                  <a:srgbClr val="FF0000"/>
                </a:solidFill>
                <a:latin typeface="+mn-lt"/>
              </a:rPr>
              <a:t>;</a:t>
            </a:r>
            <a:r>
              <a:rPr lang="zh-CN" altLang="en-US" sz="2200" dirty="0">
                <a:solidFill>
                  <a:srgbClr val="FF0000"/>
                </a:solidFill>
                <a:latin typeface="+mn-lt"/>
              </a:rPr>
              <a:t>取</a:t>
            </a:r>
            <a:r>
              <a:rPr lang="en-US" altLang="zh-CN" sz="2200" dirty="0">
                <a:solidFill>
                  <a:srgbClr val="FF0000"/>
                </a:solidFill>
                <a:latin typeface="+mn-lt"/>
              </a:rPr>
              <a:t>16</a:t>
            </a:r>
            <a:r>
              <a:rPr lang="zh-CN" altLang="en-US" sz="2200" dirty="0">
                <a:solidFill>
                  <a:srgbClr val="FF0000"/>
                </a:solidFill>
                <a:latin typeface="+mn-lt"/>
              </a:rPr>
              <a:t>位结果</a:t>
            </a:r>
            <a:endParaRPr lang="zh-CN" altLang="en-US" sz="2200" dirty="0">
              <a:solidFill>
                <a:srgbClr val="FF0000"/>
              </a:solidFill>
              <a:latin typeface="+mn-lt"/>
            </a:endParaRPr>
          </a:p>
        </p:txBody>
      </p:sp>
      <p:sp>
        <p:nvSpPr>
          <p:cNvPr id="5" name="AutoShape 4"/>
          <p:cNvSpPr>
            <a:spLocks noChangeArrowheads="1"/>
          </p:cNvSpPr>
          <p:nvPr/>
        </p:nvSpPr>
        <p:spPr bwMode="auto">
          <a:xfrm>
            <a:off x="5868035" y="786130"/>
            <a:ext cx="2660650" cy="523240"/>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just" eaLnBrk="1" hangingPunct="1">
              <a:lnSpc>
                <a:spcPct val="120000"/>
              </a:lnSpc>
              <a:spcBef>
                <a:spcPct val="0"/>
              </a:spcBef>
              <a:buClrTx/>
              <a:buFontTx/>
              <a:buNone/>
            </a:pP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F</a:t>
            </a: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(9/5)</a:t>
            </a:r>
            <a:r>
              <a:rPr lang="en-US"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C</a:t>
            </a: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32</a:t>
            </a:r>
            <a:endParaRPr lang="en-US" altLang="zh-CN"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653739"/>
            <a:ext cx="8426264" cy="6136729"/>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数据传送类指令</a:t>
            </a:r>
            <a:r>
              <a:rPr lang="en-US" altLang="zh-CN" sz="2800" dirty="0">
                <a:latin typeface="+mn-lt"/>
              </a:rPr>
              <a:t>(Data Transfer instructions)</a:t>
            </a:r>
            <a:endParaRPr lang="zh-CN" altLang="en-US"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数据传送和堆栈操作：</a:t>
            </a:r>
            <a:r>
              <a:rPr lang="en-US" altLang="zh-CN" sz="2400" dirty="0">
                <a:solidFill>
                  <a:srgbClr val="00B050"/>
                </a:solidFill>
                <a:latin typeface="+mn-lt"/>
              </a:rPr>
              <a:t>MOV</a:t>
            </a:r>
            <a:r>
              <a:rPr lang="zh-CN" altLang="en-US" sz="2400" dirty="0">
                <a:solidFill>
                  <a:schemeClr val="tx1"/>
                </a:solidFill>
                <a:latin typeface="+mn-lt"/>
              </a:rPr>
              <a:t>、</a:t>
            </a:r>
            <a:r>
              <a:rPr lang="en-US" altLang="zh-CN" sz="2400" dirty="0">
                <a:solidFill>
                  <a:srgbClr val="00B050"/>
                </a:solidFill>
                <a:latin typeface="+mn-lt"/>
              </a:rPr>
              <a:t>XCHG</a:t>
            </a:r>
            <a:r>
              <a:rPr lang="zh-CN" altLang="en-US" sz="2400" dirty="0">
                <a:solidFill>
                  <a:schemeClr val="tx1"/>
                </a:solidFill>
                <a:latin typeface="+mn-lt"/>
              </a:rPr>
              <a:t>、</a:t>
            </a:r>
            <a:r>
              <a:rPr lang="en-US" altLang="zh-CN" sz="2400" dirty="0">
                <a:solidFill>
                  <a:srgbClr val="00B050"/>
                </a:solidFill>
                <a:latin typeface="+mn-lt"/>
              </a:rPr>
              <a:t>PUSH</a:t>
            </a:r>
            <a:r>
              <a:rPr lang="zh-CN" altLang="en-US" sz="2400" dirty="0">
                <a:solidFill>
                  <a:schemeClr val="tx1"/>
                </a:solidFill>
                <a:latin typeface="+mn-lt"/>
              </a:rPr>
              <a:t>、</a:t>
            </a:r>
            <a:r>
              <a:rPr lang="en-US" altLang="zh-CN" sz="2400" dirty="0">
                <a:solidFill>
                  <a:srgbClr val="00B050"/>
                </a:solidFill>
                <a:latin typeface="+mn-lt"/>
              </a:rPr>
              <a:t>POP</a:t>
            </a:r>
            <a:r>
              <a:rPr lang="en-US" altLang="zh-CN" sz="2400" dirty="0">
                <a:solidFill>
                  <a:schemeClr val="tx1"/>
                </a:solidFill>
              </a:rPr>
              <a:t>…</a:t>
            </a: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算术运算类指令</a:t>
            </a:r>
            <a:r>
              <a:rPr lang="en-US" altLang="zh-CN" sz="2800" dirty="0">
                <a:latin typeface="+mn-lt"/>
              </a:rPr>
              <a:t>(Arithmetic instructions)</a:t>
            </a:r>
            <a:endParaRPr lang="zh-CN" altLang="en-US"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加减乘除：</a:t>
            </a:r>
            <a:r>
              <a:rPr lang="en-US" altLang="zh-CN" sz="2400" b="1" dirty="0">
                <a:solidFill>
                  <a:srgbClr val="00B050"/>
                </a:solidFill>
                <a:latin typeface="+mj-lt"/>
                <a:ea typeface="黑体" panose="02010609060101010101" pitchFamily="49" charset="-122"/>
              </a:rPr>
              <a:t> </a:t>
            </a:r>
            <a:r>
              <a:rPr lang="en-US" altLang="zh-CN" sz="2400" dirty="0">
                <a:solidFill>
                  <a:srgbClr val="00B050"/>
                </a:solidFill>
                <a:latin typeface="+mn-lt"/>
              </a:rPr>
              <a:t>ADD</a:t>
            </a:r>
            <a:r>
              <a:rPr lang="zh-CN" altLang="en-US" sz="2400" dirty="0">
                <a:solidFill>
                  <a:schemeClr val="tx1"/>
                </a:solidFill>
                <a:latin typeface="+mn-lt"/>
              </a:rPr>
              <a:t>、</a:t>
            </a:r>
            <a:r>
              <a:rPr lang="en-US" altLang="zh-CN" sz="2400" dirty="0">
                <a:solidFill>
                  <a:srgbClr val="00B050"/>
                </a:solidFill>
                <a:latin typeface="+mn-lt"/>
              </a:rPr>
              <a:t>ADC</a:t>
            </a:r>
            <a:r>
              <a:rPr lang="zh-CN" altLang="en-US" sz="2400" dirty="0">
                <a:solidFill>
                  <a:schemeClr val="tx1"/>
                </a:solidFill>
                <a:latin typeface="+mn-lt"/>
              </a:rPr>
              <a:t>、</a:t>
            </a:r>
            <a:r>
              <a:rPr lang="en-US" altLang="zh-CN" sz="2400" dirty="0">
                <a:solidFill>
                  <a:srgbClr val="00B050"/>
                </a:solidFill>
                <a:latin typeface="+mn-lt"/>
              </a:rPr>
              <a:t>INC</a:t>
            </a:r>
            <a:r>
              <a:rPr lang="zh-CN" altLang="en-US" sz="2400" dirty="0">
                <a:solidFill>
                  <a:schemeClr val="tx1"/>
                </a:solidFill>
                <a:latin typeface="+mn-lt"/>
              </a:rPr>
              <a:t>；</a:t>
            </a:r>
            <a:r>
              <a:rPr lang="en-US" altLang="zh-CN" sz="2400" dirty="0">
                <a:solidFill>
                  <a:srgbClr val="00B050"/>
                </a:solidFill>
                <a:latin typeface="+mn-lt"/>
              </a:rPr>
              <a:t>SUB</a:t>
            </a:r>
            <a:r>
              <a:rPr lang="zh-CN" altLang="en-US" sz="2400" dirty="0">
                <a:solidFill>
                  <a:schemeClr val="tx1"/>
                </a:solidFill>
                <a:latin typeface="+mn-lt"/>
              </a:rPr>
              <a:t>、</a:t>
            </a:r>
            <a:r>
              <a:rPr lang="en-US" altLang="zh-CN" sz="2400" dirty="0">
                <a:solidFill>
                  <a:srgbClr val="00B050"/>
                </a:solidFill>
                <a:latin typeface="+mn-lt"/>
              </a:rPr>
              <a:t>SBB</a:t>
            </a:r>
            <a:r>
              <a:rPr lang="zh-CN" altLang="en-US" sz="2400" dirty="0">
                <a:solidFill>
                  <a:schemeClr val="tx1"/>
                </a:solidFill>
                <a:latin typeface="+mn-lt"/>
              </a:rPr>
              <a:t>、</a:t>
            </a:r>
            <a:r>
              <a:rPr lang="en-US" altLang="zh-CN" sz="2400" dirty="0">
                <a:solidFill>
                  <a:srgbClr val="00B050"/>
                </a:solidFill>
                <a:latin typeface="+mn-lt"/>
              </a:rPr>
              <a:t>DEC</a:t>
            </a:r>
            <a:r>
              <a:rPr lang="zh-CN" altLang="en-US" sz="2400" dirty="0">
                <a:solidFill>
                  <a:schemeClr val="tx1"/>
                </a:solidFill>
                <a:latin typeface="+mn-lt"/>
              </a:rPr>
              <a:t>、</a:t>
            </a:r>
            <a:r>
              <a:rPr lang="en-US" altLang="zh-CN" sz="2400" dirty="0">
                <a:solidFill>
                  <a:srgbClr val="00B050"/>
                </a:solidFill>
                <a:latin typeface="+mn-lt"/>
              </a:rPr>
              <a:t>NEG</a:t>
            </a:r>
            <a:r>
              <a:rPr lang="zh-CN" altLang="en-US" sz="2400" dirty="0">
                <a:solidFill>
                  <a:srgbClr val="00B050"/>
                </a:solidFill>
                <a:latin typeface="+mn-lt"/>
              </a:rPr>
              <a:t>、</a:t>
            </a:r>
            <a:r>
              <a:rPr lang="en-US" altLang="zh-CN" sz="2400" dirty="0">
                <a:solidFill>
                  <a:srgbClr val="00B050"/>
                </a:solidFill>
                <a:latin typeface="+mn-lt"/>
              </a:rPr>
              <a:t>CMP</a:t>
            </a:r>
            <a:r>
              <a:rPr lang="zh-CN" altLang="en-US" sz="2400" dirty="0">
                <a:solidFill>
                  <a:schemeClr val="tx1"/>
                </a:solidFill>
                <a:latin typeface="+mn-lt"/>
              </a:rPr>
              <a:t>；</a:t>
            </a:r>
            <a:r>
              <a:rPr lang="en-US" altLang="zh-CN" sz="2400" dirty="0">
                <a:solidFill>
                  <a:srgbClr val="00B050"/>
                </a:solidFill>
                <a:latin typeface="+mn-lt"/>
              </a:rPr>
              <a:t>MUL</a:t>
            </a:r>
            <a:r>
              <a:rPr lang="zh-CN" altLang="en-US" sz="2400" dirty="0">
                <a:solidFill>
                  <a:schemeClr val="tx1"/>
                </a:solidFill>
                <a:latin typeface="+mn-lt"/>
              </a:rPr>
              <a:t>、</a:t>
            </a:r>
            <a:r>
              <a:rPr lang="en-US" altLang="zh-CN" sz="2400" dirty="0">
                <a:solidFill>
                  <a:srgbClr val="00B050"/>
                </a:solidFill>
                <a:latin typeface="+mn-lt"/>
              </a:rPr>
              <a:t>IMUL</a:t>
            </a:r>
            <a:r>
              <a:rPr lang="zh-CN" altLang="en-US" sz="2400" dirty="0">
                <a:solidFill>
                  <a:schemeClr val="tx1"/>
                </a:solidFill>
                <a:latin typeface="+mn-lt"/>
              </a:rPr>
              <a:t>；</a:t>
            </a:r>
            <a:r>
              <a:rPr lang="en-US" altLang="zh-CN" sz="2400" dirty="0">
                <a:solidFill>
                  <a:srgbClr val="00B050"/>
                </a:solidFill>
                <a:latin typeface="+mn-lt"/>
              </a:rPr>
              <a:t>DIV</a:t>
            </a:r>
            <a:r>
              <a:rPr lang="zh-CN" altLang="en-US" sz="2400" dirty="0">
                <a:solidFill>
                  <a:schemeClr val="tx1"/>
                </a:solidFill>
                <a:latin typeface="+mn-lt"/>
              </a:rPr>
              <a:t>、</a:t>
            </a:r>
            <a:r>
              <a:rPr lang="en-US" altLang="zh-CN" sz="2400" dirty="0">
                <a:solidFill>
                  <a:srgbClr val="00B050"/>
                </a:solidFill>
                <a:latin typeface="+mn-lt"/>
              </a:rPr>
              <a:t>IDIV</a:t>
            </a:r>
            <a:r>
              <a:rPr lang="en-US" altLang="zh-CN" sz="2400" dirty="0">
                <a:solidFill>
                  <a:srgbClr val="FF0000"/>
                </a:solidFill>
              </a:rPr>
              <a:t> </a:t>
            </a:r>
            <a:r>
              <a:rPr lang="en-US" altLang="zh-CN" sz="2400" dirty="0">
                <a:solidFill>
                  <a:schemeClr val="tx1"/>
                </a:solidFill>
              </a:rPr>
              <a:t>…</a:t>
            </a: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零位扩展和符号扩展指令：</a:t>
            </a:r>
            <a:r>
              <a:rPr lang="en-US" altLang="zh-CN" sz="2400" dirty="0">
                <a:solidFill>
                  <a:srgbClr val="00B050"/>
                </a:solidFill>
                <a:latin typeface="+mn-lt"/>
              </a:rPr>
              <a:t>MOVZX</a:t>
            </a:r>
            <a:r>
              <a:rPr lang="zh-CN" altLang="en-US" sz="2400" dirty="0">
                <a:solidFill>
                  <a:schemeClr val="tx1"/>
                </a:solidFill>
                <a:latin typeface="+mn-lt"/>
              </a:rPr>
              <a:t>、</a:t>
            </a:r>
            <a:r>
              <a:rPr lang="en-US" altLang="zh-CN" sz="2400" dirty="0">
                <a:solidFill>
                  <a:srgbClr val="00B050"/>
                </a:solidFill>
                <a:latin typeface="+mn-lt"/>
              </a:rPr>
              <a:t>MOVSX</a:t>
            </a:r>
            <a:r>
              <a:rPr lang="en-US" altLang="zh-CN" sz="2400" dirty="0">
                <a:solidFill>
                  <a:schemeClr val="tx1"/>
                </a:solidFill>
              </a:rPr>
              <a:t>…</a:t>
            </a:r>
            <a:r>
              <a:rPr lang="en-US" altLang="zh-CN" sz="2400" dirty="0">
                <a:solidFill>
                  <a:srgbClr val="FF0000"/>
                </a:solidFill>
                <a:latin typeface="+mn-lt"/>
              </a:rPr>
              <a:t> </a:t>
            </a:r>
            <a:endParaRPr lang="en-US" altLang="zh-CN" sz="2400" dirty="0">
              <a:solidFill>
                <a:srgbClr val="FF0000"/>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位操作类指令</a:t>
            </a:r>
            <a:r>
              <a:rPr lang="en-US" altLang="zh-CN" sz="2600" dirty="0">
                <a:latin typeface="+mn-lt"/>
              </a:rPr>
              <a:t>(</a:t>
            </a:r>
            <a:r>
              <a:rPr kumimoji="1" lang="en-US" altLang="zh-CN" sz="2600" b="0" i="0" u="none" strike="noStrike" kern="0" cap="none" spc="0" normalizeH="0" baseline="0" noProof="0" dirty="0">
                <a:ln>
                  <a:noFill/>
                </a:ln>
                <a:effectLst/>
                <a:uLnTx/>
                <a:uFillTx/>
                <a:latin typeface="+mj-lt"/>
                <a:cs typeface="+mj-cs"/>
              </a:rPr>
              <a:t>Bit manipulation instructions</a:t>
            </a:r>
            <a:r>
              <a:rPr lang="en-US" altLang="zh-CN" sz="2600" dirty="0">
                <a:latin typeface="+mn-lt"/>
              </a:rPr>
              <a:t>)</a:t>
            </a:r>
            <a:r>
              <a:rPr lang="zh-CN" altLang="en-US" sz="2600" dirty="0">
                <a:latin typeface="+mn-lt"/>
              </a:rPr>
              <a:t>：针对二进制位进行操作、实现位控制的指令</a:t>
            </a:r>
            <a:endParaRPr lang="zh-CN" altLang="en-US" sz="26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逻辑运算指令：</a:t>
            </a:r>
            <a:r>
              <a:rPr lang="en-US" altLang="zh-CN" sz="2400" dirty="0">
                <a:solidFill>
                  <a:srgbClr val="FF0000"/>
                </a:solidFill>
                <a:latin typeface="+mn-lt"/>
              </a:rPr>
              <a:t>AND</a:t>
            </a:r>
            <a:r>
              <a:rPr lang="zh-CN" altLang="en-US" sz="2400" dirty="0">
                <a:solidFill>
                  <a:srgbClr val="FF0000"/>
                </a:solidFill>
                <a:latin typeface="+mn-lt"/>
              </a:rPr>
              <a:t>、</a:t>
            </a:r>
            <a:r>
              <a:rPr lang="en-US" altLang="zh-CN" sz="2400" dirty="0">
                <a:solidFill>
                  <a:srgbClr val="FF0000"/>
                </a:solidFill>
                <a:latin typeface="+mn-lt"/>
              </a:rPr>
              <a:t>OR</a:t>
            </a:r>
            <a:r>
              <a:rPr lang="zh-CN" altLang="en-US" sz="2400" dirty="0">
                <a:solidFill>
                  <a:srgbClr val="FF0000"/>
                </a:solidFill>
                <a:latin typeface="+mn-lt"/>
              </a:rPr>
              <a:t>、</a:t>
            </a:r>
            <a:r>
              <a:rPr lang="en-US" altLang="zh-CN" sz="2400" dirty="0">
                <a:solidFill>
                  <a:srgbClr val="FF0000"/>
                </a:solidFill>
                <a:latin typeface="+mn-lt"/>
              </a:rPr>
              <a:t>NOT</a:t>
            </a:r>
            <a:r>
              <a:rPr lang="zh-CN" altLang="en-US" sz="2400" dirty="0">
                <a:solidFill>
                  <a:srgbClr val="FF0000"/>
                </a:solidFill>
                <a:latin typeface="+mn-lt"/>
              </a:rPr>
              <a:t>、</a:t>
            </a:r>
            <a:r>
              <a:rPr lang="en-US" altLang="zh-CN" sz="2400" dirty="0">
                <a:solidFill>
                  <a:srgbClr val="FF0000"/>
                </a:solidFill>
                <a:latin typeface="+mn-lt"/>
              </a:rPr>
              <a:t>XOR</a:t>
            </a:r>
            <a:endParaRPr lang="zh-CN" altLang="en-US" sz="24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测试指令：</a:t>
            </a:r>
            <a:r>
              <a:rPr lang="en-US" altLang="zh-CN" sz="2400" dirty="0">
                <a:solidFill>
                  <a:srgbClr val="FF0000"/>
                </a:solidFill>
                <a:latin typeface="+mn-lt"/>
              </a:rPr>
              <a:t>TEST</a:t>
            </a:r>
            <a:endParaRPr lang="zh-CN" altLang="en-US" sz="24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移位指令：</a:t>
            </a:r>
            <a:r>
              <a:rPr lang="en-US" altLang="zh-CN" sz="2400" dirty="0">
                <a:solidFill>
                  <a:srgbClr val="FF0000"/>
                </a:solidFill>
                <a:latin typeface="+mn-lt"/>
              </a:rPr>
              <a:t>SHL/SHR</a:t>
            </a:r>
            <a:r>
              <a:rPr lang="zh-CN" altLang="en-US" sz="2400" dirty="0">
                <a:solidFill>
                  <a:srgbClr val="FF0000"/>
                </a:solidFill>
                <a:latin typeface="+mn-lt"/>
              </a:rPr>
              <a:t>、</a:t>
            </a:r>
            <a:r>
              <a:rPr lang="en-US" altLang="zh-CN" sz="2400" dirty="0">
                <a:solidFill>
                  <a:srgbClr val="FF0000"/>
                </a:solidFill>
                <a:latin typeface="+mn-lt"/>
              </a:rPr>
              <a:t>SAL/SAR</a:t>
            </a:r>
            <a:r>
              <a:rPr lang="zh-CN" altLang="en-US" sz="2400" dirty="0">
                <a:solidFill>
                  <a:srgbClr val="FF0000"/>
                </a:solidFill>
                <a:latin typeface="+mn-lt"/>
              </a:rPr>
              <a:t>、</a:t>
            </a:r>
            <a:r>
              <a:rPr lang="en-US" altLang="zh-CN" sz="2400" dirty="0">
                <a:solidFill>
                  <a:srgbClr val="FF0000"/>
                </a:solidFill>
                <a:latin typeface="+mn-lt"/>
              </a:rPr>
              <a:t>ROL/ROR</a:t>
            </a:r>
            <a:r>
              <a:rPr lang="zh-CN" altLang="en-US" sz="2400" dirty="0">
                <a:solidFill>
                  <a:srgbClr val="FF0000"/>
                </a:solidFill>
                <a:latin typeface="+mn-lt"/>
              </a:rPr>
              <a:t>、</a:t>
            </a:r>
            <a:r>
              <a:rPr lang="en-US" altLang="zh-CN" sz="2400" dirty="0">
                <a:solidFill>
                  <a:srgbClr val="FF0000"/>
                </a:solidFill>
                <a:latin typeface="+mn-lt"/>
              </a:rPr>
              <a:t>RCL/RCR</a:t>
            </a:r>
            <a:endParaRPr lang="zh-CN" altLang="en-US" sz="2400" dirty="0">
              <a:solidFill>
                <a:srgbClr val="FF0000"/>
              </a:solidFill>
              <a:latin typeface="+mn-lt"/>
            </a:endParaRPr>
          </a:p>
          <a:p>
            <a:pPr lvl="1" algn="just">
              <a:lnSpc>
                <a:spcPct val="130000"/>
              </a:lnSpc>
              <a:spcBef>
                <a:spcPts val="600"/>
              </a:spcBef>
              <a:buClr>
                <a:srgbClr val="0000FF"/>
              </a:buClr>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fontScale="92500"/>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3.3 </a:t>
            </a:r>
            <a:r>
              <a:rPr kumimoji="1" lang="zh-CN" altLang="en-US" sz="3900" b="0" i="0" u="none" strike="noStrike" kern="0" cap="none" spc="0" normalizeH="0" baseline="0" noProof="0" dirty="0">
                <a:ln>
                  <a:noFill/>
                </a:ln>
                <a:solidFill>
                  <a:srgbClr val="000000"/>
                </a:solidFill>
                <a:effectLst/>
                <a:uLnTx/>
                <a:uFillTx/>
                <a:latin typeface="黑体" panose="02010609060101010101" pitchFamily="49" charset="-122"/>
                <a:cs typeface="+mj-cs"/>
              </a:rPr>
              <a:t>位操作类指令</a:t>
            </a:r>
            <a:r>
              <a:rPr kumimoji="1" lang="en-US" altLang="zh-CN" sz="3900" b="0" i="0" u="none" strike="noStrike" kern="0" cap="none" spc="0" normalizeH="0" baseline="0" noProof="0" dirty="0">
                <a:ln>
                  <a:noFill/>
                </a:ln>
                <a:solidFill>
                  <a:srgbClr val="000000"/>
                </a:solidFill>
                <a:effectLst/>
                <a:uLnTx/>
                <a:uFillTx/>
                <a:latin typeface="+mj-lt"/>
                <a:cs typeface="+mj-cs"/>
              </a:rPr>
              <a:t>Bit manipulation instructions</a:t>
            </a:r>
            <a:endParaRPr kumimoji="1" lang="zh-CN" altLang="en-US" sz="3900"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693553"/>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04271"/>
            <a:ext cx="8064896" cy="6136729"/>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正如数学中的算术运算一样，逻辑运算是逻辑代数的基本运算</a:t>
            </a:r>
            <a:endParaRPr lang="en-US" altLang="zh-CN" sz="28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逻辑</a:t>
            </a:r>
            <a:r>
              <a:rPr lang="zh-CN" altLang="en-US" sz="2400" dirty="0">
                <a:solidFill>
                  <a:srgbClr val="FF0000"/>
                </a:solidFill>
                <a:latin typeface="+mn-lt"/>
              </a:rPr>
              <a:t>与</a:t>
            </a:r>
            <a:r>
              <a:rPr lang="zh-CN" altLang="en-US" sz="2400" dirty="0">
                <a:solidFill>
                  <a:schemeClr val="tx1"/>
                </a:solidFill>
                <a:latin typeface="+mn-lt"/>
              </a:rPr>
              <a:t>指令 </a:t>
            </a:r>
            <a:r>
              <a:rPr lang="en-US" altLang="zh-CN" sz="2400" dirty="0">
                <a:solidFill>
                  <a:srgbClr val="00B050"/>
                </a:solidFill>
                <a:latin typeface="+mn-lt"/>
              </a:rPr>
              <a:t>AND</a:t>
            </a:r>
            <a:endParaRPr lang="en-US" altLang="zh-CN" sz="2400" dirty="0">
              <a:solidFill>
                <a:srgbClr val="00B05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逻辑</a:t>
            </a:r>
            <a:r>
              <a:rPr lang="zh-CN" altLang="en-US" sz="2400" dirty="0">
                <a:solidFill>
                  <a:srgbClr val="FF0000"/>
                </a:solidFill>
                <a:latin typeface="+mn-lt"/>
              </a:rPr>
              <a:t>或</a:t>
            </a:r>
            <a:r>
              <a:rPr lang="zh-CN" altLang="en-US" sz="2400" dirty="0">
                <a:solidFill>
                  <a:schemeClr val="tx1"/>
                </a:solidFill>
                <a:latin typeface="+mn-lt"/>
              </a:rPr>
              <a:t>指令 </a:t>
            </a:r>
            <a:r>
              <a:rPr lang="en-US" altLang="zh-CN" sz="2400" dirty="0">
                <a:solidFill>
                  <a:srgbClr val="00B050"/>
                </a:solidFill>
                <a:latin typeface="+mn-lt"/>
              </a:rPr>
              <a:t>OR</a:t>
            </a:r>
            <a:endParaRPr lang="en-US" altLang="zh-CN" sz="2400" dirty="0">
              <a:solidFill>
                <a:srgbClr val="00B05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逻辑</a:t>
            </a:r>
            <a:r>
              <a:rPr lang="zh-CN" altLang="en-US" sz="2400" dirty="0">
                <a:solidFill>
                  <a:srgbClr val="FF0000"/>
                </a:solidFill>
                <a:latin typeface="+mn-lt"/>
              </a:rPr>
              <a:t>非</a:t>
            </a:r>
            <a:r>
              <a:rPr lang="zh-CN" altLang="en-US" sz="2400" dirty="0">
                <a:solidFill>
                  <a:schemeClr val="tx1"/>
                </a:solidFill>
                <a:latin typeface="+mn-lt"/>
              </a:rPr>
              <a:t>指令 </a:t>
            </a:r>
            <a:r>
              <a:rPr lang="en-US" altLang="zh-CN" sz="2400" dirty="0">
                <a:solidFill>
                  <a:srgbClr val="00B050"/>
                </a:solidFill>
                <a:latin typeface="+mn-lt"/>
              </a:rPr>
              <a:t>NOT</a:t>
            </a:r>
            <a:endParaRPr lang="en-US" altLang="zh-CN" sz="2400" dirty="0">
              <a:solidFill>
                <a:srgbClr val="00B05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逻辑</a:t>
            </a:r>
            <a:r>
              <a:rPr lang="zh-CN" altLang="en-US" sz="2400" dirty="0">
                <a:solidFill>
                  <a:srgbClr val="FF0000"/>
                </a:solidFill>
                <a:latin typeface="+mn-lt"/>
              </a:rPr>
              <a:t>异或</a:t>
            </a:r>
            <a:r>
              <a:rPr lang="zh-CN" altLang="en-US" sz="2400" dirty="0">
                <a:solidFill>
                  <a:schemeClr val="tx1"/>
                </a:solidFill>
                <a:latin typeface="+mn-lt"/>
              </a:rPr>
              <a:t>指令 </a:t>
            </a:r>
            <a:r>
              <a:rPr lang="en-US" altLang="zh-CN" sz="2400" dirty="0">
                <a:solidFill>
                  <a:srgbClr val="00B050"/>
                </a:solidFill>
                <a:latin typeface="+mn-lt"/>
              </a:rPr>
              <a:t>XOR</a:t>
            </a:r>
            <a:endParaRPr lang="en-US" altLang="zh-CN" sz="2400" dirty="0">
              <a:solidFill>
                <a:srgbClr val="00B05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测试指令 </a:t>
            </a:r>
            <a:r>
              <a:rPr lang="en-US" altLang="zh-CN" sz="2400" dirty="0">
                <a:solidFill>
                  <a:srgbClr val="00B050"/>
                </a:solidFill>
                <a:latin typeface="+mn-lt"/>
              </a:rPr>
              <a:t>TEST</a:t>
            </a:r>
            <a:endParaRPr lang="en-US" altLang="zh-CN" sz="2400" dirty="0">
              <a:solidFill>
                <a:srgbClr val="00B050"/>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对状态标志的影响</a:t>
            </a:r>
            <a:endParaRPr lang="zh-CN" altLang="en-US" sz="28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latin typeface="+mn-lt"/>
              </a:rPr>
              <a:t>NOT</a:t>
            </a:r>
            <a:r>
              <a:rPr lang="zh-CN" altLang="en-US" sz="2400" dirty="0">
                <a:latin typeface="+mn-lt"/>
              </a:rPr>
              <a:t>指令不影响状态标志</a:t>
            </a:r>
            <a:endParaRPr lang="en-US" altLang="zh-CN" sz="24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逻辑运算没有进位或溢出的问题，因此</a:t>
            </a:r>
            <a:r>
              <a:rPr lang="en-US" altLang="zh-CN" sz="2400" dirty="0">
                <a:solidFill>
                  <a:srgbClr val="FF0000"/>
                </a:solidFill>
                <a:latin typeface="+mn-lt"/>
              </a:rPr>
              <a:t>CF</a:t>
            </a:r>
            <a:r>
              <a:rPr lang="zh-CN" altLang="en-US" sz="2400" dirty="0">
                <a:solidFill>
                  <a:srgbClr val="FF0000"/>
                </a:solidFill>
                <a:latin typeface="+mn-lt"/>
              </a:rPr>
              <a:t>或</a:t>
            </a:r>
            <a:r>
              <a:rPr lang="en-US" altLang="zh-CN" sz="2400" dirty="0">
                <a:solidFill>
                  <a:srgbClr val="FF0000"/>
                </a:solidFill>
                <a:latin typeface="+mn-lt"/>
              </a:rPr>
              <a:t>OF</a:t>
            </a:r>
            <a:r>
              <a:rPr lang="zh-CN" altLang="en-US" sz="2400" dirty="0">
                <a:solidFill>
                  <a:srgbClr val="FF0000"/>
                </a:solidFill>
                <a:latin typeface="+mn-lt"/>
              </a:rPr>
              <a:t>没有作用，故设置</a:t>
            </a:r>
            <a:r>
              <a:rPr lang="en-US" altLang="zh-CN" sz="2400" dirty="0">
                <a:solidFill>
                  <a:srgbClr val="FF0000"/>
                </a:solidFill>
                <a:latin typeface="+mn-lt"/>
              </a:rPr>
              <a:t>CF</a:t>
            </a:r>
            <a:r>
              <a:rPr lang="zh-CN" altLang="en-US" sz="2400" dirty="0">
                <a:solidFill>
                  <a:srgbClr val="FF0000"/>
                </a:solidFill>
                <a:latin typeface="+mn-lt"/>
              </a:rPr>
              <a:t>＝</a:t>
            </a:r>
            <a:r>
              <a:rPr lang="en-US" altLang="zh-CN" sz="2400" dirty="0">
                <a:solidFill>
                  <a:srgbClr val="FF0000"/>
                </a:solidFill>
                <a:latin typeface="+mn-lt"/>
              </a:rPr>
              <a:t>OF</a:t>
            </a:r>
            <a:r>
              <a:rPr lang="zh-CN" altLang="en-US" sz="2400" dirty="0">
                <a:solidFill>
                  <a:srgbClr val="FF0000"/>
                </a:solidFill>
                <a:latin typeface="+mn-lt"/>
              </a:rPr>
              <a:t>＝</a:t>
            </a:r>
            <a:r>
              <a:rPr lang="en-US" altLang="zh-CN" sz="2400" dirty="0">
                <a:solidFill>
                  <a:srgbClr val="FF0000"/>
                </a:solidFill>
                <a:latin typeface="+mn-lt"/>
              </a:rPr>
              <a:t>0</a:t>
            </a:r>
            <a:endParaRPr lang="en-US" altLang="zh-CN" sz="24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latin typeface="+mn-lt"/>
              </a:rPr>
              <a:t>根据结果按定义影响</a:t>
            </a:r>
            <a:r>
              <a:rPr lang="en-US" altLang="zh-CN" sz="2400" dirty="0">
                <a:latin typeface="+mn-lt"/>
              </a:rPr>
              <a:t>ZF</a:t>
            </a:r>
            <a:r>
              <a:rPr lang="zh-CN" altLang="en-US" sz="2400" dirty="0">
                <a:latin typeface="+mn-lt"/>
              </a:rPr>
              <a:t>、</a:t>
            </a:r>
            <a:r>
              <a:rPr lang="en-US" altLang="zh-CN" sz="2400" dirty="0">
                <a:latin typeface="+mn-lt"/>
              </a:rPr>
              <a:t>SF</a:t>
            </a:r>
            <a:r>
              <a:rPr lang="zh-CN" altLang="en-US" sz="2400" dirty="0">
                <a:latin typeface="+mn-lt"/>
              </a:rPr>
              <a:t>和</a:t>
            </a:r>
            <a:r>
              <a:rPr lang="en-US" altLang="zh-CN" sz="2400" dirty="0">
                <a:latin typeface="+mn-lt"/>
              </a:rPr>
              <a:t>PF</a:t>
            </a:r>
            <a:endParaRPr lang="en-US" altLang="zh-CN" sz="2400" dirty="0">
              <a:latin typeface="+mn-lt"/>
            </a:endParaRPr>
          </a:p>
          <a:p>
            <a:pPr lvl="1" algn="just">
              <a:lnSpc>
                <a:spcPct val="130000"/>
              </a:lnSpc>
              <a:spcBef>
                <a:spcPts val="600"/>
              </a:spcBef>
              <a:buClr>
                <a:srgbClr val="0000FF"/>
              </a:buClr>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3.3.1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逻辑运算指令</a:t>
            </a:r>
            <a:r>
              <a:rPr kumimoji="1" lang="en-US" altLang="zh-CN" b="0" i="0" u="none" strike="noStrike" kern="0" cap="none" spc="0" normalizeH="0" baseline="0" noProof="0" dirty="0">
                <a:ln>
                  <a:noFill/>
                </a:ln>
                <a:solidFill>
                  <a:srgbClr val="000000"/>
                </a:solidFill>
                <a:effectLst/>
                <a:uLnTx/>
                <a:uFillTx/>
                <a:latin typeface="+mj-lt"/>
                <a:cs typeface="+mj-cs"/>
              </a:rPr>
              <a:t>Logical operations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0345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逻辑与指令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AND</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92696"/>
            <a:ext cx="8064896" cy="5268814"/>
          </a:xfrm>
          <a:prstGeom prst="rect">
            <a:avLst/>
          </a:prstGeom>
        </p:spPr>
        <p:txBody>
          <a:bodyPr/>
          <a:lstStyle/>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逻辑与（逻辑乘）运算规则：</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两位都是逻辑</a:t>
            </a:r>
            <a:r>
              <a:rPr lang="en-US" altLang="zh-CN" sz="2400" dirty="0">
                <a:solidFill>
                  <a:schemeClr val="tx1"/>
                </a:solidFill>
                <a:latin typeface="+mn-lt"/>
              </a:rPr>
              <a:t>1</a:t>
            </a:r>
            <a:r>
              <a:rPr lang="zh-CN" altLang="en-US" sz="2400" dirty="0">
                <a:solidFill>
                  <a:schemeClr val="tx1"/>
                </a:solidFill>
                <a:latin typeface="+mn-lt"/>
              </a:rPr>
              <a:t>，则结果是</a:t>
            </a:r>
            <a:r>
              <a:rPr lang="en-US" altLang="zh-CN" sz="2400" dirty="0">
                <a:solidFill>
                  <a:schemeClr val="tx1"/>
                </a:solidFill>
                <a:latin typeface="+mn-lt"/>
              </a:rPr>
              <a:t>1</a:t>
            </a:r>
            <a:r>
              <a:rPr lang="zh-CN" altLang="en-US" sz="2400" dirty="0">
                <a:solidFill>
                  <a:schemeClr val="tx1"/>
                </a:solidFill>
                <a:latin typeface="+mn-lt"/>
              </a:rPr>
              <a:t>；否则，结果是</a:t>
            </a:r>
            <a:r>
              <a:rPr lang="en-US" altLang="zh-CN" sz="2400" dirty="0">
                <a:solidFill>
                  <a:schemeClr val="tx1"/>
                </a:solidFill>
                <a:latin typeface="+mn-lt"/>
              </a:rPr>
              <a:t>0</a:t>
            </a:r>
            <a:endParaRPr lang="en-US" altLang="zh-CN" sz="24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逻辑与指令</a:t>
            </a:r>
            <a:r>
              <a:rPr lang="en-US" altLang="zh-CN" sz="2800" dirty="0">
                <a:latin typeface="+mn-lt"/>
              </a:rPr>
              <a:t>AND</a:t>
            </a:r>
            <a:r>
              <a:rPr lang="zh-CN" altLang="en-US" sz="2800" dirty="0">
                <a:latin typeface="+mn-lt"/>
              </a:rPr>
              <a:t>：</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按位进行逻辑与，结果返回目的操作数</a:t>
            </a:r>
            <a:endParaRPr lang="zh-CN" altLang="en-US" sz="2400" dirty="0">
              <a:solidFill>
                <a:schemeClr val="tx1"/>
              </a:solidFill>
              <a:latin typeface="+mn-lt"/>
            </a:endParaRPr>
          </a:p>
          <a:p>
            <a:pPr marL="914400" lvl="1" indent="-457200" algn="just">
              <a:lnSpc>
                <a:spcPct val="130000"/>
              </a:lnSpc>
              <a:spcBef>
                <a:spcPts val="200"/>
              </a:spcBef>
              <a:buClr>
                <a:srgbClr val="0000FF"/>
              </a:buClr>
              <a:buFont typeface="Wingdings" panose="05000000000000000000" pitchFamily="2" charset="2"/>
              <a:buChar char="ü"/>
            </a:pPr>
            <a:endParaRPr lang="en-US" altLang="zh-CN" sz="30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对状态标志的影响：</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设置</a:t>
            </a:r>
            <a:r>
              <a:rPr lang="en-US" altLang="zh-CN" sz="2400" dirty="0">
                <a:solidFill>
                  <a:schemeClr val="tx1"/>
                </a:solidFill>
                <a:latin typeface="+mn-lt"/>
              </a:rPr>
              <a:t>CF</a:t>
            </a:r>
            <a:r>
              <a:rPr lang="zh-CN" altLang="en-US" sz="2400" dirty="0">
                <a:solidFill>
                  <a:schemeClr val="tx1"/>
                </a:solidFill>
                <a:latin typeface="+mn-lt"/>
              </a:rPr>
              <a:t>＝</a:t>
            </a:r>
            <a:r>
              <a:rPr lang="en-US" altLang="zh-CN" sz="2400" dirty="0">
                <a:solidFill>
                  <a:schemeClr val="tx1"/>
                </a:solidFill>
                <a:latin typeface="+mn-lt"/>
              </a:rPr>
              <a:t>OF</a:t>
            </a:r>
            <a:r>
              <a:rPr lang="zh-CN" altLang="en-US" sz="2400" dirty="0">
                <a:solidFill>
                  <a:schemeClr val="tx1"/>
                </a:solidFill>
                <a:latin typeface="+mn-lt"/>
              </a:rPr>
              <a:t>＝</a:t>
            </a:r>
            <a:r>
              <a:rPr lang="en-US" altLang="zh-CN" sz="2400" dirty="0">
                <a:solidFill>
                  <a:schemeClr val="tx1"/>
                </a:solidFill>
                <a:latin typeface="+mn-lt"/>
              </a:rPr>
              <a:t>0</a:t>
            </a:r>
            <a:r>
              <a:rPr lang="zh-CN" altLang="en-US" sz="2400" dirty="0">
                <a:solidFill>
                  <a:schemeClr val="tx1"/>
                </a:solidFill>
                <a:latin typeface="+mn-lt"/>
              </a:rPr>
              <a:t>，根据结果影响</a:t>
            </a:r>
            <a:r>
              <a:rPr lang="en-US" altLang="zh-CN" sz="2400" dirty="0">
                <a:solidFill>
                  <a:schemeClr val="tx1"/>
                </a:solidFill>
                <a:latin typeface="+mn-lt"/>
              </a:rPr>
              <a:t>SF</a:t>
            </a:r>
            <a:r>
              <a:rPr lang="zh-CN" altLang="en-US" sz="2400" dirty="0">
                <a:solidFill>
                  <a:schemeClr val="tx1"/>
                </a:solidFill>
                <a:latin typeface="+mn-lt"/>
              </a:rPr>
              <a:t>，</a:t>
            </a:r>
            <a:r>
              <a:rPr lang="en-US" altLang="zh-CN" sz="2400" dirty="0">
                <a:solidFill>
                  <a:schemeClr val="tx1"/>
                </a:solidFill>
                <a:latin typeface="+mn-lt"/>
              </a:rPr>
              <a:t>ZF</a:t>
            </a:r>
            <a:r>
              <a:rPr lang="zh-CN" altLang="en-US" sz="2400" dirty="0">
                <a:solidFill>
                  <a:schemeClr val="tx1"/>
                </a:solidFill>
                <a:latin typeface="+mn-lt"/>
              </a:rPr>
              <a:t>和</a:t>
            </a:r>
            <a:r>
              <a:rPr lang="en-US" altLang="zh-CN" sz="2400" dirty="0">
                <a:solidFill>
                  <a:schemeClr val="tx1"/>
                </a:solidFill>
                <a:latin typeface="+mn-lt"/>
              </a:rPr>
              <a:t>PF</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9" name="Rectangle 3"/>
          <p:cNvSpPr>
            <a:spLocks noChangeArrowheads="1"/>
          </p:cNvSpPr>
          <p:nvPr/>
        </p:nvSpPr>
        <p:spPr bwMode="auto">
          <a:xfrm>
            <a:off x="1072183" y="2954908"/>
            <a:ext cx="7488832" cy="51752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AND </a:t>
            </a:r>
            <a:r>
              <a:rPr lang="en-US" altLang="zh-CN" sz="2200" b="1" dirty="0" err="1">
                <a:solidFill>
                  <a:srgbClr val="00B050"/>
                </a:solidFill>
                <a:latin typeface="+mj-lt"/>
                <a:ea typeface="黑体" panose="02010609060101010101" pitchFamily="49" charset="-122"/>
              </a:rPr>
              <a:t>dest</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src</a:t>
            </a:r>
            <a:r>
              <a:rPr lang="en-US" altLang="zh-CN" sz="2200" b="1" dirty="0">
                <a:solidFill>
                  <a:srgbClr val="00B050"/>
                </a:solidFill>
                <a:latin typeface="+mj-lt"/>
                <a:ea typeface="黑体" panose="02010609060101010101" pitchFamily="49" charset="-122"/>
              </a:rPr>
              <a:t>		</a:t>
            </a:r>
            <a:r>
              <a:rPr lang="en-US" altLang="zh-CN" sz="2200" b="1" dirty="0">
                <a:solidFill>
                  <a:srgbClr val="FF0000"/>
                </a:solidFill>
                <a:latin typeface="+mj-lt"/>
                <a:ea typeface="黑体" panose="02010609060101010101" pitchFamily="49" charset="-122"/>
              </a:rPr>
              <a:t>;</a:t>
            </a:r>
            <a:r>
              <a:rPr lang="zh-CN" altLang="en-US" sz="2200" b="1" dirty="0">
                <a:solidFill>
                  <a:srgbClr val="FF0000"/>
                </a:solidFill>
                <a:latin typeface="+mj-lt"/>
                <a:ea typeface="黑体" panose="02010609060101010101" pitchFamily="49" charset="-122"/>
              </a:rPr>
              <a:t>逻辑与：</a:t>
            </a:r>
            <a:r>
              <a:rPr lang="en-US" altLang="zh-CN" sz="2200" b="1" dirty="0" err="1">
                <a:solidFill>
                  <a:srgbClr val="FF0000"/>
                </a:solidFill>
                <a:latin typeface="+mj-lt"/>
                <a:ea typeface="黑体" panose="02010609060101010101" pitchFamily="49" charset="-122"/>
              </a:rPr>
              <a:t>dest←dest</a:t>
            </a:r>
            <a:r>
              <a:rPr lang="en-US" altLang="zh-CN" sz="2200" b="1" dirty="0">
                <a:solidFill>
                  <a:srgbClr val="FF0000"/>
                </a:solidFill>
                <a:latin typeface="+mj-lt"/>
                <a:ea typeface="黑体" panose="02010609060101010101" pitchFamily="49" charset="-122"/>
              </a:rPr>
              <a:t> </a:t>
            </a:r>
            <a:r>
              <a:rPr lang="en-US" altLang="zh-CN" sz="2200" b="1" dirty="0">
                <a:solidFill>
                  <a:srgbClr val="FF0000"/>
                </a:solidFill>
                <a:latin typeface="+mj-lt"/>
                <a:ea typeface="黑体" panose="02010609060101010101" pitchFamily="49" charset="-122"/>
                <a:sym typeface="Symbol" panose="05050102010706020507" pitchFamily="18" charset="2"/>
              </a:rPr>
              <a:t></a:t>
            </a:r>
            <a:r>
              <a:rPr lang="en-US" altLang="zh-CN" sz="2200" b="1" dirty="0">
                <a:solidFill>
                  <a:srgbClr val="FF0000"/>
                </a:solidFill>
                <a:latin typeface="+mj-lt"/>
                <a:ea typeface="黑体" panose="02010609060101010101" pitchFamily="49" charset="-122"/>
              </a:rPr>
              <a:t> </a:t>
            </a:r>
            <a:r>
              <a:rPr lang="en-US" altLang="zh-CN" sz="2200" b="1" dirty="0" err="1">
                <a:solidFill>
                  <a:srgbClr val="FF0000"/>
                </a:solidFill>
                <a:latin typeface="+mj-lt"/>
                <a:ea typeface="黑体" panose="02010609060101010101" pitchFamily="49" charset="-122"/>
              </a:rPr>
              <a:t>src</a:t>
            </a:r>
            <a:endParaRPr lang="en-US" altLang="zh-CN" sz="2200" b="1" dirty="0">
              <a:solidFill>
                <a:srgbClr val="FF0000"/>
              </a:solidFill>
              <a:latin typeface="+mj-lt"/>
              <a:ea typeface="黑体" panose="02010609060101010101" pitchFamily="49" charset="-122"/>
            </a:endParaRPr>
          </a:p>
        </p:txBody>
      </p:sp>
      <p:grpSp>
        <p:nvGrpSpPr>
          <p:cNvPr id="3" name="Group 89"/>
          <p:cNvGrpSpPr/>
          <p:nvPr/>
        </p:nvGrpSpPr>
        <p:grpSpPr bwMode="auto">
          <a:xfrm>
            <a:off x="1043608" y="4535447"/>
            <a:ext cx="7494587" cy="2046673"/>
            <a:chOff x="703" y="2647"/>
            <a:chExt cx="4721" cy="1370"/>
          </a:xfrm>
        </p:grpSpPr>
        <p:grpSp>
          <p:nvGrpSpPr>
            <p:cNvPr id="4" name="Group 36"/>
            <p:cNvGrpSpPr/>
            <p:nvPr/>
          </p:nvGrpSpPr>
          <p:grpSpPr bwMode="auto">
            <a:xfrm>
              <a:off x="4017" y="2922"/>
              <a:ext cx="1407" cy="507"/>
              <a:chOff x="2690" y="2327"/>
              <a:chExt cx="1407" cy="507"/>
            </a:xfrm>
          </p:grpSpPr>
          <p:sp>
            <p:nvSpPr>
              <p:cNvPr id="39" name="AutoShape 37"/>
              <p:cNvSpPr>
                <a:spLocks noChangeArrowheads="1"/>
              </p:cNvSpPr>
              <p:nvPr/>
            </p:nvSpPr>
            <p:spPr bwMode="auto">
              <a:xfrm>
                <a:off x="3220" y="2418"/>
                <a:ext cx="397" cy="284"/>
              </a:xfrm>
              <a:prstGeom prst="flowChartDelay">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2400" b="0">
                  <a:latin typeface="Arial" panose="020B0604020202020204" pitchFamily="34" charset="0"/>
                </a:endParaRPr>
              </a:p>
            </p:txBody>
          </p:sp>
          <p:sp>
            <p:nvSpPr>
              <p:cNvPr id="40" name="Line 38"/>
              <p:cNvSpPr>
                <a:spLocks noChangeShapeType="1"/>
              </p:cNvSpPr>
              <p:nvPr/>
            </p:nvSpPr>
            <p:spPr bwMode="auto">
              <a:xfrm>
                <a:off x="3627" y="2558"/>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39"/>
              <p:cNvSpPr>
                <a:spLocks noChangeShapeType="1"/>
              </p:cNvSpPr>
              <p:nvPr/>
            </p:nvSpPr>
            <p:spPr bwMode="auto">
              <a:xfrm>
                <a:off x="2965" y="2461"/>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40"/>
              <p:cNvSpPr>
                <a:spLocks noChangeShapeType="1"/>
              </p:cNvSpPr>
              <p:nvPr/>
            </p:nvSpPr>
            <p:spPr bwMode="auto">
              <a:xfrm>
                <a:off x="2956" y="2654"/>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41"/>
              <p:cNvSpPr txBox="1">
                <a:spLocks noChangeArrowheads="1"/>
              </p:cNvSpPr>
              <p:nvPr/>
            </p:nvSpPr>
            <p:spPr bwMode="auto">
              <a:xfrm>
                <a:off x="3863" y="2414"/>
                <a:ext cx="23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400" b="0" dirty="0">
                    <a:solidFill>
                      <a:srgbClr val="0000FF"/>
                    </a:solidFill>
                    <a:latin typeface="+mj-lt"/>
                  </a:rPr>
                  <a:t>T</a:t>
                </a:r>
                <a:endParaRPr lang="en-US" altLang="zh-CN" sz="2400" b="0" dirty="0">
                  <a:solidFill>
                    <a:srgbClr val="0000FF"/>
                  </a:solidFill>
                  <a:latin typeface="+mj-lt"/>
                </a:endParaRPr>
              </a:p>
            </p:txBody>
          </p:sp>
          <p:sp>
            <p:nvSpPr>
              <p:cNvPr id="44" name="Text Box 42"/>
              <p:cNvSpPr txBox="1">
                <a:spLocks noChangeArrowheads="1"/>
              </p:cNvSpPr>
              <p:nvPr/>
            </p:nvSpPr>
            <p:spPr bwMode="auto">
              <a:xfrm>
                <a:off x="2690" y="2327"/>
                <a:ext cx="257"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A</a:t>
                </a:r>
                <a:endParaRPr lang="en-US" altLang="zh-CN" sz="2400" b="0" dirty="0">
                  <a:latin typeface="+mj-lt"/>
                </a:endParaRPr>
              </a:p>
              <a:p>
                <a:pPr algn="l" eaLnBrk="1" hangingPunct="1">
                  <a:lnSpc>
                    <a:spcPct val="90000"/>
                  </a:lnSpc>
                  <a:spcBef>
                    <a:spcPct val="0"/>
                  </a:spcBef>
                  <a:buClrTx/>
                  <a:buFontTx/>
                  <a:buNone/>
                </a:pPr>
                <a:r>
                  <a:rPr lang="en-US" altLang="zh-CN" sz="2400" b="0" dirty="0">
                    <a:latin typeface="+mj-lt"/>
                  </a:rPr>
                  <a:t>B</a:t>
                </a:r>
                <a:endParaRPr lang="en-US" altLang="zh-CN" sz="2400" b="0" dirty="0">
                  <a:latin typeface="+mj-lt"/>
                </a:endParaRPr>
              </a:p>
            </p:txBody>
          </p:sp>
        </p:grpSp>
        <p:sp>
          <p:nvSpPr>
            <p:cNvPr id="7" name="Rectangle 47"/>
            <p:cNvSpPr>
              <a:spLocks noChangeArrowheads="1"/>
            </p:cNvSpPr>
            <p:nvPr/>
          </p:nvSpPr>
          <p:spPr bwMode="auto">
            <a:xfrm>
              <a:off x="3583" y="3123"/>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10" name="Rectangle 48"/>
            <p:cNvSpPr>
              <a:spLocks noChangeArrowheads="1"/>
            </p:cNvSpPr>
            <p:nvPr/>
          </p:nvSpPr>
          <p:spPr bwMode="auto">
            <a:xfrm>
              <a:off x="3299" y="3123"/>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1" name="Rectangle 49"/>
            <p:cNvSpPr>
              <a:spLocks noChangeArrowheads="1"/>
            </p:cNvSpPr>
            <p:nvPr/>
          </p:nvSpPr>
          <p:spPr bwMode="auto">
            <a:xfrm>
              <a:off x="3016" y="3123"/>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a:t>
              </a:r>
              <a:endParaRPr lang="en-US" altLang="zh-CN" sz="2800" b="0" dirty="0">
                <a:latin typeface="+mj-lt"/>
              </a:endParaRPr>
            </a:p>
          </p:txBody>
        </p:sp>
        <p:sp>
          <p:nvSpPr>
            <p:cNvPr id="12" name="Rectangle 50"/>
            <p:cNvSpPr>
              <a:spLocks noChangeArrowheads="1"/>
            </p:cNvSpPr>
            <p:nvPr/>
          </p:nvSpPr>
          <p:spPr bwMode="auto">
            <a:xfrm>
              <a:off x="3583" y="369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14" name="Rectangle 51"/>
            <p:cNvSpPr>
              <a:spLocks noChangeArrowheads="1"/>
            </p:cNvSpPr>
            <p:nvPr/>
          </p:nvSpPr>
          <p:spPr bwMode="auto">
            <a:xfrm>
              <a:off x="3299" y="3691"/>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5" name="Rectangle 52"/>
            <p:cNvSpPr>
              <a:spLocks noChangeArrowheads="1"/>
            </p:cNvSpPr>
            <p:nvPr/>
          </p:nvSpPr>
          <p:spPr bwMode="auto">
            <a:xfrm>
              <a:off x="3016" y="369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1</a:t>
              </a:r>
              <a:endParaRPr lang="en-US" altLang="zh-CN" sz="2800" b="0" dirty="0">
                <a:latin typeface="+mj-lt"/>
              </a:endParaRPr>
            </a:p>
          </p:txBody>
        </p:sp>
        <p:sp>
          <p:nvSpPr>
            <p:cNvPr id="16" name="Rectangle 53"/>
            <p:cNvSpPr>
              <a:spLocks noChangeArrowheads="1"/>
            </p:cNvSpPr>
            <p:nvPr/>
          </p:nvSpPr>
          <p:spPr bwMode="auto">
            <a:xfrm>
              <a:off x="3583" y="3412"/>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17" name="Rectangle 54"/>
            <p:cNvSpPr>
              <a:spLocks noChangeArrowheads="1"/>
            </p:cNvSpPr>
            <p:nvPr/>
          </p:nvSpPr>
          <p:spPr bwMode="auto">
            <a:xfrm>
              <a:off x="3299" y="3412"/>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18" name="Rectangle 55"/>
            <p:cNvSpPr>
              <a:spLocks noChangeArrowheads="1"/>
            </p:cNvSpPr>
            <p:nvPr/>
          </p:nvSpPr>
          <p:spPr bwMode="auto">
            <a:xfrm>
              <a:off x="3016" y="3412"/>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9" name="Rectangle 56"/>
            <p:cNvSpPr>
              <a:spLocks noChangeArrowheads="1"/>
            </p:cNvSpPr>
            <p:nvPr/>
          </p:nvSpPr>
          <p:spPr bwMode="auto">
            <a:xfrm>
              <a:off x="3583" y="2834"/>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20" name="Rectangle 57"/>
            <p:cNvSpPr>
              <a:spLocks noChangeArrowheads="1"/>
            </p:cNvSpPr>
            <p:nvPr/>
          </p:nvSpPr>
          <p:spPr bwMode="auto">
            <a:xfrm>
              <a:off x="3299" y="2834"/>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a:t>
              </a:r>
              <a:endParaRPr lang="en-US" altLang="zh-CN" sz="2800" b="0" dirty="0">
                <a:latin typeface="+mj-lt"/>
              </a:endParaRPr>
            </a:p>
          </p:txBody>
        </p:sp>
        <p:sp>
          <p:nvSpPr>
            <p:cNvPr id="21" name="Rectangle 58"/>
            <p:cNvSpPr>
              <a:spLocks noChangeArrowheads="1"/>
            </p:cNvSpPr>
            <p:nvPr/>
          </p:nvSpPr>
          <p:spPr bwMode="auto">
            <a:xfrm>
              <a:off x="3016" y="2834"/>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22" name="Line 62"/>
            <p:cNvSpPr>
              <a:spLocks noChangeShapeType="1"/>
            </p:cNvSpPr>
            <p:nvPr/>
          </p:nvSpPr>
          <p:spPr bwMode="auto">
            <a:xfrm>
              <a:off x="3016" y="2870"/>
              <a:ext cx="8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63"/>
            <p:cNvSpPr>
              <a:spLocks noChangeShapeType="1"/>
            </p:cNvSpPr>
            <p:nvPr/>
          </p:nvSpPr>
          <p:spPr bwMode="auto">
            <a:xfrm>
              <a:off x="3016" y="3160"/>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64"/>
            <p:cNvSpPr>
              <a:spLocks noChangeShapeType="1"/>
            </p:cNvSpPr>
            <p:nvPr/>
          </p:nvSpPr>
          <p:spPr bwMode="auto">
            <a:xfrm>
              <a:off x="3016" y="3738"/>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65"/>
            <p:cNvSpPr>
              <a:spLocks noChangeShapeType="1"/>
            </p:cNvSpPr>
            <p:nvPr/>
          </p:nvSpPr>
          <p:spPr bwMode="auto">
            <a:xfrm>
              <a:off x="3016" y="4017"/>
              <a:ext cx="85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66"/>
            <p:cNvSpPr>
              <a:spLocks noChangeShapeType="1"/>
            </p:cNvSpPr>
            <p:nvPr/>
          </p:nvSpPr>
          <p:spPr bwMode="auto">
            <a:xfrm>
              <a:off x="3016" y="3449"/>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67"/>
            <p:cNvSpPr>
              <a:spLocks noChangeShapeType="1"/>
            </p:cNvSpPr>
            <p:nvPr/>
          </p:nvSpPr>
          <p:spPr bwMode="auto">
            <a:xfrm>
              <a:off x="3016" y="2870"/>
              <a:ext cx="0" cy="11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68"/>
            <p:cNvSpPr>
              <a:spLocks noChangeShapeType="1"/>
            </p:cNvSpPr>
            <p:nvPr/>
          </p:nvSpPr>
          <p:spPr bwMode="auto">
            <a:xfrm>
              <a:off x="3866" y="2870"/>
              <a:ext cx="0" cy="11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69"/>
            <p:cNvSpPr>
              <a:spLocks noChangeShapeType="1"/>
            </p:cNvSpPr>
            <p:nvPr/>
          </p:nvSpPr>
          <p:spPr bwMode="auto">
            <a:xfrm>
              <a:off x="3299" y="2870"/>
              <a:ext cx="0" cy="11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70"/>
            <p:cNvSpPr>
              <a:spLocks noChangeShapeType="1"/>
            </p:cNvSpPr>
            <p:nvPr/>
          </p:nvSpPr>
          <p:spPr bwMode="auto">
            <a:xfrm>
              <a:off x="3583" y="2870"/>
              <a:ext cx="0" cy="11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Text Box 76"/>
            <p:cNvSpPr txBox="1">
              <a:spLocks noChangeArrowheads="1"/>
            </p:cNvSpPr>
            <p:nvPr/>
          </p:nvSpPr>
          <p:spPr bwMode="auto">
            <a:xfrm>
              <a:off x="4286" y="3674"/>
              <a:ext cx="998"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T</a:t>
              </a:r>
              <a:r>
                <a:rPr lang="zh-CN" altLang="en-US" sz="2400" b="0" dirty="0">
                  <a:latin typeface="+mj-lt"/>
                </a:rPr>
                <a:t>＝</a:t>
              </a:r>
              <a:r>
                <a:rPr lang="en-US" altLang="zh-CN" sz="2400" b="0" dirty="0">
                  <a:latin typeface="+mj-lt"/>
                </a:rPr>
                <a:t>A·B</a:t>
              </a:r>
              <a:endParaRPr lang="en-US" altLang="zh-CN" sz="2400" b="0" dirty="0">
                <a:latin typeface="+mj-lt"/>
              </a:endParaRPr>
            </a:p>
          </p:txBody>
        </p:sp>
        <p:sp>
          <p:nvSpPr>
            <p:cNvPr id="32" name="Text Box 77"/>
            <p:cNvSpPr txBox="1">
              <a:spLocks noChangeArrowheads="1"/>
            </p:cNvSpPr>
            <p:nvPr/>
          </p:nvSpPr>
          <p:spPr bwMode="auto">
            <a:xfrm>
              <a:off x="2200" y="3249"/>
              <a:ext cx="6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真值表</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33" name="Text Box 78"/>
            <p:cNvSpPr txBox="1">
              <a:spLocks noChangeArrowheads="1"/>
            </p:cNvSpPr>
            <p:nvPr/>
          </p:nvSpPr>
          <p:spPr bwMode="auto">
            <a:xfrm>
              <a:off x="4286" y="2647"/>
              <a:ext cx="8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与门电路</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34" name="Text Box 79"/>
            <p:cNvSpPr txBox="1">
              <a:spLocks noChangeArrowheads="1"/>
            </p:cNvSpPr>
            <p:nvPr/>
          </p:nvSpPr>
          <p:spPr bwMode="auto">
            <a:xfrm>
              <a:off x="4286" y="3383"/>
              <a:ext cx="10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逻辑表达式</a:t>
              </a:r>
              <a:endParaRPr lang="zh-CN" altLang="en-US" sz="2200" b="0" dirty="0">
                <a:solidFill>
                  <a:srgbClr val="00B050"/>
                </a:solidFill>
                <a:latin typeface="黑体" panose="02010609060101010101" pitchFamily="49" charset="-122"/>
                <a:ea typeface="黑体" panose="02010609060101010101" pitchFamily="49" charset="-122"/>
              </a:endParaRPr>
            </a:p>
          </p:txBody>
        </p:sp>
        <p:grpSp>
          <p:nvGrpSpPr>
            <p:cNvPr id="35" name="Group 80"/>
            <p:cNvGrpSpPr/>
            <p:nvPr/>
          </p:nvGrpSpPr>
          <p:grpSpPr bwMode="auto">
            <a:xfrm>
              <a:off x="703" y="3113"/>
              <a:ext cx="1281" cy="803"/>
              <a:chOff x="748" y="3158"/>
              <a:chExt cx="1281" cy="803"/>
            </a:xfrm>
          </p:grpSpPr>
          <p:sp>
            <p:nvSpPr>
              <p:cNvPr id="36" name="Text Box 81"/>
              <p:cNvSpPr txBox="1">
                <a:spLocks noChangeArrowheads="1"/>
              </p:cNvSpPr>
              <p:nvPr/>
            </p:nvSpPr>
            <p:spPr bwMode="auto">
              <a:xfrm>
                <a:off x="1106" y="3158"/>
                <a:ext cx="892" cy="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400" dirty="0">
                    <a:latin typeface="+mj-lt"/>
                  </a:rPr>
                  <a:t>01000101</a:t>
                </a:r>
                <a:endParaRPr lang="en-US" altLang="zh-CN" sz="2400" dirty="0">
                  <a:latin typeface="+mj-lt"/>
                </a:endParaRPr>
              </a:p>
              <a:p>
                <a:pPr algn="ctr" eaLnBrk="1" hangingPunct="1">
                  <a:spcBef>
                    <a:spcPct val="0"/>
                  </a:spcBef>
                  <a:buClrTx/>
                  <a:buFontTx/>
                  <a:buNone/>
                </a:pPr>
                <a:r>
                  <a:rPr lang="en-US" altLang="zh-CN" sz="2400" dirty="0">
                    <a:latin typeface="+mj-lt"/>
                  </a:rPr>
                  <a:t>00110001</a:t>
                </a:r>
                <a:endParaRPr lang="en-US" altLang="zh-CN" sz="2400" dirty="0">
                  <a:latin typeface="+mj-lt"/>
                </a:endParaRPr>
              </a:p>
              <a:p>
                <a:pPr algn="ctr" eaLnBrk="1" hangingPunct="1">
                  <a:buClrTx/>
                  <a:buFontTx/>
                  <a:buNone/>
                </a:pPr>
                <a:r>
                  <a:rPr lang="en-US" altLang="zh-CN" sz="2400" dirty="0">
                    <a:solidFill>
                      <a:srgbClr val="0000CC"/>
                    </a:solidFill>
                    <a:latin typeface="+mj-lt"/>
                  </a:rPr>
                  <a:t>00000001</a:t>
                </a:r>
                <a:endParaRPr lang="zh-CN" altLang="en-US" sz="1800" b="0" dirty="0">
                  <a:solidFill>
                    <a:srgbClr val="0000CC"/>
                  </a:solidFill>
                  <a:latin typeface="+mj-lt"/>
                </a:endParaRPr>
              </a:p>
            </p:txBody>
          </p:sp>
          <p:sp>
            <p:nvSpPr>
              <p:cNvPr id="37" name="Line 82"/>
              <p:cNvSpPr>
                <a:spLocks noChangeShapeType="1"/>
              </p:cNvSpPr>
              <p:nvPr/>
            </p:nvSpPr>
            <p:spPr bwMode="auto">
              <a:xfrm>
                <a:off x="748" y="3675"/>
                <a:ext cx="128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Text Box 83"/>
              <p:cNvSpPr txBox="1">
                <a:spLocks noChangeArrowheads="1"/>
              </p:cNvSpPr>
              <p:nvPr/>
            </p:nvSpPr>
            <p:spPr bwMode="auto">
              <a:xfrm>
                <a:off x="793" y="3321"/>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dirty="0">
                    <a:solidFill>
                      <a:schemeClr val="tx2"/>
                    </a:solidFill>
                    <a:latin typeface="+mj-lt"/>
                    <a:sym typeface="Symbol" panose="05050102010706020507" pitchFamily="18" charset="2"/>
                  </a:rPr>
                  <a:t></a:t>
                </a:r>
                <a:endParaRPr lang="zh-CN" altLang="en-US" dirty="0">
                  <a:solidFill>
                    <a:schemeClr val="tx2"/>
                  </a:solidFill>
                  <a:latin typeface="+mj-lt"/>
                  <a:sym typeface="Symbol" panose="05050102010706020507" pitchFamily="18" charset="2"/>
                </a:endParaRPr>
              </a:p>
            </p:txBody>
          </p:sp>
        </p:grpSp>
      </p:grpSp>
      <p:sp>
        <p:nvSpPr>
          <p:cNvPr id="45" name="Rectangle 59"/>
          <p:cNvSpPr>
            <a:spLocks noChangeArrowheads="1"/>
          </p:cNvSpPr>
          <p:nvPr/>
        </p:nvSpPr>
        <p:spPr bwMode="auto">
          <a:xfrm>
            <a:off x="5616129" y="4448026"/>
            <a:ext cx="44926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solidFill>
                  <a:srgbClr val="0000FF"/>
                </a:solidFill>
                <a:latin typeface="+mj-lt"/>
              </a:rPr>
              <a:t>T</a:t>
            </a:r>
            <a:endParaRPr lang="en-US" altLang="zh-CN" sz="2400" dirty="0">
              <a:solidFill>
                <a:srgbClr val="0000FF"/>
              </a:solidFill>
              <a:latin typeface="+mj-lt"/>
            </a:endParaRPr>
          </a:p>
        </p:txBody>
      </p:sp>
      <p:sp>
        <p:nvSpPr>
          <p:cNvPr id="46" name="Rectangle 60"/>
          <p:cNvSpPr>
            <a:spLocks noChangeArrowheads="1"/>
          </p:cNvSpPr>
          <p:nvPr/>
        </p:nvSpPr>
        <p:spPr bwMode="auto">
          <a:xfrm>
            <a:off x="5165279" y="4452218"/>
            <a:ext cx="4508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B</a:t>
            </a:r>
            <a:endParaRPr lang="en-US" altLang="zh-CN" sz="2400" dirty="0">
              <a:latin typeface="+mj-lt"/>
            </a:endParaRPr>
          </a:p>
        </p:txBody>
      </p:sp>
      <p:sp>
        <p:nvSpPr>
          <p:cNvPr id="47" name="Rectangle 61"/>
          <p:cNvSpPr>
            <a:spLocks noChangeArrowheads="1"/>
          </p:cNvSpPr>
          <p:nvPr/>
        </p:nvSpPr>
        <p:spPr bwMode="auto">
          <a:xfrm>
            <a:off x="4716016" y="4437112"/>
            <a:ext cx="4492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A</a:t>
            </a:r>
            <a:endParaRPr lang="en-US" altLang="zh-CN" sz="2400" dirty="0">
              <a:latin typeface="+mj-lt"/>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逻辑或指令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OR</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92696"/>
            <a:ext cx="8064896" cy="5268814"/>
          </a:xfrm>
          <a:prstGeom prst="rect">
            <a:avLst/>
          </a:prstGeom>
        </p:spPr>
        <p:txBody>
          <a:bodyPr/>
          <a:lstStyle/>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逻辑或（逻辑加）运算规则：</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两位都是逻辑</a:t>
            </a:r>
            <a:r>
              <a:rPr lang="en-US" altLang="zh-CN" sz="2400" dirty="0">
                <a:solidFill>
                  <a:schemeClr val="tx1"/>
                </a:solidFill>
                <a:latin typeface="+mn-lt"/>
              </a:rPr>
              <a:t>0</a:t>
            </a:r>
            <a:r>
              <a:rPr lang="zh-CN" altLang="en-US" sz="2400" dirty="0">
                <a:solidFill>
                  <a:schemeClr val="tx1"/>
                </a:solidFill>
                <a:latin typeface="+mn-lt"/>
              </a:rPr>
              <a:t>，则结果是</a:t>
            </a:r>
            <a:r>
              <a:rPr lang="en-US" altLang="zh-CN" sz="2400" dirty="0">
                <a:solidFill>
                  <a:schemeClr val="tx1"/>
                </a:solidFill>
                <a:latin typeface="+mn-lt"/>
              </a:rPr>
              <a:t>0</a:t>
            </a:r>
            <a:r>
              <a:rPr lang="zh-CN" altLang="en-US" sz="2400" dirty="0">
                <a:solidFill>
                  <a:schemeClr val="tx1"/>
                </a:solidFill>
                <a:latin typeface="+mn-lt"/>
              </a:rPr>
              <a:t>；否则，结果是</a:t>
            </a:r>
            <a:r>
              <a:rPr lang="en-US" altLang="zh-CN" sz="2400" dirty="0">
                <a:solidFill>
                  <a:schemeClr val="tx1"/>
                </a:solidFill>
                <a:latin typeface="+mn-lt"/>
              </a:rPr>
              <a:t>1</a:t>
            </a:r>
            <a:endParaRPr lang="en-US" altLang="zh-CN" sz="24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逻辑或指令</a:t>
            </a:r>
            <a:r>
              <a:rPr lang="en-US" altLang="zh-CN" sz="2800" dirty="0">
                <a:latin typeface="+mn-lt"/>
              </a:rPr>
              <a:t>OR</a:t>
            </a:r>
            <a:r>
              <a:rPr lang="zh-CN" altLang="en-US" sz="2800" dirty="0">
                <a:latin typeface="+mn-lt"/>
              </a:rPr>
              <a:t>：</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按位进行逻辑或，结果返回目的操作数</a:t>
            </a:r>
            <a:endParaRPr lang="zh-CN" altLang="en-US" sz="2400" dirty="0">
              <a:solidFill>
                <a:schemeClr val="tx1"/>
              </a:solidFill>
              <a:latin typeface="+mn-lt"/>
            </a:endParaRPr>
          </a:p>
          <a:p>
            <a:pPr marL="914400" lvl="1" indent="-457200" algn="just">
              <a:lnSpc>
                <a:spcPct val="130000"/>
              </a:lnSpc>
              <a:spcBef>
                <a:spcPts val="200"/>
              </a:spcBef>
              <a:buClr>
                <a:srgbClr val="0000FF"/>
              </a:buClr>
              <a:buFont typeface="Wingdings" panose="05000000000000000000" pitchFamily="2" charset="2"/>
              <a:buChar char="ü"/>
            </a:pPr>
            <a:endParaRPr lang="en-US" altLang="zh-CN" sz="30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对状态标志的影响：</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设置</a:t>
            </a:r>
            <a:r>
              <a:rPr lang="en-US" altLang="zh-CN" sz="2400" dirty="0">
                <a:solidFill>
                  <a:schemeClr val="tx1"/>
                </a:solidFill>
                <a:latin typeface="+mn-lt"/>
              </a:rPr>
              <a:t>CF</a:t>
            </a:r>
            <a:r>
              <a:rPr lang="zh-CN" altLang="en-US" sz="2400" dirty="0">
                <a:solidFill>
                  <a:schemeClr val="tx1"/>
                </a:solidFill>
                <a:latin typeface="+mn-lt"/>
              </a:rPr>
              <a:t>＝</a:t>
            </a:r>
            <a:r>
              <a:rPr lang="en-US" altLang="zh-CN" sz="2400" dirty="0">
                <a:solidFill>
                  <a:schemeClr val="tx1"/>
                </a:solidFill>
                <a:latin typeface="+mn-lt"/>
              </a:rPr>
              <a:t>OF</a:t>
            </a:r>
            <a:r>
              <a:rPr lang="zh-CN" altLang="en-US" sz="2400" dirty="0">
                <a:solidFill>
                  <a:schemeClr val="tx1"/>
                </a:solidFill>
                <a:latin typeface="+mn-lt"/>
              </a:rPr>
              <a:t>＝</a:t>
            </a:r>
            <a:r>
              <a:rPr lang="en-US" altLang="zh-CN" sz="2400" dirty="0">
                <a:solidFill>
                  <a:schemeClr val="tx1"/>
                </a:solidFill>
                <a:latin typeface="+mn-lt"/>
              </a:rPr>
              <a:t>0</a:t>
            </a:r>
            <a:r>
              <a:rPr lang="zh-CN" altLang="en-US" sz="2400" dirty="0">
                <a:solidFill>
                  <a:schemeClr val="tx1"/>
                </a:solidFill>
                <a:latin typeface="+mn-lt"/>
              </a:rPr>
              <a:t>，根据结果影响</a:t>
            </a:r>
            <a:r>
              <a:rPr lang="en-US" altLang="zh-CN" sz="2400" dirty="0">
                <a:solidFill>
                  <a:schemeClr val="tx1"/>
                </a:solidFill>
                <a:latin typeface="+mn-lt"/>
              </a:rPr>
              <a:t>SF</a:t>
            </a:r>
            <a:r>
              <a:rPr lang="zh-CN" altLang="en-US" sz="2400" dirty="0">
                <a:solidFill>
                  <a:schemeClr val="tx1"/>
                </a:solidFill>
                <a:latin typeface="+mn-lt"/>
              </a:rPr>
              <a:t>，</a:t>
            </a:r>
            <a:r>
              <a:rPr lang="en-US" altLang="zh-CN" sz="2400" dirty="0">
                <a:solidFill>
                  <a:schemeClr val="tx1"/>
                </a:solidFill>
                <a:latin typeface="+mn-lt"/>
              </a:rPr>
              <a:t>ZF</a:t>
            </a:r>
            <a:r>
              <a:rPr lang="zh-CN" altLang="en-US" sz="2400" dirty="0">
                <a:solidFill>
                  <a:schemeClr val="tx1"/>
                </a:solidFill>
                <a:latin typeface="+mn-lt"/>
              </a:rPr>
              <a:t>和</a:t>
            </a:r>
            <a:r>
              <a:rPr lang="en-US" altLang="zh-CN" sz="2400" dirty="0">
                <a:solidFill>
                  <a:schemeClr val="tx1"/>
                </a:solidFill>
                <a:latin typeface="+mn-lt"/>
              </a:rPr>
              <a:t>PF</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9" name="Rectangle 3"/>
          <p:cNvSpPr>
            <a:spLocks noChangeArrowheads="1"/>
          </p:cNvSpPr>
          <p:nvPr/>
        </p:nvSpPr>
        <p:spPr bwMode="auto">
          <a:xfrm>
            <a:off x="1072183" y="2954908"/>
            <a:ext cx="7488832" cy="51752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OR </a:t>
            </a:r>
            <a:r>
              <a:rPr lang="en-US" altLang="zh-CN" sz="2200" b="1" dirty="0" err="1">
                <a:solidFill>
                  <a:srgbClr val="00B050"/>
                </a:solidFill>
                <a:latin typeface="+mj-lt"/>
                <a:ea typeface="黑体" panose="02010609060101010101" pitchFamily="49" charset="-122"/>
              </a:rPr>
              <a:t>dest</a:t>
            </a:r>
            <a:r>
              <a:rPr lang="en-US" altLang="zh-CN" sz="2200" b="1" dirty="0">
                <a:solidFill>
                  <a:srgbClr val="00B050"/>
                </a:solidFill>
                <a:latin typeface="+mj-lt"/>
                <a:ea typeface="黑体" panose="02010609060101010101" pitchFamily="49" charset="-122"/>
              </a:rPr>
              <a:t>, </a:t>
            </a:r>
            <a:r>
              <a:rPr lang="en-US" altLang="zh-CN" sz="2200" b="1" dirty="0" err="1">
                <a:solidFill>
                  <a:srgbClr val="00B050"/>
                </a:solidFill>
                <a:latin typeface="+mj-lt"/>
                <a:ea typeface="黑体" panose="02010609060101010101" pitchFamily="49" charset="-122"/>
              </a:rPr>
              <a:t>src</a:t>
            </a:r>
            <a:r>
              <a:rPr lang="en-US" altLang="zh-CN" sz="2200" b="1" dirty="0">
                <a:solidFill>
                  <a:srgbClr val="00B050"/>
                </a:solidFill>
                <a:latin typeface="+mj-lt"/>
                <a:ea typeface="黑体" panose="02010609060101010101" pitchFamily="49" charset="-122"/>
              </a:rPr>
              <a:t>			</a:t>
            </a:r>
            <a:r>
              <a:rPr lang="en-US" altLang="zh-CN" sz="2200" b="1" dirty="0">
                <a:solidFill>
                  <a:srgbClr val="FF0000"/>
                </a:solidFill>
                <a:latin typeface="+mj-lt"/>
                <a:ea typeface="黑体" panose="02010609060101010101" pitchFamily="49" charset="-122"/>
              </a:rPr>
              <a:t>;</a:t>
            </a:r>
            <a:r>
              <a:rPr lang="zh-CN" altLang="en-US" sz="2200" b="1" dirty="0">
                <a:solidFill>
                  <a:srgbClr val="FF0000"/>
                </a:solidFill>
                <a:latin typeface="+mj-lt"/>
                <a:ea typeface="黑体" panose="02010609060101010101" pitchFamily="49" charset="-122"/>
              </a:rPr>
              <a:t>逻辑或：</a:t>
            </a:r>
            <a:r>
              <a:rPr lang="en-US" altLang="zh-CN" sz="2200" b="1" dirty="0" err="1">
                <a:solidFill>
                  <a:srgbClr val="FF0000"/>
                </a:solidFill>
                <a:latin typeface="+mj-lt"/>
                <a:ea typeface="黑体" panose="02010609060101010101" pitchFamily="49" charset="-122"/>
              </a:rPr>
              <a:t>dest←dest</a:t>
            </a:r>
            <a:r>
              <a:rPr lang="en-US" altLang="zh-CN" sz="2200" b="1" dirty="0">
                <a:solidFill>
                  <a:srgbClr val="FF0000"/>
                </a:solidFill>
                <a:latin typeface="+mj-lt"/>
                <a:ea typeface="黑体" panose="02010609060101010101" pitchFamily="49" charset="-122"/>
              </a:rPr>
              <a:t> </a:t>
            </a:r>
            <a:r>
              <a:rPr lang="en-US" altLang="zh-CN" sz="2200" b="1" dirty="0">
                <a:solidFill>
                  <a:srgbClr val="FF0000"/>
                </a:solidFill>
                <a:latin typeface="+mj-lt"/>
                <a:ea typeface="黑体" panose="02010609060101010101" pitchFamily="49" charset="-122"/>
                <a:sym typeface="Symbol" panose="05050102010706020507" pitchFamily="18" charset="2"/>
              </a:rPr>
              <a:t></a:t>
            </a:r>
            <a:r>
              <a:rPr lang="en-US" altLang="zh-CN" sz="2200" b="1" dirty="0">
                <a:solidFill>
                  <a:srgbClr val="FF0000"/>
                </a:solidFill>
                <a:latin typeface="+mj-lt"/>
                <a:ea typeface="黑体" panose="02010609060101010101" pitchFamily="49" charset="-122"/>
              </a:rPr>
              <a:t> </a:t>
            </a:r>
            <a:r>
              <a:rPr lang="en-US" altLang="zh-CN" sz="2200" b="1" dirty="0" err="1">
                <a:solidFill>
                  <a:srgbClr val="FF0000"/>
                </a:solidFill>
                <a:latin typeface="+mj-lt"/>
                <a:ea typeface="黑体" panose="02010609060101010101" pitchFamily="49" charset="-122"/>
              </a:rPr>
              <a:t>src</a:t>
            </a:r>
            <a:endParaRPr lang="en-US" altLang="zh-CN" sz="2200" b="1" dirty="0">
              <a:solidFill>
                <a:srgbClr val="FF0000"/>
              </a:solidFill>
              <a:latin typeface="+mj-lt"/>
              <a:ea typeface="黑体" panose="02010609060101010101" pitchFamily="49" charset="-122"/>
            </a:endParaRPr>
          </a:p>
        </p:txBody>
      </p:sp>
      <p:grpSp>
        <p:nvGrpSpPr>
          <p:cNvPr id="2" name="Group 92"/>
          <p:cNvGrpSpPr/>
          <p:nvPr/>
        </p:nvGrpSpPr>
        <p:grpSpPr bwMode="auto">
          <a:xfrm>
            <a:off x="1043608" y="4510930"/>
            <a:ext cx="7670800" cy="2230438"/>
            <a:chOff x="703" y="2612"/>
            <a:chExt cx="4832" cy="1405"/>
          </a:xfrm>
        </p:grpSpPr>
        <p:grpSp>
          <p:nvGrpSpPr>
            <p:cNvPr id="13" name="Group 38"/>
            <p:cNvGrpSpPr/>
            <p:nvPr/>
          </p:nvGrpSpPr>
          <p:grpSpPr bwMode="auto">
            <a:xfrm>
              <a:off x="4128" y="2865"/>
              <a:ext cx="1407" cy="477"/>
              <a:chOff x="3031" y="3177"/>
              <a:chExt cx="1407" cy="477"/>
            </a:xfrm>
          </p:grpSpPr>
          <p:sp>
            <p:nvSpPr>
              <p:cNvPr id="74" name="Line 39"/>
              <p:cNvSpPr>
                <a:spLocks noChangeShapeType="1"/>
              </p:cNvSpPr>
              <p:nvPr/>
            </p:nvSpPr>
            <p:spPr bwMode="auto">
              <a:xfrm>
                <a:off x="3968" y="3400"/>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Line 40"/>
              <p:cNvSpPr>
                <a:spLocks noChangeShapeType="1"/>
              </p:cNvSpPr>
              <p:nvPr/>
            </p:nvSpPr>
            <p:spPr bwMode="auto">
              <a:xfrm>
                <a:off x="3306" y="3331"/>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Line 41"/>
              <p:cNvSpPr>
                <a:spLocks noChangeShapeType="1"/>
              </p:cNvSpPr>
              <p:nvPr/>
            </p:nvSpPr>
            <p:spPr bwMode="auto">
              <a:xfrm>
                <a:off x="3297" y="3489"/>
                <a:ext cx="32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Text Box 42"/>
              <p:cNvSpPr txBox="1">
                <a:spLocks noChangeArrowheads="1"/>
              </p:cNvSpPr>
              <p:nvPr/>
            </p:nvSpPr>
            <p:spPr bwMode="auto">
              <a:xfrm>
                <a:off x="4204" y="3252"/>
                <a:ext cx="2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400" b="0" dirty="0">
                    <a:solidFill>
                      <a:srgbClr val="0000FF"/>
                    </a:solidFill>
                    <a:latin typeface="+mj-lt"/>
                  </a:rPr>
                  <a:t>T</a:t>
                </a:r>
                <a:endParaRPr lang="en-US" altLang="zh-CN" sz="2400" b="0" dirty="0">
                  <a:solidFill>
                    <a:srgbClr val="0000FF"/>
                  </a:solidFill>
                  <a:latin typeface="+mj-lt"/>
                </a:endParaRPr>
              </a:p>
            </p:txBody>
          </p:sp>
          <p:sp>
            <p:nvSpPr>
              <p:cNvPr id="78" name="Text Box 43"/>
              <p:cNvSpPr txBox="1">
                <a:spLocks noChangeArrowheads="1"/>
              </p:cNvSpPr>
              <p:nvPr/>
            </p:nvSpPr>
            <p:spPr bwMode="auto">
              <a:xfrm>
                <a:off x="3031" y="3177"/>
                <a:ext cx="257" cy="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A</a:t>
                </a:r>
                <a:endParaRPr lang="en-US" altLang="zh-CN" sz="2400" b="0" dirty="0">
                  <a:latin typeface="+mj-lt"/>
                </a:endParaRPr>
              </a:p>
              <a:p>
                <a:pPr algn="l" eaLnBrk="1" hangingPunct="1">
                  <a:lnSpc>
                    <a:spcPct val="90000"/>
                  </a:lnSpc>
                  <a:spcBef>
                    <a:spcPct val="0"/>
                  </a:spcBef>
                  <a:buClrTx/>
                  <a:buFontTx/>
                  <a:buNone/>
                </a:pPr>
                <a:r>
                  <a:rPr lang="en-US" altLang="zh-CN" sz="2400" b="0" dirty="0">
                    <a:latin typeface="+mj-lt"/>
                  </a:rPr>
                  <a:t>B</a:t>
                </a:r>
                <a:endParaRPr lang="en-US" altLang="zh-CN" sz="2400" b="0" dirty="0">
                  <a:latin typeface="+mj-lt"/>
                </a:endParaRPr>
              </a:p>
            </p:txBody>
          </p:sp>
          <p:grpSp>
            <p:nvGrpSpPr>
              <p:cNvPr id="79" name="Group 44"/>
              <p:cNvGrpSpPr/>
              <p:nvPr/>
            </p:nvGrpSpPr>
            <p:grpSpPr bwMode="auto">
              <a:xfrm>
                <a:off x="3532" y="3255"/>
                <a:ext cx="453" cy="304"/>
                <a:chOff x="3730" y="1937"/>
                <a:chExt cx="453" cy="531"/>
              </a:xfrm>
            </p:grpSpPr>
            <p:sp>
              <p:nvSpPr>
                <p:cNvPr id="83" name="Arc 45"/>
                <p:cNvSpPr/>
                <p:nvPr/>
              </p:nvSpPr>
              <p:spPr bwMode="auto">
                <a:xfrm>
                  <a:off x="3730" y="1937"/>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Arc 46"/>
                <p:cNvSpPr/>
                <p:nvPr/>
              </p:nvSpPr>
              <p:spPr bwMode="auto">
                <a:xfrm flipV="1">
                  <a:off x="3730" y="2184"/>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0" name="Group 47"/>
              <p:cNvGrpSpPr/>
              <p:nvPr/>
            </p:nvGrpSpPr>
            <p:grpSpPr bwMode="auto">
              <a:xfrm>
                <a:off x="3545" y="3258"/>
                <a:ext cx="91" cy="300"/>
                <a:chOff x="3698" y="1943"/>
                <a:chExt cx="485" cy="526"/>
              </a:xfrm>
            </p:grpSpPr>
            <p:sp>
              <p:nvSpPr>
                <p:cNvPr id="81" name="Arc 48"/>
                <p:cNvSpPr/>
                <p:nvPr/>
              </p:nvSpPr>
              <p:spPr bwMode="auto">
                <a:xfrm>
                  <a:off x="3698" y="1943"/>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Arc 49"/>
                <p:cNvSpPr/>
                <p:nvPr/>
              </p:nvSpPr>
              <p:spPr bwMode="auto">
                <a:xfrm flipV="1">
                  <a:off x="3730" y="2185"/>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5" name="Rectangle 52"/>
            <p:cNvSpPr>
              <a:spLocks noChangeArrowheads="1"/>
            </p:cNvSpPr>
            <p:nvPr/>
          </p:nvSpPr>
          <p:spPr bwMode="auto">
            <a:xfrm>
              <a:off x="3583" y="3113"/>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46" name="Rectangle 53"/>
            <p:cNvSpPr>
              <a:spLocks noChangeArrowheads="1"/>
            </p:cNvSpPr>
            <p:nvPr/>
          </p:nvSpPr>
          <p:spPr bwMode="auto">
            <a:xfrm>
              <a:off x="3299" y="3113"/>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47" name="Rectangle 54"/>
            <p:cNvSpPr>
              <a:spLocks noChangeArrowheads="1"/>
            </p:cNvSpPr>
            <p:nvPr/>
          </p:nvSpPr>
          <p:spPr bwMode="auto">
            <a:xfrm>
              <a:off x="3016" y="3113"/>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48" name="Rectangle 55"/>
            <p:cNvSpPr>
              <a:spLocks noChangeArrowheads="1"/>
            </p:cNvSpPr>
            <p:nvPr/>
          </p:nvSpPr>
          <p:spPr bwMode="auto">
            <a:xfrm>
              <a:off x="3583" y="369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49" name="Rectangle 56"/>
            <p:cNvSpPr>
              <a:spLocks noChangeArrowheads="1"/>
            </p:cNvSpPr>
            <p:nvPr/>
          </p:nvSpPr>
          <p:spPr bwMode="auto">
            <a:xfrm>
              <a:off x="3299" y="3691"/>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50" name="Rectangle 57"/>
            <p:cNvSpPr>
              <a:spLocks noChangeArrowheads="1"/>
            </p:cNvSpPr>
            <p:nvPr/>
          </p:nvSpPr>
          <p:spPr bwMode="auto">
            <a:xfrm>
              <a:off x="3016" y="369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51" name="Rectangle 58"/>
            <p:cNvSpPr>
              <a:spLocks noChangeArrowheads="1"/>
            </p:cNvSpPr>
            <p:nvPr/>
          </p:nvSpPr>
          <p:spPr bwMode="auto">
            <a:xfrm>
              <a:off x="3583" y="3385"/>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52" name="Rectangle 59"/>
            <p:cNvSpPr>
              <a:spLocks noChangeArrowheads="1"/>
            </p:cNvSpPr>
            <p:nvPr/>
          </p:nvSpPr>
          <p:spPr bwMode="auto">
            <a:xfrm>
              <a:off x="3299" y="3385"/>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53" name="Rectangle 60"/>
            <p:cNvSpPr>
              <a:spLocks noChangeArrowheads="1"/>
            </p:cNvSpPr>
            <p:nvPr/>
          </p:nvSpPr>
          <p:spPr bwMode="auto">
            <a:xfrm>
              <a:off x="3016" y="3382"/>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54" name="Rectangle 61"/>
            <p:cNvSpPr>
              <a:spLocks noChangeArrowheads="1"/>
            </p:cNvSpPr>
            <p:nvPr/>
          </p:nvSpPr>
          <p:spPr bwMode="auto">
            <a:xfrm>
              <a:off x="3583" y="284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55" name="Rectangle 62"/>
            <p:cNvSpPr>
              <a:spLocks noChangeArrowheads="1"/>
            </p:cNvSpPr>
            <p:nvPr/>
          </p:nvSpPr>
          <p:spPr bwMode="auto">
            <a:xfrm>
              <a:off x="3299" y="2841"/>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56" name="Rectangle 63"/>
            <p:cNvSpPr>
              <a:spLocks noChangeArrowheads="1"/>
            </p:cNvSpPr>
            <p:nvPr/>
          </p:nvSpPr>
          <p:spPr bwMode="auto">
            <a:xfrm>
              <a:off x="3016" y="284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57" name="Line 67"/>
            <p:cNvSpPr>
              <a:spLocks noChangeShapeType="1"/>
            </p:cNvSpPr>
            <p:nvPr/>
          </p:nvSpPr>
          <p:spPr bwMode="auto">
            <a:xfrm>
              <a:off x="3016" y="2883"/>
              <a:ext cx="8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68"/>
            <p:cNvSpPr>
              <a:spLocks noChangeShapeType="1"/>
            </p:cNvSpPr>
            <p:nvPr/>
          </p:nvSpPr>
          <p:spPr bwMode="auto">
            <a:xfrm>
              <a:off x="3016" y="3155"/>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69"/>
            <p:cNvSpPr>
              <a:spLocks noChangeShapeType="1"/>
            </p:cNvSpPr>
            <p:nvPr/>
          </p:nvSpPr>
          <p:spPr bwMode="auto">
            <a:xfrm>
              <a:off x="3016" y="3699"/>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70"/>
            <p:cNvSpPr>
              <a:spLocks noChangeShapeType="1"/>
            </p:cNvSpPr>
            <p:nvPr/>
          </p:nvSpPr>
          <p:spPr bwMode="auto">
            <a:xfrm>
              <a:off x="3016" y="3990"/>
              <a:ext cx="85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71"/>
            <p:cNvSpPr>
              <a:spLocks noChangeShapeType="1"/>
            </p:cNvSpPr>
            <p:nvPr/>
          </p:nvSpPr>
          <p:spPr bwMode="auto">
            <a:xfrm>
              <a:off x="3016" y="3427"/>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72"/>
            <p:cNvSpPr>
              <a:spLocks noChangeShapeType="1"/>
            </p:cNvSpPr>
            <p:nvPr/>
          </p:nvSpPr>
          <p:spPr bwMode="auto">
            <a:xfrm>
              <a:off x="3016" y="2883"/>
              <a:ext cx="0" cy="110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73"/>
            <p:cNvSpPr>
              <a:spLocks noChangeShapeType="1"/>
            </p:cNvSpPr>
            <p:nvPr/>
          </p:nvSpPr>
          <p:spPr bwMode="auto">
            <a:xfrm>
              <a:off x="3866" y="2883"/>
              <a:ext cx="0" cy="110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74"/>
            <p:cNvSpPr>
              <a:spLocks noChangeShapeType="1"/>
            </p:cNvSpPr>
            <p:nvPr/>
          </p:nvSpPr>
          <p:spPr bwMode="auto">
            <a:xfrm>
              <a:off x="3299" y="2883"/>
              <a:ext cx="0" cy="110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75"/>
            <p:cNvSpPr>
              <a:spLocks noChangeShapeType="1"/>
            </p:cNvSpPr>
            <p:nvPr/>
          </p:nvSpPr>
          <p:spPr bwMode="auto">
            <a:xfrm>
              <a:off x="3583" y="2883"/>
              <a:ext cx="0" cy="110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Text Box 76"/>
            <p:cNvSpPr txBox="1">
              <a:spLocks noChangeArrowheads="1"/>
            </p:cNvSpPr>
            <p:nvPr/>
          </p:nvSpPr>
          <p:spPr bwMode="auto">
            <a:xfrm>
              <a:off x="4286" y="3674"/>
              <a:ext cx="99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T</a:t>
              </a:r>
              <a:r>
                <a:rPr lang="zh-CN" altLang="en-US" sz="2400" b="0" dirty="0">
                  <a:latin typeface="+mj-lt"/>
                </a:rPr>
                <a:t>＝</a:t>
              </a:r>
              <a:r>
                <a:rPr lang="en-US" altLang="zh-CN" sz="2400" b="0" dirty="0">
                  <a:latin typeface="+mj-lt"/>
                </a:rPr>
                <a:t>A+B</a:t>
              </a:r>
              <a:endParaRPr lang="en-US" altLang="zh-CN" sz="2400" b="0" dirty="0">
                <a:latin typeface="+mj-lt"/>
              </a:endParaRPr>
            </a:p>
          </p:txBody>
        </p:sp>
        <p:sp>
          <p:nvSpPr>
            <p:cNvPr id="67" name="Text Box 77"/>
            <p:cNvSpPr txBox="1">
              <a:spLocks noChangeArrowheads="1"/>
            </p:cNvSpPr>
            <p:nvPr/>
          </p:nvSpPr>
          <p:spPr bwMode="auto">
            <a:xfrm>
              <a:off x="2200" y="3249"/>
              <a:ext cx="649"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真值表</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68" name="Text Box 78"/>
            <p:cNvSpPr txBox="1">
              <a:spLocks noChangeArrowheads="1"/>
            </p:cNvSpPr>
            <p:nvPr/>
          </p:nvSpPr>
          <p:spPr bwMode="auto">
            <a:xfrm>
              <a:off x="4286" y="2612"/>
              <a:ext cx="83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或门电路</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69" name="Text Box 79"/>
            <p:cNvSpPr txBox="1">
              <a:spLocks noChangeArrowheads="1"/>
            </p:cNvSpPr>
            <p:nvPr/>
          </p:nvSpPr>
          <p:spPr bwMode="auto">
            <a:xfrm>
              <a:off x="4286" y="3294"/>
              <a:ext cx="1005"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200" b="0" dirty="0">
                  <a:solidFill>
                    <a:srgbClr val="00B050"/>
                  </a:solidFill>
                  <a:latin typeface="黑体" panose="02010609060101010101" pitchFamily="49" charset="-122"/>
                  <a:ea typeface="黑体" panose="02010609060101010101" pitchFamily="49" charset="-122"/>
                </a:rPr>
                <a:t>逻辑表达式</a:t>
              </a:r>
              <a:endParaRPr lang="zh-CN" altLang="en-US" sz="2200" b="0" dirty="0">
                <a:solidFill>
                  <a:srgbClr val="00B050"/>
                </a:solidFill>
                <a:latin typeface="黑体" panose="02010609060101010101" pitchFamily="49" charset="-122"/>
                <a:ea typeface="黑体" panose="02010609060101010101" pitchFamily="49" charset="-122"/>
              </a:endParaRPr>
            </a:p>
          </p:txBody>
        </p:sp>
        <p:grpSp>
          <p:nvGrpSpPr>
            <p:cNvPr id="70" name="Group 85"/>
            <p:cNvGrpSpPr/>
            <p:nvPr/>
          </p:nvGrpSpPr>
          <p:grpSpPr bwMode="auto">
            <a:xfrm>
              <a:off x="703" y="3113"/>
              <a:ext cx="1281" cy="803"/>
              <a:chOff x="748" y="3158"/>
              <a:chExt cx="1281" cy="803"/>
            </a:xfrm>
          </p:grpSpPr>
          <p:sp>
            <p:nvSpPr>
              <p:cNvPr id="71" name="Text Box 86"/>
              <p:cNvSpPr txBox="1">
                <a:spLocks noChangeArrowheads="1"/>
              </p:cNvSpPr>
              <p:nvPr/>
            </p:nvSpPr>
            <p:spPr bwMode="auto">
              <a:xfrm>
                <a:off x="1106" y="3158"/>
                <a:ext cx="892" cy="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400" dirty="0">
                    <a:latin typeface="+mj-lt"/>
                  </a:rPr>
                  <a:t>01000101</a:t>
                </a:r>
                <a:endParaRPr lang="en-US" altLang="zh-CN" sz="2400" dirty="0">
                  <a:latin typeface="+mj-lt"/>
                </a:endParaRPr>
              </a:p>
              <a:p>
                <a:pPr algn="ctr" eaLnBrk="1" hangingPunct="1">
                  <a:spcBef>
                    <a:spcPct val="0"/>
                  </a:spcBef>
                  <a:buClrTx/>
                  <a:buFontTx/>
                  <a:buNone/>
                </a:pPr>
                <a:r>
                  <a:rPr lang="en-US" altLang="zh-CN" sz="2400" dirty="0">
                    <a:latin typeface="+mj-lt"/>
                  </a:rPr>
                  <a:t>00110001</a:t>
                </a:r>
                <a:endParaRPr lang="en-US" altLang="zh-CN" sz="2400" dirty="0">
                  <a:latin typeface="+mj-lt"/>
                </a:endParaRPr>
              </a:p>
              <a:p>
                <a:pPr algn="ctr" eaLnBrk="1" hangingPunct="1">
                  <a:buClrTx/>
                  <a:buFontTx/>
                  <a:buNone/>
                </a:pPr>
                <a:r>
                  <a:rPr lang="en-US" altLang="zh-CN" sz="2400" dirty="0">
                    <a:solidFill>
                      <a:srgbClr val="0000CC"/>
                    </a:solidFill>
                    <a:latin typeface="+mj-lt"/>
                  </a:rPr>
                  <a:t>01110101</a:t>
                </a:r>
                <a:endParaRPr lang="zh-CN" altLang="en-US" sz="1800" b="0" dirty="0">
                  <a:solidFill>
                    <a:srgbClr val="0000CC"/>
                  </a:solidFill>
                  <a:latin typeface="+mj-lt"/>
                </a:endParaRPr>
              </a:p>
            </p:txBody>
          </p:sp>
          <p:sp>
            <p:nvSpPr>
              <p:cNvPr id="72" name="Line 87"/>
              <p:cNvSpPr>
                <a:spLocks noChangeShapeType="1"/>
              </p:cNvSpPr>
              <p:nvPr/>
            </p:nvSpPr>
            <p:spPr bwMode="auto">
              <a:xfrm>
                <a:off x="748" y="3675"/>
                <a:ext cx="128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Text Box 88"/>
              <p:cNvSpPr txBox="1">
                <a:spLocks noChangeArrowheads="1"/>
              </p:cNvSpPr>
              <p:nvPr/>
            </p:nvSpPr>
            <p:spPr bwMode="auto">
              <a:xfrm>
                <a:off x="793" y="3321"/>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dirty="0">
                    <a:solidFill>
                      <a:schemeClr val="tx2"/>
                    </a:solidFill>
                    <a:latin typeface="+mj-lt"/>
                    <a:sym typeface="Symbol" panose="05050102010706020507" pitchFamily="18" charset="2"/>
                  </a:rPr>
                  <a:t></a:t>
                </a:r>
                <a:endParaRPr lang="zh-CN" altLang="en-US" dirty="0">
                  <a:solidFill>
                    <a:schemeClr val="tx2"/>
                  </a:solidFill>
                  <a:latin typeface="+mj-lt"/>
                  <a:sym typeface="Symbol" panose="05050102010706020507" pitchFamily="18" charset="2"/>
                </a:endParaRPr>
              </a:p>
            </p:txBody>
          </p:sp>
        </p:grpSp>
      </p:grpSp>
      <p:sp>
        <p:nvSpPr>
          <p:cNvPr id="85" name="Rectangle 59"/>
          <p:cNvSpPr>
            <a:spLocks noChangeArrowheads="1"/>
          </p:cNvSpPr>
          <p:nvPr/>
        </p:nvSpPr>
        <p:spPr bwMode="auto">
          <a:xfrm>
            <a:off x="5616129" y="4491459"/>
            <a:ext cx="44926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solidFill>
                  <a:srgbClr val="0000FF"/>
                </a:solidFill>
                <a:latin typeface="+mj-lt"/>
              </a:rPr>
              <a:t>T</a:t>
            </a:r>
            <a:endParaRPr lang="en-US" altLang="zh-CN" sz="2400" dirty="0">
              <a:solidFill>
                <a:srgbClr val="0000FF"/>
              </a:solidFill>
              <a:latin typeface="+mj-lt"/>
            </a:endParaRPr>
          </a:p>
        </p:txBody>
      </p:sp>
      <p:sp>
        <p:nvSpPr>
          <p:cNvPr id="86" name="Rectangle 60"/>
          <p:cNvSpPr>
            <a:spLocks noChangeArrowheads="1"/>
          </p:cNvSpPr>
          <p:nvPr/>
        </p:nvSpPr>
        <p:spPr bwMode="auto">
          <a:xfrm>
            <a:off x="5165279" y="4495651"/>
            <a:ext cx="4508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B</a:t>
            </a:r>
            <a:endParaRPr lang="en-US" altLang="zh-CN" sz="2400" dirty="0">
              <a:latin typeface="+mj-lt"/>
            </a:endParaRPr>
          </a:p>
        </p:txBody>
      </p:sp>
      <p:sp>
        <p:nvSpPr>
          <p:cNvPr id="87" name="Rectangle 61"/>
          <p:cNvSpPr>
            <a:spLocks noChangeArrowheads="1"/>
          </p:cNvSpPr>
          <p:nvPr/>
        </p:nvSpPr>
        <p:spPr bwMode="auto">
          <a:xfrm>
            <a:off x="4716016" y="4494544"/>
            <a:ext cx="449263" cy="470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A</a:t>
            </a:r>
            <a:endParaRPr lang="en-US" altLang="zh-CN" sz="2400" dirty="0">
              <a:latin typeface="+mj-lt"/>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逻辑非指令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NOT</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92696"/>
            <a:ext cx="8280920" cy="5268814"/>
          </a:xfrm>
          <a:prstGeom prst="rect">
            <a:avLst/>
          </a:prstGeom>
        </p:spPr>
        <p:txBody>
          <a:bodyPr/>
          <a:lstStyle/>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逻辑非（逻辑反）运算规则：</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原来为</a:t>
            </a:r>
            <a:r>
              <a:rPr lang="en-US" altLang="zh-CN" sz="2400" dirty="0">
                <a:solidFill>
                  <a:schemeClr val="tx1"/>
                </a:solidFill>
                <a:latin typeface="+mn-lt"/>
              </a:rPr>
              <a:t>0</a:t>
            </a:r>
            <a:r>
              <a:rPr lang="zh-CN" altLang="en-US" sz="2400" dirty="0">
                <a:solidFill>
                  <a:schemeClr val="tx1"/>
                </a:solidFill>
                <a:latin typeface="+mn-lt"/>
              </a:rPr>
              <a:t>的位变成</a:t>
            </a:r>
            <a:r>
              <a:rPr lang="en-US" altLang="zh-CN" sz="2400" dirty="0">
                <a:solidFill>
                  <a:schemeClr val="tx1"/>
                </a:solidFill>
                <a:latin typeface="+mn-lt"/>
              </a:rPr>
              <a:t>1</a:t>
            </a:r>
            <a:r>
              <a:rPr lang="zh-CN" altLang="en-US" sz="2400" dirty="0">
                <a:solidFill>
                  <a:schemeClr val="tx1"/>
                </a:solidFill>
                <a:latin typeface="+mn-lt"/>
              </a:rPr>
              <a:t>，原来为</a:t>
            </a:r>
            <a:r>
              <a:rPr lang="en-US" altLang="zh-CN" sz="2400" dirty="0">
                <a:solidFill>
                  <a:schemeClr val="tx1"/>
                </a:solidFill>
                <a:latin typeface="+mn-lt"/>
              </a:rPr>
              <a:t>1</a:t>
            </a:r>
            <a:r>
              <a:rPr lang="zh-CN" altLang="en-US" sz="2400" dirty="0">
                <a:solidFill>
                  <a:schemeClr val="tx1"/>
                </a:solidFill>
                <a:latin typeface="+mn-lt"/>
              </a:rPr>
              <a:t>的位变成</a:t>
            </a:r>
            <a:r>
              <a:rPr lang="en-US" altLang="zh-CN" sz="2400" dirty="0">
                <a:solidFill>
                  <a:schemeClr val="tx1"/>
                </a:solidFill>
                <a:latin typeface="+mn-lt"/>
              </a:rPr>
              <a:t>0</a:t>
            </a:r>
            <a:endParaRPr lang="en-US" altLang="zh-CN" sz="24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逻辑非指令</a:t>
            </a:r>
            <a:r>
              <a:rPr lang="en-US" altLang="zh-CN" sz="2800" dirty="0">
                <a:latin typeface="+mn-lt"/>
              </a:rPr>
              <a:t>NOT</a:t>
            </a:r>
            <a:r>
              <a:rPr lang="zh-CN" altLang="en-US" sz="2800" dirty="0">
                <a:latin typeface="+mn-lt"/>
              </a:rPr>
              <a:t>：</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按位进行逻辑非，结果返回操作数（不支持立即数）</a:t>
            </a:r>
            <a:endParaRPr lang="zh-CN" altLang="en-US" sz="2400" dirty="0">
              <a:solidFill>
                <a:schemeClr val="tx1"/>
              </a:solidFill>
              <a:latin typeface="+mn-lt"/>
            </a:endParaRPr>
          </a:p>
          <a:p>
            <a:pPr marL="914400" lvl="1" indent="-457200" algn="just">
              <a:lnSpc>
                <a:spcPct val="130000"/>
              </a:lnSpc>
              <a:spcBef>
                <a:spcPts val="200"/>
              </a:spcBef>
              <a:buClr>
                <a:srgbClr val="0000FF"/>
              </a:buClr>
              <a:buFont typeface="Wingdings" panose="05000000000000000000" pitchFamily="2" charset="2"/>
              <a:buChar char="ü"/>
            </a:pPr>
            <a:endParaRPr lang="en-US" altLang="zh-CN" sz="30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不影响状态标志位</a:t>
            </a:r>
            <a:endParaRPr lang="zh-CN" altLang="en-US" sz="2800" dirty="0">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9" name="Rectangle 3"/>
          <p:cNvSpPr>
            <a:spLocks noChangeArrowheads="1"/>
          </p:cNvSpPr>
          <p:nvPr/>
        </p:nvSpPr>
        <p:spPr bwMode="auto">
          <a:xfrm>
            <a:off x="1072183" y="2954908"/>
            <a:ext cx="7488832" cy="51752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NOT reg/mem		</a:t>
            </a:r>
            <a:r>
              <a:rPr lang="en-US" altLang="zh-CN" sz="2200" b="1" dirty="0">
                <a:solidFill>
                  <a:srgbClr val="FF0000"/>
                </a:solidFill>
                <a:latin typeface="+mj-lt"/>
                <a:ea typeface="黑体" panose="02010609060101010101" pitchFamily="49" charset="-122"/>
              </a:rPr>
              <a:t>;</a:t>
            </a:r>
            <a:r>
              <a:rPr lang="zh-CN" altLang="en-US" sz="2200" b="1" dirty="0">
                <a:solidFill>
                  <a:srgbClr val="FF0000"/>
                </a:solidFill>
                <a:latin typeface="+mj-lt"/>
                <a:ea typeface="黑体" panose="02010609060101010101" pitchFamily="49" charset="-122"/>
              </a:rPr>
              <a:t>逻辑非：</a:t>
            </a:r>
            <a:r>
              <a:rPr lang="en-US" altLang="zh-CN" sz="2200" b="1" dirty="0">
                <a:solidFill>
                  <a:srgbClr val="FF0000"/>
                </a:solidFill>
                <a:latin typeface="+mj-lt"/>
                <a:ea typeface="黑体" panose="02010609060101010101" pitchFamily="49" charset="-122"/>
              </a:rPr>
              <a:t>reg/mem←</a:t>
            </a:r>
            <a:r>
              <a:rPr lang="zh-CN" altLang="en-US" sz="2200" b="1" dirty="0">
                <a:solidFill>
                  <a:srgbClr val="FF0000"/>
                </a:solidFill>
                <a:latin typeface="+mj-lt"/>
                <a:ea typeface="黑体" panose="02010609060101010101" pitchFamily="49" charset="-122"/>
              </a:rPr>
              <a:t>～</a:t>
            </a:r>
            <a:r>
              <a:rPr lang="en-US" altLang="zh-CN" sz="2200" b="1" dirty="0">
                <a:solidFill>
                  <a:srgbClr val="FF0000"/>
                </a:solidFill>
                <a:latin typeface="+mj-lt"/>
                <a:ea typeface="黑体" panose="02010609060101010101" pitchFamily="49" charset="-122"/>
              </a:rPr>
              <a:t>reg/mem</a:t>
            </a:r>
            <a:endParaRPr lang="en-US" altLang="zh-CN" sz="2200" b="1" dirty="0">
              <a:solidFill>
                <a:srgbClr val="FF0000"/>
              </a:solidFill>
              <a:latin typeface="+mj-lt"/>
              <a:ea typeface="黑体" panose="02010609060101010101" pitchFamily="49" charset="-122"/>
            </a:endParaRPr>
          </a:p>
        </p:txBody>
      </p:sp>
      <p:grpSp>
        <p:nvGrpSpPr>
          <p:cNvPr id="3" name="Group 63"/>
          <p:cNvGrpSpPr/>
          <p:nvPr/>
        </p:nvGrpSpPr>
        <p:grpSpPr bwMode="auto">
          <a:xfrm>
            <a:off x="1115616" y="3933825"/>
            <a:ext cx="6859588" cy="2374900"/>
            <a:chOff x="774" y="2478"/>
            <a:chExt cx="4321" cy="1496"/>
          </a:xfrm>
        </p:grpSpPr>
        <p:grpSp>
          <p:nvGrpSpPr>
            <p:cNvPr id="4" name="Group 23"/>
            <p:cNvGrpSpPr/>
            <p:nvPr/>
          </p:nvGrpSpPr>
          <p:grpSpPr bwMode="auto">
            <a:xfrm>
              <a:off x="3744" y="2880"/>
              <a:ext cx="1351" cy="340"/>
              <a:chOff x="3087" y="3152"/>
              <a:chExt cx="1351" cy="340"/>
            </a:xfrm>
          </p:grpSpPr>
          <p:sp>
            <p:nvSpPr>
              <p:cNvPr id="32" name="Line 24"/>
              <p:cNvSpPr>
                <a:spLocks noChangeShapeType="1"/>
              </p:cNvSpPr>
              <p:nvPr/>
            </p:nvSpPr>
            <p:spPr bwMode="auto">
              <a:xfrm>
                <a:off x="3968" y="3324"/>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5"/>
              <p:cNvSpPr>
                <a:spLocks noChangeShapeType="1"/>
              </p:cNvSpPr>
              <p:nvPr/>
            </p:nvSpPr>
            <p:spPr bwMode="auto">
              <a:xfrm>
                <a:off x="3361" y="3322"/>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26"/>
              <p:cNvSpPr>
                <a:spLocks noChangeShapeType="1"/>
              </p:cNvSpPr>
              <p:nvPr/>
            </p:nvSpPr>
            <p:spPr bwMode="auto">
              <a:xfrm rot="-5400000">
                <a:off x="3456" y="3322"/>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27"/>
              <p:cNvSpPr txBox="1">
                <a:spLocks noChangeArrowheads="1"/>
              </p:cNvSpPr>
              <p:nvPr/>
            </p:nvSpPr>
            <p:spPr bwMode="auto">
              <a:xfrm>
                <a:off x="4204" y="3169"/>
                <a:ext cx="2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400" b="0" dirty="0">
                    <a:solidFill>
                      <a:srgbClr val="0000FF"/>
                    </a:solidFill>
                    <a:latin typeface="+mj-lt"/>
                  </a:rPr>
                  <a:t>T</a:t>
                </a:r>
                <a:endParaRPr lang="en-US" altLang="zh-CN" sz="2400" b="0" dirty="0">
                  <a:solidFill>
                    <a:srgbClr val="0000FF"/>
                  </a:solidFill>
                  <a:latin typeface="+mj-lt"/>
                </a:endParaRPr>
              </a:p>
            </p:txBody>
          </p:sp>
          <p:sp>
            <p:nvSpPr>
              <p:cNvPr id="36" name="Text Box 28"/>
              <p:cNvSpPr txBox="1">
                <a:spLocks noChangeArrowheads="1"/>
              </p:cNvSpPr>
              <p:nvPr/>
            </p:nvSpPr>
            <p:spPr bwMode="auto">
              <a:xfrm>
                <a:off x="3087" y="3199"/>
                <a:ext cx="257"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A</a:t>
                </a:r>
                <a:endParaRPr lang="en-US" altLang="zh-CN" sz="2400" b="0" dirty="0">
                  <a:latin typeface="+mj-lt"/>
                </a:endParaRPr>
              </a:p>
            </p:txBody>
          </p:sp>
          <p:sp>
            <p:nvSpPr>
              <p:cNvPr id="37" name="Line 29"/>
              <p:cNvSpPr>
                <a:spLocks noChangeShapeType="1"/>
              </p:cNvSpPr>
              <p:nvPr/>
            </p:nvSpPr>
            <p:spPr bwMode="auto">
              <a:xfrm rot="5400000" flipH="1">
                <a:off x="3669" y="3109"/>
                <a:ext cx="170" cy="25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30"/>
              <p:cNvSpPr>
                <a:spLocks noChangeShapeType="1"/>
              </p:cNvSpPr>
              <p:nvPr/>
            </p:nvSpPr>
            <p:spPr bwMode="auto">
              <a:xfrm rot="-5400000" flipH="1" flipV="1">
                <a:off x="3669" y="3279"/>
                <a:ext cx="170" cy="25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Oval 31"/>
              <p:cNvSpPr>
                <a:spLocks noChangeArrowheads="1"/>
              </p:cNvSpPr>
              <p:nvPr/>
            </p:nvSpPr>
            <p:spPr bwMode="auto">
              <a:xfrm>
                <a:off x="3874" y="3275"/>
                <a:ext cx="86" cy="86"/>
              </a:xfrm>
              <a:prstGeom prst="ellipse">
                <a:avLst/>
              </a:prstGeom>
              <a:solidFill>
                <a:schemeClr val="bg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2400" b="0">
                  <a:latin typeface="Arial" panose="020B0604020202020204" pitchFamily="34" charset="0"/>
                </a:endParaRPr>
              </a:p>
            </p:txBody>
          </p:sp>
        </p:grpSp>
        <p:sp>
          <p:nvSpPr>
            <p:cNvPr id="7" name="Text Box 33"/>
            <p:cNvSpPr txBox="1">
              <a:spLocks noChangeArrowheads="1"/>
            </p:cNvSpPr>
            <p:nvPr/>
          </p:nvSpPr>
          <p:spPr bwMode="auto">
            <a:xfrm>
              <a:off x="2160" y="3203"/>
              <a:ext cx="649"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200" b="0" dirty="0">
                  <a:solidFill>
                    <a:srgbClr val="00B050"/>
                  </a:solidFill>
                  <a:latin typeface="黑体" panose="02010609060101010101" pitchFamily="49" charset="-122"/>
                  <a:ea typeface="黑体" panose="02010609060101010101" pitchFamily="49" charset="-122"/>
                </a:rPr>
                <a:t>真值表</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10" name="Text Box 34"/>
            <p:cNvSpPr txBox="1">
              <a:spLocks noChangeArrowheads="1"/>
            </p:cNvSpPr>
            <p:nvPr/>
          </p:nvSpPr>
          <p:spPr bwMode="auto">
            <a:xfrm>
              <a:off x="4046" y="2478"/>
              <a:ext cx="83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非门电路</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11" name="Text Box 35"/>
            <p:cNvSpPr txBox="1">
              <a:spLocks noChangeArrowheads="1"/>
            </p:cNvSpPr>
            <p:nvPr/>
          </p:nvSpPr>
          <p:spPr bwMode="auto">
            <a:xfrm>
              <a:off x="4046" y="3294"/>
              <a:ext cx="1005"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200" b="0" dirty="0">
                  <a:solidFill>
                    <a:srgbClr val="00B050"/>
                  </a:solidFill>
                  <a:latin typeface="黑体" panose="02010609060101010101" pitchFamily="49" charset="-122"/>
                  <a:ea typeface="黑体" panose="02010609060101010101" pitchFamily="49" charset="-122"/>
                </a:rPr>
                <a:t>逻辑表达式</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12" name="Rectangle 41"/>
            <p:cNvSpPr>
              <a:spLocks noChangeArrowheads="1"/>
            </p:cNvSpPr>
            <p:nvPr/>
          </p:nvSpPr>
          <p:spPr bwMode="auto">
            <a:xfrm>
              <a:off x="3294" y="3402"/>
              <a:ext cx="29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14" name="Rectangle 42"/>
            <p:cNvSpPr>
              <a:spLocks noChangeArrowheads="1"/>
            </p:cNvSpPr>
            <p:nvPr/>
          </p:nvSpPr>
          <p:spPr bwMode="auto">
            <a:xfrm>
              <a:off x="3022" y="3402"/>
              <a:ext cx="272"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5" name="Rectangle 43"/>
            <p:cNvSpPr>
              <a:spLocks noChangeArrowheads="1"/>
            </p:cNvSpPr>
            <p:nvPr/>
          </p:nvSpPr>
          <p:spPr bwMode="auto">
            <a:xfrm>
              <a:off x="3294" y="3076"/>
              <a:ext cx="29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16" name="Rectangle 44"/>
            <p:cNvSpPr>
              <a:spLocks noChangeArrowheads="1"/>
            </p:cNvSpPr>
            <p:nvPr/>
          </p:nvSpPr>
          <p:spPr bwMode="auto">
            <a:xfrm>
              <a:off x="3022" y="3076"/>
              <a:ext cx="272"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17" name="Rectangle 45"/>
            <p:cNvSpPr>
              <a:spLocks noChangeArrowheads="1"/>
            </p:cNvSpPr>
            <p:nvPr/>
          </p:nvSpPr>
          <p:spPr bwMode="auto">
            <a:xfrm>
              <a:off x="3294" y="2750"/>
              <a:ext cx="29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solidFill>
                    <a:srgbClr val="0000FF"/>
                  </a:solidFill>
                  <a:latin typeface="+mj-lt"/>
                </a:rPr>
                <a:t>T</a:t>
              </a:r>
              <a:endParaRPr lang="en-US" altLang="zh-CN" sz="2400" dirty="0">
                <a:solidFill>
                  <a:srgbClr val="0000FF"/>
                </a:solidFill>
                <a:latin typeface="+mj-lt"/>
              </a:endParaRPr>
            </a:p>
          </p:txBody>
        </p:sp>
        <p:sp>
          <p:nvSpPr>
            <p:cNvPr id="18" name="Rectangle 46"/>
            <p:cNvSpPr>
              <a:spLocks noChangeArrowheads="1"/>
            </p:cNvSpPr>
            <p:nvPr/>
          </p:nvSpPr>
          <p:spPr bwMode="auto">
            <a:xfrm>
              <a:off x="3022" y="2750"/>
              <a:ext cx="272"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A</a:t>
              </a:r>
              <a:endParaRPr lang="en-US" altLang="zh-CN" sz="2400" dirty="0">
                <a:latin typeface="+mj-lt"/>
              </a:endParaRPr>
            </a:p>
          </p:txBody>
        </p:sp>
        <p:sp>
          <p:nvSpPr>
            <p:cNvPr id="19" name="Line 47"/>
            <p:cNvSpPr>
              <a:spLocks noChangeShapeType="1"/>
            </p:cNvSpPr>
            <p:nvPr/>
          </p:nvSpPr>
          <p:spPr bwMode="auto">
            <a:xfrm>
              <a:off x="3022" y="3076"/>
              <a:ext cx="56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48"/>
            <p:cNvSpPr>
              <a:spLocks noChangeShapeType="1"/>
            </p:cNvSpPr>
            <p:nvPr/>
          </p:nvSpPr>
          <p:spPr bwMode="auto">
            <a:xfrm>
              <a:off x="3022" y="3402"/>
              <a:ext cx="5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49"/>
            <p:cNvSpPr>
              <a:spLocks noChangeShapeType="1"/>
            </p:cNvSpPr>
            <p:nvPr/>
          </p:nvSpPr>
          <p:spPr bwMode="auto">
            <a:xfrm>
              <a:off x="3022" y="3728"/>
              <a:ext cx="56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50"/>
            <p:cNvSpPr>
              <a:spLocks noChangeShapeType="1"/>
            </p:cNvSpPr>
            <p:nvPr/>
          </p:nvSpPr>
          <p:spPr bwMode="auto">
            <a:xfrm>
              <a:off x="3022" y="3076"/>
              <a:ext cx="0" cy="65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51"/>
            <p:cNvSpPr>
              <a:spLocks noChangeShapeType="1"/>
            </p:cNvSpPr>
            <p:nvPr/>
          </p:nvSpPr>
          <p:spPr bwMode="auto">
            <a:xfrm>
              <a:off x="3588" y="3076"/>
              <a:ext cx="0" cy="65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52"/>
            <p:cNvSpPr>
              <a:spLocks noChangeShapeType="1"/>
            </p:cNvSpPr>
            <p:nvPr/>
          </p:nvSpPr>
          <p:spPr bwMode="auto">
            <a:xfrm>
              <a:off x="3294" y="3076"/>
              <a:ext cx="0" cy="6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 name="Group 53"/>
            <p:cNvGrpSpPr/>
            <p:nvPr/>
          </p:nvGrpSpPr>
          <p:grpSpPr bwMode="auto">
            <a:xfrm>
              <a:off x="4272" y="3674"/>
              <a:ext cx="681" cy="300"/>
              <a:chOff x="4512" y="3674"/>
              <a:chExt cx="681" cy="300"/>
            </a:xfrm>
          </p:grpSpPr>
          <p:sp>
            <p:nvSpPr>
              <p:cNvPr id="30" name="Text Box 54"/>
              <p:cNvSpPr txBox="1">
                <a:spLocks noChangeArrowheads="1"/>
              </p:cNvSpPr>
              <p:nvPr/>
            </p:nvSpPr>
            <p:spPr bwMode="auto">
              <a:xfrm>
                <a:off x="4512" y="3674"/>
                <a:ext cx="68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800" b="0" dirty="0">
                    <a:latin typeface="+mj-lt"/>
                  </a:rPr>
                  <a:t>T</a:t>
                </a:r>
                <a:r>
                  <a:rPr lang="zh-CN" altLang="en-US" sz="2800" b="0" dirty="0">
                    <a:latin typeface="+mj-lt"/>
                  </a:rPr>
                  <a:t>＝</a:t>
                </a:r>
                <a:r>
                  <a:rPr lang="en-US" altLang="zh-CN" sz="2800" b="0" dirty="0">
                    <a:latin typeface="+mj-lt"/>
                  </a:rPr>
                  <a:t>A</a:t>
                </a:r>
                <a:endParaRPr lang="en-US" altLang="zh-CN" sz="2800" b="0" dirty="0">
                  <a:latin typeface="+mj-lt"/>
                </a:endParaRPr>
              </a:p>
            </p:txBody>
          </p:sp>
          <p:sp>
            <p:nvSpPr>
              <p:cNvPr id="31" name="Line 55"/>
              <p:cNvSpPr>
                <a:spLocks noChangeShapeType="1"/>
              </p:cNvSpPr>
              <p:nvPr/>
            </p:nvSpPr>
            <p:spPr bwMode="auto">
              <a:xfrm>
                <a:off x="4936" y="3730"/>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 name="Group 56"/>
            <p:cNvGrpSpPr/>
            <p:nvPr/>
          </p:nvGrpSpPr>
          <p:grpSpPr bwMode="auto">
            <a:xfrm>
              <a:off x="774" y="3113"/>
              <a:ext cx="1281" cy="578"/>
              <a:chOff x="703" y="3330"/>
              <a:chExt cx="1281" cy="578"/>
            </a:xfrm>
          </p:grpSpPr>
          <p:sp>
            <p:nvSpPr>
              <p:cNvPr id="27" name="Text Box 57"/>
              <p:cNvSpPr txBox="1">
                <a:spLocks noChangeArrowheads="1"/>
              </p:cNvSpPr>
              <p:nvPr/>
            </p:nvSpPr>
            <p:spPr bwMode="auto">
              <a:xfrm>
                <a:off x="1061" y="3338"/>
                <a:ext cx="892" cy="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400" dirty="0">
                    <a:latin typeface="+mj-lt"/>
                  </a:rPr>
                  <a:t>01000101</a:t>
                </a:r>
                <a:endParaRPr lang="en-US" altLang="zh-CN" sz="2400" dirty="0">
                  <a:latin typeface="+mj-lt"/>
                </a:endParaRPr>
              </a:p>
              <a:p>
                <a:pPr algn="ctr" eaLnBrk="1" hangingPunct="1">
                  <a:buClrTx/>
                  <a:buFontTx/>
                  <a:buNone/>
                </a:pPr>
                <a:r>
                  <a:rPr lang="en-US" altLang="zh-CN" sz="2400" dirty="0">
                    <a:solidFill>
                      <a:srgbClr val="0000CC"/>
                    </a:solidFill>
                    <a:latin typeface="+mj-lt"/>
                  </a:rPr>
                  <a:t>10111010</a:t>
                </a:r>
                <a:endParaRPr lang="zh-CN" altLang="en-US" sz="1800" b="0" dirty="0">
                  <a:solidFill>
                    <a:srgbClr val="0000CC"/>
                  </a:solidFill>
                  <a:latin typeface="+mj-lt"/>
                </a:endParaRPr>
              </a:p>
            </p:txBody>
          </p:sp>
          <p:sp>
            <p:nvSpPr>
              <p:cNvPr id="28" name="Line 58"/>
              <p:cNvSpPr>
                <a:spLocks noChangeShapeType="1"/>
              </p:cNvSpPr>
              <p:nvPr/>
            </p:nvSpPr>
            <p:spPr bwMode="auto">
              <a:xfrm>
                <a:off x="703" y="3630"/>
                <a:ext cx="128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Text Box 59"/>
              <p:cNvSpPr txBox="1">
                <a:spLocks noChangeArrowheads="1"/>
              </p:cNvSpPr>
              <p:nvPr/>
            </p:nvSpPr>
            <p:spPr bwMode="auto">
              <a:xfrm>
                <a:off x="748" y="3330"/>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400" dirty="0">
                    <a:solidFill>
                      <a:srgbClr val="660066"/>
                    </a:solidFill>
                    <a:latin typeface="+mj-lt"/>
                  </a:rPr>
                  <a:t>～</a:t>
                </a:r>
                <a:endParaRPr lang="zh-CN" altLang="en-US" sz="2400" dirty="0">
                  <a:solidFill>
                    <a:srgbClr val="660066"/>
                  </a:solidFill>
                  <a:latin typeface="+mj-lt"/>
                </a:endParaRPr>
              </a:p>
            </p:txBody>
          </p:sp>
        </p:gr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a:ln>
                  <a:noFill/>
                </a:ln>
                <a:solidFill>
                  <a:srgbClr val="000000"/>
                </a:solidFill>
                <a:effectLst/>
                <a:uLnTx/>
                <a:uFillTx/>
                <a:latin typeface="黑体" panose="02010609060101010101" pitchFamily="49" charset="-122"/>
                <a:cs typeface="+mj-cs"/>
              </a:rPr>
              <a:t>4.</a:t>
            </a:r>
            <a:r>
              <a:rPr kumimoji="1" lang="zh-CN" altLang="en-US" b="0" i="0" u="none" strike="noStrike" kern="0" cap="none" spc="0" normalizeH="0" baseline="0" noProof="0">
                <a:ln>
                  <a:noFill/>
                </a:ln>
                <a:solidFill>
                  <a:srgbClr val="000000"/>
                </a:solidFill>
                <a:effectLst/>
                <a:uLnTx/>
                <a:uFillTx/>
                <a:latin typeface="黑体" panose="02010609060101010101" pitchFamily="49" charset="-122"/>
                <a:cs typeface="+mj-cs"/>
              </a:rPr>
              <a:t>逻辑</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异或指令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XOR</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92696"/>
            <a:ext cx="8064896" cy="5268814"/>
          </a:xfrm>
          <a:prstGeom prst="rect">
            <a:avLst/>
          </a:prstGeom>
        </p:spPr>
        <p:txBody>
          <a:bodyPr/>
          <a:lstStyle/>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逻辑异或（逻辑半加）运算规则：</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两位不同</a:t>
            </a:r>
            <a:r>
              <a:rPr lang="en-US" altLang="zh-CN" sz="2400" dirty="0">
                <a:solidFill>
                  <a:schemeClr val="tx1"/>
                </a:solidFill>
                <a:latin typeface="+mn-lt"/>
              </a:rPr>
              <a:t>(</a:t>
            </a:r>
            <a:r>
              <a:rPr lang="zh-CN" altLang="en-US" sz="2400" dirty="0">
                <a:solidFill>
                  <a:schemeClr val="tx1"/>
                </a:solidFill>
                <a:latin typeface="+mn-lt"/>
              </a:rPr>
              <a:t>相异</a:t>
            </a:r>
            <a:r>
              <a:rPr lang="en-US" altLang="zh-CN" sz="2400" dirty="0">
                <a:solidFill>
                  <a:schemeClr val="tx1"/>
                </a:solidFill>
                <a:latin typeface="+mn-lt"/>
              </a:rPr>
              <a:t>)</a:t>
            </a:r>
            <a:r>
              <a:rPr lang="zh-CN" altLang="en-US" sz="2400" dirty="0">
                <a:solidFill>
                  <a:schemeClr val="tx1"/>
                </a:solidFill>
                <a:latin typeface="+mn-lt"/>
              </a:rPr>
              <a:t>，则结果是</a:t>
            </a:r>
            <a:r>
              <a:rPr lang="en-US" altLang="zh-CN" sz="2400" dirty="0">
                <a:solidFill>
                  <a:schemeClr val="tx1"/>
                </a:solidFill>
                <a:latin typeface="+mn-lt"/>
              </a:rPr>
              <a:t>1</a:t>
            </a:r>
            <a:r>
              <a:rPr lang="zh-CN" altLang="en-US" sz="2400" dirty="0">
                <a:solidFill>
                  <a:schemeClr val="tx1"/>
                </a:solidFill>
                <a:latin typeface="+mn-lt"/>
              </a:rPr>
              <a:t>；否则，结果是</a:t>
            </a:r>
            <a:r>
              <a:rPr lang="en-US" altLang="zh-CN" sz="2400" dirty="0">
                <a:solidFill>
                  <a:schemeClr val="tx1"/>
                </a:solidFill>
                <a:latin typeface="+mn-lt"/>
              </a:rPr>
              <a:t>0</a:t>
            </a:r>
            <a:endParaRPr lang="en-US" altLang="zh-CN" sz="24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逻辑异或指令</a:t>
            </a:r>
            <a:r>
              <a:rPr lang="en-US" altLang="zh-CN" sz="2800" dirty="0">
                <a:latin typeface="+mn-lt"/>
              </a:rPr>
              <a:t>XOR</a:t>
            </a:r>
            <a:r>
              <a:rPr lang="zh-CN" altLang="en-US" sz="2800" dirty="0">
                <a:latin typeface="+mn-lt"/>
              </a:rPr>
              <a:t>：</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按位进行逻辑异或，结果返回目的操作数</a:t>
            </a:r>
            <a:endParaRPr lang="zh-CN" altLang="en-US" sz="2400" dirty="0">
              <a:solidFill>
                <a:schemeClr val="tx1"/>
              </a:solidFill>
              <a:latin typeface="+mn-lt"/>
            </a:endParaRPr>
          </a:p>
          <a:p>
            <a:pPr marL="914400" lvl="1" indent="-457200" algn="just">
              <a:lnSpc>
                <a:spcPct val="130000"/>
              </a:lnSpc>
              <a:spcBef>
                <a:spcPts val="200"/>
              </a:spcBef>
              <a:buClr>
                <a:srgbClr val="0000FF"/>
              </a:buClr>
              <a:buFont typeface="Wingdings" panose="05000000000000000000" pitchFamily="2" charset="2"/>
              <a:buChar char="ü"/>
            </a:pPr>
            <a:endParaRPr lang="en-US" altLang="zh-CN" sz="3000" dirty="0">
              <a:solidFill>
                <a:schemeClr val="tx1"/>
              </a:solidFill>
              <a:latin typeface="+mn-lt"/>
            </a:endParaRPr>
          </a:p>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对状态标志的影响：</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设置</a:t>
            </a:r>
            <a:r>
              <a:rPr lang="en-US" altLang="zh-CN" sz="2400" dirty="0">
                <a:solidFill>
                  <a:schemeClr val="tx1"/>
                </a:solidFill>
                <a:latin typeface="+mn-lt"/>
              </a:rPr>
              <a:t>CF</a:t>
            </a:r>
            <a:r>
              <a:rPr lang="zh-CN" altLang="en-US" sz="2400" dirty="0">
                <a:solidFill>
                  <a:schemeClr val="tx1"/>
                </a:solidFill>
                <a:latin typeface="+mn-lt"/>
              </a:rPr>
              <a:t>＝</a:t>
            </a:r>
            <a:r>
              <a:rPr lang="en-US" altLang="zh-CN" sz="2400" dirty="0">
                <a:solidFill>
                  <a:schemeClr val="tx1"/>
                </a:solidFill>
                <a:latin typeface="+mn-lt"/>
              </a:rPr>
              <a:t>OF</a:t>
            </a:r>
            <a:r>
              <a:rPr lang="zh-CN" altLang="en-US" sz="2400" dirty="0">
                <a:solidFill>
                  <a:schemeClr val="tx1"/>
                </a:solidFill>
                <a:latin typeface="+mn-lt"/>
              </a:rPr>
              <a:t>＝</a:t>
            </a:r>
            <a:r>
              <a:rPr lang="en-US" altLang="zh-CN" sz="2400" dirty="0">
                <a:solidFill>
                  <a:schemeClr val="tx1"/>
                </a:solidFill>
                <a:latin typeface="+mn-lt"/>
              </a:rPr>
              <a:t>0</a:t>
            </a:r>
            <a:r>
              <a:rPr lang="zh-CN" altLang="en-US" sz="2400" dirty="0">
                <a:solidFill>
                  <a:schemeClr val="tx1"/>
                </a:solidFill>
                <a:latin typeface="+mn-lt"/>
              </a:rPr>
              <a:t>，根据结果影响</a:t>
            </a:r>
            <a:r>
              <a:rPr lang="en-US" altLang="zh-CN" sz="2400" dirty="0">
                <a:solidFill>
                  <a:schemeClr val="tx1"/>
                </a:solidFill>
                <a:latin typeface="+mn-lt"/>
              </a:rPr>
              <a:t>SF</a:t>
            </a:r>
            <a:r>
              <a:rPr lang="zh-CN" altLang="en-US" sz="2400" dirty="0">
                <a:solidFill>
                  <a:schemeClr val="tx1"/>
                </a:solidFill>
                <a:latin typeface="+mn-lt"/>
              </a:rPr>
              <a:t>，</a:t>
            </a:r>
            <a:r>
              <a:rPr lang="en-US" altLang="zh-CN" sz="2400" dirty="0">
                <a:solidFill>
                  <a:schemeClr val="tx1"/>
                </a:solidFill>
                <a:latin typeface="+mn-lt"/>
              </a:rPr>
              <a:t>ZF</a:t>
            </a:r>
            <a:r>
              <a:rPr lang="zh-CN" altLang="en-US" sz="2400" dirty="0">
                <a:solidFill>
                  <a:schemeClr val="tx1"/>
                </a:solidFill>
                <a:latin typeface="+mn-lt"/>
              </a:rPr>
              <a:t>和</a:t>
            </a:r>
            <a:r>
              <a:rPr lang="en-US" altLang="zh-CN" sz="2400" dirty="0">
                <a:solidFill>
                  <a:schemeClr val="tx1"/>
                </a:solidFill>
                <a:latin typeface="+mn-lt"/>
              </a:rPr>
              <a:t>PF</a:t>
            </a:r>
            <a:endParaRPr lang="en-US" altLang="zh-CN" sz="2400" dirty="0">
              <a:solidFill>
                <a:schemeClr val="tx1"/>
              </a:solidFill>
              <a:latin typeface="+mn-lt"/>
            </a:endParaRPr>
          </a:p>
          <a:p>
            <a:pPr marL="457200" indent="-457200" algn="just">
              <a:lnSpc>
                <a:spcPct val="130000"/>
              </a:lnSpc>
              <a:spcBef>
                <a:spcPts val="300"/>
              </a:spcBef>
              <a:buClr>
                <a:srgbClr val="0000FF"/>
              </a:buClr>
              <a:buSzPct val="100000"/>
              <a:buFont typeface="Wingdings" panose="05000000000000000000" pitchFamily="2" charset="2"/>
              <a:buChar char="Ø"/>
              <a:defRPr/>
            </a:pPr>
            <a:endParaRPr lang="zh-CN" altLang="en-US" sz="2800" dirty="0">
              <a:latin typeface="+mn-lt"/>
            </a:endParaRPr>
          </a:p>
        </p:txBody>
      </p:sp>
      <p:sp>
        <p:nvSpPr>
          <p:cNvPr id="9" name="Rectangle 3"/>
          <p:cNvSpPr>
            <a:spLocks noChangeArrowheads="1"/>
          </p:cNvSpPr>
          <p:nvPr/>
        </p:nvSpPr>
        <p:spPr bwMode="auto">
          <a:xfrm>
            <a:off x="1072183" y="2954908"/>
            <a:ext cx="7488832" cy="517525"/>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600"/>
              </a:spcBef>
              <a:buClr>
                <a:srgbClr val="0000FF"/>
              </a:buClr>
              <a:buSzPct val="100000"/>
              <a:buNone/>
              <a:defRPr/>
            </a:pPr>
            <a:r>
              <a:rPr lang="en-US" altLang="zh-CN" sz="2200" b="1" dirty="0">
                <a:solidFill>
                  <a:srgbClr val="00B050"/>
                </a:solidFill>
                <a:latin typeface="+mj-lt"/>
                <a:ea typeface="黑体" panose="02010609060101010101" pitchFamily="49" charset="-122"/>
              </a:rPr>
              <a:t>XOR </a:t>
            </a:r>
            <a:r>
              <a:rPr lang="en-US" altLang="zh-CN" sz="2200" b="1" dirty="0" err="1">
                <a:solidFill>
                  <a:srgbClr val="00B050"/>
                </a:solidFill>
                <a:latin typeface="+mj-lt"/>
                <a:ea typeface="黑体" panose="02010609060101010101" pitchFamily="49" charset="-122"/>
              </a:rPr>
              <a:t>dest,src</a:t>
            </a:r>
            <a:r>
              <a:rPr lang="en-US" altLang="zh-CN" sz="2200" b="1" dirty="0">
                <a:solidFill>
                  <a:srgbClr val="00B050"/>
                </a:solidFill>
                <a:latin typeface="+mj-lt"/>
                <a:ea typeface="黑体" panose="02010609060101010101" pitchFamily="49" charset="-122"/>
              </a:rPr>
              <a:t>		</a:t>
            </a:r>
            <a:r>
              <a:rPr lang="en-US" altLang="zh-CN" sz="2200" b="1" dirty="0">
                <a:solidFill>
                  <a:srgbClr val="FF0000"/>
                </a:solidFill>
                <a:latin typeface="+mj-lt"/>
                <a:ea typeface="黑体" panose="02010609060101010101" pitchFamily="49" charset="-122"/>
              </a:rPr>
              <a:t>;</a:t>
            </a:r>
            <a:r>
              <a:rPr lang="zh-CN" altLang="en-US" sz="2200" b="1" dirty="0">
                <a:solidFill>
                  <a:srgbClr val="FF0000"/>
                </a:solidFill>
                <a:latin typeface="+mj-lt"/>
                <a:ea typeface="黑体" panose="02010609060101010101" pitchFamily="49" charset="-122"/>
              </a:rPr>
              <a:t>逻辑或：</a:t>
            </a:r>
            <a:r>
              <a:rPr lang="en-US" altLang="zh-CN" sz="2200" b="1" dirty="0" err="1">
                <a:solidFill>
                  <a:srgbClr val="FF0000"/>
                </a:solidFill>
                <a:latin typeface="+mj-lt"/>
                <a:ea typeface="黑体" panose="02010609060101010101" pitchFamily="49" charset="-122"/>
              </a:rPr>
              <a:t>dest←dest</a:t>
            </a:r>
            <a:r>
              <a:rPr lang="en-US" altLang="zh-CN" sz="2200" b="1" dirty="0">
                <a:solidFill>
                  <a:srgbClr val="FF0000"/>
                </a:solidFill>
                <a:latin typeface="+mj-lt"/>
                <a:ea typeface="黑体" panose="02010609060101010101" pitchFamily="49" charset="-122"/>
              </a:rPr>
              <a:t> </a:t>
            </a:r>
            <a:r>
              <a:rPr lang="en-US" altLang="zh-CN" sz="2200" b="1" dirty="0">
                <a:solidFill>
                  <a:srgbClr val="FF0000"/>
                </a:solidFill>
                <a:latin typeface="+mj-lt"/>
                <a:ea typeface="黑体" panose="02010609060101010101" pitchFamily="49" charset="-122"/>
                <a:sym typeface="Symbol" panose="05050102010706020507" pitchFamily="18" charset="2"/>
              </a:rPr>
              <a:t></a:t>
            </a:r>
            <a:r>
              <a:rPr lang="en-US" altLang="zh-CN" sz="2200" b="1" dirty="0">
                <a:solidFill>
                  <a:srgbClr val="FF0000"/>
                </a:solidFill>
                <a:latin typeface="+mj-lt"/>
                <a:ea typeface="黑体" panose="02010609060101010101" pitchFamily="49" charset="-122"/>
              </a:rPr>
              <a:t> </a:t>
            </a:r>
            <a:r>
              <a:rPr lang="en-US" altLang="zh-CN" sz="2200" b="1" dirty="0" err="1">
                <a:solidFill>
                  <a:srgbClr val="FF0000"/>
                </a:solidFill>
                <a:latin typeface="+mj-lt"/>
                <a:ea typeface="黑体" panose="02010609060101010101" pitchFamily="49" charset="-122"/>
              </a:rPr>
              <a:t>src</a:t>
            </a:r>
            <a:endParaRPr lang="en-US" altLang="zh-CN" sz="2200" b="1" dirty="0">
              <a:solidFill>
                <a:srgbClr val="FF0000"/>
              </a:solidFill>
              <a:latin typeface="+mj-lt"/>
              <a:ea typeface="黑体" panose="02010609060101010101" pitchFamily="49" charset="-122"/>
            </a:endParaRPr>
          </a:p>
        </p:txBody>
      </p:sp>
      <p:grpSp>
        <p:nvGrpSpPr>
          <p:cNvPr id="3" name="Group 89"/>
          <p:cNvGrpSpPr/>
          <p:nvPr/>
        </p:nvGrpSpPr>
        <p:grpSpPr bwMode="auto">
          <a:xfrm>
            <a:off x="1043608" y="4535447"/>
            <a:ext cx="7283450" cy="2046673"/>
            <a:chOff x="703" y="2647"/>
            <a:chExt cx="4588" cy="1370"/>
          </a:xfrm>
        </p:grpSpPr>
        <p:sp>
          <p:nvSpPr>
            <p:cNvPr id="7" name="Rectangle 47"/>
            <p:cNvSpPr>
              <a:spLocks noChangeArrowheads="1"/>
            </p:cNvSpPr>
            <p:nvPr/>
          </p:nvSpPr>
          <p:spPr bwMode="auto">
            <a:xfrm>
              <a:off x="3583" y="3123"/>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10" name="Rectangle 48"/>
            <p:cNvSpPr>
              <a:spLocks noChangeArrowheads="1"/>
            </p:cNvSpPr>
            <p:nvPr/>
          </p:nvSpPr>
          <p:spPr bwMode="auto">
            <a:xfrm>
              <a:off x="3299" y="3123"/>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1" name="Rectangle 49"/>
            <p:cNvSpPr>
              <a:spLocks noChangeArrowheads="1"/>
            </p:cNvSpPr>
            <p:nvPr/>
          </p:nvSpPr>
          <p:spPr bwMode="auto">
            <a:xfrm>
              <a:off x="3016" y="3123"/>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a:t>
              </a:r>
              <a:endParaRPr lang="en-US" altLang="zh-CN" sz="2800" b="0" dirty="0">
                <a:latin typeface="+mj-lt"/>
              </a:endParaRPr>
            </a:p>
          </p:txBody>
        </p:sp>
        <p:sp>
          <p:nvSpPr>
            <p:cNvPr id="12" name="Rectangle 50"/>
            <p:cNvSpPr>
              <a:spLocks noChangeArrowheads="1"/>
            </p:cNvSpPr>
            <p:nvPr/>
          </p:nvSpPr>
          <p:spPr bwMode="auto">
            <a:xfrm>
              <a:off x="3583" y="369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14" name="Rectangle 51"/>
            <p:cNvSpPr>
              <a:spLocks noChangeArrowheads="1"/>
            </p:cNvSpPr>
            <p:nvPr/>
          </p:nvSpPr>
          <p:spPr bwMode="auto">
            <a:xfrm>
              <a:off x="3299" y="3691"/>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5" name="Rectangle 52"/>
            <p:cNvSpPr>
              <a:spLocks noChangeArrowheads="1"/>
            </p:cNvSpPr>
            <p:nvPr/>
          </p:nvSpPr>
          <p:spPr bwMode="auto">
            <a:xfrm>
              <a:off x="3016" y="3691"/>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1</a:t>
              </a:r>
              <a:endParaRPr lang="en-US" altLang="zh-CN" sz="2800" b="0" dirty="0">
                <a:latin typeface="+mj-lt"/>
              </a:endParaRPr>
            </a:p>
          </p:txBody>
        </p:sp>
        <p:sp>
          <p:nvSpPr>
            <p:cNvPr id="16" name="Rectangle 53"/>
            <p:cNvSpPr>
              <a:spLocks noChangeArrowheads="1"/>
            </p:cNvSpPr>
            <p:nvPr/>
          </p:nvSpPr>
          <p:spPr bwMode="auto">
            <a:xfrm>
              <a:off x="3583" y="3412"/>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1</a:t>
              </a:r>
              <a:endParaRPr lang="en-US" altLang="zh-CN" sz="2800" dirty="0">
                <a:solidFill>
                  <a:srgbClr val="0000FF"/>
                </a:solidFill>
                <a:latin typeface="+mj-lt"/>
              </a:endParaRPr>
            </a:p>
          </p:txBody>
        </p:sp>
        <p:sp>
          <p:nvSpPr>
            <p:cNvPr id="17" name="Rectangle 54"/>
            <p:cNvSpPr>
              <a:spLocks noChangeArrowheads="1"/>
            </p:cNvSpPr>
            <p:nvPr/>
          </p:nvSpPr>
          <p:spPr bwMode="auto">
            <a:xfrm>
              <a:off x="3299" y="3412"/>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18" name="Rectangle 55"/>
            <p:cNvSpPr>
              <a:spLocks noChangeArrowheads="1"/>
            </p:cNvSpPr>
            <p:nvPr/>
          </p:nvSpPr>
          <p:spPr bwMode="auto">
            <a:xfrm>
              <a:off x="3016" y="3412"/>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a:t>
              </a:r>
              <a:endParaRPr lang="en-US" altLang="zh-CN" sz="2800" b="0" dirty="0">
                <a:latin typeface="+mj-lt"/>
              </a:endParaRPr>
            </a:p>
          </p:txBody>
        </p:sp>
        <p:sp>
          <p:nvSpPr>
            <p:cNvPr id="19" name="Rectangle 56"/>
            <p:cNvSpPr>
              <a:spLocks noChangeArrowheads="1"/>
            </p:cNvSpPr>
            <p:nvPr/>
          </p:nvSpPr>
          <p:spPr bwMode="auto">
            <a:xfrm>
              <a:off x="3583" y="2834"/>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dirty="0">
                  <a:solidFill>
                    <a:srgbClr val="0000FF"/>
                  </a:solidFill>
                  <a:latin typeface="+mj-lt"/>
                </a:rPr>
                <a:t>0</a:t>
              </a:r>
              <a:endParaRPr lang="en-US" altLang="zh-CN" sz="2800" dirty="0">
                <a:solidFill>
                  <a:srgbClr val="0000FF"/>
                </a:solidFill>
                <a:latin typeface="+mj-lt"/>
              </a:endParaRPr>
            </a:p>
          </p:txBody>
        </p:sp>
        <p:sp>
          <p:nvSpPr>
            <p:cNvPr id="20" name="Rectangle 57"/>
            <p:cNvSpPr>
              <a:spLocks noChangeArrowheads="1"/>
            </p:cNvSpPr>
            <p:nvPr/>
          </p:nvSpPr>
          <p:spPr bwMode="auto">
            <a:xfrm>
              <a:off x="3299" y="2834"/>
              <a:ext cx="2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a:t>
              </a:r>
              <a:endParaRPr lang="en-US" altLang="zh-CN" sz="2800" b="0" dirty="0">
                <a:latin typeface="+mj-lt"/>
              </a:endParaRPr>
            </a:p>
          </p:txBody>
        </p:sp>
        <p:sp>
          <p:nvSpPr>
            <p:cNvPr id="21" name="Rectangle 58"/>
            <p:cNvSpPr>
              <a:spLocks noChangeArrowheads="1"/>
            </p:cNvSpPr>
            <p:nvPr/>
          </p:nvSpPr>
          <p:spPr bwMode="auto">
            <a:xfrm>
              <a:off x="3016" y="2834"/>
              <a:ext cx="28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a:t>
              </a:r>
              <a:endParaRPr lang="en-US" altLang="zh-CN" sz="2800" b="0" dirty="0">
                <a:latin typeface="+mj-lt"/>
              </a:endParaRPr>
            </a:p>
          </p:txBody>
        </p:sp>
        <p:sp>
          <p:nvSpPr>
            <p:cNvPr id="22" name="Line 62"/>
            <p:cNvSpPr>
              <a:spLocks noChangeShapeType="1"/>
            </p:cNvSpPr>
            <p:nvPr/>
          </p:nvSpPr>
          <p:spPr bwMode="auto">
            <a:xfrm>
              <a:off x="3016" y="2870"/>
              <a:ext cx="8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63"/>
            <p:cNvSpPr>
              <a:spLocks noChangeShapeType="1"/>
            </p:cNvSpPr>
            <p:nvPr/>
          </p:nvSpPr>
          <p:spPr bwMode="auto">
            <a:xfrm>
              <a:off x="3016" y="3160"/>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64"/>
            <p:cNvSpPr>
              <a:spLocks noChangeShapeType="1"/>
            </p:cNvSpPr>
            <p:nvPr/>
          </p:nvSpPr>
          <p:spPr bwMode="auto">
            <a:xfrm>
              <a:off x="3016" y="3738"/>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65"/>
            <p:cNvSpPr>
              <a:spLocks noChangeShapeType="1"/>
            </p:cNvSpPr>
            <p:nvPr/>
          </p:nvSpPr>
          <p:spPr bwMode="auto">
            <a:xfrm>
              <a:off x="3016" y="4017"/>
              <a:ext cx="85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66"/>
            <p:cNvSpPr>
              <a:spLocks noChangeShapeType="1"/>
            </p:cNvSpPr>
            <p:nvPr/>
          </p:nvSpPr>
          <p:spPr bwMode="auto">
            <a:xfrm>
              <a:off x="3016" y="3449"/>
              <a:ext cx="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67"/>
            <p:cNvSpPr>
              <a:spLocks noChangeShapeType="1"/>
            </p:cNvSpPr>
            <p:nvPr/>
          </p:nvSpPr>
          <p:spPr bwMode="auto">
            <a:xfrm>
              <a:off x="3016" y="2870"/>
              <a:ext cx="0" cy="11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68"/>
            <p:cNvSpPr>
              <a:spLocks noChangeShapeType="1"/>
            </p:cNvSpPr>
            <p:nvPr/>
          </p:nvSpPr>
          <p:spPr bwMode="auto">
            <a:xfrm>
              <a:off x="3866" y="2870"/>
              <a:ext cx="0" cy="11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69"/>
            <p:cNvSpPr>
              <a:spLocks noChangeShapeType="1"/>
            </p:cNvSpPr>
            <p:nvPr/>
          </p:nvSpPr>
          <p:spPr bwMode="auto">
            <a:xfrm>
              <a:off x="3299" y="2870"/>
              <a:ext cx="0" cy="11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70"/>
            <p:cNvSpPr>
              <a:spLocks noChangeShapeType="1"/>
            </p:cNvSpPr>
            <p:nvPr/>
          </p:nvSpPr>
          <p:spPr bwMode="auto">
            <a:xfrm>
              <a:off x="3583" y="2870"/>
              <a:ext cx="0" cy="11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Text Box 76"/>
            <p:cNvSpPr txBox="1">
              <a:spLocks noChangeArrowheads="1"/>
            </p:cNvSpPr>
            <p:nvPr/>
          </p:nvSpPr>
          <p:spPr bwMode="auto">
            <a:xfrm>
              <a:off x="4286" y="3674"/>
              <a:ext cx="998"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T</a:t>
              </a:r>
              <a:r>
                <a:rPr lang="zh-CN" altLang="en-US" sz="2400" b="0" dirty="0">
                  <a:latin typeface="+mj-lt"/>
                </a:rPr>
                <a:t>＝</a:t>
              </a:r>
              <a:r>
                <a:rPr lang="en-US" altLang="zh-CN" sz="2400" b="0" dirty="0">
                  <a:latin typeface="+mj-lt"/>
                </a:rPr>
                <a:t>A</a:t>
              </a:r>
              <a:r>
                <a:rPr lang="en-US" altLang="zh-CN" sz="2400" dirty="0">
                  <a:sym typeface="Symbol" panose="05050102010706020507" pitchFamily="18" charset="2"/>
                </a:rPr>
                <a:t></a:t>
              </a:r>
              <a:r>
                <a:rPr lang="en-US" altLang="zh-CN" sz="2400" b="0" dirty="0">
                  <a:latin typeface="+mj-lt"/>
                </a:rPr>
                <a:t>B</a:t>
              </a:r>
              <a:endParaRPr lang="en-US" altLang="zh-CN" sz="2400" b="0" dirty="0">
                <a:latin typeface="+mj-lt"/>
              </a:endParaRPr>
            </a:p>
          </p:txBody>
        </p:sp>
        <p:sp>
          <p:nvSpPr>
            <p:cNvPr id="32" name="Text Box 77"/>
            <p:cNvSpPr txBox="1">
              <a:spLocks noChangeArrowheads="1"/>
            </p:cNvSpPr>
            <p:nvPr/>
          </p:nvSpPr>
          <p:spPr bwMode="auto">
            <a:xfrm>
              <a:off x="2200" y="3249"/>
              <a:ext cx="6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真值表</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33" name="Text Box 78"/>
            <p:cNvSpPr txBox="1">
              <a:spLocks noChangeArrowheads="1"/>
            </p:cNvSpPr>
            <p:nvPr/>
          </p:nvSpPr>
          <p:spPr bwMode="auto">
            <a:xfrm>
              <a:off x="4286" y="2647"/>
              <a:ext cx="10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异或门电路</a:t>
              </a:r>
              <a:endParaRPr lang="zh-CN" altLang="en-US" sz="2200" b="0" dirty="0">
                <a:solidFill>
                  <a:srgbClr val="00B050"/>
                </a:solidFill>
                <a:latin typeface="黑体" panose="02010609060101010101" pitchFamily="49" charset="-122"/>
                <a:ea typeface="黑体" panose="02010609060101010101" pitchFamily="49" charset="-122"/>
              </a:endParaRPr>
            </a:p>
          </p:txBody>
        </p:sp>
        <p:sp>
          <p:nvSpPr>
            <p:cNvPr id="34" name="Text Box 79"/>
            <p:cNvSpPr txBox="1">
              <a:spLocks noChangeArrowheads="1"/>
            </p:cNvSpPr>
            <p:nvPr/>
          </p:nvSpPr>
          <p:spPr bwMode="auto">
            <a:xfrm>
              <a:off x="4286" y="3383"/>
              <a:ext cx="10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200" b="0" dirty="0">
                  <a:solidFill>
                    <a:srgbClr val="00B050"/>
                  </a:solidFill>
                  <a:latin typeface="黑体" panose="02010609060101010101" pitchFamily="49" charset="-122"/>
                  <a:ea typeface="黑体" panose="02010609060101010101" pitchFamily="49" charset="-122"/>
                </a:rPr>
                <a:t>逻辑表达式</a:t>
              </a:r>
              <a:endParaRPr lang="zh-CN" altLang="en-US" sz="2200" b="0" dirty="0">
                <a:solidFill>
                  <a:srgbClr val="00B050"/>
                </a:solidFill>
                <a:latin typeface="黑体" panose="02010609060101010101" pitchFamily="49" charset="-122"/>
                <a:ea typeface="黑体" panose="02010609060101010101" pitchFamily="49" charset="-122"/>
              </a:endParaRPr>
            </a:p>
          </p:txBody>
        </p:sp>
        <p:grpSp>
          <p:nvGrpSpPr>
            <p:cNvPr id="35" name="Group 80"/>
            <p:cNvGrpSpPr/>
            <p:nvPr/>
          </p:nvGrpSpPr>
          <p:grpSpPr bwMode="auto">
            <a:xfrm>
              <a:off x="703" y="3276"/>
              <a:ext cx="1281" cy="391"/>
              <a:chOff x="748" y="3321"/>
              <a:chExt cx="1281" cy="391"/>
            </a:xfrm>
          </p:grpSpPr>
          <p:sp>
            <p:nvSpPr>
              <p:cNvPr id="37" name="Line 82"/>
              <p:cNvSpPr>
                <a:spLocks noChangeShapeType="1"/>
              </p:cNvSpPr>
              <p:nvPr/>
            </p:nvSpPr>
            <p:spPr bwMode="auto">
              <a:xfrm>
                <a:off x="748" y="3675"/>
                <a:ext cx="128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Text Box 83"/>
              <p:cNvSpPr txBox="1">
                <a:spLocks noChangeArrowheads="1"/>
              </p:cNvSpPr>
              <p:nvPr/>
            </p:nvSpPr>
            <p:spPr bwMode="auto">
              <a:xfrm>
                <a:off x="793" y="3321"/>
                <a:ext cx="315"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3200" dirty="0">
                    <a:solidFill>
                      <a:schemeClr val="tx2"/>
                    </a:solidFill>
                    <a:sym typeface="Symbol" panose="05050102010706020507" pitchFamily="18" charset="2"/>
                  </a:rPr>
                  <a:t></a:t>
                </a:r>
                <a:endParaRPr lang="zh-CN" altLang="en-US" sz="3200" dirty="0">
                  <a:solidFill>
                    <a:schemeClr val="tx2"/>
                  </a:solidFill>
                  <a:sym typeface="Symbol" panose="05050102010706020507" pitchFamily="18" charset="2"/>
                </a:endParaRPr>
              </a:p>
            </p:txBody>
          </p:sp>
        </p:grpSp>
      </p:grpSp>
      <p:sp>
        <p:nvSpPr>
          <p:cNvPr id="45" name="Rectangle 59"/>
          <p:cNvSpPr>
            <a:spLocks noChangeArrowheads="1"/>
          </p:cNvSpPr>
          <p:nvPr/>
        </p:nvSpPr>
        <p:spPr bwMode="auto">
          <a:xfrm>
            <a:off x="5616129" y="4448026"/>
            <a:ext cx="44926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solidFill>
                  <a:srgbClr val="0000FF"/>
                </a:solidFill>
                <a:latin typeface="+mj-lt"/>
              </a:rPr>
              <a:t>T</a:t>
            </a:r>
            <a:endParaRPr lang="en-US" altLang="zh-CN" sz="2400" dirty="0">
              <a:solidFill>
                <a:srgbClr val="0000FF"/>
              </a:solidFill>
              <a:latin typeface="+mj-lt"/>
            </a:endParaRPr>
          </a:p>
        </p:txBody>
      </p:sp>
      <p:sp>
        <p:nvSpPr>
          <p:cNvPr id="46" name="Rectangle 60"/>
          <p:cNvSpPr>
            <a:spLocks noChangeArrowheads="1"/>
          </p:cNvSpPr>
          <p:nvPr/>
        </p:nvSpPr>
        <p:spPr bwMode="auto">
          <a:xfrm>
            <a:off x="5165279" y="4452218"/>
            <a:ext cx="4508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B</a:t>
            </a:r>
            <a:endParaRPr lang="en-US" altLang="zh-CN" sz="2400" dirty="0">
              <a:latin typeface="+mj-lt"/>
            </a:endParaRPr>
          </a:p>
        </p:txBody>
      </p:sp>
      <p:sp>
        <p:nvSpPr>
          <p:cNvPr id="47" name="Rectangle 61"/>
          <p:cNvSpPr>
            <a:spLocks noChangeArrowheads="1"/>
          </p:cNvSpPr>
          <p:nvPr/>
        </p:nvSpPr>
        <p:spPr bwMode="auto">
          <a:xfrm>
            <a:off x="4716016" y="4437112"/>
            <a:ext cx="4492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471805"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909955"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30683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169545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1526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6098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0670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52425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400" dirty="0">
                <a:latin typeface="+mj-lt"/>
              </a:rPr>
              <a:t>A</a:t>
            </a:r>
            <a:endParaRPr lang="en-US" altLang="zh-CN" sz="2400" dirty="0">
              <a:latin typeface="+mj-lt"/>
            </a:endParaRPr>
          </a:p>
        </p:txBody>
      </p:sp>
      <p:sp>
        <p:nvSpPr>
          <p:cNvPr id="2" name="Text Box 55"/>
          <p:cNvSpPr txBox="1">
            <a:spLocks noChangeArrowheads="1"/>
          </p:cNvSpPr>
          <p:nvPr/>
        </p:nvSpPr>
        <p:spPr bwMode="auto">
          <a:xfrm>
            <a:off x="1684477" y="5173811"/>
            <a:ext cx="1415772"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400" dirty="0">
                <a:latin typeface="+mj-lt"/>
              </a:rPr>
              <a:t>01000101</a:t>
            </a:r>
            <a:endParaRPr lang="en-US" altLang="zh-CN" sz="2400" dirty="0">
              <a:latin typeface="+mj-lt"/>
            </a:endParaRPr>
          </a:p>
          <a:p>
            <a:pPr algn="ctr" eaLnBrk="1" hangingPunct="1">
              <a:spcBef>
                <a:spcPct val="0"/>
              </a:spcBef>
              <a:buClrTx/>
              <a:buFontTx/>
              <a:buNone/>
            </a:pPr>
            <a:r>
              <a:rPr lang="en-US" altLang="zh-CN" sz="2400" dirty="0">
                <a:latin typeface="+mj-lt"/>
              </a:rPr>
              <a:t>00110001</a:t>
            </a:r>
            <a:endParaRPr lang="en-US" altLang="zh-CN" sz="2400" dirty="0">
              <a:latin typeface="+mj-lt"/>
            </a:endParaRPr>
          </a:p>
          <a:p>
            <a:pPr algn="ctr" eaLnBrk="1" hangingPunct="1">
              <a:buClrTx/>
              <a:buFontTx/>
              <a:buNone/>
            </a:pPr>
            <a:r>
              <a:rPr lang="en-US" altLang="zh-CN" sz="2400" dirty="0">
                <a:solidFill>
                  <a:srgbClr val="0000CC"/>
                </a:solidFill>
                <a:latin typeface="+mj-lt"/>
              </a:rPr>
              <a:t>01110100</a:t>
            </a:r>
            <a:endParaRPr lang="zh-CN" altLang="en-US" sz="1800" b="0" dirty="0">
              <a:solidFill>
                <a:srgbClr val="0000CC"/>
              </a:solidFill>
              <a:latin typeface="+mj-lt"/>
            </a:endParaRPr>
          </a:p>
        </p:txBody>
      </p:sp>
      <p:grpSp>
        <p:nvGrpSpPr>
          <p:cNvPr id="13" name="Group 38"/>
          <p:cNvGrpSpPr/>
          <p:nvPr/>
        </p:nvGrpSpPr>
        <p:grpSpPr bwMode="auto">
          <a:xfrm>
            <a:off x="6300192" y="4964909"/>
            <a:ext cx="2233613" cy="757238"/>
            <a:chOff x="3031" y="3096"/>
            <a:chExt cx="1407" cy="477"/>
          </a:xfrm>
        </p:grpSpPr>
        <p:sp>
          <p:nvSpPr>
            <p:cNvPr id="48" name="Line 39"/>
            <p:cNvSpPr>
              <a:spLocks noChangeShapeType="1"/>
            </p:cNvSpPr>
            <p:nvPr/>
          </p:nvSpPr>
          <p:spPr bwMode="auto">
            <a:xfrm>
              <a:off x="3968" y="3324"/>
              <a:ext cx="2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40"/>
            <p:cNvSpPr>
              <a:spLocks noChangeShapeType="1"/>
            </p:cNvSpPr>
            <p:nvPr/>
          </p:nvSpPr>
          <p:spPr bwMode="auto">
            <a:xfrm>
              <a:off x="3306" y="3238"/>
              <a:ext cx="22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41"/>
            <p:cNvSpPr>
              <a:spLocks noChangeShapeType="1"/>
            </p:cNvSpPr>
            <p:nvPr/>
          </p:nvSpPr>
          <p:spPr bwMode="auto">
            <a:xfrm>
              <a:off x="3297" y="3427"/>
              <a:ext cx="23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Text Box 42"/>
            <p:cNvSpPr txBox="1">
              <a:spLocks noChangeArrowheads="1"/>
            </p:cNvSpPr>
            <p:nvPr/>
          </p:nvSpPr>
          <p:spPr bwMode="auto">
            <a:xfrm>
              <a:off x="4204" y="3169"/>
              <a:ext cx="2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400" b="0" dirty="0">
                  <a:solidFill>
                    <a:srgbClr val="0000FF"/>
                  </a:solidFill>
                  <a:latin typeface="+mj-lt"/>
                </a:rPr>
                <a:t>T</a:t>
              </a:r>
              <a:endParaRPr lang="en-US" altLang="zh-CN" sz="2400" b="0" dirty="0">
                <a:solidFill>
                  <a:srgbClr val="0000FF"/>
                </a:solidFill>
                <a:latin typeface="+mj-lt"/>
              </a:endParaRPr>
            </a:p>
          </p:txBody>
        </p:sp>
        <p:sp>
          <p:nvSpPr>
            <p:cNvPr id="52" name="Text Box 43"/>
            <p:cNvSpPr txBox="1">
              <a:spLocks noChangeArrowheads="1"/>
            </p:cNvSpPr>
            <p:nvPr/>
          </p:nvSpPr>
          <p:spPr bwMode="auto">
            <a:xfrm>
              <a:off x="3031" y="3096"/>
              <a:ext cx="257" cy="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90000"/>
                </a:lnSpc>
                <a:spcBef>
                  <a:spcPct val="0"/>
                </a:spcBef>
                <a:buClrTx/>
                <a:buFontTx/>
                <a:buNone/>
              </a:pPr>
              <a:r>
                <a:rPr lang="en-US" altLang="zh-CN" sz="2400" b="0" dirty="0">
                  <a:latin typeface="+mj-lt"/>
                </a:rPr>
                <a:t>A</a:t>
              </a:r>
              <a:endParaRPr lang="en-US" altLang="zh-CN" sz="2400" b="0" dirty="0">
                <a:latin typeface="+mj-lt"/>
              </a:endParaRPr>
            </a:p>
            <a:p>
              <a:pPr algn="l" eaLnBrk="1" hangingPunct="1">
                <a:lnSpc>
                  <a:spcPct val="90000"/>
                </a:lnSpc>
                <a:spcBef>
                  <a:spcPct val="0"/>
                </a:spcBef>
                <a:buClrTx/>
                <a:buFontTx/>
                <a:buNone/>
              </a:pPr>
              <a:r>
                <a:rPr lang="en-US" altLang="zh-CN" sz="2400" b="0" dirty="0">
                  <a:latin typeface="+mj-lt"/>
                </a:rPr>
                <a:t>B</a:t>
              </a:r>
              <a:endParaRPr lang="en-US" altLang="zh-CN" sz="2400" b="0" dirty="0">
                <a:latin typeface="+mj-lt"/>
              </a:endParaRPr>
            </a:p>
          </p:txBody>
        </p:sp>
        <p:grpSp>
          <p:nvGrpSpPr>
            <p:cNvPr id="53" name="Group 44"/>
            <p:cNvGrpSpPr/>
            <p:nvPr/>
          </p:nvGrpSpPr>
          <p:grpSpPr bwMode="auto">
            <a:xfrm>
              <a:off x="3532" y="3170"/>
              <a:ext cx="453" cy="302"/>
              <a:chOff x="3730" y="1791"/>
              <a:chExt cx="453" cy="529"/>
            </a:xfrm>
          </p:grpSpPr>
          <p:sp>
            <p:nvSpPr>
              <p:cNvPr id="60" name="Arc 45"/>
              <p:cNvSpPr/>
              <p:nvPr/>
            </p:nvSpPr>
            <p:spPr bwMode="auto">
              <a:xfrm>
                <a:off x="3730" y="1791"/>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Arc 46"/>
              <p:cNvSpPr/>
              <p:nvPr/>
            </p:nvSpPr>
            <p:spPr bwMode="auto">
              <a:xfrm flipV="1">
                <a:off x="3730" y="2036"/>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 name="Group 47"/>
            <p:cNvGrpSpPr/>
            <p:nvPr/>
          </p:nvGrpSpPr>
          <p:grpSpPr bwMode="auto">
            <a:xfrm>
              <a:off x="3551" y="3172"/>
              <a:ext cx="85" cy="302"/>
              <a:chOff x="3730" y="1791"/>
              <a:chExt cx="453" cy="529"/>
            </a:xfrm>
          </p:grpSpPr>
          <p:sp>
            <p:nvSpPr>
              <p:cNvPr id="58" name="Arc 48"/>
              <p:cNvSpPr/>
              <p:nvPr/>
            </p:nvSpPr>
            <p:spPr bwMode="auto">
              <a:xfrm>
                <a:off x="3730" y="1791"/>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Arc 49"/>
              <p:cNvSpPr/>
              <p:nvPr/>
            </p:nvSpPr>
            <p:spPr bwMode="auto">
              <a:xfrm flipV="1">
                <a:off x="3730" y="2036"/>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5" name="Group 50"/>
            <p:cNvGrpSpPr/>
            <p:nvPr/>
          </p:nvGrpSpPr>
          <p:grpSpPr bwMode="auto">
            <a:xfrm>
              <a:off x="3475" y="3163"/>
              <a:ext cx="85" cy="302"/>
              <a:chOff x="3730" y="1791"/>
              <a:chExt cx="453" cy="529"/>
            </a:xfrm>
          </p:grpSpPr>
          <p:sp>
            <p:nvSpPr>
              <p:cNvPr id="56" name="Arc 51"/>
              <p:cNvSpPr/>
              <p:nvPr/>
            </p:nvSpPr>
            <p:spPr bwMode="auto">
              <a:xfrm>
                <a:off x="3730" y="1791"/>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Arc 52"/>
              <p:cNvSpPr/>
              <p:nvPr/>
            </p:nvSpPr>
            <p:spPr bwMode="auto">
              <a:xfrm flipV="1">
                <a:off x="3730" y="2036"/>
                <a:ext cx="453" cy="2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3-7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逻辑运算程序</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539552" y="849272"/>
            <a:ext cx="8304247" cy="5773420"/>
          </a:xfrm>
          <a:prstGeom prst="rect">
            <a:avLst/>
          </a:prstGeom>
          <a:solidFill>
            <a:srgbClr val="DDEEFF"/>
          </a:solidFill>
          <a:ln w="25400">
            <a:noFill/>
          </a:ln>
        </p:spPr>
        <p:txBody>
          <a:bodyPr wrap="square">
            <a:spAutoFit/>
          </a:bodyPr>
          <a:lstStyle/>
          <a:p>
            <a:pPr>
              <a:lnSpc>
                <a:spcPct val="120000"/>
              </a:lnSpc>
            </a:pPr>
            <a:r>
              <a:rPr lang="en-US" altLang="zh-CN" sz="2200" dirty="0">
                <a:solidFill>
                  <a:srgbClr val="FF0000"/>
                </a:solidFill>
                <a:latin typeface="+mn-lt"/>
              </a:rPr>
              <a:t>;</a:t>
            </a:r>
            <a:r>
              <a:rPr lang="zh-CN" altLang="en-US" sz="2200" dirty="0">
                <a:solidFill>
                  <a:srgbClr val="FF0000"/>
                </a:solidFill>
                <a:latin typeface="+mn-lt"/>
              </a:rPr>
              <a:t>数据段</a:t>
            </a:r>
            <a:endParaRPr lang="en-US" altLang="zh-CN" sz="2200" dirty="0">
              <a:solidFill>
                <a:srgbClr val="FF0000"/>
              </a:solidFill>
              <a:latin typeface="+mn-lt"/>
            </a:endParaRPr>
          </a:p>
          <a:p>
            <a:pPr>
              <a:lnSpc>
                <a:spcPct val="120000"/>
              </a:lnSpc>
            </a:pPr>
            <a:r>
              <a:rPr lang="en-US" altLang="zh-CN" sz="2200" b="1" dirty="0" err="1">
                <a:latin typeface="+mn-lt"/>
              </a:rPr>
              <a:t>varA</a:t>
            </a:r>
            <a:r>
              <a:rPr lang="en-US" altLang="zh-CN" sz="2200" b="1" dirty="0">
                <a:latin typeface="+mn-lt"/>
              </a:rPr>
              <a:t> </a:t>
            </a:r>
            <a:r>
              <a:rPr lang="en-US" altLang="zh-CN" sz="2200" b="1" dirty="0" err="1">
                <a:latin typeface="+mn-lt"/>
              </a:rPr>
              <a:t>dword</a:t>
            </a:r>
            <a:r>
              <a:rPr lang="en-US" altLang="zh-CN" sz="2200" b="1" dirty="0">
                <a:latin typeface="+mn-lt"/>
              </a:rPr>
              <a:t> 11001010000111100101010101001101b</a:t>
            </a:r>
            <a:endParaRPr lang="en-US" altLang="zh-CN" sz="2200" b="1" dirty="0">
              <a:latin typeface="+mn-lt"/>
            </a:endParaRPr>
          </a:p>
          <a:p>
            <a:pPr>
              <a:lnSpc>
                <a:spcPct val="120000"/>
              </a:lnSpc>
            </a:pPr>
            <a:r>
              <a:rPr lang="en-US" altLang="zh-CN" sz="2200" b="1" dirty="0" err="1">
                <a:latin typeface="+mn-lt"/>
              </a:rPr>
              <a:t>varB</a:t>
            </a:r>
            <a:r>
              <a:rPr lang="en-US" altLang="zh-CN" sz="2200" b="1" dirty="0">
                <a:latin typeface="+mn-lt"/>
              </a:rPr>
              <a:t> </a:t>
            </a:r>
            <a:r>
              <a:rPr lang="en-US" altLang="zh-CN" sz="2200" b="1" dirty="0" err="1">
                <a:latin typeface="+mn-lt"/>
              </a:rPr>
              <a:t>dword</a:t>
            </a:r>
            <a:r>
              <a:rPr lang="en-US" altLang="zh-CN" sz="2200" b="1" dirty="0">
                <a:latin typeface="+mn-lt"/>
              </a:rPr>
              <a:t> 00110101010000000010000010100000b</a:t>
            </a:r>
            <a:endParaRPr lang="en-US" altLang="zh-CN" sz="2200" b="1" dirty="0">
              <a:latin typeface="+mn-lt"/>
            </a:endParaRPr>
          </a:p>
          <a:p>
            <a:pPr>
              <a:lnSpc>
                <a:spcPct val="120000"/>
              </a:lnSpc>
            </a:pPr>
            <a:r>
              <a:rPr lang="en-US" altLang="zh-CN" sz="2200" b="1" dirty="0">
                <a:latin typeface="+mn-lt"/>
              </a:rPr>
              <a:t>varT1 </a:t>
            </a:r>
            <a:r>
              <a:rPr lang="en-US" altLang="zh-CN" sz="2200" b="1" dirty="0" err="1">
                <a:latin typeface="+mn-lt"/>
              </a:rPr>
              <a:t>dword</a:t>
            </a:r>
            <a:r>
              <a:rPr lang="en-US" altLang="zh-CN" sz="2200" b="1" dirty="0">
                <a:latin typeface="+mn-lt"/>
              </a:rPr>
              <a:t> ?</a:t>
            </a:r>
            <a:endParaRPr lang="en-US" altLang="zh-CN" sz="2200" b="1" dirty="0">
              <a:latin typeface="+mn-lt"/>
            </a:endParaRPr>
          </a:p>
          <a:p>
            <a:pPr>
              <a:lnSpc>
                <a:spcPct val="120000"/>
              </a:lnSpc>
            </a:pPr>
            <a:r>
              <a:rPr lang="en-US" altLang="zh-CN" sz="2200" b="1" dirty="0">
                <a:latin typeface="+mn-lt"/>
              </a:rPr>
              <a:t>varT2 </a:t>
            </a:r>
            <a:r>
              <a:rPr lang="en-US" altLang="zh-CN" sz="2200" b="1" dirty="0" err="1">
                <a:latin typeface="+mn-lt"/>
              </a:rPr>
              <a:t>dword</a:t>
            </a:r>
            <a:r>
              <a:rPr lang="en-US" altLang="zh-CN" sz="2200" b="1" dirty="0">
                <a:latin typeface="+mn-lt"/>
              </a:rPr>
              <a:t> ?</a:t>
            </a:r>
            <a:endParaRPr lang="en-US" altLang="zh-CN" sz="2200" b="1" dirty="0">
              <a:latin typeface="+mn-lt"/>
            </a:endParaRPr>
          </a:p>
          <a:p>
            <a:pPr>
              <a:lnSpc>
                <a:spcPct val="120000"/>
              </a:lnSpc>
            </a:pPr>
            <a:r>
              <a:rPr lang="en-US" altLang="zh-CN" sz="2200" dirty="0">
                <a:solidFill>
                  <a:srgbClr val="FF0000"/>
                </a:solidFill>
                <a:latin typeface="+mn-lt"/>
              </a:rPr>
              <a:t>;</a:t>
            </a:r>
            <a:r>
              <a:rPr lang="zh-CN" altLang="en-US" sz="2200" dirty="0">
                <a:solidFill>
                  <a:srgbClr val="FF0000"/>
                </a:solidFill>
                <a:latin typeface="+mn-lt"/>
              </a:rPr>
              <a:t>代码段</a:t>
            </a:r>
            <a:endParaRPr lang="en-US" altLang="zh-CN" sz="2200" dirty="0">
              <a:solidFill>
                <a:srgbClr val="FF0000"/>
              </a:solidFill>
              <a:latin typeface="+mn-lt"/>
            </a:endParaRPr>
          </a:p>
          <a:p>
            <a:pPr>
              <a:lnSpc>
                <a:spcPct val="120000"/>
              </a:lnSpc>
            </a:pPr>
            <a:r>
              <a:rPr lang="en-US" altLang="zh-CN" sz="2200" b="1" dirty="0">
                <a:latin typeface="+mn-lt"/>
              </a:rPr>
              <a:t>mov </a:t>
            </a:r>
            <a:r>
              <a:rPr lang="en-US" altLang="zh-CN" sz="2200" b="1" dirty="0" err="1">
                <a:latin typeface="+mn-lt"/>
              </a:rPr>
              <a:t>eax</a:t>
            </a:r>
            <a:r>
              <a:rPr lang="en-US" altLang="zh-CN" sz="2200" b="1" dirty="0">
                <a:latin typeface="+mn-lt"/>
              </a:rPr>
              <a:t>, [</a:t>
            </a:r>
            <a:r>
              <a:rPr lang="en-US" altLang="zh-CN" sz="2200" b="1" dirty="0" err="1">
                <a:latin typeface="+mn-lt"/>
              </a:rPr>
              <a:t>varA</a:t>
            </a:r>
            <a:r>
              <a:rPr lang="en-US" altLang="zh-CN" sz="2200" b="1" dirty="0">
                <a:solidFill>
                  <a:srgbClr val="0000FF"/>
                </a:solidFill>
                <a:latin typeface="+mn-lt"/>
              </a:rPr>
              <a:t>	]</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11001010000111100101010101001101B</a:t>
            </a:r>
            <a:endParaRPr lang="en-US" altLang="zh-CN" sz="2200" dirty="0">
              <a:solidFill>
                <a:srgbClr val="FF0000"/>
              </a:solidFill>
              <a:latin typeface="+mn-lt"/>
            </a:endParaRPr>
          </a:p>
          <a:p>
            <a:pPr>
              <a:lnSpc>
                <a:spcPct val="120000"/>
              </a:lnSpc>
            </a:pPr>
            <a:r>
              <a:rPr lang="en-US" altLang="zh-CN" sz="2200" b="1" dirty="0">
                <a:latin typeface="+mn-lt"/>
              </a:rPr>
              <a:t>not </a:t>
            </a:r>
            <a:r>
              <a:rPr lang="en-US" altLang="zh-CN" sz="2200" b="1" dirty="0" err="1">
                <a:latin typeface="+mn-lt"/>
              </a:rPr>
              <a:t>eax</a:t>
            </a:r>
            <a:r>
              <a:rPr lang="en-US" altLang="zh-CN" sz="2200" b="1" dirty="0">
                <a:latin typeface="+mn-lt"/>
              </a:rPr>
              <a:t> 	</a:t>
            </a:r>
            <a:r>
              <a:rPr lang="en-US" altLang="zh-CN" sz="2200" b="1" dirty="0">
                <a:solidFill>
                  <a:srgbClr val="FF0000"/>
                </a:solidFill>
                <a:latin typeface="+mn-lt"/>
              </a:rPr>
              <a:t>        </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00110101111000011010101010110010B</a:t>
            </a:r>
            <a:endParaRPr lang="en-US" altLang="zh-CN" sz="2200" dirty="0">
              <a:solidFill>
                <a:srgbClr val="FF0000"/>
              </a:solidFill>
              <a:latin typeface="+mn-lt"/>
            </a:endParaRPr>
          </a:p>
          <a:p>
            <a:pPr>
              <a:lnSpc>
                <a:spcPct val="120000"/>
              </a:lnSpc>
            </a:pPr>
            <a:r>
              <a:rPr lang="en-US" altLang="zh-CN" sz="2200" b="1" dirty="0">
                <a:latin typeface="+mn-lt"/>
              </a:rPr>
              <a:t>and </a:t>
            </a:r>
            <a:r>
              <a:rPr lang="en-US" altLang="zh-CN" sz="2200" b="1" dirty="0" err="1">
                <a:latin typeface="+mn-lt"/>
              </a:rPr>
              <a:t>eax</a:t>
            </a:r>
            <a:r>
              <a:rPr lang="en-US" altLang="zh-CN" sz="2200" b="1" dirty="0">
                <a:latin typeface="+mn-lt"/>
              </a:rPr>
              <a:t>, [</a:t>
            </a:r>
            <a:r>
              <a:rPr lang="en-US" altLang="zh-CN" sz="2200" b="1" dirty="0" err="1">
                <a:latin typeface="+mn-lt"/>
              </a:rPr>
              <a:t>varB]</a:t>
            </a:r>
            <a:r>
              <a:rPr lang="en-US" altLang="zh-CN" sz="2000" b="1" dirty="0">
                <a:solidFill>
                  <a:srgbClr val="FF0000"/>
                </a:solidFill>
                <a:latin typeface="+mn-lt"/>
              </a:rPr>
              <a:t>         </a:t>
            </a:r>
            <a:r>
              <a:rPr lang="en-US" altLang="zh-CN" sz="2200" dirty="0">
                <a:solidFill>
                  <a:srgbClr val="FF0000"/>
                </a:solidFill>
                <a:latin typeface="+mn-lt"/>
              </a:rPr>
              <a:t>; EAX</a:t>
            </a:r>
            <a:r>
              <a:rPr lang="zh-CN" altLang="en-US" sz="2200" dirty="0">
                <a:solidFill>
                  <a:srgbClr val="FF0000"/>
                </a:solidFill>
                <a:latin typeface="+mn-lt"/>
              </a:rPr>
              <a:t>＝</a:t>
            </a:r>
            <a:r>
              <a:rPr lang="en-US" altLang="zh-CN" sz="2200" dirty="0">
                <a:solidFill>
                  <a:srgbClr val="FF0000"/>
                </a:solidFill>
                <a:latin typeface="+mn-lt"/>
              </a:rPr>
              <a:t>00110101010000000010000010100000B</a:t>
            </a:r>
            <a:endParaRPr lang="en-US" altLang="zh-CN" sz="2200" dirty="0">
              <a:solidFill>
                <a:srgbClr val="FF0000"/>
              </a:solidFill>
              <a:latin typeface="+mn-lt"/>
            </a:endParaRPr>
          </a:p>
          <a:p>
            <a:pPr>
              <a:lnSpc>
                <a:spcPct val="120000"/>
              </a:lnSpc>
            </a:pPr>
            <a:r>
              <a:rPr lang="en-US" altLang="zh-CN" sz="2200" b="1" dirty="0">
                <a:latin typeface="+mn-lt"/>
              </a:rPr>
              <a:t>mov </a:t>
            </a:r>
            <a:r>
              <a:rPr lang="en-US" altLang="zh-CN" sz="2200" b="1" dirty="0" err="1">
                <a:latin typeface="+mn-lt"/>
              </a:rPr>
              <a:t>ebx</a:t>
            </a:r>
            <a:r>
              <a:rPr lang="en-US" altLang="zh-CN" sz="2200" b="1" dirty="0">
                <a:latin typeface="+mn-lt"/>
              </a:rPr>
              <a:t>, [</a:t>
            </a:r>
            <a:r>
              <a:rPr lang="en-US" altLang="zh-CN" sz="2200" b="1" dirty="0" err="1">
                <a:latin typeface="+mn-lt"/>
              </a:rPr>
              <a:t>varB]</a:t>
            </a:r>
            <a:r>
              <a:rPr lang="en-US" altLang="zh-CN" sz="2200" b="1" dirty="0">
                <a:latin typeface="+mn-lt"/>
              </a:rPr>
              <a:t>        </a:t>
            </a:r>
            <a:r>
              <a:rPr lang="en-US" altLang="zh-CN" sz="2200" dirty="0">
                <a:solidFill>
                  <a:srgbClr val="FF0000"/>
                </a:solidFill>
                <a:latin typeface="+mn-lt"/>
              </a:rPr>
              <a:t>; EBX</a:t>
            </a:r>
            <a:r>
              <a:rPr lang="zh-CN" altLang="en-US" sz="2200" dirty="0">
                <a:solidFill>
                  <a:srgbClr val="FF0000"/>
                </a:solidFill>
                <a:latin typeface="+mn-lt"/>
              </a:rPr>
              <a:t>＝</a:t>
            </a:r>
            <a:r>
              <a:rPr lang="en-US" altLang="zh-CN" sz="2200" dirty="0">
                <a:solidFill>
                  <a:srgbClr val="FF0000"/>
                </a:solidFill>
                <a:latin typeface="+mn-lt"/>
              </a:rPr>
              <a:t>00110111010110100011010111100001B</a:t>
            </a:r>
            <a:endParaRPr lang="en-US" altLang="zh-CN" sz="2200" dirty="0">
              <a:solidFill>
                <a:srgbClr val="FF0000"/>
              </a:solidFill>
              <a:latin typeface="+mn-lt"/>
            </a:endParaRPr>
          </a:p>
          <a:p>
            <a:pPr>
              <a:lnSpc>
                <a:spcPct val="120000"/>
              </a:lnSpc>
            </a:pPr>
            <a:r>
              <a:rPr lang="en-US" altLang="zh-CN" sz="2200" b="1" dirty="0">
                <a:latin typeface="+mn-lt"/>
              </a:rPr>
              <a:t>not </a:t>
            </a:r>
            <a:r>
              <a:rPr lang="en-US" altLang="zh-CN" sz="2200" b="1" dirty="0" err="1">
                <a:latin typeface="+mn-lt"/>
              </a:rPr>
              <a:t>ebx</a:t>
            </a:r>
            <a:r>
              <a:rPr lang="en-US" altLang="zh-CN" sz="2200" dirty="0">
                <a:solidFill>
                  <a:srgbClr val="FF0000"/>
                </a:solidFill>
                <a:latin typeface="+mn-lt"/>
              </a:rPr>
              <a:t>		         ; EBX</a:t>
            </a:r>
            <a:r>
              <a:rPr lang="zh-CN" altLang="en-US" sz="2200" dirty="0">
                <a:solidFill>
                  <a:srgbClr val="FF0000"/>
                </a:solidFill>
                <a:latin typeface="+mn-lt"/>
              </a:rPr>
              <a:t>＝</a:t>
            </a:r>
            <a:r>
              <a:rPr lang="en-US" altLang="zh-CN" sz="2200" dirty="0">
                <a:solidFill>
                  <a:srgbClr val="FF0000"/>
                </a:solidFill>
                <a:latin typeface="+mn-lt"/>
              </a:rPr>
              <a:t>11001000101001011100101000011110B</a:t>
            </a:r>
            <a:endParaRPr lang="en-US" altLang="zh-CN" sz="2200" dirty="0">
              <a:solidFill>
                <a:srgbClr val="FF0000"/>
              </a:solidFill>
              <a:latin typeface="+mn-lt"/>
            </a:endParaRPr>
          </a:p>
          <a:p>
            <a:pPr>
              <a:lnSpc>
                <a:spcPct val="120000"/>
              </a:lnSpc>
            </a:pPr>
            <a:r>
              <a:rPr lang="en-US" altLang="zh-CN" sz="2200" b="1" dirty="0">
                <a:latin typeface="+mn-lt"/>
              </a:rPr>
              <a:t>and </a:t>
            </a:r>
            <a:r>
              <a:rPr lang="en-US" altLang="zh-CN" sz="2200" b="1" dirty="0" err="1">
                <a:latin typeface="+mn-lt"/>
              </a:rPr>
              <a:t>ebx</a:t>
            </a:r>
            <a:r>
              <a:rPr lang="en-US" altLang="zh-CN" sz="2200" b="1" dirty="0">
                <a:latin typeface="+mn-lt"/>
              </a:rPr>
              <a:t>, [</a:t>
            </a:r>
            <a:r>
              <a:rPr lang="en-US" altLang="zh-CN" sz="2200" b="1" dirty="0" err="1">
                <a:latin typeface="+mn-lt"/>
              </a:rPr>
              <a:t>varA]</a:t>
            </a:r>
            <a:r>
              <a:rPr lang="en-US" altLang="zh-CN" sz="2200" dirty="0">
                <a:solidFill>
                  <a:srgbClr val="FF0000"/>
                </a:solidFill>
                <a:latin typeface="+mn-lt"/>
              </a:rPr>
              <a:t>         ; EBX</a:t>
            </a:r>
            <a:r>
              <a:rPr lang="zh-CN" altLang="en-US" sz="2200" dirty="0">
                <a:solidFill>
                  <a:srgbClr val="FF0000"/>
                </a:solidFill>
                <a:latin typeface="+mn-lt"/>
              </a:rPr>
              <a:t>＝</a:t>
            </a:r>
            <a:r>
              <a:rPr lang="en-US" altLang="zh-CN" sz="2200" dirty="0">
                <a:solidFill>
                  <a:srgbClr val="FF0000"/>
                </a:solidFill>
                <a:latin typeface="+mn-lt"/>
              </a:rPr>
              <a:t>11001000000001000100000000001100B</a:t>
            </a:r>
            <a:endParaRPr lang="en-US" altLang="zh-CN" sz="2200" dirty="0">
              <a:solidFill>
                <a:srgbClr val="FF0000"/>
              </a:solidFill>
              <a:latin typeface="+mn-lt"/>
            </a:endParaRPr>
          </a:p>
          <a:p>
            <a:pPr>
              <a:lnSpc>
                <a:spcPct val="120000"/>
              </a:lnSpc>
            </a:pPr>
            <a:r>
              <a:rPr lang="en-US" altLang="zh-CN" sz="2200" b="1" dirty="0">
                <a:latin typeface="+mn-lt"/>
              </a:rPr>
              <a:t>or </a:t>
            </a:r>
            <a:r>
              <a:rPr lang="en-US" altLang="zh-CN" sz="2200" b="1" dirty="0" err="1">
                <a:latin typeface="+mn-lt"/>
              </a:rPr>
              <a:t>eax</a:t>
            </a:r>
            <a:r>
              <a:rPr lang="en-US" altLang="zh-CN" sz="2200" b="1" dirty="0">
                <a:latin typeface="+mn-lt"/>
              </a:rPr>
              <a:t>, </a:t>
            </a:r>
            <a:r>
              <a:rPr lang="en-US" altLang="zh-CN" sz="2200" b="1" dirty="0" err="1">
                <a:latin typeface="+mn-lt"/>
              </a:rPr>
              <a:t>ebx</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11111101010001000110000010101100B</a:t>
            </a:r>
            <a:endParaRPr lang="en-US" altLang="zh-CN" sz="2200" dirty="0">
              <a:solidFill>
                <a:srgbClr val="FF0000"/>
              </a:solidFill>
              <a:latin typeface="+mn-lt"/>
            </a:endParaRPr>
          </a:p>
          <a:p>
            <a:pPr>
              <a:lnSpc>
                <a:spcPct val="120000"/>
              </a:lnSpc>
            </a:pPr>
            <a:r>
              <a:rPr lang="en-US" altLang="zh-CN" sz="2200" b="1" dirty="0">
                <a:latin typeface="+mn-lt"/>
              </a:rPr>
              <a:t>mov [varT1], </a:t>
            </a:r>
            <a:r>
              <a:rPr lang="en-US" altLang="zh-CN" sz="2200" b="1" dirty="0" err="1">
                <a:latin typeface="+mn-lt"/>
              </a:rPr>
              <a:t>eax</a:t>
            </a:r>
            <a:endParaRPr lang="zh-CN" altLang="en-US" sz="2200" b="1" dirty="0">
              <a:latin typeface="+mn-lt"/>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3-7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逻辑运算程序</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539552" y="849272"/>
            <a:ext cx="8304247" cy="3338195"/>
          </a:xfrm>
          <a:prstGeom prst="rect">
            <a:avLst/>
          </a:prstGeom>
          <a:solidFill>
            <a:srgbClr val="DDEEFF"/>
          </a:solidFill>
          <a:ln w="25400">
            <a:noFill/>
          </a:ln>
        </p:spPr>
        <p:txBody>
          <a:bodyPr wrap="square">
            <a:spAutoFit/>
          </a:bodyPr>
          <a:lstStyle/>
          <a:p>
            <a:pPr>
              <a:lnSpc>
                <a:spcPct val="120000"/>
              </a:lnSpc>
            </a:pPr>
            <a:r>
              <a:rPr lang="en-US" altLang="zh-CN" sz="2200" b="1" dirty="0">
                <a:latin typeface="+mn-lt"/>
              </a:rPr>
              <a:t>mov </a:t>
            </a:r>
            <a:r>
              <a:rPr lang="en-US" altLang="zh-CN" sz="2200" b="1" dirty="0" err="1">
                <a:latin typeface="+mn-lt"/>
              </a:rPr>
              <a:t>eax</a:t>
            </a:r>
            <a:r>
              <a:rPr lang="en-US" altLang="zh-CN" sz="2200" b="1" dirty="0">
                <a:latin typeface="+mn-lt"/>
              </a:rPr>
              <a:t>, [</a:t>
            </a:r>
            <a:r>
              <a:rPr lang="en-US" altLang="zh-CN" sz="2200" b="1" dirty="0" err="1">
                <a:latin typeface="+mn-lt"/>
              </a:rPr>
              <a:t>varA]</a:t>
            </a:r>
            <a:endParaRPr lang="en-US" altLang="zh-CN" sz="2200" b="1" dirty="0">
              <a:latin typeface="+mn-lt"/>
            </a:endParaRPr>
          </a:p>
          <a:p>
            <a:pPr>
              <a:lnSpc>
                <a:spcPct val="120000"/>
              </a:lnSpc>
            </a:pPr>
            <a:r>
              <a:rPr lang="en-US" altLang="zh-CN" sz="2200" b="1" dirty="0" err="1">
                <a:latin typeface="+mn-lt"/>
              </a:rPr>
              <a:t>xor</a:t>
            </a:r>
            <a:r>
              <a:rPr lang="en-US" altLang="zh-CN" sz="2200" b="1" dirty="0">
                <a:latin typeface="+mn-lt"/>
              </a:rPr>
              <a:t> </a:t>
            </a:r>
            <a:r>
              <a:rPr lang="en-US" altLang="zh-CN" sz="2200" b="1" dirty="0" err="1">
                <a:latin typeface="+mn-lt"/>
              </a:rPr>
              <a:t>eax</a:t>
            </a:r>
            <a:r>
              <a:rPr lang="en-US" altLang="zh-CN" sz="2200" b="1" dirty="0">
                <a:latin typeface="+mn-lt"/>
              </a:rPr>
              <a:t>, [</a:t>
            </a:r>
            <a:r>
              <a:rPr lang="en-US" altLang="zh-CN" sz="2200" b="1" dirty="0" err="1">
                <a:latin typeface="+mn-lt"/>
              </a:rPr>
              <a:t>varB]</a:t>
            </a:r>
            <a:r>
              <a:rPr lang="en-US" altLang="zh-CN" sz="2200" dirty="0">
                <a:solidFill>
                  <a:srgbClr val="FF0000"/>
                </a:solidFill>
                <a:latin typeface="+mn-lt"/>
              </a:rPr>
              <a:t>	          ; EAX</a:t>
            </a:r>
            <a:r>
              <a:rPr lang="zh-CN" altLang="en-US" sz="2200" dirty="0">
                <a:solidFill>
                  <a:srgbClr val="FF0000"/>
                </a:solidFill>
                <a:latin typeface="+mn-lt"/>
              </a:rPr>
              <a:t>＝</a:t>
            </a:r>
            <a:r>
              <a:rPr lang="en-US" altLang="zh-CN" sz="2200" dirty="0">
                <a:solidFill>
                  <a:srgbClr val="FF0000"/>
                </a:solidFill>
                <a:latin typeface="+mn-lt"/>
              </a:rPr>
              <a:t>11111101010001000110000010101100B</a:t>
            </a:r>
            <a:endParaRPr lang="en-US" altLang="zh-CN" sz="2200" dirty="0">
              <a:solidFill>
                <a:srgbClr val="FF0000"/>
              </a:solidFill>
              <a:latin typeface="+mn-lt"/>
            </a:endParaRPr>
          </a:p>
          <a:p>
            <a:pPr>
              <a:lnSpc>
                <a:spcPct val="120000"/>
              </a:lnSpc>
            </a:pPr>
            <a:r>
              <a:rPr lang="en-US" altLang="zh-CN" sz="2200" b="1" dirty="0">
                <a:latin typeface="+mn-lt"/>
              </a:rPr>
              <a:t>mov [varT2], </a:t>
            </a:r>
            <a:r>
              <a:rPr lang="en-US" altLang="zh-CN" sz="2200" b="1" dirty="0" err="1">
                <a:latin typeface="+mn-lt"/>
              </a:rPr>
              <a:t>eax</a:t>
            </a:r>
            <a:endParaRPr lang="en-US" altLang="zh-CN" sz="2200" b="1" dirty="0">
              <a:latin typeface="+mn-lt"/>
            </a:endParaRPr>
          </a:p>
          <a:p>
            <a:pPr>
              <a:lnSpc>
                <a:spcPct val="120000"/>
              </a:lnSpc>
            </a:pPr>
            <a:r>
              <a:rPr lang="en-US" altLang="zh-CN" sz="2200" b="1" dirty="0">
                <a:solidFill>
                  <a:srgbClr val="00B050"/>
                </a:solidFill>
                <a:latin typeface="+mn-lt"/>
              </a:rPr>
              <a:t>mov </a:t>
            </a:r>
            <a:r>
              <a:rPr lang="en-US" altLang="zh-CN" sz="2200" b="1" dirty="0" err="1">
                <a:solidFill>
                  <a:srgbClr val="00B050"/>
                </a:solidFill>
                <a:latin typeface="+mn-lt"/>
              </a:rPr>
              <a:t>eax</a:t>
            </a:r>
            <a:r>
              <a:rPr lang="en-US" altLang="zh-CN" sz="2200" b="1" dirty="0">
                <a:solidFill>
                  <a:srgbClr val="00B050"/>
                </a:solidFill>
                <a:latin typeface="+mn-lt"/>
              </a:rPr>
              <a:t>, [varT1]       </a:t>
            </a:r>
            <a:r>
              <a:rPr lang="en-US" altLang="zh-CN" sz="2200" dirty="0">
                <a:solidFill>
                  <a:srgbClr val="FF0000"/>
                </a:solidFill>
                <a:latin typeface="+mn-lt"/>
              </a:rPr>
              <a:t>; </a:t>
            </a:r>
            <a:r>
              <a:rPr lang="zh-CN" altLang="en-US" sz="2200" dirty="0">
                <a:solidFill>
                  <a:srgbClr val="FF0000"/>
                </a:solidFill>
                <a:latin typeface="+mn-lt"/>
              </a:rPr>
              <a:t>二进制形式显示</a:t>
            </a:r>
            <a:r>
              <a:rPr lang="en-US" altLang="zh-CN" sz="2200" dirty="0">
                <a:solidFill>
                  <a:srgbClr val="FF0000"/>
                </a:solidFill>
                <a:latin typeface="+mn-lt"/>
              </a:rPr>
              <a:t>VART1</a:t>
            </a:r>
            <a:endParaRPr lang="en-US" altLang="zh-CN" sz="2200" dirty="0">
              <a:solidFill>
                <a:srgbClr val="FF0000"/>
              </a:solidFill>
              <a:latin typeface="+mn-lt"/>
            </a:endParaRPr>
          </a:p>
          <a:p>
            <a:pPr>
              <a:lnSpc>
                <a:spcPct val="120000"/>
              </a:lnSpc>
            </a:pPr>
            <a:r>
              <a:rPr lang="en-US" altLang="zh-CN" sz="2200" b="1" dirty="0">
                <a:solidFill>
                  <a:srgbClr val="00B050"/>
                </a:solidFill>
                <a:latin typeface="+mn-lt"/>
              </a:rPr>
              <a:t>call </a:t>
            </a:r>
            <a:r>
              <a:rPr lang="en-US" altLang="zh-CN" sz="2200" b="1" dirty="0" err="1">
                <a:solidFill>
                  <a:srgbClr val="00B050"/>
                </a:solidFill>
                <a:latin typeface="+mn-lt"/>
              </a:rPr>
              <a:t>dispbd</a:t>
            </a:r>
            <a:endParaRPr lang="en-US" altLang="zh-CN" sz="2200" b="1" dirty="0">
              <a:solidFill>
                <a:srgbClr val="00B050"/>
              </a:solidFill>
              <a:latin typeface="+mn-lt"/>
            </a:endParaRPr>
          </a:p>
          <a:p>
            <a:pPr>
              <a:lnSpc>
                <a:spcPct val="120000"/>
              </a:lnSpc>
            </a:pPr>
            <a:r>
              <a:rPr lang="en-US" altLang="zh-CN" sz="2200" b="1" dirty="0">
                <a:solidFill>
                  <a:srgbClr val="00B050"/>
                </a:solidFill>
                <a:latin typeface="+mn-lt"/>
              </a:rPr>
              <a:t>call </a:t>
            </a:r>
            <a:r>
              <a:rPr lang="en-US" altLang="zh-CN" sz="2200" b="1" dirty="0" err="1">
                <a:solidFill>
                  <a:srgbClr val="00B050"/>
                </a:solidFill>
                <a:latin typeface="+mn-lt"/>
              </a:rPr>
              <a:t>dispcrlf</a:t>
            </a:r>
            <a:r>
              <a:rPr lang="en-US" altLang="zh-CN" sz="2200" dirty="0">
                <a:solidFill>
                  <a:srgbClr val="FF0000"/>
                </a:solidFill>
                <a:latin typeface="+mn-lt"/>
              </a:rPr>
              <a:t>	          ; </a:t>
            </a:r>
            <a:r>
              <a:rPr lang="zh-CN" altLang="en-US" sz="2200" dirty="0">
                <a:solidFill>
                  <a:srgbClr val="FF0000"/>
                </a:solidFill>
                <a:latin typeface="+mn-lt"/>
              </a:rPr>
              <a:t>换行显示</a:t>
            </a:r>
            <a:endParaRPr lang="zh-CN" altLang="en-US" sz="2200" dirty="0">
              <a:solidFill>
                <a:srgbClr val="FF0000"/>
              </a:solidFill>
              <a:latin typeface="+mn-lt"/>
            </a:endParaRPr>
          </a:p>
          <a:p>
            <a:pPr>
              <a:lnSpc>
                <a:spcPct val="120000"/>
              </a:lnSpc>
            </a:pPr>
            <a:r>
              <a:rPr lang="en-US" altLang="zh-CN" sz="2200" b="1" dirty="0">
                <a:solidFill>
                  <a:srgbClr val="00B050"/>
                </a:solidFill>
                <a:latin typeface="+mn-lt"/>
              </a:rPr>
              <a:t>mov </a:t>
            </a:r>
            <a:r>
              <a:rPr lang="en-US" altLang="zh-CN" sz="2200" b="1" dirty="0" err="1">
                <a:solidFill>
                  <a:srgbClr val="00B050"/>
                </a:solidFill>
                <a:latin typeface="+mn-lt"/>
              </a:rPr>
              <a:t>eax</a:t>
            </a:r>
            <a:r>
              <a:rPr lang="en-US" altLang="zh-CN" sz="2200" b="1" dirty="0">
                <a:solidFill>
                  <a:srgbClr val="00B050"/>
                </a:solidFill>
                <a:latin typeface="+mn-lt"/>
              </a:rPr>
              <a:t>, [varT2]</a:t>
            </a:r>
            <a:r>
              <a:rPr lang="en-US" altLang="zh-CN" sz="2200" b="1" dirty="0">
                <a:latin typeface="+mn-lt"/>
              </a:rPr>
              <a:t>       </a:t>
            </a:r>
            <a:r>
              <a:rPr lang="en-US" altLang="zh-CN" sz="2200" dirty="0">
                <a:solidFill>
                  <a:srgbClr val="FF0000"/>
                </a:solidFill>
                <a:latin typeface="+mn-lt"/>
              </a:rPr>
              <a:t>; </a:t>
            </a:r>
            <a:r>
              <a:rPr lang="zh-CN" altLang="en-US" sz="2200" dirty="0">
                <a:solidFill>
                  <a:srgbClr val="FF0000"/>
                </a:solidFill>
                <a:latin typeface="+mn-lt"/>
              </a:rPr>
              <a:t>二进制形式显示</a:t>
            </a:r>
            <a:r>
              <a:rPr lang="en-US" altLang="zh-CN" sz="2200" dirty="0">
                <a:solidFill>
                  <a:srgbClr val="FF0000"/>
                </a:solidFill>
                <a:latin typeface="+mn-lt"/>
              </a:rPr>
              <a:t>VART2</a:t>
            </a:r>
            <a:endParaRPr lang="en-US" altLang="zh-CN" sz="2200" dirty="0">
              <a:solidFill>
                <a:srgbClr val="FF0000"/>
              </a:solidFill>
              <a:latin typeface="+mn-lt"/>
            </a:endParaRPr>
          </a:p>
          <a:p>
            <a:pPr>
              <a:lnSpc>
                <a:spcPct val="120000"/>
              </a:lnSpc>
            </a:pPr>
            <a:r>
              <a:rPr lang="en-US" altLang="zh-CN" sz="2200" b="1" dirty="0">
                <a:solidFill>
                  <a:srgbClr val="00B050"/>
                </a:solidFill>
                <a:latin typeface="+mn-lt"/>
              </a:rPr>
              <a:t>call </a:t>
            </a:r>
            <a:r>
              <a:rPr lang="en-US" altLang="zh-CN" sz="2200" b="1" dirty="0" err="1">
                <a:solidFill>
                  <a:srgbClr val="00B050"/>
                </a:solidFill>
                <a:latin typeface="+mn-lt"/>
              </a:rPr>
              <a:t>dispbd</a:t>
            </a:r>
            <a:endParaRPr lang="en-US" altLang="zh-CN" sz="2200" b="1" dirty="0">
              <a:solidFill>
                <a:srgbClr val="00B050"/>
              </a:solidFill>
              <a:latin typeface="+mn-lt"/>
            </a:endParaRPr>
          </a:p>
        </p:txBody>
      </p:sp>
      <p:pic>
        <p:nvPicPr>
          <p:cNvPr id="5" name="图片 4"/>
          <p:cNvPicPr>
            <a:picLocks noChangeAspect="1"/>
          </p:cNvPicPr>
          <p:nvPr/>
        </p:nvPicPr>
        <p:blipFill>
          <a:blip r:embed="rId1"/>
          <a:stretch>
            <a:fillRect/>
          </a:stretch>
        </p:blipFill>
        <p:spPr>
          <a:xfrm>
            <a:off x="467544" y="4181930"/>
            <a:ext cx="3096344" cy="367093"/>
          </a:xfrm>
          <a:prstGeom prst="rect">
            <a:avLst/>
          </a:prstGeom>
        </p:spPr>
      </p:pic>
      <p:pic>
        <p:nvPicPr>
          <p:cNvPr id="11" name="图片 10"/>
          <p:cNvPicPr>
            <a:picLocks noChangeAspect="1"/>
          </p:cNvPicPr>
          <p:nvPr/>
        </p:nvPicPr>
        <p:blipFill>
          <a:blip r:embed="rId2"/>
          <a:stretch>
            <a:fillRect/>
          </a:stretch>
        </p:blipFill>
        <p:spPr>
          <a:xfrm>
            <a:off x="591318" y="4574622"/>
            <a:ext cx="4556745" cy="781664"/>
          </a:xfrm>
          <a:prstGeom prst="rect">
            <a:avLst/>
          </a:prstGeom>
        </p:spPr>
      </p:pic>
      <p:pic>
        <p:nvPicPr>
          <p:cNvPr id="13" name="图片 12"/>
          <p:cNvPicPr>
            <a:picLocks noChangeAspect="1"/>
          </p:cNvPicPr>
          <p:nvPr/>
        </p:nvPicPr>
        <p:blipFill>
          <a:blip r:embed="rId3"/>
          <a:stretch>
            <a:fillRect/>
          </a:stretch>
        </p:blipFill>
        <p:spPr>
          <a:xfrm>
            <a:off x="591319" y="5342185"/>
            <a:ext cx="5492849" cy="1116289"/>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逻辑运算的屏蔽作用</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16772"/>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752474"/>
            <a:ext cx="8064896" cy="5268814"/>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600" dirty="0">
                <a:solidFill>
                  <a:schemeClr val="tx1"/>
                </a:solidFill>
                <a:latin typeface="+mn-lt"/>
              </a:rPr>
              <a:t>AND</a:t>
            </a:r>
            <a:r>
              <a:rPr lang="zh-CN" altLang="en-US" sz="2600" dirty="0">
                <a:solidFill>
                  <a:schemeClr val="tx1"/>
                </a:solidFill>
                <a:latin typeface="+mn-lt"/>
              </a:rPr>
              <a:t>指令</a:t>
            </a:r>
            <a:r>
              <a:rPr lang="zh-CN" altLang="en-US" sz="2600" dirty="0">
                <a:solidFill>
                  <a:srgbClr val="FF0000"/>
                </a:solidFill>
                <a:latin typeface="+mn-lt"/>
              </a:rPr>
              <a:t>复位</a:t>
            </a:r>
            <a:r>
              <a:rPr lang="zh-CN" altLang="en-US" sz="2600" dirty="0">
                <a:solidFill>
                  <a:schemeClr val="tx1"/>
                </a:solidFill>
                <a:latin typeface="+mn-lt"/>
              </a:rPr>
              <a:t>某些位</a:t>
            </a:r>
            <a:r>
              <a:rPr lang="en-US" altLang="zh-CN" sz="2600" dirty="0">
                <a:solidFill>
                  <a:schemeClr val="tx1"/>
                </a:solidFill>
                <a:latin typeface="+mn-lt"/>
              </a:rPr>
              <a:t>(</a:t>
            </a:r>
            <a:r>
              <a:rPr lang="zh-CN" altLang="en-US" sz="2600" dirty="0">
                <a:solidFill>
                  <a:srgbClr val="FF0000"/>
                </a:solidFill>
                <a:latin typeface="+mn-lt"/>
              </a:rPr>
              <a:t>同</a:t>
            </a:r>
            <a:r>
              <a:rPr lang="en-US" altLang="zh-CN" sz="2600" dirty="0">
                <a:solidFill>
                  <a:srgbClr val="FF0000"/>
                </a:solidFill>
                <a:latin typeface="+mn-lt"/>
              </a:rPr>
              <a:t>0</a:t>
            </a:r>
            <a:r>
              <a:rPr lang="zh-CN" altLang="en-US" sz="2600" dirty="0">
                <a:solidFill>
                  <a:srgbClr val="FF0000"/>
                </a:solidFill>
                <a:latin typeface="+mn-lt"/>
              </a:rPr>
              <a:t>与</a:t>
            </a:r>
            <a:r>
              <a:rPr lang="en-US" altLang="zh-CN" sz="2600" dirty="0">
                <a:solidFill>
                  <a:schemeClr val="tx1"/>
                </a:solidFill>
                <a:latin typeface="+mn-lt"/>
              </a:rPr>
              <a:t>)</a:t>
            </a:r>
            <a:r>
              <a:rPr lang="zh-CN" altLang="en-US" sz="2600" dirty="0">
                <a:solidFill>
                  <a:schemeClr val="tx1"/>
                </a:solidFill>
                <a:latin typeface="+mn-lt"/>
              </a:rPr>
              <a:t>，不影响其他</a:t>
            </a:r>
            <a:r>
              <a:rPr lang="en-US" altLang="zh-CN" sz="2600" dirty="0">
                <a:solidFill>
                  <a:schemeClr val="tx1"/>
                </a:solidFill>
                <a:latin typeface="+mn-lt"/>
              </a:rPr>
              <a:t>(</a:t>
            </a:r>
            <a:r>
              <a:rPr lang="zh-CN" altLang="en-US" sz="2600" dirty="0">
                <a:solidFill>
                  <a:schemeClr val="tx1"/>
                </a:solidFill>
                <a:latin typeface="+mn-lt"/>
              </a:rPr>
              <a:t>同</a:t>
            </a:r>
            <a:r>
              <a:rPr lang="en-US" altLang="zh-CN" sz="2600" dirty="0">
                <a:solidFill>
                  <a:schemeClr val="tx1"/>
                </a:solidFill>
                <a:latin typeface="+mn-lt"/>
              </a:rPr>
              <a:t>1</a:t>
            </a:r>
            <a:r>
              <a:rPr lang="zh-CN" altLang="en-US" sz="2600" dirty="0">
                <a:solidFill>
                  <a:schemeClr val="tx1"/>
                </a:solidFill>
                <a:latin typeface="+mn-lt"/>
              </a:rPr>
              <a:t>与</a:t>
            </a:r>
            <a:r>
              <a:rPr lang="en-US" altLang="zh-CN" sz="2600" dirty="0">
                <a:solidFill>
                  <a:schemeClr val="tx1"/>
                </a:solidFill>
                <a:latin typeface="+mn-lt"/>
              </a:rPr>
              <a:t>)</a:t>
            </a:r>
            <a:endParaRPr lang="en-US" altLang="zh-CN" sz="26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600" dirty="0">
                <a:solidFill>
                  <a:schemeClr val="tx1"/>
                </a:solidFill>
                <a:latin typeface="+mn-lt"/>
              </a:rPr>
              <a:t>OR</a:t>
            </a:r>
            <a:r>
              <a:rPr lang="zh-CN" altLang="en-US" sz="2600" dirty="0">
                <a:solidFill>
                  <a:schemeClr val="tx1"/>
                </a:solidFill>
                <a:latin typeface="+mn-lt"/>
              </a:rPr>
              <a:t>指令</a:t>
            </a:r>
            <a:r>
              <a:rPr lang="zh-CN" altLang="en-US" sz="2600" dirty="0">
                <a:solidFill>
                  <a:srgbClr val="FF0000"/>
                </a:solidFill>
                <a:latin typeface="+mn-lt"/>
              </a:rPr>
              <a:t>置位</a:t>
            </a:r>
            <a:r>
              <a:rPr lang="zh-CN" altLang="en-US" sz="2600" dirty="0">
                <a:solidFill>
                  <a:schemeClr val="tx1"/>
                </a:solidFill>
                <a:latin typeface="+mn-lt"/>
              </a:rPr>
              <a:t>某些位</a:t>
            </a:r>
            <a:r>
              <a:rPr lang="en-US" altLang="zh-CN" sz="2600" dirty="0">
                <a:solidFill>
                  <a:schemeClr val="tx1"/>
                </a:solidFill>
                <a:latin typeface="+mn-lt"/>
              </a:rPr>
              <a:t>(</a:t>
            </a:r>
            <a:r>
              <a:rPr lang="zh-CN" altLang="en-US" sz="2600" dirty="0">
                <a:solidFill>
                  <a:srgbClr val="FF0000"/>
                </a:solidFill>
                <a:latin typeface="+mn-lt"/>
              </a:rPr>
              <a:t>同</a:t>
            </a:r>
            <a:r>
              <a:rPr lang="en-US" altLang="zh-CN" sz="2600" dirty="0">
                <a:solidFill>
                  <a:srgbClr val="FF0000"/>
                </a:solidFill>
                <a:latin typeface="+mn-lt"/>
              </a:rPr>
              <a:t>1</a:t>
            </a:r>
            <a:r>
              <a:rPr lang="zh-CN" altLang="en-US" sz="2600" dirty="0">
                <a:solidFill>
                  <a:srgbClr val="FF0000"/>
                </a:solidFill>
                <a:latin typeface="+mn-lt"/>
              </a:rPr>
              <a:t>或</a:t>
            </a:r>
            <a:r>
              <a:rPr lang="en-US" altLang="zh-CN" sz="2600" dirty="0">
                <a:solidFill>
                  <a:schemeClr val="tx1"/>
                </a:solidFill>
                <a:latin typeface="+mn-lt"/>
              </a:rPr>
              <a:t>)</a:t>
            </a:r>
            <a:r>
              <a:rPr lang="zh-CN" altLang="en-US" sz="2600" dirty="0">
                <a:solidFill>
                  <a:schemeClr val="tx1"/>
                </a:solidFill>
                <a:latin typeface="+mn-lt"/>
              </a:rPr>
              <a:t>，不影响其他</a:t>
            </a:r>
            <a:r>
              <a:rPr lang="en-US" altLang="zh-CN" sz="2600" dirty="0">
                <a:solidFill>
                  <a:schemeClr val="tx1"/>
                </a:solidFill>
                <a:latin typeface="+mn-lt"/>
              </a:rPr>
              <a:t>(</a:t>
            </a:r>
            <a:r>
              <a:rPr lang="zh-CN" altLang="en-US" sz="2600" dirty="0">
                <a:solidFill>
                  <a:schemeClr val="tx1"/>
                </a:solidFill>
                <a:latin typeface="+mn-lt"/>
              </a:rPr>
              <a:t>同</a:t>
            </a:r>
            <a:r>
              <a:rPr lang="en-US" altLang="zh-CN" sz="2600" dirty="0">
                <a:solidFill>
                  <a:schemeClr val="tx1"/>
                </a:solidFill>
                <a:latin typeface="+mn-lt"/>
              </a:rPr>
              <a:t>0</a:t>
            </a:r>
            <a:r>
              <a:rPr lang="zh-CN" altLang="en-US" sz="2600" dirty="0">
                <a:solidFill>
                  <a:schemeClr val="tx1"/>
                </a:solidFill>
                <a:latin typeface="+mn-lt"/>
              </a:rPr>
              <a:t>或</a:t>
            </a:r>
            <a:r>
              <a:rPr lang="en-US" altLang="zh-CN" sz="2600" dirty="0">
                <a:solidFill>
                  <a:schemeClr val="tx1"/>
                </a:solidFill>
                <a:latin typeface="+mn-lt"/>
              </a:rPr>
              <a:t>)</a:t>
            </a:r>
            <a:endParaRPr lang="en-US" altLang="zh-CN" sz="26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600" dirty="0">
                <a:solidFill>
                  <a:schemeClr val="tx1"/>
                </a:solidFill>
                <a:latin typeface="+mn-lt"/>
              </a:rPr>
              <a:t>XOR</a:t>
            </a:r>
            <a:r>
              <a:rPr lang="zh-CN" altLang="en-US" sz="2600" dirty="0">
                <a:solidFill>
                  <a:srgbClr val="FF0000"/>
                </a:solidFill>
                <a:latin typeface="+mn-lt"/>
              </a:rPr>
              <a:t>求反</a:t>
            </a:r>
            <a:r>
              <a:rPr lang="zh-CN" altLang="en-US" sz="2600" dirty="0">
                <a:solidFill>
                  <a:schemeClr val="tx1"/>
                </a:solidFill>
                <a:latin typeface="+mn-lt"/>
              </a:rPr>
              <a:t>某些位</a:t>
            </a:r>
            <a:r>
              <a:rPr lang="en-US" altLang="zh-CN" sz="2600" dirty="0">
                <a:solidFill>
                  <a:schemeClr val="tx1"/>
                </a:solidFill>
                <a:latin typeface="+mn-lt"/>
              </a:rPr>
              <a:t>(</a:t>
            </a:r>
            <a:r>
              <a:rPr lang="zh-CN" altLang="en-US" sz="2600" dirty="0">
                <a:solidFill>
                  <a:srgbClr val="FF0000"/>
                </a:solidFill>
                <a:latin typeface="+mn-lt"/>
              </a:rPr>
              <a:t>同</a:t>
            </a:r>
            <a:r>
              <a:rPr lang="en-US" altLang="zh-CN" sz="2600" dirty="0">
                <a:solidFill>
                  <a:srgbClr val="FF0000"/>
                </a:solidFill>
                <a:latin typeface="+mn-lt"/>
              </a:rPr>
              <a:t>1</a:t>
            </a:r>
            <a:r>
              <a:rPr lang="zh-CN" altLang="en-US" sz="2600" dirty="0">
                <a:solidFill>
                  <a:srgbClr val="FF0000"/>
                </a:solidFill>
                <a:latin typeface="+mn-lt"/>
              </a:rPr>
              <a:t>异或</a:t>
            </a:r>
            <a:r>
              <a:rPr lang="en-US" altLang="zh-CN" sz="2600" dirty="0">
                <a:solidFill>
                  <a:schemeClr val="tx1"/>
                </a:solidFill>
                <a:latin typeface="+mn-lt"/>
              </a:rPr>
              <a:t>)</a:t>
            </a:r>
            <a:r>
              <a:rPr lang="zh-CN" altLang="en-US" sz="2600" dirty="0">
                <a:solidFill>
                  <a:schemeClr val="tx1"/>
                </a:solidFill>
                <a:latin typeface="+mn-lt"/>
              </a:rPr>
              <a:t>，不影响其他</a:t>
            </a:r>
            <a:r>
              <a:rPr lang="en-US" altLang="zh-CN" sz="2600" dirty="0">
                <a:solidFill>
                  <a:schemeClr val="tx1"/>
                </a:solidFill>
                <a:latin typeface="+mn-lt"/>
              </a:rPr>
              <a:t>(</a:t>
            </a:r>
            <a:r>
              <a:rPr lang="zh-CN" altLang="en-US" sz="2600" dirty="0">
                <a:solidFill>
                  <a:schemeClr val="tx1"/>
                </a:solidFill>
                <a:latin typeface="+mn-lt"/>
              </a:rPr>
              <a:t>同</a:t>
            </a:r>
            <a:r>
              <a:rPr lang="en-US" altLang="zh-CN" sz="2600" dirty="0">
                <a:solidFill>
                  <a:schemeClr val="tx1"/>
                </a:solidFill>
                <a:latin typeface="+mn-lt"/>
              </a:rPr>
              <a:t>0</a:t>
            </a:r>
            <a:r>
              <a:rPr lang="zh-CN" altLang="en-US" sz="2600" dirty="0">
                <a:solidFill>
                  <a:schemeClr val="tx1"/>
                </a:solidFill>
                <a:latin typeface="+mn-lt"/>
              </a:rPr>
              <a:t>异或</a:t>
            </a:r>
            <a:r>
              <a:rPr lang="en-US" altLang="zh-CN" sz="2600" dirty="0">
                <a:solidFill>
                  <a:schemeClr val="tx1"/>
                </a:solidFill>
                <a:latin typeface="+mn-lt"/>
              </a:rPr>
              <a:t>)</a:t>
            </a:r>
            <a:endParaRPr lang="en-US" altLang="zh-CN" sz="2600" dirty="0">
              <a:solidFill>
                <a:schemeClr val="tx1"/>
              </a:solidFill>
              <a:latin typeface="+mn-lt"/>
            </a:endParaRPr>
          </a:p>
          <a:p>
            <a:pPr lvl="8" algn="just">
              <a:lnSpc>
                <a:spcPct val="130000"/>
              </a:lnSpc>
              <a:buClr>
                <a:srgbClr val="0000FF"/>
              </a:buClr>
            </a:pPr>
            <a:endParaRPr lang="en-US" altLang="zh-CN" sz="4000" dirty="0">
              <a:solidFill>
                <a:schemeClr val="tx1"/>
              </a:solidFill>
              <a:latin typeface="+mn-lt"/>
            </a:endParaRPr>
          </a:p>
          <a:p>
            <a:pPr lvl="8" algn="just">
              <a:lnSpc>
                <a:spcPct val="130000"/>
              </a:lnSpc>
              <a:buClr>
                <a:srgbClr val="0000FF"/>
              </a:buClr>
            </a:pPr>
            <a:endParaRPr lang="en-US" altLang="zh-CN" dirty="0">
              <a:solidFill>
                <a:schemeClr val="tx1"/>
              </a:solidFill>
              <a:latin typeface="+mn-lt"/>
            </a:endParaRPr>
          </a:p>
          <a:p>
            <a:pPr marL="457200" indent="-457200" algn="just">
              <a:lnSpc>
                <a:spcPct val="125000"/>
              </a:lnSpc>
              <a:spcBef>
                <a:spcPts val="0"/>
              </a:spcBef>
              <a:buClr>
                <a:srgbClr val="0000FF"/>
              </a:buClr>
              <a:buSzPct val="100000"/>
              <a:buFont typeface="Wingdings" panose="05000000000000000000" pitchFamily="2" charset="2"/>
              <a:buChar char="Ø"/>
              <a:defRPr/>
            </a:pPr>
            <a:r>
              <a:rPr lang="zh-CN" altLang="en-US" sz="2600" dirty="0">
                <a:solidFill>
                  <a:schemeClr val="tx1"/>
                </a:solidFill>
                <a:latin typeface="+mn-lt"/>
              </a:rPr>
              <a:t>对英文字母大小写进行转换</a:t>
            </a:r>
            <a:endParaRPr lang="en-US" altLang="zh-CN" sz="2600" dirty="0">
              <a:solidFill>
                <a:schemeClr val="tx1"/>
              </a:solidFill>
              <a:latin typeface="+mn-lt"/>
            </a:endParaRPr>
          </a:p>
          <a:p>
            <a:pPr marL="914400" lvl="1" indent="-457200" algn="just">
              <a:lnSpc>
                <a:spcPct val="125000"/>
              </a:lnSpc>
              <a:spcBef>
                <a:spcPts val="0"/>
              </a:spcBef>
              <a:buClr>
                <a:srgbClr val="0000FF"/>
              </a:buClr>
              <a:buFont typeface="Wingdings" panose="05000000000000000000" pitchFamily="2" charset="2"/>
              <a:buChar char="ü"/>
            </a:pPr>
            <a:r>
              <a:rPr lang="en-US" altLang="zh-CN" sz="2400" dirty="0">
                <a:solidFill>
                  <a:schemeClr val="tx1"/>
                </a:solidFill>
                <a:latin typeface="+mn-lt"/>
              </a:rPr>
              <a:t>ASCII</a:t>
            </a:r>
            <a:r>
              <a:rPr lang="zh-CN" altLang="en-US" sz="2400" dirty="0">
                <a:solidFill>
                  <a:schemeClr val="tx1"/>
                </a:solidFill>
                <a:latin typeface="+mn-lt"/>
              </a:rPr>
              <a:t>码相差</a:t>
            </a:r>
            <a:r>
              <a:rPr lang="en-US" altLang="zh-CN" sz="2400" dirty="0">
                <a:solidFill>
                  <a:schemeClr val="tx1"/>
                </a:solidFill>
                <a:latin typeface="+mn-lt"/>
              </a:rPr>
              <a:t>20H</a:t>
            </a:r>
            <a:r>
              <a:rPr lang="zh-CN" altLang="en-US" sz="2400" dirty="0">
                <a:solidFill>
                  <a:schemeClr val="tx1"/>
                </a:solidFill>
                <a:latin typeface="+mn-lt"/>
              </a:rPr>
              <a:t>，可利用</a:t>
            </a:r>
            <a:r>
              <a:rPr lang="en-US" altLang="zh-CN" sz="2400" dirty="0">
                <a:solidFill>
                  <a:schemeClr val="tx1"/>
                </a:solidFill>
                <a:latin typeface="+mn-lt"/>
              </a:rPr>
              <a:t>sub</a:t>
            </a:r>
            <a:r>
              <a:rPr lang="zh-CN" altLang="en-US" sz="2400" dirty="0">
                <a:solidFill>
                  <a:schemeClr val="tx1"/>
                </a:solidFill>
                <a:latin typeface="+mn-lt"/>
              </a:rPr>
              <a:t>或</a:t>
            </a:r>
            <a:r>
              <a:rPr lang="en-US" altLang="zh-CN" sz="2400" dirty="0">
                <a:solidFill>
                  <a:schemeClr val="tx1"/>
                </a:solidFill>
                <a:latin typeface="+mn-lt"/>
              </a:rPr>
              <a:t>add</a:t>
            </a:r>
            <a:r>
              <a:rPr lang="zh-CN" altLang="en-US" sz="2400" dirty="0">
                <a:solidFill>
                  <a:schemeClr val="tx1"/>
                </a:solidFill>
                <a:latin typeface="+mn-lt"/>
              </a:rPr>
              <a:t>指令</a:t>
            </a:r>
            <a:endParaRPr lang="zh-CN" altLang="en-US" sz="2400" dirty="0">
              <a:solidFill>
                <a:schemeClr val="tx1"/>
              </a:solidFill>
              <a:latin typeface="+mn-lt"/>
            </a:endParaRPr>
          </a:p>
          <a:p>
            <a:pPr marL="914400" lvl="1" indent="-457200" algn="just">
              <a:lnSpc>
                <a:spcPct val="125000"/>
              </a:lnSpc>
              <a:spcBef>
                <a:spcPts val="0"/>
              </a:spcBef>
              <a:buClr>
                <a:srgbClr val="0000FF"/>
              </a:buClr>
              <a:buFont typeface="Wingdings" panose="05000000000000000000" pitchFamily="2" charset="2"/>
              <a:buChar char="ü"/>
            </a:pPr>
            <a:r>
              <a:rPr lang="en-US" altLang="zh-CN" sz="2400" dirty="0">
                <a:solidFill>
                  <a:schemeClr val="tx1"/>
                </a:solidFill>
                <a:latin typeface="+mn-lt"/>
              </a:rPr>
              <a:t>ASCII</a:t>
            </a:r>
            <a:r>
              <a:rPr lang="zh-CN" altLang="en-US" sz="2400" dirty="0">
                <a:solidFill>
                  <a:schemeClr val="tx1"/>
                </a:solidFill>
                <a:latin typeface="+mn-lt"/>
              </a:rPr>
              <a:t>码仅</a:t>
            </a:r>
            <a:r>
              <a:rPr lang="en-US" altLang="zh-CN" sz="2400" dirty="0">
                <a:solidFill>
                  <a:schemeClr val="tx1"/>
                </a:solidFill>
                <a:latin typeface="+mn-lt"/>
              </a:rPr>
              <a:t>D</a:t>
            </a:r>
            <a:r>
              <a:rPr lang="en-US" altLang="zh-CN" sz="2400" baseline="-25000" dirty="0">
                <a:solidFill>
                  <a:schemeClr val="tx1"/>
                </a:solidFill>
                <a:latin typeface="+mn-lt"/>
              </a:rPr>
              <a:t>5</a:t>
            </a:r>
            <a:r>
              <a:rPr lang="zh-CN" altLang="en-US" sz="2400" dirty="0">
                <a:solidFill>
                  <a:schemeClr val="tx1"/>
                </a:solidFill>
                <a:latin typeface="+mn-lt"/>
              </a:rPr>
              <a:t>位不同，利用</a:t>
            </a:r>
            <a:r>
              <a:rPr lang="en-US" altLang="zh-CN" sz="2400" dirty="0" err="1">
                <a:solidFill>
                  <a:schemeClr val="tx1"/>
                </a:solidFill>
                <a:latin typeface="+mn-lt"/>
              </a:rPr>
              <a:t>xor</a:t>
            </a:r>
            <a:r>
              <a:rPr lang="zh-CN" altLang="en-US" sz="2400" dirty="0">
                <a:solidFill>
                  <a:schemeClr val="tx1"/>
                </a:solidFill>
                <a:latin typeface="+mn-lt"/>
              </a:rPr>
              <a:t>指令</a:t>
            </a:r>
            <a:endParaRPr lang="zh-CN" altLang="en-US"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zh-CN" altLang="en-US" sz="2600" dirty="0">
              <a:solidFill>
                <a:schemeClr val="tx1"/>
              </a:solidFill>
              <a:latin typeface="+mn-lt"/>
            </a:endParaRPr>
          </a:p>
        </p:txBody>
      </p:sp>
      <p:sp>
        <p:nvSpPr>
          <p:cNvPr id="3" name="Rectangle 3"/>
          <p:cNvSpPr>
            <a:spLocks noChangeArrowheads="1"/>
          </p:cNvSpPr>
          <p:nvPr/>
        </p:nvSpPr>
        <p:spPr bwMode="auto">
          <a:xfrm>
            <a:off x="1115616" y="2420887"/>
            <a:ext cx="7488832" cy="136815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and bl, 11110110b		</a:t>
            </a:r>
            <a:r>
              <a:rPr lang="en-US" altLang="zh-CN" sz="2200" dirty="0">
                <a:solidFill>
                  <a:srgbClr val="FF0000"/>
                </a:solidFill>
                <a:latin typeface="+mj-lt"/>
                <a:ea typeface="黑体" panose="02010609060101010101" pitchFamily="49" charset="-122"/>
              </a:rPr>
              <a:t>;BL</a:t>
            </a:r>
            <a:r>
              <a:rPr lang="zh-CN" altLang="en-US" sz="2200" dirty="0">
                <a:solidFill>
                  <a:srgbClr val="FF0000"/>
                </a:solidFill>
                <a:latin typeface="+mj-lt"/>
                <a:ea typeface="黑体" panose="02010609060101010101" pitchFamily="49" charset="-122"/>
              </a:rPr>
              <a:t>中</a:t>
            </a:r>
            <a:r>
              <a:rPr lang="en-US" altLang="zh-CN" sz="2200" dirty="0">
                <a:solidFill>
                  <a:srgbClr val="FF0000"/>
                </a:solidFill>
                <a:latin typeface="+mj-lt"/>
                <a:ea typeface="黑体" panose="02010609060101010101" pitchFamily="49" charset="-122"/>
              </a:rPr>
              <a:t>D0</a:t>
            </a:r>
            <a:r>
              <a:rPr lang="zh-CN" altLang="en-US" sz="2200" dirty="0">
                <a:solidFill>
                  <a:srgbClr val="FF0000"/>
                </a:solidFill>
                <a:latin typeface="+mj-lt"/>
                <a:ea typeface="黑体" panose="02010609060101010101" pitchFamily="49" charset="-122"/>
              </a:rPr>
              <a:t>和</a:t>
            </a:r>
            <a:r>
              <a:rPr lang="en-US" altLang="zh-CN" sz="2200" dirty="0">
                <a:solidFill>
                  <a:srgbClr val="FF0000"/>
                </a:solidFill>
                <a:latin typeface="+mj-lt"/>
                <a:ea typeface="黑体" panose="02010609060101010101" pitchFamily="49" charset="-122"/>
              </a:rPr>
              <a:t>D3</a:t>
            </a:r>
            <a:r>
              <a:rPr lang="zh-CN" altLang="en-US" sz="2200" dirty="0">
                <a:solidFill>
                  <a:srgbClr val="FF0000"/>
                </a:solidFill>
                <a:latin typeface="+mj-lt"/>
                <a:ea typeface="黑体" panose="02010609060101010101" pitchFamily="49" charset="-122"/>
              </a:rPr>
              <a:t>清</a:t>
            </a:r>
            <a:r>
              <a:rPr lang="en-US" altLang="zh-CN" sz="2200" dirty="0">
                <a:solidFill>
                  <a:srgbClr val="FF0000"/>
                </a:solidFill>
                <a:latin typeface="+mj-lt"/>
                <a:ea typeface="黑体" panose="02010609060101010101" pitchFamily="49" charset="-122"/>
              </a:rPr>
              <a:t>0</a:t>
            </a:r>
            <a:r>
              <a:rPr lang="zh-CN" altLang="en-US" sz="2200" dirty="0">
                <a:solidFill>
                  <a:srgbClr val="FF0000"/>
                </a:solidFill>
                <a:latin typeface="+mj-lt"/>
                <a:ea typeface="黑体" panose="02010609060101010101" pitchFamily="49" charset="-122"/>
              </a:rPr>
              <a:t>，其余位不变</a:t>
            </a:r>
            <a:endParaRPr lang="zh-CN" altLang="en-US"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or bl, 00001001b		</a:t>
            </a:r>
            <a:r>
              <a:rPr lang="en-US" altLang="zh-CN" sz="2200" dirty="0">
                <a:solidFill>
                  <a:srgbClr val="FF0000"/>
                </a:solidFill>
                <a:latin typeface="+mj-lt"/>
                <a:ea typeface="黑体" panose="02010609060101010101" pitchFamily="49" charset="-122"/>
              </a:rPr>
              <a:t>;BL</a:t>
            </a:r>
            <a:r>
              <a:rPr lang="zh-CN" altLang="en-US" sz="2200" dirty="0">
                <a:solidFill>
                  <a:srgbClr val="FF0000"/>
                </a:solidFill>
                <a:latin typeface="+mj-lt"/>
                <a:ea typeface="黑体" panose="02010609060101010101" pitchFamily="49" charset="-122"/>
              </a:rPr>
              <a:t>中</a:t>
            </a:r>
            <a:r>
              <a:rPr lang="en-US" altLang="zh-CN" sz="2200" dirty="0">
                <a:solidFill>
                  <a:srgbClr val="FF0000"/>
                </a:solidFill>
                <a:latin typeface="+mj-lt"/>
                <a:ea typeface="黑体" panose="02010609060101010101" pitchFamily="49" charset="-122"/>
              </a:rPr>
              <a:t>D0</a:t>
            </a:r>
            <a:r>
              <a:rPr lang="zh-CN" altLang="en-US" sz="2200" dirty="0">
                <a:solidFill>
                  <a:srgbClr val="FF0000"/>
                </a:solidFill>
                <a:latin typeface="+mj-lt"/>
                <a:ea typeface="黑体" panose="02010609060101010101" pitchFamily="49" charset="-122"/>
              </a:rPr>
              <a:t>和</a:t>
            </a:r>
            <a:r>
              <a:rPr lang="en-US" altLang="zh-CN" sz="2200" dirty="0">
                <a:solidFill>
                  <a:srgbClr val="FF0000"/>
                </a:solidFill>
                <a:latin typeface="+mj-lt"/>
                <a:ea typeface="黑体" panose="02010609060101010101" pitchFamily="49" charset="-122"/>
              </a:rPr>
              <a:t>D3</a:t>
            </a:r>
            <a:r>
              <a:rPr lang="zh-CN" altLang="en-US" sz="2200" dirty="0">
                <a:solidFill>
                  <a:srgbClr val="FF0000"/>
                </a:solidFill>
                <a:latin typeface="+mj-lt"/>
                <a:ea typeface="黑体" panose="02010609060101010101" pitchFamily="49" charset="-122"/>
              </a:rPr>
              <a:t>置</a:t>
            </a:r>
            <a:r>
              <a:rPr lang="en-US" altLang="zh-CN" sz="2200" dirty="0">
                <a:solidFill>
                  <a:srgbClr val="FF0000"/>
                </a:solidFill>
                <a:latin typeface="+mj-lt"/>
                <a:ea typeface="黑体" panose="02010609060101010101" pitchFamily="49" charset="-122"/>
              </a:rPr>
              <a:t>1</a:t>
            </a:r>
            <a:r>
              <a:rPr lang="zh-CN" altLang="en-US" sz="2200" dirty="0">
                <a:solidFill>
                  <a:srgbClr val="FF0000"/>
                </a:solidFill>
                <a:latin typeface="+mj-lt"/>
                <a:ea typeface="黑体" panose="02010609060101010101" pitchFamily="49" charset="-122"/>
              </a:rPr>
              <a:t>，其余位不变</a:t>
            </a:r>
            <a:endParaRPr lang="zh-CN" altLang="en-US"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xor</a:t>
            </a:r>
            <a:r>
              <a:rPr lang="en-US" altLang="zh-CN" sz="2200" b="1" dirty="0">
                <a:solidFill>
                  <a:srgbClr val="00B050"/>
                </a:solidFill>
                <a:latin typeface="+mj-lt"/>
                <a:ea typeface="黑体" panose="02010609060101010101" pitchFamily="49" charset="-122"/>
              </a:rPr>
              <a:t> bl, 00001001b		</a:t>
            </a:r>
            <a:r>
              <a:rPr lang="en-US" altLang="zh-CN" sz="2200" dirty="0">
                <a:solidFill>
                  <a:srgbClr val="FF0000"/>
                </a:solidFill>
                <a:latin typeface="+mj-lt"/>
                <a:ea typeface="黑体" panose="02010609060101010101" pitchFamily="49" charset="-122"/>
              </a:rPr>
              <a:t>;BL</a:t>
            </a:r>
            <a:r>
              <a:rPr lang="zh-CN" altLang="en-US" sz="2200" dirty="0">
                <a:solidFill>
                  <a:srgbClr val="FF0000"/>
                </a:solidFill>
                <a:latin typeface="+mj-lt"/>
                <a:ea typeface="黑体" panose="02010609060101010101" pitchFamily="49" charset="-122"/>
              </a:rPr>
              <a:t>中</a:t>
            </a:r>
            <a:r>
              <a:rPr lang="en-US" altLang="zh-CN" sz="2200" dirty="0">
                <a:solidFill>
                  <a:srgbClr val="FF0000"/>
                </a:solidFill>
                <a:latin typeface="+mj-lt"/>
                <a:ea typeface="黑体" panose="02010609060101010101" pitchFamily="49" charset="-122"/>
              </a:rPr>
              <a:t>D0</a:t>
            </a:r>
            <a:r>
              <a:rPr lang="zh-CN" altLang="en-US" sz="2200" dirty="0">
                <a:solidFill>
                  <a:srgbClr val="FF0000"/>
                </a:solidFill>
                <a:latin typeface="+mj-lt"/>
                <a:ea typeface="黑体" panose="02010609060101010101" pitchFamily="49" charset="-122"/>
              </a:rPr>
              <a:t>和</a:t>
            </a:r>
            <a:r>
              <a:rPr lang="en-US" altLang="zh-CN" sz="2200" dirty="0">
                <a:solidFill>
                  <a:srgbClr val="FF0000"/>
                </a:solidFill>
                <a:latin typeface="+mj-lt"/>
                <a:ea typeface="黑体" panose="02010609060101010101" pitchFamily="49" charset="-122"/>
              </a:rPr>
              <a:t>D3</a:t>
            </a:r>
            <a:r>
              <a:rPr lang="zh-CN" altLang="en-US" sz="2200" dirty="0">
                <a:solidFill>
                  <a:srgbClr val="FF0000"/>
                </a:solidFill>
                <a:latin typeface="+mj-lt"/>
                <a:ea typeface="黑体" panose="02010609060101010101" pitchFamily="49" charset="-122"/>
              </a:rPr>
              <a:t>求反，其余位不变</a:t>
            </a:r>
            <a:endParaRPr lang="zh-CN" altLang="en-US"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endParaRPr lang="en-US" altLang="zh-CN" sz="2200" dirty="0">
              <a:solidFill>
                <a:schemeClr val="tx1"/>
              </a:solidFill>
              <a:latin typeface="+mj-lt"/>
              <a:ea typeface="黑体" panose="02010609060101010101" pitchFamily="49" charset="-122"/>
            </a:endParaRPr>
          </a:p>
        </p:txBody>
      </p:sp>
      <p:sp>
        <p:nvSpPr>
          <p:cNvPr id="2" name="filecab3"/>
          <p:cNvSpPr>
            <a:spLocks noEditPoints="1" noChangeArrowheads="1"/>
          </p:cNvSpPr>
          <p:nvPr/>
        </p:nvSpPr>
        <p:spPr bwMode="auto">
          <a:xfrm flipV="1">
            <a:off x="1112565" y="5229199"/>
            <a:ext cx="3675459" cy="1368153"/>
          </a:xfrm>
          <a:custGeom>
            <a:avLst/>
            <a:gdLst>
              <a:gd name="T0" fmla="*/ 2147483646 w 21600"/>
              <a:gd name="T1" fmla="*/ 0 h 21600"/>
              <a:gd name="T2" fmla="*/ 0 w 21600"/>
              <a:gd name="T3" fmla="*/ 0 h 21600"/>
              <a:gd name="T4" fmla="*/ 0 w 21600"/>
              <a:gd name="T5" fmla="*/ 2147483646 h 21600"/>
              <a:gd name="T6" fmla="*/ 0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1004 w 21600"/>
              <a:gd name="T25" fmla="*/ 511 h 21600"/>
              <a:gd name="T26" fmla="*/ 20542 w 21600"/>
              <a:gd name="T27" fmla="*/ 1876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10788" y="0"/>
                </a:moveTo>
                <a:lnTo>
                  <a:pt x="0" y="0"/>
                </a:lnTo>
                <a:lnTo>
                  <a:pt x="0" y="10800"/>
                </a:lnTo>
                <a:lnTo>
                  <a:pt x="0" y="19099"/>
                </a:lnTo>
                <a:lnTo>
                  <a:pt x="8466" y="19099"/>
                </a:lnTo>
                <a:lnTo>
                  <a:pt x="8490" y="19440"/>
                </a:lnTo>
                <a:lnTo>
                  <a:pt x="8537" y="20008"/>
                </a:lnTo>
                <a:lnTo>
                  <a:pt x="8607" y="20349"/>
                </a:lnTo>
                <a:lnTo>
                  <a:pt x="8701" y="20691"/>
                </a:lnTo>
                <a:lnTo>
                  <a:pt x="8842" y="21145"/>
                </a:lnTo>
                <a:lnTo>
                  <a:pt x="9053" y="21373"/>
                </a:lnTo>
                <a:lnTo>
                  <a:pt x="9264" y="21600"/>
                </a:lnTo>
                <a:lnTo>
                  <a:pt x="9545" y="21600"/>
                </a:lnTo>
                <a:lnTo>
                  <a:pt x="10718" y="21600"/>
                </a:lnTo>
                <a:lnTo>
                  <a:pt x="11891" y="21600"/>
                </a:lnTo>
                <a:lnTo>
                  <a:pt x="12266" y="21600"/>
                </a:lnTo>
                <a:lnTo>
                  <a:pt x="12477" y="21429"/>
                </a:lnTo>
                <a:lnTo>
                  <a:pt x="12618" y="21202"/>
                </a:lnTo>
                <a:lnTo>
                  <a:pt x="12758" y="20861"/>
                </a:lnTo>
                <a:lnTo>
                  <a:pt x="12922" y="20349"/>
                </a:lnTo>
                <a:lnTo>
                  <a:pt x="12993" y="19952"/>
                </a:lnTo>
                <a:lnTo>
                  <a:pt x="13016" y="19440"/>
                </a:lnTo>
                <a:lnTo>
                  <a:pt x="13063" y="19099"/>
                </a:lnTo>
                <a:lnTo>
                  <a:pt x="21600" y="19099"/>
                </a:lnTo>
                <a:lnTo>
                  <a:pt x="21600" y="10800"/>
                </a:lnTo>
                <a:lnTo>
                  <a:pt x="21600" y="0"/>
                </a:lnTo>
                <a:lnTo>
                  <a:pt x="10788" y="0"/>
                </a:lnTo>
                <a:close/>
                <a:moveTo>
                  <a:pt x="9053" y="19099"/>
                </a:moveTo>
                <a:lnTo>
                  <a:pt x="9053" y="19440"/>
                </a:lnTo>
                <a:lnTo>
                  <a:pt x="9076" y="19611"/>
                </a:lnTo>
                <a:lnTo>
                  <a:pt x="9123" y="19781"/>
                </a:lnTo>
                <a:lnTo>
                  <a:pt x="9193" y="20008"/>
                </a:lnTo>
                <a:lnTo>
                  <a:pt x="9264" y="20179"/>
                </a:lnTo>
                <a:lnTo>
                  <a:pt x="9334" y="20293"/>
                </a:lnTo>
                <a:lnTo>
                  <a:pt x="9405" y="20349"/>
                </a:lnTo>
                <a:lnTo>
                  <a:pt x="9545" y="20349"/>
                </a:lnTo>
                <a:lnTo>
                  <a:pt x="11891" y="20349"/>
                </a:lnTo>
                <a:lnTo>
                  <a:pt x="12031" y="20349"/>
                </a:lnTo>
                <a:lnTo>
                  <a:pt x="12172" y="20236"/>
                </a:lnTo>
                <a:lnTo>
                  <a:pt x="12266" y="20179"/>
                </a:lnTo>
                <a:lnTo>
                  <a:pt x="12336" y="20008"/>
                </a:lnTo>
                <a:lnTo>
                  <a:pt x="12383" y="19838"/>
                </a:lnTo>
                <a:lnTo>
                  <a:pt x="12430" y="19611"/>
                </a:lnTo>
                <a:lnTo>
                  <a:pt x="12477" y="19440"/>
                </a:lnTo>
                <a:lnTo>
                  <a:pt x="12477" y="19099"/>
                </a:lnTo>
                <a:lnTo>
                  <a:pt x="9053" y="19099"/>
                </a:lnTo>
                <a:close/>
              </a:path>
              <a:path w="21600" h="21600" extrusionOk="0">
                <a:moveTo>
                  <a:pt x="9053" y="19099"/>
                </a:moveTo>
                <a:lnTo>
                  <a:pt x="0" y="19099"/>
                </a:lnTo>
                <a:lnTo>
                  <a:pt x="21600" y="19099"/>
                </a:lnTo>
              </a:path>
            </a:pathLst>
          </a:custGeom>
          <a:solidFill>
            <a:schemeClr val="bg1">
              <a:lumMod val="90000"/>
            </a:schemeClr>
          </a:solidFill>
          <a:ln w="9525" cap="rnd">
            <a:solidFill>
              <a:schemeClr val="tx1"/>
            </a:solidFill>
            <a:prstDash val="sysDot"/>
            <a:miter lim="800000"/>
          </a:ln>
          <a:effectLst>
            <a:outerShdw dist="107763" dir="2700000" algn="ctr" rotWithShape="0">
              <a:srgbClr val="808080"/>
            </a:outerShdw>
          </a:effectLst>
        </p:spPr>
        <p:txBody>
          <a:bodyPr rot="10800000"/>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Tx/>
              <a:buNone/>
            </a:pPr>
            <a:r>
              <a:rPr lang="zh-CN" altLang="en-US" sz="2400" b="0" dirty="0">
                <a:solidFill>
                  <a:srgbClr val="0000FF"/>
                </a:solidFill>
                <a:latin typeface="+mn-lt"/>
                <a:ea typeface="黑体" panose="02010609060101010101" pitchFamily="49" charset="-122"/>
              </a:rPr>
              <a:t>大写 ＝ 小写 </a:t>
            </a:r>
            <a:r>
              <a:rPr lang="en-US" altLang="zh-CN" sz="2400" b="0" dirty="0">
                <a:solidFill>
                  <a:srgbClr val="0000FF"/>
                </a:solidFill>
                <a:latin typeface="+mj-lt"/>
              </a:rPr>
              <a:t>AND DFH</a:t>
            </a:r>
            <a:endParaRPr lang="en-US" altLang="zh-CN" sz="2400" b="0" dirty="0">
              <a:solidFill>
                <a:srgbClr val="0000FF"/>
              </a:solidFill>
              <a:latin typeface="+mj-lt"/>
            </a:endParaRPr>
          </a:p>
          <a:p>
            <a:pPr eaLnBrk="1" hangingPunct="1">
              <a:spcBef>
                <a:spcPct val="0"/>
              </a:spcBef>
              <a:buClrTx/>
              <a:buFontTx/>
              <a:buNone/>
            </a:pPr>
            <a:r>
              <a:rPr lang="zh-CN" altLang="en-US" sz="2400" b="0" dirty="0">
                <a:solidFill>
                  <a:srgbClr val="0000FF"/>
                </a:solidFill>
                <a:latin typeface="+mn-lt"/>
                <a:ea typeface="黑体" panose="02010609060101010101" pitchFamily="49" charset="-122"/>
              </a:rPr>
              <a:t>小写 ＝ 大写 </a:t>
            </a:r>
            <a:r>
              <a:rPr lang="en-US" altLang="zh-CN" sz="2400" b="0" dirty="0">
                <a:solidFill>
                  <a:srgbClr val="0000FF"/>
                </a:solidFill>
                <a:latin typeface="+mj-lt"/>
              </a:rPr>
              <a:t>OR 20H</a:t>
            </a:r>
            <a:endParaRPr lang="en-US" altLang="zh-CN" sz="2400" b="0" dirty="0">
              <a:solidFill>
                <a:srgbClr val="0000FF"/>
              </a:solidFill>
              <a:latin typeface="+mj-lt"/>
            </a:endParaRPr>
          </a:p>
          <a:p>
            <a:pPr eaLnBrk="1" hangingPunct="1">
              <a:spcBef>
                <a:spcPct val="0"/>
              </a:spcBef>
              <a:buClrTx/>
              <a:buFontTx/>
              <a:buNone/>
            </a:pPr>
            <a:r>
              <a:rPr lang="zh-CN" altLang="en-US" sz="2400" b="0" dirty="0">
                <a:solidFill>
                  <a:srgbClr val="FF0000"/>
                </a:solidFill>
                <a:latin typeface="+mn-lt"/>
                <a:ea typeface="黑体" panose="02010609060101010101" pitchFamily="49" charset="-122"/>
              </a:rPr>
              <a:t>改变大小写 </a:t>
            </a:r>
            <a:r>
              <a:rPr lang="en-US" altLang="zh-CN" sz="2400" b="0" dirty="0">
                <a:solidFill>
                  <a:srgbClr val="FF0000"/>
                </a:solidFill>
                <a:latin typeface="+mj-lt"/>
              </a:rPr>
              <a:t>XOR 20H</a:t>
            </a:r>
            <a:endParaRPr lang="zh-CN" altLang="en-US" sz="2400" b="0" dirty="0">
              <a:solidFill>
                <a:srgbClr val="FF0000"/>
              </a:solidFill>
              <a:latin typeface="+mj-lt"/>
            </a:endParaRPr>
          </a:p>
        </p:txBody>
      </p:sp>
      <p:sp>
        <p:nvSpPr>
          <p:cNvPr id="4" name="filecab3"/>
          <p:cNvSpPr>
            <a:spLocks noEditPoints="1" noChangeArrowheads="1"/>
          </p:cNvSpPr>
          <p:nvPr/>
        </p:nvSpPr>
        <p:spPr bwMode="auto">
          <a:xfrm flipV="1">
            <a:off x="6228184" y="5229198"/>
            <a:ext cx="2334345" cy="1368154"/>
          </a:xfrm>
          <a:custGeom>
            <a:avLst/>
            <a:gdLst>
              <a:gd name="T0" fmla="*/ 2147483646 w 21600"/>
              <a:gd name="T1" fmla="*/ 0 h 21600"/>
              <a:gd name="T2" fmla="*/ 0 w 21600"/>
              <a:gd name="T3" fmla="*/ 0 h 21600"/>
              <a:gd name="T4" fmla="*/ 0 w 21600"/>
              <a:gd name="T5" fmla="*/ 2147483646 h 21600"/>
              <a:gd name="T6" fmla="*/ 0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1004 w 21600"/>
              <a:gd name="T25" fmla="*/ 511 h 21600"/>
              <a:gd name="T26" fmla="*/ 20542 w 21600"/>
              <a:gd name="T27" fmla="*/ 1876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10788" y="0"/>
                </a:moveTo>
                <a:lnTo>
                  <a:pt x="0" y="0"/>
                </a:lnTo>
                <a:lnTo>
                  <a:pt x="0" y="10800"/>
                </a:lnTo>
                <a:lnTo>
                  <a:pt x="0" y="19099"/>
                </a:lnTo>
                <a:lnTo>
                  <a:pt x="8466" y="19099"/>
                </a:lnTo>
                <a:lnTo>
                  <a:pt x="8490" y="19440"/>
                </a:lnTo>
                <a:lnTo>
                  <a:pt x="8537" y="20008"/>
                </a:lnTo>
                <a:lnTo>
                  <a:pt x="8607" y="20349"/>
                </a:lnTo>
                <a:lnTo>
                  <a:pt x="8701" y="20691"/>
                </a:lnTo>
                <a:lnTo>
                  <a:pt x="8842" y="21145"/>
                </a:lnTo>
                <a:lnTo>
                  <a:pt x="9053" y="21373"/>
                </a:lnTo>
                <a:lnTo>
                  <a:pt x="9264" y="21600"/>
                </a:lnTo>
                <a:lnTo>
                  <a:pt x="9545" y="21600"/>
                </a:lnTo>
                <a:lnTo>
                  <a:pt x="10718" y="21600"/>
                </a:lnTo>
                <a:lnTo>
                  <a:pt x="11891" y="21600"/>
                </a:lnTo>
                <a:lnTo>
                  <a:pt x="12266" y="21600"/>
                </a:lnTo>
                <a:lnTo>
                  <a:pt x="12477" y="21429"/>
                </a:lnTo>
                <a:lnTo>
                  <a:pt x="12618" y="21202"/>
                </a:lnTo>
                <a:lnTo>
                  <a:pt x="12758" y="20861"/>
                </a:lnTo>
                <a:lnTo>
                  <a:pt x="12922" y="20349"/>
                </a:lnTo>
                <a:lnTo>
                  <a:pt x="12993" y="19952"/>
                </a:lnTo>
                <a:lnTo>
                  <a:pt x="13016" y="19440"/>
                </a:lnTo>
                <a:lnTo>
                  <a:pt x="13063" y="19099"/>
                </a:lnTo>
                <a:lnTo>
                  <a:pt x="21600" y="19099"/>
                </a:lnTo>
                <a:lnTo>
                  <a:pt x="21600" y="10800"/>
                </a:lnTo>
                <a:lnTo>
                  <a:pt x="21600" y="0"/>
                </a:lnTo>
                <a:lnTo>
                  <a:pt x="10788" y="0"/>
                </a:lnTo>
                <a:close/>
                <a:moveTo>
                  <a:pt x="9053" y="19099"/>
                </a:moveTo>
                <a:lnTo>
                  <a:pt x="9053" y="19440"/>
                </a:lnTo>
                <a:lnTo>
                  <a:pt x="9076" y="19611"/>
                </a:lnTo>
                <a:lnTo>
                  <a:pt x="9123" y="19781"/>
                </a:lnTo>
                <a:lnTo>
                  <a:pt x="9193" y="20008"/>
                </a:lnTo>
                <a:lnTo>
                  <a:pt x="9264" y="20179"/>
                </a:lnTo>
                <a:lnTo>
                  <a:pt x="9334" y="20293"/>
                </a:lnTo>
                <a:lnTo>
                  <a:pt x="9405" y="20349"/>
                </a:lnTo>
                <a:lnTo>
                  <a:pt x="9545" y="20349"/>
                </a:lnTo>
                <a:lnTo>
                  <a:pt x="11891" y="20349"/>
                </a:lnTo>
                <a:lnTo>
                  <a:pt x="12031" y="20349"/>
                </a:lnTo>
                <a:lnTo>
                  <a:pt x="12172" y="20236"/>
                </a:lnTo>
                <a:lnTo>
                  <a:pt x="12266" y="20179"/>
                </a:lnTo>
                <a:lnTo>
                  <a:pt x="12336" y="20008"/>
                </a:lnTo>
                <a:lnTo>
                  <a:pt x="12383" y="19838"/>
                </a:lnTo>
                <a:lnTo>
                  <a:pt x="12430" y="19611"/>
                </a:lnTo>
                <a:lnTo>
                  <a:pt x="12477" y="19440"/>
                </a:lnTo>
                <a:lnTo>
                  <a:pt x="12477" y="19099"/>
                </a:lnTo>
                <a:lnTo>
                  <a:pt x="9053" y="19099"/>
                </a:lnTo>
                <a:close/>
              </a:path>
              <a:path w="21600" h="21600" extrusionOk="0">
                <a:moveTo>
                  <a:pt x="9053" y="19099"/>
                </a:moveTo>
                <a:lnTo>
                  <a:pt x="0" y="19099"/>
                </a:lnTo>
                <a:lnTo>
                  <a:pt x="21600" y="19099"/>
                </a:lnTo>
              </a:path>
            </a:pathLst>
          </a:custGeom>
          <a:solidFill>
            <a:schemeClr val="bg1">
              <a:lumMod val="90000"/>
            </a:schemeClr>
          </a:solidFill>
          <a:ln w="9525" cap="rnd">
            <a:solidFill>
              <a:srgbClr val="000000"/>
            </a:solidFill>
            <a:prstDash val="sysDot"/>
            <a:miter lim="800000"/>
          </a:ln>
          <a:effectLst>
            <a:outerShdw dist="107763" dir="2700000" algn="ctr" rotWithShape="0">
              <a:srgbClr val="808080"/>
            </a:outerShdw>
          </a:effectLst>
        </p:spPr>
        <p:txBody>
          <a:bodyPr rot="10800000"/>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90000"/>
              </a:lnSpc>
              <a:spcBef>
                <a:spcPct val="0"/>
              </a:spcBef>
              <a:buClrTx/>
              <a:buNone/>
            </a:pPr>
            <a:r>
              <a:rPr lang="pt-BR" altLang="zh-CN" sz="2400" dirty="0">
                <a:latin typeface="+mj-lt"/>
              </a:rPr>
              <a:t>mov eax, 0</a:t>
            </a:r>
            <a:endParaRPr lang="pt-BR" altLang="zh-CN" sz="2400" dirty="0">
              <a:latin typeface="+mj-lt"/>
            </a:endParaRPr>
          </a:p>
          <a:p>
            <a:pPr eaLnBrk="1" hangingPunct="1">
              <a:lnSpc>
                <a:spcPct val="90000"/>
              </a:lnSpc>
              <a:spcBef>
                <a:spcPct val="0"/>
              </a:spcBef>
              <a:buClrTx/>
              <a:buFontTx/>
              <a:buNone/>
            </a:pPr>
            <a:r>
              <a:rPr lang="pt-BR" altLang="zh-CN" sz="2400" dirty="0">
                <a:latin typeface="+mj-lt"/>
              </a:rPr>
              <a:t>sub eax, eax</a:t>
            </a:r>
            <a:endParaRPr lang="pt-BR" altLang="zh-CN" sz="2400" dirty="0">
              <a:latin typeface="+mj-lt"/>
            </a:endParaRPr>
          </a:p>
          <a:p>
            <a:pPr eaLnBrk="1" hangingPunct="1">
              <a:lnSpc>
                <a:spcPct val="90000"/>
              </a:lnSpc>
              <a:spcBef>
                <a:spcPct val="0"/>
              </a:spcBef>
              <a:buClrTx/>
              <a:buNone/>
            </a:pPr>
            <a:r>
              <a:rPr lang="pt-BR" altLang="zh-CN" sz="2400" dirty="0">
                <a:latin typeface="+mj-lt"/>
              </a:rPr>
              <a:t>xor eax, eax</a:t>
            </a:r>
            <a:endParaRPr lang="pt-BR" altLang="zh-CN" sz="2400" dirty="0">
              <a:latin typeface="+mj-lt"/>
            </a:endParaRPr>
          </a:p>
        </p:txBody>
      </p:sp>
      <p:sp>
        <p:nvSpPr>
          <p:cNvPr id="12" name="Text Box 77"/>
          <p:cNvSpPr txBox="1">
            <a:spLocks noChangeArrowheads="1"/>
          </p:cNvSpPr>
          <p:nvPr/>
        </p:nvSpPr>
        <p:spPr bwMode="auto">
          <a:xfrm>
            <a:off x="6732240" y="4767535"/>
            <a:ext cx="1425390" cy="46166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400" dirty="0">
                <a:solidFill>
                  <a:srgbClr val="0000FF"/>
                </a:solidFill>
                <a:latin typeface="黑体" panose="02010609060101010101" pitchFamily="49" charset="-122"/>
                <a:ea typeface="黑体" panose="02010609060101010101" pitchFamily="49" charset="-122"/>
              </a:rPr>
              <a:t>对</a:t>
            </a:r>
            <a:r>
              <a:rPr lang="en-US" altLang="zh-CN" sz="2400" dirty="0" err="1">
                <a:solidFill>
                  <a:srgbClr val="0000FF"/>
                </a:solidFill>
                <a:latin typeface="黑体" panose="02010609060101010101" pitchFamily="49" charset="-122"/>
                <a:ea typeface="黑体" panose="02010609060101010101" pitchFamily="49" charset="-122"/>
              </a:rPr>
              <a:t>eax</a:t>
            </a:r>
            <a:r>
              <a:rPr lang="zh-CN" altLang="en-US" sz="2400" dirty="0">
                <a:solidFill>
                  <a:srgbClr val="0000FF"/>
                </a:solidFill>
                <a:latin typeface="黑体" panose="02010609060101010101" pitchFamily="49" charset="-122"/>
                <a:ea typeface="黑体" panose="02010609060101010101" pitchFamily="49" charset="-122"/>
              </a:rPr>
              <a:t>清</a:t>
            </a:r>
            <a:r>
              <a:rPr lang="en-US" altLang="zh-CN" sz="2400" dirty="0">
                <a:solidFill>
                  <a:srgbClr val="0000FF"/>
                </a:solidFill>
                <a:latin typeface="黑体" panose="02010609060101010101" pitchFamily="49" charset="-122"/>
                <a:ea typeface="黑体" panose="02010609060101010101" pitchFamily="49" charset="-122"/>
              </a:rPr>
              <a:t>0</a:t>
            </a:r>
            <a:endParaRPr lang="zh-CN" altLang="en-US" sz="2400"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68523"/>
            <a:ext cx="8136904" cy="55407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按位进行逻辑与运算，</a:t>
            </a:r>
            <a:r>
              <a:rPr lang="zh-CN" altLang="en-US" sz="2600" dirty="0">
                <a:solidFill>
                  <a:srgbClr val="FF0000"/>
                </a:solidFill>
                <a:latin typeface="+mn-lt"/>
              </a:rPr>
              <a:t>不返回</a:t>
            </a:r>
            <a:r>
              <a:rPr lang="zh-CN" altLang="en-US" sz="2600" dirty="0">
                <a:latin typeface="+mn-lt"/>
              </a:rPr>
              <a:t>逻辑与</a:t>
            </a:r>
            <a:r>
              <a:rPr lang="zh-CN" altLang="en-US" sz="2600" dirty="0">
                <a:solidFill>
                  <a:srgbClr val="FF0000"/>
                </a:solidFill>
                <a:latin typeface="+mn-lt"/>
              </a:rPr>
              <a:t>结果</a:t>
            </a:r>
            <a:endParaRPr lang="zh-CN" altLang="en-US" sz="26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en-US" altLang="zh-CN"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600" dirty="0">
                <a:solidFill>
                  <a:schemeClr val="bg2"/>
                </a:solidFill>
                <a:latin typeface="+mn-lt"/>
              </a:rPr>
              <a:t>TEST</a:t>
            </a:r>
            <a:r>
              <a:rPr lang="zh-CN" altLang="en-US" sz="2600" dirty="0">
                <a:solidFill>
                  <a:schemeClr val="bg2"/>
                </a:solidFill>
                <a:latin typeface="+mn-lt"/>
              </a:rPr>
              <a:t>指令像</a:t>
            </a:r>
            <a:r>
              <a:rPr lang="en-US" altLang="zh-CN" sz="2600" dirty="0">
                <a:solidFill>
                  <a:schemeClr val="bg2"/>
                </a:solidFill>
                <a:latin typeface="+mn-lt"/>
              </a:rPr>
              <a:t>AND</a:t>
            </a:r>
            <a:r>
              <a:rPr lang="zh-CN" altLang="en-US" sz="2600" dirty="0">
                <a:solidFill>
                  <a:schemeClr val="bg2"/>
                </a:solidFill>
                <a:latin typeface="+mn-lt"/>
              </a:rPr>
              <a:t>指令一样来设置状态标志</a:t>
            </a:r>
            <a:endParaRPr lang="zh-CN" altLang="en-US" sz="2600" dirty="0">
              <a:solidFill>
                <a:schemeClr val="bg2"/>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600" dirty="0">
                <a:solidFill>
                  <a:schemeClr val="bg2"/>
                </a:solidFill>
                <a:latin typeface="+mn-lt"/>
              </a:rPr>
              <a:t>TEST</a:t>
            </a:r>
            <a:r>
              <a:rPr lang="zh-CN" altLang="en-US" sz="2600" dirty="0">
                <a:solidFill>
                  <a:schemeClr val="bg2"/>
                </a:solidFill>
                <a:latin typeface="+mn-lt"/>
              </a:rPr>
              <a:t>指令常用于检测一些条件是否满足，</a:t>
            </a:r>
            <a:r>
              <a:rPr lang="zh-CN" altLang="en-US" sz="2600" dirty="0">
                <a:solidFill>
                  <a:srgbClr val="0000FF"/>
                </a:solidFill>
                <a:latin typeface="+mn-lt"/>
              </a:rPr>
              <a:t>和</a:t>
            </a:r>
            <a:r>
              <a:rPr lang="en-US" altLang="zh-CN" sz="2600" dirty="0">
                <a:solidFill>
                  <a:srgbClr val="0000FF"/>
                </a:solidFill>
                <a:latin typeface="+mn-lt"/>
              </a:rPr>
              <a:t>CMP</a:t>
            </a:r>
            <a:r>
              <a:rPr lang="zh-CN" altLang="en-US" sz="2600" dirty="0">
                <a:solidFill>
                  <a:srgbClr val="0000FF"/>
                </a:solidFill>
                <a:latin typeface="+mn-lt"/>
              </a:rPr>
              <a:t>指令类似一般后跟条件转移指令</a:t>
            </a:r>
            <a:endParaRPr lang="zh-CN" altLang="en-US" sz="2600" dirty="0">
              <a:solidFill>
                <a:srgbClr val="0000FF"/>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600" dirty="0">
                <a:solidFill>
                  <a:schemeClr val="bg2"/>
                </a:solidFill>
                <a:latin typeface="+mn-lt"/>
              </a:rPr>
              <a:t>TEST</a:t>
            </a:r>
            <a:r>
              <a:rPr lang="zh-CN" altLang="en-US" sz="2600" dirty="0">
                <a:solidFill>
                  <a:schemeClr val="bg2"/>
                </a:solidFill>
                <a:latin typeface="+mn-lt"/>
              </a:rPr>
              <a:t>指令</a:t>
            </a:r>
            <a:r>
              <a:rPr lang="zh-CN" altLang="en-US" sz="2600" dirty="0">
                <a:latin typeface="+mn-lt"/>
              </a:rPr>
              <a:t>经常和</a:t>
            </a:r>
            <a:r>
              <a:rPr lang="en-US" altLang="zh-CN" sz="2600" dirty="0">
                <a:latin typeface="+mn-lt"/>
              </a:rPr>
              <a:t>ZF</a:t>
            </a:r>
            <a:r>
              <a:rPr lang="zh-CN" altLang="en-US" sz="2600" dirty="0">
                <a:latin typeface="+mn-lt"/>
              </a:rPr>
              <a:t>标志结合</a:t>
            </a:r>
            <a:r>
              <a:rPr lang="zh-CN" altLang="en-US" sz="2600" dirty="0">
                <a:solidFill>
                  <a:schemeClr val="bg2"/>
                </a:solidFill>
                <a:latin typeface="+mn-lt"/>
              </a:rPr>
              <a:t>来判断某一位是否为</a:t>
            </a:r>
            <a:r>
              <a:rPr lang="en-US" altLang="zh-CN" sz="2600" dirty="0">
                <a:solidFill>
                  <a:schemeClr val="bg2"/>
                </a:solidFill>
                <a:latin typeface="+mn-lt"/>
              </a:rPr>
              <a:t>0</a:t>
            </a:r>
            <a:endParaRPr lang="en-US" altLang="zh-CN" sz="2600" dirty="0">
              <a:solidFill>
                <a:schemeClr val="bg2"/>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5.</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测试指令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TEST</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034083" y="1412776"/>
            <a:ext cx="7560840" cy="494531"/>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test </a:t>
            </a:r>
            <a:r>
              <a:rPr lang="en-US" altLang="zh-CN" sz="2200" b="1" dirty="0" err="1">
                <a:solidFill>
                  <a:srgbClr val="00B050"/>
                </a:solidFill>
                <a:latin typeface="+mj-lt"/>
                <a:ea typeface="黑体" panose="02010609060101010101" pitchFamily="49" charset="-122"/>
              </a:rPr>
              <a:t>dest,src</a:t>
            </a:r>
            <a:r>
              <a:rPr lang="en-US" altLang="zh-CN" sz="2200" b="1" dirty="0">
                <a:solidFill>
                  <a:srgbClr val="00B05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逻辑与运算：</a:t>
            </a:r>
            <a:r>
              <a:rPr lang="en-US" altLang="zh-CN" sz="2200" dirty="0" err="1">
                <a:solidFill>
                  <a:srgbClr val="FF0000"/>
                </a:solidFill>
                <a:latin typeface="+mj-lt"/>
                <a:ea typeface="黑体" panose="02010609060101010101" pitchFamily="49" charset="-122"/>
              </a:rPr>
              <a:t>dest</a:t>
            </a:r>
            <a:r>
              <a:rPr lang="en-US" altLang="zh-CN" sz="2200" dirty="0">
                <a:solidFill>
                  <a:srgbClr val="FF0000"/>
                </a:solidFill>
                <a:latin typeface="+mj-lt"/>
                <a:ea typeface="黑体" panose="02010609060101010101" pitchFamily="49" charset="-122"/>
              </a:rPr>
              <a:t> </a:t>
            </a:r>
            <a:r>
              <a:rPr lang="en-US" altLang="zh-CN" sz="2200" dirty="0">
                <a:solidFill>
                  <a:srgbClr val="FF0000"/>
                </a:solidFill>
                <a:latin typeface="+mj-lt"/>
                <a:ea typeface="黑体" panose="02010609060101010101" pitchFamily="49" charset="-122"/>
                <a:sym typeface="Symbol" panose="05050102010706020507" pitchFamily="18" charset="2"/>
              </a:rPr>
              <a:t></a:t>
            </a:r>
            <a:r>
              <a:rPr lang="en-US" altLang="zh-CN" sz="2200" dirty="0">
                <a:solidFill>
                  <a:srgbClr val="FF0000"/>
                </a:solidFill>
                <a:latin typeface="+mj-lt"/>
                <a:ea typeface="黑体" panose="02010609060101010101" pitchFamily="49" charset="-122"/>
              </a:rPr>
              <a:t> </a:t>
            </a:r>
            <a:r>
              <a:rPr lang="en-US" altLang="zh-CN" sz="2200" dirty="0" err="1">
                <a:solidFill>
                  <a:srgbClr val="FF0000"/>
                </a:solidFill>
                <a:latin typeface="+mj-lt"/>
                <a:ea typeface="黑体" panose="02010609060101010101" pitchFamily="49" charset="-122"/>
              </a:rPr>
              <a:t>src</a:t>
            </a:r>
            <a:endParaRPr lang="en-US" altLang="zh-CN" sz="2200" dirty="0">
              <a:solidFill>
                <a:srgbClr val="FF0000"/>
              </a:solidFill>
              <a:latin typeface="+mj-lt"/>
              <a:ea typeface="黑体" panose="02010609060101010101" pitchFamily="49" charset="-122"/>
            </a:endParaRPr>
          </a:p>
        </p:txBody>
      </p:sp>
      <p:sp>
        <p:nvSpPr>
          <p:cNvPr id="3" name="Rectangle 3"/>
          <p:cNvSpPr>
            <a:spLocks noChangeArrowheads="1"/>
          </p:cNvSpPr>
          <p:nvPr/>
        </p:nvSpPr>
        <p:spPr bwMode="auto">
          <a:xfrm>
            <a:off x="1043608" y="4198786"/>
            <a:ext cx="7560840" cy="1008112"/>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test </a:t>
            </a:r>
            <a:r>
              <a:rPr lang="en-US" altLang="zh-CN" sz="2200" b="1" dirty="0" err="1">
                <a:solidFill>
                  <a:srgbClr val="00B050"/>
                </a:solidFill>
                <a:latin typeface="+mj-lt"/>
                <a:ea typeface="黑体" panose="02010609060101010101" pitchFamily="49" charset="-122"/>
              </a:rPr>
              <a:t>eax</a:t>
            </a:r>
            <a:r>
              <a:rPr lang="en-US" altLang="zh-CN" sz="2200" b="1" dirty="0">
                <a:solidFill>
                  <a:srgbClr val="00B050"/>
                </a:solidFill>
                <a:latin typeface="+mj-lt"/>
                <a:ea typeface="黑体" panose="02010609060101010101" pitchFamily="49" charset="-122"/>
              </a:rPr>
              <a:t>, 0200h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测试</a:t>
            </a:r>
            <a:r>
              <a:rPr lang="en-US" altLang="zh-CN" sz="2200" dirty="0" err="1">
                <a:solidFill>
                  <a:srgbClr val="FF0000"/>
                </a:solidFill>
                <a:latin typeface="+mj-lt"/>
                <a:ea typeface="黑体" panose="02010609060101010101" pitchFamily="49" charset="-122"/>
              </a:rPr>
              <a:t>eax</a:t>
            </a:r>
            <a:r>
              <a:rPr lang="zh-CN" altLang="en-US" sz="2200" dirty="0">
                <a:solidFill>
                  <a:srgbClr val="FF0000"/>
                </a:solidFill>
                <a:latin typeface="+mj-lt"/>
                <a:ea typeface="黑体" panose="02010609060101010101" pitchFamily="49" charset="-122"/>
              </a:rPr>
              <a:t>的第</a:t>
            </a:r>
            <a:r>
              <a:rPr lang="en-US" altLang="zh-CN" sz="2200" dirty="0">
                <a:solidFill>
                  <a:srgbClr val="FF0000"/>
                </a:solidFill>
                <a:latin typeface="+mj-lt"/>
                <a:ea typeface="黑体" panose="02010609060101010101" pitchFamily="49" charset="-122"/>
              </a:rPr>
              <a:t>10</a:t>
            </a:r>
            <a:r>
              <a:rPr lang="zh-CN" altLang="en-US" sz="2200" dirty="0">
                <a:solidFill>
                  <a:srgbClr val="FF0000"/>
                </a:solidFill>
                <a:latin typeface="+mj-lt"/>
                <a:ea typeface="黑体" panose="02010609060101010101" pitchFamily="49" charset="-122"/>
              </a:rPr>
              <a:t>位是否为</a:t>
            </a:r>
            <a:r>
              <a:rPr lang="en-US" altLang="zh-CN" sz="2200" dirty="0">
                <a:solidFill>
                  <a:srgbClr val="FF0000"/>
                </a:solidFill>
                <a:latin typeface="+mj-lt"/>
                <a:ea typeface="黑体" panose="02010609060101010101" pitchFamily="49" charset="-122"/>
              </a:rPr>
              <a:t>0</a:t>
            </a:r>
            <a:endParaRPr lang="zh-CN" altLang="en-US" sz="2200" dirty="0">
              <a:solidFill>
                <a:srgbClr val="FF000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err="1">
                <a:solidFill>
                  <a:srgbClr val="00B050"/>
                </a:solidFill>
                <a:latin typeface="+mj-lt"/>
                <a:ea typeface="黑体" panose="02010609060101010101" pitchFamily="49" charset="-122"/>
              </a:rPr>
              <a:t>jnz</a:t>
            </a:r>
            <a:r>
              <a:rPr lang="en-US" altLang="zh-CN" sz="2200" b="1" dirty="0">
                <a:solidFill>
                  <a:srgbClr val="00B050"/>
                </a:solidFill>
                <a:latin typeface="+mj-lt"/>
                <a:ea typeface="黑体" panose="02010609060101010101" pitchFamily="49" charset="-122"/>
              </a:rPr>
              <a:t> ******			</a:t>
            </a:r>
            <a:r>
              <a:rPr lang="en-US" altLang="zh-CN" sz="2200" dirty="0">
                <a:solidFill>
                  <a:srgbClr val="FF0000"/>
                </a:solidFill>
                <a:latin typeface="+mj-lt"/>
                <a:ea typeface="黑体" panose="02010609060101010101" pitchFamily="49" charset="-122"/>
              </a:rPr>
              <a:t>;</a:t>
            </a:r>
            <a:r>
              <a:rPr lang="zh-CN" altLang="en-US" sz="2200" dirty="0">
                <a:solidFill>
                  <a:srgbClr val="FF0000"/>
                </a:solidFill>
                <a:latin typeface="+mj-lt"/>
                <a:ea typeface="黑体" panose="02010609060101010101" pitchFamily="49" charset="-122"/>
              </a:rPr>
              <a:t>如果</a:t>
            </a:r>
            <a:r>
              <a:rPr lang="en-US" altLang="zh-CN" sz="2200" dirty="0">
                <a:solidFill>
                  <a:srgbClr val="FF0000"/>
                </a:solidFill>
                <a:latin typeface="+mj-lt"/>
                <a:ea typeface="黑体" panose="02010609060101010101" pitchFamily="49" charset="-122"/>
              </a:rPr>
              <a:t>ZF=0</a:t>
            </a:r>
            <a:r>
              <a:rPr lang="zh-CN" altLang="en-US" sz="2200" dirty="0">
                <a:solidFill>
                  <a:srgbClr val="FF0000"/>
                </a:solidFill>
                <a:latin typeface="+mj-lt"/>
                <a:ea typeface="黑体" panose="02010609060101010101" pitchFamily="49" charset="-122"/>
              </a:rPr>
              <a:t>则跳转到标号处执行</a:t>
            </a:r>
            <a:endParaRPr lang="zh-CN" altLang="en-US" sz="2200" dirty="0">
              <a:solidFill>
                <a:srgbClr val="FF0000"/>
              </a:solidFill>
              <a:latin typeface="+mj-lt"/>
              <a:ea typeface="黑体" panose="02010609060101010101" pitchFamily="49" charset="-122"/>
            </a:endParaRPr>
          </a:p>
        </p:txBody>
      </p:sp>
      <p:grpSp>
        <p:nvGrpSpPr>
          <p:cNvPr id="4" name="Group 4"/>
          <p:cNvGrpSpPr/>
          <p:nvPr/>
        </p:nvGrpSpPr>
        <p:grpSpPr bwMode="auto">
          <a:xfrm>
            <a:off x="1116013" y="5349823"/>
            <a:ext cx="7272337" cy="865187"/>
            <a:chOff x="658" y="2976"/>
            <a:chExt cx="4127" cy="545"/>
          </a:xfrm>
        </p:grpSpPr>
        <p:sp>
          <p:nvSpPr>
            <p:cNvPr id="5" name="AutoShape 5"/>
            <p:cNvSpPr>
              <a:spLocks noChangeArrowheads="1"/>
            </p:cNvSpPr>
            <p:nvPr/>
          </p:nvSpPr>
          <p:spPr bwMode="auto">
            <a:xfrm>
              <a:off x="658" y="2976"/>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200" dirty="0">
                  <a:solidFill>
                    <a:srgbClr val="00B050"/>
                  </a:solidFill>
                  <a:latin typeface="+mj-lt"/>
                </a:rPr>
                <a:t>AND</a:t>
              </a:r>
              <a:r>
                <a:rPr lang="zh-CN" altLang="en-US" sz="2200" b="0" dirty="0">
                  <a:solidFill>
                    <a:srgbClr val="00B050"/>
                  </a:solidFill>
                  <a:latin typeface="黑体" panose="02010609060101010101" pitchFamily="49" charset="-122"/>
                  <a:ea typeface="黑体" panose="02010609060101010101" pitchFamily="49" charset="-122"/>
                </a:rPr>
                <a:t>与</a:t>
              </a:r>
              <a:r>
                <a:rPr lang="en-US" altLang="zh-CN" sz="2200" dirty="0">
                  <a:solidFill>
                    <a:srgbClr val="00B050"/>
                  </a:solidFill>
                  <a:latin typeface="+mj-lt"/>
                </a:rPr>
                <a:t>TEST</a:t>
              </a:r>
              <a:r>
                <a:rPr lang="zh-CN" altLang="en-US" sz="2200" dirty="0">
                  <a:solidFill>
                    <a:srgbClr val="00B050"/>
                  </a:solidFill>
                  <a:latin typeface="+mj-lt"/>
                </a:rPr>
                <a:t>？</a:t>
              </a:r>
              <a:endParaRPr lang="zh-CN" altLang="en-US" sz="2200" dirty="0">
                <a:solidFill>
                  <a:srgbClr val="00B050"/>
                </a:solidFill>
                <a:latin typeface="+mj-lt"/>
              </a:endParaRPr>
            </a:p>
          </p:txBody>
        </p:sp>
        <p:sp>
          <p:nvSpPr>
            <p:cNvPr id="9" name="AutoShape 6"/>
            <p:cNvSpPr>
              <a:spLocks noChangeArrowheads="1"/>
            </p:cNvSpPr>
            <p:nvPr/>
          </p:nvSpPr>
          <p:spPr bwMode="auto">
            <a:xfrm>
              <a:off x="2926" y="2976"/>
              <a:ext cx="1859" cy="545"/>
            </a:xfrm>
            <a:prstGeom prst="irregularSeal1">
              <a:avLst/>
            </a:prstGeom>
            <a:solidFill>
              <a:schemeClr val="bg1">
                <a:lumMod val="90000"/>
              </a:schemeClr>
            </a:solidFill>
            <a:ln w="9525" cap="rnd">
              <a:no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200" dirty="0">
                  <a:solidFill>
                    <a:srgbClr val="00B050"/>
                  </a:solidFill>
                  <a:latin typeface="+mj-lt"/>
                </a:rPr>
                <a:t>SUB</a:t>
              </a:r>
              <a:r>
                <a:rPr lang="zh-CN" altLang="en-US" sz="2200" b="0" dirty="0">
                  <a:solidFill>
                    <a:srgbClr val="00B050"/>
                  </a:solidFill>
                  <a:latin typeface="黑体" panose="02010609060101010101" pitchFamily="49" charset="-122"/>
                  <a:ea typeface="黑体" panose="02010609060101010101" pitchFamily="49" charset="-122"/>
                </a:rPr>
                <a:t>与</a:t>
              </a:r>
              <a:r>
                <a:rPr lang="en-US" altLang="zh-CN" sz="2200" dirty="0">
                  <a:solidFill>
                    <a:srgbClr val="00B050"/>
                  </a:solidFill>
                  <a:latin typeface="+mj-lt"/>
                </a:rPr>
                <a:t>CMP</a:t>
              </a:r>
              <a:r>
                <a:rPr lang="zh-CN" altLang="en-US" sz="2200" dirty="0">
                  <a:solidFill>
                    <a:srgbClr val="00B050"/>
                  </a:solidFill>
                  <a:latin typeface="+mj-lt"/>
                </a:rPr>
                <a:t>？</a:t>
              </a:r>
              <a:endParaRPr lang="zh-CN" altLang="en-US" sz="2200" dirty="0">
                <a:solidFill>
                  <a:srgbClr val="00B050"/>
                </a:solidFill>
                <a:latin typeface="+mj-lt"/>
              </a:endParaRP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3.3.2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移位指令</a:t>
            </a:r>
            <a:r>
              <a:rPr kumimoji="1" lang="en-US" altLang="zh-CN" b="0" i="0" u="none" strike="noStrike" kern="0" cap="none" spc="0" normalizeH="0" baseline="0" noProof="0" dirty="0">
                <a:ln>
                  <a:noFill/>
                </a:ln>
                <a:solidFill>
                  <a:srgbClr val="000000"/>
                </a:solidFill>
                <a:effectLst/>
                <a:uLnTx/>
                <a:uFillTx/>
                <a:latin typeface="+mj-lt"/>
                <a:cs typeface="+mj-cs"/>
              </a:rPr>
              <a:t>Shift instructions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16772"/>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752474"/>
            <a:ext cx="8064896" cy="5268814"/>
          </a:xfrm>
          <a:prstGeom prst="rect">
            <a:avLst/>
          </a:prstGeom>
        </p:spPr>
        <p:txBody>
          <a:bodyPr/>
          <a:lstStyle/>
          <a:p>
            <a:pPr marL="457200" indent="-457200" algn="just">
              <a:lnSpc>
                <a:spcPct val="125000"/>
              </a:lnSpc>
              <a:spcBef>
                <a:spcPts val="300"/>
              </a:spcBef>
              <a:buClr>
                <a:srgbClr val="0000FF"/>
              </a:buClr>
              <a:buSzPct val="100000"/>
              <a:buFont typeface="Wingdings" panose="05000000000000000000" pitchFamily="2" charset="2"/>
              <a:buChar char="Ø"/>
              <a:defRPr/>
            </a:pPr>
            <a:r>
              <a:rPr lang="zh-CN" altLang="en-US" sz="2800" dirty="0">
                <a:latin typeface="+mn-lt"/>
              </a:rPr>
              <a:t>移位指令</a:t>
            </a:r>
            <a:r>
              <a:rPr kumimoji="1" lang="en-US" altLang="zh-CN" sz="2800" b="0" i="0" u="none" strike="noStrike" kern="0" cap="none" spc="0" normalizeH="0" baseline="0" noProof="0" dirty="0">
                <a:ln>
                  <a:noFill/>
                </a:ln>
                <a:solidFill>
                  <a:srgbClr val="FF0000"/>
                </a:solidFill>
                <a:effectLst/>
                <a:uLnTx/>
                <a:uFillTx/>
                <a:latin typeface="+mj-lt"/>
                <a:cs typeface="+mj-cs"/>
              </a:rPr>
              <a:t>Sh</a:t>
            </a:r>
            <a:r>
              <a:rPr kumimoji="1" lang="en-US" altLang="zh-CN" sz="2800" b="0" i="0" u="none" strike="noStrike" kern="0" cap="none" spc="0" normalizeH="0" baseline="0" noProof="0" dirty="0">
                <a:ln>
                  <a:noFill/>
                </a:ln>
                <a:effectLst/>
                <a:uLnTx/>
                <a:uFillTx/>
                <a:latin typeface="+mj-lt"/>
                <a:cs typeface="+mj-cs"/>
              </a:rPr>
              <a:t>ift instructions</a:t>
            </a:r>
            <a:endParaRPr lang="en-US" altLang="zh-CN" sz="2800" dirty="0">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逻辑左移指令 </a:t>
            </a:r>
            <a:r>
              <a:rPr lang="en-US" altLang="zh-CN" sz="2400" dirty="0">
                <a:solidFill>
                  <a:srgbClr val="FF0000"/>
                </a:solidFill>
                <a:latin typeface="+mn-lt"/>
              </a:rPr>
              <a:t>SH</a:t>
            </a:r>
            <a:r>
              <a:rPr lang="en-US" altLang="zh-CN" sz="2400" dirty="0">
                <a:solidFill>
                  <a:schemeClr val="tx1"/>
                </a:solidFill>
                <a:latin typeface="+mn-lt"/>
              </a:rPr>
              <a:t>L</a:t>
            </a:r>
            <a:endParaRPr lang="en-US" altLang="zh-CN" sz="2400" dirty="0">
              <a:solidFill>
                <a:schemeClr val="tx1"/>
              </a:solidFill>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逻辑右移指令 </a:t>
            </a:r>
            <a:r>
              <a:rPr lang="en-US" altLang="zh-CN" sz="2400" dirty="0">
                <a:solidFill>
                  <a:srgbClr val="FF0000"/>
                </a:solidFill>
                <a:latin typeface="+mn-lt"/>
              </a:rPr>
              <a:t>SH</a:t>
            </a:r>
            <a:r>
              <a:rPr lang="en-US" altLang="zh-CN" sz="2400" dirty="0">
                <a:solidFill>
                  <a:schemeClr val="tx1"/>
                </a:solidFill>
                <a:latin typeface="+mn-lt"/>
              </a:rPr>
              <a:t>R</a:t>
            </a:r>
            <a:endParaRPr lang="en-US" altLang="zh-CN" sz="2400" dirty="0">
              <a:solidFill>
                <a:schemeClr val="tx1"/>
              </a:solidFill>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算术左移指令 </a:t>
            </a:r>
            <a:r>
              <a:rPr lang="en-US" altLang="zh-CN" sz="2400" dirty="0">
                <a:solidFill>
                  <a:srgbClr val="FF0000"/>
                </a:solidFill>
                <a:latin typeface="+mn-lt"/>
              </a:rPr>
              <a:t>S</a:t>
            </a:r>
            <a:r>
              <a:rPr lang="en-US" altLang="zh-CN" sz="2400" dirty="0">
                <a:solidFill>
                  <a:srgbClr val="00B050"/>
                </a:solidFill>
                <a:latin typeface="+mn-lt"/>
              </a:rPr>
              <a:t>A</a:t>
            </a:r>
            <a:r>
              <a:rPr lang="en-US" altLang="zh-CN" sz="2400" dirty="0">
                <a:solidFill>
                  <a:schemeClr val="tx1"/>
                </a:solidFill>
                <a:latin typeface="+mn-lt"/>
              </a:rPr>
              <a:t>L</a:t>
            </a:r>
            <a:endParaRPr lang="en-US" altLang="zh-CN" sz="2400" dirty="0">
              <a:solidFill>
                <a:schemeClr val="tx1"/>
              </a:solidFill>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算术左移指令 </a:t>
            </a:r>
            <a:r>
              <a:rPr lang="en-US" altLang="zh-CN" sz="2400" dirty="0">
                <a:solidFill>
                  <a:srgbClr val="FF0000"/>
                </a:solidFill>
                <a:latin typeface="+mn-lt"/>
              </a:rPr>
              <a:t>S</a:t>
            </a:r>
            <a:r>
              <a:rPr lang="en-US" altLang="zh-CN" sz="2400" dirty="0">
                <a:solidFill>
                  <a:srgbClr val="00B050"/>
                </a:solidFill>
                <a:latin typeface="+mn-lt"/>
              </a:rPr>
              <a:t>A</a:t>
            </a:r>
            <a:r>
              <a:rPr lang="en-US" altLang="zh-CN" sz="2400" dirty="0">
                <a:solidFill>
                  <a:schemeClr val="tx1"/>
                </a:solidFill>
                <a:latin typeface="+mn-lt"/>
              </a:rPr>
              <a:t>R</a:t>
            </a:r>
            <a:endParaRPr lang="en-US" altLang="zh-CN" sz="2400" dirty="0">
              <a:solidFill>
                <a:schemeClr val="tx1"/>
              </a:solidFill>
              <a:latin typeface="+mn-lt"/>
            </a:endParaRPr>
          </a:p>
          <a:p>
            <a:pPr marL="457200" indent="-457200" algn="just">
              <a:lnSpc>
                <a:spcPct val="125000"/>
              </a:lnSpc>
              <a:spcBef>
                <a:spcPts val="300"/>
              </a:spcBef>
              <a:buClr>
                <a:srgbClr val="0000FF"/>
              </a:buClr>
              <a:buSzPct val="100000"/>
              <a:buFont typeface="Wingdings" panose="05000000000000000000" pitchFamily="2" charset="2"/>
              <a:buChar char="Ø"/>
              <a:defRPr/>
            </a:pPr>
            <a:r>
              <a:rPr lang="zh-CN" altLang="en-US" sz="2800" dirty="0">
                <a:latin typeface="+mn-lt"/>
              </a:rPr>
              <a:t>循环移位指令</a:t>
            </a:r>
            <a:r>
              <a:rPr kumimoji="1" lang="en-US" altLang="zh-CN" sz="2800" b="0" i="0" u="none" strike="noStrike" kern="0" cap="none" spc="0" normalizeH="0" baseline="0" noProof="0" dirty="0">
                <a:ln>
                  <a:noFill/>
                </a:ln>
                <a:solidFill>
                  <a:srgbClr val="FF0000"/>
                </a:solidFill>
                <a:effectLst/>
                <a:uLnTx/>
                <a:uFillTx/>
                <a:latin typeface="+mj-lt"/>
                <a:cs typeface="+mj-cs"/>
              </a:rPr>
              <a:t>Ro</a:t>
            </a:r>
            <a:r>
              <a:rPr kumimoji="1" lang="en-US" altLang="zh-CN" sz="2800" b="0" i="0" u="none" strike="noStrike" kern="0" cap="none" spc="0" normalizeH="0" baseline="0" noProof="0" dirty="0">
                <a:ln>
                  <a:noFill/>
                </a:ln>
                <a:effectLst/>
                <a:uLnTx/>
                <a:uFillTx/>
                <a:latin typeface="+mj-lt"/>
                <a:cs typeface="+mj-cs"/>
              </a:rPr>
              <a:t>tate instructions</a:t>
            </a:r>
            <a:endParaRPr lang="en-US" altLang="zh-CN" sz="2800" dirty="0">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不带进位循环左移指令 </a:t>
            </a:r>
            <a:r>
              <a:rPr lang="en-US" altLang="zh-CN" sz="2400" dirty="0">
                <a:solidFill>
                  <a:srgbClr val="FF0000"/>
                </a:solidFill>
                <a:latin typeface="+mn-lt"/>
              </a:rPr>
              <a:t>RO</a:t>
            </a:r>
            <a:r>
              <a:rPr lang="en-US" altLang="zh-CN" sz="2400" dirty="0">
                <a:solidFill>
                  <a:schemeClr val="tx1"/>
                </a:solidFill>
                <a:latin typeface="+mn-lt"/>
              </a:rPr>
              <a:t>L</a:t>
            </a:r>
            <a:endParaRPr lang="en-US" altLang="zh-CN" sz="2400" dirty="0">
              <a:solidFill>
                <a:schemeClr val="tx1"/>
              </a:solidFill>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不带进位循环右移指令 </a:t>
            </a:r>
            <a:r>
              <a:rPr lang="en-US" altLang="zh-CN" sz="2400" dirty="0">
                <a:solidFill>
                  <a:srgbClr val="FF0000"/>
                </a:solidFill>
                <a:latin typeface="+mn-lt"/>
              </a:rPr>
              <a:t>RO</a:t>
            </a:r>
            <a:r>
              <a:rPr lang="en-US" altLang="zh-CN" sz="2400" dirty="0">
                <a:solidFill>
                  <a:schemeClr val="tx1"/>
                </a:solidFill>
                <a:latin typeface="+mn-lt"/>
              </a:rPr>
              <a:t>R</a:t>
            </a:r>
            <a:endParaRPr lang="en-US" altLang="zh-CN" sz="2400" dirty="0">
              <a:solidFill>
                <a:schemeClr val="tx1"/>
              </a:solidFill>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带进位循环左移指令 </a:t>
            </a:r>
            <a:r>
              <a:rPr lang="en-US" altLang="zh-CN" sz="2400" dirty="0">
                <a:solidFill>
                  <a:srgbClr val="FF0000"/>
                </a:solidFill>
                <a:latin typeface="+mn-lt"/>
              </a:rPr>
              <a:t>R</a:t>
            </a:r>
            <a:r>
              <a:rPr lang="en-US" altLang="zh-CN" sz="2400" dirty="0">
                <a:solidFill>
                  <a:srgbClr val="00B050"/>
                </a:solidFill>
                <a:latin typeface="+mn-lt"/>
              </a:rPr>
              <a:t>C</a:t>
            </a:r>
            <a:r>
              <a:rPr lang="en-US" altLang="zh-CN" sz="2400" dirty="0">
                <a:solidFill>
                  <a:schemeClr val="tx1"/>
                </a:solidFill>
                <a:latin typeface="+mn-lt"/>
              </a:rPr>
              <a:t>L</a:t>
            </a:r>
            <a:endParaRPr lang="en-US" altLang="zh-CN" sz="2400" dirty="0">
              <a:solidFill>
                <a:schemeClr val="tx1"/>
              </a:solidFill>
              <a:latin typeface="+mn-lt"/>
            </a:endParaRPr>
          </a:p>
          <a:p>
            <a:pPr marL="914400" lvl="1" indent="-457200" algn="just">
              <a:lnSpc>
                <a:spcPct val="125000"/>
              </a:lnSpc>
              <a:spcBef>
                <a:spcPts val="300"/>
              </a:spcBef>
              <a:buClr>
                <a:srgbClr val="0000FF"/>
              </a:buClr>
              <a:buFont typeface="Wingdings" panose="05000000000000000000" pitchFamily="2" charset="2"/>
              <a:buChar char="ü"/>
            </a:pPr>
            <a:r>
              <a:rPr lang="zh-CN" altLang="en-US" sz="2400" dirty="0">
                <a:solidFill>
                  <a:schemeClr val="tx1"/>
                </a:solidFill>
                <a:latin typeface="+mn-lt"/>
              </a:rPr>
              <a:t>带进位循环右移指令 </a:t>
            </a:r>
            <a:r>
              <a:rPr lang="en-US" altLang="zh-CN" sz="2400" dirty="0">
                <a:solidFill>
                  <a:srgbClr val="FF0000"/>
                </a:solidFill>
                <a:latin typeface="+mn-lt"/>
              </a:rPr>
              <a:t>R</a:t>
            </a:r>
            <a:r>
              <a:rPr lang="en-US" altLang="zh-CN" sz="2400" dirty="0">
                <a:solidFill>
                  <a:srgbClr val="00B050"/>
                </a:solidFill>
                <a:latin typeface="+mn-lt"/>
              </a:rPr>
              <a:t>C</a:t>
            </a:r>
            <a:r>
              <a:rPr lang="en-US" altLang="zh-CN" sz="2400" dirty="0">
                <a:solidFill>
                  <a:schemeClr val="tx1"/>
                </a:solidFill>
                <a:latin typeface="+mn-lt"/>
              </a:rPr>
              <a:t>R</a:t>
            </a:r>
            <a:endParaRPr lang="zh-CN" altLang="en-US" sz="2600" dirty="0">
              <a:solidFill>
                <a:schemeClr val="tx1"/>
              </a:solidFill>
              <a:latin typeface="+mn-lt"/>
            </a:endParaRPr>
          </a:p>
        </p:txBody>
      </p:sp>
      <p:sp>
        <p:nvSpPr>
          <p:cNvPr id="7" name="AutoShape 5"/>
          <p:cNvSpPr>
            <a:spLocks noChangeArrowheads="1"/>
          </p:cNvSpPr>
          <p:nvPr/>
        </p:nvSpPr>
        <p:spPr bwMode="auto">
          <a:xfrm>
            <a:off x="6012160" y="914400"/>
            <a:ext cx="2441004" cy="2946648"/>
          </a:xfrm>
          <a:prstGeom prst="roundRect">
            <a:avLst>
              <a:gd name="adj" fmla="val 16667"/>
            </a:avLst>
          </a:prstGeom>
          <a:solidFill>
            <a:schemeClr val="bg1">
              <a:lumMod val="90000"/>
            </a:schemeClr>
          </a:solidFill>
          <a:ln w="12700" cap="rnd">
            <a:noFill/>
            <a:prstDash val="sysDot"/>
            <a:round/>
          </a:ln>
          <a:effectLst>
            <a:outerShdw dist="35921" dir="2700000" algn="ctr" rotWithShape="0">
              <a:schemeClr val="bg2">
                <a:alpha val="50000"/>
              </a:schemeClr>
            </a:outerShdw>
          </a:effectLst>
        </p:spPr>
        <p:txBody>
          <a:bodyPr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buClrTx/>
              <a:buFontTx/>
              <a:buNone/>
            </a:pPr>
            <a:r>
              <a:rPr lang="en-US" altLang="zh-CN" sz="2600" dirty="0">
                <a:solidFill>
                  <a:schemeClr val="tx2"/>
                </a:solidFill>
                <a:latin typeface="+mj-lt"/>
              </a:rPr>
              <a:t>S</a:t>
            </a:r>
            <a:r>
              <a:rPr lang="en-US" altLang="zh-CN" sz="2600" dirty="0">
                <a:latin typeface="+mj-lt"/>
              </a:rPr>
              <a:t>: Shift</a:t>
            </a:r>
            <a:endParaRPr lang="en-US" altLang="zh-CN" sz="2600" dirty="0">
              <a:latin typeface="+mj-lt"/>
            </a:endParaRPr>
          </a:p>
          <a:p>
            <a:pPr eaLnBrk="1" hangingPunct="1">
              <a:buClrTx/>
              <a:buFontTx/>
              <a:buNone/>
            </a:pPr>
            <a:r>
              <a:rPr lang="en-US" altLang="zh-CN" sz="2600" dirty="0">
                <a:solidFill>
                  <a:schemeClr val="tx2"/>
                </a:solidFill>
                <a:latin typeface="+mj-lt"/>
              </a:rPr>
              <a:t>R</a:t>
            </a:r>
            <a:r>
              <a:rPr lang="en-US" altLang="zh-CN" sz="2600" dirty="0">
                <a:latin typeface="+mj-lt"/>
              </a:rPr>
              <a:t>: Rotate</a:t>
            </a:r>
            <a:endParaRPr lang="en-US" altLang="zh-CN" sz="2600" dirty="0">
              <a:latin typeface="+mj-lt"/>
            </a:endParaRPr>
          </a:p>
          <a:p>
            <a:pPr eaLnBrk="1" hangingPunct="1">
              <a:buClrTx/>
              <a:buFontTx/>
              <a:buNone/>
            </a:pPr>
            <a:r>
              <a:rPr lang="en-US" altLang="zh-CN" sz="2600" dirty="0">
                <a:solidFill>
                  <a:schemeClr val="tx2"/>
                </a:solidFill>
                <a:latin typeface="+mj-lt"/>
              </a:rPr>
              <a:t>L</a:t>
            </a:r>
            <a:r>
              <a:rPr lang="en-US" altLang="zh-CN" sz="2600" dirty="0">
                <a:latin typeface="+mj-lt"/>
              </a:rPr>
              <a:t>: Left</a:t>
            </a:r>
            <a:endParaRPr lang="en-US" altLang="zh-CN" sz="2600" dirty="0">
              <a:latin typeface="+mj-lt"/>
            </a:endParaRPr>
          </a:p>
          <a:p>
            <a:pPr eaLnBrk="1" hangingPunct="1">
              <a:buClrTx/>
              <a:buFontTx/>
              <a:buNone/>
            </a:pPr>
            <a:r>
              <a:rPr lang="en-US" altLang="zh-CN" sz="2600" dirty="0">
                <a:solidFill>
                  <a:schemeClr val="tx2"/>
                </a:solidFill>
                <a:latin typeface="+mj-lt"/>
              </a:rPr>
              <a:t>R</a:t>
            </a:r>
            <a:r>
              <a:rPr lang="en-US" altLang="zh-CN" sz="2600" dirty="0">
                <a:latin typeface="+mj-lt"/>
              </a:rPr>
              <a:t>: Right</a:t>
            </a:r>
            <a:endParaRPr lang="en-US" altLang="zh-CN" sz="2600" dirty="0">
              <a:latin typeface="+mj-lt"/>
            </a:endParaRPr>
          </a:p>
          <a:p>
            <a:pPr eaLnBrk="1" hangingPunct="1">
              <a:buClrTx/>
              <a:buFontTx/>
              <a:buNone/>
            </a:pPr>
            <a:r>
              <a:rPr lang="en-US" altLang="zh-CN" sz="2600" dirty="0">
                <a:solidFill>
                  <a:schemeClr val="tx2"/>
                </a:solidFill>
                <a:latin typeface="+mj-lt"/>
              </a:rPr>
              <a:t>A</a:t>
            </a:r>
            <a:r>
              <a:rPr lang="en-US" altLang="zh-CN" sz="2600" dirty="0">
                <a:latin typeface="+mj-lt"/>
              </a:rPr>
              <a:t>: Arithmetic</a:t>
            </a:r>
            <a:endParaRPr lang="en-US" altLang="zh-CN" sz="2600" dirty="0">
              <a:latin typeface="+mj-lt"/>
            </a:endParaRPr>
          </a:p>
          <a:p>
            <a:pPr eaLnBrk="1" hangingPunct="1">
              <a:buClrTx/>
              <a:buFontTx/>
              <a:buNone/>
            </a:pPr>
            <a:r>
              <a:rPr lang="en-US" altLang="zh-CN" sz="2600" dirty="0">
                <a:solidFill>
                  <a:schemeClr val="tx2"/>
                </a:solidFill>
                <a:latin typeface="+mj-lt"/>
              </a:rPr>
              <a:t>C</a:t>
            </a:r>
            <a:r>
              <a:rPr lang="en-US" altLang="zh-CN" sz="2600" dirty="0">
                <a:latin typeface="+mj-lt"/>
              </a:rPr>
              <a:t>: Carry flag</a:t>
            </a:r>
            <a:endParaRPr lang="en-US" altLang="zh-CN" sz="2600" dirty="0">
              <a:latin typeface="+mj-lt"/>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移位指令</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64299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897866" y="2564905"/>
            <a:ext cx="7756288" cy="3096343"/>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SHL reg/mem,i8/CL</a:t>
            </a:r>
            <a:endParaRPr lang="en-US" altLang="zh-CN" sz="2000" b="1" dirty="0">
              <a:solidFill>
                <a:srgbClr val="00B050"/>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	</a:t>
            </a:r>
            <a:r>
              <a:rPr lang="en-US" altLang="zh-CN" sz="2000" dirty="0">
                <a:solidFill>
                  <a:schemeClr val="tx1"/>
                </a:solidFill>
                <a:latin typeface="+mj-lt"/>
                <a:ea typeface="黑体" panose="02010609060101010101" pitchFamily="49" charset="-122"/>
              </a:rPr>
              <a:t>;</a:t>
            </a:r>
            <a:r>
              <a:rPr lang="zh-CN" altLang="en-US" sz="2000" dirty="0">
                <a:solidFill>
                  <a:schemeClr val="tx1"/>
                </a:solidFill>
                <a:latin typeface="+mj-lt"/>
                <a:ea typeface="黑体" panose="02010609060101010101" pitchFamily="49" charset="-122"/>
              </a:rPr>
              <a:t>逻辑左移：最低位补</a:t>
            </a:r>
            <a:r>
              <a:rPr lang="en-US" altLang="zh-CN" sz="2000" dirty="0">
                <a:solidFill>
                  <a:schemeClr val="tx1"/>
                </a:solidFill>
                <a:latin typeface="+mj-lt"/>
                <a:ea typeface="黑体" panose="02010609060101010101" pitchFamily="49" charset="-122"/>
              </a:rPr>
              <a:t>0</a:t>
            </a:r>
            <a:r>
              <a:rPr lang="zh-CN" altLang="en-US" sz="2000" dirty="0">
                <a:solidFill>
                  <a:schemeClr val="tx1"/>
                </a:solidFill>
                <a:latin typeface="+mj-lt"/>
                <a:ea typeface="黑体" panose="02010609060101010101" pitchFamily="49" charset="-122"/>
              </a:rPr>
              <a:t>，最高位进入</a:t>
            </a:r>
            <a:r>
              <a:rPr lang="en-US" altLang="zh-CN" sz="2000" dirty="0">
                <a:solidFill>
                  <a:schemeClr val="tx1"/>
                </a:solidFill>
                <a:latin typeface="+mj-lt"/>
                <a:ea typeface="黑体" panose="02010609060101010101" pitchFamily="49" charset="-122"/>
              </a:rPr>
              <a:t>CF</a:t>
            </a:r>
            <a:endParaRPr lang="en-US" altLang="zh-CN" sz="2000" dirty="0">
              <a:solidFill>
                <a:schemeClr val="tx1"/>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SHR reg/mem,i8/CL</a:t>
            </a:r>
            <a:endParaRPr lang="en-US" altLang="zh-CN" sz="2000" b="1" dirty="0">
              <a:solidFill>
                <a:srgbClr val="00B050"/>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	</a:t>
            </a:r>
            <a:r>
              <a:rPr lang="en-US" altLang="zh-CN" sz="2000" dirty="0">
                <a:solidFill>
                  <a:schemeClr val="tx1"/>
                </a:solidFill>
                <a:latin typeface="+mj-lt"/>
                <a:ea typeface="黑体" panose="02010609060101010101" pitchFamily="49" charset="-122"/>
              </a:rPr>
              <a:t>;</a:t>
            </a:r>
            <a:r>
              <a:rPr lang="zh-CN" altLang="en-US" sz="2000" dirty="0">
                <a:solidFill>
                  <a:schemeClr val="tx1"/>
                </a:solidFill>
                <a:latin typeface="+mj-lt"/>
                <a:ea typeface="黑体" panose="02010609060101010101" pitchFamily="49" charset="-122"/>
              </a:rPr>
              <a:t>逻辑右移：最高位补</a:t>
            </a:r>
            <a:r>
              <a:rPr lang="en-US" altLang="zh-CN" sz="2000" dirty="0">
                <a:solidFill>
                  <a:schemeClr val="tx1"/>
                </a:solidFill>
                <a:latin typeface="+mj-lt"/>
                <a:ea typeface="黑体" panose="02010609060101010101" pitchFamily="49" charset="-122"/>
              </a:rPr>
              <a:t>0</a:t>
            </a:r>
            <a:r>
              <a:rPr lang="zh-CN" altLang="en-US" sz="2000" dirty="0">
                <a:solidFill>
                  <a:schemeClr val="tx1"/>
                </a:solidFill>
                <a:latin typeface="+mj-lt"/>
                <a:ea typeface="黑体" panose="02010609060101010101" pitchFamily="49" charset="-122"/>
              </a:rPr>
              <a:t>，最低位进入</a:t>
            </a:r>
            <a:r>
              <a:rPr lang="en-US" altLang="zh-CN" sz="2000" dirty="0">
                <a:solidFill>
                  <a:schemeClr val="tx1"/>
                </a:solidFill>
                <a:latin typeface="+mj-lt"/>
                <a:ea typeface="黑体" panose="02010609060101010101" pitchFamily="49" charset="-122"/>
              </a:rPr>
              <a:t>CF</a:t>
            </a:r>
            <a:endParaRPr lang="en-US" altLang="zh-CN" sz="2000" dirty="0">
              <a:solidFill>
                <a:schemeClr val="tx1"/>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SAL reg/mem,i8/CL</a:t>
            </a:r>
            <a:endParaRPr lang="en-US" altLang="zh-CN" sz="2000" b="1" dirty="0">
              <a:solidFill>
                <a:srgbClr val="00B050"/>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	</a:t>
            </a:r>
            <a:r>
              <a:rPr lang="en-US" altLang="zh-CN" sz="2000" dirty="0">
                <a:solidFill>
                  <a:schemeClr val="tx1"/>
                </a:solidFill>
                <a:latin typeface="+mj-lt"/>
                <a:ea typeface="黑体" panose="02010609060101010101" pitchFamily="49" charset="-122"/>
              </a:rPr>
              <a:t>;</a:t>
            </a:r>
            <a:r>
              <a:rPr lang="zh-CN" altLang="en-US" sz="2000" dirty="0">
                <a:solidFill>
                  <a:schemeClr val="tx1"/>
                </a:solidFill>
                <a:latin typeface="+mj-lt"/>
                <a:ea typeface="黑体" panose="02010609060101010101" pitchFamily="49" charset="-122"/>
              </a:rPr>
              <a:t>算术左移，与</a:t>
            </a:r>
            <a:r>
              <a:rPr lang="en-US" altLang="zh-CN" sz="2000" dirty="0">
                <a:solidFill>
                  <a:schemeClr val="tx1"/>
                </a:solidFill>
                <a:latin typeface="+mj-lt"/>
                <a:ea typeface="黑体" panose="02010609060101010101" pitchFamily="49" charset="-122"/>
              </a:rPr>
              <a:t>SHL</a:t>
            </a:r>
            <a:r>
              <a:rPr lang="zh-CN" altLang="en-US" sz="2000" dirty="0">
                <a:solidFill>
                  <a:schemeClr val="tx1"/>
                </a:solidFill>
                <a:latin typeface="+mj-lt"/>
                <a:ea typeface="黑体" panose="02010609060101010101" pitchFamily="49" charset="-122"/>
              </a:rPr>
              <a:t>是同一条指令</a:t>
            </a:r>
            <a:endParaRPr lang="zh-CN" altLang="en-US" sz="2000" dirty="0">
              <a:solidFill>
                <a:schemeClr val="tx1"/>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SAR reg/mem,i8/CL</a:t>
            </a:r>
            <a:endParaRPr lang="en-US" altLang="zh-CN" sz="2000" b="1" dirty="0">
              <a:solidFill>
                <a:srgbClr val="00B050"/>
              </a:solidFill>
              <a:latin typeface="+mj-lt"/>
              <a:ea typeface="黑体" panose="02010609060101010101" pitchFamily="49" charset="-122"/>
            </a:endParaRPr>
          </a:p>
          <a:p>
            <a:pPr marL="0" indent="0" algn="just">
              <a:lnSpc>
                <a:spcPct val="125000"/>
              </a:lnSpc>
              <a:spcBef>
                <a:spcPts val="0"/>
              </a:spcBef>
              <a:buClr>
                <a:srgbClr val="0000FF"/>
              </a:buClr>
              <a:buSzPct val="100000"/>
              <a:buNone/>
              <a:defRPr/>
            </a:pPr>
            <a:r>
              <a:rPr lang="en-US" altLang="zh-CN" sz="2000" b="1" dirty="0">
                <a:solidFill>
                  <a:srgbClr val="00B050"/>
                </a:solidFill>
                <a:latin typeface="+mj-lt"/>
                <a:ea typeface="黑体" panose="02010609060101010101" pitchFamily="49" charset="-122"/>
              </a:rPr>
              <a:t>	</a:t>
            </a:r>
            <a:r>
              <a:rPr lang="en-US" altLang="zh-CN" sz="2000" dirty="0">
                <a:solidFill>
                  <a:schemeClr val="tx1"/>
                </a:solidFill>
                <a:latin typeface="+mj-lt"/>
                <a:ea typeface="黑体" panose="02010609060101010101" pitchFamily="49" charset="-122"/>
              </a:rPr>
              <a:t>;</a:t>
            </a:r>
            <a:r>
              <a:rPr lang="zh-CN" altLang="en-US" sz="2000" dirty="0">
                <a:solidFill>
                  <a:schemeClr val="tx1"/>
                </a:solidFill>
                <a:latin typeface="+mj-lt"/>
                <a:ea typeface="黑体" panose="02010609060101010101" pitchFamily="49" charset="-122"/>
              </a:rPr>
              <a:t>算术右移：最高位不变，最低位进入</a:t>
            </a:r>
            <a:r>
              <a:rPr lang="en-US" altLang="zh-CN" sz="2000" dirty="0">
                <a:solidFill>
                  <a:schemeClr val="tx1"/>
                </a:solidFill>
                <a:latin typeface="+mj-lt"/>
                <a:ea typeface="黑体" panose="02010609060101010101" pitchFamily="49" charset="-122"/>
              </a:rPr>
              <a:t>CF</a:t>
            </a:r>
            <a:endParaRPr lang="en-US" altLang="zh-CN" sz="2000" dirty="0">
              <a:solidFill>
                <a:schemeClr val="tx1"/>
              </a:solidFill>
              <a:latin typeface="+mj-lt"/>
              <a:ea typeface="黑体" panose="02010609060101010101" pitchFamily="49" charset="-122"/>
            </a:endParaRPr>
          </a:p>
        </p:txBody>
      </p:sp>
      <p:sp>
        <p:nvSpPr>
          <p:cNvPr id="5" name="内容占位符 2"/>
          <p:cNvSpPr txBox="1"/>
          <p:nvPr/>
        </p:nvSpPr>
        <p:spPr>
          <a:xfrm>
            <a:off x="361136" y="570982"/>
            <a:ext cx="8064896" cy="1993922"/>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分逻辑（</a:t>
            </a:r>
            <a:r>
              <a:rPr lang="en-US" altLang="zh-CN" sz="2600" dirty="0">
                <a:latin typeface="+mn-lt"/>
              </a:rPr>
              <a:t>Logical</a:t>
            </a:r>
            <a:r>
              <a:rPr lang="zh-CN" altLang="en-US" sz="2600" dirty="0">
                <a:latin typeface="+mn-lt"/>
              </a:rPr>
              <a:t>）和算术（</a:t>
            </a:r>
            <a:r>
              <a:rPr lang="en-US" altLang="zh-CN" sz="2600" dirty="0">
                <a:latin typeface="+mn-lt"/>
              </a:rPr>
              <a:t>Arithmetic</a:t>
            </a:r>
            <a:r>
              <a:rPr lang="zh-CN" altLang="en-US" sz="2600" dirty="0">
                <a:latin typeface="+mn-lt"/>
              </a:rPr>
              <a:t>）移位</a:t>
            </a:r>
            <a:endParaRPr lang="zh-CN" altLang="en-US" sz="26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具有左移（</a:t>
            </a:r>
            <a:r>
              <a:rPr lang="en-US" altLang="zh-CN" sz="2400" dirty="0">
                <a:solidFill>
                  <a:schemeClr val="tx1"/>
                </a:solidFill>
                <a:latin typeface="+mn-lt"/>
              </a:rPr>
              <a:t>Left</a:t>
            </a:r>
            <a:r>
              <a:rPr lang="zh-CN" altLang="en-US" sz="2400" dirty="0">
                <a:solidFill>
                  <a:schemeClr val="tx1"/>
                </a:solidFill>
                <a:latin typeface="+mn-lt"/>
              </a:rPr>
              <a:t>）或右移（</a:t>
            </a:r>
            <a:r>
              <a:rPr lang="en-US" altLang="zh-CN" sz="2400" dirty="0">
                <a:solidFill>
                  <a:schemeClr val="tx1"/>
                </a:solidFill>
                <a:latin typeface="+mn-lt"/>
              </a:rPr>
              <a:t>Right</a:t>
            </a:r>
            <a:r>
              <a:rPr lang="zh-CN" altLang="en-US" sz="2400" dirty="0">
                <a:solidFill>
                  <a:schemeClr val="tx1"/>
                </a:solidFill>
                <a:latin typeface="+mn-lt"/>
              </a:rPr>
              <a:t>）操作</a:t>
            </a:r>
            <a:endParaRPr lang="zh-CN" altLang="en-US"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目的操作数：寄存器或存储单元</a:t>
            </a:r>
            <a:r>
              <a:rPr lang="en-US" altLang="zh-CN" sz="2400" dirty="0">
                <a:solidFill>
                  <a:schemeClr val="tx1"/>
                </a:solidFill>
                <a:latin typeface="+mn-lt"/>
              </a:rPr>
              <a:t>reg/mem</a:t>
            </a: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源操作数：移位位数用</a:t>
            </a:r>
            <a:r>
              <a:rPr lang="en-US" altLang="zh-CN" sz="2400" dirty="0">
                <a:solidFill>
                  <a:schemeClr val="tx1"/>
                </a:solidFill>
                <a:latin typeface="+mn-lt"/>
              </a:rPr>
              <a:t>8</a:t>
            </a:r>
            <a:r>
              <a:rPr lang="zh-CN" altLang="en-US" sz="2400" dirty="0">
                <a:solidFill>
                  <a:schemeClr val="tx1"/>
                </a:solidFill>
                <a:latin typeface="+mn-lt"/>
              </a:rPr>
              <a:t>位立即数</a:t>
            </a:r>
            <a:r>
              <a:rPr lang="en-US" altLang="zh-CN" sz="2400" dirty="0">
                <a:solidFill>
                  <a:srgbClr val="FF0000"/>
                </a:solidFill>
                <a:latin typeface="+mn-lt"/>
              </a:rPr>
              <a:t>i8/CL</a:t>
            </a:r>
            <a:r>
              <a:rPr lang="zh-CN" altLang="en-US" sz="2400" dirty="0">
                <a:solidFill>
                  <a:schemeClr val="tx1"/>
                </a:solidFill>
                <a:latin typeface="+mn-lt"/>
              </a:rPr>
              <a:t>寄存器值表示</a:t>
            </a:r>
            <a:endParaRPr lang="zh-CN" altLang="en-US" sz="2400" dirty="0">
              <a:solidFill>
                <a:schemeClr val="tx1"/>
              </a:solidFill>
              <a:latin typeface="+mn-lt"/>
            </a:endParaRPr>
          </a:p>
          <a:p>
            <a:pPr algn="just">
              <a:lnSpc>
                <a:spcPct val="130000"/>
              </a:lnSpc>
              <a:spcBef>
                <a:spcPts val="300"/>
              </a:spcBef>
              <a:buClr>
                <a:srgbClr val="0000FF"/>
              </a:buClr>
              <a:buSzPct val="100000"/>
              <a:defRPr/>
            </a:pPr>
            <a:endParaRPr lang="zh-CN" altLang="en-US" sz="2800" dirty="0">
              <a:latin typeface="+mn-lt"/>
            </a:endParaRPr>
          </a:p>
        </p:txBody>
      </p:sp>
      <p:sp>
        <p:nvSpPr>
          <p:cNvPr id="3" name="AutoShape 4"/>
          <p:cNvSpPr>
            <a:spLocks noChangeArrowheads="1"/>
          </p:cNvSpPr>
          <p:nvPr/>
        </p:nvSpPr>
        <p:spPr bwMode="auto">
          <a:xfrm>
            <a:off x="891007" y="5744407"/>
            <a:ext cx="7763147" cy="848966"/>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根据移出的位设置</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CF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，进行一位移动时根据最高符号位是否改变</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设置</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OF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。根据移位后的结果影响</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ZF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和</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PF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标志。</a:t>
            </a:r>
            <a:endPar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738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移位指令的功能和示例</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87053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4" name="Picture 8" descr="fig03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93098"/>
            <a:ext cx="91440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ounded Rectangular Callout 2"/>
          <p:cNvSpPr/>
          <p:nvPr/>
        </p:nvSpPr>
        <p:spPr bwMode="auto">
          <a:xfrm>
            <a:off x="231208" y="4518655"/>
            <a:ext cx="1548041" cy="424483"/>
          </a:xfrm>
          <a:prstGeom prst="wedgeRoundRectCallout">
            <a:avLst>
              <a:gd name="adj1" fmla="val -3094"/>
              <a:gd name="adj2" fmla="val 138948"/>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eaLnBrk="1" hangingPunct="1">
              <a:lnSpc>
                <a:spcPct val="120000"/>
              </a:lnSpc>
              <a:spcBef>
                <a:spcPct val="0"/>
              </a:spcBef>
              <a:buClrTx/>
              <a:buFontTx/>
              <a:buNone/>
            </a:pPr>
            <a:r>
              <a:rPr lang="zh-CN" altLang="en-US" sz="20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最高位不变</a:t>
            </a:r>
            <a:endParaRPr lang="en-US" altLang="zh-CN" sz="20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
        <p:nvSpPr>
          <p:cNvPr id="7" name="Rounded Rectangular Callout 2"/>
          <p:cNvSpPr/>
          <p:nvPr/>
        </p:nvSpPr>
        <p:spPr bwMode="auto">
          <a:xfrm>
            <a:off x="231209" y="2417015"/>
            <a:ext cx="1548041" cy="424483"/>
          </a:xfrm>
          <a:prstGeom prst="wedgeRoundRectCallout">
            <a:avLst>
              <a:gd name="adj1" fmla="val -7446"/>
              <a:gd name="adj2" fmla="val 143484"/>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eaLnBrk="1" hangingPunct="1">
              <a:lnSpc>
                <a:spcPct val="120000"/>
              </a:lnSpc>
              <a:spcBef>
                <a:spcPct val="0"/>
              </a:spcBef>
              <a:buClrTx/>
              <a:buFontTx/>
              <a:buNone/>
            </a:pPr>
            <a:r>
              <a:rPr lang="zh-CN" altLang="en-US" sz="20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最高位补</a:t>
            </a:r>
            <a:r>
              <a:rPr lang="en-US" altLang="zh-CN" sz="20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0</a:t>
            </a:r>
            <a:endParaRPr lang="en-US" altLang="zh-CN" sz="20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
        <p:nvSpPr>
          <p:cNvPr id="9" name="矩形: 圆角 8"/>
          <p:cNvSpPr/>
          <p:nvPr/>
        </p:nvSpPr>
        <p:spPr bwMode="auto">
          <a:xfrm>
            <a:off x="1403648" y="1926595"/>
            <a:ext cx="1296144" cy="424483"/>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0" name="矩形: 圆角 9"/>
          <p:cNvSpPr/>
          <p:nvPr/>
        </p:nvSpPr>
        <p:spPr bwMode="auto">
          <a:xfrm>
            <a:off x="1933419" y="3917004"/>
            <a:ext cx="1414445" cy="424483"/>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1" name="矩形: 圆角 10"/>
          <p:cNvSpPr/>
          <p:nvPr/>
        </p:nvSpPr>
        <p:spPr bwMode="auto">
          <a:xfrm>
            <a:off x="1891738" y="5966839"/>
            <a:ext cx="1456126" cy="374651"/>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2" name="椭圆 11"/>
          <p:cNvSpPr/>
          <p:nvPr/>
        </p:nvSpPr>
        <p:spPr bwMode="auto">
          <a:xfrm>
            <a:off x="8820472" y="1484694"/>
            <a:ext cx="144016" cy="38420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4" name="椭圆 13"/>
          <p:cNvSpPr/>
          <p:nvPr/>
        </p:nvSpPr>
        <p:spPr bwMode="auto">
          <a:xfrm>
            <a:off x="7975626" y="3404749"/>
            <a:ext cx="144016" cy="38420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15" name="椭圆 14"/>
          <p:cNvSpPr/>
          <p:nvPr/>
        </p:nvSpPr>
        <p:spPr bwMode="auto">
          <a:xfrm>
            <a:off x="7975626" y="5497614"/>
            <a:ext cx="144016" cy="38420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20" name="箭头: 五边形 19"/>
          <p:cNvSpPr/>
          <p:nvPr/>
        </p:nvSpPr>
        <p:spPr bwMode="auto">
          <a:xfrm>
            <a:off x="4572000" y="2780838"/>
            <a:ext cx="792088" cy="1075506"/>
          </a:xfrm>
          <a:prstGeom prst="homePlate">
            <a:avLst/>
          </a:prstGeom>
          <a:noFill/>
          <a:ln w="19050" cap="flat" cmpd="sng" algn="ctr">
            <a:solidFill>
              <a:srgbClr val="0000FF"/>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21" name="箭头: 五边形 20"/>
          <p:cNvSpPr/>
          <p:nvPr/>
        </p:nvSpPr>
        <p:spPr bwMode="auto">
          <a:xfrm>
            <a:off x="4572000" y="4869070"/>
            <a:ext cx="792088" cy="1075506"/>
          </a:xfrm>
          <a:prstGeom prst="homePlate">
            <a:avLst/>
          </a:prstGeom>
          <a:noFill/>
          <a:ln w="19050" cap="flat" cmpd="sng" algn="ctr">
            <a:solidFill>
              <a:srgbClr val="0000FF"/>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22" name="箭头: 五边形 21"/>
          <p:cNvSpPr/>
          <p:nvPr/>
        </p:nvSpPr>
        <p:spPr bwMode="auto">
          <a:xfrm flipH="1">
            <a:off x="42893" y="860304"/>
            <a:ext cx="720080" cy="1075506"/>
          </a:xfrm>
          <a:prstGeom prst="homePlate">
            <a:avLst/>
          </a:prstGeom>
          <a:noFill/>
          <a:ln w="19050" cap="flat" cmpd="sng" algn="ctr">
            <a:solidFill>
              <a:srgbClr val="0000FF"/>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24" name="矩形: 圆角 23"/>
          <p:cNvSpPr/>
          <p:nvPr/>
        </p:nvSpPr>
        <p:spPr bwMode="auto">
          <a:xfrm>
            <a:off x="2791050" y="1916742"/>
            <a:ext cx="1296144" cy="424483"/>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cxnSp>
        <p:nvCxnSpPr>
          <p:cNvPr id="3" name="直接连接符 2"/>
          <p:cNvCxnSpPr/>
          <p:nvPr/>
        </p:nvCxnSpPr>
        <p:spPr bwMode="auto">
          <a:xfrm>
            <a:off x="178184" y="620688"/>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AutoShape 4"/>
          <p:cNvSpPr>
            <a:spLocks noChangeArrowheads="1"/>
          </p:cNvSpPr>
          <p:nvPr/>
        </p:nvSpPr>
        <p:spPr bwMode="auto">
          <a:xfrm>
            <a:off x="262671" y="6365075"/>
            <a:ext cx="8712968" cy="439622"/>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2"/>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3"/>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根据移出的位设置</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CF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，进行一位移动时根据最高符号位是否改变设置</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OF</a:t>
            </a:r>
            <a:endPar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3-8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移位指令实现乘法程序</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539552" y="836712"/>
            <a:ext cx="8280920" cy="4925695"/>
          </a:xfrm>
          <a:prstGeom prst="rect">
            <a:avLst/>
          </a:prstGeom>
          <a:solidFill>
            <a:srgbClr val="DDEEFF"/>
          </a:solidFill>
          <a:ln w="25400">
            <a:noFill/>
          </a:ln>
        </p:spPr>
        <p:txBody>
          <a:bodyPr wrap="square">
            <a:spAutoFit/>
          </a:bodyPr>
          <a:lstStyle/>
          <a:p>
            <a:pPr>
              <a:lnSpc>
                <a:spcPct val="110000"/>
              </a:lnSpc>
            </a:pPr>
            <a:r>
              <a:rPr lang="en-US" altLang="zh-CN" sz="2200" b="1" dirty="0">
                <a:solidFill>
                  <a:srgbClr val="00B050"/>
                </a:solidFill>
                <a:latin typeface="+mn-lt"/>
              </a:rPr>
              <a:t>;</a:t>
            </a:r>
            <a:r>
              <a:rPr lang="zh-CN" altLang="en-US" sz="2200" b="1" dirty="0">
                <a:solidFill>
                  <a:srgbClr val="00B050"/>
                </a:solidFill>
                <a:latin typeface="+mn-lt"/>
              </a:rPr>
              <a:t> 数据段，</a:t>
            </a:r>
            <a:r>
              <a:rPr lang="zh-CN" altLang="en-US" sz="2200" b="1" dirty="0">
                <a:solidFill>
                  <a:srgbClr val="FF0000"/>
                </a:solidFill>
                <a:latin typeface="+mn-lt"/>
              </a:rPr>
              <a:t>通过移位指令实现无符号数</a:t>
            </a:r>
            <a:r>
              <a:rPr lang="en-US" altLang="zh-CN" sz="2200" b="1" dirty="0" err="1">
                <a:solidFill>
                  <a:srgbClr val="FF0000"/>
                </a:solidFill>
                <a:latin typeface="+mn-lt"/>
              </a:rPr>
              <a:t>wvar</a:t>
            </a:r>
            <a:r>
              <a:rPr lang="en-US" altLang="zh-CN" sz="2200" b="1" dirty="0">
                <a:solidFill>
                  <a:srgbClr val="FF0000"/>
                </a:solidFill>
                <a:latin typeface="+mn-lt"/>
              </a:rPr>
              <a:t>*10</a:t>
            </a:r>
            <a:endParaRPr lang="en-US" altLang="zh-CN" sz="2200" b="1" dirty="0">
              <a:solidFill>
                <a:srgbClr val="FF0000"/>
              </a:solidFill>
              <a:latin typeface="+mn-lt"/>
            </a:endParaRPr>
          </a:p>
          <a:p>
            <a:pPr>
              <a:lnSpc>
                <a:spcPct val="110000"/>
              </a:lnSpc>
            </a:pPr>
            <a:r>
              <a:rPr lang="en-US" altLang="zh-CN" sz="2200" b="1" dirty="0" err="1">
                <a:solidFill>
                  <a:srgbClr val="00B050"/>
                </a:solidFill>
                <a:latin typeface="+mn-lt"/>
              </a:rPr>
              <a:t>wvar</a:t>
            </a:r>
            <a:r>
              <a:rPr lang="en-US" altLang="zh-CN" sz="2200" b="1" dirty="0">
                <a:solidFill>
                  <a:srgbClr val="00B050"/>
                </a:solidFill>
                <a:latin typeface="+mn-lt"/>
              </a:rPr>
              <a:t> word 34000</a:t>
            </a:r>
            <a:endParaRPr lang="en-US" altLang="zh-CN" sz="2200" b="1" dirty="0">
              <a:solidFill>
                <a:srgbClr val="00B050"/>
              </a:solidFill>
              <a:latin typeface="+mn-lt"/>
            </a:endParaRPr>
          </a:p>
          <a:p>
            <a:pPr>
              <a:lnSpc>
                <a:spcPct val="110000"/>
              </a:lnSpc>
            </a:pPr>
            <a:r>
              <a:rPr lang="en-US" altLang="zh-CN" sz="2200" b="1" dirty="0">
                <a:latin typeface="+mn-lt"/>
              </a:rPr>
              <a:t>; </a:t>
            </a:r>
            <a:r>
              <a:rPr lang="zh-CN" altLang="en-US" sz="2200" b="1" dirty="0">
                <a:latin typeface="+mn-lt"/>
              </a:rPr>
              <a:t>代码段</a:t>
            </a:r>
            <a:endParaRPr lang="en-US" altLang="zh-CN" sz="2200" b="1" dirty="0">
              <a:latin typeface="+mn-lt"/>
            </a:endParaRPr>
          </a:p>
          <a:p>
            <a:pPr>
              <a:lnSpc>
                <a:spcPct val="110000"/>
              </a:lnSpc>
            </a:pPr>
            <a:r>
              <a:rPr lang="en-US" altLang="zh-CN" sz="2200" b="1" dirty="0" err="1">
                <a:latin typeface="+mn-lt"/>
              </a:rPr>
              <a:t>xor</a:t>
            </a:r>
            <a:r>
              <a:rPr lang="en-US" altLang="zh-CN" sz="2200" b="1" dirty="0">
                <a:latin typeface="+mn-lt"/>
              </a:rPr>
              <a:t> </a:t>
            </a:r>
            <a:r>
              <a:rPr lang="en-US" altLang="zh-CN" sz="2200" b="1" dirty="0" err="1">
                <a:latin typeface="+mn-lt"/>
              </a:rPr>
              <a:t>eax,eax</a:t>
            </a:r>
            <a:r>
              <a:rPr lang="en-US" altLang="zh-CN" sz="2200" b="1" dirty="0">
                <a:latin typeface="+mn-lt"/>
              </a:rPr>
              <a:t>		</a:t>
            </a:r>
            <a:r>
              <a:rPr lang="en-US" altLang="zh-CN" sz="2200" dirty="0">
                <a:solidFill>
                  <a:schemeClr val="tx1"/>
                </a:solidFill>
                <a:latin typeface="+mn-lt"/>
              </a:rPr>
              <a:t>; </a:t>
            </a:r>
            <a:r>
              <a:rPr lang="zh-CN" altLang="en-US" sz="2200" dirty="0">
                <a:solidFill>
                  <a:schemeClr val="tx1"/>
                </a:solidFill>
                <a:latin typeface="+mn-lt"/>
              </a:rPr>
              <a:t>清</a:t>
            </a:r>
            <a:r>
              <a:rPr lang="en-US" altLang="zh-CN" sz="2200" dirty="0">
                <a:solidFill>
                  <a:schemeClr val="tx1"/>
                </a:solidFill>
                <a:latin typeface="+mn-lt"/>
              </a:rPr>
              <a:t>0</a:t>
            </a:r>
            <a:r>
              <a:rPr lang="zh-CN" altLang="en-US" sz="2200" dirty="0">
                <a:solidFill>
                  <a:schemeClr val="tx1"/>
                </a:solidFill>
                <a:latin typeface="+mn-lt"/>
              </a:rPr>
              <a:t>，</a:t>
            </a:r>
            <a:r>
              <a:rPr lang="en-US" altLang="zh-CN" sz="2200" dirty="0">
                <a:solidFill>
                  <a:schemeClr val="tx1"/>
                </a:solidFill>
                <a:latin typeface="+mn-lt"/>
              </a:rPr>
              <a:t>EAX</a:t>
            </a:r>
            <a:r>
              <a:rPr lang="zh-CN" altLang="en-US" sz="2200" dirty="0">
                <a:solidFill>
                  <a:schemeClr val="tx1"/>
                </a:solidFill>
                <a:latin typeface="+mn-lt"/>
              </a:rPr>
              <a:t>＝</a:t>
            </a:r>
            <a:r>
              <a:rPr lang="en-US" altLang="zh-CN" sz="2200" dirty="0">
                <a:solidFill>
                  <a:schemeClr val="tx1"/>
                </a:solidFill>
                <a:latin typeface="+mn-lt"/>
              </a:rPr>
              <a:t>0</a:t>
            </a:r>
            <a:endParaRPr lang="en-US" altLang="zh-CN" sz="2200" dirty="0">
              <a:solidFill>
                <a:schemeClr val="tx1"/>
              </a:solidFill>
              <a:latin typeface="+mn-lt"/>
            </a:endParaRPr>
          </a:p>
          <a:p>
            <a:pPr>
              <a:lnSpc>
                <a:spcPct val="110000"/>
              </a:lnSpc>
            </a:pPr>
            <a:r>
              <a:rPr lang="en-US" altLang="zh-CN" sz="2200" b="1" dirty="0">
                <a:latin typeface="+mn-lt"/>
              </a:rPr>
              <a:t>mov </a:t>
            </a:r>
            <a:r>
              <a:rPr lang="en-US" altLang="zh-CN" sz="2200" b="1" dirty="0" err="1">
                <a:solidFill>
                  <a:srgbClr val="FF0000"/>
                </a:solidFill>
                <a:latin typeface="+mn-lt"/>
              </a:rPr>
              <a:t>ax</a:t>
            </a:r>
            <a:r>
              <a:rPr lang="en-US" altLang="zh-CN" sz="2200" b="1" dirty="0" err="1">
                <a:latin typeface="+mn-lt"/>
              </a:rPr>
              <a:t>,[wvar]</a:t>
            </a:r>
            <a:r>
              <a:rPr lang="en-US" altLang="zh-CN" sz="2200" b="1" dirty="0">
                <a:latin typeface="+mn-lt"/>
              </a:rPr>
              <a:t>		</a:t>
            </a:r>
            <a:r>
              <a:rPr lang="en-US" altLang="zh-CN" sz="2200" dirty="0">
                <a:solidFill>
                  <a:schemeClr val="tx1"/>
                </a:solidFill>
                <a:latin typeface="+mn-lt"/>
              </a:rPr>
              <a:t>; AX</a:t>
            </a:r>
            <a:r>
              <a:rPr lang="zh-CN" altLang="en-US" sz="2200" dirty="0">
                <a:solidFill>
                  <a:schemeClr val="tx1"/>
                </a:solidFill>
                <a:latin typeface="+mn-lt"/>
              </a:rPr>
              <a:t>＝</a:t>
            </a:r>
            <a:r>
              <a:rPr lang="en-US" altLang="zh-CN" sz="2200" dirty="0" err="1">
                <a:solidFill>
                  <a:schemeClr val="tx1"/>
                </a:solidFill>
                <a:latin typeface="+mn-lt"/>
              </a:rPr>
              <a:t>wvar</a:t>
            </a:r>
            <a:endParaRPr lang="zh-CN" altLang="en-US" sz="2200" dirty="0">
              <a:solidFill>
                <a:schemeClr val="tx1"/>
              </a:solidFill>
              <a:latin typeface="+mn-lt"/>
            </a:endParaRPr>
          </a:p>
          <a:p>
            <a:pPr>
              <a:lnSpc>
                <a:spcPct val="110000"/>
              </a:lnSpc>
            </a:pPr>
            <a:r>
              <a:rPr lang="en-US" altLang="zh-CN" sz="2200" b="1" dirty="0" err="1">
                <a:latin typeface="+mn-lt"/>
              </a:rPr>
              <a:t>shl</a:t>
            </a:r>
            <a:r>
              <a:rPr lang="en-US" altLang="zh-CN" sz="2200" b="1" dirty="0">
                <a:latin typeface="+mn-lt"/>
              </a:rPr>
              <a:t> </a:t>
            </a:r>
            <a:r>
              <a:rPr lang="en-US" altLang="zh-CN" sz="2200" b="1" dirty="0">
                <a:solidFill>
                  <a:srgbClr val="FF0000"/>
                </a:solidFill>
                <a:latin typeface="+mn-lt"/>
              </a:rPr>
              <a:t>eax</a:t>
            </a:r>
            <a:r>
              <a:rPr lang="en-US" altLang="zh-CN" sz="2200" b="1" dirty="0">
                <a:latin typeface="+mn-lt"/>
              </a:rPr>
              <a:t>,1		</a:t>
            </a:r>
            <a:r>
              <a:rPr lang="en-US" altLang="zh-CN" sz="2200" dirty="0">
                <a:solidFill>
                  <a:schemeClr val="tx1"/>
                </a:solidFill>
                <a:latin typeface="+mn-lt"/>
              </a:rPr>
              <a:t>; </a:t>
            </a:r>
            <a:r>
              <a:rPr lang="zh-CN" altLang="en-US" sz="2200" dirty="0">
                <a:solidFill>
                  <a:schemeClr val="tx1"/>
                </a:solidFill>
                <a:latin typeface="+mn-lt"/>
              </a:rPr>
              <a:t>左移一位等于乘</a:t>
            </a:r>
            <a:r>
              <a:rPr lang="en-US" altLang="zh-CN" sz="2200" dirty="0">
                <a:solidFill>
                  <a:schemeClr val="tx1"/>
                </a:solidFill>
                <a:latin typeface="+mn-lt"/>
              </a:rPr>
              <a:t>2</a:t>
            </a:r>
            <a:r>
              <a:rPr lang="zh-CN" altLang="en-US" sz="2200" dirty="0">
                <a:solidFill>
                  <a:schemeClr val="tx1"/>
                </a:solidFill>
                <a:latin typeface="+mn-lt"/>
              </a:rPr>
              <a:t>，</a:t>
            </a:r>
            <a:r>
              <a:rPr lang="en-US" altLang="zh-CN" sz="2200" dirty="0">
                <a:solidFill>
                  <a:schemeClr val="tx1"/>
                </a:solidFill>
                <a:latin typeface="+mn-lt"/>
              </a:rPr>
              <a:t>EAX= wvar×2</a:t>
            </a:r>
            <a:endParaRPr lang="en-US" altLang="zh-CN" sz="2200" dirty="0">
              <a:solidFill>
                <a:schemeClr val="tx1"/>
              </a:solidFill>
              <a:latin typeface="+mn-lt"/>
            </a:endParaRPr>
          </a:p>
          <a:p>
            <a:pPr>
              <a:lnSpc>
                <a:spcPct val="110000"/>
              </a:lnSpc>
            </a:pPr>
            <a:r>
              <a:rPr lang="en-US" altLang="zh-CN" sz="2200" b="1" dirty="0">
                <a:latin typeface="+mn-lt"/>
              </a:rPr>
              <a:t>mov </a:t>
            </a:r>
            <a:r>
              <a:rPr lang="en-US" altLang="zh-CN" sz="2200" b="1" dirty="0" err="1">
                <a:latin typeface="+mn-lt"/>
              </a:rPr>
              <a:t>ebx,eax</a:t>
            </a:r>
            <a:r>
              <a:rPr lang="en-US" altLang="zh-CN" sz="2200" b="1" dirty="0">
                <a:latin typeface="+mn-lt"/>
              </a:rPr>
              <a:t>		</a:t>
            </a:r>
            <a:r>
              <a:rPr lang="en-US" altLang="zh-CN" sz="2200" dirty="0">
                <a:solidFill>
                  <a:schemeClr val="tx1"/>
                </a:solidFill>
                <a:latin typeface="+mn-lt"/>
              </a:rPr>
              <a:t>; EBX</a:t>
            </a:r>
            <a:r>
              <a:rPr lang="zh-CN" altLang="en-US" sz="2200" dirty="0">
                <a:solidFill>
                  <a:schemeClr val="tx1"/>
                </a:solidFill>
                <a:latin typeface="+mn-lt"/>
              </a:rPr>
              <a:t>＝</a:t>
            </a:r>
            <a:r>
              <a:rPr lang="en-US" altLang="zh-CN" sz="2200" dirty="0">
                <a:solidFill>
                  <a:schemeClr val="tx1"/>
                </a:solidFill>
                <a:latin typeface="+mn-lt"/>
              </a:rPr>
              <a:t> wvar×2</a:t>
            </a:r>
            <a:endParaRPr lang="en-US" altLang="zh-CN" sz="2200" dirty="0">
              <a:solidFill>
                <a:schemeClr val="tx1"/>
              </a:solidFill>
              <a:latin typeface="+mn-lt"/>
            </a:endParaRPr>
          </a:p>
          <a:p>
            <a:pPr>
              <a:lnSpc>
                <a:spcPct val="110000"/>
              </a:lnSpc>
            </a:pPr>
            <a:r>
              <a:rPr lang="en-US" altLang="zh-CN" sz="2200" b="1" dirty="0" err="1">
                <a:latin typeface="+mn-lt"/>
              </a:rPr>
              <a:t>shl</a:t>
            </a:r>
            <a:r>
              <a:rPr lang="en-US" altLang="zh-CN" sz="2200" b="1" dirty="0">
                <a:latin typeface="+mn-lt"/>
              </a:rPr>
              <a:t> eax,2		</a:t>
            </a:r>
            <a:r>
              <a:rPr lang="en-US" altLang="zh-CN" sz="2200" dirty="0">
                <a:solidFill>
                  <a:schemeClr val="tx1"/>
                </a:solidFill>
                <a:latin typeface="+mn-lt"/>
              </a:rPr>
              <a:t>; </a:t>
            </a:r>
            <a:r>
              <a:rPr lang="zh-CN" altLang="en-US" sz="2200" dirty="0">
                <a:solidFill>
                  <a:schemeClr val="tx1"/>
                </a:solidFill>
                <a:latin typeface="+mn-lt"/>
              </a:rPr>
              <a:t>左移</a:t>
            </a:r>
            <a:r>
              <a:rPr lang="en-US" altLang="zh-CN" sz="2200" dirty="0">
                <a:solidFill>
                  <a:schemeClr val="tx1"/>
                </a:solidFill>
                <a:latin typeface="+mn-lt"/>
              </a:rPr>
              <a:t>2</a:t>
            </a:r>
            <a:r>
              <a:rPr lang="zh-CN" altLang="en-US" sz="2200" dirty="0">
                <a:solidFill>
                  <a:schemeClr val="tx1"/>
                </a:solidFill>
                <a:latin typeface="+mn-lt"/>
              </a:rPr>
              <a:t>位，等于乘</a:t>
            </a:r>
            <a:r>
              <a:rPr lang="en-US" altLang="zh-CN" sz="2200" dirty="0">
                <a:solidFill>
                  <a:schemeClr val="tx1"/>
                </a:solidFill>
                <a:latin typeface="+mn-lt"/>
              </a:rPr>
              <a:t>4</a:t>
            </a:r>
            <a:r>
              <a:rPr lang="zh-CN" altLang="en-US" sz="2200" dirty="0">
                <a:solidFill>
                  <a:schemeClr val="tx1"/>
                </a:solidFill>
                <a:latin typeface="+mn-lt"/>
              </a:rPr>
              <a:t>，</a:t>
            </a:r>
            <a:r>
              <a:rPr lang="en-US" altLang="zh-CN" sz="2200" dirty="0">
                <a:solidFill>
                  <a:schemeClr val="tx1"/>
                </a:solidFill>
                <a:latin typeface="+mn-lt"/>
              </a:rPr>
              <a:t>EAX</a:t>
            </a:r>
            <a:r>
              <a:rPr lang="zh-CN" altLang="en-US" sz="2200" dirty="0">
                <a:solidFill>
                  <a:schemeClr val="tx1"/>
                </a:solidFill>
                <a:latin typeface="+mn-lt"/>
              </a:rPr>
              <a:t>＝</a:t>
            </a:r>
            <a:r>
              <a:rPr lang="en-US" altLang="zh-CN" sz="2200" dirty="0">
                <a:solidFill>
                  <a:schemeClr val="tx1"/>
                </a:solidFill>
                <a:latin typeface="+mn-lt"/>
              </a:rPr>
              <a:t>(wvar×2)×4</a:t>
            </a:r>
            <a:endParaRPr lang="en-US" altLang="zh-CN" sz="2200" dirty="0">
              <a:solidFill>
                <a:schemeClr val="tx1"/>
              </a:solidFill>
              <a:latin typeface="+mn-lt"/>
            </a:endParaRPr>
          </a:p>
          <a:p>
            <a:pPr>
              <a:lnSpc>
                <a:spcPct val="110000"/>
              </a:lnSpc>
            </a:pPr>
            <a:r>
              <a:rPr lang="en-US" altLang="zh-CN" sz="2200" b="1" dirty="0">
                <a:latin typeface="+mn-lt"/>
              </a:rPr>
              <a:t>add </a:t>
            </a:r>
            <a:r>
              <a:rPr lang="en-US" altLang="zh-CN" sz="2200" b="1" dirty="0" err="1">
                <a:latin typeface="+mn-lt"/>
              </a:rPr>
              <a:t>eax,ebx</a:t>
            </a:r>
            <a:r>
              <a:rPr lang="en-US" altLang="zh-CN" sz="2200" b="1" dirty="0">
                <a:latin typeface="+mn-lt"/>
              </a:rPr>
              <a:t>		</a:t>
            </a:r>
            <a:r>
              <a:rPr lang="en-US" altLang="zh-CN" sz="2200" dirty="0">
                <a:solidFill>
                  <a:schemeClr val="tx1"/>
                </a:solidFill>
                <a:latin typeface="+mn-lt"/>
              </a:rPr>
              <a:t>; EAX</a:t>
            </a:r>
            <a:r>
              <a:rPr lang="zh-CN" altLang="en-US" sz="2200" dirty="0">
                <a:solidFill>
                  <a:schemeClr val="tx1"/>
                </a:solidFill>
                <a:latin typeface="+mn-lt"/>
              </a:rPr>
              <a:t>＝</a:t>
            </a:r>
            <a:r>
              <a:rPr lang="en-US" altLang="zh-CN" sz="2200" dirty="0">
                <a:solidFill>
                  <a:schemeClr val="tx1"/>
                </a:solidFill>
                <a:latin typeface="+mn-lt"/>
              </a:rPr>
              <a:t> wvar×8+ wvar×2=wvar×10</a:t>
            </a:r>
            <a:endParaRPr lang="en-US" altLang="zh-CN" sz="2200" dirty="0">
              <a:solidFill>
                <a:schemeClr val="tx1"/>
              </a:solidFill>
              <a:latin typeface="+mn-lt"/>
            </a:endParaRPr>
          </a:p>
          <a:p>
            <a:pPr>
              <a:lnSpc>
                <a:spcPct val="110000"/>
              </a:lnSpc>
            </a:pPr>
            <a:r>
              <a:rPr lang="en-US" altLang="zh-CN" sz="2200" b="1" dirty="0">
                <a:latin typeface="+mn-lt"/>
              </a:rPr>
              <a:t>call </a:t>
            </a:r>
            <a:r>
              <a:rPr lang="en-US" altLang="zh-CN" sz="2200" b="1" dirty="0" err="1">
                <a:latin typeface="+mn-lt"/>
              </a:rPr>
              <a:t>dispuid</a:t>
            </a:r>
            <a:r>
              <a:rPr lang="en-US" altLang="zh-CN" sz="2200" b="1" dirty="0">
                <a:latin typeface="+mn-lt"/>
              </a:rPr>
              <a:t>		</a:t>
            </a:r>
            <a:r>
              <a:rPr lang="en-US" altLang="zh-CN" sz="2200" dirty="0">
                <a:solidFill>
                  <a:schemeClr val="tx1"/>
                </a:solidFill>
                <a:latin typeface="+mn-lt"/>
              </a:rPr>
              <a:t>; </a:t>
            </a:r>
            <a:r>
              <a:rPr lang="zh-CN" altLang="en-US" sz="2200" dirty="0">
                <a:solidFill>
                  <a:schemeClr val="tx1"/>
                </a:solidFill>
                <a:latin typeface="+mn-lt"/>
              </a:rPr>
              <a:t>显示乘积</a:t>
            </a:r>
            <a:endParaRPr lang="zh-CN" altLang="en-US" sz="2200" dirty="0">
              <a:solidFill>
                <a:schemeClr val="tx1"/>
              </a:solidFill>
              <a:latin typeface="+mn-lt"/>
            </a:endParaRPr>
          </a:p>
          <a:p>
            <a:pPr>
              <a:lnSpc>
                <a:spcPct val="110000"/>
              </a:lnSpc>
            </a:pPr>
            <a:r>
              <a:rPr lang="en-US" altLang="zh-CN" sz="2200" b="1" dirty="0">
                <a:latin typeface="+mn-lt"/>
              </a:rPr>
              <a:t>call </a:t>
            </a:r>
            <a:r>
              <a:rPr lang="en-US" altLang="zh-CN" sz="2200" b="1" dirty="0" err="1">
                <a:latin typeface="+mn-lt"/>
              </a:rPr>
              <a:t>dispcrlf</a:t>
            </a:r>
            <a:r>
              <a:rPr lang="en-US" altLang="zh-CN" sz="2200" b="1" dirty="0">
                <a:latin typeface="+mn-lt"/>
              </a:rPr>
              <a:t>		</a:t>
            </a:r>
            <a:r>
              <a:rPr lang="en-US" altLang="zh-CN" sz="2200" dirty="0">
                <a:solidFill>
                  <a:schemeClr val="tx1"/>
                </a:solidFill>
                <a:latin typeface="+mn-lt"/>
              </a:rPr>
              <a:t>; </a:t>
            </a:r>
            <a:r>
              <a:rPr lang="zh-CN" altLang="en-US" sz="2200" dirty="0">
                <a:solidFill>
                  <a:schemeClr val="tx1"/>
                </a:solidFill>
                <a:latin typeface="+mn-lt"/>
              </a:rPr>
              <a:t>换行</a:t>
            </a:r>
            <a:endParaRPr lang="zh-CN" altLang="en-US" sz="2200" dirty="0">
              <a:solidFill>
                <a:schemeClr val="tx1"/>
              </a:solidFill>
              <a:latin typeface="+mn-lt"/>
            </a:endParaRPr>
          </a:p>
          <a:p>
            <a:pPr>
              <a:lnSpc>
                <a:spcPct val="110000"/>
              </a:lnSpc>
            </a:pPr>
            <a:r>
              <a:rPr lang="en-US" altLang="zh-CN" sz="2200" b="1" dirty="0" err="1">
                <a:latin typeface="+mn-lt"/>
              </a:rPr>
              <a:t>imul</a:t>
            </a:r>
            <a:r>
              <a:rPr lang="en-US" altLang="zh-CN" sz="2200" b="1" dirty="0">
                <a:latin typeface="+mn-lt"/>
              </a:rPr>
              <a:t> eax,10		</a:t>
            </a:r>
            <a:r>
              <a:rPr lang="en-US" altLang="zh-CN" sz="2200" dirty="0">
                <a:solidFill>
                  <a:schemeClr val="tx1"/>
                </a:solidFill>
                <a:latin typeface="+mn-lt"/>
              </a:rPr>
              <a:t>; EAX</a:t>
            </a:r>
            <a:r>
              <a:rPr lang="zh-CN" altLang="en-US" sz="2200" dirty="0">
                <a:solidFill>
                  <a:schemeClr val="tx1"/>
                </a:solidFill>
                <a:latin typeface="+mn-lt"/>
              </a:rPr>
              <a:t>＝</a:t>
            </a:r>
            <a:r>
              <a:rPr lang="en-US" altLang="zh-CN" sz="2200" dirty="0">
                <a:solidFill>
                  <a:schemeClr val="tx1"/>
                </a:solidFill>
                <a:latin typeface="+mn-lt"/>
              </a:rPr>
              <a:t> wvar×10</a:t>
            </a:r>
            <a:endParaRPr lang="en-US" altLang="zh-CN" sz="2200" dirty="0">
              <a:solidFill>
                <a:schemeClr val="tx1"/>
              </a:solidFill>
              <a:latin typeface="+mn-lt"/>
            </a:endParaRPr>
          </a:p>
          <a:p>
            <a:pPr>
              <a:lnSpc>
                <a:spcPct val="110000"/>
              </a:lnSpc>
            </a:pPr>
            <a:r>
              <a:rPr lang="en-US" altLang="zh-CN" sz="2200" b="1" dirty="0">
                <a:latin typeface="+mn-lt"/>
              </a:rPr>
              <a:t>call </a:t>
            </a:r>
            <a:r>
              <a:rPr lang="en-US" altLang="zh-CN" sz="2200" b="1" dirty="0" err="1">
                <a:latin typeface="+mn-lt"/>
              </a:rPr>
              <a:t>dispuid</a:t>
            </a:r>
            <a:r>
              <a:rPr lang="en-US" altLang="zh-CN" sz="2200" b="1" dirty="0">
                <a:latin typeface="+mn-lt"/>
              </a:rPr>
              <a:t>		</a:t>
            </a:r>
            <a:r>
              <a:rPr lang="en-US" altLang="zh-CN" sz="2200" dirty="0">
                <a:solidFill>
                  <a:schemeClr val="tx1"/>
                </a:solidFill>
                <a:latin typeface="+mn-lt"/>
              </a:rPr>
              <a:t>; </a:t>
            </a:r>
            <a:r>
              <a:rPr lang="zh-CN" altLang="en-US" sz="2200" dirty="0">
                <a:solidFill>
                  <a:schemeClr val="tx1"/>
                </a:solidFill>
                <a:latin typeface="+mn-lt"/>
              </a:rPr>
              <a:t>显示乘积</a:t>
            </a:r>
            <a:endParaRPr lang="zh-CN" altLang="en-US" sz="2200" dirty="0">
              <a:solidFill>
                <a:schemeClr val="tx1"/>
              </a:solidFill>
              <a:latin typeface="+mn-lt"/>
            </a:endParaRPr>
          </a:p>
        </p:txBody>
      </p:sp>
      <p:sp>
        <p:nvSpPr>
          <p:cNvPr id="4" name="AutoShape 4"/>
          <p:cNvSpPr>
            <a:spLocks noChangeArrowheads="1"/>
          </p:cNvSpPr>
          <p:nvPr/>
        </p:nvSpPr>
        <p:spPr bwMode="auto">
          <a:xfrm>
            <a:off x="539552" y="5805264"/>
            <a:ext cx="8280920" cy="848966"/>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lnSpc>
                <a:spcPct val="120000"/>
              </a:lnSpc>
              <a:spcBef>
                <a:spcPct val="0"/>
              </a:spcBef>
              <a:buClrTx/>
              <a:buFontTx/>
              <a:buNone/>
            </a:pP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SHL</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逻辑左移</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1</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位相当于无符号数乘以</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2</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algn="l" eaLnBrk="1" hangingPunct="1">
              <a:lnSpc>
                <a:spcPct val="120000"/>
              </a:lnSpc>
              <a:spcBef>
                <a:spcPct val="0"/>
              </a:spcBef>
              <a:buClrTx/>
              <a:buFontTx/>
              <a:buNone/>
            </a:pP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SHR</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逻辑右移</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1</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位相当于无符号数除以</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2</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，商在操作数，余数由</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CF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反映</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循环移位指令</a:t>
            </a:r>
            <a:r>
              <a:rPr kumimoji="1" lang="en-US" altLang="zh-CN" b="0" i="0" u="none" strike="noStrike" kern="0" cap="none" spc="0" normalizeH="0" baseline="0" noProof="0" dirty="0">
                <a:ln>
                  <a:noFill/>
                </a:ln>
                <a:solidFill>
                  <a:srgbClr val="000000"/>
                </a:solidFill>
                <a:effectLst/>
                <a:uLnTx/>
                <a:uFillTx/>
                <a:latin typeface="+mj-lt"/>
                <a:cs typeface="+mj-cs"/>
              </a:rPr>
              <a:t>Rotate instructions</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ectangle 3"/>
          <p:cNvSpPr>
            <a:spLocks noChangeArrowheads="1"/>
          </p:cNvSpPr>
          <p:nvPr/>
        </p:nvSpPr>
        <p:spPr bwMode="auto">
          <a:xfrm>
            <a:off x="1115616" y="2956815"/>
            <a:ext cx="7488832" cy="3568529"/>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RO</a:t>
            </a:r>
            <a:r>
              <a:rPr lang="en-US" altLang="zh-CN" sz="2200" b="1" dirty="0">
                <a:solidFill>
                  <a:srgbClr val="00B050"/>
                </a:solidFill>
                <a:latin typeface="+mj-lt"/>
                <a:ea typeface="黑体" panose="02010609060101010101" pitchFamily="49" charset="-122"/>
              </a:rPr>
              <a:t>L reg/mem,i8/CL</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a:t>
            </a:r>
            <a:r>
              <a:rPr lang="zh-CN" altLang="en-US" sz="2200" dirty="0">
                <a:solidFill>
                  <a:schemeClr val="tx1"/>
                </a:solidFill>
                <a:latin typeface="+mj-lt"/>
                <a:ea typeface="黑体" panose="02010609060101010101" pitchFamily="49" charset="-122"/>
              </a:rPr>
              <a:t>不带进位循环左移指令</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RO</a:t>
            </a:r>
            <a:r>
              <a:rPr lang="en-US" altLang="zh-CN" sz="2200" b="1" dirty="0">
                <a:solidFill>
                  <a:srgbClr val="00B050"/>
                </a:solidFill>
                <a:latin typeface="+mj-lt"/>
                <a:ea typeface="黑体" panose="02010609060101010101" pitchFamily="49" charset="-122"/>
              </a:rPr>
              <a:t>R reg/mem,i8/CL</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a:t>
            </a:r>
            <a:r>
              <a:rPr lang="zh-CN" altLang="en-US" sz="2200" dirty="0">
                <a:solidFill>
                  <a:schemeClr val="tx1"/>
                </a:solidFill>
                <a:latin typeface="+mj-lt"/>
                <a:ea typeface="黑体" panose="02010609060101010101" pitchFamily="49" charset="-122"/>
              </a:rPr>
              <a:t>不带进位循环右移指令</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R</a:t>
            </a:r>
            <a:r>
              <a:rPr lang="en-US" altLang="zh-CN" sz="2200" b="1" dirty="0">
                <a:solidFill>
                  <a:srgbClr val="0000FF"/>
                </a:solidFill>
                <a:latin typeface="+mj-lt"/>
                <a:ea typeface="黑体" panose="02010609060101010101" pitchFamily="49" charset="-122"/>
              </a:rPr>
              <a:t>C</a:t>
            </a:r>
            <a:r>
              <a:rPr lang="en-US" altLang="zh-CN" sz="2200" b="1" dirty="0">
                <a:solidFill>
                  <a:srgbClr val="00B050"/>
                </a:solidFill>
                <a:latin typeface="+mj-lt"/>
                <a:ea typeface="黑体" panose="02010609060101010101" pitchFamily="49" charset="-122"/>
              </a:rPr>
              <a:t>L reg/mem,i8/CL</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a:t>
            </a:r>
            <a:r>
              <a:rPr lang="zh-CN" altLang="en-US" sz="2200" dirty="0">
                <a:solidFill>
                  <a:schemeClr val="tx1"/>
                </a:solidFill>
                <a:latin typeface="+mj-lt"/>
                <a:ea typeface="黑体" panose="02010609060101010101" pitchFamily="49" charset="-122"/>
              </a:rPr>
              <a:t>带进位循环左移指令</a:t>
            </a:r>
            <a:endParaRPr lang="zh-CN" altLang="en-US" sz="2200" dirty="0">
              <a:solidFill>
                <a:schemeClr val="tx1"/>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FF0000"/>
                </a:solidFill>
                <a:latin typeface="+mj-lt"/>
                <a:ea typeface="黑体" panose="02010609060101010101" pitchFamily="49" charset="-122"/>
              </a:rPr>
              <a:t>R</a:t>
            </a:r>
            <a:r>
              <a:rPr lang="en-US" altLang="zh-CN" sz="2200" b="1" dirty="0">
                <a:solidFill>
                  <a:srgbClr val="0000FF"/>
                </a:solidFill>
                <a:latin typeface="+mj-lt"/>
                <a:ea typeface="黑体" panose="02010609060101010101" pitchFamily="49" charset="-122"/>
              </a:rPr>
              <a:t>C</a:t>
            </a:r>
            <a:r>
              <a:rPr lang="en-US" altLang="zh-CN" sz="2200" b="1" dirty="0">
                <a:solidFill>
                  <a:srgbClr val="00B050"/>
                </a:solidFill>
                <a:latin typeface="+mj-lt"/>
                <a:ea typeface="黑体" panose="02010609060101010101" pitchFamily="49" charset="-122"/>
              </a:rPr>
              <a:t>R reg/mem,i8/CL</a:t>
            </a:r>
            <a:endParaRPr lang="en-US" altLang="zh-CN" sz="2200" b="1" dirty="0">
              <a:solidFill>
                <a:srgbClr val="00B050"/>
              </a:solidFill>
              <a:latin typeface="+mj-lt"/>
              <a:ea typeface="黑体" panose="02010609060101010101" pitchFamily="49" charset="-122"/>
            </a:endParaRPr>
          </a:p>
          <a:p>
            <a:pPr marL="0" indent="0" algn="just">
              <a:lnSpc>
                <a:spcPct val="130000"/>
              </a:lnSpc>
              <a:spcBef>
                <a:spcPts val="0"/>
              </a:spcBef>
              <a:buClr>
                <a:srgbClr val="0000FF"/>
              </a:buClr>
              <a:buSzPct val="100000"/>
              <a:buNone/>
              <a:defRPr/>
            </a:pPr>
            <a:r>
              <a:rPr lang="en-US" altLang="zh-CN" sz="2200" b="1" dirty="0">
                <a:solidFill>
                  <a:srgbClr val="00B050"/>
                </a:solidFill>
                <a:latin typeface="+mj-lt"/>
                <a:ea typeface="黑体" panose="02010609060101010101" pitchFamily="49" charset="-122"/>
              </a:rPr>
              <a:t>	</a:t>
            </a:r>
            <a:r>
              <a:rPr lang="en-US" altLang="zh-CN" sz="2200" dirty="0">
                <a:solidFill>
                  <a:schemeClr val="tx1"/>
                </a:solidFill>
                <a:latin typeface="+mj-lt"/>
                <a:ea typeface="黑体" panose="02010609060101010101" pitchFamily="49" charset="-122"/>
              </a:rPr>
              <a:t>;</a:t>
            </a:r>
            <a:r>
              <a:rPr lang="zh-CN" altLang="en-US" sz="2200" dirty="0">
                <a:solidFill>
                  <a:schemeClr val="tx1"/>
                </a:solidFill>
                <a:latin typeface="+mj-lt"/>
                <a:ea typeface="黑体" panose="02010609060101010101" pitchFamily="49" charset="-122"/>
              </a:rPr>
              <a:t>带进位循环右移指令</a:t>
            </a:r>
            <a:endParaRPr lang="zh-CN" altLang="en-US" sz="2200" dirty="0">
              <a:solidFill>
                <a:schemeClr val="tx1"/>
              </a:solidFill>
              <a:latin typeface="+mj-lt"/>
              <a:ea typeface="黑体" panose="02010609060101010101" pitchFamily="49" charset="-122"/>
            </a:endParaRPr>
          </a:p>
        </p:txBody>
      </p:sp>
      <p:sp>
        <p:nvSpPr>
          <p:cNvPr id="5" name="内容占位符 2"/>
          <p:cNvSpPr txBox="1"/>
          <p:nvPr/>
        </p:nvSpPr>
        <p:spPr>
          <a:xfrm>
            <a:off x="539552" y="752474"/>
            <a:ext cx="8064896" cy="5268814"/>
          </a:xfrm>
          <a:prstGeom prst="rect">
            <a:avLst/>
          </a:prstGeom>
        </p:spPr>
        <p:txBody>
          <a:bodyPr/>
          <a:lstStyle/>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循环（</a:t>
            </a:r>
            <a:r>
              <a:rPr lang="en-US" altLang="zh-CN" sz="2800" dirty="0">
                <a:latin typeface="+mn-lt"/>
              </a:rPr>
              <a:t>Rotate</a:t>
            </a:r>
            <a:r>
              <a:rPr lang="zh-CN" altLang="en-US" sz="2800" dirty="0">
                <a:latin typeface="+mn-lt"/>
              </a:rPr>
              <a:t>）移位指令要将从一端移出的位返回到另一端形成循环</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分成不带进位循环移位和带进位循环移位</a:t>
            </a:r>
            <a:endParaRPr lang="zh-CN" altLang="en-US" sz="2400" dirty="0">
              <a:solidFill>
                <a:schemeClr val="tx1"/>
              </a:solidFill>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分别具有左移或右移操作</a:t>
            </a:r>
            <a:endParaRPr lang="en-US" altLang="zh-CN" sz="2800" dirty="0">
              <a:solidFill>
                <a:schemeClr val="tx1"/>
              </a:solidFill>
              <a:latin typeface="+mn-lt"/>
            </a:endParaRPr>
          </a:p>
          <a:p>
            <a:pPr lvl="1" algn="just">
              <a:lnSpc>
                <a:spcPct val="130000"/>
              </a:lnSpc>
              <a:spcBef>
                <a:spcPts val="600"/>
              </a:spcBef>
              <a:buClr>
                <a:srgbClr val="0000FF"/>
              </a:buClr>
            </a:pPr>
            <a:endParaRPr lang="en-US" altLang="zh-CN" sz="1600" dirty="0">
              <a:solidFill>
                <a:schemeClr val="tx1"/>
              </a:solidFill>
              <a:latin typeface="+mn-lt"/>
            </a:endParaRPr>
          </a:p>
          <a:p>
            <a:pPr algn="just">
              <a:lnSpc>
                <a:spcPct val="130000"/>
              </a:lnSpc>
              <a:spcBef>
                <a:spcPts val="300"/>
              </a:spcBef>
              <a:buClr>
                <a:srgbClr val="0000FF"/>
              </a:buClr>
              <a:buSzPct val="100000"/>
              <a:defRPr/>
            </a:pPr>
            <a:endParaRPr lang="zh-CN" altLang="en-US" sz="2800" dirty="0">
              <a:latin typeface="+mn-lt"/>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不带进位的循环移位指令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Picture 8" descr="fig0315"/>
          <p:cNvPicPr>
            <a:picLocks noChangeAspect="1" noChangeArrowheads="1"/>
          </p:cNvPicPr>
          <p:nvPr/>
        </p:nvPicPr>
        <p:blipFill>
          <a:blip r:embed="rId1">
            <a:extLst>
              <a:ext uri="{28A0092B-C50C-407E-A947-70E740481C1C}">
                <a14:useLocalDpi xmlns:a14="http://schemas.microsoft.com/office/drawing/2010/main" val="0"/>
              </a:ext>
            </a:extLst>
          </a:blip>
          <a:srcRect b="48782"/>
          <a:stretch>
            <a:fillRect/>
          </a:stretch>
        </p:blipFill>
        <p:spPr bwMode="auto">
          <a:xfrm>
            <a:off x="0" y="764704"/>
            <a:ext cx="9047163" cy="512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AutoShape 4"/>
          <p:cNvSpPr>
            <a:spLocks noChangeArrowheads="1"/>
          </p:cNvSpPr>
          <p:nvPr/>
        </p:nvSpPr>
        <p:spPr bwMode="auto">
          <a:xfrm>
            <a:off x="288144" y="5832648"/>
            <a:ext cx="8676344" cy="764704"/>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2"/>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3"/>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根据移出的位设置</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CF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，进行一位移动时根据最高符号位是否改变设置</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OF</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不影响</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ZF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和</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PF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标志。</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
        <p:nvSpPr>
          <p:cNvPr id="4" name="椭圆 3"/>
          <p:cNvSpPr/>
          <p:nvPr/>
        </p:nvSpPr>
        <p:spPr bwMode="auto">
          <a:xfrm>
            <a:off x="1331640" y="1054438"/>
            <a:ext cx="2808312" cy="1152128"/>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5" name="椭圆 4"/>
          <p:cNvSpPr/>
          <p:nvPr/>
        </p:nvSpPr>
        <p:spPr bwMode="auto">
          <a:xfrm>
            <a:off x="1331640" y="3727542"/>
            <a:ext cx="2808312" cy="1152128"/>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Text Box 34"/>
          <p:cNvSpPr txBox="1">
            <a:spLocks noChangeArrowheads="1"/>
          </p:cNvSpPr>
          <p:nvPr/>
        </p:nvSpPr>
        <p:spPr bwMode="auto">
          <a:xfrm>
            <a:off x="5123118" y="2991233"/>
            <a:ext cx="3985386" cy="430887"/>
          </a:xfrm>
          <a:prstGeom prst="rect">
            <a:avLst/>
          </a:prstGeom>
          <a:noFill/>
          <a:ln w="952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2"/>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3"/>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200" b="0" dirty="0">
                <a:solidFill>
                  <a:srgbClr val="FF0000"/>
                </a:solidFill>
                <a:latin typeface="+mj-lt"/>
                <a:ea typeface="黑体" panose="02010609060101010101" pitchFamily="49" charset="-122"/>
              </a:rPr>
              <a:t>CF </a:t>
            </a:r>
            <a:r>
              <a:rPr lang="en-US" altLang="zh-CN" sz="2200" b="0" dirty="0">
                <a:solidFill>
                  <a:srgbClr val="FF0000"/>
                </a:solidFill>
                <a:latin typeface="黑体" panose="02010609060101010101" pitchFamily="49" charset="-122"/>
                <a:ea typeface="黑体" panose="02010609060101010101" pitchFamily="49" charset="-122"/>
              </a:rPr>
              <a:t>= </a:t>
            </a:r>
            <a:r>
              <a:rPr lang="zh-CN" altLang="en-US" sz="2200" b="0" kern="1200" dirty="0">
                <a:solidFill>
                  <a:srgbClr val="FF0000"/>
                </a:solidFill>
                <a:latin typeface="黑体" panose="02010609060101010101" pitchFamily="49" charset="-122"/>
                <a:ea typeface="黑体" panose="02010609060101010101" pitchFamily="49" charset="-122"/>
                <a:cs typeface="+mn-cs"/>
              </a:rPr>
              <a:t>最后一个被移出来的数字</a:t>
            </a:r>
            <a:endParaRPr lang="zh-CN" altLang="en-US" sz="2200" b="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带进位的循环移位指令</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266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Picture 7" descr="fig0315"/>
          <p:cNvPicPr>
            <a:picLocks noChangeAspect="1" noChangeArrowheads="1"/>
          </p:cNvPicPr>
          <p:nvPr/>
        </p:nvPicPr>
        <p:blipFill>
          <a:blip r:embed="rId1">
            <a:extLst>
              <a:ext uri="{28A0092B-C50C-407E-A947-70E740481C1C}">
                <a14:useLocalDpi xmlns:a14="http://schemas.microsoft.com/office/drawing/2010/main" val="0"/>
              </a:ext>
            </a:extLst>
          </a:blip>
          <a:srcRect t="53653"/>
          <a:stretch>
            <a:fillRect/>
          </a:stretch>
        </p:blipFill>
        <p:spPr bwMode="auto">
          <a:xfrm>
            <a:off x="0" y="793751"/>
            <a:ext cx="9144000" cy="4723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椭圆 2"/>
          <p:cNvSpPr/>
          <p:nvPr/>
        </p:nvSpPr>
        <p:spPr bwMode="auto">
          <a:xfrm>
            <a:off x="323528" y="1135254"/>
            <a:ext cx="3888432" cy="1152128"/>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5" name="椭圆 4"/>
          <p:cNvSpPr/>
          <p:nvPr/>
        </p:nvSpPr>
        <p:spPr bwMode="auto">
          <a:xfrm>
            <a:off x="323528" y="3861048"/>
            <a:ext cx="3888432" cy="1152128"/>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AutoShape 4"/>
          <p:cNvSpPr>
            <a:spLocks noChangeArrowheads="1"/>
          </p:cNvSpPr>
          <p:nvPr/>
        </p:nvSpPr>
        <p:spPr bwMode="auto">
          <a:xfrm>
            <a:off x="267124" y="5733256"/>
            <a:ext cx="8676344" cy="853586"/>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2"/>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3"/>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逻辑移位和算术移位根据结果影响</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ZF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和</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PF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标志，而循环移位不影响</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SF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ZF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和</a:t>
            </a:r>
            <a:r>
              <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PF</a:t>
            </a:r>
            <a:r>
              <a:rPr lang="zh-CN" altLang="en-US"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标志。</a:t>
            </a:r>
            <a:endParaRPr lang="en-US" altLang="zh-CN" sz="21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循环移位指令</a:t>
            </a:r>
            <a:r>
              <a:rPr kumimoji="1" lang="en-US" altLang="zh-CN" b="0" i="0" u="none" strike="noStrike" kern="0" cap="none" spc="0" normalizeH="0" baseline="0" noProof="0" dirty="0">
                <a:ln>
                  <a:noFill/>
                </a:ln>
                <a:solidFill>
                  <a:srgbClr val="000000"/>
                </a:solidFill>
                <a:effectLst/>
                <a:uLnTx/>
                <a:uFillTx/>
                <a:latin typeface="+mj-lt"/>
                <a:cs typeface="+mj-cs"/>
              </a:rPr>
              <a:t>Rotate instructions</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78184" y="69507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682186"/>
            <a:ext cx="8064896" cy="5268814"/>
          </a:xfrm>
          <a:prstGeom prst="rect">
            <a:avLst/>
          </a:prstGeom>
        </p:spPr>
        <p:txBody>
          <a:bodyPr/>
          <a:lstStyle/>
          <a:p>
            <a:pPr marL="457200" indent="-457200" algn="just">
              <a:lnSpc>
                <a:spcPct val="130000"/>
              </a:lnSpc>
              <a:spcBef>
                <a:spcPts val="200"/>
              </a:spcBef>
              <a:buClr>
                <a:srgbClr val="0000FF"/>
              </a:buClr>
              <a:buSzPct val="100000"/>
              <a:buFont typeface="Wingdings" panose="05000000000000000000" pitchFamily="2" charset="2"/>
              <a:buChar char="Ø"/>
              <a:defRPr/>
            </a:pPr>
            <a:r>
              <a:rPr lang="zh-CN" altLang="en-US" sz="2800" dirty="0">
                <a:latin typeface="+mn-lt"/>
              </a:rPr>
              <a:t>循环移位指令</a:t>
            </a:r>
            <a:endParaRPr lang="zh-CN" altLang="en-US" sz="2800" dirty="0">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不带进位循环移位：</a:t>
            </a:r>
            <a:r>
              <a:rPr lang="en-US" altLang="zh-CN" sz="2400" dirty="0">
                <a:solidFill>
                  <a:srgbClr val="FF0000"/>
                </a:solidFill>
                <a:latin typeface="+mn-lt"/>
              </a:rPr>
              <a:t>RO</a:t>
            </a:r>
            <a:r>
              <a:rPr lang="en-US" altLang="zh-CN" sz="2400" dirty="0">
                <a:solidFill>
                  <a:schemeClr val="tx1"/>
                </a:solidFill>
                <a:latin typeface="+mn-lt"/>
              </a:rPr>
              <a:t>L</a:t>
            </a:r>
            <a:r>
              <a:rPr lang="zh-CN" altLang="en-US" sz="2400" dirty="0">
                <a:solidFill>
                  <a:schemeClr val="tx1"/>
                </a:solidFill>
                <a:latin typeface="+mn-lt"/>
              </a:rPr>
              <a:t>、</a:t>
            </a:r>
            <a:r>
              <a:rPr lang="en-US" altLang="zh-CN" sz="2400" dirty="0">
                <a:solidFill>
                  <a:srgbClr val="FF0000"/>
                </a:solidFill>
                <a:latin typeface="+mn-lt"/>
              </a:rPr>
              <a:t>RO</a:t>
            </a:r>
            <a:r>
              <a:rPr lang="en-US" altLang="zh-CN" sz="2400" dirty="0">
                <a:solidFill>
                  <a:schemeClr val="tx1"/>
                </a:solidFill>
                <a:latin typeface="+mn-lt"/>
              </a:rPr>
              <a:t>R</a:t>
            </a:r>
            <a:endParaRPr lang="en-US" altLang="zh-CN" sz="2400" dirty="0">
              <a:solidFill>
                <a:schemeClr val="tx1"/>
              </a:solidFill>
              <a:latin typeface="+mn-lt"/>
            </a:endParaRPr>
          </a:p>
          <a:p>
            <a:pPr marL="914400" lvl="1" indent="-457200" algn="just">
              <a:lnSpc>
                <a:spcPct val="130000"/>
              </a:lnSpc>
              <a:spcBef>
                <a:spcPts val="200"/>
              </a:spcBef>
              <a:buClr>
                <a:srgbClr val="0000FF"/>
              </a:buClr>
              <a:buFont typeface="Wingdings" panose="05000000000000000000" pitchFamily="2" charset="2"/>
              <a:buChar char="ü"/>
            </a:pPr>
            <a:r>
              <a:rPr lang="zh-CN" altLang="en-US" sz="2400" dirty="0">
                <a:solidFill>
                  <a:schemeClr val="tx1"/>
                </a:solidFill>
                <a:latin typeface="+mn-lt"/>
              </a:rPr>
              <a:t>带进位循环移位：</a:t>
            </a:r>
            <a:r>
              <a:rPr lang="en-US" altLang="zh-CN" sz="2400" dirty="0">
                <a:solidFill>
                  <a:srgbClr val="FF0000"/>
                </a:solidFill>
                <a:latin typeface="+mn-lt"/>
              </a:rPr>
              <a:t>R</a:t>
            </a:r>
            <a:r>
              <a:rPr lang="en-US" altLang="zh-CN" sz="2400" dirty="0">
                <a:solidFill>
                  <a:srgbClr val="00B050"/>
                </a:solidFill>
                <a:latin typeface="+mn-lt"/>
              </a:rPr>
              <a:t>C</a:t>
            </a:r>
            <a:r>
              <a:rPr lang="en-US" altLang="zh-CN" sz="2400" dirty="0">
                <a:solidFill>
                  <a:schemeClr val="tx1"/>
                </a:solidFill>
                <a:latin typeface="+mn-lt"/>
              </a:rPr>
              <a:t>L</a:t>
            </a:r>
            <a:r>
              <a:rPr lang="zh-CN" altLang="en-US" sz="2400" dirty="0">
                <a:solidFill>
                  <a:schemeClr val="tx1"/>
                </a:solidFill>
                <a:latin typeface="+mn-lt"/>
              </a:rPr>
              <a:t>、</a:t>
            </a:r>
            <a:r>
              <a:rPr lang="en-US" altLang="zh-CN" sz="2400" dirty="0">
                <a:solidFill>
                  <a:srgbClr val="FF0000"/>
                </a:solidFill>
                <a:latin typeface="+mn-lt"/>
              </a:rPr>
              <a:t>R</a:t>
            </a:r>
            <a:r>
              <a:rPr lang="en-US" altLang="zh-CN" sz="2400" dirty="0">
                <a:solidFill>
                  <a:srgbClr val="00B050"/>
                </a:solidFill>
                <a:latin typeface="+mn-lt"/>
              </a:rPr>
              <a:t>C</a:t>
            </a:r>
            <a:r>
              <a:rPr lang="en-US" altLang="zh-CN" sz="2400" dirty="0">
                <a:solidFill>
                  <a:schemeClr val="tx1"/>
                </a:solidFill>
                <a:latin typeface="+mn-lt"/>
              </a:rPr>
              <a:t>R</a:t>
            </a:r>
            <a:endParaRPr lang="en-US" altLang="zh-CN" sz="1600" dirty="0">
              <a:solidFill>
                <a:schemeClr val="tx1"/>
              </a:solidFill>
              <a:latin typeface="+mn-lt"/>
            </a:endParaRPr>
          </a:p>
          <a:p>
            <a:pPr algn="just">
              <a:lnSpc>
                <a:spcPct val="130000"/>
              </a:lnSpc>
              <a:spcBef>
                <a:spcPts val="300"/>
              </a:spcBef>
              <a:buClr>
                <a:srgbClr val="0000FF"/>
              </a:buClr>
              <a:buSzPct val="100000"/>
              <a:defRPr/>
            </a:pPr>
            <a:endParaRPr lang="zh-CN" altLang="en-US" sz="2800" dirty="0">
              <a:latin typeface="+mn-lt"/>
            </a:endParaRPr>
          </a:p>
        </p:txBody>
      </p:sp>
      <p:graphicFrame>
        <p:nvGraphicFramePr>
          <p:cNvPr id="9" name="表格 9"/>
          <p:cNvGraphicFramePr>
            <a:graphicFrameLocks noGrp="1"/>
          </p:cNvGraphicFramePr>
          <p:nvPr/>
        </p:nvGraphicFramePr>
        <p:xfrm>
          <a:off x="1115616" y="2348880"/>
          <a:ext cx="7488832" cy="4186974"/>
        </p:xfrm>
        <a:graphic>
          <a:graphicData uri="http://schemas.openxmlformats.org/drawingml/2006/table">
            <a:tbl>
              <a:tblPr firstRow="1" bandRow="1">
                <a:tableStyleId>{5C22544A-7EE6-4342-B048-85BDC9FD1C3A}</a:tableStyleId>
              </a:tblPr>
              <a:tblGrid>
                <a:gridCol w="1798282"/>
                <a:gridCol w="5690550"/>
              </a:tblGrid>
              <a:tr h="586574">
                <a:tc>
                  <a:txBody>
                    <a:bodyPr/>
                    <a:lstStyle/>
                    <a:p>
                      <a:pPr algn="ctr"/>
                      <a:r>
                        <a:rPr lang="zh-CN" altLang="en-US" sz="2000" dirty="0">
                          <a:latin typeface="黑体" panose="02010609060101010101" pitchFamily="49" charset="-122"/>
                          <a:ea typeface="黑体" panose="02010609060101010101" pitchFamily="49" charset="-122"/>
                        </a:rPr>
                        <a:t>汇编指令</a:t>
                      </a:r>
                      <a:endParaRPr lang="zh-CN" altLang="en-US" sz="2000" dirty="0">
                        <a:latin typeface="黑体" panose="02010609060101010101" pitchFamily="49" charset="-122"/>
                        <a:ea typeface="黑体" panose="02010609060101010101" pitchFamily="49" charset="-122"/>
                      </a:endParaRPr>
                    </a:p>
                  </a:txBody>
                  <a:tcPr/>
                </a:tc>
                <a:tc>
                  <a:txBody>
                    <a:bodyPr/>
                    <a:lstStyle/>
                    <a:p>
                      <a:pPr algn="ctr"/>
                      <a:r>
                        <a:rPr lang="zh-CN" altLang="en-US" sz="2000" b="1" kern="1200" dirty="0">
                          <a:solidFill>
                            <a:schemeClr val="lt1"/>
                          </a:solidFill>
                          <a:latin typeface="黑体" panose="02010609060101010101" pitchFamily="49" charset="-122"/>
                          <a:ea typeface="黑体" panose="02010609060101010101" pitchFamily="49" charset="-122"/>
                          <a:cs typeface="+mn-cs"/>
                        </a:rPr>
                        <a:t>功能说明</a:t>
                      </a:r>
                      <a:endParaRPr lang="zh-CN" altLang="en-US" sz="2000" b="1" kern="1200" dirty="0">
                        <a:solidFill>
                          <a:schemeClr val="lt1"/>
                        </a:solidFill>
                        <a:latin typeface="黑体" panose="02010609060101010101" pitchFamily="49" charset="-122"/>
                        <a:ea typeface="黑体" panose="02010609060101010101" pitchFamily="49" charset="-122"/>
                        <a:cs typeface="+mn-cs"/>
                      </a:endParaRPr>
                    </a:p>
                  </a:txBody>
                  <a:tcPr/>
                </a:tc>
              </a:tr>
              <a:tr h="874606">
                <a:tc>
                  <a:txBody>
                    <a:bodyPr/>
                    <a:lstStyle/>
                    <a:p>
                      <a:pPr>
                        <a:lnSpc>
                          <a:spcPct val="120000"/>
                        </a:lnSpc>
                      </a:pPr>
                      <a:r>
                        <a:rPr lang="en-US" altLang="zh-CN" sz="2000" b="0" dirty="0">
                          <a:latin typeface="+mj-lt"/>
                          <a:ea typeface="黑体" panose="02010609060101010101" pitchFamily="49" charset="-122"/>
                        </a:rPr>
                        <a:t>ROL</a:t>
                      </a:r>
                      <a:r>
                        <a:rPr lang="zh-CN" altLang="en-US" sz="2000" b="0" dirty="0">
                          <a:latin typeface="黑体" panose="02010609060101010101" pitchFamily="49" charset="-122"/>
                          <a:ea typeface="黑体" panose="02010609060101010101" pitchFamily="49" charset="-122"/>
                        </a:rPr>
                        <a:t>循环左移</a:t>
                      </a:r>
                      <a:endParaRPr lang="zh-CN" altLang="en-US" sz="2000" b="0" dirty="0">
                        <a:latin typeface="黑体" panose="02010609060101010101" pitchFamily="49" charset="-122"/>
                        <a:ea typeface="黑体" panose="02010609060101010101" pitchFamily="49" charset="-122"/>
                      </a:endParaRPr>
                    </a:p>
                  </a:txBody>
                  <a:tcPr/>
                </a:tc>
                <a:tc>
                  <a:txBody>
                    <a:bodyPr/>
                    <a:lstStyle/>
                    <a:p>
                      <a:pPr marL="0" algn="l" defTabSz="914400" rtl="0" eaLnBrk="1" latinLnBrk="0" hangingPunct="1">
                        <a:lnSpc>
                          <a:spcPct val="120000"/>
                        </a:lnSpc>
                      </a:pPr>
                      <a:r>
                        <a:rPr lang="zh-CN" altLang="en-US" sz="2000" b="0" kern="1200" dirty="0">
                          <a:solidFill>
                            <a:schemeClr val="dk1"/>
                          </a:solidFill>
                          <a:latin typeface="黑体" panose="02010609060101010101" pitchFamily="49" charset="-122"/>
                          <a:ea typeface="黑体" panose="02010609060101010101" pitchFamily="49" charset="-122"/>
                          <a:cs typeface="+mn-cs"/>
                        </a:rPr>
                        <a:t>目标操作数循环向左移，最后一个被移出来的数字放入</a:t>
                      </a:r>
                      <a:r>
                        <a:rPr lang="en-US" altLang="zh-CN" sz="2000" b="0" kern="1200" dirty="0">
                          <a:solidFill>
                            <a:schemeClr val="dk1"/>
                          </a:solidFill>
                          <a:latin typeface="+mj-lt"/>
                          <a:ea typeface="黑体" panose="02010609060101010101" pitchFamily="49" charset="-122"/>
                          <a:cs typeface="+mn-cs"/>
                        </a:rPr>
                        <a:t>CF</a:t>
                      </a:r>
                      <a:r>
                        <a:rPr lang="zh-CN" altLang="en-US" sz="2000" b="0" kern="1200" dirty="0">
                          <a:solidFill>
                            <a:schemeClr val="dk1"/>
                          </a:solidFill>
                          <a:latin typeface="黑体" panose="02010609060101010101" pitchFamily="49" charset="-122"/>
                          <a:ea typeface="黑体" panose="02010609060101010101" pitchFamily="49" charset="-122"/>
                          <a:cs typeface="+mn-cs"/>
                        </a:rPr>
                        <a:t>标志位，同时循环回最右边</a:t>
                      </a:r>
                      <a:r>
                        <a:rPr lang="en-US" altLang="zh-CN" sz="2000" b="0" kern="1200" dirty="0">
                          <a:solidFill>
                            <a:schemeClr val="dk1"/>
                          </a:solidFill>
                          <a:latin typeface="黑体" panose="02010609060101010101" pitchFamily="49" charset="-122"/>
                          <a:ea typeface="黑体" panose="02010609060101010101" pitchFamily="49" charset="-122"/>
                          <a:cs typeface="+mn-cs"/>
                        </a:rPr>
                        <a:t>(</a:t>
                      </a:r>
                      <a:r>
                        <a:rPr lang="en-US" altLang="zh-CN" sz="2000" b="0" kern="1200" dirty="0">
                          <a:solidFill>
                            <a:schemeClr val="dk1"/>
                          </a:solidFill>
                          <a:latin typeface="+mj-lt"/>
                          <a:ea typeface="黑体" panose="02010609060101010101" pitchFamily="49" charset="-122"/>
                          <a:cs typeface="+mn-cs"/>
                        </a:rPr>
                        <a:t>LSB</a:t>
                      </a:r>
                      <a:r>
                        <a:rPr lang="en-US" altLang="zh-CN" sz="2000" b="0" kern="1200" dirty="0">
                          <a:solidFill>
                            <a:schemeClr val="dk1"/>
                          </a:solidFill>
                          <a:latin typeface="黑体" panose="02010609060101010101" pitchFamily="49" charset="-122"/>
                          <a:ea typeface="黑体" panose="02010609060101010101" pitchFamily="49" charset="-122"/>
                          <a:cs typeface="+mn-cs"/>
                        </a:rPr>
                        <a:t>)</a:t>
                      </a:r>
                      <a:r>
                        <a:rPr lang="zh-CN" altLang="en-US" sz="2000" b="0" kern="1200" dirty="0">
                          <a:solidFill>
                            <a:schemeClr val="dk1"/>
                          </a:solidFill>
                          <a:latin typeface="黑体" panose="02010609060101010101" pitchFamily="49" charset="-122"/>
                          <a:ea typeface="黑体" panose="02010609060101010101" pitchFamily="49" charset="-122"/>
                          <a:cs typeface="+mn-cs"/>
                        </a:rPr>
                        <a:t>。</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r>
              <a:tr h="925594">
                <a:tc>
                  <a:txBody>
                    <a:bodyPr/>
                    <a:lstStyle/>
                    <a:p>
                      <a:pPr marL="0" algn="l" defTabSz="914400" rtl="0" eaLnBrk="1" latinLnBrk="0" hangingPunct="1">
                        <a:lnSpc>
                          <a:spcPct val="120000"/>
                        </a:lnSpc>
                      </a:pPr>
                      <a:r>
                        <a:rPr lang="en-US" altLang="zh-CN" sz="2000" b="0" kern="1200" dirty="0">
                          <a:solidFill>
                            <a:schemeClr val="dk1"/>
                          </a:solidFill>
                          <a:latin typeface="+mj-lt"/>
                          <a:ea typeface="黑体" panose="02010609060101010101" pitchFamily="49" charset="-122"/>
                          <a:cs typeface="+mn-cs"/>
                        </a:rPr>
                        <a:t>ROR</a:t>
                      </a:r>
                      <a:r>
                        <a:rPr lang="zh-CN" altLang="en-US" sz="2000" b="0" kern="1200" dirty="0">
                          <a:solidFill>
                            <a:schemeClr val="dk1"/>
                          </a:solidFill>
                          <a:latin typeface="黑体" panose="02010609060101010101" pitchFamily="49" charset="-122"/>
                          <a:ea typeface="黑体" panose="02010609060101010101" pitchFamily="49" charset="-122"/>
                          <a:cs typeface="+mn-cs"/>
                        </a:rPr>
                        <a:t>循环右移</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c>
                  <a:txBody>
                    <a:bodyPr/>
                    <a:lstStyle/>
                    <a:p>
                      <a:pPr>
                        <a:lnSpc>
                          <a:spcPct val="120000"/>
                        </a:lnSpc>
                      </a:pPr>
                      <a:r>
                        <a:rPr lang="zh-CN" altLang="en-US" sz="2000" b="0" kern="1200" dirty="0">
                          <a:solidFill>
                            <a:schemeClr val="dk1"/>
                          </a:solidFill>
                          <a:latin typeface="黑体" panose="02010609060101010101" pitchFamily="49" charset="-122"/>
                          <a:ea typeface="黑体" panose="02010609060101010101" pitchFamily="49" charset="-122"/>
                          <a:cs typeface="+mn-cs"/>
                        </a:rPr>
                        <a:t>目标操作数循环向右移，最后一个被移出来的数字放入</a:t>
                      </a:r>
                      <a:r>
                        <a:rPr lang="en-US" altLang="zh-CN" sz="2000" b="0" kern="1200" dirty="0">
                          <a:solidFill>
                            <a:schemeClr val="dk1"/>
                          </a:solidFill>
                          <a:latin typeface="+mj-lt"/>
                          <a:ea typeface="黑体" panose="02010609060101010101" pitchFamily="49" charset="-122"/>
                          <a:cs typeface="+mn-cs"/>
                        </a:rPr>
                        <a:t>CF</a:t>
                      </a:r>
                      <a:r>
                        <a:rPr lang="zh-CN" altLang="en-US" sz="2000" b="0" kern="1200" dirty="0">
                          <a:solidFill>
                            <a:schemeClr val="dk1"/>
                          </a:solidFill>
                          <a:latin typeface="黑体" panose="02010609060101010101" pitchFamily="49" charset="-122"/>
                          <a:ea typeface="黑体" panose="02010609060101010101" pitchFamily="49" charset="-122"/>
                          <a:cs typeface="+mn-cs"/>
                        </a:rPr>
                        <a:t>标志位，同时循环回最左边</a:t>
                      </a:r>
                      <a:r>
                        <a:rPr lang="en-US" altLang="zh-CN" sz="2000" b="0" kern="1200" dirty="0">
                          <a:solidFill>
                            <a:schemeClr val="dk1"/>
                          </a:solidFill>
                          <a:latin typeface="黑体" panose="02010609060101010101" pitchFamily="49" charset="-122"/>
                          <a:ea typeface="黑体" panose="02010609060101010101" pitchFamily="49" charset="-122"/>
                          <a:cs typeface="+mn-cs"/>
                        </a:rPr>
                        <a:t>(</a:t>
                      </a:r>
                      <a:r>
                        <a:rPr lang="en-US" altLang="zh-CN" sz="2000" b="0" kern="1200" dirty="0">
                          <a:solidFill>
                            <a:schemeClr val="dk1"/>
                          </a:solidFill>
                          <a:latin typeface="+mj-lt"/>
                          <a:ea typeface="黑体" panose="02010609060101010101" pitchFamily="49" charset="-122"/>
                          <a:cs typeface="+mn-cs"/>
                        </a:rPr>
                        <a:t>MSB</a:t>
                      </a:r>
                      <a:r>
                        <a:rPr lang="en-US" altLang="zh-CN" sz="2000" b="0" kern="1200" dirty="0">
                          <a:solidFill>
                            <a:schemeClr val="dk1"/>
                          </a:solidFill>
                          <a:latin typeface="黑体" panose="02010609060101010101" pitchFamily="49" charset="-122"/>
                          <a:ea typeface="黑体" panose="02010609060101010101" pitchFamily="49" charset="-122"/>
                          <a:cs typeface="+mn-cs"/>
                        </a:rPr>
                        <a:t>)</a:t>
                      </a:r>
                      <a:r>
                        <a:rPr lang="zh-CN" altLang="en-US" sz="2000" b="0" kern="1200" dirty="0">
                          <a:solidFill>
                            <a:schemeClr val="dk1"/>
                          </a:solidFill>
                          <a:latin typeface="黑体" panose="02010609060101010101" pitchFamily="49" charset="-122"/>
                          <a:ea typeface="黑体" panose="02010609060101010101" pitchFamily="49" charset="-122"/>
                          <a:cs typeface="+mn-cs"/>
                        </a:rPr>
                        <a:t>。</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r>
              <a:tr h="936104">
                <a:tc>
                  <a:txBody>
                    <a:bodyPr/>
                    <a:lstStyle/>
                    <a:p>
                      <a:pPr marL="0" algn="l" defTabSz="914400" rtl="0" eaLnBrk="1" latinLnBrk="0" hangingPunct="1">
                        <a:lnSpc>
                          <a:spcPct val="120000"/>
                        </a:lnSpc>
                      </a:pPr>
                      <a:r>
                        <a:rPr lang="en-US" altLang="zh-CN" sz="2000" b="0" kern="1200" dirty="0">
                          <a:solidFill>
                            <a:schemeClr val="dk1"/>
                          </a:solidFill>
                          <a:latin typeface="+mj-lt"/>
                          <a:ea typeface="黑体" panose="02010609060101010101" pitchFamily="49" charset="-122"/>
                          <a:cs typeface="+mn-cs"/>
                        </a:rPr>
                        <a:t>RCL</a:t>
                      </a:r>
                      <a:r>
                        <a:rPr lang="zh-CN" altLang="en-US" sz="2000" b="0" kern="1200" dirty="0">
                          <a:solidFill>
                            <a:schemeClr val="dk1"/>
                          </a:solidFill>
                          <a:latin typeface="黑体" panose="02010609060101010101" pitchFamily="49" charset="-122"/>
                          <a:ea typeface="黑体" panose="02010609060101010101" pitchFamily="49" charset="-122"/>
                          <a:cs typeface="+mn-cs"/>
                        </a:rPr>
                        <a:t>带进位的循环左移</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c>
                  <a:txBody>
                    <a:bodyPr/>
                    <a:lstStyle/>
                    <a:p>
                      <a:pPr marL="0" algn="l" defTabSz="914400" rtl="0" eaLnBrk="1" latinLnBrk="0" hangingPunct="1">
                        <a:lnSpc>
                          <a:spcPct val="120000"/>
                        </a:lnSpc>
                      </a:pPr>
                      <a:r>
                        <a:rPr lang="zh-CN" altLang="en-US" sz="2000" b="0" kern="1200" dirty="0">
                          <a:solidFill>
                            <a:schemeClr val="dk1"/>
                          </a:solidFill>
                          <a:latin typeface="黑体" panose="02010609060101010101" pitchFamily="49" charset="-122"/>
                          <a:ea typeface="黑体" panose="02010609060101010101" pitchFamily="49" charset="-122"/>
                          <a:cs typeface="+mn-cs"/>
                        </a:rPr>
                        <a:t>将</a:t>
                      </a:r>
                      <a:r>
                        <a:rPr lang="en-US" altLang="zh-CN" sz="2000" b="0" kern="1200" dirty="0">
                          <a:solidFill>
                            <a:schemeClr val="dk1"/>
                          </a:solidFill>
                          <a:latin typeface="+mj-lt"/>
                          <a:ea typeface="黑体" panose="02010609060101010101" pitchFamily="49" charset="-122"/>
                          <a:cs typeface="+mn-cs"/>
                        </a:rPr>
                        <a:t>CF</a:t>
                      </a:r>
                      <a:r>
                        <a:rPr lang="zh-CN" altLang="en-US" sz="2000" b="0" kern="1200" dirty="0">
                          <a:solidFill>
                            <a:schemeClr val="dk1"/>
                          </a:solidFill>
                          <a:latin typeface="黑体" panose="02010609060101010101" pitchFamily="49" charset="-122"/>
                          <a:ea typeface="黑体" panose="02010609060101010101" pitchFamily="49" charset="-122"/>
                          <a:cs typeface="+mn-cs"/>
                        </a:rPr>
                        <a:t>位放到目标操作数的最左边，一起参与循环，从</a:t>
                      </a:r>
                      <a:r>
                        <a:rPr lang="en-US" altLang="zh-CN" sz="2000" b="0" kern="1200" dirty="0">
                          <a:solidFill>
                            <a:schemeClr val="dk1"/>
                          </a:solidFill>
                          <a:latin typeface="+mj-lt"/>
                          <a:ea typeface="黑体" panose="02010609060101010101" pitchFamily="49" charset="-122"/>
                          <a:cs typeface="+mn-cs"/>
                        </a:rPr>
                        <a:t>CF</a:t>
                      </a:r>
                      <a:r>
                        <a:rPr lang="zh-CN" altLang="en-US" sz="2000" b="0" kern="1200" dirty="0">
                          <a:solidFill>
                            <a:schemeClr val="dk1"/>
                          </a:solidFill>
                          <a:latin typeface="黑体" panose="02010609060101010101" pitchFamily="49" charset="-122"/>
                          <a:ea typeface="黑体" panose="02010609060101010101" pitchFamily="49" charset="-122"/>
                          <a:cs typeface="+mn-cs"/>
                        </a:rPr>
                        <a:t>位移出去的数字循环回</a:t>
                      </a:r>
                      <a:r>
                        <a:rPr lang="en-US" altLang="zh-CN" sz="2000" b="0" kern="1200" dirty="0">
                          <a:solidFill>
                            <a:schemeClr val="dk1"/>
                          </a:solidFill>
                          <a:latin typeface="+mj-lt"/>
                          <a:ea typeface="黑体" panose="02010609060101010101" pitchFamily="49" charset="-122"/>
                          <a:cs typeface="+mn-cs"/>
                        </a:rPr>
                        <a:t>LSB</a:t>
                      </a:r>
                      <a:r>
                        <a:rPr lang="zh-CN" altLang="en-US" sz="2000" b="0" kern="1200" dirty="0">
                          <a:solidFill>
                            <a:schemeClr val="dk1"/>
                          </a:solidFill>
                          <a:latin typeface="黑体" panose="02010609060101010101" pitchFamily="49" charset="-122"/>
                          <a:ea typeface="黑体" panose="02010609060101010101" pitchFamily="49" charset="-122"/>
                          <a:cs typeface="+mn-cs"/>
                        </a:rPr>
                        <a:t>。</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r>
              <a:tr h="864096">
                <a:tc>
                  <a:txBody>
                    <a:bodyPr/>
                    <a:lstStyle/>
                    <a:p>
                      <a:pPr marL="0" algn="l" defTabSz="914400" rtl="0" eaLnBrk="1" latinLnBrk="0" hangingPunct="1">
                        <a:lnSpc>
                          <a:spcPct val="120000"/>
                        </a:lnSpc>
                      </a:pPr>
                      <a:r>
                        <a:rPr lang="en-US" altLang="zh-CN" sz="2000" b="0" kern="1200" dirty="0">
                          <a:solidFill>
                            <a:schemeClr val="dk1"/>
                          </a:solidFill>
                          <a:latin typeface="+mj-lt"/>
                          <a:ea typeface="黑体" panose="02010609060101010101" pitchFamily="49" charset="-122"/>
                          <a:cs typeface="+mn-cs"/>
                        </a:rPr>
                        <a:t>RCR</a:t>
                      </a:r>
                      <a:r>
                        <a:rPr lang="zh-CN" altLang="en-US" sz="2000" b="0" kern="1200" dirty="0">
                          <a:solidFill>
                            <a:schemeClr val="dk1"/>
                          </a:solidFill>
                          <a:latin typeface="黑体" panose="02010609060101010101" pitchFamily="49" charset="-122"/>
                          <a:ea typeface="黑体" panose="02010609060101010101" pitchFamily="49" charset="-122"/>
                          <a:cs typeface="+mn-cs"/>
                        </a:rPr>
                        <a:t>带进位的循环右移</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c>
                  <a:txBody>
                    <a:bodyPr/>
                    <a:lstStyle/>
                    <a:p>
                      <a:pPr marL="0" algn="l" defTabSz="914400" rtl="0" eaLnBrk="1" latinLnBrk="0" hangingPunct="1">
                        <a:lnSpc>
                          <a:spcPct val="120000"/>
                        </a:lnSpc>
                      </a:pPr>
                      <a:r>
                        <a:rPr lang="zh-CN" altLang="en-US" sz="2000" b="0" kern="1200" dirty="0">
                          <a:solidFill>
                            <a:schemeClr val="dk1"/>
                          </a:solidFill>
                          <a:latin typeface="黑体" panose="02010609060101010101" pitchFamily="49" charset="-122"/>
                          <a:ea typeface="黑体" panose="02010609060101010101" pitchFamily="49" charset="-122"/>
                          <a:cs typeface="+mn-cs"/>
                        </a:rPr>
                        <a:t>将</a:t>
                      </a:r>
                      <a:r>
                        <a:rPr lang="en-US" altLang="zh-CN" sz="2000" b="0" kern="1200" dirty="0">
                          <a:solidFill>
                            <a:schemeClr val="dk1"/>
                          </a:solidFill>
                          <a:latin typeface="+mj-lt"/>
                          <a:ea typeface="黑体" panose="02010609060101010101" pitchFamily="49" charset="-122"/>
                          <a:cs typeface="+mn-cs"/>
                        </a:rPr>
                        <a:t>CF</a:t>
                      </a:r>
                      <a:r>
                        <a:rPr lang="zh-CN" altLang="en-US" sz="2000" b="0" kern="1200" dirty="0">
                          <a:solidFill>
                            <a:schemeClr val="dk1"/>
                          </a:solidFill>
                          <a:latin typeface="黑体" panose="02010609060101010101" pitchFamily="49" charset="-122"/>
                          <a:ea typeface="黑体" panose="02010609060101010101" pitchFamily="49" charset="-122"/>
                          <a:cs typeface="+mn-cs"/>
                        </a:rPr>
                        <a:t>位放到目标操作数的最右边，一起参与循环，从</a:t>
                      </a:r>
                      <a:r>
                        <a:rPr lang="en-US" altLang="zh-CN" sz="2000" b="0" kern="1200" dirty="0">
                          <a:solidFill>
                            <a:schemeClr val="dk1"/>
                          </a:solidFill>
                          <a:latin typeface="+mj-lt"/>
                          <a:ea typeface="黑体" panose="02010609060101010101" pitchFamily="49" charset="-122"/>
                          <a:cs typeface="+mn-cs"/>
                        </a:rPr>
                        <a:t>CF</a:t>
                      </a:r>
                      <a:r>
                        <a:rPr lang="zh-CN" altLang="en-US" sz="2000" b="0" kern="1200" dirty="0">
                          <a:solidFill>
                            <a:schemeClr val="dk1"/>
                          </a:solidFill>
                          <a:latin typeface="黑体" panose="02010609060101010101" pitchFamily="49" charset="-122"/>
                          <a:ea typeface="黑体" panose="02010609060101010101" pitchFamily="49" charset="-122"/>
                          <a:cs typeface="+mn-cs"/>
                        </a:rPr>
                        <a:t>位移出去的数字循环回</a:t>
                      </a:r>
                      <a:r>
                        <a:rPr lang="en-US" altLang="zh-CN" sz="2000" b="0" kern="1200" dirty="0">
                          <a:solidFill>
                            <a:schemeClr val="dk1"/>
                          </a:solidFill>
                          <a:latin typeface="+mj-lt"/>
                          <a:ea typeface="黑体" panose="02010609060101010101" pitchFamily="49" charset="-122"/>
                          <a:cs typeface="+mn-cs"/>
                        </a:rPr>
                        <a:t>MSB</a:t>
                      </a:r>
                      <a:r>
                        <a:rPr lang="zh-CN" altLang="en-US" sz="2000" b="0" kern="1200" dirty="0">
                          <a:solidFill>
                            <a:schemeClr val="dk1"/>
                          </a:solidFill>
                          <a:latin typeface="黑体" panose="02010609060101010101" pitchFamily="49" charset="-122"/>
                          <a:ea typeface="黑体" panose="02010609060101010101" pitchFamily="49" charset="-122"/>
                          <a:cs typeface="+mn-cs"/>
                        </a:rPr>
                        <a:t>。</a:t>
                      </a:r>
                      <a:endParaRPr lang="zh-CN" altLang="en-US" sz="2000" b="0" kern="1200" dirty="0">
                        <a:solidFill>
                          <a:schemeClr val="dk1"/>
                        </a:solidFill>
                        <a:latin typeface="黑体" panose="02010609060101010101" pitchFamily="49" charset="-122"/>
                        <a:ea typeface="黑体" panose="02010609060101010101" pitchFamily="49" charset="-122"/>
                        <a:cs typeface="+mn-cs"/>
                      </a:endParaRPr>
                    </a:p>
                  </a:txBody>
                  <a:tcPr/>
                </a:tc>
              </a:tr>
            </a:tbl>
          </a:graphicData>
        </a:graphic>
      </p:graphicFrame>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539552" y="692696"/>
            <a:ext cx="8280920" cy="6136729"/>
          </a:xfrm>
          <a:prstGeom prst="rect">
            <a:avLst/>
          </a:prstGeom>
        </p:spPr>
        <p:txBody>
          <a:bodyPr/>
          <a:lstStyle/>
          <a:p>
            <a:pPr algn="just">
              <a:lnSpc>
                <a:spcPct val="125000"/>
              </a:lnSpc>
              <a:spcBef>
                <a:spcPts val="0"/>
              </a:spcBef>
              <a:buClr>
                <a:srgbClr val="0000FF"/>
              </a:buClr>
              <a:buSzPct val="100000"/>
              <a:defRPr/>
            </a:pPr>
            <a:r>
              <a:rPr lang="zh-CN" altLang="en-US" sz="2600" b="1" dirty="0">
                <a:solidFill>
                  <a:schemeClr val="tx1"/>
                </a:solidFill>
                <a:latin typeface="+mn-lt"/>
              </a:rPr>
              <a:t>例：</a:t>
            </a:r>
            <a:r>
              <a:rPr lang="en-US" altLang="zh-CN" sz="2600" dirty="0">
                <a:solidFill>
                  <a:schemeClr val="tx1"/>
                </a:solidFill>
                <a:latin typeface="+mn-lt"/>
              </a:rPr>
              <a:t>IA-32</a:t>
            </a:r>
            <a:r>
              <a:rPr lang="zh-CN" altLang="en-US" sz="2600" dirty="0">
                <a:solidFill>
                  <a:schemeClr val="tx1"/>
                </a:solidFill>
                <a:latin typeface="+mn-lt"/>
              </a:rPr>
              <a:t>可以直接对</a:t>
            </a:r>
            <a:r>
              <a:rPr lang="en-US" altLang="zh-CN" sz="2600" dirty="0">
                <a:solidFill>
                  <a:schemeClr val="tx1"/>
                </a:solidFill>
                <a:latin typeface="+mn-lt"/>
              </a:rPr>
              <a:t>8/16/32</a:t>
            </a:r>
            <a:r>
              <a:rPr lang="zh-CN" altLang="en-US" sz="2600" dirty="0">
                <a:solidFill>
                  <a:schemeClr val="tx1"/>
                </a:solidFill>
                <a:latin typeface="+mn-lt"/>
              </a:rPr>
              <a:t>位数据进行各种移位操作，但是对大于</a:t>
            </a:r>
            <a:r>
              <a:rPr lang="en-US" altLang="zh-CN" sz="2600" dirty="0">
                <a:solidFill>
                  <a:schemeClr val="tx1"/>
                </a:solidFill>
                <a:latin typeface="+mn-lt"/>
              </a:rPr>
              <a:t>32</a:t>
            </a:r>
            <a:r>
              <a:rPr lang="zh-CN" altLang="en-US" sz="2600" dirty="0">
                <a:solidFill>
                  <a:schemeClr val="tx1"/>
                </a:solidFill>
                <a:latin typeface="+mn-lt"/>
              </a:rPr>
              <a:t>位的数据需要</a:t>
            </a:r>
            <a:r>
              <a:rPr lang="zh-CN" altLang="en-US" sz="2600" dirty="0">
                <a:solidFill>
                  <a:srgbClr val="00B050"/>
                </a:solidFill>
                <a:latin typeface="+mn-lt"/>
              </a:rPr>
              <a:t>组合移位指令</a:t>
            </a:r>
            <a:r>
              <a:rPr lang="zh-CN" altLang="en-US" sz="2600" dirty="0">
                <a:solidFill>
                  <a:schemeClr val="tx1"/>
                </a:solidFill>
                <a:latin typeface="+mn-lt"/>
              </a:rPr>
              <a:t>来实现。</a:t>
            </a: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例</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3-9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循环移位程序</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67551" y="70507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683568" y="1811850"/>
            <a:ext cx="8016948" cy="3170555"/>
          </a:xfrm>
          <a:prstGeom prst="rect">
            <a:avLst/>
          </a:prstGeom>
          <a:solidFill>
            <a:srgbClr val="DDEEFF"/>
          </a:solidFill>
          <a:ln w="25400">
            <a:noFill/>
          </a:ln>
        </p:spPr>
        <p:txBody>
          <a:bodyPr wrap="square">
            <a:spAutoFit/>
          </a:bodyPr>
          <a:lstStyle/>
          <a:p>
            <a:pPr>
              <a:lnSpc>
                <a:spcPct val="130000"/>
              </a:lnSpc>
            </a:pPr>
            <a:r>
              <a:rPr lang="en-US" altLang="zh-CN" sz="2200" dirty="0">
                <a:solidFill>
                  <a:schemeClr val="tx1"/>
                </a:solidFill>
                <a:latin typeface="+mn-lt"/>
              </a:rPr>
              <a:t>;</a:t>
            </a:r>
            <a:r>
              <a:rPr lang="zh-CN" altLang="en-US" sz="2200" dirty="0">
                <a:solidFill>
                  <a:schemeClr val="tx1"/>
                </a:solidFill>
                <a:latin typeface="+mn-lt"/>
              </a:rPr>
              <a:t>数据段</a:t>
            </a:r>
            <a:endParaRPr lang="zh-CN" altLang="en-US" sz="2200" dirty="0">
              <a:solidFill>
                <a:schemeClr val="tx1"/>
              </a:solidFill>
              <a:latin typeface="+mn-lt"/>
            </a:endParaRPr>
          </a:p>
          <a:p>
            <a:pPr>
              <a:lnSpc>
                <a:spcPct val="130000"/>
              </a:lnSpc>
            </a:pPr>
            <a:r>
              <a:rPr lang="en-US" altLang="zh-CN" sz="2200" b="1" dirty="0" err="1">
                <a:latin typeface="+mn-lt"/>
              </a:rPr>
              <a:t>qvar</a:t>
            </a:r>
            <a:r>
              <a:rPr lang="en-US" altLang="zh-CN" sz="2200" b="1" dirty="0">
                <a:latin typeface="+mn-lt"/>
              </a:rPr>
              <a:t>	qword 1234567887654321h</a:t>
            </a:r>
            <a:endParaRPr lang="en-US" altLang="zh-CN" sz="2200" b="1" dirty="0">
              <a:latin typeface="+mn-lt"/>
            </a:endParaRPr>
          </a:p>
          <a:p>
            <a:pPr>
              <a:lnSpc>
                <a:spcPct val="130000"/>
              </a:lnSpc>
            </a:pPr>
            <a:r>
              <a:rPr lang="en-US" altLang="zh-CN" sz="2200" dirty="0">
                <a:solidFill>
                  <a:schemeClr val="tx1"/>
                </a:solidFill>
                <a:latin typeface="+mn-lt"/>
              </a:rPr>
              <a:t>;</a:t>
            </a:r>
            <a:r>
              <a:rPr lang="zh-CN" altLang="en-US" sz="2200" dirty="0">
                <a:solidFill>
                  <a:schemeClr val="tx1"/>
                </a:solidFill>
                <a:latin typeface="+mn-lt"/>
              </a:rPr>
              <a:t>代码段</a:t>
            </a:r>
            <a:endParaRPr lang="zh-CN" altLang="en-US" sz="2200" dirty="0">
              <a:solidFill>
                <a:schemeClr val="tx1"/>
              </a:solidFill>
              <a:latin typeface="+mn-lt"/>
            </a:endParaRPr>
          </a:p>
          <a:p>
            <a:pPr>
              <a:lnSpc>
                <a:spcPct val="130000"/>
              </a:lnSpc>
            </a:pPr>
            <a:r>
              <a:rPr lang="zh-CN" altLang="en-US" sz="2200" b="1" dirty="0">
                <a:latin typeface="+mn-lt"/>
              </a:rPr>
              <a:t>	</a:t>
            </a:r>
            <a:r>
              <a:rPr lang="en-US" altLang="zh-CN" sz="2200" b="1" dirty="0">
                <a:latin typeface="+mn-lt"/>
              </a:rPr>
              <a:t>mov ecx,4			</a:t>
            </a:r>
            <a:r>
              <a:rPr lang="en-US" altLang="zh-CN" sz="2200" dirty="0">
                <a:solidFill>
                  <a:srgbClr val="00B050"/>
                </a:solidFill>
                <a:latin typeface="+mn-lt"/>
              </a:rPr>
              <a:t>; </a:t>
            </a:r>
            <a:r>
              <a:rPr lang="zh-CN" altLang="en-US" sz="2200" dirty="0">
                <a:solidFill>
                  <a:srgbClr val="00B050"/>
                </a:solidFill>
                <a:latin typeface="+mn-lt"/>
              </a:rPr>
              <a:t>通过循环逻辑右移</a:t>
            </a:r>
            <a:r>
              <a:rPr lang="en-US" altLang="zh-CN" sz="2200" dirty="0">
                <a:solidFill>
                  <a:srgbClr val="00B050"/>
                </a:solidFill>
                <a:latin typeface="+mn-lt"/>
              </a:rPr>
              <a:t>4</a:t>
            </a:r>
            <a:r>
              <a:rPr lang="zh-CN" altLang="en-US" sz="2200" dirty="0">
                <a:solidFill>
                  <a:srgbClr val="00B050"/>
                </a:solidFill>
                <a:latin typeface="+mn-lt"/>
              </a:rPr>
              <a:t>位</a:t>
            </a:r>
            <a:endParaRPr lang="en-US" altLang="zh-CN" sz="2200" dirty="0">
              <a:solidFill>
                <a:srgbClr val="00B050"/>
              </a:solidFill>
              <a:latin typeface="+mn-lt"/>
            </a:endParaRPr>
          </a:p>
          <a:p>
            <a:pPr>
              <a:lnSpc>
                <a:spcPct val="130000"/>
              </a:lnSpc>
            </a:pPr>
            <a:r>
              <a:rPr lang="en-US" altLang="zh-CN" sz="2200" b="1" dirty="0">
                <a:latin typeface="+mn-lt"/>
              </a:rPr>
              <a:t>again:	</a:t>
            </a:r>
            <a:r>
              <a:rPr lang="en-US" altLang="zh-CN" sz="2200" b="1" dirty="0" err="1">
                <a:latin typeface="+mn-lt"/>
              </a:rPr>
              <a:t>shr</a:t>
            </a:r>
            <a:r>
              <a:rPr lang="en-US" altLang="zh-CN" sz="2200" b="1" dirty="0">
                <a:latin typeface="+mn-lt"/>
              </a:rPr>
              <a:t> </a:t>
            </a:r>
            <a:r>
              <a:rPr lang="en-US" altLang="zh-CN" sz="2200" b="1" dirty="0" err="1">
                <a:latin typeface="+mn-lt"/>
              </a:rPr>
              <a:t>dword</a:t>
            </a:r>
            <a:r>
              <a:rPr lang="en-US" altLang="zh-CN" sz="2200" b="1" dirty="0">
                <a:latin typeface="+mn-lt"/>
              </a:rPr>
              <a:t> </a:t>
            </a:r>
            <a:r>
              <a:rPr lang="en-US" altLang="zh-CN" sz="2200" b="1" dirty="0" err="1">
                <a:latin typeface="+mn-lt"/>
              </a:rPr>
              <a:t>ptr</a:t>
            </a:r>
            <a:r>
              <a:rPr lang="en-US" altLang="zh-CN" sz="2200" b="1" dirty="0">
                <a:latin typeface="+mn-lt"/>
              </a:rPr>
              <a:t> [qvar+4], 1	</a:t>
            </a:r>
            <a:r>
              <a:rPr lang="en-US" altLang="zh-CN" sz="2200" dirty="0">
                <a:solidFill>
                  <a:srgbClr val="00B050"/>
                </a:solidFill>
                <a:latin typeface="+mn-lt"/>
              </a:rPr>
              <a:t>;</a:t>
            </a:r>
            <a:r>
              <a:rPr lang="zh-CN" altLang="en-US" sz="2200" dirty="0">
                <a:solidFill>
                  <a:srgbClr val="00B050"/>
                </a:solidFill>
                <a:latin typeface="+mn-lt"/>
              </a:rPr>
              <a:t> 先移动高</a:t>
            </a:r>
            <a:r>
              <a:rPr lang="en-US" altLang="zh-CN" sz="2200" dirty="0">
                <a:solidFill>
                  <a:srgbClr val="00B050"/>
                </a:solidFill>
                <a:latin typeface="+mn-lt"/>
              </a:rPr>
              <a:t>32</a:t>
            </a:r>
            <a:r>
              <a:rPr lang="zh-CN" altLang="en-US" sz="2200" dirty="0">
                <a:solidFill>
                  <a:srgbClr val="00B050"/>
                </a:solidFill>
                <a:latin typeface="+mn-lt"/>
              </a:rPr>
              <a:t>位</a:t>
            </a:r>
            <a:endParaRPr lang="en-US" altLang="zh-CN" sz="2200" dirty="0">
              <a:solidFill>
                <a:srgbClr val="00B050"/>
              </a:solidFill>
              <a:latin typeface="+mn-lt"/>
            </a:endParaRPr>
          </a:p>
          <a:p>
            <a:pPr>
              <a:lnSpc>
                <a:spcPct val="130000"/>
              </a:lnSpc>
            </a:pPr>
            <a:r>
              <a:rPr lang="en-US" altLang="zh-CN" sz="2200" b="1" dirty="0">
                <a:latin typeface="+mn-lt"/>
              </a:rPr>
              <a:t>	</a:t>
            </a:r>
            <a:r>
              <a:rPr lang="en-US" altLang="zh-CN" sz="2200" b="1" dirty="0" err="1">
                <a:solidFill>
                  <a:srgbClr val="FF0000"/>
                </a:solidFill>
                <a:latin typeface="+mn-lt"/>
              </a:rPr>
              <a:t>rcr</a:t>
            </a:r>
            <a:r>
              <a:rPr lang="en-US" altLang="zh-CN" sz="2200" b="1" dirty="0">
                <a:solidFill>
                  <a:srgbClr val="FF0000"/>
                </a:solidFill>
                <a:latin typeface="+mn-lt"/>
              </a:rPr>
              <a:t> </a:t>
            </a:r>
            <a:r>
              <a:rPr lang="en-US" altLang="zh-CN" sz="2200" b="1" dirty="0" err="1">
                <a:latin typeface="+mn-lt"/>
              </a:rPr>
              <a:t>dword</a:t>
            </a:r>
            <a:r>
              <a:rPr lang="en-US" altLang="zh-CN" sz="2200" b="1" dirty="0">
                <a:latin typeface="+mn-lt"/>
              </a:rPr>
              <a:t> </a:t>
            </a:r>
            <a:r>
              <a:rPr lang="en-US" altLang="zh-CN" sz="2200" b="1" dirty="0" err="1">
                <a:latin typeface="+mn-lt"/>
              </a:rPr>
              <a:t>ptr</a:t>
            </a:r>
            <a:r>
              <a:rPr lang="en-US" altLang="zh-CN" sz="2200" b="1" dirty="0">
                <a:latin typeface="+mn-lt"/>
              </a:rPr>
              <a:t> [qvar], 1	</a:t>
            </a:r>
            <a:r>
              <a:rPr lang="en-US" altLang="zh-CN" sz="2200" dirty="0">
                <a:solidFill>
                  <a:srgbClr val="00B050"/>
                </a:solidFill>
                <a:latin typeface="+mn-lt"/>
              </a:rPr>
              <a:t>; </a:t>
            </a:r>
            <a:r>
              <a:rPr lang="zh-CN" altLang="en-US" sz="2200" dirty="0">
                <a:solidFill>
                  <a:srgbClr val="00B050"/>
                </a:solidFill>
                <a:latin typeface="+mn-lt"/>
              </a:rPr>
              <a:t>后用循环移位移动低</a:t>
            </a:r>
            <a:r>
              <a:rPr lang="en-US" altLang="zh-CN" sz="2200" dirty="0">
                <a:solidFill>
                  <a:srgbClr val="00B050"/>
                </a:solidFill>
                <a:latin typeface="+mn-lt"/>
              </a:rPr>
              <a:t>32</a:t>
            </a:r>
            <a:r>
              <a:rPr lang="zh-CN" altLang="en-US" sz="2200" dirty="0">
                <a:solidFill>
                  <a:srgbClr val="00B050"/>
                </a:solidFill>
                <a:latin typeface="+mn-lt"/>
              </a:rPr>
              <a:t>位</a:t>
            </a:r>
            <a:endParaRPr lang="en-US" altLang="zh-CN" sz="2200" dirty="0">
              <a:solidFill>
                <a:srgbClr val="00B050"/>
              </a:solidFill>
              <a:latin typeface="+mn-lt"/>
            </a:endParaRPr>
          </a:p>
          <a:p>
            <a:pPr>
              <a:lnSpc>
                <a:spcPct val="130000"/>
              </a:lnSpc>
            </a:pPr>
            <a:r>
              <a:rPr lang="en-US" altLang="zh-CN" sz="2200" b="1" dirty="0">
                <a:latin typeface="+mn-lt"/>
              </a:rPr>
              <a:t>	loop again</a:t>
            </a:r>
            <a:endParaRPr lang="zh-CN" altLang="en-US" sz="2200" dirty="0">
              <a:solidFill>
                <a:schemeClr val="tx1"/>
              </a:solidFill>
              <a:latin typeface="+mn-lt"/>
            </a:endParaRPr>
          </a:p>
        </p:txBody>
      </p:sp>
      <p:grpSp>
        <p:nvGrpSpPr>
          <p:cNvPr id="5" name="Group 4"/>
          <p:cNvGrpSpPr/>
          <p:nvPr/>
        </p:nvGrpSpPr>
        <p:grpSpPr bwMode="auto">
          <a:xfrm>
            <a:off x="683568" y="5002666"/>
            <a:ext cx="8016948" cy="1296144"/>
            <a:chOff x="158" y="3067"/>
            <a:chExt cx="5534" cy="907"/>
          </a:xfrm>
        </p:grpSpPr>
        <p:grpSp>
          <p:nvGrpSpPr>
            <p:cNvPr id="7" name="Group 5"/>
            <p:cNvGrpSpPr/>
            <p:nvPr/>
          </p:nvGrpSpPr>
          <p:grpSpPr bwMode="auto">
            <a:xfrm>
              <a:off x="1292" y="3067"/>
              <a:ext cx="4400" cy="907"/>
              <a:chOff x="1292" y="3067"/>
              <a:chExt cx="4400" cy="907"/>
            </a:xfrm>
          </p:grpSpPr>
          <p:sp>
            <p:nvSpPr>
              <p:cNvPr id="10" name="Rectangle 6"/>
              <p:cNvSpPr>
                <a:spLocks noChangeArrowheads="1"/>
              </p:cNvSpPr>
              <p:nvPr/>
            </p:nvSpPr>
            <p:spPr bwMode="auto">
              <a:xfrm>
                <a:off x="1802" y="3534"/>
                <a:ext cx="1392" cy="288"/>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2400" b="0">
                  <a:latin typeface="Arial" panose="020B0604020202020204" pitchFamily="34" charset="0"/>
                </a:endParaRPr>
              </a:p>
            </p:txBody>
          </p:sp>
          <p:sp>
            <p:nvSpPr>
              <p:cNvPr id="11" name="Line 7"/>
              <p:cNvSpPr>
                <a:spLocks noChangeShapeType="1"/>
              </p:cNvSpPr>
              <p:nvPr/>
            </p:nvSpPr>
            <p:spPr bwMode="auto">
              <a:xfrm flipH="1">
                <a:off x="1898" y="3678"/>
                <a:ext cx="1152" cy="0"/>
              </a:xfrm>
              <a:prstGeom prst="line">
                <a:avLst/>
              </a:prstGeom>
              <a:noFill/>
              <a:ln w="28575">
                <a:solidFill>
                  <a:srgbClr val="660066"/>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8"/>
              <p:cNvSpPr>
                <a:spLocks noChangeShapeType="1"/>
              </p:cNvSpPr>
              <p:nvPr/>
            </p:nvSpPr>
            <p:spPr bwMode="auto">
              <a:xfrm flipH="1">
                <a:off x="1610" y="3678"/>
                <a:ext cx="192" cy="0"/>
              </a:xfrm>
              <a:prstGeom prst="line">
                <a:avLst/>
              </a:prstGeom>
              <a:noFill/>
              <a:ln w="28575">
                <a:solidFill>
                  <a:srgbClr val="660066"/>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9"/>
              <p:cNvSpPr>
                <a:spLocks noChangeShapeType="1"/>
              </p:cNvSpPr>
              <p:nvPr/>
            </p:nvSpPr>
            <p:spPr bwMode="auto">
              <a:xfrm>
                <a:off x="3268" y="3678"/>
                <a:ext cx="0" cy="296"/>
              </a:xfrm>
              <a:prstGeom prst="line">
                <a:avLst/>
              </a:prstGeom>
              <a:noFill/>
              <a:ln w="28575">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0"/>
              <p:cNvSpPr>
                <a:spLocks noChangeShapeType="1"/>
              </p:cNvSpPr>
              <p:nvPr/>
            </p:nvSpPr>
            <p:spPr bwMode="auto">
              <a:xfrm>
                <a:off x="3268" y="3974"/>
                <a:ext cx="2170" cy="0"/>
              </a:xfrm>
              <a:prstGeom prst="line">
                <a:avLst/>
              </a:prstGeom>
              <a:noFill/>
              <a:ln w="28575">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1"/>
              <p:cNvSpPr>
                <a:spLocks noChangeShapeType="1"/>
              </p:cNvSpPr>
              <p:nvPr/>
            </p:nvSpPr>
            <p:spPr bwMode="auto">
              <a:xfrm>
                <a:off x="5428" y="3668"/>
                <a:ext cx="0" cy="306"/>
              </a:xfrm>
              <a:prstGeom prst="line">
                <a:avLst/>
              </a:prstGeom>
              <a:noFill/>
              <a:ln w="28575">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2"/>
              <p:cNvSpPr>
                <a:spLocks noChangeShapeType="1"/>
              </p:cNvSpPr>
              <p:nvPr/>
            </p:nvSpPr>
            <p:spPr bwMode="auto">
              <a:xfrm flipH="1">
                <a:off x="3194" y="3678"/>
                <a:ext cx="240" cy="0"/>
              </a:xfrm>
              <a:prstGeom prst="line">
                <a:avLst/>
              </a:prstGeom>
              <a:noFill/>
              <a:ln w="28575">
                <a:solidFill>
                  <a:srgbClr val="660066"/>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Rectangle 13"/>
              <p:cNvSpPr>
                <a:spLocks noChangeArrowheads="1"/>
              </p:cNvSpPr>
              <p:nvPr/>
            </p:nvSpPr>
            <p:spPr bwMode="auto">
              <a:xfrm>
                <a:off x="3818" y="3524"/>
                <a:ext cx="1392" cy="288"/>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2400" b="0">
                  <a:latin typeface="Arial" panose="020B0604020202020204" pitchFamily="34" charset="0"/>
                </a:endParaRPr>
              </a:p>
            </p:txBody>
          </p:sp>
          <p:sp>
            <p:nvSpPr>
              <p:cNvPr id="18" name="Rectangle 14"/>
              <p:cNvSpPr>
                <a:spLocks noChangeArrowheads="1"/>
              </p:cNvSpPr>
              <p:nvPr/>
            </p:nvSpPr>
            <p:spPr bwMode="auto">
              <a:xfrm>
                <a:off x="3434" y="3524"/>
                <a:ext cx="192"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2400" b="0">
                  <a:latin typeface="Arial" panose="020B0604020202020204" pitchFamily="34" charset="0"/>
                </a:endParaRPr>
              </a:p>
            </p:txBody>
          </p:sp>
          <p:sp>
            <p:nvSpPr>
              <p:cNvPr id="19" name="Line 15"/>
              <p:cNvSpPr>
                <a:spLocks noChangeShapeType="1"/>
              </p:cNvSpPr>
              <p:nvPr/>
            </p:nvSpPr>
            <p:spPr bwMode="auto">
              <a:xfrm flipH="1">
                <a:off x="3914" y="3668"/>
                <a:ext cx="1152" cy="0"/>
              </a:xfrm>
              <a:prstGeom prst="line">
                <a:avLst/>
              </a:prstGeom>
              <a:noFill/>
              <a:ln w="28575">
                <a:solidFill>
                  <a:srgbClr val="660066"/>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6"/>
              <p:cNvSpPr>
                <a:spLocks noChangeShapeType="1"/>
              </p:cNvSpPr>
              <p:nvPr/>
            </p:nvSpPr>
            <p:spPr bwMode="auto">
              <a:xfrm flipH="1">
                <a:off x="3626" y="3668"/>
                <a:ext cx="192" cy="0"/>
              </a:xfrm>
              <a:prstGeom prst="line">
                <a:avLst/>
              </a:prstGeom>
              <a:noFill/>
              <a:ln w="28575">
                <a:solidFill>
                  <a:srgbClr val="660066"/>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7"/>
              <p:cNvSpPr>
                <a:spLocks noChangeShapeType="1"/>
              </p:cNvSpPr>
              <p:nvPr/>
            </p:nvSpPr>
            <p:spPr bwMode="auto">
              <a:xfrm flipH="1">
                <a:off x="5210" y="3668"/>
                <a:ext cx="240" cy="0"/>
              </a:xfrm>
              <a:prstGeom prst="line">
                <a:avLst/>
              </a:prstGeom>
              <a:noFill/>
              <a:ln w="28575">
                <a:solidFill>
                  <a:srgbClr val="660066"/>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18"/>
              <p:cNvSpPr txBox="1">
                <a:spLocks noChangeArrowheads="1"/>
              </p:cNvSpPr>
              <p:nvPr/>
            </p:nvSpPr>
            <p:spPr bwMode="auto">
              <a:xfrm>
                <a:off x="3663" y="3067"/>
                <a:ext cx="20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400" dirty="0">
                    <a:latin typeface="黑体" panose="02010609060101010101" pitchFamily="49" charset="-122"/>
                    <a:ea typeface="黑体" panose="02010609060101010101" pitchFamily="49" charset="-122"/>
                  </a:rPr>
                  <a:t>低</a:t>
                </a:r>
                <a:r>
                  <a:rPr lang="en-US" altLang="zh-CN" sz="2400" dirty="0">
                    <a:latin typeface="黑体" panose="02010609060101010101" pitchFamily="49" charset="-122"/>
                    <a:ea typeface="黑体" panose="02010609060101010101" pitchFamily="49" charset="-122"/>
                  </a:rPr>
                  <a:t>32</a:t>
                </a:r>
                <a:r>
                  <a:rPr lang="zh-CN" altLang="en-US" sz="2400" dirty="0">
                    <a:latin typeface="黑体" panose="02010609060101010101" pitchFamily="49" charset="-122"/>
                    <a:ea typeface="黑体" panose="02010609060101010101" pitchFamily="49" charset="-122"/>
                  </a:rPr>
                  <a:t>位</a:t>
                </a:r>
                <a:endParaRPr lang="zh-CN" altLang="en-US" sz="2400" dirty="0">
                  <a:latin typeface="黑体" panose="02010609060101010101" pitchFamily="49" charset="-122"/>
                  <a:ea typeface="黑体" panose="02010609060101010101" pitchFamily="49" charset="-122"/>
                </a:endParaRPr>
              </a:p>
            </p:txBody>
          </p:sp>
          <p:sp>
            <p:nvSpPr>
              <p:cNvPr id="23" name="Text Box 19"/>
              <p:cNvSpPr txBox="1">
                <a:spLocks noChangeArrowheads="1"/>
              </p:cNvSpPr>
              <p:nvPr/>
            </p:nvSpPr>
            <p:spPr bwMode="auto">
              <a:xfrm>
                <a:off x="3332" y="3239"/>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kumimoji="1" lang="en-US" altLang="zh-CN" sz="2400" dirty="0">
                    <a:solidFill>
                      <a:srgbClr val="990000"/>
                    </a:solidFill>
                    <a:latin typeface="Times New Roman" panose="02020603050405020304" pitchFamily="18" charset="0"/>
                  </a:rPr>
                  <a:t>CF</a:t>
                </a:r>
                <a:endParaRPr kumimoji="1" lang="en-US" altLang="zh-CN" sz="2400" dirty="0">
                  <a:solidFill>
                    <a:srgbClr val="990000"/>
                  </a:solidFill>
                  <a:latin typeface="Times New Roman" panose="02020603050405020304" pitchFamily="18" charset="0"/>
                </a:endParaRPr>
              </a:p>
            </p:txBody>
          </p:sp>
          <p:sp>
            <p:nvSpPr>
              <p:cNvPr id="24" name="Text Box 20"/>
              <p:cNvSpPr txBox="1">
                <a:spLocks noChangeArrowheads="1"/>
              </p:cNvSpPr>
              <p:nvPr/>
            </p:nvSpPr>
            <p:spPr bwMode="auto">
              <a:xfrm>
                <a:off x="1292" y="34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50000"/>
                  </a:spcBef>
                  <a:buClrTx/>
                  <a:buFontTx/>
                  <a:buNone/>
                </a:pPr>
                <a:r>
                  <a:rPr kumimoji="1" lang="en-US" altLang="zh-CN" sz="2400" dirty="0">
                    <a:latin typeface="Times New Roman" panose="02020603050405020304" pitchFamily="18" charset="0"/>
                  </a:rPr>
                  <a:t>0</a:t>
                </a:r>
                <a:endParaRPr kumimoji="1" lang="en-US" altLang="zh-CN" sz="2400" dirty="0">
                  <a:latin typeface="Times New Roman" panose="02020603050405020304" pitchFamily="18" charset="0"/>
                </a:endParaRPr>
              </a:p>
            </p:txBody>
          </p:sp>
          <p:sp>
            <p:nvSpPr>
              <p:cNvPr id="25" name="Text Box 21"/>
              <p:cNvSpPr txBox="1">
                <a:spLocks noChangeArrowheads="1"/>
              </p:cNvSpPr>
              <p:nvPr/>
            </p:nvSpPr>
            <p:spPr bwMode="auto">
              <a:xfrm>
                <a:off x="1519" y="3067"/>
                <a:ext cx="2029"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400" dirty="0">
                    <a:latin typeface="黑体" panose="02010609060101010101" pitchFamily="49" charset="-122"/>
                    <a:ea typeface="黑体" panose="02010609060101010101" pitchFamily="49" charset="-122"/>
                  </a:rPr>
                  <a:t>高</a:t>
                </a:r>
                <a:r>
                  <a:rPr lang="en-US" altLang="zh-CN" sz="2400" dirty="0">
                    <a:latin typeface="黑体" panose="02010609060101010101" pitchFamily="49" charset="-122"/>
                    <a:ea typeface="黑体" panose="02010609060101010101" pitchFamily="49" charset="-122"/>
                  </a:rPr>
                  <a:t>32</a:t>
                </a:r>
                <a:r>
                  <a:rPr lang="zh-CN" altLang="en-US" sz="2400" dirty="0">
                    <a:latin typeface="黑体" panose="02010609060101010101" pitchFamily="49" charset="-122"/>
                    <a:ea typeface="黑体" panose="02010609060101010101" pitchFamily="49" charset="-122"/>
                  </a:rPr>
                  <a:t>位</a:t>
                </a:r>
                <a:endParaRPr lang="zh-CN" altLang="en-US" sz="2400" dirty="0">
                  <a:latin typeface="黑体" panose="02010609060101010101" pitchFamily="49" charset="-122"/>
                  <a:ea typeface="黑体" panose="02010609060101010101" pitchFamily="49" charset="-122"/>
                </a:endParaRPr>
              </a:p>
            </p:txBody>
          </p:sp>
        </p:grpSp>
        <p:sp>
          <p:nvSpPr>
            <p:cNvPr id="9" name="AutoShape 22"/>
            <p:cNvSpPr>
              <a:spLocks noChangeArrowheads="1"/>
            </p:cNvSpPr>
            <p:nvPr/>
          </p:nvSpPr>
          <p:spPr bwMode="auto">
            <a:xfrm>
              <a:off x="158" y="3248"/>
              <a:ext cx="953" cy="590"/>
            </a:xfrm>
            <a:prstGeom prst="flowChartAlternateProcess">
              <a:avLst/>
            </a:prstGeom>
            <a:solidFill>
              <a:schemeClr val="bg1"/>
            </a:solidFill>
            <a:ln w="9525" cap="rnd">
              <a:solidFill>
                <a:schemeClr val="tx1"/>
              </a:solidFill>
              <a:prstDash val="sysDot"/>
              <a:miter lim="800000"/>
            </a:ln>
            <a:effectLst>
              <a:outerShdw dist="35921" dir="2700000" algn="ctr" rotWithShape="0">
                <a:schemeClr val="bg2"/>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1"/>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2"/>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en-US" altLang="zh-CN" sz="2400" dirty="0">
                  <a:solidFill>
                    <a:srgbClr val="660066"/>
                  </a:solidFill>
                  <a:latin typeface="黑体" panose="02010609060101010101" pitchFamily="49" charset="-122"/>
                  <a:ea typeface="黑体" panose="02010609060101010101" pitchFamily="49" charset="-122"/>
                </a:rPr>
                <a:t>64</a:t>
              </a:r>
              <a:r>
                <a:rPr lang="zh-CN" altLang="en-US" sz="2400" dirty="0">
                  <a:solidFill>
                    <a:srgbClr val="660066"/>
                  </a:solidFill>
                  <a:latin typeface="黑体" panose="02010609060101010101" pitchFamily="49" charset="-122"/>
                  <a:ea typeface="黑体" panose="02010609060101010101" pitchFamily="49" charset="-122"/>
                </a:rPr>
                <a:t>位数据</a:t>
              </a:r>
              <a:endParaRPr lang="zh-CN" altLang="en-US" sz="2400" dirty="0">
                <a:solidFill>
                  <a:srgbClr val="660066"/>
                </a:solidFill>
                <a:latin typeface="黑体" panose="02010609060101010101" pitchFamily="49" charset="-122"/>
                <a:ea typeface="黑体" panose="02010609060101010101" pitchFamily="49" charset="-122"/>
              </a:endParaRPr>
            </a:p>
            <a:p>
              <a:pPr algn="ctr" eaLnBrk="1" hangingPunct="1">
                <a:spcBef>
                  <a:spcPct val="0"/>
                </a:spcBef>
                <a:buClrTx/>
                <a:buFontTx/>
                <a:buNone/>
              </a:pPr>
              <a:r>
                <a:rPr lang="zh-CN" altLang="en-US" sz="2400" dirty="0">
                  <a:solidFill>
                    <a:srgbClr val="660066"/>
                  </a:solidFill>
                  <a:latin typeface="黑体" panose="02010609060101010101" pitchFamily="49" charset="-122"/>
                  <a:ea typeface="黑体" panose="02010609060101010101" pitchFamily="49" charset="-122"/>
                </a:rPr>
                <a:t>逻辑右移</a:t>
              </a:r>
              <a:endParaRPr lang="zh-CN" altLang="en-US" sz="2400" dirty="0">
                <a:solidFill>
                  <a:srgbClr val="660066"/>
                </a:solidFill>
                <a:latin typeface="黑体" panose="02010609060101010101" pitchFamily="49" charset="-122"/>
                <a:ea typeface="黑体" panose="02010609060101010101" pitchFamily="49" charset="-122"/>
              </a:endParaRP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98016" y="862419"/>
            <a:ext cx="8494464" cy="2361952"/>
          </a:xfrm>
          <a:prstGeom prst="rect">
            <a:avLst/>
          </a:prstGeom>
          <a:noFill/>
        </p:spPr>
        <p:txBody>
          <a:bodyPr vert="horz" wrap="square" rtlCol="0" anchor="ctr" anchorCtr="0">
            <a:noAutofit/>
          </a:bodyPr>
          <a:lstStyle/>
          <a:p>
            <a:pPr>
              <a:lnSpc>
                <a:spcPct val="150000"/>
              </a:lnSpc>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将</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EDX</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内的无符号数除以</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16</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，使用指令</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SHR EDX,</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其中后一个操作数是立即数。</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bwMode="auto">
          <a:xfrm>
            <a:off x="6172200" y="5321776"/>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0"/>
    </p:custData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Intel 80x86</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指令系统的发展</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716772"/>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内容占位符 2"/>
          <p:cNvSpPr txBox="1"/>
          <p:nvPr/>
        </p:nvSpPr>
        <p:spPr>
          <a:xfrm>
            <a:off x="539552" y="799727"/>
            <a:ext cx="8208912" cy="5562551"/>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8086(80186)</a:t>
            </a:r>
            <a:r>
              <a:rPr lang="zh-CN" altLang="en-US" sz="2600" dirty="0">
                <a:solidFill>
                  <a:schemeClr val="tx1"/>
                </a:solidFill>
                <a:latin typeface="+mn-lt"/>
              </a:rPr>
              <a:t>建立</a:t>
            </a:r>
            <a:r>
              <a:rPr lang="en-US" altLang="zh-CN" sz="2600" dirty="0">
                <a:solidFill>
                  <a:schemeClr val="tx1"/>
                </a:solidFill>
                <a:latin typeface="+mn-lt"/>
              </a:rPr>
              <a:t>16</a:t>
            </a:r>
            <a:r>
              <a:rPr lang="zh-CN" altLang="en-US" sz="2600" dirty="0">
                <a:solidFill>
                  <a:schemeClr val="tx1"/>
                </a:solidFill>
                <a:latin typeface="+mn-lt"/>
              </a:rPr>
              <a:t>位基本指令</a:t>
            </a:r>
            <a:endParaRPr lang="zh-CN" altLang="en-US"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80286</a:t>
            </a:r>
            <a:r>
              <a:rPr lang="zh-CN" altLang="en-US" sz="2600" dirty="0">
                <a:solidFill>
                  <a:schemeClr val="tx1"/>
                </a:solidFill>
                <a:latin typeface="+mn-lt"/>
              </a:rPr>
              <a:t>增加保护方式指令</a:t>
            </a:r>
            <a:endParaRPr lang="zh-CN" altLang="en-US"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80386</a:t>
            </a:r>
            <a:r>
              <a:rPr lang="zh-CN" altLang="en-US" sz="2600" dirty="0">
                <a:solidFill>
                  <a:schemeClr val="tx1"/>
                </a:solidFill>
                <a:latin typeface="+mn-lt"/>
              </a:rPr>
              <a:t>扩展为</a:t>
            </a:r>
            <a:r>
              <a:rPr lang="en-US" altLang="zh-CN" sz="2600" dirty="0">
                <a:solidFill>
                  <a:schemeClr val="tx1"/>
                </a:solidFill>
                <a:latin typeface="+mn-lt"/>
              </a:rPr>
              <a:t>32</a:t>
            </a:r>
            <a:r>
              <a:rPr lang="zh-CN" altLang="en-US" sz="2600" dirty="0">
                <a:solidFill>
                  <a:schemeClr val="tx1"/>
                </a:solidFill>
                <a:latin typeface="+mn-lt"/>
              </a:rPr>
              <a:t>位指令系统，新增位操作指令</a:t>
            </a:r>
            <a:endParaRPr lang="zh-CN" altLang="en-US"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80486</a:t>
            </a:r>
            <a:r>
              <a:rPr lang="zh-CN" altLang="en-US" sz="2600" dirty="0">
                <a:solidFill>
                  <a:schemeClr val="tx1"/>
                </a:solidFill>
                <a:latin typeface="+mn-lt"/>
              </a:rPr>
              <a:t>新增</a:t>
            </a:r>
            <a:r>
              <a:rPr lang="en-US" altLang="zh-CN" sz="2600" dirty="0">
                <a:solidFill>
                  <a:schemeClr val="tx1"/>
                </a:solidFill>
                <a:latin typeface="+mn-lt"/>
              </a:rPr>
              <a:t>6</a:t>
            </a:r>
            <a:r>
              <a:rPr lang="zh-CN" altLang="en-US" sz="2600" dirty="0">
                <a:solidFill>
                  <a:schemeClr val="tx1"/>
                </a:solidFill>
                <a:latin typeface="+mn-lt"/>
              </a:rPr>
              <a:t>条指令，开始直接支持浮点处理指令</a:t>
            </a:r>
            <a:endParaRPr lang="zh-CN" altLang="en-US"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Pentium</a:t>
            </a:r>
            <a:r>
              <a:rPr lang="zh-CN" altLang="en-US" sz="2600" dirty="0">
                <a:solidFill>
                  <a:schemeClr val="tx1"/>
                </a:solidFill>
                <a:latin typeface="+mn-lt"/>
              </a:rPr>
              <a:t>新增</a:t>
            </a:r>
            <a:r>
              <a:rPr lang="en-US" altLang="zh-CN" sz="2600" dirty="0">
                <a:solidFill>
                  <a:schemeClr val="tx1"/>
                </a:solidFill>
                <a:latin typeface="+mn-lt"/>
              </a:rPr>
              <a:t>6</a:t>
            </a:r>
            <a:r>
              <a:rPr lang="zh-CN" altLang="en-US" sz="2600" dirty="0">
                <a:solidFill>
                  <a:schemeClr val="tx1"/>
                </a:solidFill>
                <a:latin typeface="+mn-lt"/>
              </a:rPr>
              <a:t>条指令，如处理器识别指令</a:t>
            </a:r>
            <a:r>
              <a:rPr lang="en-US" altLang="zh-CN" sz="2600" dirty="0">
                <a:solidFill>
                  <a:schemeClr val="tx1"/>
                </a:solidFill>
                <a:latin typeface="+mn-lt"/>
              </a:rPr>
              <a:t>CPUID</a:t>
            </a:r>
            <a:endParaRPr lang="en-US" altLang="zh-CN"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Pentium Pro</a:t>
            </a:r>
            <a:r>
              <a:rPr lang="zh-CN" altLang="en-US" sz="2600" dirty="0">
                <a:solidFill>
                  <a:schemeClr val="tx1"/>
                </a:solidFill>
                <a:latin typeface="+mn-lt"/>
              </a:rPr>
              <a:t>增加</a:t>
            </a:r>
            <a:r>
              <a:rPr lang="en-US" altLang="zh-CN" sz="2600" dirty="0">
                <a:solidFill>
                  <a:schemeClr val="tx1"/>
                </a:solidFill>
                <a:latin typeface="+mn-lt"/>
              </a:rPr>
              <a:t>3</a:t>
            </a:r>
            <a:r>
              <a:rPr lang="zh-CN" altLang="en-US" sz="2600" dirty="0">
                <a:solidFill>
                  <a:schemeClr val="tx1"/>
                </a:solidFill>
                <a:latin typeface="+mn-lt"/>
              </a:rPr>
              <a:t>条指令，如条件传送指令</a:t>
            </a:r>
            <a:r>
              <a:rPr lang="en-US" altLang="zh-CN" sz="2600" dirty="0">
                <a:solidFill>
                  <a:schemeClr val="tx1"/>
                </a:solidFill>
                <a:latin typeface="+mn-lt"/>
              </a:rPr>
              <a:t>CMOV</a:t>
            </a:r>
            <a:endParaRPr lang="en-US" altLang="zh-CN"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err="1">
                <a:solidFill>
                  <a:schemeClr val="tx1"/>
                </a:solidFill>
                <a:latin typeface="+mn-lt"/>
              </a:rPr>
              <a:t>Pemtium</a:t>
            </a:r>
            <a:r>
              <a:rPr lang="en-US" altLang="zh-CN" sz="2600" dirty="0">
                <a:solidFill>
                  <a:schemeClr val="tx1"/>
                </a:solidFill>
                <a:latin typeface="+mn-lt"/>
              </a:rPr>
              <a:t> II/III/4</a:t>
            </a:r>
            <a:r>
              <a:rPr lang="zh-CN" altLang="en-US" sz="2600" dirty="0">
                <a:solidFill>
                  <a:schemeClr val="tx1"/>
                </a:solidFill>
                <a:latin typeface="+mn-lt"/>
              </a:rPr>
              <a:t>逐渐增加多媒体指令：</a:t>
            </a:r>
            <a:r>
              <a:rPr lang="en-US" altLang="zh-CN" sz="2600" dirty="0">
                <a:solidFill>
                  <a:schemeClr val="tx1"/>
                </a:solidFill>
                <a:latin typeface="+mn-lt"/>
              </a:rPr>
              <a:t>MMX</a:t>
            </a:r>
            <a:r>
              <a:rPr lang="zh-CN" altLang="en-US" sz="2600" dirty="0">
                <a:solidFill>
                  <a:schemeClr val="tx1"/>
                </a:solidFill>
                <a:latin typeface="+mn-lt"/>
              </a:rPr>
              <a:t>、</a:t>
            </a:r>
            <a:r>
              <a:rPr lang="en-US" altLang="zh-CN" sz="2600" dirty="0">
                <a:solidFill>
                  <a:schemeClr val="tx1"/>
                </a:solidFill>
                <a:latin typeface="+mn-lt"/>
              </a:rPr>
              <a:t>SSE/SSE2/SSE3/SSSE3</a:t>
            </a:r>
            <a:r>
              <a:rPr lang="zh-CN" altLang="en-US" sz="2600" dirty="0">
                <a:solidFill>
                  <a:schemeClr val="tx1"/>
                </a:solidFill>
                <a:latin typeface="+mn-lt"/>
              </a:rPr>
              <a:t>指令</a:t>
            </a:r>
            <a:endParaRPr lang="zh-CN" altLang="en-US" sz="26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600" dirty="0">
                <a:solidFill>
                  <a:schemeClr val="tx1"/>
                </a:solidFill>
                <a:latin typeface="+mn-lt"/>
              </a:rPr>
              <a:t>Intel 64</a:t>
            </a:r>
            <a:r>
              <a:rPr lang="zh-CN" altLang="en-US" sz="2600" dirty="0">
                <a:solidFill>
                  <a:schemeClr val="tx1"/>
                </a:solidFill>
                <a:latin typeface="+mn-lt"/>
              </a:rPr>
              <a:t>处理器提供</a:t>
            </a:r>
            <a:r>
              <a:rPr lang="en-US" altLang="zh-CN" sz="2600" dirty="0">
                <a:solidFill>
                  <a:schemeClr val="tx1"/>
                </a:solidFill>
                <a:latin typeface="+mn-lt"/>
              </a:rPr>
              <a:t>64</a:t>
            </a:r>
            <a:r>
              <a:rPr lang="zh-CN" altLang="en-US" sz="2600" dirty="0">
                <a:solidFill>
                  <a:schemeClr val="tx1"/>
                </a:solidFill>
                <a:latin typeface="+mn-lt"/>
              </a:rPr>
              <a:t>位指令，具有虚拟机管理指令</a:t>
            </a:r>
            <a:endParaRPr lang="zh-CN" altLang="en-US" sz="2600" dirty="0">
              <a:solidFill>
                <a:schemeClr val="tx1"/>
              </a:solidFill>
              <a:latin typeface="+mn-lt"/>
            </a:endParaRPr>
          </a:p>
          <a:p>
            <a:pPr algn="just">
              <a:lnSpc>
                <a:spcPct val="125000"/>
              </a:lnSpc>
              <a:spcBef>
                <a:spcPts val="300"/>
              </a:spcBef>
              <a:buClr>
                <a:srgbClr val="0000FF"/>
              </a:buClr>
              <a:buSzPct val="100000"/>
              <a:defRPr/>
            </a:pPr>
            <a:endParaRPr lang="zh-CN" altLang="en-US" sz="2600" dirty="0">
              <a:solidFill>
                <a:schemeClr val="tx1"/>
              </a:solidFill>
              <a:latin typeface="+mn-lt"/>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250192" y="703847"/>
            <a:ext cx="8642288" cy="5688632"/>
          </a:xfrm>
          <a:prstGeom prst="rect">
            <a:avLst/>
          </a:prstGeom>
        </p:spPr>
        <p:txBody>
          <a:bodyPr/>
          <a:lstStyle/>
          <a:p>
            <a:pPr marL="457200" indent="-457200" algn="just" latinLnBrk="0">
              <a:lnSpc>
                <a:spcPct val="150000"/>
              </a:lnSpc>
              <a:spcBef>
                <a:spcPts val="0"/>
              </a:spcBef>
              <a:buClr>
                <a:srgbClr val="0000FF"/>
              </a:buClr>
              <a:buSzPct val="100000"/>
              <a:buFont typeface="Wingdings" panose="05000000000000000000" pitchFamily="2" charset="2"/>
              <a:buChar char="Ø"/>
              <a:defRPr/>
            </a:pPr>
            <a:r>
              <a:rPr lang="zh-CN" altLang="en-US" sz="2800" dirty="0">
                <a:latin typeface="+mn-lt"/>
              </a:rPr>
              <a:t>指令系统</a:t>
            </a:r>
            <a:endParaRPr lang="zh-CN" altLang="en-US" sz="2800" dirty="0">
              <a:latin typeface="+mn-lt"/>
            </a:endParaRPr>
          </a:p>
          <a:p>
            <a:pPr marL="914400" lvl="1" indent="-457200" algn="just" latinLnBrk="0">
              <a:lnSpc>
                <a:spcPct val="15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掌握基本指令的功能及其应用</a:t>
            </a:r>
            <a:endParaRPr lang="zh-CN" altLang="en-US" sz="2400" dirty="0">
              <a:solidFill>
                <a:srgbClr val="FF0000"/>
              </a:solidFill>
              <a:latin typeface="+mn-lt"/>
            </a:endParaRPr>
          </a:p>
          <a:p>
            <a:pPr marL="1440180" lvl="1" indent="-457200" algn="just" latinLnBrk="0">
              <a:lnSpc>
                <a:spcPct val="150000"/>
              </a:lnSpc>
              <a:spcBef>
                <a:spcPts val="0"/>
              </a:spcBef>
              <a:buClr>
                <a:srgbClr val="0000FF"/>
              </a:buClr>
              <a:buFont typeface="Arial" panose="020B0604020202020204" pitchFamily="34" charset="0"/>
              <a:buChar char="•"/>
            </a:pPr>
            <a:r>
              <a:rPr lang="en-US" altLang="zh-CN" sz="2400" dirty="0">
                <a:solidFill>
                  <a:srgbClr val="FF0000"/>
                </a:solidFill>
                <a:latin typeface="+mn-lt"/>
              </a:rPr>
              <a:t>MOV</a:t>
            </a:r>
            <a:r>
              <a:rPr lang="zh-CN" altLang="en-US" sz="2400" dirty="0">
                <a:solidFill>
                  <a:srgbClr val="FF0000"/>
                </a:solidFill>
                <a:latin typeface="+mn-lt"/>
              </a:rPr>
              <a:t>，</a:t>
            </a:r>
            <a:r>
              <a:rPr lang="en-US" altLang="zh-CN" sz="2400" dirty="0">
                <a:solidFill>
                  <a:srgbClr val="FF0000"/>
                </a:solidFill>
                <a:latin typeface="+mn-lt"/>
              </a:rPr>
              <a:t>XCHG</a:t>
            </a:r>
            <a:r>
              <a:rPr lang="zh-CN" altLang="en-US" sz="2400" dirty="0">
                <a:solidFill>
                  <a:srgbClr val="FF0000"/>
                </a:solidFill>
                <a:latin typeface="+mn-lt"/>
              </a:rPr>
              <a:t>，</a:t>
            </a:r>
            <a:r>
              <a:rPr lang="en-US" altLang="zh-CN" sz="2400" dirty="0">
                <a:solidFill>
                  <a:srgbClr val="FF0000"/>
                </a:solidFill>
                <a:latin typeface="+mn-lt"/>
              </a:rPr>
              <a:t>PUSH</a:t>
            </a:r>
            <a:r>
              <a:rPr lang="zh-CN" altLang="en-US" sz="2400" dirty="0">
                <a:solidFill>
                  <a:srgbClr val="FF0000"/>
                </a:solidFill>
                <a:latin typeface="+mn-lt"/>
              </a:rPr>
              <a:t>，</a:t>
            </a:r>
            <a:r>
              <a:rPr lang="en-US" altLang="zh-CN" sz="2400" dirty="0">
                <a:solidFill>
                  <a:srgbClr val="FF0000"/>
                </a:solidFill>
                <a:latin typeface="+mn-lt"/>
              </a:rPr>
              <a:t>POP</a:t>
            </a:r>
            <a:endParaRPr lang="en-US" altLang="zh-CN" sz="2400" dirty="0">
              <a:solidFill>
                <a:srgbClr val="FF0000"/>
              </a:solidFill>
              <a:latin typeface="+mn-lt"/>
            </a:endParaRPr>
          </a:p>
          <a:p>
            <a:pPr marL="1440180" lvl="1" indent="-457200" algn="just" latinLnBrk="0">
              <a:lnSpc>
                <a:spcPct val="150000"/>
              </a:lnSpc>
              <a:spcBef>
                <a:spcPts val="0"/>
              </a:spcBef>
              <a:buClr>
                <a:srgbClr val="0000FF"/>
              </a:buClr>
              <a:buFont typeface="Arial" panose="020B0604020202020204" pitchFamily="34" charset="0"/>
              <a:buChar char="•"/>
            </a:pPr>
            <a:r>
              <a:rPr lang="zh-CN" altLang="en-US" sz="2400" dirty="0">
                <a:solidFill>
                  <a:srgbClr val="FF0000"/>
                </a:solidFill>
                <a:latin typeface="+mn-lt"/>
              </a:rPr>
              <a:t>加法指令，减法指令</a:t>
            </a:r>
            <a:r>
              <a:rPr lang="en-US" altLang="zh-CN" sz="2400" dirty="0">
                <a:solidFill>
                  <a:srgbClr val="FF0000"/>
                </a:solidFill>
                <a:latin typeface="+mn-lt"/>
              </a:rPr>
              <a:t>(CMP)</a:t>
            </a:r>
            <a:r>
              <a:rPr lang="zh-CN" altLang="en-US" sz="2400" dirty="0">
                <a:solidFill>
                  <a:srgbClr val="FF0000"/>
                </a:solidFill>
                <a:latin typeface="+mn-lt"/>
              </a:rPr>
              <a:t>，</a:t>
            </a:r>
            <a:endParaRPr lang="zh-CN" altLang="en-US" sz="2400" dirty="0">
              <a:solidFill>
                <a:srgbClr val="FF0000"/>
              </a:solidFill>
              <a:latin typeface="+mn-lt"/>
            </a:endParaRPr>
          </a:p>
          <a:p>
            <a:pPr marL="1440180" lvl="1" indent="-457200" algn="just" latinLnBrk="0">
              <a:lnSpc>
                <a:spcPct val="150000"/>
              </a:lnSpc>
              <a:spcBef>
                <a:spcPts val="0"/>
              </a:spcBef>
              <a:buClr>
                <a:srgbClr val="0000FF"/>
              </a:buClr>
              <a:buFont typeface="Arial" panose="020B0604020202020204" pitchFamily="34" charset="0"/>
              <a:buChar char="•"/>
            </a:pPr>
            <a:r>
              <a:rPr lang="zh-CN" altLang="en-US" sz="2400" dirty="0">
                <a:solidFill>
                  <a:srgbClr val="FF0000"/>
                </a:solidFill>
                <a:latin typeface="+mn-lt"/>
              </a:rPr>
              <a:t>逻辑指令</a:t>
            </a:r>
            <a:r>
              <a:rPr lang="en-US" altLang="zh-CN" sz="2400">
                <a:solidFill>
                  <a:srgbClr val="FF0000"/>
                </a:solidFill>
                <a:latin typeface="+mn-lt"/>
              </a:rPr>
              <a:t>(TEST)</a:t>
            </a:r>
            <a:r>
              <a:rPr lang="zh-CN" altLang="en-US" sz="2400" dirty="0">
                <a:solidFill>
                  <a:srgbClr val="FF0000"/>
                </a:solidFill>
                <a:latin typeface="+mn-lt"/>
              </a:rPr>
              <a:t>，移位指令</a:t>
            </a:r>
            <a:endParaRPr lang="zh-CN" altLang="en-US" sz="2400" dirty="0">
              <a:solidFill>
                <a:srgbClr val="FF0000"/>
              </a:solidFill>
              <a:latin typeface="+mn-lt"/>
            </a:endParaRPr>
          </a:p>
          <a:p>
            <a:pPr marL="914400" lvl="1" indent="-457200" algn="just" latinLnBrk="0">
              <a:lnSpc>
                <a:spcPct val="15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熟悉常见指令的功能</a:t>
            </a:r>
            <a:endParaRPr lang="zh-CN" altLang="en-US" sz="2400" dirty="0">
              <a:solidFill>
                <a:schemeClr val="tx1"/>
              </a:solidFill>
              <a:latin typeface="+mn-lt"/>
            </a:endParaRPr>
          </a:p>
          <a:p>
            <a:pPr marL="1440180" lvl="1" indent="-457200" algn="just" latinLnBrk="0">
              <a:lnSpc>
                <a:spcPct val="150000"/>
              </a:lnSpc>
              <a:spcBef>
                <a:spcPts val="0"/>
              </a:spcBef>
              <a:buClr>
                <a:srgbClr val="0000FF"/>
              </a:buClr>
              <a:buFont typeface="Arial" panose="020B0604020202020204" pitchFamily="34" charset="0"/>
              <a:buChar char="•"/>
            </a:pPr>
            <a:r>
              <a:rPr lang="en-US" altLang="zh-CN" sz="2400" dirty="0">
                <a:solidFill>
                  <a:srgbClr val="00B050"/>
                </a:solidFill>
                <a:latin typeface="+mn-lt"/>
              </a:rPr>
              <a:t>XLAT</a:t>
            </a:r>
            <a:r>
              <a:rPr lang="zh-CN" altLang="en-US" sz="2400" dirty="0">
                <a:solidFill>
                  <a:srgbClr val="00B050"/>
                </a:solidFill>
                <a:latin typeface="+mn-lt"/>
              </a:rPr>
              <a:t>，</a:t>
            </a:r>
            <a:r>
              <a:rPr lang="en-US" altLang="zh-CN" sz="2400" dirty="0">
                <a:solidFill>
                  <a:srgbClr val="FF0000"/>
                </a:solidFill>
                <a:latin typeface="+mn-lt"/>
              </a:rPr>
              <a:t>LEA</a:t>
            </a:r>
            <a:r>
              <a:rPr lang="zh-CN" altLang="en-US" sz="2400" dirty="0">
                <a:solidFill>
                  <a:srgbClr val="FF0000"/>
                </a:solidFill>
                <a:latin typeface="+mn-lt"/>
              </a:rPr>
              <a:t>，</a:t>
            </a:r>
            <a:r>
              <a:rPr lang="en-US" altLang="zh-CN" sz="2400" dirty="0">
                <a:solidFill>
                  <a:srgbClr val="FF0000"/>
                </a:solidFill>
                <a:latin typeface="+mn-lt"/>
              </a:rPr>
              <a:t>MUL</a:t>
            </a:r>
            <a:r>
              <a:rPr lang="zh-CN" altLang="en-US" sz="2400" dirty="0">
                <a:solidFill>
                  <a:srgbClr val="FF0000"/>
                </a:solidFill>
                <a:latin typeface="+mn-lt"/>
              </a:rPr>
              <a:t>，</a:t>
            </a:r>
            <a:r>
              <a:rPr lang="en-US" altLang="zh-CN" sz="2400" dirty="0">
                <a:solidFill>
                  <a:srgbClr val="FF0000"/>
                </a:solidFill>
                <a:latin typeface="+mn-lt"/>
              </a:rPr>
              <a:t>IMUL</a:t>
            </a:r>
            <a:r>
              <a:rPr lang="zh-CN" altLang="en-US" sz="2400" dirty="0">
                <a:solidFill>
                  <a:srgbClr val="FF0000"/>
                </a:solidFill>
                <a:latin typeface="+mn-lt"/>
              </a:rPr>
              <a:t>，</a:t>
            </a:r>
            <a:r>
              <a:rPr lang="en-US" altLang="zh-CN" sz="2400" dirty="0">
                <a:solidFill>
                  <a:srgbClr val="FF0000"/>
                </a:solidFill>
                <a:latin typeface="+mn-lt"/>
              </a:rPr>
              <a:t>DIV</a:t>
            </a:r>
            <a:r>
              <a:rPr lang="zh-CN" altLang="en-US" sz="2400" dirty="0">
                <a:solidFill>
                  <a:srgbClr val="FF0000"/>
                </a:solidFill>
                <a:latin typeface="+mn-lt"/>
              </a:rPr>
              <a:t>，</a:t>
            </a:r>
            <a:r>
              <a:rPr lang="en-US" altLang="zh-CN" sz="2400" dirty="0">
                <a:solidFill>
                  <a:srgbClr val="FF0000"/>
                </a:solidFill>
                <a:latin typeface="+mn-lt"/>
              </a:rPr>
              <a:t>IDIV</a:t>
            </a:r>
            <a:endParaRPr lang="en-US" altLang="zh-CN" sz="2400" dirty="0">
              <a:solidFill>
                <a:srgbClr val="FF0000"/>
              </a:solidFill>
              <a:latin typeface="+mn-lt"/>
            </a:endParaRPr>
          </a:p>
          <a:p>
            <a:pPr marL="1440180" lvl="1" indent="-457200" algn="just" latinLnBrk="0">
              <a:lnSpc>
                <a:spcPct val="150000"/>
              </a:lnSpc>
              <a:spcBef>
                <a:spcPts val="0"/>
              </a:spcBef>
              <a:buClr>
                <a:srgbClr val="0000FF"/>
              </a:buClr>
              <a:buFont typeface="Arial" panose="020B0604020202020204" pitchFamily="34" charset="0"/>
              <a:buChar char="•"/>
            </a:pPr>
            <a:r>
              <a:rPr lang="en-US" altLang="zh-CN" sz="2400" dirty="0">
                <a:solidFill>
                  <a:srgbClr val="FF0000"/>
                </a:solidFill>
                <a:latin typeface="+mn-lt"/>
              </a:rPr>
              <a:t>MOVZX</a:t>
            </a:r>
            <a:r>
              <a:rPr lang="zh-CN" altLang="en-US" sz="2400" dirty="0">
                <a:solidFill>
                  <a:srgbClr val="FF0000"/>
                </a:solidFill>
                <a:latin typeface="+mn-lt"/>
              </a:rPr>
              <a:t>，</a:t>
            </a:r>
            <a:r>
              <a:rPr lang="en-US" altLang="zh-CN" sz="2400" dirty="0">
                <a:solidFill>
                  <a:srgbClr val="FF0000"/>
                </a:solidFill>
                <a:latin typeface="+mn-lt"/>
              </a:rPr>
              <a:t>MOVSX</a:t>
            </a:r>
            <a:r>
              <a:rPr lang="zh-CN" altLang="en-US" sz="2400" dirty="0">
                <a:solidFill>
                  <a:srgbClr val="00B050"/>
                </a:solidFill>
                <a:latin typeface="+mn-lt"/>
              </a:rPr>
              <a:t>，</a:t>
            </a:r>
            <a:r>
              <a:rPr lang="en-US" altLang="zh-CN" sz="2400" dirty="0">
                <a:solidFill>
                  <a:srgbClr val="00B050"/>
                </a:solidFill>
                <a:latin typeface="+mn-lt"/>
              </a:rPr>
              <a:t>CLC</a:t>
            </a:r>
            <a:r>
              <a:rPr lang="zh-CN" altLang="en-US" sz="2400" dirty="0">
                <a:solidFill>
                  <a:srgbClr val="00B050"/>
                </a:solidFill>
                <a:latin typeface="+mn-lt"/>
              </a:rPr>
              <a:t>，</a:t>
            </a:r>
            <a:r>
              <a:rPr lang="en-US" altLang="zh-CN" sz="2400" dirty="0">
                <a:solidFill>
                  <a:srgbClr val="00B050"/>
                </a:solidFill>
                <a:latin typeface="+mn-lt"/>
              </a:rPr>
              <a:t>STC</a:t>
            </a:r>
            <a:endParaRPr lang="en-US" altLang="zh-CN" sz="2400" dirty="0">
              <a:solidFill>
                <a:srgbClr val="00B050"/>
              </a:solidFill>
              <a:latin typeface="+mn-lt"/>
            </a:endParaRPr>
          </a:p>
          <a:p>
            <a:pPr marL="914400" lvl="1" indent="-457200" algn="just" latinLnBrk="0">
              <a:lnSpc>
                <a:spcPct val="15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理解常见语法错误及</a:t>
            </a:r>
            <a:r>
              <a:rPr lang="en-US" altLang="zh-CN" sz="2400" dirty="0">
                <a:solidFill>
                  <a:schemeClr val="tx1"/>
                </a:solidFill>
                <a:latin typeface="+mn-lt"/>
              </a:rPr>
              <a:t>IA-32</a:t>
            </a:r>
            <a:r>
              <a:rPr lang="zh-CN" altLang="en-US" sz="2400" dirty="0">
                <a:solidFill>
                  <a:schemeClr val="tx1"/>
                </a:solidFill>
                <a:latin typeface="+mn-lt"/>
              </a:rPr>
              <a:t>指令系统架构</a:t>
            </a:r>
            <a:endParaRPr lang="en-US" altLang="zh-CN" sz="28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sz="3600" b="0" i="0" u="none" strike="noStrike" kern="0" cap="none" spc="0" normalizeH="0" baseline="0" noProof="0" dirty="0">
                <a:ln>
                  <a:noFill/>
                </a:ln>
                <a:solidFill>
                  <a:srgbClr val="000000"/>
                </a:solidFill>
                <a:effectLst/>
                <a:uLnTx/>
                <a:uFillTx/>
                <a:latin typeface="黑体" panose="02010609060101010101" pitchFamily="49" charset="-122"/>
                <a:cs typeface="+mj-cs"/>
              </a:rPr>
              <a:t>小结</a:t>
            </a:r>
            <a:endParaRPr kumimoji="1" lang="zh-CN" altLang="en-US" sz="3600"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7818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Submit"/>
  <p:tag name="RAINPROBLEMTYPE" val="FillBlank"/>
</p:tagLst>
</file>

<file path=ppt/tags/tag3.xml><?xml version="1.0" encoding="utf-8"?>
<p:tagLst xmlns:p="http://schemas.openxmlformats.org/presentationml/2006/main">
  <p:tag name="RAINPROBLEMTYPE" val="ProblemTypeMarker"/>
</p:tagLst>
</file>

<file path=ppt/tags/tag4.xml><?xml version="1.0" encoding="utf-8"?>
<p:tagLst xmlns:p="http://schemas.openxmlformats.org/presentationml/2006/main">
  <p:tag name="RAINPROBLEMTYPE" val="ProblemTypeMarker"/>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 val="ProblemSetting"/>
  <p:tag name="RAINPROBLEMTYPE" val="FillBlank"/>
</p:tagLst>
</file>

<file path=ppt/tags/tag9.xml><?xml version="1.0" encoding="utf-8"?>
<p:tagLst xmlns:p="http://schemas.openxmlformats.org/presentationml/2006/main">
  <p:tag name="RAINPROBLEM" val="FillBlank"/>
  <p:tag name="PROBLEMBLANKKEYWORD" val="填空"/>
  <p:tag name="PROBLEMBLANK" val="[{&quot;num&quot;:1,&quot;caseSensitive&quot;:false,&quot;fuzzyMatch&quot;:false,&quot;Score&quot;:1.0,&quot;answers&quot;:[&quot;FFFFFFFFH&quot;]},{&quot;num&quot;:2,&quot;caseSensitive&quot;:false,&quot;fuzzyMatch&quot;:false,&quot;Score&quot;:1.0,&quot;answers&quot;:[&quot;1&quot;]}]"/>
  <p:tag name="PROBLEMSCORE" val="2.0"/>
</p:tagLst>
</file>

<file path=ppt/tags/tag10.xml><?xml version="1.0" encoding="utf-8"?>
<p:tagLst xmlns:p="http://schemas.openxmlformats.org/presentationml/2006/main">
  <p:tag name="RAINPROBLEM" val="ProblemBody"/>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Item"/>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Bullet"/>
  <p:tag name="RAINPROBLEMTYPE" val="MultipleChoice"/>
  <p:tag name="RAINBULLET" val="Wrong"/>
</p:tagLst>
</file>

<file path=ppt/tags/tag16.xml><?xml version="1.0" encoding="utf-8"?>
<p:tagLst xmlns:p="http://schemas.openxmlformats.org/presentationml/2006/main">
  <p:tag name="RAINPROBLEM" val="ProblemBullet"/>
  <p:tag name="RAINPROBLEMTYPE" val="MultipleChoice"/>
  <p:tag name="RAINBULLET" val="Wrong"/>
</p:tagLst>
</file>

<file path=ppt/tags/tag17.xml><?xml version="1.0" encoding="utf-8"?>
<p:tagLst xmlns:p="http://schemas.openxmlformats.org/presentationml/2006/main">
  <p:tag name="RAINPROBLEM" val="ProblemBullet"/>
  <p:tag name="RAINPROBLEMTYPE" val="MultipleChoice"/>
  <p:tag name="RAINBULLET" val="Wrong"/>
</p:tagLst>
</file>

<file path=ppt/tags/tag18.xml><?xml version="1.0" encoding="utf-8"?>
<p:tagLst xmlns:p="http://schemas.openxmlformats.org/presentationml/2006/main">
  <p:tag name="RAINPROBLEM" val="ProblemBullet"/>
  <p:tag name="RAINPROBLEMTYPE" val="MultipleChoice"/>
  <p:tag name="RAINBULLET" val="Correct"/>
</p:tagLst>
</file>

<file path=ppt/tags/tag19.xml><?xml version="1.0" encoding="utf-8"?>
<p:tagLst xmlns:p="http://schemas.openxmlformats.org/presentationml/2006/main">
  <p:tag name="RAINPROBLEM" val="ProblemSubmit"/>
  <p:tag name="RAINPROBLEMTYPE" val="MultipleChoice"/>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 val="ProblemSetting"/>
  <p:tag name="RAINPROBLEMTYPE" val="MultipleChoice"/>
</p:tagLst>
</file>

<file path=ppt/tags/tag26.xml><?xml version="1.0" encoding="utf-8"?>
<p:tagLst xmlns:p="http://schemas.openxmlformats.org/presentationml/2006/main">
  <p:tag name="RAINPROBLEM" val="MultipleChoice"/>
  <p:tag name="PROBLEMSCORE" val="1.0"/>
</p:tagLst>
</file>

<file path=ppt/tags/tag27.xml><?xml version="1.0" encoding="utf-8"?>
<p:tagLst xmlns:p="http://schemas.openxmlformats.org/presentationml/2006/main">
  <p:tag name="RAINPROBLEM" val="ProblemBody"/>
</p:tagLst>
</file>

<file path=ppt/tags/tag28.xml><?xml version="1.0" encoding="utf-8"?>
<p:tagLst xmlns:p="http://schemas.openxmlformats.org/presentationml/2006/main">
  <p:tag name="RAINPROBLEM" val="ProblemSubmit"/>
  <p:tag name="RAINPROBLEMTYPE" val="FillBlank"/>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FillBlank"/>
</p:tagLst>
</file>

<file path=ppt/tags/tag35.xml><?xml version="1.0" encoding="utf-8"?>
<p:tagLst xmlns:p="http://schemas.openxmlformats.org/presentationml/2006/main">
  <p:tag name="RAINPROBLEM" val="FillBlank"/>
  <p:tag name="PROBLEMBLANKKEYWORD" val="填空"/>
  <p:tag name="PROBLEMBLANK" val="[{&quot;num&quot;:1,&quot;caseSensitive&quot;:false,&quot;fuzzyMatch&quot;:false,&quot;Score&quot;:1.0,&quot;answers&quot;:[&quot;7836H&quot;]},{&quot;num&quot;:2,&quot;caseSensitive&quot;:false,&quot;fuzzyMatch&quot;:false,&quot;Score&quot;:1.0,&quot;answers&quot;:[&quot;1&quot;]},{&quot;num&quot;:3,&quot;caseSensitive&quot;:false,&quot;fuzzyMatch&quot;:false,&quot;Score&quot;:1.0,&quot;answers&quot;:[&quot;1&quot;]}]"/>
  <p:tag name="PROBLEMSCORE" val="3.0"/>
</p:tagLst>
</file>

<file path=ppt/tags/tag36.xml><?xml version="1.0" encoding="utf-8"?>
<p:tagLst xmlns:p="http://schemas.openxmlformats.org/presentationml/2006/main">
  <p:tag name="RAINPROBLEM" val="ProblemBody"/>
</p:tagLst>
</file>

<file path=ppt/tags/tag37.xml><?xml version="1.0" encoding="utf-8"?>
<p:tagLst xmlns:p="http://schemas.openxmlformats.org/presentationml/2006/main">
  <p:tag name="RAINPROBLEM" val="ProblemSubmit"/>
  <p:tag name="RAINPROBLEMTYPE" val="ShortAnsw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 val="ProblemSetting"/>
  <p:tag name="RAINPROBLEMTYPE" val="ShortAnswer"/>
</p:tagLst>
</file>

<file path=ppt/tags/tag44.xml><?xml version="1.0" encoding="utf-8"?>
<p:tagLst xmlns:p="http://schemas.openxmlformats.org/presentationml/2006/main">
  <p:tag name="RAINPROBLEM" val="ShortAnswer"/>
  <p:tag name="PROBLEMSCORE" val="10.0"/>
  <p:tag name="PROBLEMVOICEALLOWED" val="False"/>
</p:tagLst>
</file>

<file path=ppt/tags/tag45.xml><?xml version="1.0" encoding="utf-8"?>
<p:tagLst xmlns:p="http://schemas.openxmlformats.org/presentationml/2006/main">
  <p:tag name="RAINPROBLEM" val="ProblemBody"/>
</p:tagLst>
</file>

<file path=ppt/tags/tag46.xml><?xml version="1.0" encoding="utf-8"?>
<p:tagLst xmlns:p="http://schemas.openxmlformats.org/presentationml/2006/main">
  <p:tag name="RAINPROBLEM" val="ProblemSubmit"/>
  <p:tag name="RAINPROBLEMTYPE" val="FillBlank"/>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 val="ProblemSetting"/>
  <p:tag name="RAINPROBLEMTYPE" val="FillBlank"/>
</p:tagLst>
</file>

<file path=ppt/tags/tag53.xml><?xml version="1.0" encoding="utf-8"?>
<p:tagLst xmlns:p="http://schemas.openxmlformats.org/presentationml/2006/main">
  <p:tag name="RAINPROBLEM" val="FillBlank"/>
  <p:tag name="PROBLEMBLANKKEYWORD" val="填空"/>
  <p:tag name="PROBLEMBLANK" val="[{&quot;num&quot;:1,&quot;caseSensitive&quot;:false,&quot;fuzzyMatch&quot;:false,&quot;Score&quot;:1.0,&quot;answers&quot;:[&quot;4&quot;]}]"/>
  <p:tag name="PROBLEMSCORE" val="1.0"/>
</p:tagLst>
</file>

<file path=ppt/tags/tag54.xml><?xml version="1.0" encoding="utf-8"?>
<p:tagLst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人与信息系统交互的信任机理及其电子税务系统实证研究&amp;quot;&quot;/&gt;&lt;property id=&quot;20307&quot; value=&quot;982&quot;/&gt;&lt;/object&gt;&lt;object type=&quot;3&quot; unique_id=&quot;10005&quot;&gt;&lt;property id=&quot;20148&quot; value=&quot;5&quot;/&gt;&lt;property id=&quot;20300&quot; value=&quot;Slide 2 - &amp;quot;汇 报 提 纲&amp;quot;&quot;/&gt;&lt;property id=&quot;20307&quot; value=&quot;983&quot;/&gt;&lt;/object&gt;&lt;object type=&quot;3&quot; unique_id=&quot;10006&quot;&gt;&lt;property id=&quot;20148&quot; value=&quot;5&quot;/&gt;&lt;property id=&quot;20300&quot; value=&quot;Slide 3&quot;/&gt;&lt;property id=&quot;20307&quot; value=&quot;1114&quot;/&gt;&lt;/object&gt;&lt;object type=&quot;3&quot; unique_id=&quot;10007&quot;&gt;&lt;property id=&quot;20148&quot; value=&quot;5&quot;/&gt;&lt;property id=&quot;20300&quot; value=&quot;Slide 4&quot;/&gt;&lt;property id=&quot;20307&quot; value=&quot;1115&quot;/&gt;&lt;/object&gt;&lt;object type=&quot;3&quot; unique_id=&quot;10008&quot;&gt;&lt;property id=&quot;20148&quot; value=&quot;5&quot;/&gt;&lt;property id=&quot;20300&quot; value=&quot;Slide 5&quot;/&gt;&lt;property id=&quot;20307&quot; value=&quot;1116&quot;/&gt;&lt;/object&gt;&lt;object type=&quot;3&quot; unique_id=&quot;10009&quot;&gt;&lt;property id=&quot;20148&quot; value=&quot;5&quot;/&gt;&lt;property id=&quot;20300&quot; value=&quot;Slide 6&quot;/&gt;&lt;property id=&quot;20307&quot; value=&quot;1112&quot;/&gt;&lt;/object&gt;&lt;object type=&quot;3&quot; unique_id=&quot;10010&quot;&gt;&lt;property id=&quot;20148&quot; value=&quot;5&quot;/&gt;&lt;property id=&quot;20300&quot; value=&quot;Slide 7&quot;/&gt;&lt;property id=&quot;20307&quot; value=&quot;1113&quot;/&gt;&lt;/object&gt;&lt;object type=&quot;3&quot; unique_id=&quot;10011&quot;&gt;&lt;property id=&quot;20148&quot; value=&quot;5&quot;/&gt;&lt;property id=&quot;20300&quot; value=&quot;Slide 8&quot;/&gt;&lt;property id=&quot;20307&quot; value=&quot;1123&quot;/&gt;&lt;/object&gt;&lt;object type=&quot;3&quot; unique_id=&quot;10013&quot;&gt;&lt;property id=&quot;20148&quot; value=&quot;5&quot;/&gt;&lt;property id=&quot;20300&quot; value=&quot;Slide 9&quot;/&gt;&lt;property id=&quot;20307&quot; value=&quot;1085&quot;/&gt;&lt;/object&gt;&lt;object type=&quot;3&quot; unique_id=&quot;10014&quot;&gt;&lt;property id=&quot;20148&quot; value=&quot;5&quot;/&gt;&lt;property id=&quot;20300&quot; value=&quot;Slide 10&quot;/&gt;&lt;property id=&quot;20307&quot; value=&quot;1086&quot;/&gt;&lt;/object&gt;&lt;object type=&quot;3&quot; unique_id=&quot;10015&quot;&gt;&lt;property id=&quot;20148&quot; value=&quot;5&quot;/&gt;&lt;property id=&quot;20300&quot; value=&quot;Slide 11&quot;/&gt;&lt;property id=&quot;20307&quot; value=&quot;1119&quot;/&gt;&lt;/object&gt;&lt;object type=&quot;3&quot; unique_id=&quot;10017&quot;&gt;&lt;property id=&quot;20148&quot; value=&quot;5&quot;/&gt;&lt;property id=&quot;20300&quot; value=&quot;Slide 13&quot;/&gt;&lt;property id=&quot;20307&quot; value=&quot;1120&quot;/&gt;&lt;/object&gt;&lt;object type=&quot;3&quot; unique_id=&quot;10018&quot;&gt;&lt;property id=&quot;20148&quot; value=&quot;5&quot;/&gt;&lt;property id=&quot;20300&quot; value=&quot;Slide 14&quot;/&gt;&lt;property id=&quot;20307&quot; value=&quot;1117&quot;/&gt;&lt;/object&gt;&lt;object type=&quot;3&quot; unique_id=&quot;10019&quot;&gt;&lt;property id=&quot;20148&quot; value=&quot;5&quot;/&gt;&lt;property id=&quot;20300&quot; value=&quot;Slide 15&quot;/&gt;&lt;property id=&quot;20307&quot; value=&quot;1118&quot;/&gt;&lt;/object&gt;&lt;object type=&quot;3&quot; unique_id=&quot;10236&quot;&gt;&lt;property id=&quot;20148&quot; value=&quot;5&quot;/&gt;&lt;property id=&quot;20300&quot; value=&quot;Slide 12&quot;/&gt;&lt;property id=&quot;20307&quot; value=&quot;1124&quot;/&gt;&lt;/object&gt;&lt;/object&gt;&lt;/object&gt;&lt;/database&gt;"/>
  <p:tag name="SECTOMILLISECCONVERTED" val="1"/>
</p:tagLst>
</file>

<file path=ppt/theme/theme1.xml><?xml version="1.0" encoding="utf-8"?>
<a:theme xmlns:a="http://schemas.openxmlformats.org/drawingml/2006/main" name="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19598</Words>
  <Application>WPS 演示</Application>
  <PresentationFormat>全屏显示(4:3)</PresentationFormat>
  <Paragraphs>1684</Paragraphs>
  <Slides>83</Slides>
  <Notes>53</Notes>
  <HiddenSlides>0</HiddenSlides>
  <MMClips>0</MMClips>
  <ScaleCrop>false</ScaleCrop>
  <HeadingPairs>
    <vt:vector size="6" baseType="variant">
      <vt:variant>
        <vt:lpstr>已用的字体</vt:lpstr>
      </vt:variant>
      <vt:variant>
        <vt:i4>16</vt:i4>
      </vt:variant>
      <vt:variant>
        <vt:lpstr>主题</vt:lpstr>
      </vt:variant>
      <vt:variant>
        <vt:i4>7</vt:i4>
      </vt:variant>
      <vt:variant>
        <vt:lpstr>幻灯片标题</vt:lpstr>
      </vt:variant>
      <vt:variant>
        <vt:i4>83</vt:i4>
      </vt:variant>
    </vt:vector>
  </HeadingPairs>
  <TitlesOfParts>
    <vt:vector size="106" baseType="lpstr">
      <vt:lpstr>Arial</vt:lpstr>
      <vt:lpstr>宋体</vt:lpstr>
      <vt:lpstr>Wingdings</vt:lpstr>
      <vt:lpstr>Times New Roman</vt:lpstr>
      <vt:lpstr>黑体</vt:lpstr>
      <vt:lpstr>隶书</vt:lpstr>
      <vt:lpstr>Wingdings</vt:lpstr>
      <vt:lpstr>微软雅黑</vt:lpstr>
      <vt:lpstr>Arial Unicode MS</vt:lpstr>
      <vt:lpstr>Graphik LC Web</vt:lpstr>
      <vt:lpstr>Segoe Print</vt:lpstr>
      <vt:lpstr>PingFang SC</vt:lpstr>
      <vt:lpstr>新宋体</vt:lpstr>
      <vt:lpstr>Symbol</vt:lpstr>
      <vt:lpstr>Verdana</vt:lpstr>
      <vt:lpstr>Calibri</vt:lpstr>
      <vt:lpstr>Ricepaper</vt:lpstr>
      <vt:lpstr>1_Ricepaper</vt:lpstr>
      <vt:lpstr>2_Ricepaper</vt:lpstr>
      <vt:lpstr>3_Ricepaper</vt:lpstr>
      <vt:lpstr>4_Ricepaper</vt:lpstr>
      <vt:lpstr>5_Ricepaper</vt:lpstr>
      <vt:lpstr>6_Ricepaper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汇编原理与接口</dc:title>
  <dc:creator>刘兆丽</dc:creator>
  <cp:lastModifiedBy>甲烷</cp:lastModifiedBy>
  <cp:revision>10179</cp:revision>
  <cp:lastPrinted>2023-03-28T05:13:00Z</cp:lastPrinted>
  <dcterms:created xsi:type="dcterms:W3CDTF">1997-07-11T08:05:00Z</dcterms:created>
  <dcterms:modified xsi:type="dcterms:W3CDTF">2026-03-30T11:44:19Z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F5242E270F7A4AD096A4497C0BD1A70B_12</vt:lpwstr>
  </property>
  <property fmtid="{D5CDD505-2E9C-101B-9397-08002B2CF9AE}" pid="3" name="KSOProductBuildVer">
    <vt:lpwstr>2052-12.1.0.25225</vt:lpwstr>
  </property>
</Properties>
</file>