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  <p:sldMasterId id="2147483660" r:id="rId5"/>
    <p:sldMasterId id="2147483664" r:id="rId6"/>
    <p:sldMasterId id="2147483668" r:id="rId7"/>
    <p:sldMasterId id="2147483672" r:id="rId8"/>
    <p:sldMasterId id="2147483676" r:id="rId9"/>
    <p:sldMasterId id="2147483680" r:id="rId10"/>
    <p:sldMasterId id="2147483684" r:id="rId11"/>
  </p:sldMasterIdLst>
  <p:notesMasterIdLst>
    <p:notesMasterId r:id="rId13"/>
  </p:notesMasterIdLst>
  <p:handoutMasterIdLst>
    <p:handoutMasterId r:id="rId92"/>
  </p:handoutMasterIdLst>
  <p:sldIdLst>
    <p:sldId id="1896" r:id="rId12"/>
    <p:sldId id="2385" r:id="rId14"/>
    <p:sldId id="2315" r:id="rId15"/>
    <p:sldId id="2344" r:id="rId16"/>
    <p:sldId id="2345" r:id="rId17"/>
    <p:sldId id="2346" r:id="rId18"/>
    <p:sldId id="2347" r:id="rId19"/>
    <p:sldId id="2348" r:id="rId20"/>
    <p:sldId id="2349" r:id="rId21"/>
    <p:sldId id="2350" r:id="rId22"/>
    <p:sldId id="2351" r:id="rId23"/>
    <p:sldId id="2352" r:id="rId24"/>
    <p:sldId id="2353" r:id="rId25"/>
    <p:sldId id="2354" r:id="rId26"/>
    <p:sldId id="2355" r:id="rId27"/>
    <p:sldId id="2356" r:id="rId28"/>
    <p:sldId id="2357" r:id="rId29"/>
    <p:sldId id="2358" r:id="rId30"/>
    <p:sldId id="2359" r:id="rId31"/>
    <p:sldId id="2360" r:id="rId32"/>
    <p:sldId id="2361" r:id="rId33"/>
    <p:sldId id="2362" r:id="rId34"/>
    <p:sldId id="2363" r:id="rId35"/>
    <p:sldId id="2364" r:id="rId36"/>
    <p:sldId id="2365" r:id="rId37"/>
    <p:sldId id="2366" r:id="rId38"/>
    <p:sldId id="2367" r:id="rId39"/>
    <p:sldId id="2368" r:id="rId40"/>
    <p:sldId id="2369" r:id="rId41"/>
    <p:sldId id="2370" r:id="rId42"/>
    <p:sldId id="2371" r:id="rId43"/>
    <p:sldId id="2372" r:id="rId44"/>
    <p:sldId id="2386" r:id="rId45"/>
    <p:sldId id="2373" r:id="rId46"/>
    <p:sldId id="2374" r:id="rId47"/>
    <p:sldId id="2375" r:id="rId48"/>
    <p:sldId id="2376" r:id="rId49"/>
    <p:sldId id="2387" r:id="rId50"/>
    <p:sldId id="2388" r:id="rId51"/>
    <p:sldId id="2377" r:id="rId52"/>
    <p:sldId id="2378" r:id="rId53"/>
    <p:sldId id="2379" r:id="rId54"/>
    <p:sldId id="2380" r:id="rId55"/>
    <p:sldId id="2381" r:id="rId56"/>
    <p:sldId id="2382" r:id="rId57"/>
    <p:sldId id="2383" r:id="rId58"/>
    <p:sldId id="2384" r:id="rId59"/>
    <p:sldId id="2329" r:id="rId60"/>
    <p:sldId id="2330" r:id="rId61"/>
    <p:sldId id="2158" r:id="rId62"/>
    <p:sldId id="2389" r:id="rId63"/>
    <p:sldId id="2390" r:id="rId64"/>
    <p:sldId id="2331" r:id="rId65"/>
    <p:sldId id="2391" r:id="rId66"/>
    <p:sldId id="2332" r:id="rId67"/>
    <p:sldId id="2179" r:id="rId68"/>
    <p:sldId id="2333" r:id="rId69"/>
    <p:sldId id="2181" r:id="rId70"/>
    <p:sldId id="2182" r:id="rId71"/>
    <p:sldId id="2392" r:id="rId72"/>
    <p:sldId id="2183" r:id="rId73"/>
    <p:sldId id="2184" r:id="rId74"/>
    <p:sldId id="2185" r:id="rId75"/>
    <p:sldId id="2186" r:id="rId76"/>
    <p:sldId id="2340" r:id="rId77"/>
    <p:sldId id="2187" r:id="rId78"/>
    <p:sldId id="2201" r:id="rId79"/>
    <p:sldId id="2341" r:id="rId80"/>
    <p:sldId id="2342" r:id="rId81"/>
    <p:sldId id="2343" r:id="rId82"/>
    <p:sldId id="2202" r:id="rId83"/>
    <p:sldId id="2203" r:id="rId84"/>
    <p:sldId id="2204" r:id="rId85"/>
    <p:sldId id="2192" r:id="rId86"/>
    <p:sldId id="2200" r:id="rId87"/>
    <p:sldId id="2193" r:id="rId88"/>
    <p:sldId id="2199" r:id="rId89"/>
    <p:sldId id="2393" r:id="rId90"/>
    <p:sldId id="2394" r:id="rId91"/>
  </p:sldIdLst>
  <p:sldSz cx="9144000" cy="6858000" type="screen4x3"/>
  <p:notesSz cx="6797675" cy="9926320"/>
  <p:custDataLst>
    <p:tags r:id="rId9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1" userDrawn="1">
          <p15:clr>
            <a:srgbClr val="A4A3A4"/>
          </p15:clr>
        </p15:guide>
        <p15:guide id="3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FF99"/>
    <a:srgbClr val="7276BB"/>
    <a:srgbClr val="DDEEFF"/>
    <a:srgbClr val="E6E6E6"/>
    <a:srgbClr val="FF6600"/>
    <a:srgbClr val="DD8423"/>
    <a:srgbClr val="FFFFCC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0575" autoAdjust="0"/>
  </p:normalViewPr>
  <p:slideViewPr>
    <p:cSldViewPr snapToObjects="1" showGuides="1">
      <p:cViewPr varScale="1">
        <p:scale>
          <a:sx n="61" d="100"/>
          <a:sy n="61" d="100"/>
        </p:scale>
        <p:origin x="1476" y="56"/>
      </p:cViewPr>
      <p:guideLst>
        <p:guide orient="horz" pos="1001"/>
        <p:guide pos="2948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</p:sldLst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9012"/>
    </p:cViewPr>
  </p:sorterViewPr>
  <p:notesViewPr>
    <p:cSldViewPr snapToObjects="1">
      <p:cViewPr>
        <p:scale>
          <a:sx n="75" d="100"/>
          <a:sy n="75" d="100"/>
        </p:scale>
        <p:origin x="-4158" y="-222"/>
      </p:cViewPr>
      <p:guideLst>
        <p:guide orient="horz" pos="2407"/>
        <p:guide pos="28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6" Type="http://schemas.openxmlformats.org/officeDocument/2006/relationships/tags" Target="tags/tag93.xml"/><Relationship Id="rId95" Type="http://schemas.openxmlformats.org/officeDocument/2006/relationships/tableStyles" Target="tableStyles.xml"/><Relationship Id="rId94" Type="http://schemas.openxmlformats.org/officeDocument/2006/relationships/viewProps" Target="viewProps.xml"/><Relationship Id="rId93" Type="http://schemas.openxmlformats.org/officeDocument/2006/relationships/presProps" Target="presProps.xml"/><Relationship Id="rId92" Type="http://schemas.openxmlformats.org/officeDocument/2006/relationships/handoutMaster" Target="handoutMasters/handoutMaster1.xml"/><Relationship Id="rId91" Type="http://schemas.openxmlformats.org/officeDocument/2006/relationships/slide" Target="slides/slide79.xml"/><Relationship Id="rId90" Type="http://schemas.openxmlformats.org/officeDocument/2006/relationships/slide" Target="slides/slide78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77.xml"/><Relationship Id="rId88" Type="http://schemas.openxmlformats.org/officeDocument/2006/relationships/slide" Target="slides/slide76.xml"/><Relationship Id="rId87" Type="http://schemas.openxmlformats.org/officeDocument/2006/relationships/slide" Target="slides/slide75.xml"/><Relationship Id="rId86" Type="http://schemas.openxmlformats.org/officeDocument/2006/relationships/slide" Target="slides/slide74.xml"/><Relationship Id="rId85" Type="http://schemas.openxmlformats.org/officeDocument/2006/relationships/slide" Target="slides/slide73.xml"/><Relationship Id="rId84" Type="http://schemas.openxmlformats.org/officeDocument/2006/relationships/slide" Target="slides/slide72.xml"/><Relationship Id="rId83" Type="http://schemas.openxmlformats.org/officeDocument/2006/relationships/slide" Target="slides/slide71.xml"/><Relationship Id="rId82" Type="http://schemas.openxmlformats.org/officeDocument/2006/relationships/slide" Target="slides/slide70.xml"/><Relationship Id="rId81" Type="http://schemas.openxmlformats.org/officeDocument/2006/relationships/slide" Target="slides/slide69.xml"/><Relationship Id="rId80" Type="http://schemas.openxmlformats.org/officeDocument/2006/relationships/slide" Target="slides/slide68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67.xml"/><Relationship Id="rId78" Type="http://schemas.openxmlformats.org/officeDocument/2006/relationships/slide" Target="slides/slide66.xml"/><Relationship Id="rId77" Type="http://schemas.openxmlformats.org/officeDocument/2006/relationships/slide" Target="slides/slide65.xml"/><Relationship Id="rId76" Type="http://schemas.openxmlformats.org/officeDocument/2006/relationships/slide" Target="slides/slide64.xml"/><Relationship Id="rId75" Type="http://schemas.openxmlformats.org/officeDocument/2006/relationships/slide" Target="slides/slide63.xml"/><Relationship Id="rId74" Type="http://schemas.openxmlformats.org/officeDocument/2006/relationships/slide" Target="slides/slide62.xml"/><Relationship Id="rId73" Type="http://schemas.openxmlformats.org/officeDocument/2006/relationships/slide" Target="slides/slide61.xml"/><Relationship Id="rId72" Type="http://schemas.openxmlformats.org/officeDocument/2006/relationships/slide" Target="slides/slide60.xml"/><Relationship Id="rId71" Type="http://schemas.openxmlformats.org/officeDocument/2006/relationships/slide" Target="slides/slide59.xml"/><Relationship Id="rId70" Type="http://schemas.openxmlformats.org/officeDocument/2006/relationships/slide" Target="slides/slide58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57.xml"/><Relationship Id="rId68" Type="http://schemas.openxmlformats.org/officeDocument/2006/relationships/slide" Target="slides/slide56.xml"/><Relationship Id="rId67" Type="http://schemas.openxmlformats.org/officeDocument/2006/relationships/slide" Target="slides/slide55.xml"/><Relationship Id="rId66" Type="http://schemas.openxmlformats.org/officeDocument/2006/relationships/slide" Target="slides/slide54.xml"/><Relationship Id="rId65" Type="http://schemas.openxmlformats.org/officeDocument/2006/relationships/slide" Target="slides/slide53.xml"/><Relationship Id="rId64" Type="http://schemas.openxmlformats.org/officeDocument/2006/relationships/slide" Target="slides/slide52.xml"/><Relationship Id="rId63" Type="http://schemas.openxmlformats.org/officeDocument/2006/relationships/slide" Target="slides/slide51.xml"/><Relationship Id="rId62" Type="http://schemas.openxmlformats.org/officeDocument/2006/relationships/slide" Target="slides/slide50.xml"/><Relationship Id="rId61" Type="http://schemas.openxmlformats.org/officeDocument/2006/relationships/slide" Target="slides/slide49.xml"/><Relationship Id="rId60" Type="http://schemas.openxmlformats.org/officeDocument/2006/relationships/slide" Target="slides/slide48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7.xml"/><Relationship Id="rId58" Type="http://schemas.openxmlformats.org/officeDocument/2006/relationships/slide" Target="slides/slide46.xml"/><Relationship Id="rId57" Type="http://schemas.openxmlformats.org/officeDocument/2006/relationships/slide" Target="slides/slide45.xml"/><Relationship Id="rId56" Type="http://schemas.openxmlformats.org/officeDocument/2006/relationships/slide" Target="slides/slide44.xml"/><Relationship Id="rId55" Type="http://schemas.openxmlformats.org/officeDocument/2006/relationships/slide" Target="slides/slide43.xml"/><Relationship Id="rId54" Type="http://schemas.openxmlformats.org/officeDocument/2006/relationships/slide" Target="slides/slide42.xml"/><Relationship Id="rId53" Type="http://schemas.openxmlformats.org/officeDocument/2006/relationships/slide" Target="slides/slide41.xml"/><Relationship Id="rId52" Type="http://schemas.openxmlformats.org/officeDocument/2006/relationships/slide" Target="slides/slide40.xml"/><Relationship Id="rId51" Type="http://schemas.openxmlformats.org/officeDocument/2006/relationships/slide" Target="slides/slide39.xml"/><Relationship Id="rId50" Type="http://schemas.openxmlformats.org/officeDocument/2006/relationships/slide" Target="slides/slide38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7.xml"/><Relationship Id="rId48" Type="http://schemas.openxmlformats.org/officeDocument/2006/relationships/slide" Target="slides/slide36.xml"/><Relationship Id="rId47" Type="http://schemas.openxmlformats.org/officeDocument/2006/relationships/slide" Target="slides/slide35.xml"/><Relationship Id="rId46" Type="http://schemas.openxmlformats.org/officeDocument/2006/relationships/slide" Target="slides/slide34.xml"/><Relationship Id="rId45" Type="http://schemas.openxmlformats.org/officeDocument/2006/relationships/slide" Target="slides/slide33.xml"/><Relationship Id="rId44" Type="http://schemas.openxmlformats.org/officeDocument/2006/relationships/slide" Target="slides/slide32.xml"/><Relationship Id="rId43" Type="http://schemas.openxmlformats.org/officeDocument/2006/relationships/slide" Target="slides/slide31.xml"/><Relationship Id="rId42" Type="http://schemas.openxmlformats.org/officeDocument/2006/relationships/slide" Target="slides/slide30.xml"/><Relationship Id="rId41" Type="http://schemas.openxmlformats.org/officeDocument/2006/relationships/slide" Target="slides/slide29.xml"/><Relationship Id="rId40" Type="http://schemas.openxmlformats.org/officeDocument/2006/relationships/slide" Target="slides/slide28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7.xml"/><Relationship Id="rId38" Type="http://schemas.openxmlformats.org/officeDocument/2006/relationships/slide" Target="slides/slide26.xml"/><Relationship Id="rId37" Type="http://schemas.openxmlformats.org/officeDocument/2006/relationships/slide" Target="slides/slide25.xml"/><Relationship Id="rId36" Type="http://schemas.openxmlformats.org/officeDocument/2006/relationships/slide" Target="slides/slide24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t" anchorCtr="0" compatLnSpc="1"/>
          <a:lstStyle>
            <a:lvl1pPr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t" anchorCtr="0" compatLnSpc="1"/>
          <a:lstStyle>
            <a:lvl1pPr algn="r"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4813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b" anchorCtr="0" compatLnSpc="1"/>
          <a:lstStyle>
            <a:lvl1pPr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31338"/>
            <a:ext cx="2944812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b" anchorCtr="0" compatLnSpc="1"/>
          <a:lstStyle>
            <a:lvl1pPr algn="r"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7134E63-CDBE-4D97-ABFD-7014D49E469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517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t" anchorCtr="0" compatLnSpc="1"/>
          <a:lstStyle>
            <a:lvl1pPr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5563" y="0"/>
            <a:ext cx="2916237" cy="517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t" anchorCtr="0" compatLnSpc="1"/>
          <a:lstStyle>
            <a:lvl1pPr algn="r"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3613" y="739775"/>
            <a:ext cx="4929187" cy="3697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300" y="4730750"/>
            <a:ext cx="5030788" cy="4435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3088"/>
            <a:ext cx="2916238" cy="4429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b" anchorCtr="0" compatLnSpc="1"/>
          <a:lstStyle>
            <a:lvl1pPr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5563" y="9463088"/>
            <a:ext cx="2916237" cy="4429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b" anchorCtr="0" compatLnSpc="1"/>
          <a:lstStyle>
            <a:lvl1pPr algn="r"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A3250A-D96D-4FF1-9A04-805EFEDA6A1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Microprocessor</a:t>
            </a:r>
            <a:r>
              <a:rPr lang="zh-CN" altLang="en-US" dirty="0"/>
              <a:t>、</a:t>
            </a:r>
            <a:r>
              <a:rPr lang="en-US" altLang="zh-CN" dirty="0"/>
              <a:t>Microcomputer</a:t>
            </a:r>
            <a:r>
              <a:rPr lang="zh-CN" altLang="en-US" dirty="0"/>
              <a:t>、</a:t>
            </a:r>
            <a:r>
              <a:rPr lang="en-US" altLang="zh-CN" dirty="0"/>
              <a:t>Microcomputer system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数制：二进制、十进制、十六进制</a:t>
            </a:r>
            <a:endParaRPr lang="en-US" altLang="zh-CN" dirty="0"/>
          </a:p>
          <a:p>
            <a:r>
              <a:rPr lang="zh-CN" altLang="en-US" dirty="0"/>
              <a:t>数值的编码：原码、反码、补码</a:t>
            </a:r>
            <a:endParaRPr lang="en-US" altLang="zh-CN" dirty="0"/>
          </a:p>
          <a:p>
            <a:r>
              <a:rPr lang="zh-CN" altLang="en-US" dirty="0"/>
              <a:t>字符的编码：</a:t>
            </a:r>
            <a:r>
              <a:rPr lang="en-US" altLang="zh-CN" dirty="0"/>
              <a:t>BCD</a:t>
            </a:r>
            <a:r>
              <a:rPr lang="zh-CN" altLang="en-US" dirty="0"/>
              <a:t>、</a:t>
            </a:r>
            <a:r>
              <a:rPr lang="en-US" altLang="zh-CN" dirty="0"/>
              <a:t>ASCII</a:t>
            </a:r>
            <a:r>
              <a:rPr lang="zh-CN" altLang="en-US" dirty="0"/>
              <a:t>、</a:t>
            </a:r>
            <a:r>
              <a:rPr lang="en-US" altLang="zh-CN" dirty="0"/>
              <a:t>Unicode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随着信息技术的发展，运算器不仅有基本的整数运算器，还有浮点处理单元甚至多媒体数据运算单元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机器数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(computer number)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algn="l" rtl="0"/>
            <a:r>
              <a:rPr lang="en-US" altLang="zh-CN" b="0" i="0" dirty="0">
                <a:solidFill>
                  <a:srgbClr val="282829"/>
                </a:solidFill>
                <a:effectLst/>
                <a:latin typeface="-apple-system"/>
              </a:rPr>
              <a:t>Because 1 is the highest single-digit that can be represented in binary. For decimal, its equivalent will be 9’s complement. To get 1’s complement, we subtract the given number from all 1’s(</a:t>
            </a:r>
            <a:r>
              <a:rPr lang="zh-CN" altLang="en-US" b="0" i="0" dirty="0">
                <a:solidFill>
                  <a:srgbClr val="282829"/>
                </a:solidFill>
                <a:effectLst/>
                <a:latin typeface="-apple-system"/>
              </a:rPr>
              <a:t>不包括符号位</a:t>
            </a:r>
            <a:r>
              <a:rPr lang="en-US" altLang="zh-CN" b="0" i="0" dirty="0">
                <a:solidFill>
                  <a:srgbClr val="282829"/>
                </a:solidFill>
                <a:effectLst/>
                <a:latin typeface="-apple-system"/>
              </a:rPr>
              <a:t>)</a:t>
            </a:r>
            <a:br>
              <a:rPr lang="en-US" altLang="zh-CN" b="0" i="0" dirty="0">
                <a:solidFill>
                  <a:srgbClr val="282829"/>
                </a:solidFill>
                <a:effectLst/>
                <a:latin typeface="-apple-system"/>
              </a:rPr>
            </a:br>
            <a:r>
              <a:rPr lang="en-US" altLang="zh-CN" b="0" i="0" dirty="0">
                <a:solidFill>
                  <a:srgbClr val="282829"/>
                </a:solidFill>
                <a:effectLst/>
                <a:latin typeface="-apple-system"/>
              </a:rPr>
              <a:t>1s(11011) = 11111 - 11011 = 00100</a:t>
            </a:r>
            <a:endParaRPr lang="en-US" altLang="zh-CN" b="0" i="0" dirty="0">
              <a:solidFill>
                <a:srgbClr val="282829"/>
              </a:solidFill>
              <a:effectLst/>
              <a:latin typeface="-apple-system"/>
            </a:endParaRPr>
          </a:p>
          <a:p>
            <a:pPr algn="l" rtl="0"/>
            <a:r>
              <a:rPr lang="en-US" altLang="zh-CN" b="0" i="0" dirty="0">
                <a:solidFill>
                  <a:srgbClr val="282829"/>
                </a:solidFill>
                <a:effectLst/>
                <a:latin typeface="-apple-system"/>
              </a:rPr>
              <a:t>2’s complement is called so because 2's complement of an N-bit number is defined as its complement with respect to 2</a:t>
            </a:r>
            <a:r>
              <a:rPr lang="en-US" altLang="zh-CN" b="0" i="1" dirty="0">
                <a:solidFill>
                  <a:srgbClr val="282829"/>
                </a:solidFill>
                <a:effectLst/>
                <a:latin typeface="-apple-system"/>
              </a:rPr>
              <a:t>^N</a:t>
            </a:r>
            <a:r>
              <a:rPr lang="en-US" altLang="zh-CN" b="0" i="0" dirty="0">
                <a:solidFill>
                  <a:srgbClr val="282829"/>
                </a:solidFill>
                <a:effectLst/>
                <a:latin typeface="-apple-system"/>
              </a:rPr>
              <a:t>.</a:t>
            </a:r>
            <a:br>
              <a:rPr lang="en-US" altLang="zh-CN" b="0" i="0" dirty="0">
                <a:solidFill>
                  <a:srgbClr val="282829"/>
                </a:solidFill>
                <a:effectLst/>
                <a:latin typeface="-apple-system"/>
              </a:rPr>
            </a:br>
            <a:r>
              <a:rPr lang="en-US" altLang="zh-CN" b="0" i="0" dirty="0">
                <a:solidFill>
                  <a:srgbClr val="282829"/>
                </a:solidFill>
                <a:effectLst/>
                <a:latin typeface="-apple-system"/>
              </a:rPr>
              <a:t>2s(11011) = 100000 - 11011 = 00101</a:t>
            </a:r>
            <a:endParaRPr lang="en-US" altLang="zh-CN" b="0" i="0" dirty="0">
              <a:solidFill>
                <a:srgbClr val="282829"/>
              </a:solidFill>
              <a:effectLst/>
              <a:latin typeface="-apple-system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3.1</a:t>
            </a:r>
            <a:r>
              <a:rPr lang="zh-CN" altLang="en-US" dirty="0"/>
              <a:t>章节的重点：</a:t>
            </a:r>
            <a:endParaRPr lang="en-US" altLang="zh-CN" dirty="0"/>
          </a:p>
          <a:p>
            <a:r>
              <a:rPr lang="zh-CN" altLang="en-US" dirty="0"/>
              <a:t>求补码（二进制补码转换为十六进制形式）</a:t>
            </a:r>
            <a:endParaRPr lang="en-US" altLang="zh-CN" dirty="0"/>
          </a:p>
          <a:p>
            <a:r>
              <a:rPr lang="zh-CN" altLang="en-US" dirty="0"/>
              <a:t>十六进制加减法</a:t>
            </a:r>
            <a:endParaRPr lang="en-US" altLang="zh-CN" dirty="0"/>
          </a:p>
          <a:p>
            <a:r>
              <a:rPr lang="zh-CN" altLang="en-US" dirty="0"/>
              <a:t>常见字符的</a:t>
            </a:r>
            <a:r>
              <a:rPr lang="en-US" altLang="zh-CN" dirty="0"/>
              <a:t>ASCII</a:t>
            </a:r>
            <a:r>
              <a:rPr lang="zh-CN" altLang="en-US" dirty="0"/>
              <a:t>码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十六进制：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0AH</a:t>
            </a:r>
            <a:endParaRPr lang="en-US" altLang="zh-CN" sz="1200" b="1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字母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A: </a:t>
            </a: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‘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’</a:t>
            </a:r>
            <a:endParaRPr lang="en-US" altLang="zh-CN" sz="1200" b="1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[X]</a:t>
            </a:r>
            <a:r>
              <a:rPr lang="zh-CN" altLang="en-US" sz="12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[Y]</a:t>
            </a:r>
            <a:r>
              <a:rPr lang="zh-CN" altLang="en-US" sz="12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[X</a:t>
            </a: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Y]</a:t>
            </a:r>
            <a:r>
              <a:rPr lang="zh-CN" altLang="en-US" sz="12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endParaRPr lang="zh-CN" altLang="en-US" sz="1200" b="1" baseline="-250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[X]</a:t>
            </a:r>
            <a:r>
              <a:rPr lang="zh-CN" altLang="en-US" sz="12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－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[Y]</a:t>
            </a:r>
            <a:r>
              <a:rPr lang="zh-CN" altLang="en-US" sz="12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2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[X]</a:t>
            </a:r>
            <a:r>
              <a:rPr lang="zh-CN" altLang="en-US" sz="12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</a:t>
            </a: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－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Y]</a:t>
            </a:r>
            <a:r>
              <a:rPr lang="zh-CN" altLang="en-US" sz="12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2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[X</a:t>
            </a:r>
            <a:r>
              <a:rPr lang="zh-CN" altLang="en-US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－</a:t>
            </a:r>
            <a:r>
              <a:rPr lang="en-US" altLang="zh-CN" sz="1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Y]</a:t>
            </a:r>
            <a:r>
              <a:rPr lang="zh-CN" altLang="en-US" sz="12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endParaRPr lang="en-US" altLang="zh-CN" sz="1200" b="1" baseline="-250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以</a:t>
            </a:r>
            <a:r>
              <a:rPr lang="zh-CN" altLang="en-US" sz="1200" dirty="0">
                <a:solidFill>
                  <a:srgbClr val="FF0000"/>
                </a:solidFill>
                <a:latin typeface="+mn-lt"/>
              </a:rPr>
              <a:t>字母</a:t>
            </a:r>
            <a:r>
              <a:rPr lang="en-US" altLang="zh-CN" sz="1200" dirty="0">
                <a:solidFill>
                  <a:srgbClr val="FF0000"/>
                </a:solidFill>
                <a:latin typeface="+mn-lt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1200" dirty="0">
                <a:solidFill>
                  <a:srgbClr val="FF0000"/>
                </a:solidFill>
                <a:latin typeface="+mn-lt"/>
              </a:rPr>
              <a:t>F</a:t>
            </a:r>
            <a:r>
              <a:rPr lang="zh-CN" altLang="en-US" sz="1200" dirty="0">
                <a:solidFill>
                  <a:srgbClr val="FF0000"/>
                </a:solidFill>
                <a:latin typeface="+mn-lt"/>
              </a:rPr>
              <a:t>开头</a:t>
            </a:r>
            <a:r>
              <a:rPr lang="zh-CN" altLang="en-US" sz="1200" dirty="0">
                <a:solidFill>
                  <a:schemeClr val="tx1"/>
                </a:solidFill>
                <a:latin typeface="+mn-lt"/>
              </a:rPr>
              <a:t>的十六进制常数，</a:t>
            </a:r>
            <a:r>
              <a:rPr lang="zh-CN" altLang="en-US" sz="1200" dirty="0">
                <a:solidFill>
                  <a:srgbClr val="FF0000"/>
                </a:solidFill>
                <a:latin typeface="+mn-lt"/>
              </a:rPr>
              <a:t>要加前导</a:t>
            </a:r>
            <a:r>
              <a:rPr lang="en-US" altLang="zh-CN" sz="1200" dirty="0">
                <a:solidFill>
                  <a:srgbClr val="FF0000"/>
                </a:solidFill>
                <a:latin typeface="+mn-lt"/>
              </a:rPr>
              <a:t>0</a:t>
            </a:r>
            <a:endParaRPr lang="en-US" altLang="zh-CN" sz="1200" dirty="0">
              <a:solidFill>
                <a:srgbClr val="FF0000"/>
              </a:solidFill>
              <a:latin typeface="+mn-lt"/>
            </a:endParaRPr>
          </a:p>
          <a:p>
            <a:r>
              <a:rPr lang="zh-CN" altLang="en-US" dirty="0"/>
              <a:t>与标识符的不能以数字打头进行区分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-32h</a:t>
            </a:r>
            <a:r>
              <a:rPr lang="zh-CN" altLang="en-US" dirty="0"/>
              <a:t>的补码依然是在</a:t>
            </a:r>
            <a:r>
              <a:rPr lang="en-US" altLang="zh-CN" dirty="0"/>
              <a:t>32h</a:t>
            </a:r>
            <a:r>
              <a:rPr lang="zh-CN" altLang="en-US" dirty="0"/>
              <a:t>的原码基础上取反加</a:t>
            </a:r>
            <a:r>
              <a:rPr lang="en-US" altLang="zh-CN" dirty="0"/>
              <a:t>1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LSB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缩写通常代表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Least Significant Byte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，意思是最低有效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字节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-38h</a:t>
            </a:r>
            <a:r>
              <a:rPr lang="zh-CN" altLang="en-US" dirty="0"/>
              <a:t>，绝对值为</a:t>
            </a:r>
            <a:r>
              <a:rPr lang="en-US" altLang="zh-CN" dirty="0"/>
              <a:t>38h</a:t>
            </a:r>
            <a:r>
              <a:rPr lang="zh-CN" altLang="en-US" dirty="0"/>
              <a:t>，二进制</a:t>
            </a:r>
            <a:r>
              <a:rPr lang="en-US" altLang="zh-CN" dirty="0"/>
              <a:t>0000 0000 0000 0000 0000 0000 0011 1000</a:t>
            </a:r>
            <a:endParaRPr lang="en-US" altLang="zh-CN" dirty="0"/>
          </a:p>
          <a:p>
            <a:r>
              <a:rPr lang="zh-CN" altLang="en-US" dirty="0"/>
              <a:t>取反</a:t>
            </a:r>
            <a:r>
              <a:rPr lang="en-US" altLang="zh-CN" dirty="0"/>
              <a:t>: 1111 1111 1111 1111 1111 1111 1100 0111</a:t>
            </a:r>
            <a:endParaRPr lang="en-US" altLang="zh-CN" dirty="0"/>
          </a:p>
          <a:p>
            <a:r>
              <a:rPr lang="zh-CN" altLang="en-US" dirty="0"/>
              <a:t>加</a:t>
            </a:r>
            <a:r>
              <a:rPr lang="en-US" altLang="zh-CN" dirty="0"/>
              <a:t>1: FFFFFFC8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在</a:t>
            </a:r>
            <a:r>
              <a:rPr lang="en-US" altLang="zh-CN" dirty="0"/>
              <a:t> NASM </a:t>
            </a:r>
            <a:r>
              <a:rPr lang="zh-CN" altLang="en-US" dirty="0"/>
              <a:t>中，变量名本身就代表地址（标号）。不需要</a:t>
            </a:r>
            <a:r>
              <a:rPr lang="en-US" altLang="zh-CN" dirty="0"/>
              <a:t> OFFSET </a:t>
            </a:r>
            <a:r>
              <a:rPr lang="zh-CN" altLang="en-US" dirty="0"/>
              <a:t>关键字。</a:t>
            </a:r>
            <a:r>
              <a:rPr lang="en-US" altLang="zh-CN" dirty="0"/>
              <a:t>NASM </a:t>
            </a:r>
            <a:r>
              <a:rPr lang="zh-CN" altLang="en-US" dirty="0"/>
              <a:t>强制要求用</a:t>
            </a:r>
            <a:r>
              <a:rPr lang="en-US" altLang="zh-CN" dirty="0"/>
              <a:t> [] </a:t>
            </a:r>
            <a:r>
              <a:rPr lang="zh-CN" altLang="en-US" dirty="0"/>
              <a:t>来表示</a:t>
            </a:r>
            <a:r>
              <a:rPr lang="en-US" altLang="zh-CN" dirty="0"/>
              <a:t>“</a:t>
            </a:r>
            <a:r>
              <a:rPr lang="zh-CN" altLang="en-US" dirty="0"/>
              <a:t>去这个地址取数据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endParaRPr lang="zh-CN" altLang="en-US" dirty="0"/>
          </a:p>
          <a:p>
            <a:pPr algn="l"/>
            <a:r>
              <a:rPr lang="en-US" altLang="zh-CN" dirty="0"/>
              <a:t>NASM </a:t>
            </a:r>
            <a:r>
              <a:rPr lang="zh-CN" altLang="en-US" dirty="0"/>
              <a:t>的</a:t>
            </a:r>
            <a:r>
              <a:rPr lang="en-US" altLang="zh-CN" dirty="0"/>
              <a:t>“</a:t>
            </a:r>
            <a:r>
              <a:rPr lang="zh-CN" altLang="en-US" dirty="0"/>
              <a:t>纯粹</a:t>
            </a:r>
            <a:r>
              <a:rPr lang="en-US" altLang="zh-CN" dirty="0"/>
              <a:t>”</a:t>
            </a:r>
            <a:r>
              <a:rPr lang="zh-CN" altLang="en-US" dirty="0"/>
              <a:t>哲学：变量名就是地址</a:t>
            </a:r>
            <a:endParaRPr lang="zh-CN" altLang="en-US" dirty="0"/>
          </a:p>
          <a:p>
            <a:pPr algn="l"/>
            <a:endParaRPr lang="zh-CN" altLang="en-US" dirty="0"/>
          </a:p>
          <a:p>
            <a:pPr algn="l"/>
            <a:r>
              <a:rPr lang="en-US" altLang="zh-CN" dirty="0"/>
              <a:t>MASM </a:t>
            </a:r>
            <a:r>
              <a:rPr lang="zh-CN" altLang="en-US" dirty="0"/>
              <a:t>的</a:t>
            </a:r>
            <a:r>
              <a:rPr lang="en-US" altLang="zh-CN" dirty="0"/>
              <a:t>“</a:t>
            </a:r>
            <a:r>
              <a:rPr lang="zh-CN" altLang="en-US" dirty="0"/>
              <a:t>便利</a:t>
            </a:r>
            <a:r>
              <a:rPr lang="en-US" altLang="zh-CN" dirty="0"/>
              <a:t>”</a:t>
            </a:r>
            <a:r>
              <a:rPr lang="zh-CN" altLang="en-US" dirty="0"/>
              <a:t>哲学：变量名有</a:t>
            </a:r>
            <a:r>
              <a:rPr lang="en-US" altLang="zh-CN" dirty="0"/>
              <a:t>“</a:t>
            </a:r>
            <a:r>
              <a:rPr lang="zh-CN" altLang="en-US" dirty="0"/>
              <a:t>智能</a:t>
            </a:r>
            <a:r>
              <a:rPr lang="en-US" altLang="zh-CN" dirty="0"/>
              <a:t>”</a:t>
            </a:r>
            <a:endParaRPr lang="en-US" altLang="zh-CN" dirty="0"/>
          </a:p>
          <a:p>
            <a:pPr algn="l"/>
            <a:r>
              <a:rPr lang="en-US" altLang="zh-CN" dirty="0"/>
              <a:t>MASM </a:t>
            </a:r>
            <a:r>
              <a:rPr lang="zh-CN" altLang="en-US" dirty="0"/>
              <a:t>为了让你写代码更省事，给变量名增加了</a:t>
            </a:r>
            <a:r>
              <a:rPr lang="en-US" altLang="zh-CN" dirty="0"/>
              <a:t>“</a:t>
            </a:r>
            <a:r>
              <a:rPr lang="zh-CN" altLang="en-US" dirty="0"/>
              <a:t>类型</a:t>
            </a:r>
            <a:r>
              <a:rPr lang="en-US" altLang="zh-CN" dirty="0"/>
              <a:t>”</a:t>
            </a:r>
            <a:r>
              <a:rPr lang="zh-CN" altLang="en-US" dirty="0"/>
              <a:t>和</a:t>
            </a:r>
            <a:r>
              <a:rPr lang="en-US" altLang="zh-CN" dirty="0"/>
              <a:t>“</a:t>
            </a:r>
            <a:r>
              <a:rPr lang="zh-CN" altLang="en-US" dirty="0"/>
              <a:t>默认行为</a:t>
            </a:r>
            <a:r>
              <a:rPr lang="en-US" altLang="zh-CN" dirty="0"/>
              <a:t>”</a:t>
            </a:r>
            <a:r>
              <a:rPr lang="zh-CN" altLang="en-US" dirty="0"/>
              <a:t>的概念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pPr algn="l"/>
            <a:r>
              <a:rPr lang="zh-CN" altLang="en-US" dirty="0"/>
              <a:t>取变量值：在大多数情况下，如果你直接使用变量名，</a:t>
            </a:r>
            <a:r>
              <a:rPr lang="en-US" altLang="zh-CN" dirty="0"/>
              <a:t>MASM </a:t>
            </a:r>
            <a:r>
              <a:rPr lang="zh-CN" altLang="en-US" dirty="0"/>
              <a:t>会贴心地默认你想用这个变量的值。这在高级语言里是很自然的想法。</a:t>
            </a:r>
            <a:endParaRPr lang="zh-CN" altLang="en-US" dirty="0"/>
          </a:p>
          <a:p>
            <a:pPr algn="l"/>
            <a:r>
              <a:rPr lang="zh-CN" altLang="en-US" dirty="0"/>
              <a:t>取变量地址：当你明确想要变量的地址时，就必须用到你提到的</a:t>
            </a:r>
            <a:r>
              <a:rPr lang="en-US" altLang="zh-CN" dirty="0"/>
              <a:t> OFFSET </a:t>
            </a:r>
            <a:r>
              <a:rPr lang="zh-CN" altLang="en-US" dirty="0"/>
              <a:t>运算符。它的作用就是</a:t>
            </a:r>
            <a:r>
              <a:rPr lang="en-US" altLang="zh-CN" dirty="0"/>
              <a:t>“</a:t>
            </a:r>
            <a:r>
              <a:rPr lang="zh-CN" altLang="en-US" dirty="0"/>
              <a:t>打破</a:t>
            </a:r>
            <a:r>
              <a:rPr lang="en-US" altLang="zh-CN" dirty="0"/>
              <a:t>”MASM </a:t>
            </a:r>
            <a:r>
              <a:rPr lang="zh-CN" altLang="en-US" dirty="0"/>
              <a:t>的默认行为，明确地告诉汇编器：</a:t>
            </a:r>
            <a:r>
              <a:rPr lang="en-US" altLang="zh-CN" dirty="0"/>
              <a:t>“</a:t>
            </a:r>
            <a:r>
              <a:rPr lang="zh-CN" altLang="en-US" dirty="0"/>
              <a:t>我需要的是这个变量的地址，不是它的值。</a:t>
            </a:r>
            <a:r>
              <a:rPr lang="en-US" altLang="zh-CN" dirty="0"/>
              <a:t>” 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从低到高的顺序：</a:t>
            </a:r>
            <a:r>
              <a:rPr lang="en-US" altLang="zh-CN" dirty="0"/>
              <a:t>41H, 42H, 0AH, 10H, 0FFH, 0FFH, 38H, 00H, 0FBH, 0FFH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物理地址（</a:t>
            </a:r>
            <a:r>
              <a:rPr lang="en-US" altLang="zh-CN" dirty="0"/>
              <a:t>Physical address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逻辑地址</a:t>
            </a:r>
            <a:r>
              <a:rPr lang="en-US" altLang="zh-CN" dirty="0"/>
              <a:t>(Logic Address)</a:t>
            </a:r>
            <a:endParaRPr lang="en-US" altLang="zh-CN" dirty="0"/>
          </a:p>
          <a:p>
            <a:r>
              <a:rPr lang="zh-CN" altLang="en-US" dirty="0"/>
              <a:t>线性地址</a:t>
            </a:r>
            <a:r>
              <a:rPr lang="en-US" altLang="zh-CN" dirty="0"/>
              <a:t>(Linear Address)</a:t>
            </a:r>
            <a:endParaRPr lang="en-US" altLang="zh-CN" dirty="0"/>
          </a:p>
          <a:p>
            <a:r>
              <a:rPr lang="zh-CN" altLang="en-US" dirty="0"/>
              <a:t>偏移地址（</a:t>
            </a:r>
            <a:r>
              <a:rPr lang="en-US" altLang="zh-CN" dirty="0"/>
              <a:t>Offset Address</a:t>
            </a:r>
            <a:r>
              <a:rPr lang="zh-CN" altLang="en-US" dirty="0"/>
              <a:t>）或有效地址（</a:t>
            </a:r>
            <a:r>
              <a:rPr lang="en-US" altLang="zh-CN" dirty="0"/>
              <a:t>EA</a:t>
            </a:r>
            <a:r>
              <a:rPr lang="zh-CN" altLang="en-US" dirty="0"/>
              <a:t>，</a:t>
            </a:r>
            <a:r>
              <a:rPr lang="en-US" altLang="zh-CN" dirty="0"/>
              <a:t>Effective Address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段选择器</a:t>
            </a:r>
            <a:r>
              <a:rPr lang="en-US" altLang="zh-CN" dirty="0"/>
              <a:t>Segment Selector </a:t>
            </a:r>
            <a:r>
              <a:rPr lang="zh-CN" altLang="en-US" dirty="0"/>
              <a:t>指向段描述符</a:t>
            </a:r>
            <a:r>
              <a:rPr lang="en-US" altLang="zh-CN" dirty="0"/>
              <a:t>Segment Descriptor</a:t>
            </a:r>
            <a:r>
              <a:rPr lang="zh-CN" altLang="en-US" dirty="0"/>
              <a:t>，里面包含段基地址</a:t>
            </a:r>
            <a:r>
              <a:rPr lang="en-US" altLang="zh-CN" dirty="0"/>
              <a:t>Segment Base Address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Segment Unit </a:t>
            </a:r>
            <a:r>
              <a:rPr lang="zh-CN" altLang="en-US" dirty="0"/>
              <a:t>和 </a:t>
            </a:r>
            <a:r>
              <a:rPr lang="en-US" altLang="zh-CN" dirty="0"/>
              <a:t>Page Unit </a:t>
            </a:r>
            <a:r>
              <a:rPr lang="zh-CN" altLang="en-US" dirty="0"/>
              <a:t>统称为 </a:t>
            </a:r>
            <a:r>
              <a:rPr lang="en-US" altLang="zh-CN" dirty="0"/>
              <a:t>MMU (Memory </a:t>
            </a:r>
            <a:r>
              <a:rPr lang="en-US" altLang="zh-CN" dirty="0" err="1"/>
              <a:t>Mangement</a:t>
            </a:r>
            <a:r>
              <a:rPr lang="en-US" altLang="zh-CN" dirty="0"/>
              <a:t> Unit)</a:t>
            </a:r>
            <a:r>
              <a:rPr lang="zh-CN" altLang="en-US" dirty="0"/>
              <a:t>；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给寄存器加中括号，表示取这个地址里面的内容“值”。这就是间接寻址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FF0000"/>
                </a:solidFill>
                <a:latin typeface="+mn-lt"/>
              </a:rPr>
              <a:t>基址变址寻址</a:t>
            </a:r>
            <a:r>
              <a:rPr lang="en-US" altLang="zh-CN" sz="1200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altLang="zh-CN" sz="1200" dirty="0">
                <a:solidFill>
                  <a:srgbClr val="00B050"/>
                </a:solidFill>
                <a:latin typeface="+mn-lt"/>
              </a:rPr>
              <a:t>Based Indexed Addressing</a:t>
            </a:r>
            <a:r>
              <a:rPr lang="en-US" altLang="zh-CN" sz="1200" dirty="0">
                <a:solidFill>
                  <a:srgbClr val="FF0000"/>
                </a:solidFill>
                <a:latin typeface="+mn-lt"/>
              </a:rPr>
              <a:t>)</a:t>
            </a:r>
            <a:endParaRPr lang="en-US" altLang="zh-CN" sz="1200" dirty="0">
              <a:solidFill>
                <a:srgbClr val="FF0000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FF0000"/>
                </a:solidFill>
                <a:latin typeface="+mn-lt"/>
              </a:rPr>
              <a:t>相对基址变址寻址</a:t>
            </a:r>
            <a:r>
              <a:rPr lang="en-US" altLang="zh-CN" sz="1200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altLang="zh-CN" sz="1200" dirty="0">
                <a:solidFill>
                  <a:srgbClr val="00B050"/>
                </a:solidFill>
                <a:latin typeface="+mn-lt"/>
              </a:rPr>
              <a:t>Relative Based Indexed Addressing</a:t>
            </a:r>
            <a:r>
              <a:rPr lang="en-US" altLang="zh-CN" sz="1200" dirty="0">
                <a:solidFill>
                  <a:srgbClr val="FF0000"/>
                </a:solidFill>
                <a:latin typeface="+mn-lt"/>
              </a:rPr>
              <a:t>)</a:t>
            </a:r>
            <a:endParaRPr lang="en-US" altLang="zh-CN" sz="12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1200" dirty="0">
              <a:latin typeface="+mn-lt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可以把变址寻址小结为以下三类：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）带另外一个基址寄存器（两个寄存器），则为基址变址寻址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）带另外一个基址寄存器（两个寄存器），和一个数字（位移量），则为相对基址变址寻址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）带一个乘法比例（只有一个变址寄存器），则为带比例的变址寻址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VAR</a:t>
            </a:r>
            <a:r>
              <a:rPr lang="zh-CN" altLang="en-US" dirty="0"/>
              <a:t>是变量，但是对齐取偏移地址</a:t>
            </a:r>
            <a:r>
              <a:rPr lang="en-US" altLang="zh-CN" dirty="0"/>
              <a:t>offset</a:t>
            </a:r>
            <a:r>
              <a:rPr lang="zh-CN" altLang="en-US" dirty="0"/>
              <a:t>，则得到的是地址常量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6" Type="http://schemas.openxmlformats.org/officeDocument/2006/relationships/theme" Target="../theme/theme7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6" Type="http://schemas.openxmlformats.org/officeDocument/2006/relationships/theme" Target="../theme/theme8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6" Type="http://schemas.openxmlformats.org/officeDocument/2006/relationships/theme" Target="../theme/theme9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10.xml.rels><?xml version="1.0" encoding="UTF-8" standalone="yes"?>
<Relationships xmlns="http://schemas.openxmlformats.org/package/2006/relationships"><Relationship Id="rId6" Type="http://schemas.openxmlformats.org/officeDocument/2006/relationships/theme" Target="../theme/theme10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2.xml"/><Relationship Id="rId2" Type="http://schemas.openxmlformats.org/officeDocument/2006/relationships/image" Target="../media/image14.png"/><Relationship Id="rId1" Type="http://schemas.openxmlformats.org/officeDocument/2006/relationships/tags" Target="../tags/tag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0" Type="http://schemas.openxmlformats.org/officeDocument/2006/relationships/notesSlide" Target="../notesSlides/notesSlide16.xml"/><Relationship Id="rId2" Type="http://schemas.openxmlformats.org/officeDocument/2006/relationships/tags" Target="../tags/tag4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9.xml"/><Relationship Id="rId17" Type="http://schemas.openxmlformats.org/officeDocument/2006/relationships/image" Target="../media/image15.png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16.png"/><Relationship Id="rId16" Type="http://schemas.openxmlformats.org/officeDocument/2006/relationships/notesSlide" Target="../notesSlides/notesSlide21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2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41.xml"/><Relationship Id="rId1" Type="http://schemas.openxmlformats.org/officeDocument/2006/relationships/tags" Target="../tags/tag3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0" Type="http://schemas.openxmlformats.org/officeDocument/2006/relationships/notesSlide" Target="../notesSlides/notesSlide41.xml"/><Relationship Id="rId2" Type="http://schemas.openxmlformats.org/officeDocument/2006/relationships/tags" Target="../tags/tag43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58.xml"/><Relationship Id="rId17" Type="http://schemas.openxmlformats.org/officeDocument/2006/relationships/image" Target="../media/image15.png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75.xml"/><Relationship Id="rId17" Type="http://schemas.openxmlformats.org/officeDocument/2006/relationships/image" Target="../media/image15.png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92.xml"/><Relationship Id="rId17" Type="http://schemas.openxmlformats.org/officeDocument/2006/relationships/image" Target="../media/image15.png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tags" Target="../tags/tag7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1357290" y="4500563"/>
            <a:ext cx="6858024" cy="1928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  <a:latin typeface="黑体" panose="02010609060101010101" pitchFamily="49" charset="-122"/>
              </a:rPr>
              <a:t>刘兆丽</a:t>
            </a:r>
            <a:endParaRPr lang="en-US" altLang="zh-CN" sz="3200" dirty="0">
              <a:solidFill>
                <a:srgbClr val="000000"/>
              </a:solidFill>
              <a:latin typeface="黑体" panose="0201060906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rgbClr val="000000"/>
                </a:solidFill>
                <a:latin typeface="黑体" panose="02010609060101010101" pitchFamily="49" charset="-122"/>
              </a:rPr>
              <a:t>计算机科学与工程学院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4" name="Rectangle 2" descr="Large confetti"/>
          <p:cNvSpPr txBox="1">
            <a:spLocks noChangeArrowheads="1"/>
          </p:cNvSpPr>
          <p:nvPr/>
        </p:nvSpPr>
        <p:spPr bwMode="auto">
          <a:xfrm>
            <a:off x="251460" y="1124585"/>
            <a:ext cx="8785225" cy="1787525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12700" dir="5400000" algn="ctr" rotWithShape="0">
              <a:schemeClr val="bg2"/>
            </a:outerShdw>
          </a:effectLst>
        </p:spPr>
        <p:txBody>
          <a:bodyPr anchor="b"/>
          <a:lstStyle/>
          <a:p>
            <a:pPr lvl="0" algn="ctr">
              <a:lnSpc>
                <a:spcPct val="130000"/>
              </a:lnSpc>
              <a:defRPr/>
            </a:pPr>
            <a:r>
              <a:rPr lang="zh-CN" altLang="en-US" sz="66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第</a:t>
            </a:r>
            <a:r>
              <a:rPr lang="en-US" altLang="zh-CN" sz="66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2</a:t>
            </a:r>
            <a:r>
              <a:rPr lang="zh-CN" altLang="en-US" sz="66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章 数据表示和寻址</a:t>
            </a:r>
            <a:endParaRPr lang="zh-CN" altLang="en-US" sz="6600" b="1" kern="0" dirty="0">
              <a:solidFill>
                <a:srgbClr val="FF3300"/>
              </a:solidFill>
              <a:latin typeface="+mn-ea"/>
              <a:ea typeface="+mn-ea"/>
              <a:cs typeface="+mj-cs"/>
            </a:endParaRPr>
          </a:p>
        </p:txBody>
      </p:sp>
      <p:pic>
        <p:nvPicPr>
          <p:cNvPr id="6" name="图片 5" descr="logo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0949" y="71414"/>
            <a:ext cx="3419481" cy="96805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332C5-313C-42E8-A3F7-890A1E7064B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Tm="13494"/>
    </mc:Choice>
    <mc:Fallback>
      <p:transition spd="slow" advTm="134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  <a:sym typeface="+mn-ea"/>
              </a:rPr>
              <a:t>学前回顾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  <a:p>
            <a:pPr lvl="0">
              <a:defRPr/>
            </a:pP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178184" y="692696"/>
            <a:ext cx="8858312" cy="5700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23528" y="643548"/>
            <a:ext cx="8643966" cy="6247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solidFill>
                  <a:schemeClr val="tx1"/>
                </a:solidFill>
              </a:rPr>
              <a:t>Intel 80x86</a:t>
            </a:r>
            <a:r>
              <a:rPr lang="zh-CN" altLang="en-US" sz="2800" dirty="0">
                <a:solidFill>
                  <a:schemeClr val="tx1"/>
                </a:solidFill>
              </a:rPr>
              <a:t>系列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899795" lvl="1" indent="-360045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ü"/>
              <a:defRPr/>
            </a:pPr>
            <a:r>
              <a:rPr lang="en-US" altLang="zh-CN" sz="2400" dirty="0">
                <a:solidFill>
                  <a:srgbClr val="000000"/>
                </a:solidFill>
              </a:rPr>
              <a:t>16</a:t>
            </a:r>
            <a:r>
              <a:rPr lang="zh-CN" altLang="en-US" sz="2400" dirty="0">
                <a:solidFill>
                  <a:srgbClr val="000000"/>
                </a:solidFill>
              </a:rPr>
              <a:t>位</a:t>
            </a:r>
            <a:r>
              <a:rPr lang="en-US" sz="2400" dirty="0">
                <a:solidFill>
                  <a:srgbClr val="000000"/>
                </a:solidFill>
              </a:rPr>
              <a:t>x86         </a:t>
            </a:r>
            <a:r>
              <a:rPr lang="en-US" altLang="zh-CN" sz="2400" dirty="0">
                <a:solidFill>
                  <a:srgbClr val="000000"/>
                </a:solidFill>
              </a:rPr>
              <a:t>Intel 32</a:t>
            </a:r>
            <a:r>
              <a:rPr lang="zh-CN" altLang="en-US" sz="2400" dirty="0">
                <a:solidFill>
                  <a:srgbClr val="000000"/>
                </a:solidFill>
              </a:rPr>
              <a:t>结构（</a:t>
            </a:r>
            <a:r>
              <a:rPr lang="en-US" altLang="zh-CN" sz="2400" dirty="0">
                <a:solidFill>
                  <a:srgbClr val="000000"/>
                </a:solidFill>
              </a:rPr>
              <a:t>IA-32</a:t>
            </a:r>
            <a:r>
              <a:rPr lang="zh-CN" altLang="en-US" sz="2400" dirty="0">
                <a:solidFill>
                  <a:srgbClr val="000000"/>
                </a:solidFill>
              </a:rPr>
              <a:t>）</a:t>
            </a:r>
            <a:r>
              <a:rPr lang="en-US" altLang="zh-CN" sz="2400" dirty="0">
                <a:solidFill>
                  <a:srgbClr val="000000"/>
                </a:solidFill>
              </a:rPr>
              <a:t>       Intel 64</a:t>
            </a:r>
            <a:r>
              <a:rPr lang="zh-CN" altLang="en-US" sz="2400" dirty="0">
                <a:solidFill>
                  <a:srgbClr val="000000"/>
                </a:solidFill>
              </a:rPr>
              <a:t>结构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lvl="1" indent="-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chemeClr val="tx1"/>
                </a:solidFill>
              </a:rPr>
              <a:t>冯</a:t>
            </a:r>
            <a:r>
              <a:rPr lang="en-US" altLang="zh-CN" sz="2800" dirty="0">
                <a:solidFill>
                  <a:schemeClr val="tx1"/>
                </a:solidFill>
              </a:rPr>
              <a:t>·</a:t>
            </a:r>
            <a:r>
              <a:rPr lang="zh-CN" altLang="en-US" sz="2800" dirty="0">
                <a:solidFill>
                  <a:schemeClr val="tx1"/>
                </a:solidFill>
              </a:rPr>
              <a:t>诺依曼计算机结构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899795" lvl="1" indent="-360045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ü"/>
              <a:defRPr/>
            </a:pPr>
            <a:r>
              <a:rPr lang="en-US" altLang="zh-CN" sz="2400" dirty="0">
                <a:solidFill>
                  <a:srgbClr val="000000"/>
                </a:solidFill>
              </a:rPr>
              <a:t>5</a:t>
            </a:r>
            <a:r>
              <a:rPr lang="zh-CN" altLang="en-US" sz="2400" dirty="0">
                <a:solidFill>
                  <a:srgbClr val="000000"/>
                </a:solidFill>
              </a:rPr>
              <a:t>大</a:t>
            </a:r>
            <a:r>
              <a:rPr lang="zh-CN" altLang="en-US" sz="2400" dirty="0">
                <a:solidFill>
                  <a:schemeClr val="tx1"/>
                </a:solidFill>
              </a:rPr>
              <a:t>部件、</a:t>
            </a:r>
            <a:r>
              <a:rPr lang="en-US" altLang="zh-CN" sz="2400" dirty="0">
                <a:solidFill>
                  <a:schemeClr val="tx1"/>
                </a:solidFill>
              </a:rPr>
              <a:t>3个硬件子系统、存储程序和程序</a:t>
            </a:r>
            <a:r>
              <a:rPr lang="zh-CN" altLang="en-US" sz="2400" dirty="0">
                <a:solidFill>
                  <a:schemeClr val="tx1"/>
                </a:solidFill>
              </a:rPr>
              <a:t>控制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899795" lvl="1" indent="-360045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85000"/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数据</a:t>
            </a:r>
            <a:r>
              <a:rPr lang="en-US" altLang="zh-CN" sz="2400" dirty="0">
                <a:solidFill>
                  <a:schemeClr val="tx1"/>
                </a:solidFill>
              </a:rPr>
              <a:t>/</a:t>
            </a:r>
            <a:r>
              <a:rPr lang="zh-CN" altLang="en-US" sz="2400" dirty="0">
                <a:solidFill>
                  <a:schemeClr val="tx1"/>
                </a:solidFill>
              </a:rPr>
              <a:t>地址</a:t>
            </a:r>
            <a:r>
              <a:rPr lang="en-US" altLang="zh-CN" sz="2400" dirty="0">
                <a:solidFill>
                  <a:schemeClr val="tx1"/>
                </a:solidFill>
              </a:rPr>
              <a:t>/</a:t>
            </a:r>
            <a:r>
              <a:rPr lang="zh-CN" altLang="en-US" sz="2400" dirty="0">
                <a:solidFill>
                  <a:schemeClr val="tx1"/>
                </a:solidFill>
              </a:rPr>
              <a:t>控制总线：</a:t>
            </a:r>
            <a:r>
              <a:rPr lang="zh-CN" altLang="en-US" sz="2400" dirty="0">
                <a:solidFill>
                  <a:srgbClr val="00B050"/>
                </a:solidFill>
              </a:rPr>
              <a:t>地址总线条数与主存容量的关系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457200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lt"/>
                <a:sym typeface="+mn-ea"/>
              </a:rPr>
              <a:t>掌握</a:t>
            </a:r>
            <a:r>
              <a:rPr lang="en-US" altLang="zh-CN" sz="2800" dirty="0">
                <a:latin typeface="+mn-lt"/>
                <a:sym typeface="+mn-ea"/>
              </a:rPr>
              <a:t>IA-32</a:t>
            </a:r>
            <a:r>
              <a:rPr lang="zh-CN" altLang="en-US" sz="2800" dirty="0">
                <a:latin typeface="+mn-lt"/>
                <a:sym typeface="+mn-ea"/>
              </a:rPr>
              <a:t>常用寄存器的名称和作用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  <a:sym typeface="+mn-ea"/>
              </a:rPr>
              <a:t>通用寄存器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+mn-ea"/>
              </a:rPr>
              <a:t>(8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sym typeface="+mn-ea"/>
              </a:rPr>
              <a:t>个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+mn-ea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sym typeface="+mn-ea"/>
              </a:rPr>
              <a:t>、标志寄存器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+mn-ea"/>
              </a:rPr>
              <a:t>EFLAGS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  <a:sym typeface="+mn-ea"/>
              </a:rPr>
              <a:t>专用寄存器：段寄存器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+mn-ea"/>
              </a:rPr>
              <a:t>(6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sym typeface="+mn-ea"/>
              </a:rPr>
              <a:t>个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+mn-ea"/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sym typeface="+mn-ea"/>
              </a:rPr>
              <a:t>位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+mn-ea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sym typeface="+mn-ea"/>
              </a:rPr>
              <a:t>、指令指针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+mn-ea"/>
              </a:rPr>
              <a:t>EIP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+mn-lt"/>
                <a:sym typeface="+mn-ea"/>
              </a:rPr>
              <a:t>理解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sym typeface="+mn-ea"/>
              </a:rPr>
              <a:t>IA-32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sym typeface="+mn-ea"/>
              </a:rPr>
              <a:t>的存储器模型和工作方式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sym typeface="+mn-ea"/>
              </a:rPr>
              <a:t>工作方式         存储模型        </a:t>
            </a:r>
            <a:r>
              <a:rPr lang="zh-CN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sym typeface="+mn-ea"/>
              </a:rPr>
              <a:t>地址转换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sym typeface="+mn-ea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sym typeface="+mn-ea"/>
              </a:rPr>
              <a:t>逻辑、线性地址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sym typeface="+mn-ea"/>
              </a:rPr>
              <a:t>)</a:t>
            </a:r>
            <a:endParaRPr lang="en-US" altLang="zh-CN" sz="2400" dirty="0">
              <a:solidFill>
                <a:schemeClr val="tx1"/>
              </a:solidFill>
              <a:latin typeface="+mn-lt"/>
              <a:sym typeface="+mn-ea"/>
            </a:endParaRPr>
          </a:p>
          <a:p>
            <a:pPr lvl="1" indent="-457200" algn="just">
              <a:lnSpc>
                <a:spcPct val="130000"/>
              </a:lnSpc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rgbClr val="0000FF"/>
                </a:solidFill>
                <a:latin typeface="+mn-lt"/>
                <a:sym typeface="+mn-ea"/>
              </a:rPr>
              <a:t>掌握汇编语言程序的开发方法-VS201X</a:t>
            </a:r>
            <a:endParaRPr lang="en-US" altLang="zh-CN" sz="2400" dirty="0">
              <a:solidFill>
                <a:srgbClr val="0000FF"/>
              </a:solidFill>
              <a:latin typeface="+mn-lt"/>
              <a:sym typeface="+mn-ea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solidFill>
                <a:srgbClr val="0000FF"/>
              </a:solidFill>
              <a:latin typeface="+mn-lt"/>
              <a:sym typeface="+mn-ea"/>
            </a:endParaRPr>
          </a:p>
        </p:txBody>
      </p:sp>
      <p:sp>
        <p:nvSpPr>
          <p:cNvPr id="16" name="Line 8"/>
          <p:cNvSpPr>
            <a:spLocks noChangeShapeType="1"/>
          </p:cNvSpPr>
          <p:nvPr/>
        </p:nvSpPr>
        <p:spPr bwMode="auto">
          <a:xfrm>
            <a:off x="2411502" y="1516136"/>
            <a:ext cx="57795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5836692" y="1495181"/>
            <a:ext cx="57795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" name="Line 8"/>
          <p:cNvSpPr>
            <a:spLocks noChangeShapeType="1"/>
          </p:cNvSpPr>
          <p:nvPr/>
        </p:nvSpPr>
        <p:spPr bwMode="auto">
          <a:xfrm>
            <a:off x="2627402" y="5527431"/>
            <a:ext cx="57795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4" name="Line 8"/>
          <p:cNvSpPr>
            <a:spLocks noChangeShapeType="1"/>
          </p:cNvSpPr>
          <p:nvPr/>
        </p:nvSpPr>
        <p:spPr bwMode="auto">
          <a:xfrm>
            <a:off x="4499382" y="5517271"/>
            <a:ext cx="57795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/>
          <p:nvPr/>
        </p:nvSpPr>
        <p:spPr>
          <a:xfrm>
            <a:off x="539552" y="692696"/>
            <a:ext cx="8496944" cy="5618167"/>
          </a:xfrm>
          <a:prstGeom prst="rect">
            <a:avLst/>
          </a:prstGeom>
        </p:spPr>
        <p:txBody>
          <a:bodyPr/>
          <a:lstStyle/>
          <a:p>
            <a:pPr algn="just" eaLnBrk="1" latinLnBrk="0" hangingPunct="1">
              <a:lnSpc>
                <a:spcPct val="150000"/>
              </a:lnSpc>
              <a:spcBef>
                <a:spcPts val="300"/>
              </a:spcBef>
              <a:buSzPct val="100000"/>
            </a:pP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</a:rPr>
              <a:t>2.1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</a:rPr>
              <a:t>数据表示</a:t>
            </a:r>
            <a:endParaRPr lang="en-US" altLang="zh-CN" sz="2800" dirty="0">
              <a:solidFill>
                <a:srgbClr val="000000"/>
              </a:solidFill>
              <a:latin typeface="黑体" panose="02010609060101010101" pitchFamily="49" charset="-122"/>
            </a:endParaRPr>
          </a:p>
          <a:p>
            <a:pPr marL="720090" lvl="1" indent="-457200" algn="just" latinLnBrk="0">
              <a:lnSpc>
                <a:spcPct val="15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数制、数值的编码、字符的编码</a:t>
            </a:r>
            <a:endParaRPr lang="en-US" altLang="zh-CN" sz="2800" dirty="0">
              <a:solidFill>
                <a:srgbClr val="000000"/>
              </a:solidFill>
              <a:latin typeface="黑体" panose="02010609060101010101" pitchFamily="49" charset="-122"/>
            </a:endParaRPr>
          </a:p>
          <a:p>
            <a:pPr algn="just" eaLnBrk="1" latinLnBrk="0" hangingPunct="1">
              <a:lnSpc>
                <a:spcPct val="150000"/>
              </a:lnSpc>
              <a:spcBef>
                <a:spcPts val="300"/>
              </a:spcBef>
              <a:buSzPct val="100000"/>
            </a:pPr>
            <a:r>
              <a:rPr lang="en-US" altLang="zh-CN" sz="2800" dirty="0">
                <a:solidFill>
                  <a:schemeClr val="tx1"/>
                </a:solidFill>
                <a:latin typeface="黑体" panose="02010609060101010101" pitchFamily="49" charset="-122"/>
              </a:rPr>
              <a:t>2.2 </a:t>
            </a:r>
            <a:r>
              <a:rPr lang="zh-CN" altLang="en-US" sz="2800" dirty="0">
                <a:latin typeface="黑体" panose="02010609060101010101" pitchFamily="49" charset="-122"/>
                <a:sym typeface="+mn-ea"/>
              </a:rPr>
              <a:t>常量表达</a:t>
            </a:r>
            <a:endParaRPr lang="en-US" altLang="zh-CN" sz="2800" dirty="0">
              <a:latin typeface="黑体" panose="02010609060101010101" pitchFamily="49" charset="-122"/>
            </a:endParaRPr>
          </a:p>
          <a:p>
            <a:pPr marL="720090" lvl="1" indent="-457200" algn="just" latinLnBrk="0">
              <a:lnSpc>
                <a:spcPct val="15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sym typeface="+mn-ea"/>
              </a:rPr>
              <a:t>常数、字符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sym typeface="+mn-ea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sym typeface="+mn-ea"/>
              </a:rPr>
              <a:t>字符串常量、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sym typeface="+mn-ea"/>
              </a:rPr>
              <a:t>符号常量的定义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sym typeface="+mn-ea"/>
              </a:rPr>
              <a:t>、常量表达式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algn="just" eaLnBrk="1" latinLnBrk="0" hangingPunct="1">
              <a:lnSpc>
                <a:spcPct val="150000"/>
              </a:lnSpc>
              <a:spcBef>
                <a:spcPts val="300"/>
              </a:spcBef>
              <a:buSzPct val="100000"/>
            </a:pPr>
            <a:r>
              <a:rPr lang="en-US" altLang="zh-CN" sz="2800" dirty="0">
                <a:latin typeface="黑体" panose="02010609060101010101" pitchFamily="49" charset="-122"/>
                <a:sym typeface="+mn-ea"/>
              </a:rPr>
              <a:t>2.3 </a:t>
            </a:r>
            <a:r>
              <a:rPr lang="zh-CN" altLang="en-US" sz="2800" dirty="0">
                <a:latin typeface="黑体" panose="02010609060101010101" pitchFamily="49" charset="-122"/>
                <a:sym typeface="+mn-ea"/>
              </a:rPr>
              <a:t>变量应用</a:t>
            </a:r>
            <a:endParaRPr lang="en-US" altLang="zh-CN" sz="2800" dirty="0">
              <a:latin typeface="黑体" panose="02010609060101010101" pitchFamily="49" charset="-122"/>
            </a:endParaRPr>
          </a:p>
          <a:p>
            <a:pPr marL="720090" lvl="1" indent="-457200" algn="just" latinLnBrk="0">
              <a:lnSpc>
                <a:spcPct val="15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  <a:sym typeface="+mn-ea"/>
              </a:rPr>
              <a:t>变量的定义、变量的属性及操作符</a:t>
            </a:r>
            <a:endParaRPr lang="zh-CN" altLang="en-US" sz="2800" dirty="0">
              <a:solidFill>
                <a:srgbClr val="00B050"/>
              </a:solidFill>
              <a:latin typeface="黑体" panose="02010609060101010101" pitchFamily="49" charset="-122"/>
            </a:endParaRPr>
          </a:p>
          <a:p>
            <a:pPr algn="just" eaLnBrk="1" latinLnBrk="0" hangingPunct="1">
              <a:lnSpc>
                <a:spcPct val="150000"/>
              </a:lnSpc>
              <a:spcBef>
                <a:spcPts val="300"/>
              </a:spcBef>
              <a:buSzPct val="100000"/>
            </a:pP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</a:rPr>
              <a:t>2.4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</a:rPr>
              <a:t>数据寻址方式</a:t>
            </a:r>
            <a:endParaRPr lang="en-US" altLang="zh-CN" sz="2800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 marL="720090" lvl="1" indent="-457200" algn="just" latinLnBrk="0">
              <a:lnSpc>
                <a:spcPct val="15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立即数、寄存器、存储器寻址方式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0" y="-27384"/>
            <a:ext cx="9144000" cy="64993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章节内容安排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42844" y="702525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23" descr="C:\Documents and Settings\Administrator\Local Settings\Temporary Internet Files\Content.IE5\0NG03LCU\MC900441523[1].wmf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42124" y="4575446"/>
            <a:ext cx="18732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6659190" y="3574534"/>
            <a:ext cx="1729234" cy="720725"/>
          </a:xfrm>
          <a:prstGeom prst="cloudCallout">
            <a:avLst>
              <a:gd name="adj1" fmla="val -43769"/>
              <a:gd name="adj2" fmla="val 75991"/>
            </a:avLst>
          </a:prstGeom>
          <a:solidFill>
            <a:schemeClr val="bg1">
              <a:lumMod val="90000"/>
            </a:schemeClr>
          </a:solidFill>
          <a:ln w="9525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3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重点？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95536" y="732742"/>
            <a:ext cx="8676456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数据（</a:t>
            </a:r>
            <a:r>
              <a:rPr lang="en-US" altLang="zh-CN" sz="2800" dirty="0">
                <a:latin typeface="+mn-lt"/>
              </a:rPr>
              <a:t>Data</a:t>
            </a:r>
            <a:r>
              <a:rPr lang="zh-CN" altLang="en-US" sz="2800" dirty="0">
                <a:latin typeface="+mn-lt"/>
              </a:rPr>
              <a:t>）：计算机处理的对象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对应指令操作的对象：操作数（</a:t>
            </a:r>
            <a:r>
              <a:rPr lang="en-US" altLang="zh-CN" sz="2400" dirty="0" err="1">
                <a:solidFill>
                  <a:schemeClr val="tx1"/>
                </a:solidFill>
                <a:latin typeface="+mn-lt"/>
              </a:rPr>
              <a:t>Oprand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计算机中的数据用二进制的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组合表示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3000" dirty="0">
                <a:latin typeface="+mn-lt"/>
              </a:rPr>
              <a:t>IA-32</a:t>
            </a:r>
            <a:r>
              <a:rPr lang="zh-CN" altLang="en-US" sz="3000" dirty="0">
                <a:latin typeface="+mn-lt"/>
              </a:rPr>
              <a:t>整数指令支持的基本数据类型</a:t>
            </a:r>
            <a:endParaRPr lang="zh-CN" altLang="en-US" sz="30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64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位的无符号和有符号整数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字符、字符串和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+mn-lt"/>
              </a:rPr>
              <a:t>数制</a:t>
            </a:r>
            <a:endParaRPr lang="zh-CN" altLang="en-US" sz="30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习惯使用</a:t>
            </a:r>
            <a:r>
              <a:rPr lang="zh-CN" altLang="en-US" sz="2600" dirty="0">
                <a:solidFill>
                  <a:srgbClr val="00B050"/>
                </a:solidFill>
                <a:latin typeface="+mn-lt"/>
              </a:rPr>
              <a:t>十进制</a:t>
            </a:r>
            <a:r>
              <a:rPr lang="en-US" altLang="zh-CN" sz="2600" dirty="0">
                <a:solidFill>
                  <a:srgbClr val="00B050"/>
                </a:solidFill>
                <a:latin typeface="+mn-lt"/>
              </a:rPr>
              <a:t>(Decimal)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计数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计算机使用</a:t>
            </a:r>
            <a:r>
              <a:rPr lang="zh-CN" altLang="en-US" sz="2600" dirty="0">
                <a:solidFill>
                  <a:srgbClr val="00B050"/>
                </a:solidFill>
                <a:latin typeface="+mn-lt"/>
              </a:rPr>
              <a:t>二进制</a:t>
            </a:r>
            <a:r>
              <a:rPr lang="en-US" altLang="zh-CN" sz="2600" dirty="0">
                <a:solidFill>
                  <a:srgbClr val="00B050"/>
                </a:solidFill>
                <a:latin typeface="+mn-lt"/>
              </a:rPr>
              <a:t>(Binary)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进行数据处理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为便于表达二进制数，常用到</a:t>
            </a:r>
            <a:r>
              <a:rPr lang="zh-CN" altLang="en-US" sz="2600" dirty="0">
                <a:solidFill>
                  <a:srgbClr val="00B050"/>
                </a:solidFill>
                <a:latin typeface="+mn-lt"/>
              </a:rPr>
              <a:t>十六进制</a:t>
            </a:r>
            <a:r>
              <a:rPr lang="en-US" altLang="zh-CN" sz="2600" dirty="0">
                <a:solidFill>
                  <a:srgbClr val="00B050"/>
                </a:solidFill>
                <a:latin typeface="+mn-lt"/>
              </a:rPr>
              <a:t>(Hexadecimal)</a:t>
            </a:r>
            <a:endParaRPr lang="zh-CN" altLang="en-US" sz="26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数据表示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5517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1022932" y="6054837"/>
            <a:ext cx="7632848" cy="576423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二进制数用后缀字母</a:t>
            </a:r>
            <a:r>
              <a:rPr lang="en-US" altLang="zh-CN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B</a:t>
            </a:r>
            <a:r>
              <a:rPr lang="zh-CN" altLang="en-US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，十六进制数用后缀字母</a:t>
            </a:r>
            <a:r>
              <a:rPr lang="en-US" altLang="zh-CN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H</a:t>
            </a:r>
            <a:endParaRPr lang="en-US" altLang="zh-CN" sz="26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80484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为便于存储及物理实现，采用二进制表达数据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进入计算机的任何信息都要转换成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数码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数码：由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两个数码组成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特点：逢二进一，基数为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，各个位权以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  <a:latin typeface="+mn-lt"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表示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zh-CN" altLang="en-US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0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0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二进制数的算术运算：逢</a:t>
            </a:r>
            <a:r>
              <a:rPr lang="en-US" altLang="zh-CN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进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、借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当</a:t>
            </a:r>
            <a:r>
              <a:rPr lang="en-US" altLang="zh-CN" sz="2800" dirty="0">
                <a:latin typeface="+mn-lt"/>
              </a:rPr>
              <a:t>2</a:t>
            </a:r>
            <a:endParaRPr lang="en-US" altLang="zh-CN" sz="28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1.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二进制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Binary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79054" y="3212976"/>
            <a:ext cx="7597402" cy="2016224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n-1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…a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0</a:t>
            </a:r>
            <a:r>
              <a:rPr lang="en-US" altLang="zh-CN" sz="2200" b="1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.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…b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zh-CN" altLang="en-US" sz="2200" b="1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＝</a:t>
            </a:r>
            <a:endParaRPr lang="zh-CN" altLang="en-US" sz="2200" b="1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	</a:t>
            </a:r>
            <a:r>
              <a:rPr lang="en-US" altLang="zh-CN" sz="2200" b="1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	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×2</a:t>
            </a:r>
            <a:r>
              <a:rPr lang="en-US" altLang="zh-CN" sz="2200" b="1" baseline="30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n-1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×2</a:t>
            </a:r>
            <a:r>
              <a:rPr lang="en-US" altLang="zh-CN" sz="2200" b="1" baseline="30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n-1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…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×2</a:t>
            </a:r>
            <a:r>
              <a:rPr lang="en-US" altLang="zh-CN" sz="2200" b="1" baseline="30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0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×2</a:t>
            </a:r>
            <a:r>
              <a:rPr lang="en-US" altLang="zh-CN" sz="2200" b="1" baseline="30000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0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  <a:ea typeface="黑体" panose="02010609060101010101" pitchFamily="49" charset="-122"/>
              </a:rPr>
              <a:t> </a:t>
            </a:r>
            <a:endParaRPr lang="en-US" altLang="zh-CN" sz="2200" b="1" dirty="0">
              <a:solidFill>
                <a:srgbClr val="FF0000"/>
              </a:solidFill>
              <a:latin typeface="+mn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		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1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×2</a:t>
            </a:r>
            <a:r>
              <a:rPr lang="en-US" altLang="zh-CN" sz="2200" b="1" baseline="30000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-1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2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×2</a:t>
            </a:r>
            <a:r>
              <a:rPr lang="en-US" altLang="zh-CN" sz="2200" b="1" baseline="30000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-2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…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×</a:t>
            </a:r>
            <a:r>
              <a:rPr lang="en-US" altLang="zh-CN" sz="2200" b="1" baseline="30000" dirty="0">
                <a:solidFill>
                  <a:srgbClr val="00B050"/>
                </a:solidFill>
                <a:latin typeface="+mn-lt"/>
                <a:ea typeface="黑体" panose="02010609060101010101" pitchFamily="49" charset="-122"/>
              </a:rPr>
              <a:t>2-m</a:t>
            </a:r>
            <a:endParaRPr lang="en-US" altLang="zh-CN" sz="2200" b="1" baseline="30000" dirty="0">
              <a:solidFill>
                <a:srgbClr val="00B050"/>
              </a:solidFill>
              <a:latin typeface="+mn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其中</a:t>
            </a:r>
            <a:r>
              <a:rPr lang="en-US" altLang="zh-CN" sz="2200" b="1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i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en-US" altLang="zh-CN" sz="2200" b="1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j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非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即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1</a:t>
            </a:r>
            <a:endParaRPr lang="en-US" altLang="zh-CN" sz="2200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二进制数的算术运算</a:t>
            </a:r>
            <a:r>
              <a:rPr kumimoji="1" lang="en-US" altLang="zh-CN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j-lt"/>
                <a:cs typeface="+mj-cs"/>
              </a:rPr>
              <a:t>A</a:t>
            </a:r>
            <a:r>
              <a:rPr lang="en-US" altLang="zh-CN" b="0" i="0" dirty="0" err="1">
                <a:solidFill>
                  <a:schemeClr val="tx1"/>
                </a:solidFill>
                <a:effectLst/>
                <a:latin typeface="+mj-lt"/>
              </a:rPr>
              <a:t>rithmetic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+mj-lt"/>
              </a:rPr>
              <a:t> Operations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内容占位符 2"/>
          <p:cNvSpPr txBox="1"/>
          <p:nvPr/>
        </p:nvSpPr>
        <p:spPr>
          <a:xfrm>
            <a:off x="467544" y="74769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与十进制类似，只不过是逢</a:t>
            </a:r>
            <a:r>
              <a:rPr lang="en-US" altLang="zh-CN" sz="2800" dirty="0">
                <a:latin typeface="+mn-lt"/>
              </a:rPr>
              <a:t>2</a:t>
            </a:r>
            <a:r>
              <a:rPr lang="zh-CN" altLang="en-US" sz="2800" dirty="0">
                <a:latin typeface="+mn-lt"/>
              </a:rPr>
              <a:t>进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、借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当</a:t>
            </a:r>
            <a:r>
              <a:rPr lang="en-US" altLang="zh-CN" sz="2800" dirty="0">
                <a:latin typeface="+mn-lt"/>
              </a:rPr>
              <a:t>2</a:t>
            </a:r>
            <a:endParaRPr lang="zh-CN" altLang="en-US" sz="2800" dirty="0">
              <a:latin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66" y="1375779"/>
            <a:ext cx="4769019" cy="27402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996" y="3748544"/>
            <a:ext cx="3485386" cy="2914771"/>
          </a:xfrm>
          <a:prstGeom prst="rect">
            <a:avLst/>
          </a:prstGeom>
        </p:spPr>
      </p:pic>
      <p:sp>
        <p:nvSpPr>
          <p:cNvPr id="21" name="Rounded Rectangular Callout 2"/>
          <p:cNvSpPr/>
          <p:nvPr/>
        </p:nvSpPr>
        <p:spPr bwMode="auto">
          <a:xfrm>
            <a:off x="5724128" y="2492897"/>
            <a:ext cx="2520280" cy="616560"/>
          </a:xfrm>
          <a:prstGeom prst="wedgeRoundRectCallout">
            <a:avLst>
              <a:gd name="adj1" fmla="val -97443"/>
              <a:gd name="adj2" fmla="val 31982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加法时，逢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进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400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  <p:sp>
        <p:nvSpPr>
          <p:cNvPr id="22" name="Rounded Rectangular Callout 2"/>
          <p:cNvSpPr/>
          <p:nvPr/>
        </p:nvSpPr>
        <p:spPr bwMode="auto">
          <a:xfrm>
            <a:off x="1614965" y="5051126"/>
            <a:ext cx="2520280" cy="616560"/>
          </a:xfrm>
          <a:prstGeom prst="wedgeRoundRectCallout">
            <a:avLst>
              <a:gd name="adj1" fmla="val 99265"/>
              <a:gd name="adj2" fmla="val 24835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减法时，借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2400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804848"/>
            <a:ext cx="8208912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事件的假和真可用数码</a:t>
            </a:r>
            <a:r>
              <a:rPr lang="en-US" altLang="zh-CN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表示</a:t>
            </a:r>
            <a:endParaRPr lang="zh-CN" altLang="en-US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数字电路的低高电平用数码</a:t>
            </a:r>
            <a:r>
              <a:rPr lang="en-US" altLang="zh-CN" sz="2800" dirty="0">
                <a:latin typeface="+mn-lt"/>
              </a:rPr>
              <a:t>0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表示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数字信号之间的逻辑关系可以利用二进制描述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数码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并不代表数值而只是代表两种状态，因此它们的运算不是普通代数而是逻辑运算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基本的逻辑运算有与、或、非、异或</a:t>
            </a:r>
            <a:endParaRPr lang="zh-CN" altLang="en-US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0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逻辑运算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Logical Operations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34083" y="4149080"/>
            <a:ext cx="7480423" cy="2260353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位二进制数的逻辑运算：</a:t>
            </a:r>
            <a:endParaRPr lang="en-US" altLang="zh-CN" sz="2200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逻辑与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AND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：	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1101 </a:t>
            </a:r>
            <a:r>
              <a:rPr lang="en-US" altLang="zh-CN" sz="2200" dirty="0"/>
              <a:t> </a:t>
            </a:r>
            <a:r>
              <a:rPr lang="en-US" altLang="zh-CN" sz="2200" b="1" dirty="0">
                <a:solidFill>
                  <a:srgbClr val="FF0000"/>
                </a:solidFill>
                <a:sym typeface="Symbol" panose="05050102010706020507" pitchFamily="18" charset="2"/>
              </a:rPr>
              <a:t>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 0011 = 0001</a:t>
            </a:r>
            <a:endParaRPr lang="en-US" altLang="zh-CN" sz="2200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逻辑或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OR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	 	1101 </a:t>
            </a:r>
            <a:r>
              <a:rPr lang="en-US" altLang="zh-CN" sz="2200" b="1" dirty="0">
                <a:solidFill>
                  <a:srgbClr val="FF0000"/>
                </a:solidFill>
                <a:sym typeface="Symbol" panose="05050102010706020507" pitchFamily="18" charset="2"/>
              </a:rPr>
              <a:t>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 0011 = 1111</a:t>
            </a:r>
            <a:endParaRPr lang="en-US" altLang="zh-CN" sz="2200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逻辑非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NOT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：	</a:t>
            </a:r>
            <a:r>
              <a:rPr lang="zh-CN" altLang="en-US" sz="2200" b="1" dirty="0">
                <a:solidFill>
                  <a:srgbClr val="FF0000"/>
                </a:solidFill>
                <a:sym typeface="Symbol" panose="05050102010706020507" pitchFamily="18" charset="2"/>
              </a:rPr>
              <a:t>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1101 = 0010</a:t>
            </a:r>
            <a:endParaRPr lang="en-US" altLang="zh-CN" sz="2200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逻辑异或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XOR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：	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1101 </a:t>
            </a:r>
            <a:r>
              <a:rPr lang="en-US" altLang="zh-CN" sz="2200" b="1" dirty="0">
                <a:solidFill>
                  <a:srgbClr val="FF0000"/>
                </a:solidFill>
                <a:sym typeface="Symbol" panose="05050102010706020507" pitchFamily="18" charset="2"/>
              </a:rPr>
              <a:t>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 0011 = 1110 </a:t>
            </a:r>
            <a:endParaRPr lang="zh-CN" altLang="en-US" sz="2200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80484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二进制数书写较长，用十六进制表达二进制数，相互转换简单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特点：基数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，逢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进位，各个位权为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en-US" altLang="zh-CN" sz="2400" baseline="30000" dirty="0">
                <a:solidFill>
                  <a:schemeClr val="tx1"/>
                </a:solidFill>
                <a:latin typeface="+mn-lt"/>
              </a:rPr>
              <a:t>k</a:t>
            </a:r>
            <a:endParaRPr lang="en-US" altLang="zh-CN" sz="2400" baseline="300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个数码：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0~9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A~F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十六进制数：</a:t>
            </a:r>
            <a:endParaRPr lang="zh-CN" altLang="en-US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0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十六进制数的算术运算：逢</a:t>
            </a:r>
            <a:r>
              <a:rPr lang="en-US" altLang="zh-CN" sz="2800" dirty="0">
                <a:latin typeface="+mn-lt"/>
              </a:rPr>
              <a:t>16</a:t>
            </a:r>
            <a:r>
              <a:rPr lang="zh-CN" altLang="en-US" sz="2800" dirty="0">
                <a:latin typeface="+mn-lt"/>
              </a:rPr>
              <a:t>进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，借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当</a:t>
            </a:r>
            <a:r>
              <a:rPr lang="en-US" altLang="zh-CN" sz="2800" dirty="0">
                <a:latin typeface="+mn-lt"/>
              </a:rPr>
              <a:t>16</a:t>
            </a:r>
            <a:endParaRPr lang="en-US" altLang="zh-CN" sz="28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3.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十六进制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Hexadecimal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35621" y="3664074"/>
            <a:ext cx="7597402" cy="1997174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n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n-1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…a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0</a:t>
            </a:r>
            <a:r>
              <a:rPr lang="en-US" altLang="zh-CN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.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…b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m</a:t>
            </a:r>
            <a:r>
              <a:rPr lang="zh-CN" altLang="en-US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endParaRPr lang="zh-CN" altLang="en-US" sz="2200" b="1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n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×16</a:t>
            </a:r>
            <a:r>
              <a:rPr lang="en-US" altLang="zh-CN" sz="2200" b="1" baseline="30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n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n-1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×16</a:t>
            </a:r>
            <a:r>
              <a:rPr lang="en-US" altLang="zh-CN" sz="2200" b="1" baseline="30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n-1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…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×16</a:t>
            </a:r>
            <a:r>
              <a:rPr lang="en-US" altLang="zh-CN" sz="2200" b="1" baseline="30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＋ 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0</a:t>
            </a: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×16</a:t>
            </a:r>
            <a:r>
              <a:rPr lang="en-US" altLang="zh-CN" sz="2200" b="1" baseline="300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0</a:t>
            </a:r>
            <a:endParaRPr lang="en-US" altLang="zh-CN" sz="2200" b="1" baseline="30000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×16</a:t>
            </a:r>
            <a:r>
              <a:rPr lang="en-US" altLang="zh-CN" sz="2200" b="1" baseline="300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-1</a:t>
            </a: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×16</a:t>
            </a:r>
            <a:r>
              <a:rPr lang="en-US" altLang="zh-CN" sz="2200" b="1" baseline="300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-2</a:t>
            </a: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…</a:t>
            </a: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m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×16</a:t>
            </a:r>
            <a:r>
              <a:rPr lang="en-US" altLang="zh-CN" sz="2200" b="1" baseline="300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-m</a:t>
            </a:r>
            <a:endParaRPr lang="en-US" altLang="zh-CN" sz="2200" b="1" baseline="30000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其中</a:t>
            </a:r>
            <a:r>
              <a:rPr lang="en-US" altLang="zh-CN" sz="2200" b="1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a</a:t>
            </a:r>
            <a:r>
              <a:rPr lang="en-US" altLang="zh-CN" sz="2200" b="1" baseline="-250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i</a:t>
            </a:r>
            <a:r>
              <a:rPr lang="zh-CN" altLang="en-US" sz="2200" b="1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，</a:t>
            </a:r>
            <a:r>
              <a:rPr lang="en-US" altLang="zh-CN" sz="2200" b="1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b</a:t>
            </a:r>
            <a:r>
              <a:rPr lang="en-US" altLang="zh-CN" sz="2200" b="1" baseline="-25000" dirty="0" err="1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j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是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F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中的一个数码</a:t>
            </a:r>
            <a:endParaRPr lang="zh-CN" altLang="en-US" sz="2200" dirty="0">
              <a:solidFill>
                <a:schemeClr val="tx1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十六进制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数的加法运算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Add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989062" y="1484784"/>
            <a:ext cx="2916238" cy="183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  </a:t>
            </a:r>
            <a:r>
              <a:rPr lang="en-US" altLang="zh-CN" dirty="0">
                <a:latin typeface="+mj-lt"/>
              </a:rPr>
              <a:t>2  3  D  9</a:t>
            </a:r>
            <a:endParaRPr lang="en-US" altLang="zh-CN" dirty="0">
              <a:latin typeface="+mj-lt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+mj-lt"/>
              </a:rPr>
              <a:t>+ 9  4  B  E</a:t>
            </a:r>
            <a:endParaRPr lang="en-US" altLang="zh-CN" dirty="0">
              <a:latin typeface="+mj-lt"/>
            </a:endParaRPr>
          </a:p>
          <a:p>
            <a:pPr algn="l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+mj-lt"/>
              </a:rPr>
              <a:t>   B  8  9  7</a:t>
            </a:r>
            <a:endParaRPr lang="en-US" altLang="zh-CN" dirty="0">
              <a:latin typeface="+mj-lt"/>
            </a:endParaRPr>
          </a:p>
        </p:txBody>
      </p:sp>
      <p:sp>
        <p:nvSpPr>
          <p:cNvPr id="22" name="Line 9"/>
          <p:cNvSpPr>
            <a:spLocks noChangeShapeType="1"/>
          </p:cNvSpPr>
          <p:nvPr/>
        </p:nvSpPr>
        <p:spPr bwMode="auto">
          <a:xfrm>
            <a:off x="971600" y="2708920"/>
            <a:ext cx="25923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3832796" y="2894137"/>
            <a:ext cx="3187477" cy="43815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+mj-lt"/>
              </a:rPr>
              <a:t>9+14=23=16</a:t>
            </a:r>
            <a:r>
              <a:rPr lang="en-US" altLang="zh-CN" sz="2400" dirty="0">
                <a:solidFill>
                  <a:srgbClr val="00B050"/>
                </a:solidFill>
                <a:latin typeface="+mj-lt"/>
              </a:rPr>
              <a:t>(carry)</a:t>
            </a:r>
            <a:r>
              <a:rPr lang="en-US" altLang="zh-CN" sz="2400" dirty="0">
                <a:latin typeface="+mj-lt"/>
              </a:rPr>
              <a:t>+7</a:t>
            </a:r>
            <a:endParaRPr lang="en-US" altLang="zh-CN" sz="2400" dirty="0">
              <a:latin typeface="+mj-lt"/>
            </a:endParaRPr>
          </a:p>
        </p:txBody>
      </p:sp>
      <p:sp>
        <p:nvSpPr>
          <p:cNvPr id="24" name="Line 11"/>
          <p:cNvSpPr>
            <a:spLocks noChangeShapeType="1"/>
          </p:cNvSpPr>
          <p:nvPr/>
        </p:nvSpPr>
        <p:spPr bwMode="auto">
          <a:xfrm flipH="1">
            <a:off x="3034432" y="3121918"/>
            <a:ext cx="788913" cy="0"/>
          </a:xfrm>
          <a:prstGeom prst="line">
            <a:avLst/>
          </a:prstGeom>
          <a:noFill/>
          <a:ln w="19050">
            <a:solidFill>
              <a:srgbClr val="00B05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3851847" y="3726805"/>
            <a:ext cx="4536577" cy="43180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+mj-lt"/>
              </a:rPr>
              <a:t>13+11+1</a:t>
            </a:r>
            <a:r>
              <a:rPr lang="en-US" altLang="zh-CN" sz="2400" dirty="0">
                <a:solidFill>
                  <a:srgbClr val="00B050"/>
                </a:solidFill>
                <a:latin typeface="+mj-lt"/>
              </a:rPr>
              <a:t>(carry)</a:t>
            </a:r>
            <a:r>
              <a:rPr lang="en-US" altLang="zh-CN" sz="2400" dirty="0">
                <a:latin typeface="+mj-lt"/>
              </a:rPr>
              <a:t>=25=16</a:t>
            </a:r>
            <a:r>
              <a:rPr lang="en-US" altLang="zh-CN" sz="2400" dirty="0">
                <a:solidFill>
                  <a:srgbClr val="00B050"/>
                </a:solidFill>
                <a:latin typeface="+mj-lt"/>
              </a:rPr>
              <a:t>(carry)</a:t>
            </a:r>
            <a:r>
              <a:rPr lang="en-US" altLang="zh-CN" sz="2400" dirty="0">
                <a:latin typeface="+mj-lt"/>
              </a:rPr>
              <a:t>+9</a:t>
            </a:r>
            <a:endParaRPr lang="en-US" altLang="zh-CN" sz="2400" dirty="0">
              <a:latin typeface="+mj-lt"/>
            </a:endParaRP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3850805" y="4626397"/>
            <a:ext cx="2521396" cy="468312"/>
          </a:xfrm>
          <a:prstGeom prst="rect">
            <a:avLst/>
          </a:prstGeom>
          <a:solidFill>
            <a:schemeClr val="bg1"/>
          </a:solidFill>
          <a:ln w="1905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+mj-lt"/>
              </a:rPr>
              <a:t>3+4+1</a:t>
            </a:r>
            <a:r>
              <a:rPr lang="en-US" altLang="zh-CN" sz="2400" dirty="0">
                <a:solidFill>
                  <a:srgbClr val="00B050"/>
                </a:solidFill>
                <a:latin typeface="+mj-lt"/>
              </a:rPr>
              <a:t>(carry)</a:t>
            </a:r>
            <a:r>
              <a:rPr lang="en-US" altLang="zh-CN" sz="2400" dirty="0">
                <a:latin typeface="+mj-lt"/>
              </a:rPr>
              <a:t>=8</a:t>
            </a:r>
            <a:endParaRPr lang="en-US" altLang="zh-CN" sz="2400" dirty="0">
              <a:latin typeface="+mj-lt"/>
            </a:endParaRP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3851921" y="5490493"/>
            <a:ext cx="2520280" cy="468312"/>
          </a:xfrm>
          <a:prstGeom prst="rect">
            <a:avLst/>
          </a:prstGeom>
          <a:solidFill>
            <a:schemeClr val="bg1"/>
          </a:solidFill>
          <a:ln w="1905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+mj-lt"/>
              </a:rPr>
              <a:t>2+9=11=B</a:t>
            </a:r>
            <a:endParaRPr lang="en-US" altLang="zh-CN" sz="2400" dirty="0">
              <a:latin typeface="+mj-lt"/>
            </a:endParaRPr>
          </a:p>
        </p:txBody>
      </p:sp>
      <p:sp>
        <p:nvSpPr>
          <p:cNvPr id="28" name="Freeform 15"/>
          <p:cNvSpPr/>
          <p:nvPr/>
        </p:nvSpPr>
        <p:spPr bwMode="auto">
          <a:xfrm>
            <a:off x="2349277" y="3369517"/>
            <a:ext cx="1502644" cy="578994"/>
          </a:xfrm>
          <a:custGeom>
            <a:avLst/>
            <a:gdLst>
              <a:gd name="T0" fmla="*/ 216 w 1225"/>
              <a:gd name="T1" fmla="*/ 431 h 431"/>
              <a:gd name="T2" fmla="*/ 0 w 1225"/>
              <a:gd name="T3" fmla="*/ 431 h 431"/>
              <a:gd name="T4" fmla="*/ 0 w 1225"/>
              <a:gd name="T5" fmla="*/ 0 h 4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25" h="431">
                <a:moveTo>
                  <a:pt x="1225" y="431"/>
                </a:moveTo>
                <a:lnTo>
                  <a:pt x="0" y="431"/>
                </a:lnTo>
                <a:lnTo>
                  <a:pt x="0" y="0"/>
                </a:lnTo>
              </a:path>
            </a:pathLst>
          </a:custGeom>
          <a:noFill/>
          <a:ln w="19050" cmpd="sng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6"/>
          <p:cNvSpPr/>
          <p:nvPr/>
        </p:nvSpPr>
        <p:spPr bwMode="auto">
          <a:xfrm>
            <a:off x="1968756" y="3369518"/>
            <a:ext cx="1864039" cy="1486810"/>
          </a:xfrm>
          <a:custGeom>
            <a:avLst/>
            <a:gdLst>
              <a:gd name="T0" fmla="*/ 2547 w 1225"/>
              <a:gd name="T1" fmla="*/ 11948 h 431"/>
              <a:gd name="T2" fmla="*/ 0 w 1225"/>
              <a:gd name="T3" fmla="*/ 11948 h 431"/>
              <a:gd name="T4" fmla="*/ 0 w 1225"/>
              <a:gd name="T5" fmla="*/ 0 h 4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25" h="431">
                <a:moveTo>
                  <a:pt x="1225" y="431"/>
                </a:moveTo>
                <a:lnTo>
                  <a:pt x="0" y="431"/>
                </a:lnTo>
                <a:lnTo>
                  <a:pt x="0" y="0"/>
                </a:lnTo>
              </a:path>
            </a:pathLst>
          </a:custGeom>
          <a:noFill/>
          <a:ln w="19050" cmpd="sng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7"/>
          <p:cNvSpPr/>
          <p:nvPr/>
        </p:nvSpPr>
        <p:spPr bwMode="auto">
          <a:xfrm>
            <a:off x="1512326" y="3350469"/>
            <a:ext cx="2333170" cy="2392312"/>
          </a:xfrm>
          <a:custGeom>
            <a:avLst/>
            <a:gdLst>
              <a:gd name="T0" fmla="*/ 5851 w 1225"/>
              <a:gd name="T1" fmla="*/ 73211 h 431"/>
              <a:gd name="T2" fmla="*/ 0 w 1225"/>
              <a:gd name="T3" fmla="*/ 73211 h 431"/>
              <a:gd name="T4" fmla="*/ 0 w 1225"/>
              <a:gd name="T5" fmla="*/ 0 h 4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25" h="431">
                <a:moveTo>
                  <a:pt x="1225" y="431"/>
                </a:moveTo>
                <a:lnTo>
                  <a:pt x="0" y="431"/>
                </a:lnTo>
                <a:lnTo>
                  <a:pt x="0" y="0"/>
                </a:lnTo>
              </a:path>
            </a:pathLst>
          </a:custGeom>
          <a:noFill/>
          <a:ln w="19050" cmpd="sng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内容占位符 2"/>
          <p:cNvSpPr txBox="1"/>
          <p:nvPr/>
        </p:nvSpPr>
        <p:spPr>
          <a:xfrm>
            <a:off x="467544" y="811172"/>
            <a:ext cx="8280920" cy="5753511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加法运算与十进制类似，只不过是逢</a:t>
            </a:r>
            <a:r>
              <a:rPr lang="en-US" altLang="zh-CN" sz="2800" dirty="0">
                <a:latin typeface="+mn-lt"/>
              </a:rPr>
              <a:t>16</a:t>
            </a:r>
            <a:r>
              <a:rPr lang="zh-CN" altLang="en-US" sz="2800" dirty="0">
                <a:latin typeface="+mn-lt"/>
              </a:rPr>
              <a:t>进</a:t>
            </a:r>
            <a:r>
              <a:rPr lang="en-US" altLang="zh-CN" sz="2800" dirty="0">
                <a:latin typeface="+mn-lt"/>
              </a:rPr>
              <a:t>1</a:t>
            </a:r>
            <a:endParaRPr lang="zh-CN" altLang="en-US" sz="2800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十六进制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数的减法运算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Subtract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3832796" y="2900512"/>
            <a:ext cx="2467397" cy="43815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+mj-lt"/>
              </a:rPr>
              <a:t>15-8=7</a:t>
            </a:r>
            <a:endParaRPr lang="en-US" altLang="zh-CN" sz="2400" dirty="0">
              <a:latin typeface="+mj-lt"/>
            </a:endParaRPr>
          </a:p>
        </p:txBody>
      </p:sp>
      <p:sp>
        <p:nvSpPr>
          <p:cNvPr id="24" name="Line 11"/>
          <p:cNvSpPr>
            <a:spLocks noChangeShapeType="1"/>
          </p:cNvSpPr>
          <p:nvPr/>
        </p:nvSpPr>
        <p:spPr bwMode="auto">
          <a:xfrm flipH="1">
            <a:off x="3043882" y="3121299"/>
            <a:ext cx="788913" cy="0"/>
          </a:xfrm>
          <a:prstGeom prst="line">
            <a:avLst/>
          </a:prstGeom>
          <a:noFill/>
          <a:ln w="19050">
            <a:solidFill>
              <a:srgbClr val="00B05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3851847" y="3733180"/>
            <a:ext cx="3384449" cy="43180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+mj-lt"/>
              </a:rPr>
              <a:t>16</a:t>
            </a:r>
            <a:r>
              <a:rPr lang="en-US" altLang="zh-CN" sz="2400" dirty="0">
                <a:solidFill>
                  <a:srgbClr val="00B050"/>
                </a:solidFill>
                <a:latin typeface="+mj-lt"/>
              </a:rPr>
              <a:t>(borrow)</a:t>
            </a:r>
            <a:r>
              <a:rPr lang="en-US" altLang="zh-CN" sz="2400" dirty="0">
                <a:latin typeface="+mj-lt"/>
              </a:rPr>
              <a:t>+9-11=14=E</a:t>
            </a:r>
            <a:endParaRPr lang="en-US" altLang="zh-CN" sz="2400" dirty="0">
              <a:latin typeface="+mj-lt"/>
            </a:endParaRP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3850805" y="4632772"/>
            <a:ext cx="2449388" cy="468312"/>
          </a:xfrm>
          <a:prstGeom prst="rect">
            <a:avLst/>
          </a:prstGeom>
          <a:solidFill>
            <a:schemeClr val="bg1"/>
          </a:solidFill>
          <a:ln w="1905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+mj-lt"/>
              </a:rPr>
              <a:t>5-2-1</a:t>
            </a:r>
            <a:r>
              <a:rPr lang="en-US" altLang="zh-CN" sz="2400" dirty="0">
                <a:solidFill>
                  <a:srgbClr val="00B050"/>
                </a:solidFill>
                <a:latin typeface="+mj-lt"/>
              </a:rPr>
              <a:t>(borrow)</a:t>
            </a:r>
            <a:r>
              <a:rPr lang="en-US" altLang="zh-CN" sz="2800" dirty="0">
                <a:latin typeface="+mj-lt"/>
              </a:rPr>
              <a:t>=2</a:t>
            </a:r>
            <a:endParaRPr lang="en-US" altLang="zh-CN" sz="2800" dirty="0">
              <a:latin typeface="+mj-lt"/>
            </a:endParaRP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3851921" y="5496868"/>
            <a:ext cx="2448271" cy="468312"/>
          </a:xfrm>
          <a:prstGeom prst="rect">
            <a:avLst/>
          </a:prstGeom>
          <a:solidFill>
            <a:schemeClr val="bg1"/>
          </a:solidFill>
          <a:ln w="19050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+mj-lt"/>
              </a:rPr>
              <a:t>10-6=4</a:t>
            </a:r>
            <a:endParaRPr lang="en-US" altLang="zh-CN" sz="2400" dirty="0">
              <a:latin typeface="+mj-lt"/>
            </a:endParaRPr>
          </a:p>
        </p:txBody>
      </p:sp>
      <p:sp>
        <p:nvSpPr>
          <p:cNvPr id="28" name="Freeform 15"/>
          <p:cNvSpPr/>
          <p:nvPr/>
        </p:nvSpPr>
        <p:spPr bwMode="auto">
          <a:xfrm>
            <a:off x="2339752" y="3375892"/>
            <a:ext cx="1512095" cy="572942"/>
          </a:xfrm>
          <a:custGeom>
            <a:avLst/>
            <a:gdLst>
              <a:gd name="T0" fmla="*/ 216 w 1225"/>
              <a:gd name="T1" fmla="*/ 431 h 431"/>
              <a:gd name="T2" fmla="*/ 0 w 1225"/>
              <a:gd name="T3" fmla="*/ 431 h 431"/>
              <a:gd name="T4" fmla="*/ 0 w 1225"/>
              <a:gd name="T5" fmla="*/ 0 h 4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25" h="431">
                <a:moveTo>
                  <a:pt x="1225" y="431"/>
                </a:moveTo>
                <a:lnTo>
                  <a:pt x="0" y="431"/>
                </a:lnTo>
                <a:lnTo>
                  <a:pt x="0" y="0"/>
                </a:lnTo>
              </a:path>
            </a:pathLst>
          </a:custGeom>
          <a:noFill/>
          <a:ln w="19050" cmpd="sng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6"/>
          <p:cNvSpPr/>
          <p:nvPr/>
        </p:nvSpPr>
        <p:spPr bwMode="auto">
          <a:xfrm>
            <a:off x="1907704" y="3375893"/>
            <a:ext cx="1944218" cy="1486810"/>
          </a:xfrm>
          <a:custGeom>
            <a:avLst/>
            <a:gdLst>
              <a:gd name="T0" fmla="*/ 2547 w 1225"/>
              <a:gd name="T1" fmla="*/ 11948 h 431"/>
              <a:gd name="T2" fmla="*/ 0 w 1225"/>
              <a:gd name="T3" fmla="*/ 11948 h 431"/>
              <a:gd name="T4" fmla="*/ 0 w 1225"/>
              <a:gd name="T5" fmla="*/ 0 h 4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25" h="431">
                <a:moveTo>
                  <a:pt x="1225" y="431"/>
                </a:moveTo>
                <a:lnTo>
                  <a:pt x="0" y="431"/>
                </a:lnTo>
                <a:lnTo>
                  <a:pt x="0" y="0"/>
                </a:lnTo>
              </a:path>
            </a:pathLst>
          </a:custGeom>
          <a:noFill/>
          <a:ln w="19050" cmpd="sng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7"/>
          <p:cNvSpPr/>
          <p:nvPr/>
        </p:nvSpPr>
        <p:spPr bwMode="auto">
          <a:xfrm>
            <a:off x="1512326" y="3356844"/>
            <a:ext cx="2333170" cy="2392312"/>
          </a:xfrm>
          <a:custGeom>
            <a:avLst/>
            <a:gdLst>
              <a:gd name="T0" fmla="*/ 5851 w 1225"/>
              <a:gd name="T1" fmla="*/ 73211 h 431"/>
              <a:gd name="T2" fmla="*/ 0 w 1225"/>
              <a:gd name="T3" fmla="*/ 73211 h 431"/>
              <a:gd name="T4" fmla="*/ 0 w 1225"/>
              <a:gd name="T5" fmla="*/ 0 h 43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25" h="431">
                <a:moveTo>
                  <a:pt x="1225" y="431"/>
                </a:moveTo>
                <a:lnTo>
                  <a:pt x="0" y="431"/>
                </a:lnTo>
                <a:lnTo>
                  <a:pt x="0" y="0"/>
                </a:lnTo>
              </a:path>
            </a:pathLst>
          </a:custGeom>
          <a:noFill/>
          <a:ln w="19050" cmpd="sng">
            <a:solidFill>
              <a:srgbClr val="00B05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内容占位符 2"/>
          <p:cNvSpPr txBox="1"/>
          <p:nvPr/>
        </p:nvSpPr>
        <p:spPr>
          <a:xfrm>
            <a:off x="467544" y="811172"/>
            <a:ext cx="8280920" cy="5753511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减法运算与十进制类似，只不过是借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当</a:t>
            </a:r>
            <a:r>
              <a:rPr lang="en-US" altLang="zh-CN" sz="2800" dirty="0">
                <a:latin typeface="+mn-lt"/>
              </a:rPr>
              <a:t>16</a:t>
            </a:r>
            <a:endParaRPr lang="zh-CN" altLang="en-US" sz="2800" dirty="0">
              <a:latin typeface="+mn-lt"/>
            </a:endParaRPr>
          </a:p>
        </p:txBody>
      </p:sp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988640" y="1484784"/>
            <a:ext cx="2916238" cy="183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</a:t>
            </a:r>
            <a:r>
              <a:rPr lang="zh-CN" altLang="en-US" sz="1800" dirty="0"/>
              <a:t> </a:t>
            </a:r>
            <a:r>
              <a:rPr lang="en-US" altLang="zh-CN" dirty="0">
                <a:latin typeface="+mj-lt"/>
              </a:rPr>
              <a:t>A  5  9  F</a:t>
            </a:r>
            <a:endParaRPr lang="en-US" altLang="zh-CN" dirty="0">
              <a:latin typeface="+mj-lt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+mj-lt"/>
              </a:rPr>
              <a:t>-  6  2  B  8</a:t>
            </a:r>
            <a:endParaRPr lang="en-US" altLang="zh-CN" dirty="0">
              <a:latin typeface="+mj-lt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latin typeface="+mj-lt"/>
              </a:rPr>
              <a:t>   4  2  E  7</a:t>
            </a:r>
            <a:endParaRPr lang="en-US" altLang="zh-CN" dirty="0">
              <a:latin typeface="+mj-lt"/>
            </a:endParaRPr>
          </a:p>
        </p:txBody>
      </p:sp>
      <p:sp>
        <p:nvSpPr>
          <p:cNvPr id="3" name="Line 9"/>
          <p:cNvSpPr>
            <a:spLocks noChangeShapeType="1"/>
          </p:cNvSpPr>
          <p:nvPr/>
        </p:nvSpPr>
        <p:spPr bwMode="auto">
          <a:xfrm>
            <a:off x="899097" y="2715295"/>
            <a:ext cx="25923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80484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方法：按权展开</a:t>
            </a:r>
            <a:endParaRPr lang="zh-CN" altLang="en-US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二进制数转换为十进制数</a:t>
            </a:r>
            <a:r>
              <a:rPr lang="en-US" altLang="zh-CN" sz="2600" dirty="0">
                <a:latin typeface="+mn-lt"/>
              </a:rPr>
              <a:t>Convert Binary to Decimal</a:t>
            </a:r>
            <a:endParaRPr lang="zh-CN" altLang="en-US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1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十六进制数转换为十进制数</a:t>
            </a:r>
            <a:r>
              <a:rPr lang="en-US" altLang="zh-CN" sz="2600" dirty="0">
                <a:latin typeface="+mn-lt"/>
              </a:rPr>
              <a:t>Convert Hexadecimal to Decimal</a:t>
            </a:r>
            <a:endParaRPr lang="zh-CN" altLang="en-US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zh-CN" altLang="en-US" sz="28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进制、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十六进制数转换为十进制数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43608" y="2060848"/>
            <a:ext cx="7597402" cy="1584176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600"/>
              </a:spcBef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0011.1010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B</a:t>
            </a:r>
            <a:endParaRPr lang="en-US" altLang="zh-CN" sz="2400" b="1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600"/>
              </a:spcBef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1×2</a:t>
            </a:r>
            <a:r>
              <a:rPr lang="en-US" altLang="zh-CN" sz="2400" b="1" baseline="30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1×2</a:t>
            </a:r>
            <a:r>
              <a:rPr lang="en-US" altLang="zh-CN" sz="2400" b="1" baseline="30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1×2</a:t>
            </a:r>
            <a:r>
              <a:rPr lang="en-US" altLang="zh-CN" sz="2400" b="1" baseline="30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-1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0×2</a:t>
            </a:r>
            <a:r>
              <a:rPr lang="en-US" altLang="zh-CN" sz="2400" b="1" baseline="30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-2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1×2</a:t>
            </a:r>
            <a:r>
              <a:rPr lang="en-US" altLang="zh-CN" sz="2400" b="1" baseline="30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-3</a:t>
            </a:r>
            <a:endParaRPr lang="en-US" altLang="zh-CN" sz="2400" b="1" baseline="300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600"/>
              </a:spcBef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3.625</a:t>
            </a:r>
            <a:endParaRPr lang="en-US" altLang="zh-CN" sz="2400" b="1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043608" y="4869160"/>
            <a:ext cx="7597402" cy="1584176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600"/>
              </a:spcBef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1.2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H</a:t>
            </a:r>
            <a:endParaRPr lang="en-US" altLang="zh-CN" sz="2400" b="1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600"/>
              </a:spcBef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1×16</a:t>
            </a:r>
            <a:r>
              <a:rPr lang="en-US" altLang="zh-CN" sz="2400" b="1" baseline="30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2×16</a:t>
            </a:r>
            <a:r>
              <a:rPr lang="en-US" altLang="zh-CN" sz="2400" b="1" baseline="30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-1</a:t>
            </a:r>
            <a:endParaRPr lang="en-US" altLang="zh-CN" sz="2400" b="1" baseline="300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600"/>
              </a:spcBef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1.125</a:t>
            </a:r>
            <a:endParaRPr lang="en-US" altLang="zh-CN" sz="2400" b="1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80484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整数部分转换：用除法，取余数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十进制数整数部分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不断除以基数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或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，并记下余数，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直到商为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为止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由最后一个余数起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逆向取各个余数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，则为转换成的二进制和十六进制数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小数部分转换：用乘法取整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分别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乘以各自的基数，记录整数部分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直到小数部分为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为止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小数转换会发生总是无法乘到为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的情况，可选取一定位数（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精度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en-US" altLang="zh-CN" sz="4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十进制数转换为二进制、十六进制数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dirty="0">
                <a:solidFill>
                  <a:schemeClr val="tx1"/>
                </a:solidFill>
                <a:latin typeface="黑体" panose="02010609060101010101" pitchFamily="49" charset="-122"/>
                <a:cs typeface="+mj-cs"/>
              </a:rPr>
              <a:t>十进制</a:t>
            </a:r>
            <a:r>
              <a:rPr lang="zh-CN" altLang="en-US" kern="0" dirty="0">
                <a:solidFill>
                  <a:srgbClr val="00B050"/>
                </a:solidFill>
                <a:latin typeface="黑体" panose="02010609060101010101" pitchFamily="49" charset="-122"/>
                <a:cs typeface="+mj-cs"/>
              </a:rPr>
              <a:t>整数</a:t>
            </a:r>
            <a:r>
              <a:rPr lang="zh-CN" altLang="en-US" kern="0" dirty="0">
                <a:solidFill>
                  <a:schemeClr val="tx1"/>
                </a:solidFill>
                <a:latin typeface="黑体" panose="02010609060101010101" pitchFamily="49" charset="-122"/>
                <a:cs typeface="+mj-cs"/>
              </a:rPr>
              <a:t>的转换</a:t>
            </a:r>
            <a:r>
              <a:rPr lang="en-US" altLang="zh-CN" kern="0" dirty="0">
                <a:solidFill>
                  <a:schemeClr val="tx1"/>
                </a:solidFill>
                <a:latin typeface="+mj-lt"/>
                <a:cs typeface="+mj-cs"/>
              </a:rPr>
              <a:t>Integral part 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18" descr="fig030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719" b="14619"/>
          <a:stretch>
            <a:fillRect/>
          </a:stretch>
        </p:blipFill>
        <p:spPr bwMode="auto">
          <a:xfrm>
            <a:off x="611560" y="836712"/>
            <a:ext cx="4986887" cy="3911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9" descr="fig030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3" t="40022" b="19955"/>
          <a:stretch>
            <a:fillRect/>
          </a:stretch>
        </p:blipFill>
        <p:spPr bwMode="auto">
          <a:xfrm>
            <a:off x="3502496" y="4788452"/>
            <a:ext cx="5029944" cy="1855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ounded Rectangular Callout 2"/>
          <p:cNvSpPr/>
          <p:nvPr/>
        </p:nvSpPr>
        <p:spPr bwMode="auto">
          <a:xfrm>
            <a:off x="5940152" y="2492896"/>
            <a:ext cx="2304256" cy="845161"/>
          </a:xfrm>
          <a:prstGeom prst="wedgeRoundRectCallout">
            <a:avLst>
              <a:gd name="adj1" fmla="val -110557"/>
              <a:gd name="adj2" fmla="val 31982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转换为二进制</a:t>
            </a:r>
            <a:endParaRPr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除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逆向取余</a:t>
            </a:r>
            <a:endParaRPr lang="zh-CN" altLang="en-US" sz="2400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  <p:sp>
        <p:nvSpPr>
          <p:cNvPr id="9" name="Rounded Rectangular Callout 2"/>
          <p:cNvSpPr/>
          <p:nvPr/>
        </p:nvSpPr>
        <p:spPr bwMode="auto">
          <a:xfrm>
            <a:off x="395536" y="5186179"/>
            <a:ext cx="2448272" cy="854171"/>
          </a:xfrm>
          <a:prstGeom prst="wedgeRoundRectCallout">
            <a:avLst>
              <a:gd name="adj1" fmla="val 87509"/>
              <a:gd name="adj2" fmla="val 9167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转换为十六进制</a:t>
            </a:r>
            <a:endParaRPr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除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逆向取余</a:t>
            </a:r>
            <a:endParaRPr lang="zh-CN" altLang="en-US" sz="2400" b="1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1475656" y="4379962"/>
            <a:ext cx="792088" cy="37923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4427984" y="6174829"/>
            <a:ext cx="792088" cy="379236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250192" y="4835252"/>
            <a:ext cx="8570280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云形 12"/>
          <p:cNvSpPr/>
          <p:nvPr/>
        </p:nvSpPr>
        <p:spPr bwMode="auto">
          <a:xfrm>
            <a:off x="2299320" y="4595257"/>
            <a:ext cx="2429937" cy="590922"/>
          </a:xfrm>
          <a:prstGeom prst="cloud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</a:rPr>
              <a:t>直到商为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</a:rPr>
              <a:t>0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十进制</a:t>
            </a:r>
            <a:r>
              <a:rPr lang="zh-CN" altLang="en-US" kern="0" dirty="0">
                <a:solidFill>
                  <a:srgbClr val="FF0000"/>
                </a:solidFill>
                <a:latin typeface="黑体" panose="02010609060101010101" pitchFamily="49" charset="-122"/>
                <a:cs typeface="+mj-cs"/>
              </a:rPr>
              <a:t>小数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的转换</a:t>
            </a:r>
            <a:r>
              <a:rPr lang="en-US" altLang="zh-CN" kern="0" dirty="0">
                <a:solidFill>
                  <a:srgbClr val="000000"/>
                </a:solidFill>
                <a:latin typeface="+mj-lt"/>
                <a:cs typeface="+mj-cs"/>
              </a:rPr>
              <a:t>Fractional Part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9" descr="fig03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55" b="12540"/>
          <a:stretch>
            <a:fillRect/>
          </a:stretch>
        </p:blipFill>
        <p:spPr bwMode="auto">
          <a:xfrm>
            <a:off x="543272" y="836712"/>
            <a:ext cx="64770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ounded Rectangular Callout 2"/>
          <p:cNvSpPr/>
          <p:nvPr/>
        </p:nvSpPr>
        <p:spPr bwMode="auto">
          <a:xfrm>
            <a:off x="7092280" y="2459100"/>
            <a:ext cx="1584176" cy="935875"/>
          </a:xfrm>
          <a:prstGeom prst="wedgeRoundRectCallout">
            <a:avLst>
              <a:gd name="adj1" fmla="val -97961"/>
              <a:gd name="adj2" fmla="val 34166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乘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正向取整</a:t>
            </a:r>
            <a:endParaRPr lang="zh-CN" altLang="en-US" sz="2800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  <p:pic>
        <p:nvPicPr>
          <p:cNvPr id="10" name="Picture 10" descr="fig03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52" t="54019" b="15112"/>
          <a:stretch>
            <a:fillRect/>
          </a:stretch>
        </p:blipFill>
        <p:spPr bwMode="auto">
          <a:xfrm>
            <a:off x="2754660" y="5034322"/>
            <a:ext cx="5817840" cy="161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ounded Rectangular Callout 2"/>
          <p:cNvSpPr/>
          <p:nvPr/>
        </p:nvSpPr>
        <p:spPr bwMode="auto">
          <a:xfrm>
            <a:off x="676275" y="5443231"/>
            <a:ext cx="1584176" cy="935875"/>
          </a:xfrm>
          <a:prstGeom prst="wedgeRoundRectCallout">
            <a:avLst>
              <a:gd name="adj1" fmla="val 105265"/>
              <a:gd name="adj2" fmla="val 32131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乘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正向取整</a:t>
            </a:r>
            <a:endParaRPr lang="zh-CN" altLang="en-US" sz="2800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5271095" y="4509120"/>
            <a:ext cx="371500" cy="3600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6900639" y="6116174"/>
            <a:ext cx="792088" cy="3600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250192" y="5094297"/>
            <a:ext cx="8570280" cy="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云形 15"/>
          <p:cNvSpPr/>
          <p:nvPr/>
        </p:nvSpPr>
        <p:spPr bwMode="auto">
          <a:xfrm>
            <a:off x="5940152" y="4581128"/>
            <a:ext cx="2880320" cy="590922"/>
          </a:xfrm>
          <a:prstGeom prst="cloud">
            <a:avLst/>
          </a:prstGeom>
          <a:solidFill>
            <a:schemeClr val="bg1">
              <a:lumMod val="9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</a:rPr>
              <a:t>直到小数为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</a:rPr>
              <a:t>0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251520" y="836712"/>
            <a:ext cx="3888432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二进制和十六进制数之间具有对应关系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每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个二进制位对应一个十六进制位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以小数点为基准，整数从左向右，小数从右向左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进制和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十六进制数的相互转换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826920" y="4869160"/>
            <a:ext cx="3276364" cy="1080120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0011</a:t>
            </a:r>
            <a:r>
              <a:rPr lang="en-US" altLang="zh-CN" sz="24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1010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H</a:t>
            </a:r>
            <a:endParaRPr lang="en-US" altLang="zh-CN" sz="2400" b="1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F</a:t>
            </a:r>
            <a:r>
              <a:rPr lang="en-US" altLang="zh-CN" sz="24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H</a:t>
            </a:r>
            <a:r>
              <a:rPr lang="zh-CN" altLang="en-US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1111</a:t>
            </a:r>
            <a:r>
              <a:rPr lang="en-US" altLang="zh-CN" sz="24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0010</a:t>
            </a:r>
            <a:r>
              <a:rPr lang="en-US" altLang="zh-CN" sz="24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B</a:t>
            </a:r>
            <a:endParaRPr lang="en-US" altLang="zh-CN" sz="2400" b="1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5292" y="980728"/>
            <a:ext cx="4645180" cy="504526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692696"/>
            <a:ext cx="8280920" cy="6264696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编码：用文字、符号或数码表示某种信息的过程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机器数：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计算机中用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数码组合表达的数值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真值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(Truth value)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现实中真实的数值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有符号整数有多种表达形式：原码、反码和补码</a:t>
            </a:r>
            <a:endParaRPr lang="en-US" altLang="zh-CN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原码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(True Form)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一个整数本来的二进制形式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反码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(1’s Complement)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正数的反码等于原码，负数的反码就是其原码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除符号位外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，按位取反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补码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(2’s Complement)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正数的补码等于原码，负数的补码等于反码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+1</a:t>
            </a:r>
            <a:endParaRPr lang="en-US" altLang="zh-CN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计算机默认采用补码表达有符号整数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位二进制补码表达有符号整数，范围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</a:rPr>
              <a:t>-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  <a:latin typeface="+mn-lt"/>
              </a:rPr>
              <a:t>N-1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+2</a:t>
            </a:r>
            <a:r>
              <a:rPr lang="en-US" altLang="zh-CN" sz="2400" baseline="30000" dirty="0">
                <a:solidFill>
                  <a:schemeClr val="tx1"/>
                </a:solidFill>
                <a:latin typeface="+mn-lt"/>
              </a:rPr>
              <a:t>N-1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</a:rPr>
              <a:t>-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位二进制补码表达无符号整数，范围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  <a:latin typeface="+mn-lt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latin typeface="黑体" panose="02010609060101010101" pitchFamily="49" charset="-122"/>
              </a:rPr>
              <a:t>-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2.1.2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数值的编码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Encodings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69269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692696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正数的原码、反码、补码 和无符号数一样</a:t>
            </a:r>
            <a:endParaRPr lang="zh-CN" altLang="en-US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求负数</a:t>
            </a:r>
            <a:r>
              <a:rPr lang="en-US" altLang="zh-CN" sz="2800" dirty="0">
                <a:latin typeface="+mn-lt"/>
              </a:rPr>
              <a:t>(Negative integer)</a:t>
            </a:r>
            <a:r>
              <a:rPr lang="zh-CN" altLang="en-US" sz="2800" dirty="0">
                <a:latin typeface="+mn-lt"/>
              </a:rPr>
              <a:t>的原码、反码和补码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首先计算其对应正数的二进制编码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负数的符号位设置为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，成为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原码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将原码中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除符号位以外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的其他位取反，则得到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反码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最后加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就是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补码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（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取反加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2.1.2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数值的编码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69269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43608" y="4129323"/>
            <a:ext cx="7597402" cy="2491803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真值：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，机器数：</a:t>
            </a:r>
            <a:r>
              <a:rPr lang="en-US" altLang="zh-CN" sz="22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0010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0000B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2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0H</a:t>
            </a:r>
            <a:endParaRPr lang="en-US" altLang="zh-CN" sz="22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真值：－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，机器数：</a:t>
            </a:r>
            <a:endParaRPr lang="zh-CN" altLang="en-US" sz="22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[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－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32]</a:t>
            </a:r>
            <a:r>
              <a:rPr lang="zh-CN" altLang="en-US" sz="220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原码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2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1010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0000</a:t>
            </a:r>
            <a:r>
              <a:rPr lang="en-US" altLang="zh-CN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2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A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</a:t>
            </a:r>
            <a:r>
              <a:rPr lang="en-US" altLang="zh-CN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H</a:t>
            </a:r>
            <a:endParaRPr lang="en-US" altLang="zh-CN" sz="2200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[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－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32]</a:t>
            </a:r>
            <a:r>
              <a:rPr lang="zh-CN" altLang="en-US" sz="220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反码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2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1101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1111</a:t>
            </a:r>
            <a:r>
              <a:rPr lang="en-US" altLang="zh-CN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2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D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F</a:t>
            </a:r>
            <a:r>
              <a:rPr lang="en-US" altLang="zh-CN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H</a:t>
            </a:r>
            <a:endParaRPr lang="en-US" altLang="zh-CN" sz="2200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[20H]</a:t>
            </a:r>
            <a:r>
              <a:rPr lang="zh-CN" altLang="en-US" sz="220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补码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2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1110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0000</a:t>
            </a:r>
            <a:r>
              <a:rPr lang="en-US" altLang="zh-CN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2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E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</a:t>
            </a:r>
            <a:r>
              <a:rPr lang="en-US" altLang="zh-CN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H</a:t>
            </a:r>
            <a:endParaRPr lang="en-US" altLang="zh-CN" sz="2200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5484862" y="4561371"/>
            <a:ext cx="3096344" cy="1728193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符号位设置对于原码、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反码和补码都一样：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正数用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，负数用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8579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负数补码与负数真值的互相转换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负数真值“取反加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”得机器数补码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负数补码“取反加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”得到负数真值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0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1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8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补码的算术运算</a:t>
            </a:r>
            <a:endParaRPr lang="zh-CN" altLang="en-US" sz="2800" dirty="0">
              <a:latin typeface="+mn-lt"/>
            </a:endParaRPr>
          </a:p>
          <a:p>
            <a:pPr lvl="1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2.1.2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数值的编码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50544" y="2583954"/>
            <a:ext cx="7625912" cy="1944216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对于补码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1100000</a:t>
            </a:r>
            <a:r>
              <a:rPr lang="en-US" altLang="zh-CN" sz="2400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反过来求其真值</a:t>
            </a:r>
            <a:endParaRPr lang="en-US" altLang="zh-CN" sz="24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真值：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([1100000]</a:t>
            </a:r>
            <a:r>
              <a:rPr lang="zh-CN" altLang="en-US" sz="240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取反加</a:t>
            </a:r>
            <a:r>
              <a:rPr lang="en-US" altLang="zh-CN" sz="2400" baseline="-25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)</a:t>
            </a:r>
            <a:endParaRPr lang="en-US" altLang="zh-CN" sz="24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		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(0011111+1)</a:t>
            </a:r>
            <a:endParaRPr lang="en-US" altLang="zh-CN" sz="24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    	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0100000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32</a:t>
            </a:r>
            <a:endParaRPr lang="en-US" altLang="zh-CN" sz="24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en-US" altLang="zh-CN" sz="14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6444208" y="3140968"/>
            <a:ext cx="2173675" cy="936104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符号位不变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其它位取反加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43608" y="5219675"/>
            <a:ext cx="7632848" cy="1224136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[X]</a:t>
            </a:r>
            <a:r>
              <a:rPr lang="zh-CN" altLang="en-US" sz="24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[Y]</a:t>
            </a:r>
            <a:r>
              <a:rPr lang="zh-CN" altLang="en-US" sz="24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＝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[X</a:t>
            </a:r>
            <a:r>
              <a:rPr lang="zh-CN" altLang="en-US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Y]</a:t>
            </a:r>
            <a:r>
              <a:rPr lang="zh-CN" altLang="en-US" sz="24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endParaRPr lang="zh-CN" altLang="en-US" sz="2400" b="1" baseline="-250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[X]</a:t>
            </a:r>
            <a:r>
              <a:rPr lang="zh-CN" altLang="en-US" sz="24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－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[Y]</a:t>
            </a:r>
            <a:r>
              <a:rPr lang="zh-CN" altLang="en-US" sz="24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[X]</a:t>
            </a:r>
            <a:r>
              <a:rPr lang="zh-CN" altLang="en-US" sz="24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＋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</a:t>
            </a:r>
            <a:r>
              <a:rPr lang="zh-CN" altLang="en-US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－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Y]</a:t>
            </a:r>
            <a:r>
              <a:rPr lang="zh-CN" altLang="en-US" sz="24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24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[X</a:t>
            </a:r>
            <a:r>
              <a:rPr lang="zh-CN" altLang="en-US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－</a:t>
            </a: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Y]</a:t>
            </a:r>
            <a:r>
              <a:rPr lang="zh-CN" altLang="en-US" sz="2400" b="1" baseline="-250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endParaRPr lang="zh-CN" altLang="en-US" sz="2400" b="1" baseline="-250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814275"/>
            <a:ext cx="817240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在计算机中，各种字符都需要用二进制码表示</a:t>
            </a:r>
            <a:endParaRPr lang="zh-CN" altLang="en-US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由于字节是计算机的基本存储单位，所以常以</a:t>
            </a:r>
            <a:r>
              <a:rPr lang="en-US" altLang="zh-CN" sz="2800" dirty="0">
                <a:latin typeface="+mn-lt"/>
              </a:rPr>
              <a:t>8</a:t>
            </a:r>
            <a:r>
              <a:rPr lang="zh-CN" altLang="en-US" sz="2800" dirty="0">
                <a:latin typeface="+mn-lt"/>
              </a:rPr>
              <a:t>个二进制位为单位表达字符</a:t>
            </a:r>
            <a:endParaRPr lang="en-US" altLang="zh-CN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编码：用文字、符号或数码表示某种信息的过程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BCD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码：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位二进制表示一个十进制数字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ASCII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码：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位二进制表示各种英文字符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Unicode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码：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位二进制表示非拉丁语系的字符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2.1.3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字符的编码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9327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768244" y="4907784"/>
            <a:ext cx="2196244" cy="11002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6000" b="1" dirty="0">
                <a:solidFill>
                  <a:srgbClr val="00B050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</a:rPr>
              <a:t>汉</a:t>
            </a:r>
            <a:r>
              <a:rPr lang="zh-CN" altLang="en-US" b="1" dirty="0">
                <a:solidFill>
                  <a:srgbClr val="00B050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</a:rPr>
              <a:t> </a:t>
            </a:r>
            <a:r>
              <a:rPr lang="zh-CN" altLang="en-US" sz="6000" b="1" dirty="0">
                <a:solidFill>
                  <a:srgbClr val="00B050"/>
                </a:solidFill>
                <a:latin typeface="华光淡古印_CNKI" panose="02000500000000000000" pitchFamily="2" charset="-122"/>
                <a:ea typeface="华光淡古印_CNKI" panose="02000500000000000000" pitchFamily="2" charset="-122"/>
              </a:rPr>
              <a:t>字</a:t>
            </a:r>
            <a:endParaRPr lang="en-US" altLang="zh-CN" sz="6000" b="1" dirty="0">
              <a:solidFill>
                <a:srgbClr val="00B050"/>
              </a:solidFill>
              <a:latin typeface="华光淡古印_CNKI" panose="02000500000000000000" pitchFamily="2" charset="-122"/>
              <a:ea typeface="华光淡古印_CNKI" panose="02000500000000000000" pitchFamily="2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272880" y="4849021"/>
            <a:ext cx="2315344" cy="11002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6600" b="1" dirty="0">
                <a:solidFill>
                  <a:schemeClr val="accent5">
                    <a:lumMod val="50000"/>
                  </a:schemeClr>
                </a:solidFill>
                <a:latin typeface="Bodoni MT Condensed" panose="02070606080606020203" pitchFamily="18" charset="0"/>
                <a:ea typeface="华光淡古印_CNKI" panose="02000500000000000000" pitchFamily="2" charset="-122"/>
              </a:rPr>
              <a:t>English</a:t>
            </a:r>
            <a:endParaRPr lang="en-US" altLang="zh-CN" sz="4400" b="1" dirty="0">
              <a:solidFill>
                <a:schemeClr val="accent5">
                  <a:lumMod val="50000"/>
                </a:schemeClr>
              </a:solidFill>
              <a:latin typeface="Bodoni MT Condensed" panose="02070606080606020203" pitchFamily="18" charset="0"/>
              <a:ea typeface="华光淡古印_CNKI" panose="02000500000000000000" pitchFamily="2" charset="-122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04056" y="4849021"/>
            <a:ext cx="3419872" cy="11002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6600" b="1" dirty="0">
                <a:solidFill>
                  <a:schemeClr val="accent1">
                    <a:lumMod val="75000"/>
                  </a:schemeClr>
                </a:solidFill>
                <a:latin typeface="Bodoni MT Condensed" panose="02070606080606020203" pitchFamily="18" charset="0"/>
                <a:ea typeface="华光淡古印_CNKI" panose="02000500000000000000" pitchFamily="2" charset="-122"/>
              </a:rPr>
              <a:t>0123456789</a:t>
            </a:r>
            <a:endParaRPr lang="en-US" altLang="zh-CN" sz="6600" b="1" dirty="0">
              <a:solidFill>
                <a:schemeClr val="accent1">
                  <a:lumMod val="75000"/>
                </a:schemeClr>
              </a:solidFill>
              <a:latin typeface="Bodoni MT Condensed" panose="02070606080606020203" pitchFamily="18" charset="0"/>
              <a:ea typeface="华光淡古印_CNKI" panose="02000500000000000000" pitchFamily="2" charset="-122"/>
            </a:endParaRPr>
          </a:p>
        </p:txBody>
      </p:sp>
      <p:sp>
        <p:nvSpPr>
          <p:cNvPr id="13" name="云形 12"/>
          <p:cNvSpPr/>
          <p:nvPr/>
        </p:nvSpPr>
        <p:spPr bwMode="auto">
          <a:xfrm>
            <a:off x="395536" y="5086692"/>
            <a:ext cx="8316924" cy="979537"/>
          </a:xfrm>
          <a:prstGeom prst="cloud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 bwMode="auto">
          <a:xfrm>
            <a:off x="647564" y="6165304"/>
            <a:ext cx="7848872" cy="0"/>
          </a:xfrm>
          <a:prstGeom prst="straightConnector1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64704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用二进制编码表示十进制数字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位二进制编码来表示一个十进制数位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8421 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码：用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位二进制的低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个编码表示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9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压缩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码：通常用一个字节表达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两位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非压缩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码：一个字节表达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一位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码（低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位表达数值，高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位设置为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+mn-lt"/>
              </a:rPr>
              <a:t>BCD</a:t>
            </a:r>
            <a:r>
              <a:rPr lang="zh-CN" altLang="en-US" sz="2800" dirty="0">
                <a:latin typeface="+mn-lt"/>
              </a:rPr>
              <a:t>码虽然浪费了</a:t>
            </a:r>
            <a:r>
              <a:rPr lang="en-US" altLang="zh-CN" sz="2800" dirty="0">
                <a:latin typeface="+mn-lt"/>
              </a:rPr>
              <a:t>6</a:t>
            </a:r>
            <a:r>
              <a:rPr lang="zh-CN" altLang="en-US" sz="2800" dirty="0">
                <a:latin typeface="+mn-lt"/>
              </a:rPr>
              <a:t>个编码，但很直观，很容易实现与十进制之间的转换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1.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BCD</a:t>
            </a:r>
            <a:r>
              <a:rPr lang="en-US" altLang="zh-CN" kern="0" dirty="0">
                <a:solidFill>
                  <a:srgbClr val="000000"/>
                </a:solidFill>
                <a:latin typeface="+mj-lt"/>
                <a:cs typeface="+mj-cs"/>
              </a:rPr>
              <a:t> (Binary-Coded Decimal‎)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60885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80285" y="5353077"/>
            <a:ext cx="7625912" cy="1100259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码：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0100 1001 0111 1000.0001 0100 1001</a:t>
            </a:r>
            <a:endParaRPr lang="en-US" altLang="zh-CN" sz="24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十进制真值：</a:t>
            </a: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4978.149</a:t>
            </a:r>
            <a:endParaRPr lang="en-US" altLang="zh-CN" sz="14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539552" y="814275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标准</a:t>
            </a:r>
            <a:r>
              <a:rPr lang="en-US" altLang="zh-CN" sz="2800" dirty="0">
                <a:latin typeface="+mn-lt"/>
              </a:rPr>
              <a:t>ASCII</a:t>
            </a:r>
            <a:r>
              <a:rPr lang="zh-CN" altLang="en-US" sz="2800" dirty="0">
                <a:latin typeface="+mn-lt"/>
              </a:rPr>
              <a:t>码用</a:t>
            </a:r>
            <a:r>
              <a:rPr lang="en-US" altLang="zh-CN" sz="2800" dirty="0">
                <a:latin typeface="+mn-lt"/>
              </a:rPr>
              <a:t>7</a:t>
            </a:r>
            <a:r>
              <a:rPr lang="zh-CN" altLang="en-US" sz="2800" dirty="0">
                <a:latin typeface="+mn-lt"/>
              </a:rPr>
              <a:t>位二进制编码，有</a:t>
            </a:r>
            <a:r>
              <a:rPr lang="en-US" altLang="zh-CN" sz="2800" dirty="0">
                <a:latin typeface="+mn-lt"/>
              </a:rPr>
              <a:t>128</a:t>
            </a:r>
            <a:r>
              <a:rPr lang="zh-CN" altLang="en-US" sz="2800" dirty="0">
                <a:latin typeface="+mn-lt"/>
              </a:rPr>
              <a:t>个</a:t>
            </a:r>
            <a:endParaRPr lang="zh-CN" altLang="en-US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不可显示的控制字符：前</a:t>
            </a:r>
            <a:r>
              <a:rPr lang="en-US" altLang="zh-CN" sz="2800" dirty="0">
                <a:latin typeface="+mn-lt"/>
              </a:rPr>
              <a:t>32</a:t>
            </a:r>
            <a:r>
              <a:rPr lang="zh-CN" altLang="en-US" sz="2800" dirty="0">
                <a:latin typeface="+mn-lt"/>
              </a:rPr>
              <a:t>个和最后一个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回车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CR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0DH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换行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LF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0AH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响铃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BEL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07H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可显示和打印的字符：</a:t>
            </a:r>
            <a:r>
              <a:rPr lang="en-US" altLang="zh-CN" sz="2800" dirty="0">
                <a:latin typeface="+mn-lt"/>
              </a:rPr>
              <a:t>20H</a:t>
            </a:r>
            <a:r>
              <a:rPr lang="zh-CN" altLang="en-US" sz="2800" dirty="0">
                <a:latin typeface="+mn-lt"/>
              </a:rPr>
              <a:t>后的</a:t>
            </a:r>
            <a:r>
              <a:rPr lang="en-US" altLang="zh-CN" sz="2800" dirty="0">
                <a:latin typeface="+mn-lt"/>
              </a:rPr>
              <a:t>94</a:t>
            </a:r>
            <a:r>
              <a:rPr lang="zh-CN" altLang="en-US" sz="2800" dirty="0">
                <a:latin typeface="+mn-lt"/>
              </a:rPr>
              <a:t>个编码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数码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9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30H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39H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大写字母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Z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41H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5AH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小写字母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z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61H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7AH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空格：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20H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扩展</a:t>
            </a:r>
            <a:r>
              <a:rPr lang="en-US" altLang="zh-CN" sz="2800" dirty="0">
                <a:latin typeface="+mn-lt"/>
              </a:rPr>
              <a:t>ASCII</a:t>
            </a:r>
            <a:r>
              <a:rPr lang="zh-CN" altLang="en-US" sz="2800" dirty="0">
                <a:latin typeface="+mn-lt"/>
              </a:rPr>
              <a:t>码：最高</a:t>
            </a:r>
            <a:r>
              <a:rPr lang="en-US" altLang="zh-CN" sz="2800" dirty="0">
                <a:latin typeface="+mn-lt"/>
              </a:rPr>
              <a:t>D</a:t>
            </a:r>
            <a:r>
              <a:rPr lang="en-US" altLang="zh-CN" sz="2800" baseline="-25000" dirty="0">
                <a:latin typeface="+mn-lt"/>
              </a:rPr>
              <a:t>7</a:t>
            </a:r>
            <a:r>
              <a:rPr lang="zh-CN" altLang="en-US" sz="2800" dirty="0">
                <a:latin typeface="+mn-lt"/>
              </a:rPr>
              <a:t>位为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，表达制表符号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2.ASCII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（美国标准信息交换码）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9327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814275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+mn-lt"/>
              </a:rPr>
              <a:t>ASCII</a:t>
            </a:r>
            <a:r>
              <a:rPr lang="zh-CN" altLang="en-US" sz="2800" dirty="0">
                <a:latin typeface="+mn-lt"/>
              </a:rPr>
              <a:t>码表达了英文字符，但无法表达非拉丁语系（如中文、日文、韩文等）的字符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码表达英文字符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位国标码表达汉字字符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国际信息交换码</a:t>
            </a:r>
            <a:r>
              <a:rPr lang="en-US" altLang="zh-CN" sz="2800" dirty="0">
                <a:latin typeface="+mn-lt"/>
              </a:rPr>
              <a:t>Unicode</a:t>
            </a:r>
            <a:endParaRPr lang="en-US" altLang="zh-CN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位编码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对世界上所有语言的大多数字符进行编码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提供扩展能力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Unicode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兼容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，前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256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个字符对应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字符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3.Unicode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（统一码）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7422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章节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小结</a:t>
            </a:r>
            <a:r>
              <a:rPr lang="zh-CN" altLang="en-US" kern="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cs typeface="+mj-cs"/>
              </a:rPr>
              <a:t>（需要掌握的内容）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1072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内容占位符 2"/>
          <p:cNvSpPr txBox="1"/>
          <p:nvPr/>
        </p:nvSpPr>
        <p:spPr>
          <a:xfrm>
            <a:off x="467544" y="764704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求补码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正数的原码、反码、补码都一样；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求负数的补码（将该数绝对值的二进制形式按位取反，再加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）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符号位设置对于原码、反码和补码都一样：正数用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，负数用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1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十六进制加减法：逢</a:t>
            </a:r>
            <a:r>
              <a:rPr lang="en-US" altLang="zh-CN" sz="2800" dirty="0">
                <a:latin typeface="+mn-lt"/>
              </a:rPr>
              <a:t>16</a:t>
            </a:r>
            <a:r>
              <a:rPr lang="zh-CN" altLang="en-US" sz="2800" dirty="0">
                <a:latin typeface="+mn-lt"/>
              </a:rPr>
              <a:t>进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，借</a:t>
            </a:r>
            <a:r>
              <a:rPr lang="en-US" altLang="zh-CN" sz="2800" dirty="0">
                <a:latin typeface="+mn-lt"/>
              </a:rPr>
              <a:t>1</a:t>
            </a:r>
            <a:r>
              <a:rPr lang="zh-CN" altLang="en-US" sz="2800" dirty="0">
                <a:latin typeface="+mn-lt"/>
              </a:rPr>
              <a:t>当</a:t>
            </a:r>
            <a:r>
              <a:rPr lang="en-US" altLang="zh-CN" sz="2800" dirty="0">
                <a:latin typeface="+mn-lt"/>
              </a:rPr>
              <a:t>16</a:t>
            </a:r>
            <a:endParaRPr lang="en-US" altLang="zh-CN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常见字符的</a:t>
            </a:r>
            <a:r>
              <a:rPr lang="en-US" altLang="zh-CN" sz="2800" dirty="0">
                <a:latin typeface="+mn-lt"/>
              </a:rPr>
              <a:t>ASCII</a:t>
            </a:r>
            <a:r>
              <a:rPr lang="zh-CN" altLang="en-US" sz="2800" dirty="0">
                <a:latin typeface="+mn-lt"/>
              </a:rPr>
              <a:t>码</a:t>
            </a:r>
            <a:endParaRPr lang="en-US" altLang="zh-CN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数码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9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30H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39H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大写字母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Z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41H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5AH 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小写字母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z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61H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7AH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64704"/>
            <a:ext cx="8280920" cy="6048672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常量是一个确定数值，不会随着程序执行而改变</a:t>
            </a: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常数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十、十六和二进制形式表达的数值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以后缀字母区分：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十进制（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D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d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）、十六进制（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H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h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）、二进制（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b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），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十进制数可以不加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以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字母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A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～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F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开头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的十六进制常数，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要加前导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0</a:t>
            </a:r>
            <a:endParaRPr lang="en-US" altLang="zh-CN" sz="22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8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字符</a:t>
            </a:r>
            <a:r>
              <a:rPr lang="en-US" altLang="zh-CN" sz="2600" dirty="0">
                <a:latin typeface="+mn-lt"/>
              </a:rPr>
              <a:t>Character</a:t>
            </a:r>
            <a:r>
              <a:rPr lang="zh-CN" altLang="en-US" sz="2600" dirty="0">
                <a:latin typeface="+mn-lt"/>
              </a:rPr>
              <a:t>和字符串</a:t>
            </a:r>
            <a:r>
              <a:rPr lang="en-US" altLang="zh-CN" sz="2600" dirty="0">
                <a:latin typeface="+mn-lt"/>
              </a:rPr>
              <a:t>String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英文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单引号或双引号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括起来的单个字符或多个字符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数值是每个字符对应的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码值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+mn-lt"/>
              </a:rPr>
              <a:t>区分十六进制的</a:t>
            </a:r>
            <a:r>
              <a:rPr lang="en-US" altLang="zh-CN" sz="2200" dirty="0">
                <a:latin typeface="+mn-lt"/>
              </a:rPr>
              <a:t>A~F(</a:t>
            </a:r>
            <a:r>
              <a:rPr lang="en-US" altLang="zh-CN" sz="2200" dirty="0" err="1">
                <a:latin typeface="+mn-lt"/>
              </a:rPr>
              <a:t>a~f</a:t>
            </a:r>
            <a:r>
              <a:rPr lang="en-US" altLang="zh-CN" sz="2200" dirty="0">
                <a:latin typeface="+mn-lt"/>
              </a:rPr>
              <a:t>)</a:t>
            </a:r>
            <a:r>
              <a:rPr lang="zh-CN" altLang="en-US" sz="2200" dirty="0">
                <a:latin typeface="+mn-lt"/>
              </a:rPr>
              <a:t>与字母</a:t>
            </a:r>
            <a:r>
              <a:rPr lang="en-US" altLang="zh-CN" sz="2200" dirty="0">
                <a:latin typeface="+mn-lt"/>
              </a:rPr>
              <a:t>A~F</a:t>
            </a:r>
            <a:r>
              <a:rPr lang="zh-CN" altLang="en-US" sz="2200" dirty="0">
                <a:latin typeface="+mn-lt"/>
              </a:rPr>
              <a:t>的区别</a:t>
            </a:r>
            <a:endParaRPr lang="en-US" altLang="zh-CN" sz="2200" dirty="0">
              <a:latin typeface="+mn-lt"/>
            </a:endParaRPr>
          </a:p>
          <a:p>
            <a:pPr lvl="1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</a:pP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常量表达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Constant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4565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048633" y="6021288"/>
            <a:ext cx="7618298" cy="504056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’c’,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 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‘Hello world’</a:t>
            </a:r>
            <a:endParaRPr lang="en-US" altLang="zh-CN" sz="22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043608" y="3579296"/>
            <a:ext cx="7618298" cy="504056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255, 0B800H, 01101100B</a:t>
            </a:r>
            <a:endParaRPr lang="en-US" altLang="zh-CN" sz="22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95789" y="599604"/>
            <a:ext cx="8280920" cy="6048672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符号常量</a:t>
            </a:r>
            <a:r>
              <a:rPr lang="en-US" altLang="zh-CN" sz="2800" dirty="0">
                <a:latin typeface="+mn-lt"/>
              </a:rPr>
              <a:t>Symbolic Constant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使用标识符表达一个数值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符号定义伪指令：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等价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EQU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，等号＝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只是一个符号，不占内存空间，应用时直接替代</a:t>
            </a:r>
            <a:endParaRPr lang="en-US" altLang="zh-CN" sz="24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8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数值表达式</a:t>
            </a:r>
            <a:r>
              <a:rPr lang="en-US" altLang="zh-CN" sz="2800" dirty="0">
                <a:latin typeface="+mn-lt"/>
              </a:rPr>
              <a:t>Constant Expression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用运算符连接各种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常量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构成的算式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算术运算符：＋、 －、 *、 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MOD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（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取余）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对于整数数值表达式或地址表达式，参加运算的数值和运算结果必须是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整数。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常量表达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65929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43608" y="2852936"/>
            <a:ext cx="7618298" cy="1368152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符号名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EQU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数值表达式</a:t>
            </a:r>
            <a:endParaRPr lang="en-US" altLang="zh-CN" sz="2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符号名 </a:t>
            </a:r>
            <a:r>
              <a:rPr lang="en-US" altLang="zh-CN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=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数值表达式</a:t>
            </a:r>
            <a:endParaRPr lang="en-US" altLang="zh-CN" sz="2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符号名 </a:t>
            </a:r>
            <a:r>
              <a:rPr lang="en-US" altLang="zh-CN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EQU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&lt;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      </a:t>
            </a:r>
            <a:r>
              <a:rPr lang="en-US" altLang="zh-CN" sz="2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en-US" sz="2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字符串符号常量只能用</a:t>
            </a:r>
            <a:r>
              <a:rPr lang="en-US" altLang="zh-CN" sz="2200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EQU</a:t>
            </a:r>
            <a:endParaRPr lang="en-US" altLang="zh-CN" sz="2200" dirty="0">
              <a:solidFill>
                <a:srgbClr val="0000FF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数据表达程序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95536" y="759927"/>
            <a:ext cx="8496944" cy="617029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64 64 64 64 64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latin typeface="+mn-lt"/>
              </a:rPr>
              <a:t>const1	byte 100,100d,01100100b,64h, ‘d’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整数在内存中以补码存放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00000005	01 7F 80 80 FF </a:t>
            </a:r>
            <a:r>
              <a:rPr lang="en-US" altLang="zh-CN" sz="2000" b="1" dirty="0" err="1">
                <a:solidFill>
                  <a:srgbClr val="00B050"/>
                </a:solidFill>
                <a:latin typeface="+mn-lt"/>
              </a:rPr>
              <a:t>FF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latin typeface="+mn-lt"/>
              </a:rPr>
              <a:t>const2	byte 1,+127,128,-128,255,-1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无符号数和有符号数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0000000B	69 97 20 E0 32 CE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latin typeface="+mn-lt"/>
              </a:rPr>
              <a:t>const3	byte 105,-105,32,-32,32h,-32h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00000011	30 31 32 33 34 35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36 37 38 39 61 62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63 78 79 7A 41 42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43 58 59 5A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latin typeface="+mn-lt"/>
              </a:rPr>
              <a:t>const4	byte ‘0123456789’,‘abcxyz’,‘ABCXYZ’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字符在内存中以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ASCII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存放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00000027	0D 0A 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 err="1">
                <a:latin typeface="+mn-lt"/>
              </a:rPr>
              <a:t>crlf</a:t>
            </a:r>
            <a:r>
              <a:rPr lang="en-US" altLang="zh-CN" sz="2000" b="1" dirty="0">
                <a:latin typeface="+mn-lt"/>
              </a:rPr>
              <a:t>	byte 0dh,0ah,0      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回车、换行符，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表示字符串结束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= 0000000A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minint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equ 10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符号常量只是一个符号，不占内存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= 000000FF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maxint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equ</a:t>
            </a:r>
            <a:r>
              <a:rPr lang="en-US" altLang="zh-CN" sz="2000" b="1" dirty="0">
                <a:latin typeface="+mn-lt"/>
              </a:rPr>
              <a:t> 0ffh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0000002A	0A 0F FA F5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latin typeface="+mn-lt"/>
              </a:rPr>
              <a:t>const5	byte </a:t>
            </a:r>
            <a:r>
              <a:rPr lang="en-US" altLang="zh-CN" sz="2000" b="1" dirty="0" err="1">
                <a:latin typeface="+mn-lt"/>
              </a:rPr>
              <a:t>minint</a:t>
            </a:r>
            <a:r>
              <a:rPr lang="en-US" altLang="zh-CN" sz="2000" b="1" dirty="0">
                <a:latin typeface="+mn-lt"/>
              </a:rPr>
              <a:t>, minint+5,</a:t>
            </a:r>
            <a:r>
              <a:rPr lang="zh-CN" altLang="en-US" sz="2000" b="1" dirty="0">
                <a:latin typeface="+mn-lt"/>
              </a:rPr>
              <a:t> </a:t>
            </a:r>
            <a:r>
              <a:rPr lang="en-US" altLang="zh-CN" sz="2000" b="1" dirty="0">
                <a:latin typeface="+mn-lt"/>
              </a:rPr>
              <a:t>maxint-5, </a:t>
            </a:r>
            <a:r>
              <a:rPr lang="en-US" altLang="zh-CN" sz="2000" b="1" dirty="0" err="1">
                <a:latin typeface="+mn-lt"/>
              </a:rPr>
              <a:t>maxint-minint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0000002E	10 56 15 EB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4000"/>
              </a:lnSpc>
            </a:pPr>
            <a:r>
              <a:rPr lang="en-US" altLang="zh-CN" sz="2000" b="1" dirty="0">
                <a:latin typeface="+mn-lt"/>
              </a:rPr>
              <a:t>const6	byte 4*4,34h+34,67h-52h,52h-67h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7" name="Rounded Rectangular Callout 2"/>
          <p:cNvSpPr/>
          <p:nvPr/>
        </p:nvSpPr>
        <p:spPr bwMode="auto">
          <a:xfrm>
            <a:off x="5476875" y="2348865"/>
            <a:ext cx="3435350" cy="922655"/>
          </a:xfrm>
          <a:prstGeom prst="wedgeRoundRectCallout">
            <a:avLst>
              <a:gd name="adj1" fmla="val -48996"/>
              <a:gd name="adj2" fmla="val 18535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indent="0" algn="l" latinLnBrk="0">
              <a:lnSpc>
                <a:spcPct val="130000"/>
              </a:lnSpc>
            </a:pP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DB(Define Byte)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：通用</a:t>
            </a:r>
            <a:endParaRPr lang="zh-CN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indent="0" algn="l" latinLnBrk="0">
              <a:lnSpc>
                <a:spcPct val="130000"/>
              </a:lnSpc>
            </a:pP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BYTE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MASM</a:t>
            </a:r>
            <a:endParaRPr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683171"/>
            <a:ext cx="8280920" cy="6048672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变量</a:t>
            </a:r>
            <a:r>
              <a:rPr lang="en-US" altLang="zh-CN" sz="2800" dirty="0">
                <a:latin typeface="+mn-lt"/>
              </a:rPr>
              <a:t>(Variable)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保存在可读可写的主存空间，随程序运行可以改变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变量是存储器操作数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，需要先定义再使用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变量定义</a:t>
            </a:r>
            <a:r>
              <a:rPr lang="en-US" altLang="zh-CN" sz="2800" dirty="0">
                <a:latin typeface="+mn-lt"/>
              </a:rPr>
              <a:t>(Variable Definition)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本质是申请存储空间，可以同时进行初始化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8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变量名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是用户标识符，表示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首元素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的逻辑地址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变量定义伪指令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(Data Definition Directives)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有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3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变量应用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043608" y="3174876"/>
            <a:ext cx="7344444" cy="520848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solidFill>
                  <a:srgbClr val="00B050"/>
                </a:solidFill>
                <a:latin typeface="+mn-lt"/>
              </a:rPr>
              <a:t>变量名   变量定义伪指令   初值表</a:t>
            </a:r>
            <a:endParaRPr lang="zh-CN" altLang="en-US" sz="24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043980" y="4692377"/>
            <a:ext cx="7344444" cy="1934691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BYTE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（</a:t>
            </a:r>
            <a:r>
              <a:rPr lang="en-US" altLang="zh-CN" sz="22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黑体" panose="02010609060101010101" pitchFamily="49" charset="-122"/>
              </a:rPr>
              <a:t>DB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）：</a:t>
            </a:r>
            <a:r>
              <a:rPr lang="zh-CN" altLang="en-US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字节；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每个数据是字节量、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8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位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数据</a:t>
            </a:r>
            <a:endParaRPr lang="zh-CN" altLang="en-US" sz="220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WORD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（</a:t>
            </a:r>
            <a:r>
              <a:rPr lang="en-US" altLang="zh-CN" sz="22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黑体" panose="02010609060101010101" pitchFamily="49" charset="-122"/>
              </a:rPr>
              <a:t>DW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）：</a:t>
            </a:r>
            <a:r>
              <a:rPr lang="zh-CN" altLang="en-US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字；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每个数据是字量、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16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位数据</a:t>
            </a:r>
            <a:endParaRPr lang="en-US" altLang="zh-CN" sz="220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DWORD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（</a:t>
            </a:r>
            <a:r>
              <a:rPr lang="en-US" altLang="zh-CN" sz="22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ea typeface="黑体" panose="02010609060101010101" pitchFamily="49" charset="-122"/>
              </a:rPr>
              <a:t>DD</a:t>
            </a:r>
            <a:r>
              <a:rPr lang="zh-CN" altLang="en-US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）：</a:t>
            </a:r>
            <a:r>
              <a:rPr lang="zh-CN" altLang="en-US" sz="22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双字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；每个数据是双字量、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32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位数据</a:t>
            </a:r>
            <a:endParaRPr lang="en-US" altLang="zh-CN" sz="220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FWORD</a:t>
            </a:r>
            <a:r>
              <a:rPr lang="zh-CN" altLang="en-US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（</a:t>
            </a:r>
            <a:r>
              <a:rPr lang="en-US" altLang="zh-CN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DF</a:t>
            </a:r>
            <a:r>
              <a:rPr lang="zh-CN" altLang="en-US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）：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3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个字；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       </a:t>
            </a:r>
            <a:r>
              <a:rPr lang="en-US" altLang="zh-CN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QWORD</a:t>
            </a:r>
            <a:r>
              <a:rPr lang="zh-CN" altLang="en-US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（</a:t>
            </a:r>
            <a:r>
              <a:rPr lang="en-US" altLang="zh-CN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DQ</a:t>
            </a:r>
            <a:r>
              <a:rPr lang="zh-CN" altLang="en-US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）：</a:t>
            </a:r>
            <a:r>
              <a:rPr lang="en-US" altLang="zh-CN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solidFill>
                  <a:srgbClr val="000000"/>
                </a:solidFill>
                <a:latin typeface="+mj-lt"/>
                <a:ea typeface="黑体" panose="02010609060101010101" pitchFamily="49" charset="-122"/>
              </a:rPr>
              <a:t>个字</a:t>
            </a:r>
            <a:endParaRPr lang="en-US" altLang="zh-CN" sz="2200" dirty="0">
              <a:solidFill>
                <a:srgbClr val="000000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692696"/>
            <a:ext cx="8280920" cy="6048672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变量定义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0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11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初值表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是用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逗号分隔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的参数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各种形式的常量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“？”表示未赋初值，但实际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填充为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0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复制操作符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DUP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82980" lvl="1" algn="just">
              <a:lnSpc>
                <a:spcPct val="130000"/>
              </a:lnSpc>
              <a:buClr>
                <a:srgbClr val="0000FF"/>
              </a:buClr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格式为：</a:t>
            </a:r>
            <a:r>
              <a:rPr lang="zh-CN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重复次数  </a:t>
            </a:r>
            <a:r>
              <a:rPr lang="en-US" altLang="zh-CN" sz="24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DUP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重复参数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)</a:t>
            </a:r>
            <a:endParaRPr lang="en-US" altLang="zh-CN" sz="2400" dirty="0">
              <a:solidFill>
                <a:schemeClr val="tx1"/>
              </a:solidFill>
              <a:highlight>
                <a:srgbClr val="FFFF00"/>
              </a:highlight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变量应用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043608" y="1331243"/>
            <a:ext cx="7344444" cy="520848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solidFill>
                  <a:srgbClr val="00B050"/>
                </a:solidFill>
                <a:latin typeface="+mn-lt"/>
              </a:rPr>
              <a:t>变量名   变量定义伪指令   初值表</a:t>
            </a:r>
            <a:endParaRPr lang="zh-CN" altLang="en-US" sz="24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043608" y="4393679"/>
            <a:ext cx="7344444" cy="1843633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bvar1  byte 128, 38h</a:t>
            </a:r>
            <a:endParaRPr lang="en-US" altLang="zh-CN" sz="2200" b="1" dirty="0">
              <a:solidFill>
                <a:srgbClr val="0000FF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wvar2  word  32768, 3139h</a:t>
            </a:r>
            <a:endParaRPr lang="en-US" altLang="zh-CN" sz="2200" b="1" dirty="0">
              <a:solidFill>
                <a:srgbClr val="0000FF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dvar3  </a:t>
            </a:r>
            <a:r>
              <a:rPr lang="en-US" altLang="zh-CN" sz="2200" b="1" dirty="0" err="1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dword</a:t>
            </a:r>
            <a:r>
              <a:rPr lang="en-US" altLang="zh-CN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  2 dup(11223344h)</a:t>
            </a:r>
            <a:endParaRPr lang="en-US" altLang="zh-CN" sz="2200" b="1" dirty="0">
              <a:solidFill>
                <a:srgbClr val="0000FF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等价于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dvar3  </a:t>
            </a:r>
            <a:r>
              <a:rPr lang="en-US" altLang="zh-CN" sz="2200" b="1" dirty="0" err="1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dword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  11223344h, 11223344h</a:t>
            </a:r>
            <a:endParaRPr lang="en-US" altLang="zh-CN" sz="2200" b="1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95536" y="730796"/>
            <a:ext cx="8424936" cy="6048672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+mn-lt"/>
              </a:rPr>
              <a:t>BYTE</a:t>
            </a:r>
            <a:r>
              <a:rPr lang="zh-CN" altLang="en-US" sz="2800" dirty="0">
                <a:latin typeface="+mn-lt"/>
              </a:rPr>
              <a:t>定义</a:t>
            </a:r>
            <a:r>
              <a:rPr lang="en-US" altLang="zh-CN" sz="2800" dirty="0">
                <a:latin typeface="+mn-lt"/>
              </a:rPr>
              <a:t>8</a:t>
            </a:r>
            <a:r>
              <a:rPr lang="zh-CN" altLang="en-US" sz="2800" dirty="0">
                <a:latin typeface="+mn-lt"/>
              </a:rPr>
              <a:t>位、字节量变量数据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功能：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分配一个或多个字节单元；每个数据是字节量，也可以是字符串常量</a:t>
            </a:r>
            <a:endParaRPr lang="en-US" altLang="zh-CN" sz="24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可以表示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8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位无符号或有符号数，字符的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ASCII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码值：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无符号整数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(Signed Integers)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255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补码表示的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有符号整数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(Unsigned Integers)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-128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+127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一个字符（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码值）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压缩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BCD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Compressed BCD code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) 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99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非压缩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BCD (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Uncompressed BCD code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9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字节量数据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BYTE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（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j-lt"/>
                <a:cs typeface="+mj-cs"/>
              </a:rPr>
              <a:t>DB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）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1115616" y="5937904"/>
            <a:ext cx="7632848" cy="576423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字符串定义使用字节变量定义</a:t>
            </a:r>
            <a:r>
              <a:rPr lang="en-US" altLang="zh-CN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BYTE</a:t>
            </a:r>
            <a:endParaRPr lang="en-US" altLang="zh-CN" sz="26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字节变量程序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67544" y="914571"/>
            <a:ext cx="8280920" cy="560070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=0000000A	</a:t>
            </a:r>
            <a:r>
              <a:rPr lang="en-US" altLang="zh-CN" sz="2000" b="1" dirty="0" err="1">
                <a:latin typeface="+mn-lt"/>
              </a:rPr>
              <a:t>minint</a:t>
            </a:r>
            <a:r>
              <a:rPr lang="en-US" altLang="zh-CN" sz="2000" b="1" dirty="0">
                <a:latin typeface="+mn-lt"/>
              </a:rPr>
              <a:t>	equ 10               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符号常量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00 80 FF 80 00 7F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	bvar1	byte 0,128,255,-128,0,+127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00000006	01 FF 26 DA 38 C8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	bvar2	byte  1,-1,38,-38,38h,-38h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0000000C	00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	bvar3	byte ?                          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未赋初值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0000000D	00000005 [24]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	bvar4	byte 5 dup (‘$’)          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复制操作符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DUP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00000012	0000000A [00] 0000000A [0A 00]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	bvar5	byte </a:t>
            </a:r>
            <a:r>
              <a:rPr lang="en-US" altLang="zh-CN" sz="2000" b="1" dirty="0" err="1">
                <a:latin typeface="+mn-lt"/>
              </a:rPr>
              <a:t>minint</a:t>
            </a:r>
            <a:r>
              <a:rPr lang="en-US" altLang="zh-CN" sz="2000" b="1" dirty="0">
                <a:latin typeface="+mn-lt"/>
              </a:rPr>
              <a:t> dup(0),</a:t>
            </a:r>
            <a:r>
              <a:rPr lang="en-US" altLang="zh-CN" sz="2000" b="1" dirty="0" err="1">
                <a:latin typeface="+mn-lt"/>
              </a:rPr>
              <a:t>minint</a:t>
            </a:r>
            <a:r>
              <a:rPr lang="en-US" altLang="zh-CN" sz="2000" b="1" dirty="0">
                <a:latin typeface="+mn-lt"/>
              </a:rPr>
              <a:t> dup(</a:t>
            </a:r>
            <a:r>
              <a:rPr lang="en-US" altLang="zh-CN" sz="2000" b="1" dirty="0" err="1">
                <a:latin typeface="+mn-lt"/>
              </a:rPr>
              <a:t>minint</a:t>
            </a:r>
            <a:r>
              <a:rPr lang="en-US" altLang="zh-CN" sz="2000" b="1" dirty="0">
                <a:latin typeface="+mn-lt"/>
              </a:rPr>
              <a:t>,?)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DUP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嵌套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00000030	00000002 [02 03 00000002 [04]]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	byte 2 dup(2,3,2 dup(4)) 	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无变量名，直接为初值表分配空间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23528" y="726149"/>
            <a:ext cx="8676456" cy="6048672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+mn-lt"/>
              </a:rPr>
              <a:t>WORD</a:t>
            </a:r>
            <a:r>
              <a:rPr lang="zh-CN" altLang="en-US" sz="2800" dirty="0">
                <a:latin typeface="+mn-lt"/>
              </a:rPr>
              <a:t>定义</a:t>
            </a:r>
            <a:r>
              <a:rPr lang="en-US" altLang="zh-CN" sz="2800" dirty="0">
                <a:latin typeface="+mn-lt"/>
              </a:rPr>
              <a:t>16</a:t>
            </a:r>
            <a:r>
              <a:rPr lang="zh-CN" altLang="en-US" sz="2800" dirty="0">
                <a:latin typeface="+mn-lt"/>
              </a:rPr>
              <a:t>位、字量变量数据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功能：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分配一个或多个字单元；每个数据是字量、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16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位数据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可以表示：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位无符号数或有符号数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位段选择器、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位偏移地址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包含高低两个字节，占用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个连续的字节存储单元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采用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小端方式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(Little-endian)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存储，即“</a:t>
            </a:r>
            <a:r>
              <a:rPr lang="zh-CN" altLang="en-US" sz="24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低对低、高对高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”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低字节数据存放在低地址存储单元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高字节数据存放在高地址存储单元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3.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字量数据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WORD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j-lt"/>
                <a:cs typeface="+mj-cs"/>
              </a:rPr>
              <a:t>（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j-lt"/>
                <a:cs typeface="+mj-cs"/>
              </a:rPr>
              <a:t>DW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+mj-lt"/>
                <a:cs typeface="+mj-cs"/>
              </a:rPr>
              <a:t>）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3252" name="图片 121859" descr="MCj03431830000[1]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15" y="5156835"/>
            <a:ext cx="1189355" cy="1085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字变量程序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31540" y="764704"/>
            <a:ext cx="8280920" cy="605409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= 0000000A	</a:t>
            </a:r>
            <a:r>
              <a:rPr lang="en-US" altLang="zh-CN" sz="2000" b="1" dirty="0" err="1">
                <a:latin typeface="+mn-lt"/>
              </a:rPr>
              <a:t>minint</a:t>
            </a:r>
            <a:r>
              <a:rPr lang="en-US" altLang="zh-CN" sz="2000" b="1" dirty="0">
                <a:latin typeface="+mn-lt"/>
              </a:rPr>
              <a:t>	equ 10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符号常量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0000 8000 FFFF 8000 0000 7FFF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latin typeface="+mn-lt"/>
              </a:rPr>
              <a:t>	wvar1	word 0, 32768, 65535, -32768, 0, +32767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0000000C	0001 FFFF 0026 FFDA 0038 FFC8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latin typeface="+mn-lt"/>
              </a:rPr>
              <a:t>	wvar2	word 1, -1, 38, -38, 38h, -38h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00000018	0000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latin typeface="+mn-lt"/>
              </a:rPr>
              <a:t>	wvar3	word ?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0000001A	2010 1020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latin typeface="+mn-lt"/>
              </a:rPr>
              <a:t>	wvar4	word 2010h, 1020h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0000001E	00000005 [000A 0000]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latin typeface="+mn-lt"/>
              </a:rPr>
              <a:t>	word 5 dup(</a:t>
            </a:r>
            <a:r>
              <a:rPr lang="en-US" altLang="zh-CN" sz="2000" b="1" dirty="0" err="1">
                <a:latin typeface="+mn-lt"/>
              </a:rPr>
              <a:t>minint</a:t>
            </a:r>
            <a:r>
              <a:rPr lang="en-US" altLang="zh-CN" sz="2000" b="1" dirty="0">
                <a:latin typeface="+mn-lt"/>
              </a:rPr>
              <a:t>,?)             	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无变量名的变量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00000032	3139 3832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latin typeface="+mn-lt"/>
              </a:rPr>
              <a:t>	wvar6	word 3139h, 3832h          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00000036	39 31 32 38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latin typeface="+mn-lt"/>
              </a:rPr>
              <a:t>	bvar6	byte 39h, 31h, 32h, 38h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;wvar6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bvar6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的存放顺序一致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0000003A	00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latin typeface="+mn-lt"/>
              </a:rPr>
              <a:t>	byte 0                                        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无变量名的变量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字变量程序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227" name="文本占位符 120834"/>
          <p:cNvSpPr>
            <a:spLocks noGrp="1"/>
          </p:cNvSpPr>
          <p:nvPr/>
        </p:nvSpPr>
        <p:spPr>
          <a:xfrm>
            <a:off x="292735" y="875030"/>
            <a:ext cx="8851265" cy="52463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800" b="1" i="0" u="none" kern="1200" baseline="0">
                <a:solidFill>
                  <a:srgbClr val="6633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 b="1" i="0" u="none" kern="1200" baseline="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ct val="0"/>
              </a:spcBef>
              <a:buNone/>
              <a:tabLst>
                <a:tab pos="1787525" algn="l"/>
              </a:tabLst>
            </a:pPr>
            <a:endParaRPr lang="en-US" altLang="zh-CN" sz="2800" dirty="0">
              <a:solidFill>
                <a:srgbClr val="FF9900"/>
              </a:solidFill>
            </a:endParaRPr>
          </a:p>
        </p:txBody>
      </p:sp>
      <p:sp>
        <p:nvSpPr>
          <p:cNvPr id="52228" name="文本框 120835"/>
          <p:cNvSpPr txBox="1"/>
          <p:nvPr/>
        </p:nvSpPr>
        <p:spPr>
          <a:xfrm>
            <a:off x="6031548" y="1340485"/>
            <a:ext cx="2525712" cy="933450"/>
          </a:xfrm>
          <a:prstGeom prst="rect">
            <a:avLst/>
          </a:prstGeom>
          <a:solidFill>
            <a:schemeClr val="bg1">
              <a:lumMod val="90000"/>
            </a:schemeClr>
          </a:solidFill>
          <a:ln w="19050" cap="flat" cmpd="sng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  <p:txBody>
          <a:bodyPr anchor="t" anchorCtr="0"/>
          <a:p>
            <a:r>
              <a:rPr lang="en-US" altLang="zh-CN" sz="3200" b="1">
                <a:solidFill>
                  <a:schemeClr val="tx1"/>
                </a:solidFill>
                <a:latin typeface="Times New Roman" panose="02020603050405020304" pitchFamily="18" charset="0"/>
              </a:rPr>
              <a:t>91289128</a:t>
            </a:r>
            <a:endParaRPr lang="en-US" altLang="zh-CN" sz="32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9" name="文本框 120836"/>
          <p:cNvSpPr txBox="1"/>
          <p:nvPr/>
        </p:nvSpPr>
        <p:spPr>
          <a:xfrm>
            <a:off x="7552373" y="2261235"/>
            <a:ext cx="1200150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r>
              <a:rPr lang="zh-CN" altLang="en-US" sz="2000" b="1" dirty="0">
                <a:solidFill>
                  <a:schemeClr val="tx1"/>
                </a:solidFill>
                <a:latin typeface="黑体" panose="02010609060101010101" pitchFamily="49" charset="-122"/>
              </a:rPr>
              <a:t>运行结果</a:t>
            </a:r>
            <a:endParaRPr lang="zh-CN" altLang="en-US" sz="2000" b="1" dirty="0">
              <a:solidFill>
                <a:schemeClr val="tx1"/>
              </a:solidFill>
              <a:latin typeface="黑体" panose="02010609060101010101" pitchFamily="49" charset="-122"/>
            </a:endParaRPr>
          </a:p>
        </p:txBody>
      </p:sp>
      <p:sp>
        <p:nvSpPr>
          <p:cNvPr id="120838" name="矩形 120837"/>
          <p:cNvSpPr/>
          <p:nvPr/>
        </p:nvSpPr>
        <p:spPr>
          <a:xfrm>
            <a:off x="7907973" y="1007110"/>
            <a:ext cx="638175" cy="5810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80000"/>
          </a:bodyPr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000" b="0" i="0" u="none" strike="noStrike" kern="1200" cap="none" spc="0" normalizeH="0" baseline="0" noProof="1">
                <a:ln w="12700" cap="flat" cmpd="sng">
                  <a:solidFill>
                    <a:srgbClr val="3333CC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楷体_GB2312" charset="0"/>
                <a:ea typeface="楷体_GB2312" charset="0"/>
                <a:cs typeface="+mn-cs"/>
              </a:rPr>
              <a:t>?</a:t>
            </a:r>
            <a:endParaRPr kumimoji="0" lang="zh-CN" altLang="en-US" sz="4000" b="0" i="0" u="none" strike="noStrike" kern="1200" cap="none" spc="0" normalizeH="0" baseline="0" noProof="1">
              <a:ln w="12700" cap="flat" cmpd="sng">
                <a:solidFill>
                  <a:srgbClr val="3333CC"/>
                </a:solidFill>
                <a:prstDash val="solid"/>
                <a:headEnd type="none" w="med" len="med"/>
                <a:tailEnd type="none" w="med" len="med"/>
              </a:ln>
              <a:solidFill>
                <a:srgbClr val="B2B2B2">
                  <a:alpha val="50000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楷体_GB2312" charset="0"/>
              <a:ea typeface="楷体_GB2312" charset="0"/>
              <a:cs typeface="+mn-cs"/>
            </a:endParaRPr>
          </a:p>
        </p:txBody>
      </p:sp>
      <p:grpSp>
        <p:nvGrpSpPr>
          <p:cNvPr id="52231" name="组合 99341"/>
          <p:cNvGrpSpPr/>
          <p:nvPr/>
        </p:nvGrpSpPr>
        <p:grpSpPr>
          <a:xfrm>
            <a:off x="111125" y="3143250"/>
            <a:ext cx="8897938" cy="3248025"/>
            <a:chOff x="22" y="980"/>
            <a:chExt cx="5730" cy="2229"/>
          </a:xfrm>
        </p:grpSpPr>
        <p:pic>
          <p:nvPicPr>
            <p:cNvPr id="52232" name="图片 99340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4893" r="12488"/>
            <a:stretch>
              <a:fillRect/>
            </a:stretch>
          </p:blipFill>
          <p:spPr>
            <a:xfrm>
              <a:off x="3340" y="980"/>
              <a:ext cx="2412" cy="222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2233" name="图片 99338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55426"/>
            <a:stretch>
              <a:fillRect/>
            </a:stretch>
          </p:blipFill>
          <p:spPr>
            <a:xfrm>
              <a:off x="22" y="980"/>
              <a:ext cx="3296" cy="222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矩形 2"/>
          <p:cNvSpPr/>
          <p:nvPr/>
        </p:nvSpPr>
        <p:spPr>
          <a:xfrm>
            <a:off x="386080" y="908685"/>
            <a:ext cx="5198110" cy="193802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indent="0" defTabSz="914400">
              <a:spcBef>
                <a:spcPct val="0"/>
              </a:spcBef>
              <a:buNone/>
              <a:tabLst>
                <a:tab pos="1787525" algn="l"/>
              </a:tabLst>
            </a:pPr>
            <a:r>
              <a:rPr lang="en-US" altLang="zh-CN" sz="2400" b="1">
                <a:sym typeface="+mn-ea"/>
              </a:rPr>
              <a:t>00000032	</a:t>
            </a:r>
            <a:r>
              <a:rPr lang="en-US" altLang="zh-CN" sz="2400" b="1">
                <a:solidFill>
                  <a:srgbClr val="193C7D"/>
                </a:solidFill>
                <a:sym typeface="+mn-ea"/>
              </a:rPr>
              <a:t>3139 3832</a:t>
            </a:r>
            <a:endParaRPr lang="en-US" altLang="zh-CN" sz="2400" b="1">
              <a:solidFill>
                <a:srgbClr val="193C7D"/>
              </a:solidFill>
            </a:endParaRPr>
          </a:p>
          <a:p>
            <a:pPr marL="0" indent="0" defTabSz="914400">
              <a:spcBef>
                <a:spcPct val="0"/>
              </a:spcBef>
              <a:buNone/>
              <a:tabLst>
                <a:tab pos="1787525" algn="l"/>
              </a:tabLst>
            </a:pPr>
            <a:r>
              <a:rPr lang="en-US" altLang="zh-CN" sz="2400" b="1">
                <a:solidFill>
                  <a:srgbClr val="FF9900"/>
                </a:solidFill>
                <a:sym typeface="+mn-ea"/>
              </a:rPr>
              <a:t>wvar6	word 3139h,3832h</a:t>
            </a:r>
            <a:endParaRPr lang="en-US" altLang="zh-CN" sz="2400" b="1">
              <a:solidFill>
                <a:schemeClr val="tx2"/>
              </a:solidFill>
            </a:endParaRPr>
          </a:p>
          <a:p>
            <a:pPr marL="0" indent="0" defTabSz="914400">
              <a:spcBef>
                <a:spcPct val="0"/>
              </a:spcBef>
              <a:buNone/>
              <a:tabLst>
                <a:tab pos="1787525" algn="l"/>
              </a:tabLst>
            </a:pPr>
            <a:r>
              <a:rPr lang="en-US" altLang="zh-CN" sz="2400" b="1">
                <a:sym typeface="+mn-ea"/>
              </a:rPr>
              <a:t>00000036	</a:t>
            </a:r>
            <a:r>
              <a:rPr lang="en-US" altLang="zh-CN" sz="2400" b="1">
                <a:solidFill>
                  <a:srgbClr val="193C7D"/>
                </a:solidFill>
                <a:sym typeface="+mn-ea"/>
              </a:rPr>
              <a:t>39 31 32 38</a:t>
            </a:r>
            <a:endParaRPr lang="en-US" altLang="zh-CN" sz="2400" b="1">
              <a:solidFill>
                <a:srgbClr val="193C7D"/>
              </a:solidFill>
            </a:endParaRPr>
          </a:p>
          <a:p>
            <a:pPr marL="0" indent="0" defTabSz="914400">
              <a:spcBef>
                <a:spcPct val="0"/>
              </a:spcBef>
              <a:buNone/>
              <a:tabLst>
                <a:tab pos="1787525" algn="l"/>
              </a:tabLst>
            </a:pPr>
            <a:r>
              <a:rPr lang="en-US" altLang="zh-CN" sz="2400" b="1">
                <a:solidFill>
                  <a:srgbClr val="FF9900"/>
                </a:solidFill>
                <a:sym typeface="+mn-ea"/>
              </a:rPr>
              <a:t>bvar6	byte 39h,31h,32h,38h</a:t>
            </a:r>
            <a:endParaRPr lang="en-US" altLang="zh-CN" sz="2400" b="1">
              <a:solidFill>
                <a:srgbClr val="FF9900"/>
              </a:solidFill>
            </a:endParaRPr>
          </a:p>
          <a:p>
            <a:pPr marL="0" indent="0" defTabSz="914400">
              <a:spcBef>
                <a:spcPct val="0"/>
              </a:spcBef>
              <a:buNone/>
              <a:tabLst>
                <a:tab pos="1787525" algn="l"/>
              </a:tabLst>
            </a:pPr>
            <a:r>
              <a:rPr lang="en-US" altLang="zh-CN" sz="2400" b="1">
                <a:sym typeface="+mn-ea"/>
              </a:rPr>
              <a:t>0000003A	</a:t>
            </a:r>
            <a:r>
              <a:rPr lang="en-US" altLang="zh-CN" sz="2400" b="1">
                <a:solidFill>
                  <a:srgbClr val="193C7D"/>
                </a:solidFill>
                <a:sym typeface="+mn-ea"/>
              </a:rPr>
              <a:t>00</a:t>
            </a:r>
            <a:r>
              <a:rPr lang="en-US" altLang="zh-CN" sz="2400" b="1">
                <a:sym typeface="+mn-ea"/>
              </a:rPr>
              <a:t>	</a:t>
            </a:r>
            <a:r>
              <a:rPr lang="en-US" altLang="zh-CN" sz="2400" b="1">
                <a:solidFill>
                  <a:srgbClr val="FF9900"/>
                </a:solidFill>
                <a:sym typeface="+mn-ea"/>
              </a:rPr>
              <a:t>db 0</a:t>
            </a:r>
            <a:endParaRPr lang="en-US" altLang="zh-CN" sz="2400" b="1" dirty="0">
              <a:solidFill>
                <a:srgbClr val="FF9900"/>
              </a:solidFill>
              <a:latin typeface="+mn-lt"/>
              <a:sym typeface="+mn-ea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64704"/>
            <a:ext cx="8136904" cy="554079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+mn-lt"/>
              </a:rPr>
              <a:t>DWORD</a:t>
            </a:r>
            <a:r>
              <a:rPr lang="zh-CN" altLang="en-US" sz="2800" dirty="0">
                <a:latin typeface="+mn-lt"/>
              </a:rPr>
              <a:t>定义</a:t>
            </a:r>
            <a:r>
              <a:rPr lang="en-US" altLang="zh-CN" sz="2800" dirty="0">
                <a:latin typeface="+mn-lt"/>
              </a:rPr>
              <a:t>32</a:t>
            </a:r>
            <a:r>
              <a:rPr lang="zh-CN" altLang="en-US" sz="2800" dirty="0">
                <a:latin typeface="+mn-lt"/>
              </a:rPr>
              <a:t>位、双字量变量数据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功能：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分配一个或多个双字单元；每个数据是双字量、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位数据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可以表示：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位无符号和有符号整数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位偏移地址、线性地址或段基地址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位数据包含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个字节，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IA-32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处理器均采用小端方式进行存储，以“高对高、低对低”原则占用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个连续字节空间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双字量数据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DWORD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-4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双字变量程序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8700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31540" y="713861"/>
            <a:ext cx="8388932" cy="621176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=0000000A	</a:t>
            </a:r>
            <a:r>
              <a:rPr lang="en-US" altLang="zh-CN" sz="2000" b="1" dirty="0" err="1">
                <a:latin typeface="+mn-lt"/>
              </a:rPr>
              <a:t>minint</a:t>
            </a:r>
            <a:r>
              <a:rPr lang="en-US" altLang="zh-CN" sz="2000" b="1" dirty="0">
                <a:latin typeface="+mn-lt"/>
              </a:rPr>
              <a:t>= 10       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符号常量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00000000 80000000 FFFFFFFF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80000000 00000000 7FFFFFFF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latin typeface="+mn-lt"/>
              </a:rPr>
              <a:t>	dvar1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	0, 80000000h, 0ffffffffh, -80000000h, 0, 7fffffffh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00000018	00000001 FFFFFFFF 00000026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FFFFFFDA 00000038 FFFFFFC8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latin typeface="+mn-lt"/>
              </a:rPr>
              <a:t>	dvar2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	1, -1, 38, -38, 38h, -38h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00000030	00000000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latin typeface="+mn-lt"/>
              </a:rPr>
              <a:t>	dvar3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?                         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;?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表示未赋初值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00000034	00002010 00001020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	2010h, 1020h                     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变量名可以省略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pt-BR" altLang="zh-CN" sz="2000" b="1" dirty="0">
                <a:solidFill>
                  <a:srgbClr val="00B050"/>
                </a:solidFill>
                <a:latin typeface="+mn-lt"/>
              </a:rPr>
              <a:t>0000003C	0000000A [0000000A 00000000]</a:t>
            </a:r>
            <a:endParaRPr lang="pt-BR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pt-BR" altLang="zh-CN" sz="2000" b="1" dirty="0">
                <a:latin typeface="+mn-lt"/>
              </a:rPr>
              <a:t>	dvar5	dword 	minint dup(minint,?)            </a:t>
            </a:r>
            <a:r>
              <a:rPr lang="pt-BR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(4+4)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*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10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字节</a:t>
            </a:r>
            <a:endParaRPr lang="pt-BR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pt-BR" altLang="zh-CN" sz="2000" b="1" dirty="0">
                <a:solidFill>
                  <a:srgbClr val="00B050"/>
                </a:solidFill>
                <a:latin typeface="+mn-lt"/>
              </a:rPr>
              <a:t>0000008C	38323139</a:t>
            </a:r>
            <a:endParaRPr lang="pt-BR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pt-BR" altLang="zh-CN" sz="2000" b="1" dirty="0">
                <a:latin typeface="+mn-lt"/>
              </a:rPr>
              <a:t>	dvar6	dword 	38323139h</a:t>
            </a:r>
            <a:endParaRPr lang="pt-BR" altLang="zh-CN" sz="2000" b="1" dirty="0"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pt-BR" altLang="zh-CN" sz="2000" b="1" dirty="0">
                <a:solidFill>
                  <a:srgbClr val="00B050"/>
                </a:solidFill>
                <a:latin typeface="+mn-lt"/>
              </a:rPr>
              <a:t>00000090	39 31 32 38</a:t>
            </a:r>
            <a:endParaRPr lang="pt-BR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pt-BR" altLang="zh-CN" sz="2000" b="1" dirty="0">
                <a:latin typeface="+mn-lt"/>
              </a:rPr>
              <a:t>	bvar6	byte 	39h, 31h, 32h, 38h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;dvar6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bvar6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的存放顺序一致</a:t>
            </a:r>
            <a:endParaRPr lang="pt-BR" altLang="zh-CN" sz="2000" b="1" dirty="0"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pt-BR" altLang="zh-CN" sz="2000" b="1" dirty="0">
                <a:solidFill>
                  <a:srgbClr val="00B050"/>
                </a:solidFill>
                <a:latin typeface="+mn-lt"/>
              </a:rPr>
              <a:t>00000094	00</a:t>
            </a:r>
            <a:endParaRPr lang="pt-BR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pt-BR" altLang="zh-CN" sz="2000" b="1" dirty="0">
                <a:latin typeface="+mn-lt"/>
              </a:rPr>
              <a:t>	byte 0</a:t>
            </a:r>
            <a:endParaRPr lang="en-US" altLang="zh-CN" sz="2000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83568" y="404664"/>
            <a:ext cx="8064896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B050"/>
                </a:solidFill>
                <a:latin typeface="+mj-lt"/>
                <a:sym typeface="微软雅黑" panose="020B0503020204020204" charset="-122"/>
              </a:rPr>
              <a:t>BUF DWORD 10h DUP( 3 DUP( 2,5 ) ,3 ,4 ,5)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语句为变量 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BUF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分配的内存空间的字节数是（ ）。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541959" y="234888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50h</a:t>
            </a:r>
            <a:endParaRPr lang="en-US" altLang="zh-CN" sz="28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541959" y="320613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90h</a:t>
            </a:r>
            <a:endParaRPr lang="zh-CN" altLang="en-US" sz="28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541959" y="406338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240h</a:t>
            </a:r>
            <a:endParaRPr lang="zh-CN" altLang="en-US" sz="28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541959" y="4920630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120h</a:t>
            </a:r>
            <a:endParaRPr lang="zh-CN" altLang="en-US" sz="28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827584" y="241317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827584" y="327042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827584" y="412767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827584" y="498492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0"/>
            </p:custDataLst>
          </p:nvPr>
        </p:nvSpPr>
        <p:spPr bwMode="auto">
          <a:xfrm>
            <a:off x="5885359" y="5777880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840531"/>
            <a:ext cx="8136904" cy="554079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变量定义的存储空间是按照书写的先后顺序一个接着一个分配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“ORG 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参数</a:t>
            </a: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” 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控制存放的偏移地址</a:t>
            </a:r>
            <a:endParaRPr lang="zh-CN" altLang="en-US" sz="26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zh-CN" altLang="en-US" sz="2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指令代码也由汇编程序按照语句的书写顺序安排存储空间，定位伪指令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ORG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也可以用于控制代码的偏移地址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变量定位：指定偏移地址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  <a:p>
            <a:pPr lvl="0">
              <a:defRPr/>
            </a:pP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56418" y="2708920"/>
            <a:ext cx="7464871" cy="521205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None/>
              <a:defRPr/>
            </a:pP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org 100h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	               ;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从偏移地址</a:t>
            </a:r>
            <a:r>
              <a:rPr lang="en-US" altLang="zh-CN" sz="2400" dirty="0">
                <a:latin typeface="+mj-lt"/>
                <a:ea typeface="黑体" panose="02010609060101010101" pitchFamily="49" charset="-122"/>
              </a:rPr>
              <a:t>100H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处安排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68776"/>
            <a:ext cx="8136904" cy="554079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600" dirty="0">
                <a:solidFill>
                  <a:srgbClr val="0000FF"/>
                </a:solidFill>
                <a:latin typeface="+mn-lt"/>
              </a:rPr>
              <a:t>N</a:t>
            </a:r>
            <a:r>
              <a:rPr lang="zh-CN" altLang="en-US" sz="2600" dirty="0">
                <a:solidFill>
                  <a:srgbClr val="0000FF"/>
                </a:solidFill>
                <a:latin typeface="+mn-lt"/>
              </a:rPr>
              <a:t>字节数据起始于能够被</a:t>
            </a:r>
            <a:r>
              <a:rPr lang="en-US" altLang="zh-CN" sz="2600" dirty="0">
                <a:solidFill>
                  <a:srgbClr val="0000FF"/>
                </a:solidFill>
                <a:latin typeface="+mn-lt"/>
              </a:rPr>
              <a:t>N</a:t>
            </a:r>
            <a:r>
              <a:rPr lang="zh-CN" altLang="en-US" sz="2600" dirty="0">
                <a:solidFill>
                  <a:srgbClr val="0000FF"/>
                </a:solidFill>
                <a:latin typeface="+mn-lt"/>
              </a:rPr>
              <a:t>整除的地址</a:t>
            </a:r>
            <a:endParaRPr lang="zh-CN" altLang="en-US" sz="2600" dirty="0">
              <a:solidFill>
                <a:srgbClr val="0000FF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字节、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位数据是被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整除的地址（偶地址）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字节、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位数据是被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整除的地址（模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地址）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字节、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64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位数据是被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整除的地址（模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地址）</a:t>
            </a:r>
            <a:endParaRPr lang="zh-CN" altLang="en-US" sz="2600" dirty="0">
              <a:solidFill>
                <a:srgbClr val="FF0000"/>
              </a:solidFill>
              <a:latin typeface="+mn-lt"/>
            </a:endParaRPr>
          </a:p>
          <a:p>
            <a:pPr marL="457200" indent="-457200" algn="just" latinLnBrk="0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IA-32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处理器允许不对齐边界存放数据，性能有下降</a:t>
            </a:r>
            <a:endParaRPr lang="zh-CN" altLang="en-US" sz="2600" dirty="0">
              <a:solidFill>
                <a:srgbClr val="FF0000"/>
              </a:solidFill>
              <a:latin typeface="+mn-lt"/>
            </a:endParaRPr>
          </a:p>
          <a:p>
            <a:pPr marL="457200" indent="-457200" algn="just" latinLnBrk="0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“ALIGN N” 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控制对齐</a:t>
            </a: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N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字节边界</a:t>
            </a:r>
            <a:endParaRPr lang="zh-CN" altLang="en-US" sz="2600" dirty="0">
              <a:solidFill>
                <a:srgbClr val="FF0000"/>
              </a:solidFill>
              <a:latin typeface="+mn-lt"/>
            </a:endParaRPr>
          </a:p>
          <a:p>
            <a:pPr marL="0" indent="0" algn="just">
              <a:lnSpc>
                <a:spcPct val="130000"/>
              </a:lnSpc>
              <a:spcBef>
                <a:spcPts val="1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None/>
              <a:defRPr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变量定位：对齐地址边界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56418" y="4197995"/>
            <a:ext cx="7464871" cy="521205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None/>
              <a:defRPr/>
            </a:pPr>
            <a:r>
              <a:rPr lang="en-US" altLang="zh-CN" sz="24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align  4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	               ;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对齐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字节地址边界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1043940" y="5008245"/>
            <a:ext cx="7477760" cy="93218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地址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对齐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字节边界</a:t>
            </a:r>
            <a:endParaRPr lang="zh-CN" altLang="en-US" sz="24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A mod N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＝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0 (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能够被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整除的地址</a:t>
            </a: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sz="24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2-5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变量定位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94710" y="909484"/>
            <a:ext cx="8280920" cy="536956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2743200" lvl="6" indent="457200" latinLnBrk="0">
              <a:lnSpc>
                <a:spcPct val="130000"/>
              </a:lnSpc>
            </a:pPr>
            <a:r>
              <a:rPr lang="en-US" altLang="zh-CN" sz="2200" b="1" dirty="0">
                <a:sym typeface="+mn-ea"/>
              </a:rPr>
              <a:t>org 100h</a:t>
            </a:r>
            <a:endParaRPr lang="en-US" altLang="zh-CN" sz="2200" b="1" dirty="0">
              <a:solidFill>
                <a:srgbClr val="00B050"/>
              </a:solidFill>
              <a:latin typeface="+mn-lt"/>
              <a:sym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  <a:sym typeface="+mn-ea"/>
              </a:rPr>
              <a:t>00000100	 64</a:t>
            </a:r>
            <a:r>
              <a:rPr lang="en-US" altLang="zh-CN" sz="2200" b="1" dirty="0">
                <a:latin typeface="+mn-lt"/>
                <a:sym typeface="+mn-ea"/>
              </a:rPr>
              <a:t>	</a:t>
            </a:r>
            <a:endParaRPr lang="en-US" altLang="zh-CN" sz="2200" b="1" dirty="0">
              <a:latin typeface="+mn-lt"/>
              <a:sym typeface="+mn-ea"/>
            </a:endParaRPr>
          </a:p>
          <a:p>
            <a:pPr marL="457200" lvl="1" indent="457200" latinLnBrk="0">
              <a:lnSpc>
                <a:spcPct val="130000"/>
              </a:lnSpc>
            </a:pPr>
            <a:r>
              <a:rPr lang="en-US" altLang="zh-CN" sz="2200" b="1" dirty="0" err="1">
                <a:latin typeface="+mn-lt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bvar1	 </a:t>
            </a: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byte  100</a:t>
            </a:r>
            <a:endParaRPr lang="en-US" altLang="zh-CN" sz="2200" b="1" dirty="0">
              <a:latin typeface="+mn-lt"/>
            </a:endParaRPr>
          </a:p>
          <a:p>
            <a:pPr marL="0" indent="0" defTabSz="914400" latinLnBrk="0">
              <a:lnSpc>
                <a:spcPct val="130000"/>
              </a:lnSpc>
              <a:spcBef>
                <a:spcPct val="0"/>
              </a:spcBef>
              <a:buNone/>
              <a:tabLst>
                <a:tab pos="3589655" algn="l"/>
                <a:tab pos="4754880" algn="l"/>
              </a:tabLst>
            </a:pPr>
            <a:r>
              <a:rPr lang="en-US" altLang="zh-CN" sz="2200" b="1" dirty="0">
                <a:sym typeface="+mn-ea"/>
              </a:rPr>
              <a:t>                                             align 2</a:t>
            </a:r>
            <a:endParaRPr lang="en-US" altLang="zh-CN" sz="2200" b="1" dirty="0">
              <a:solidFill>
                <a:srgbClr val="0000FF"/>
              </a:solidFill>
            </a:endParaRPr>
          </a:p>
          <a:p>
            <a:pPr marL="0" indent="0" algn="just" defTabSz="914400" latinLnBrk="0">
              <a:lnSpc>
                <a:spcPct val="130000"/>
              </a:lnSpc>
              <a:buFontTx/>
              <a:buNone/>
              <a:tabLst>
                <a:tab pos="3589655" algn="l"/>
                <a:tab pos="4754880" algn="l"/>
              </a:tabLst>
            </a:pPr>
            <a:r>
              <a:rPr lang="en-US" altLang="zh-CN" sz="2200" b="1" dirty="0">
                <a:solidFill>
                  <a:srgbClr val="00B050"/>
                </a:solidFill>
                <a:sym typeface="+mn-ea"/>
              </a:rPr>
              <a:t> 00000102           0064</a:t>
            </a:r>
            <a:r>
              <a:rPr lang="en-US" altLang="zh-CN" sz="2200" b="1" dirty="0">
                <a:solidFill>
                  <a:schemeClr val="tx2"/>
                </a:solidFill>
                <a:sym typeface="+mn-ea"/>
              </a:rPr>
              <a:t>	</a:t>
            </a:r>
            <a:endParaRPr lang="en-US" altLang="zh-CN" sz="2200" b="1" dirty="0">
              <a:solidFill>
                <a:schemeClr val="tx2"/>
              </a:solidFill>
              <a:sym typeface="+mn-ea"/>
            </a:endParaRPr>
          </a:p>
          <a:p>
            <a:pPr marL="0" indent="0" algn="just" defTabSz="914400" latinLnBrk="0">
              <a:lnSpc>
                <a:spcPct val="130000"/>
              </a:lnSpc>
              <a:buFontTx/>
              <a:buNone/>
              <a:tabLst>
                <a:tab pos="3589655" algn="l"/>
                <a:tab pos="4754880" algn="l"/>
              </a:tabLst>
            </a:pPr>
            <a:r>
              <a:rPr lang="en-US" altLang="zh-CN" sz="2200" b="1" dirty="0">
                <a:solidFill>
                  <a:schemeClr val="tx2"/>
                </a:solidFill>
                <a:sym typeface="+mn-ea"/>
              </a:rPr>
              <a:t>               </a:t>
            </a:r>
            <a:r>
              <a:rPr kumimoji="0" lang="en-US" altLang="zh-CN" sz="2200" b="1" dirty="0">
                <a:solidFill>
                  <a:srgbClr val="FF9900"/>
                </a:solidFill>
                <a:latin typeface="+mn-lt"/>
                <a:ea typeface="+mn-ea"/>
                <a:sym typeface="+mn-ea"/>
              </a:rPr>
              <a:t>wvar2  word 100</a:t>
            </a:r>
            <a:r>
              <a:rPr lang="en-US" altLang="zh-CN" sz="2200" b="1" dirty="0">
                <a:solidFill>
                  <a:srgbClr val="FF9900"/>
                </a:solidFill>
                <a:sym typeface="+mn-ea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;bvar1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之后是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00101H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，但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align 2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对齐偶地址</a:t>
            </a:r>
            <a:endParaRPr lang="en-US" altLang="zh-CN" sz="2000" b="1" dirty="0">
              <a:solidFill>
                <a:srgbClr val="FF9900"/>
              </a:solidFill>
            </a:endParaRPr>
          </a:p>
          <a:p>
            <a:pPr marL="0" indent="0" defTabSz="914400" latinLnBrk="0">
              <a:lnSpc>
                <a:spcPct val="130000"/>
              </a:lnSpc>
              <a:spcBef>
                <a:spcPct val="0"/>
              </a:spcBef>
              <a:buNone/>
              <a:tabLst>
                <a:tab pos="3589655" algn="l"/>
                <a:tab pos="4754880" algn="l"/>
              </a:tabLst>
            </a:pPr>
            <a:r>
              <a:rPr lang="en-US" altLang="zh-CN" sz="2200" b="1" dirty="0">
                <a:sym typeface="+mn-ea"/>
              </a:rPr>
              <a:t>                                              align 4</a:t>
            </a:r>
            <a:endParaRPr lang="en-US" altLang="zh-CN" sz="22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30000"/>
              </a:lnSpc>
              <a:spcBef>
                <a:spcPct val="0"/>
              </a:spcBef>
              <a:buNone/>
              <a:tabLst>
                <a:tab pos="3589655" algn="l"/>
                <a:tab pos="4754880" algn="l"/>
              </a:tabLst>
            </a:pPr>
            <a:r>
              <a:rPr lang="en-US" altLang="zh-CN" sz="2200" b="1" dirty="0">
                <a:solidFill>
                  <a:srgbClr val="00B050"/>
                </a:solidFill>
                <a:sym typeface="+mn-ea"/>
              </a:rPr>
              <a:t> 00000104           00000000</a:t>
            </a:r>
            <a:r>
              <a:rPr lang="en-US" altLang="zh-CN" sz="2200" b="1" dirty="0">
                <a:solidFill>
                  <a:schemeClr val="tx2"/>
                </a:solidFill>
                <a:sym typeface="+mn-ea"/>
              </a:rPr>
              <a:t>	</a:t>
            </a:r>
            <a:endParaRPr lang="en-US" altLang="zh-CN" sz="2200" b="1" dirty="0">
              <a:solidFill>
                <a:schemeClr val="tx2"/>
              </a:solidFill>
              <a:sym typeface="+mn-ea"/>
            </a:endParaRPr>
          </a:p>
          <a:p>
            <a:pPr marL="0" indent="0" defTabSz="914400" latinLnBrk="0">
              <a:lnSpc>
                <a:spcPct val="130000"/>
              </a:lnSpc>
              <a:spcBef>
                <a:spcPct val="0"/>
              </a:spcBef>
              <a:buNone/>
              <a:tabLst>
                <a:tab pos="3589655" algn="l"/>
                <a:tab pos="4754880" algn="l"/>
              </a:tabLst>
            </a:pPr>
            <a:r>
              <a:rPr lang="en-US" altLang="zh-CN" sz="2200" b="1" dirty="0">
                <a:solidFill>
                  <a:schemeClr val="tx2"/>
                </a:solidFill>
                <a:sym typeface="+mn-ea"/>
              </a:rPr>
              <a:t>               </a:t>
            </a: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dvar3   dd   ?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marL="0" indent="0" defTabSz="914400" latinLnBrk="0">
              <a:lnSpc>
                <a:spcPct val="130000"/>
              </a:lnSpc>
              <a:spcBef>
                <a:spcPct val="0"/>
              </a:spcBef>
              <a:buNone/>
              <a:tabLst>
                <a:tab pos="3589655" algn="l"/>
                <a:tab pos="4754880" algn="l"/>
              </a:tabLst>
            </a:pPr>
            <a:r>
              <a:rPr lang="en-US" altLang="zh-CN" sz="2200" b="1" dirty="0">
                <a:sym typeface="+mn-ea"/>
              </a:rPr>
              <a:t>                                              align 4</a:t>
            </a:r>
            <a:endParaRPr lang="en-US" altLang="zh-CN" sz="22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30000"/>
              </a:lnSpc>
              <a:spcBef>
                <a:spcPct val="0"/>
              </a:spcBef>
              <a:buNone/>
              <a:tabLst>
                <a:tab pos="3589655" algn="l"/>
                <a:tab pos="4754880" algn="l"/>
              </a:tabLst>
            </a:pPr>
            <a:r>
              <a:rPr lang="en-US" altLang="zh-CN" sz="2200" b="1" dirty="0">
                <a:solidFill>
                  <a:srgbClr val="00B050"/>
                </a:solidFill>
                <a:sym typeface="+mn-ea"/>
              </a:rPr>
              <a:t> 00000108 00000000</a:t>
            </a:r>
            <a:r>
              <a:rPr lang="en-US" altLang="zh-CN" sz="2200" b="1" dirty="0">
                <a:solidFill>
                  <a:schemeClr val="tx2"/>
                </a:solidFill>
                <a:sym typeface="+mn-ea"/>
              </a:rPr>
              <a:t>	</a:t>
            </a:r>
            <a:endParaRPr lang="en-US" altLang="zh-CN" sz="2200" b="1" dirty="0">
              <a:solidFill>
                <a:schemeClr val="tx2"/>
              </a:solidFill>
              <a:sym typeface="+mn-ea"/>
            </a:endParaRPr>
          </a:p>
          <a:p>
            <a:pPr marL="0" indent="0" defTabSz="914400" latinLnBrk="0">
              <a:lnSpc>
                <a:spcPct val="130000"/>
              </a:lnSpc>
              <a:spcBef>
                <a:spcPct val="0"/>
              </a:spcBef>
              <a:buNone/>
              <a:tabLst>
                <a:tab pos="3589655" algn="l"/>
                <a:tab pos="4754880" algn="l"/>
              </a:tabLst>
            </a:pPr>
            <a:r>
              <a:rPr lang="en-US" altLang="zh-CN" sz="2200" b="1" dirty="0">
                <a:solidFill>
                  <a:schemeClr val="tx2"/>
                </a:solidFill>
                <a:sym typeface="+mn-ea"/>
              </a:rPr>
              <a:t>               </a:t>
            </a:r>
            <a:r>
              <a:rPr lang="en-US" altLang="zh-CN" sz="2200" b="1" dirty="0">
                <a:solidFill>
                  <a:schemeClr val="tx1"/>
                </a:solidFill>
                <a:sym typeface="+mn-ea"/>
              </a:rPr>
              <a:t>dvar4   dd   ?</a:t>
            </a:r>
            <a:endParaRPr lang="en-US" altLang="zh-CN" sz="2200" b="1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64704"/>
            <a:ext cx="8136904" cy="554079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变量定义</a:t>
            </a:r>
            <a:r>
              <a:rPr lang="en-US" altLang="zh-CN" sz="2800" dirty="0">
                <a:latin typeface="+mn-lt"/>
              </a:rPr>
              <a:t>Variable definition</a:t>
            </a:r>
            <a:endParaRPr lang="en-US" altLang="zh-CN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分配存储空间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赋初值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创建变量名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变量属性</a:t>
            </a:r>
            <a:r>
              <a:rPr lang="en-US" altLang="zh-CN" sz="2800" dirty="0">
                <a:latin typeface="+mn-lt"/>
              </a:rPr>
              <a:t>Variable attribute</a:t>
            </a:r>
            <a:endParaRPr lang="en-US" altLang="zh-CN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地址属性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Address attribute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首个变量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所在存储单元的逻辑地址，含有段基地址和偏移地址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类型属性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Type attribute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：变量定义的数据单位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2.3.2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变量属性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Variable attribute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989484" y="5147667"/>
            <a:ext cx="7542956" cy="1118220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None/>
              <a:defRPr/>
            </a:pP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字节量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BYTE              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字量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WORD                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双字量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DWORD </a:t>
            </a:r>
            <a:endParaRPr lang="en-US" altLang="zh-CN" sz="2200" b="1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None/>
              <a:defRPr/>
            </a:pP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3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字量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FWORD            </a:t>
            </a:r>
            <a:r>
              <a:rPr lang="en-US" altLang="zh-CN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4</a:t>
            </a:r>
            <a:r>
              <a:rPr lang="zh-CN" altLang="en-US" sz="22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字量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QWORD          </a:t>
            </a:r>
            <a:r>
              <a:rPr lang="en-US" altLang="zh-CN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10</a:t>
            </a:r>
            <a:r>
              <a:rPr lang="zh-CN" altLang="en-US" sz="2200" b="1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字节量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TBYTE</a:t>
            </a:r>
            <a:endParaRPr lang="en-US" altLang="zh-CN" sz="2200" b="1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74229"/>
            <a:ext cx="8136904" cy="554079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地址操作符用于获取变量名的地址属性</a:t>
            </a:r>
            <a:endParaRPr lang="en-US" altLang="zh-CN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主要有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SEG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OFFSET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、中括号和美元符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⒈ 地址操作符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Address operator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1077541" y="2060848"/>
          <a:ext cx="7382891" cy="2823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31"/>
                <a:gridCol w="5040560"/>
              </a:tblGrid>
              <a:tr h="661390">
                <a:tc>
                  <a:txBody>
                    <a:bodyPr/>
                    <a:lstStyle/>
                    <a:p>
                      <a:pPr algn="ctr"/>
                      <a:endParaRPr lang="en-US" altLang="zh-CN" sz="4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地址操作符</a:t>
                      </a:r>
                      <a:endParaRPr lang="zh-CN" altLang="en-US" sz="24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4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作用</a:t>
                      </a:r>
                      <a:endParaRPr lang="zh-CN" altLang="en-US" sz="24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</a:tr>
              <a:tr h="530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[ ]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括起的表达式作为存储器地址指针</a:t>
                      </a:r>
                      <a:endParaRPr lang="zh-CN" altLang="en-US" sz="22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47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$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返回当前偏移地址</a:t>
                      </a:r>
                      <a:r>
                        <a:rPr kumimoji="0" lang="en-US" altLang="zh-CN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(</a:t>
                      </a: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下一个能用的地址</a:t>
                      </a:r>
                      <a:r>
                        <a:rPr kumimoji="0" lang="en-US" altLang="zh-CN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)</a:t>
                      </a:r>
                      <a:endParaRPr kumimoji="0" lang="zh-CN" altLang="en-US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</a:tr>
              <a:tr h="530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OFFSET </a:t>
                      </a: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变量名</a:t>
                      </a:r>
                      <a:endParaRPr lang="zh-CN" altLang="en-US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返回变量名所在段的偏移地址</a:t>
                      </a:r>
                      <a:endParaRPr kumimoji="0" lang="zh-CN" altLang="en-US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</a:tr>
              <a:tr h="555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SEG </a:t>
                      </a: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变量名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返回段基地址（实地址存储模型）</a:t>
                      </a:r>
                      <a:endParaRPr kumimoji="0" lang="zh-CN" altLang="en-US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-6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变量地址属性程序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1525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31540" y="673899"/>
            <a:ext cx="8280920" cy="606996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latinLnBrk="0">
              <a:lnSpc>
                <a:spcPct val="108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数据段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12 34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bvar</a:t>
            </a:r>
            <a:r>
              <a:rPr lang="en-US" altLang="zh-CN" sz="2000" b="1" dirty="0">
                <a:latin typeface="+mn-lt"/>
              </a:rPr>
              <a:t>	byte 12h,34h</a:t>
            </a:r>
            <a:endParaRPr lang="en-US" altLang="zh-CN" sz="2000" b="1" dirty="0"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00000002	0001 0002 0003 0004 0005 0006 0007 0008 0009 000A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latin typeface="+mn-lt"/>
              </a:rPr>
              <a:t>	array	word 1,2,3,4,5,6,7,8,9,10</a:t>
            </a:r>
            <a:endParaRPr lang="en-US" altLang="zh-CN" sz="2000" b="1" dirty="0"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00000016	5678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wvar</a:t>
            </a:r>
            <a:r>
              <a:rPr lang="en-US" altLang="zh-CN" sz="2000" b="1" dirty="0">
                <a:latin typeface="+mn-lt"/>
              </a:rPr>
              <a:t>	word 5678h</a:t>
            </a:r>
            <a:endParaRPr lang="en-US" altLang="zh-CN" sz="2000" b="1" dirty="0"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00000018             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=00000016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457200" lvl="1" indent="457200" latinLnBrk="0">
              <a:lnSpc>
                <a:spcPct val="108000"/>
              </a:lnSpc>
            </a:pPr>
            <a:r>
              <a:rPr lang="en-US" altLang="zh-CN" sz="2000" b="1" dirty="0" err="1">
                <a:latin typeface="+mn-lt"/>
              </a:rPr>
              <a:t>arr_size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>
                <a:latin typeface="+mn-lt"/>
              </a:rPr>
              <a:t>equ $-array	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arr_size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=18h-02h==16h=22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00000018             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=0000000B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457200" lvl="1" indent="457200" latinLnBrk="0">
              <a:lnSpc>
                <a:spcPct val="108000"/>
              </a:lnSpc>
            </a:pPr>
            <a:r>
              <a:rPr lang="en-US" altLang="zh-CN" sz="2000" b="1" dirty="0" err="1">
                <a:latin typeface="+mn-lt"/>
              </a:rPr>
              <a:t>arr_len</a:t>
            </a:r>
            <a:r>
              <a:rPr lang="en-US" altLang="zh-CN" sz="2000" b="1" dirty="0">
                <a:latin typeface="+mn-lt"/>
              </a:rPr>
              <a:t> equ </a:t>
            </a:r>
            <a:r>
              <a:rPr lang="en-US" altLang="zh-CN" sz="2000" b="1" dirty="0" err="1">
                <a:latin typeface="+mn-lt"/>
              </a:rPr>
              <a:t>arr_size</a:t>
            </a:r>
            <a:r>
              <a:rPr lang="en-US" altLang="zh-CN" sz="2000" b="1" dirty="0">
                <a:latin typeface="+mn-lt"/>
              </a:rPr>
              <a:t>/2             </a:t>
            </a:r>
            <a:r>
              <a:rPr lang="en-US" altLang="zh-CN" sz="1400" b="1" dirty="0">
                <a:latin typeface="+mn-lt"/>
              </a:rPr>
              <a:t>  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arr_len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=11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00000018	9ABCDEF0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dvar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9abcdef0h</a:t>
            </a:r>
            <a:endParaRPr lang="en-US" altLang="zh-CN" sz="2000" b="1" dirty="0"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代码段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A0 00000000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al, [bvar]                       ;MASM</a:t>
            </a:r>
            <a:r>
              <a:rPr lang="zh-CN" altLang="en-US" sz="2000" b="1" dirty="0" err="1">
                <a:latin typeface="+mn-lt"/>
              </a:rPr>
              <a:t>中也可以</a:t>
            </a:r>
            <a:r>
              <a:rPr lang="en-US" altLang="zh-CN" sz="2000" b="1" dirty="0" err="1">
                <a:latin typeface="+mn-lt"/>
              </a:rPr>
              <a:t>mov al, bvar</a:t>
            </a:r>
            <a:endParaRPr lang="en-US" altLang="zh-CN" sz="2000" b="1" dirty="0"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00000005	8A 25 00000001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latin typeface="+mn-lt"/>
              </a:rPr>
              <a:t>	mov ah, [bvar+1]            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AX=3412h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，等同于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bvar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[1]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Rounded Rectangular Callout 2"/>
          <p:cNvSpPr/>
          <p:nvPr/>
        </p:nvSpPr>
        <p:spPr bwMode="auto">
          <a:xfrm>
            <a:off x="4810125" y="4076700"/>
            <a:ext cx="3898900" cy="1250315"/>
          </a:xfrm>
          <a:prstGeom prst="wedgeRoundRectCallout">
            <a:avLst>
              <a:gd name="adj1" fmla="val -59136"/>
              <a:gd name="adj2" fmla="val 81995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l"/>
            <a:r>
              <a:rPr lang="en-US" altLang="zh-CN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MASM</a:t>
            </a:r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中取值：</a:t>
            </a:r>
            <a:r>
              <a:rPr lang="en-US" altLang="zh-CN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mov al, [bvar]</a:t>
            </a:r>
            <a:endParaRPr lang="en-US" altLang="zh-CN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en-US" altLang="zh-CN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mov al, bvar</a:t>
            </a:r>
            <a:endParaRPr lang="en-US" altLang="zh-CN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取地址：</a:t>
            </a:r>
            <a:r>
              <a:rPr lang="en-US" altLang="zh-CN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mov ebx, offset bvar</a:t>
            </a:r>
            <a:endParaRPr lang="en-US" altLang="zh-CN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-6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变量地址属性程序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8700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95536" y="745654"/>
            <a:ext cx="8388932" cy="569277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0000000B	66| 8B 1D	00000022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bx, wvar</a:t>
            </a:r>
            <a:r>
              <a:rPr lang="en-US" altLang="zh-CN" sz="2000" b="1" dirty="0">
                <a:latin typeface="+mn-lt"/>
              </a:rPr>
              <a:t>[2]	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直接寻址，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BX=DEF0h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，等同于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wvar+2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00000012	B9 0000000B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ecx, arr_len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立即数寻址，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ECX=0000000Bh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00000017	BA 00000017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edx</a:t>
            </a:r>
            <a:r>
              <a:rPr lang="en-US" altLang="zh-CN" sz="2000" b="1" dirty="0">
                <a:latin typeface="+mn-lt"/>
              </a:rPr>
              <a:t>, $	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立即数寻址，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EDX=00000017h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0000001C	BE 00000018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esi, offset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dvar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立即数寻址，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ESI=00000018h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00000021	8B 3E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edi</a:t>
            </a:r>
            <a:r>
              <a:rPr lang="en-US" altLang="zh-CN" sz="2000" b="1" dirty="0">
                <a:latin typeface="+mn-lt"/>
              </a:rPr>
              <a:t>, [</a:t>
            </a:r>
            <a:r>
              <a:rPr lang="en-US" altLang="zh-CN" sz="2000" b="1" dirty="0" err="1">
                <a:latin typeface="+mn-lt"/>
              </a:rPr>
              <a:t>esi</a:t>
            </a:r>
            <a:r>
              <a:rPr lang="en-US" altLang="zh-CN" sz="2000" b="1" dirty="0">
                <a:latin typeface="+mn-lt"/>
              </a:rPr>
              <a:t>]	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寄存器间接寻址，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EDI=9ABCDEF0h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00000023	8B 2D 00000022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ebp, [dvar]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直接寻址，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EBP= 9ABCDEF0h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00000029	E8 00000000 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	call </a:t>
            </a:r>
            <a:r>
              <a:rPr lang="en-US" altLang="zh-CN" sz="2000" b="1" dirty="0" err="1">
                <a:latin typeface="+mn-lt"/>
              </a:rPr>
              <a:t>disprd</a:t>
            </a:r>
            <a:endParaRPr lang="en-US" altLang="zh-CN" sz="2000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74229"/>
            <a:ext cx="8136904" cy="554079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类型操作符使用变量名的类型属性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主要有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PTR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TYPE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LENGTHOF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SIZEOF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⒉ 类型操作符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Type operator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1077541" y="2060848"/>
          <a:ext cx="7238875" cy="2823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387"/>
                <a:gridCol w="4392488"/>
              </a:tblGrid>
              <a:tr h="661390">
                <a:tc>
                  <a:txBody>
                    <a:bodyPr/>
                    <a:lstStyle/>
                    <a:p>
                      <a:pPr algn="ctr"/>
                      <a:endParaRPr lang="en-US" altLang="zh-CN" sz="4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类型操作符</a:t>
                      </a:r>
                      <a:endParaRPr lang="zh-CN" altLang="en-US" sz="24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4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ctr"/>
                      <a:r>
                        <a:rPr lang="zh-CN" altLang="en-US" sz="2400" b="1" kern="1200" dirty="0">
                          <a:solidFill>
                            <a:schemeClr val="lt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作用</a:t>
                      </a:r>
                      <a:endParaRPr lang="zh-CN" altLang="en-US" sz="2400" b="1" kern="1200" dirty="0">
                        <a:solidFill>
                          <a:schemeClr val="lt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</a:tr>
              <a:tr h="530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类型名 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PTR </a:t>
                      </a: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变量名</a:t>
                      </a:r>
                      <a:endParaRPr kumimoji="0" lang="zh-CN" altLang="en-US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将变量名按照指定的类型使用</a:t>
                      </a: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47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TYPE </a:t>
                      </a: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变量名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返回占用字节空间的字量数值</a:t>
                      </a:r>
                      <a:endParaRPr kumimoji="0" lang="zh-CN" altLang="en-US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</a:tr>
              <a:tr h="5300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LENGTHOF </a:t>
                      </a: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变量名</a:t>
                      </a:r>
                      <a:endParaRPr lang="zh-CN" altLang="en-US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返回整个变量的数据项数</a:t>
                      </a:r>
                      <a:endParaRPr kumimoji="0" lang="zh-CN" altLang="en-US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</a:tr>
              <a:tr h="5554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SIZEOF </a:t>
                      </a: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变量名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2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返回整个变量占用的字节数</a:t>
                      </a:r>
                      <a:endParaRPr kumimoji="0" lang="zh-CN" altLang="en-US" sz="2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1051398" y="5229200"/>
            <a:ext cx="7265018" cy="576423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SIZEOF</a:t>
            </a:r>
            <a:r>
              <a:rPr lang="zh-CN" altLang="en-US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值</a:t>
            </a:r>
            <a:r>
              <a:rPr lang="en-US" altLang="zh-CN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 = LENGTHOF</a:t>
            </a:r>
            <a:r>
              <a:rPr lang="zh-CN" altLang="en-US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值</a:t>
            </a:r>
            <a:r>
              <a:rPr lang="en-US" altLang="zh-CN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 * TYPE</a:t>
            </a:r>
            <a:r>
              <a:rPr lang="zh-CN" altLang="en-US" sz="2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值</a:t>
            </a:r>
            <a:endParaRPr lang="en-US" altLang="zh-CN" sz="26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-7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变量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类型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属性程序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8700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31540" y="836712"/>
            <a:ext cx="8280920" cy="540829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数据段，与例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2-6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完全相同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12 34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5000"/>
              </a:lnSpc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bvar</a:t>
            </a:r>
            <a:r>
              <a:rPr lang="en-US" altLang="zh-CN" sz="2000" b="1" dirty="0">
                <a:latin typeface="+mn-lt"/>
              </a:rPr>
              <a:t>	byte 12h,34h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00000002	0001 0002 0003 0004 0005 0006 0007 0008 0009 000A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5000"/>
              </a:lnSpc>
            </a:pPr>
            <a:r>
              <a:rPr lang="en-US" altLang="zh-CN" sz="2000" b="1" dirty="0">
                <a:latin typeface="+mn-lt"/>
              </a:rPr>
              <a:t>	array	word 1,2,3,4,5,6,7,8,9,10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5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00000016	5678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5000"/>
              </a:lnSpc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wvar</a:t>
            </a:r>
            <a:r>
              <a:rPr lang="en-US" altLang="zh-CN" sz="2000" b="1" dirty="0">
                <a:latin typeface="+mn-lt"/>
              </a:rPr>
              <a:t>	word 5678h</a:t>
            </a:r>
            <a:endParaRPr lang="en-US" altLang="zh-CN" sz="2000" b="1" dirty="0"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00000018             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=00000016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457200" lvl="1" indent="457200" latinLnBrk="0">
              <a:lnSpc>
                <a:spcPct val="108000"/>
              </a:lnSpc>
            </a:pPr>
            <a:r>
              <a:rPr lang="en-US" altLang="zh-CN" sz="2000" b="1" dirty="0" err="1">
                <a:latin typeface="+mn-lt"/>
                <a:sym typeface="+mn-ea"/>
              </a:rPr>
              <a:t>arr_size</a:t>
            </a:r>
            <a:r>
              <a:rPr lang="en-US" altLang="zh-CN" sz="2000" b="1" dirty="0">
                <a:latin typeface="+mn-lt"/>
                <a:sym typeface="+mn-ea"/>
              </a:rPr>
              <a:t> equ $-array	   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sym typeface="+mn-ea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  <a:sym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  <a:sym typeface="+mn-ea"/>
              </a:rPr>
              <a:t>arr_size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sym typeface="+mn-ea"/>
              </a:rPr>
              <a:t>=18h-02h==16h=22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00000018             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=0000000B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457200" lvl="1" indent="457200" latinLnBrk="0">
              <a:lnSpc>
                <a:spcPct val="108000"/>
              </a:lnSpc>
            </a:pPr>
            <a:r>
              <a:rPr lang="en-US" altLang="zh-CN" sz="2000" b="1" dirty="0" err="1">
                <a:latin typeface="+mn-lt"/>
                <a:sym typeface="+mn-ea"/>
              </a:rPr>
              <a:t>arr_len</a:t>
            </a:r>
            <a:r>
              <a:rPr lang="en-US" altLang="zh-CN" sz="2000" b="1" dirty="0">
                <a:latin typeface="+mn-lt"/>
                <a:sym typeface="+mn-ea"/>
              </a:rPr>
              <a:t> equ </a:t>
            </a:r>
            <a:r>
              <a:rPr lang="en-US" altLang="zh-CN" sz="2000" b="1" dirty="0" err="1">
                <a:latin typeface="+mn-lt"/>
                <a:sym typeface="+mn-ea"/>
              </a:rPr>
              <a:t>arr_size</a:t>
            </a:r>
            <a:r>
              <a:rPr lang="en-US" altLang="zh-CN" sz="2000" b="1" dirty="0">
                <a:latin typeface="+mn-lt"/>
                <a:sym typeface="+mn-ea"/>
              </a:rPr>
              <a:t>/2             </a:t>
            </a:r>
            <a:r>
              <a:rPr lang="en-US" altLang="zh-CN" sz="2000" b="1" dirty="0">
                <a:latin typeface="+mn-lt"/>
                <a:sym typeface="+mn-ea"/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sym typeface="+mn-ea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  <a:sym typeface="+mn-ea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  <a:sym typeface="+mn-ea"/>
              </a:rPr>
              <a:t>arr_len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sym typeface="+mn-ea"/>
              </a:rPr>
              <a:t>=11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00000018	9ABCDEF0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latinLnBrk="0">
              <a:lnSpc>
                <a:spcPct val="108000"/>
              </a:lnSpc>
            </a:pPr>
            <a:r>
              <a:rPr lang="en-US" altLang="zh-CN" sz="2000" b="1" dirty="0">
                <a:latin typeface="+mn-lt"/>
                <a:sym typeface="+mn-ea"/>
              </a:rPr>
              <a:t>	</a:t>
            </a:r>
            <a:r>
              <a:rPr lang="en-US" altLang="zh-CN" sz="2000" b="1" dirty="0" err="1">
                <a:latin typeface="+mn-lt"/>
                <a:sym typeface="+mn-ea"/>
              </a:rPr>
              <a:t>dvar</a:t>
            </a:r>
            <a:r>
              <a:rPr lang="en-US" altLang="zh-CN" sz="2000" b="1" dirty="0">
                <a:latin typeface="+mn-lt"/>
                <a:sym typeface="+mn-ea"/>
              </a:rPr>
              <a:t>	</a:t>
            </a:r>
            <a:r>
              <a:rPr lang="en-US" altLang="zh-CN" sz="2000" b="1" dirty="0" err="1">
                <a:latin typeface="+mn-lt"/>
                <a:sym typeface="+mn-ea"/>
              </a:rPr>
              <a:t>dword</a:t>
            </a:r>
            <a:r>
              <a:rPr lang="en-US" altLang="zh-CN" sz="2000" b="1" dirty="0">
                <a:latin typeface="+mn-lt"/>
                <a:sym typeface="+mn-ea"/>
              </a:rPr>
              <a:t> 9abcdef0h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5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代码段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-7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变量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类型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属性程序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8700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31540" y="745654"/>
            <a:ext cx="8280920" cy="550799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A1 0000000C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latin typeface="+mn-lt"/>
              </a:rPr>
              <a:t>, 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ptr</a:t>
            </a:r>
            <a:r>
              <a:rPr lang="en-US" altLang="zh-CN" sz="2000" b="1" dirty="0">
                <a:latin typeface="+mn-lt"/>
              </a:rPr>
              <a:t> [array]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以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dword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取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数据，</a:t>
            </a:r>
            <a:r>
              <a:rPr kumimoji="1" lang="en-US" altLang="zh-CN" sz="2000" dirty="0">
                <a:solidFill>
                  <a:srgbClr val="FF0000"/>
                </a:solidFill>
              </a:rPr>
              <a:t> EAX</a:t>
            </a:r>
            <a:r>
              <a:rPr kumimoji="1" lang="en-US" altLang="zh-CN" sz="2000">
                <a:solidFill>
                  <a:srgbClr val="FF0000"/>
                </a:solidFill>
              </a:rPr>
              <a:t>=00020001h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00000005	BB 00000001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, type </a:t>
            </a:r>
            <a:r>
              <a:rPr lang="en-US" altLang="zh-CN" sz="2000" b="1" dirty="0" err="1">
                <a:latin typeface="+mn-lt"/>
              </a:rPr>
              <a:t>bvar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获得字节类型值，</a:t>
            </a:r>
            <a:r>
              <a:rPr kumimoji="1" lang="en-US" altLang="zh-CN" sz="2000" dirty="0">
                <a:solidFill>
                  <a:srgbClr val="FF0000"/>
                </a:solidFill>
              </a:rPr>
              <a:t>EBX=00000001h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0000000A	B9 00000002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ecx</a:t>
            </a:r>
            <a:r>
              <a:rPr lang="en-US" altLang="zh-CN" sz="2000" b="1" dirty="0">
                <a:latin typeface="+mn-lt"/>
              </a:rPr>
              <a:t>, type </a:t>
            </a:r>
            <a:r>
              <a:rPr lang="en-US" altLang="zh-CN" sz="2000" b="1" dirty="0" err="1">
                <a:latin typeface="+mn-lt"/>
              </a:rPr>
              <a:t>wvar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获得字类型值，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ECX=</a:t>
            </a:r>
            <a:r>
              <a:rPr kumimoji="1" lang="en-US" altLang="zh-CN" sz="2000" dirty="0">
                <a:solidFill>
                  <a:srgbClr val="FF0000"/>
                </a:solidFill>
              </a:rPr>
              <a:t> 00000002h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0000000F	BA 00000004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edx</a:t>
            </a:r>
            <a:r>
              <a:rPr lang="en-US" altLang="zh-CN" sz="2000" b="1" dirty="0">
                <a:latin typeface="+mn-lt"/>
              </a:rPr>
              <a:t>, type </a:t>
            </a:r>
            <a:r>
              <a:rPr lang="en-US" altLang="zh-CN" sz="2000" b="1" dirty="0" err="1">
                <a:latin typeface="+mn-lt"/>
              </a:rPr>
              <a:t>dvar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获得双字类型值，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EDX=</a:t>
            </a:r>
            <a:r>
              <a:rPr kumimoji="1" lang="en-US" altLang="zh-CN" sz="2000" dirty="0">
                <a:solidFill>
                  <a:srgbClr val="FF0000"/>
                </a:solidFill>
              </a:rPr>
              <a:t> 00000004h</a:t>
            </a:r>
            <a:endParaRPr lang="en-US" altLang="zh-CN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00000014	BE 0000000A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esi, lengthof</a:t>
            </a:r>
            <a:r>
              <a:rPr lang="en-US" altLang="zh-CN" sz="2000" b="1" dirty="0">
                <a:latin typeface="+mn-lt"/>
              </a:rPr>
              <a:t> array   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获得数据个数，</a:t>
            </a:r>
            <a:r>
              <a:rPr kumimoji="1" lang="en-US" altLang="zh-CN" sz="2000" dirty="0">
                <a:solidFill>
                  <a:srgbClr val="FF0000"/>
                </a:solidFill>
              </a:rPr>
              <a:t> ESI=0000000Ah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00000019	BF 00000014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edi, sizeof</a:t>
            </a:r>
            <a:r>
              <a:rPr lang="en-US" altLang="zh-CN" sz="2000" b="1" dirty="0">
                <a:latin typeface="+mn-lt"/>
              </a:rPr>
              <a:t> array	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获得字节长度，</a:t>
            </a:r>
            <a:r>
              <a:rPr kumimoji="1" lang="en-US" altLang="zh-CN" sz="2000" dirty="0">
                <a:solidFill>
                  <a:srgbClr val="FF0000"/>
                </a:solidFill>
              </a:rPr>
              <a:t> EDI=00000014h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0000001E	BD 00000016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ebp, arr_size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获得字节长度，</a:t>
            </a:r>
            <a:r>
              <a:rPr kumimoji="1" lang="en-US" altLang="zh-CN" sz="2000" dirty="0">
                <a:solidFill>
                  <a:srgbClr val="FF0000"/>
                </a:solidFill>
              </a:rPr>
              <a:t> EBP=00000016h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00000023	E8 00000000 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000" b="1" dirty="0">
                <a:latin typeface="+mn-lt"/>
              </a:rPr>
              <a:t>	call </a:t>
            </a:r>
            <a:r>
              <a:rPr lang="en-US" altLang="zh-CN" sz="2000" b="1" dirty="0" err="1">
                <a:latin typeface="+mn-lt"/>
              </a:rPr>
              <a:t>disprd</a:t>
            </a:r>
            <a:r>
              <a:rPr lang="en-US" altLang="zh-CN" sz="2000" b="1" dirty="0">
                <a:latin typeface="+mn-lt"/>
              </a:rPr>
              <a:t> 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397260" y="5572844"/>
            <a:ext cx="7315200" cy="990600"/>
          </a:xfrm>
          <a:prstGeom prst="rect">
            <a:avLst/>
          </a:prstGeom>
          <a:solidFill>
            <a:srgbClr val="333333"/>
          </a:solidFill>
          <a:ln w="1905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sy="-100000" kx="3284103" algn="bl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kumimoji="1" lang="en-US" altLang="zh-CN" sz="2000" dirty="0">
                <a:solidFill>
                  <a:schemeClr val="bg1"/>
                </a:solidFill>
              </a:rPr>
              <a:t>EAX=00020001, EBX=00000001, ECX=00000002, EDX=00000004</a:t>
            </a:r>
            <a:endParaRPr kumimoji="1" lang="en-US" altLang="zh-CN" sz="2000" dirty="0">
              <a:solidFill>
                <a:schemeClr val="bg1"/>
              </a:solidFill>
            </a:endParaRPr>
          </a:p>
          <a:p>
            <a:pPr algn="l" eaLnBrk="1" hangingPunct="1">
              <a:buClrTx/>
              <a:buFontTx/>
              <a:buNone/>
            </a:pPr>
            <a:r>
              <a:rPr kumimoji="1" lang="en-US" altLang="zh-CN" sz="2000" dirty="0">
                <a:solidFill>
                  <a:schemeClr val="bg1"/>
                </a:solidFill>
              </a:rPr>
              <a:t>ESI=0000000A, EDI=00000014, EBP=00000016, ESP=0012FFC4</a:t>
            </a:r>
            <a:endParaRPr kumimoji="1" lang="en-US" altLang="zh-C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补码、变量定义、内存分配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8700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398016" y="493787"/>
            <a:ext cx="8494464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600" dirty="0">
                <a:solidFill>
                  <a:srgbClr val="000000"/>
                </a:solidFill>
                <a:highlight>
                  <a:srgbClr val="FFFF00"/>
                </a:highlight>
                <a:latin typeface="黑体" panose="02010609060101010101" pitchFamily="49" charset="-122"/>
                <a:sym typeface="微软雅黑" panose="020B0503020204020204" charset="-122"/>
              </a:rPr>
              <a:t>例：画出以下伪指令所定义的数据在内存中的存放示意图</a:t>
            </a:r>
            <a:endParaRPr lang="en-US" altLang="zh-CN" sz="2600" dirty="0">
              <a:solidFill>
                <a:srgbClr val="000000"/>
              </a:solidFill>
              <a:highlight>
                <a:srgbClr val="FFFF00"/>
              </a:highlight>
              <a:latin typeface="黑体" panose="02010609060101010101" pitchFamily="49" charset="-122"/>
              <a:sym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DAT1 byte ‘AB’,10,10h, 2 dup (-1)</a:t>
            </a:r>
            <a:endParaRPr lang="en-US" altLang="zh-CN" sz="26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DAT2 word 38h,-5</a:t>
            </a:r>
            <a:endParaRPr lang="zh-CN" altLang="en-US" sz="26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154" y="1639553"/>
            <a:ext cx="1543050" cy="4525751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7543204" y="1811020"/>
            <a:ext cx="1421284" cy="558949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  <a:latin typeface="黑体" panose="02010609060101010101" pitchFamily="49" charset="-122"/>
                <a:sym typeface="微软雅黑" panose="020B0503020204020204" charset="-122"/>
              </a:rPr>
              <a:t>高地址</a:t>
            </a:r>
            <a:endParaRPr lang="zh-CN" altLang="en-US" sz="2400" dirty="0">
              <a:solidFill>
                <a:srgbClr val="00B05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7543204" y="5247958"/>
            <a:ext cx="1421284" cy="558949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B050"/>
                </a:solidFill>
                <a:latin typeface="黑体" panose="02010609060101010101" pitchFamily="49" charset="-122"/>
                <a:sym typeface="微软雅黑" panose="020B0503020204020204" charset="-122"/>
              </a:rPr>
              <a:t>低地址</a:t>
            </a:r>
            <a:endParaRPr lang="zh-CN" altLang="en-US" sz="2400" dirty="0">
              <a:solidFill>
                <a:srgbClr val="00B05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6086" y="2417917"/>
            <a:ext cx="5281260" cy="3510576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dirty="0">
                <a:latin typeface="+mn-lt"/>
              </a:rPr>
              <a:t>1) </a:t>
            </a:r>
            <a:r>
              <a:rPr lang="zh-CN" altLang="en-US" sz="2200" dirty="0">
                <a:latin typeface="+mn-lt"/>
              </a:rPr>
              <a:t>整数在内存中以补码形式存放</a:t>
            </a:r>
            <a:endParaRPr lang="en-US" altLang="zh-CN" sz="2200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dirty="0">
                <a:latin typeface="+mn-lt"/>
              </a:rPr>
              <a:t>2) </a:t>
            </a:r>
            <a:r>
              <a:rPr lang="zh-CN" altLang="en-US" sz="2200" dirty="0">
                <a:latin typeface="+mn-lt"/>
              </a:rPr>
              <a:t>字符在内存中以</a:t>
            </a:r>
            <a:r>
              <a:rPr lang="en-US" altLang="zh-CN" sz="2200" dirty="0">
                <a:latin typeface="+mn-lt"/>
              </a:rPr>
              <a:t>ASCII</a:t>
            </a:r>
            <a:r>
              <a:rPr lang="zh-CN" altLang="en-US" sz="2200" dirty="0">
                <a:latin typeface="+mn-lt"/>
              </a:rPr>
              <a:t>码形式存放</a:t>
            </a:r>
            <a:endParaRPr lang="en-US" altLang="zh-CN" sz="2200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dirty="0">
                <a:latin typeface="+mn-lt"/>
              </a:rPr>
              <a:t>3) DUP</a:t>
            </a:r>
            <a:r>
              <a:rPr lang="zh-CN" altLang="en-US" sz="2200" dirty="0">
                <a:latin typeface="+mn-lt"/>
              </a:rPr>
              <a:t>的格式：重复次数 </a:t>
            </a:r>
            <a:r>
              <a:rPr lang="en-US" altLang="zh-CN" sz="2200" dirty="0">
                <a:latin typeface="+mn-lt"/>
              </a:rPr>
              <a:t>DUP(</a:t>
            </a:r>
            <a:r>
              <a:rPr lang="zh-CN" altLang="en-US" sz="2200" dirty="0">
                <a:latin typeface="+mn-lt"/>
              </a:rPr>
              <a:t>重复参数</a:t>
            </a:r>
            <a:r>
              <a:rPr lang="en-US" altLang="zh-CN" sz="2200" dirty="0">
                <a:latin typeface="+mn-lt"/>
              </a:rPr>
              <a:t>)</a:t>
            </a:r>
            <a:endParaRPr lang="en-US" altLang="zh-CN" sz="2200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dirty="0">
                <a:latin typeface="+mn-lt"/>
              </a:rPr>
              <a:t>4)</a:t>
            </a:r>
            <a:r>
              <a:rPr lang="zh-CN" altLang="en-US" sz="2200" dirty="0">
                <a:latin typeface="+mn-lt"/>
              </a:rPr>
              <a:t> 变量的定义：</a:t>
            </a:r>
            <a:r>
              <a:rPr lang="en-US" altLang="zh-CN" sz="2200" dirty="0">
                <a:latin typeface="+mn-lt"/>
              </a:rPr>
              <a:t>byte word</a:t>
            </a:r>
            <a:endParaRPr lang="en-US" altLang="zh-CN" sz="2200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200" dirty="0">
                <a:latin typeface="+mn-lt"/>
              </a:rPr>
              <a:t>5) IA-32</a:t>
            </a:r>
            <a:r>
              <a:rPr lang="zh-CN" altLang="en-US" sz="2200" dirty="0">
                <a:latin typeface="+mn-lt"/>
              </a:rPr>
              <a:t>处理器采用小端方式存储多字节数据，“高高低低”的原则：</a:t>
            </a:r>
            <a:endParaRPr lang="zh-CN" altLang="en-US" sz="2200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200" dirty="0">
                <a:latin typeface="+mn-lt"/>
              </a:rPr>
              <a:t>高字节放到高地址，低字节放到低地址</a:t>
            </a:r>
            <a:endParaRPr lang="en-US" altLang="zh-CN" sz="2200" dirty="0">
              <a:latin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6372200" y="5445224"/>
            <a:ext cx="864097" cy="2880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41H</a:t>
            </a:r>
            <a:endParaRPr lang="zh-CN" altLang="en-US" sz="24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6372199" y="5013176"/>
            <a:ext cx="864097" cy="2880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42H</a:t>
            </a:r>
            <a:endParaRPr lang="zh-CN" altLang="en-US" sz="24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6366477" y="4602012"/>
            <a:ext cx="864097" cy="2880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0AH</a:t>
            </a:r>
            <a:endParaRPr lang="zh-CN" altLang="en-US" sz="24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6377922" y="4174642"/>
            <a:ext cx="864097" cy="2880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10H</a:t>
            </a:r>
            <a:endParaRPr lang="zh-CN" altLang="en-US" sz="24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6377921" y="3742594"/>
            <a:ext cx="864097" cy="2880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FFH</a:t>
            </a:r>
            <a:endParaRPr lang="zh-CN" altLang="en-US" sz="24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6372199" y="3331430"/>
            <a:ext cx="864097" cy="2880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FFH</a:t>
            </a:r>
            <a:endParaRPr lang="zh-CN" altLang="en-US" sz="24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6376707" y="2883176"/>
            <a:ext cx="864097" cy="2880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38H</a:t>
            </a:r>
            <a:endParaRPr lang="zh-CN" altLang="en-US" sz="24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6376706" y="2451128"/>
            <a:ext cx="864097" cy="2880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00H</a:t>
            </a:r>
            <a:endParaRPr lang="zh-CN" altLang="en-US" sz="24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6370984" y="2039964"/>
            <a:ext cx="864097" cy="2880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FBH</a:t>
            </a:r>
            <a:endParaRPr lang="zh-CN" altLang="en-US" sz="24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6359102" y="1618358"/>
            <a:ext cx="864097" cy="2880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FFH</a:t>
            </a:r>
            <a:endParaRPr lang="zh-CN" altLang="en-US" sz="24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1" grpId="0"/>
      <p:bldP spid="12" grpId="0"/>
      <p:bldP spid="14" grpId="0"/>
      <p:bldP spid="15" grpId="0"/>
      <p:bldP spid="16" grpId="0"/>
      <p:bldP spid="17" grpId="0"/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539552" y="692696"/>
            <a:ext cx="8064896" cy="5904656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指令有两部分：操作码和操作数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操作码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：处理器要执行哪种操作（如传送、运算、移位、跳转等），不可缺少，用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助记符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表示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操作数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：各种操作的对象，需要通过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地址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指示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数据寻址方式：通过地址查找到操作数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立即数寻址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(Immediate Addressing)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：数据与指令操作码一起，用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常量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表达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寄存器寻址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(Register Addressing)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：数据在寄存器中，用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寄存器名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表示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存储器寻址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(Memory Addressing)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：数据在主存中，用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存储器地址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代表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4418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2.4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数据寻址方式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Data Addressing Mode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0793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539552" y="798157"/>
            <a:ext cx="8064896" cy="5798506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操作数紧跟操作码，作为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指令机器代码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的一部分，随着取值操作从主存进入指令寄存器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操作数直接用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常量</a:t>
            </a: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(Constant)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形式表达，称为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立即数</a:t>
            </a: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(Immediate)</a:t>
            </a:r>
            <a:endParaRPr lang="zh-CN" altLang="en-US" sz="26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立即数寻址方式只用于源操作数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，在传送指令中常用来给寄存器和存储单元赋值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2.4.1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立即数寻址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方式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Immediate Addressing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115616" y="4221088"/>
            <a:ext cx="7488832" cy="1961243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</a:t>
            </a:r>
            <a:r>
              <a:rPr lang="en-US" altLang="zh-CN" sz="2400" b="1" dirty="0">
                <a:solidFill>
                  <a:srgbClr val="00B050"/>
                </a:solidFill>
                <a:latin typeface="+mn-lt"/>
              </a:rPr>
              <a:t>MOV EAX, 33221100H</a:t>
            </a:r>
            <a:endParaRPr lang="en-US" altLang="zh-CN" sz="24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机器代码：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B8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00 11 22 33</a:t>
            </a:r>
            <a:endParaRPr lang="en-US" altLang="zh-CN" sz="2400" dirty="0"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操作码：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B8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+mn-lt"/>
              </a:rPr>
              <a:t>操作数：</a:t>
            </a:r>
            <a:r>
              <a:rPr lang="en-US" altLang="zh-CN" sz="2400" dirty="0">
                <a:latin typeface="+mn-lt"/>
              </a:rPr>
              <a:t>33221100</a:t>
            </a:r>
            <a:endParaRPr lang="zh-CN" altLang="en-US" sz="2400" dirty="0">
              <a:latin typeface="+mn-lt"/>
            </a:endParaRP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4501789" y="5281467"/>
            <a:ext cx="4117981" cy="900864"/>
          </a:xfrm>
          <a:prstGeom prst="wedgeRoundRectCallout">
            <a:avLst>
              <a:gd name="adj1" fmla="val -41514"/>
              <a:gd name="adj2" fmla="val -123754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ctr"/>
            <a:endParaRPr lang="en-US" altLang="zh-CN" sz="2800" dirty="0">
              <a:solidFill>
                <a:srgbClr val="00B050"/>
              </a:solidFill>
              <a:ea typeface="黑体" panose="02010609060101010101" pitchFamily="49" charset="-122"/>
            </a:endParaRPr>
          </a:p>
          <a:p>
            <a:pPr algn="ctr"/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相当于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语言中的赋值语句：</a:t>
            </a:r>
            <a:endParaRPr lang="zh-CN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EAX=33221100H;</a:t>
            </a:r>
            <a:endParaRPr lang="en-US" altLang="zh-CN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zh-CN" altLang="en-US" sz="2800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2.4.1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立即数寻址方式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ed Rectangular Callout 2"/>
          <p:cNvSpPr/>
          <p:nvPr/>
        </p:nvSpPr>
        <p:spPr bwMode="auto">
          <a:xfrm>
            <a:off x="504212" y="5525795"/>
            <a:ext cx="8317588" cy="1038481"/>
          </a:xfrm>
          <a:prstGeom prst="wedgeRoundRectCallout">
            <a:avLst>
              <a:gd name="adj1" fmla="val -23182"/>
              <a:gd name="adj2" fmla="val -44676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ctr"/>
            <a:endParaRPr lang="en-US" altLang="zh-CN" sz="2800" dirty="0">
              <a:solidFill>
                <a:srgbClr val="00B050"/>
              </a:solidFill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“高高低低”的原则：</a:t>
            </a:r>
            <a:endParaRPr lang="zh-CN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高字节放到高地址，低字节放到低地址</a:t>
            </a:r>
            <a:endParaRPr lang="zh-CN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endParaRPr lang="zh-CN" altLang="en-US" sz="2800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  <p:pic>
        <p:nvPicPr>
          <p:cNvPr id="4" name="Picture 8" descr="fig02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51" y="885592"/>
            <a:ext cx="7987677" cy="4559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21571" y="4057936"/>
            <a:ext cx="3888432" cy="1081002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B050"/>
                </a:solidFill>
                <a:latin typeface="+mn-lt"/>
              </a:rPr>
              <a:t>MOV EAX, 33221100H</a:t>
            </a:r>
            <a:endParaRPr lang="en-US" altLang="zh-CN" sz="28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机器代码：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B8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400" dirty="0">
                <a:latin typeface="+mn-lt"/>
              </a:rPr>
              <a:t>00 11 22 33</a:t>
            </a:r>
            <a:endParaRPr lang="en-US" altLang="zh-CN" sz="2400" dirty="0">
              <a:latin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24892" y="2080247"/>
            <a:ext cx="2304256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高字节放到高地址</a:t>
            </a:r>
            <a:endParaRPr lang="en-US" altLang="zh-CN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24892" y="3555646"/>
            <a:ext cx="2304256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低字节放到低地址</a:t>
            </a:r>
            <a:endParaRPr lang="en-US" altLang="zh-CN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24892" y="3932755"/>
            <a:ext cx="1224136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+mn-lt"/>
              </a:rPr>
              <a:t>操作码</a:t>
            </a:r>
            <a:endParaRPr lang="en-US" altLang="zh-CN" sz="1800" dirty="0">
              <a:latin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64852" y="2814245"/>
            <a:ext cx="1224136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+mn-lt"/>
              </a:rPr>
              <a:t>立即数</a:t>
            </a:r>
            <a:endParaRPr lang="en-US" altLang="zh-CN" sz="1800" dirty="0">
              <a:latin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64852" y="4967607"/>
            <a:ext cx="1224136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B050"/>
                </a:solidFill>
                <a:latin typeface="+mn-lt"/>
              </a:rPr>
              <a:t>低地址</a:t>
            </a:r>
            <a:endParaRPr lang="en-US" altLang="zh-CN" sz="18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64852" y="1476535"/>
            <a:ext cx="1224136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B050"/>
                </a:solidFill>
                <a:latin typeface="+mn-lt"/>
              </a:rPr>
              <a:t>高地址</a:t>
            </a:r>
            <a:endParaRPr lang="en-US" altLang="zh-CN" sz="18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752684" y="966163"/>
            <a:ext cx="1224136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+mn-lt"/>
              </a:rPr>
              <a:t>存储器</a:t>
            </a:r>
            <a:endParaRPr lang="en-US" altLang="zh-CN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6155690" y="2853055"/>
            <a:ext cx="1224280" cy="47117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2-8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立即数寻址程序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431540" y="836712"/>
            <a:ext cx="8280920" cy="550799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数据段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olidFill>
                  <a:srgbClr val="00B050"/>
                </a:solidFill>
                <a:sym typeface="+mn-ea"/>
              </a:rPr>
              <a:t>= 00000040</a:t>
            </a:r>
            <a:r>
              <a:rPr lang="en-US" altLang="zh-CN" sz="2000" b="1" dirty="0">
                <a:sym typeface="+mn-ea"/>
              </a:rPr>
              <a:t>	</a:t>
            </a:r>
            <a:endParaRPr lang="en-US" altLang="zh-CN" sz="2000" b="1" dirty="0">
              <a:sym typeface="+mn-ea"/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ym typeface="+mn-ea"/>
              </a:rPr>
              <a:t>              </a:t>
            </a:r>
            <a:r>
              <a:rPr lang="en-US" altLang="zh-CN" sz="2000" b="1" dirty="0">
                <a:solidFill>
                  <a:srgbClr val="0000FF"/>
                </a:solidFill>
                <a:sym typeface="+mn-ea"/>
              </a:rPr>
              <a:t>const equ 64</a:t>
            </a:r>
            <a:endParaRPr lang="pt-BR" altLang="zh-CN" sz="20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pt-BR" altLang="zh-CN" sz="2000" b="1" dirty="0">
                <a:solidFill>
                  <a:srgbClr val="00B050"/>
                </a:solidFill>
                <a:sym typeface="+mn-ea"/>
              </a:rPr>
              <a:t>00000000 </a:t>
            </a:r>
            <a:r>
              <a:rPr lang="en-US" altLang="pt-BR" sz="2000" b="1" dirty="0">
                <a:solidFill>
                  <a:srgbClr val="00B050"/>
                </a:solidFill>
                <a:sym typeface="+mn-ea"/>
              </a:rPr>
              <a:t>       </a:t>
            </a:r>
            <a:r>
              <a:rPr lang="pt-BR" altLang="zh-CN" sz="2000" b="1" dirty="0">
                <a:solidFill>
                  <a:srgbClr val="00B050"/>
                </a:solidFill>
                <a:sym typeface="+mn-ea"/>
              </a:rPr>
              <a:t>87 49</a:t>
            </a:r>
            <a:r>
              <a:rPr lang="pt-BR" altLang="zh-CN" sz="2000" b="1" dirty="0">
                <a:sym typeface="+mn-ea"/>
              </a:rPr>
              <a:t>	</a:t>
            </a:r>
            <a:endParaRPr lang="pt-BR" altLang="zh-CN" sz="2000" b="1" dirty="0">
              <a:sym typeface="+mn-ea"/>
            </a:endParaRPr>
          </a:p>
          <a:p>
            <a:pPr marL="457200" lvl="1" indent="45720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bvar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 d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b 87h,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49h</a:t>
            </a:r>
            <a:endParaRPr lang="pt-BR" altLang="zh-CN" sz="20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pt-BR" altLang="zh-CN" sz="2000" b="1" dirty="0">
                <a:solidFill>
                  <a:srgbClr val="00B050"/>
                </a:solidFill>
                <a:sym typeface="+mn-ea"/>
              </a:rPr>
              <a:t>00000002 </a:t>
            </a:r>
            <a:r>
              <a:rPr lang="en-US" altLang="pt-BR" sz="2000" b="1" dirty="0">
                <a:solidFill>
                  <a:srgbClr val="00B050"/>
                </a:solidFill>
                <a:sym typeface="+mn-ea"/>
              </a:rPr>
              <a:t>       </a:t>
            </a:r>
            <a:r>
              <a:rPr lang="pt-BR" altLang="zh-CN" sz="2000" b="1" dirty="0">
                <a:solidFill>
                  <a:srgbClr val="00B050"/>
                </a:solidFill>
                <a:sym typeface="+mn-ea"/>
              </a:rPr>
              <a:t>12345678 0000000C</a:t>
            </a:r>
            <a:r>
              <a:rPr lang="pt-BR" altLang="zh-CN" sz="2000" b="1" dirty="0">
                <a:solidFill>
                  <a:srgbClr val="663300"/>
                </a:solidFill>
                <a:sym typeface="+mn-ea"/>
              </a:rPr>
              <a:t>	</a:t>
            </a:r>
            <a:endParaRPr lang="pt-BR" altLang="zh-CN" sz="2000" b="1" dirty="0">
              <a:solidFill>
                <a:srgbClr val="663300"/>
              </a:solidFill>
              <a:sym typeface="+mn-ea"/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pt-BR" sz="2000" b="1" dirty="0">
                <a:solidFill>
                  <a:srgbClr val="663300"/>
                </a:solidFill>
                <a:sym typeface="+mn-ea"/>
              </a:rPr>
              <a:t>             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dvar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dd 12345678h,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12</a:t>
            </a:r>
            <a:endParaRPr lang="pt-BR" altLang="zh-CN" sz="20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代码段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olidFill>
                  <a:srgbClr val="00B050"/>
                </a:solidFill>
                <a:sym typeface="+mn-ea"/>
              </a:rPr>
              <a:t>00000000        B0 12</a:t>
            </a:r>
            <a:r>
              <a:rPr lang="en-US" altLang="zh-CN" sz="2000" b="1" dirty="0">
                <a:sym typeface="+mn-ea"/>
              </a:rPr>
              <a:t>	</a:t>
            </a:r>
            <a:endParaRPr lang="en-US" altLang="zh-CN" sz="2000" b="1" dirty="0">
              <a:sym typeface="+mn-ea"/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olidFill>
                  <a:srgbClr val="663300"/>
                </a:solidFill>
                <a:sym typeface="+mn-ea"/>
              </a:rPr>
              <a:t>              </a:t>
            </a:r>
            <a:r>
              <a:rPr lang="en-US" altLang="zh-CN" sz="2000" b="1" dirty="0">
                <a:solidFill>
                  <a:srgbClr val="0000FF"/>
                </a:solidFill>
                <a:sym typeface="+mn-ea"/>
              </a:rPr>
              <a:t>mov   al, 12h                   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 ;AL=12h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olidFill>
                  <a:srgbClr val="00B050"/>
                </a:solidFill>
                <a:sym typeface="+mn-ea"/>
              </a:rPr>
              <a:t>00000002        B4 64</a:t>
            </a:r>
            <a:r>
              <a:rPr lang="en-US" altLang="zh-CN" sz="2000" b="1" dirty="0">
                <a:sym typeface="+mn-ea"/>
              </a:rPr>
              <a:t>	</a:t>
            </a:r>
            <a:endParaRPr lang="en-US" altLang="zh-CN" sz="2000" b="1" dirty="0">
              <a:sym typeface="+mn-ea"/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olidFill>
                  <a:srgbClr val="0000FF"/>
                </a:solidFill>
                <a:sym typeface="+mn-ea"/>
              </a:rPr>
              <a:t>              mov   ah, 'd'                     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;AH=64h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olidFill>
                  <a:srgbClr val="00B050"/>
                </a:solidFill>
                <a:sym typeface="+mn-ea"/>
              </a:rPr>
              <a:t>00000004        66 | BB FFFF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ym typeface="+mn-ea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sym typeface="+mn-ea"/>
              </a:rPr>
              <a:t> labl:  mov   bx, -1                      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;BX=0FFFFh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olidFill>
                  <a:srgbClr val="00B050"/>
                </a:solidFill>
                <a:sym typeface="+mn-ea"/>
              </a:rPr>
              <a:t>00000008        B9 00000040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868930" algn="l"/>
                <a:tab pos="3943350" algn="l"/>
              </a:tabLst>
            </a:pPr>
            <a:r>
              <a:rPr lang="en-US" altLang="zh-CN" sz="2000" b="1" dirty="0">
                <a:sym typeface="+mn-ea"/>
              </a:rPr>
              <a:t>              </a:t>
            </a:r>
            <a:r>
              <a:rPr lang="en-US" altLang="zh-CN" sz="2000" b="1" dirty="0">
                <a:solidFill>
                  <a:srgbClr val="0000FF"/>
                </a:solidFill>
                <a:sym typeface="+mn-ea"/>
              </a:rPr>
              <a:t>mov   ecx, const               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;ECX=00000040h</a:t>
            </a:r>
            <a:endParaRPr lang="en-US" altLang="zh-CN" sz="2000" b="1" dirty="0">
              <a:solidFill>
                <a:srgbClr val="0000FF"/>
              </a:solidFill>
              <a:latin typeface="+mn-lt"/>
              <a:sym typeface="+mn-ea"/>
            </a:endParaRPr>
          </a:p>
        </p:txBody>
      </p:sp>
      <p:sp>
        <p:nvSpPr>
          <p:cNvPr id="7" name="Rounded Rectangular Callout 2"/>
          <p:cNvSpPr/>
          <p:nvPr/>
        </p:nvSpPr>
        <p:spPr bwMode="auto">
          <a:xfrm>
            <a:off x="4932045" y="2788920"/>
            <a:ext cx="3749040" cy="993140"/>
          </a:xfrm>
          <a:prstGeom prst="wedgeRoundRectCallout">
            <a:avLst>
              <a:gd name="adj1" fmla="val -23182"/>
              <a:gd name="adj2" fmla="val -44676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indent="0" algn="ctr" latinLnBrk="0">
              <a:lnSpc>
                <a:spcPct val="120000"/>
              </a:lnSpc>
            </a:pPr>
            <a:r>
              <a:rPr lang="zh-CN" alt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所有</a:t>
            </a:r>
            <a:r>
              <a:rPr lang="en-US" altLang="zh-CN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MOV</a:t>
            </a:r>
            <a:r>
              <a:rPr lang="zh-CN" alt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指令的源操作数均采用立即数寻址方式</a:t>
            </a:r>
            <a:endParaRPr lang="zh-CN" altLang="en-US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2-8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立即数寻址程序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431540" y="836712"/>
            <a:ext cx="8280920" cy="347662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indent="0" defTabSz="914400" latinLnBrk="0">
              <a:lnSpc>
                <a:spcPct val="110000"/>
              </a:lnSpc>
              <a:buNone/>
              <a:tabLst>
                <a:tab pos="2149475" algn="l"/>
              </a:tabLst>
            </a:pPr>
            <a:r>
              <a:rPr lang="en-US" altLang="zh-CN" sz="2000" b="1" dirty="0">
                <a:solidFill>
                  <a:srgbClr val="00B050"/>
                </a:solidFill>
                <a:sym typeface="+mn-ea"/>
              </a:rPr>
              <a:t>0000000D      BA 00000040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149475" algn="l"/>
              </a:tabLst>
            </a:pPr>
            <a:r>
              <a:rPr lang="en-US" altLang="zh-CN" sz="2000" b="1" dirty="0">
                <a:solidFill>
                  <a:srgbClr val="0000FF"/>
                </a:solidFill>
                <a:sym typeface="+mn-ea"/>
              </a:rPr>
              <a:t>              mov  edx, const*4/type dvar           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;EDX=00000040h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149475" algn="l"/>
              </a:tabLst>
            </a:pPr>
            <a:r>
              <a:rPr lang="en-US" altLang="zh-CN" sz="2000" b="1" dirty="0">
                <a:solidFill>
                  <a:srgbClr val="00B050"/>
                </a:solidFill>
                <a:sym typeface="+mn-ea"/>
              </a:rPr>
              <a:t>00000012       BE 00000000 R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149475" algn="l"/>
              </a:tabLst>
            </a:pPr>
            <a:r>
              <a:rPr lang="en-US" altLang="zh-CN" sz="2000" b="1" dirty="0">
                <a:solidFill>
                  <a:srgbClr val="0000FF"/>
                </a:solidFill>
                <a:sym typeface="+mn-ea"/>
              </a:rPr>
              <a:t>              mov  esi, offset bvar                         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;ESI=00000000h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bvar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的地址</a:t>
            </a:r>
            <a:endParaRPr lang="pt-BR" altLang="zh-CN" sz="20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149475" algn="l"/>
              </a:tabLst>
            </a:pPr>
            <a:r>
              <a:rPr lang="pt-BR" altLang="zh-CN" sz="2000" b="1" dirty="0">
                <a:solidFill>
                  <a:srgbClr val="00B050"/>
                </a:solidFill>
                <a:sym typeface="+mn-ea"/>
              </a:rPr>
              <a:t>00000017 </a:t>
            </a:r>
            <a:r>
              <a:rPr lang="en-US" altLang="pt-BR" sz="2000" b="1" dirty="0">
                <a:solidFill>
                  <a:srgbClr val="00B050"/>
                </a:solidFill>
                <a:sym typeface="+mn-ea"/>
              </a:rPr>
              <a:t>      </a:t>
            </a:r>
            <a:r>
              <a:rPr lang="pt-BR" altLang="zh-CN" sz="2000" b="1" dirty="0">
                <a:solidFill>
                  <a:srgbClr val="00B050"/>
                </a:solidFill>
                <a:sym typeface="+mn-ea"/>
              </a:rPr>
              <a:t>BF 00000004 R</a:t>
            </a:r>
            <a:endParaRPr lang="pt-BR" altLang="zh-CN" sz="2000" b="1" dirty="0">
              <a:solidFill>
                <a:srgbClr val="00B05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149475" algn="l"/>
              </a:tabLst>
            </a:pP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            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mov 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edi,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labl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        </a:t>
            </a:r>
            <a:r>
              <a:rPr lang="en-US" altLang="pt-BR" sz="2000" b="1" dirty="0">
                <a:solidFill>
                  <a:srgbClr val="FF0000"/>
                </a:solidFill>
                <a:sym typeface="+mn-ea"/>
              </a:rPr>
              <a:t>;EDI=00000004h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，</a:t>
            </a:r>
            <a:r>
              <a:rPr lang="en-US" altLang="pt-BR" sz="2000" b="1" dirty="0">
                <a:solidFill>
                  <a:srgbClr val="FF0000"/>
                </a:solidFill>
                <a:sym typeface="+mn-ea"/>
              </a:rPr>
              <a:t>labl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的地址，也可加上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offset</a:t>
            </a:r>
            <a:endParaRPr lang="pt-BR" altLang="zh-CN" sz="2000" b="1" dirty="0">
              <a:solidFill>
                <a:srgbClr val="FF000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149475" algn="l"/>
              </a:tabLst>
            </a:pPr>
            <a:r>
              <a:rPr lang="pt-BR" altLang="zh-CN" sz="2000" b="1" dirty="0">
                <a:solidFill>
                  <a:srgbClr val="00B050"/>
                </a:solidFill>
                <a:sym typeface="+mn-ea"/>
              </a:rPr>
              <a:t>0000001C </a:t>
            </a:r>
            <a:r>
              <a:rPr lang="en-US" altLang="pt-BR" sz="2000" b="1" dirty="0">
                <a:solidFill>
                  <a:srgbClr val="00B050"/>
                </a:solidFill>
                <a:sym typeface="+mn-ea"/>
              </a:rPr>
              <a:t>      </a:t>
            </a:r>
            <a:r>
              <a:rPr lang="pt-BR" altLang="zh-CN" sz="2000" b="1" dirty="0">
                <a:solidFill>
                  <a:srgbClr val="00B050"/>
                </a:solidFill>
                <a:sym typeface="+mn-ea"/>
              </a:rPr>
              <a:t>C6 05 00000000 R 4C</a:t>
            </a:r>
            <a:endParaRPr lang="pt-BR" altLang="zh-CN" sz="2000" b="1" dirty="0">
              <a:solidFill>
                <a:srgbClr val="00B05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149475" algn="l"/>
              </a:tabLst>
            </a:pP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            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mov 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byte ptr [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bvar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]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,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01001100b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     </a:t>
            </a:r>
            <a:r>
              <a:rPr lang="en-US" altLang="pt-BR" sz="2000" b="1" dirty="0">
                <a:solidFill>
                  <a:srgbClr val="FF0000"/>
                </a:solidFill>
                <a:sym typeface="+mn-ea"/>
              </a:rPr>
              <a:t>;4Ch</a:t>
            </a:r>
            <a:endParaRPr lang="pt-BR" altLang="zh-CN" sz="2000" b="1" dirty="0">
              <a:solidFill>
                <a:srgbClr val="FF000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149475" algn="l"/>
              </a:tabLst>
            </a:pPr>
            <a:r>
              <a:rPr lang="pt-BR" altLang="zh-CN" sz="2000" b="1" dirty="0">
                <a:solidFill>
                  <a:srgbClr val="00B050"/>
                </a:solidFill>
                <a:sym typeface="+mn-ea"/>
              </a:rPr>
              <a:t>00000023 </a:t>
            </a:r>
            <a:r>
              <a:rPr lang="en-US" altLang="pt-BR" sz="2000" b="1" dirty="0">
                <a:solidFill>
                  <a:srgbClr val="00B050"/>
                </a:solidFill>
                <a:sym typeface="+mn-ea"/>
              </a:rPr>
              <a:t>       </a:t>
            </a:r>
            <a:r>
              <a:rPr lang="pt-BR" altLang="zh-CN" sz="2000" b="1" dirty="0">
                <a:solidFill>
                  <a:srgbClr val="00B050"/>
                </a:solidFill>
                <a:sym typeface="+mn-ea"/>
              </a:rPr>
              <a:t>C7 05 00000006 R 00000012</a:t>
            </a:r>
            <a:endParaRPr lang="pt-BR" altLang="zh-CN" sz="2000" b="1" dirty="0">
              <a:solidFill>
                <a:srgbClr val="00B050"/>
              </a:solidFill>
            </a:endParaRPr>
          </a:p>
          <a:p>
            <a:pPr marL="0" indent="0" defTabSz="914400" latinLnBrk="0">
              <a:lnSpc>
                <a:spcPct val="110000"/>
              </a:lnSpc>
              <a:buNone/>
              <a:tabLst>
                <a:tab pos="2149475" algn="l"/>
              </a:tabLst>
            </a:pP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            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mov 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dword ptr [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dvar+4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]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,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</a:t>
            </a:r>
            <a:r>
              <a:rPr lang="pt-BR" altLang="zh-CN" sz="2000" b="1" dirty="0">
                <a:solidFill>
                  <a:srgbClr val="0000FF"/>
                </a:solidFill>
                <a:sym typeface="+mn-ea"/>
              </a:rPr>
              <a:t>12h</a:t>
            </a:r>
            <a:r>
              <a:rPr lang="en-US" altLang="pt-BR" sz="2000" b="1" dirty="0">
                <a:solidFill>
                  <a:srgbClr val="0000FF"/>
                </a:solidFill>
                <a:sym typeface="+mn-ea"/>
              </a:rPr>
              <a:t>         </a:t>
            </a:r>
            <a:r>
              <a:rPr lang="en-US" altLang="pt-BR" sz="2000" b="1" dirty="0">
                <a:solidFill>
                  <a:srgbClr val="FF0000"/>
                </a:solidFill>
                <a:sym typeface="+mn-ea"/>
              </a:rPr>
              <a:t> ;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从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0000000Ch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改为</a:t>
            </a:r>
            <a:r>
              <a:rPr lang="en-US" altLang="pt-BR" sz="2000" b="1" dirty="0">
                <a:solidFill>
                  <a:srgbClr val="FF0000"/>
                </a:solidFill>
                <a:sym typeface="+mn-ea"/>
              </a:rPr>
              <a:t>00000012h</a:t>
            </a:r>
            <a:endParaRPr lang="en-US" altLang="pt-BR" sz="2000" b="1" dirty="0">
              <a:solidFill>
                <a:srgbClr val="FF0000"/>
              </a:solidFill>
              <a:latin typeface="+mn-lt"/>
              <a:sym typeface="+mn-ea"/>
            </a:endParaRPr>
          </a:p>
        </p:txBody>
      </p:sp>
      <p:sp>
        <p:nvSpPr>
          <p:cNvPr id="7" name="Rounded Rectangular Callout 2"/>
          <p:cNvSpPr/>
          <p:nvPr/>
        </p:nvSpPr>
        <p:spPr bwMode="auto">
          <a:xfrm>
            <a:off x="431800" y="4509135"/>
            <a:ext cx="8280400" cy="993140"/>
          </a:xfrm>
          <a:prstGeom prst="wedgeRoundRectCallout">
            <a:avLst>
              <a:gd name="adj1" fmla="val -23182"/>
              <a:gd name="adj2" fmla="val -44676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indent="0" algn="l" latinLnBrk="0">
              <a:lnSpc>
                <a:spcPct val="120000"/>
              </a:lnSpc>
            </a:pPr>
            <a:r>
              <a:rPr lang="zh-CN" alt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注意：立即数（常量）没有类型，它的类型取决于另一个操作数的类型。寄存器依其名称具有明确的</a:t>
            </a:r>
            <a:r>
              <a:rPr lang="zh-CN" alt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类型。</a:t>
            </a:r>
            <a:endParaRPr lang="zh-CN" altLang="en-US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539552" y="764704"/>
            <a:ext cx="8064896" cy="5798506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指令的操作数存放在处理器内部的寄存器中</a:t>
            </a:r>
            <a:endParaRPr lang="zh-CN" altLang="en-US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直接使用寄存器名表示它所保存的数据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，绝大多数指令采用通用寄存器寻址，部分指令支持专用寄存器，例如段寄存器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寄存器寻址方式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可适用于指令的源操作数和目的操作数</a:t>
            </a:r>
            <a:r>
              <a:rPr lang="zh-CN" altLang="en-US" sz="2600" dirty="0">
                <a:latin typeface="+mn-lt"/>
              </a:rPr>
              <a:t>，是最常使用的寻址方式</a:t>
            </a:r>
            <a:endParaRPr lang="zh-CN" altLang="en-US" sz="26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2.4.2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寄存器寻址方式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Register Addressing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081405" y="4149090"/>
            <a:ext cx="7553325" cy="200977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+mn-lt"/>
              </a:rPr>
              <a:t>MOV EAX, 33221100H     </a:t>
            </a:r>
            <a:endParaRPr lang="en-US" altLang="zh-CN" sz="2400" b="1" dirty="0">
              <a:solidFill>
                <a:srgbClr val="00B050"/>
              </a:solidFill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源操作数是立即数寻址，但目的操作数是寄存器寻址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+mn-lt"/>
              </a:rPr>
              <a:t>MOV EBX, EAX</a:t>
            </a:r>
            <a:endParaRPr lang="en-US" altLang="zh-CN" sz="24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该指令的源操作数和目的操作数都采用寄存器寻址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2-9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寄存器寻址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611505" y="1052830"/>
            <a:ext cx="7883525" cy="407860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indent="0" defTabSz="914400" latinLnBrk="0">
              <a:lnSpc>
                <a:spcPct val="120000"/>
              </a:lnSpc>
              <a:buNone/>
              <a:tabLst>
                <a:tab pos="3589655" algn="l"/>
              </a:tabLst>
            </a:pPr>
            <a:r>
              <a:rPr lang="en-US" altLang="zh-CN" sz="2400" b="1" dirty="0">
                <a:solidFill>
                  <a:schemeClr val="tx1"/>
                </a:solidFill>
                <a:sym typeface="+mn-ea"/>
              </a:rPr>
              <a:t>;</a:t>
            </a:r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代码段</a:t>
            </a:r>
            <a:endParaRPr lang="zh-CN" altLang="en-US" sz="2400" b="1" dirty="0">
              <a:solidFill>
                <a:schemeClr val="tx1"/>
              </a:solidFill>
            </a:endParaRPr>
          </a:p>
          <a:p>
            <a:pPr marL="0" indent="0" defTabSz="914400" latinLnBrk="0">
              <a:lnSpc>
                <a:spcPct val="120000"/>
              </a:lnSpc>
              <a:buNone/>
              <a:tabLst>
                <a:tab pos="3589655" algn="l"/>
              </a:tabLst>
            </a:pP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00000000   8A C4</a:t>
            </a: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	mov al, ah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20000"/>
              </a:lnSpc>
              <a:buNone/>
              <a:tabLst>
                <a:tab pos="3589655" algn="l"/>
              </a:tabLst>
            </a:pP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00000002   66|8B D8</a:t>
            </a: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	mov bx, ax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20000"/>
              </a:lnSpc>
              <a:buNone/>
              <a:tabLst>
                <a:tab pos="3589655" algn="l"/>
              </a:tabLst>
            </a:pP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00000005   8B D8</a:t>
            </a: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	mov ebx, eax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20000"/>
              </a:lnSpc>
              <a:buNone/>
              <a:tabLst>
                <a:tab pos="3589655" algn="l"/>
              </a:tabLst>
            </a:pP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00000007   66|8C DA</a:t>
            </a: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	mov dx, ds</a:t>
            </a:r>
            <a:endParaRPr lang="en-US" altLang="zh-CN" sz="2400" b="1" dirty="0">
              <a:solidFill>
                <a:srgbClr val="0000FF"/>
              </a:solidFill>
              <a:sym typeface="+mn-ea"/>
            </a:endParaRPr>
          </a:p>
          <a:p>
            <a:pPr marL="0" indent="0" defTabSz="914400" latinLnBrk="0">
              <a:lnSpc>
                <a:spcPct val="120000"/>
              </a:lnSpc>
              <a:buNone/>
              <a:tabLst>
                <a:tab pos="3589655" algn="l"/>
              </a:tabLst>
            </a:pP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0000000A  66|8E C2</a:t>
            </a: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	mov es, dx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20000"/>
              </a:lnSpc>
              <a:buNone/>
              <a:tabLst>
                <a:tab pos="3589655" algn="l"/>
              </a:tabLst>
            </a:pPr>
            <a:r>
              <a:rPr lang="en-US" altLang="zh-CN" sz="2400" b="1" dirty="0">
                <a:solidFill>
                  <a:srgbClr val="663300"/>
                </a:solidFill>
                <a:sym typeface="+mn-ea"/>
              </a:rPr>
              <a:t>	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mov edi, si</a:t>
            </a:r>
            <a:endParaRPr lang="en-US" altLang="zh-CN" sz="2400" b="1" dirty="0">
              <a:solidFill>
                <a:schemeClr val="hlink"/>
              </a:solidFill>
            </a:endParaRPr>
          </a:p>
          <a:p>
            <a:pPr marL="0" indent="0" defTabSz="914400" latinLnBrk="0">
              <a:lnSpc>
                <a:spcPct val="120000"/>
              </a:lnSpc>
              <a:buNone/>
              <a:tabLst>
                <a:tab pos="3589655" algn="l"/>
              </a:tabLst>
            </a:pP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eg0209.asm(11) : error A2022: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0" defTabSz="914400" latinLnBrk="0">
              <a:lnSpc>
                <a:spcPct val="120000"/>
              </a:lnSpc>
              <a:buNone/>
              <a:tabLst>
                <a:tab pos="3589655" algn="l"/>
              </a:tabLst>
            </a:pP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instruction operands must be the same size</a:t>
            </a:r>
            <a:endParaRPr lang="en-US" altLang="zh-CN" sz="2400" b="1" dirty="0">
              <a:solidFill>
                <a:srgbClr val="FF0000"/>
              </a:solidFill>
              <a:latin typeface="+mn-lt"/>
              <a:sym typeface="+mn-ea"/>
            </a:endParaRPr>
          </a:p>
        </p:txBody>
      </p:sp>
      <p:sp>
        <p:nvSpPr>
          <p:cNvPr id="7" name="Rounded Rectangular Callout 2"/>
          <p:cNvSpPr/>
          <p:nvPr/>
        </p:nvSpPr>
        <p:spPr bwMode="auto">
          <a:xfrm>
            <a:off x="4353560" y="5157470"/>
            <a:ext cx="4122420" cy="922655"/>
          </a:xfrm>
          <a:prstGeom prst="wedgeRoundRectCallout">
            <a:avLst>
              <a:gd name="adj1" fmla="val -30603"/>
              <a:gd name="adj2" fmla="val -153028"/>
              <a:gd name="adj3" fmla="val 16667"/>
            </a:avLst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just"/>
            <a:r>
              <a:rPr lang="zh-CN" altLang="en-US" sz="24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指令的操作数必须类型一致（即同样长度）</a:t>
            </a:r>
            <a:endParaRPr lang="zh-CN" altLang="en-US" sz="2400" b="1" dirty="0">
              <a:solidFill>
                <a:srgbClr val="0000FF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95536" y="774229"/>
            <a:ext cx="8208912" cy="5798506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操作数在主存中，通过存储器地址指示。存储器地址使用包含段选择器和偏移地址的逻辑地址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600" dirty="0">
                <a:latin typeface="+mn-lt"/>
              </a:rPr>
              <a:t>段选择器（段寄存器）指示段基地址</a:t>
            </a:r>
            <a:endParaRPr lang="zh-CN" altLang="en-US" sz="2600" dirty="0"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默认规定：读取指令一定是代码段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CS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，堆栈操作针对堆栈段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SS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，读写数据默认在数据段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DS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显示说明：如不在默认的段中，则使用段超越指令前缀（段寄存器后面跟冒号，如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ES: FS: GS: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600" dirty="0">
                <a:latin typeface="+mn-lt"/>
              </a:rPr>
              <a:t>偏移地址</a:t>
            </a:r>
            <a:r>
              <a:rPr lang="en-US" altLang="zh-CN" sz="2600" dirty="0">
                <a:latin typeface="+mn-lt"/>
              </a:rPr>
              <a:t>(Offset Address)</a:t>
            </a:r>
            <a:r>
              <a:rPr lang="zh-CN" altLang="en-US" sz="2600" dirty="0">
                <a:latin typeface="+mn-lt"/>
              </a:rPr>
              <a:t>由各种寻址方式计算，常被称为有效地址</a:t>
            </a:r>
            <a:r>
              <a:rPr lang="en-US" altLang="zh-CN" sz="2600" dirty="0">
                <a:latin typeface="+mn-lt"/>
              </a:rPr>
              <a:t>EA(Effective Address)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2.4.3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存储器寻址方式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Memory Addressing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475657" y="4554331"/>
            <a:ext cx="7056784" cy="485133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EAX,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ES: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[EBX]              ;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ES: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前缀表名数据在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ES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段</a:t>
            </a:r>
            <a:endParaRPr lang="nb-NO" altLang="zh-CN" sz="2200" b="1" dirty="0">
              <a:solidFill>
                <a:srgbClr val="00B05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1.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段寄存器的默认和超越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20092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ounded Rectangular Callout 2"/>
          <p:cNvSpPr/>
          <p:nvPr/>
        </p:nvSpPr>
        <p:spPr bwMode="auto">
          <a:xfrm>
            <a:off x="467544" y="5478170"/>
            <a:ext cx="8255746" cy="1038481"/>
          </a:xfrm>
          <a:prstGeom prst="wedgeRoundRectCallout">
            <a:avLst>
              <a:gd name="adj1" fmla="val -23182"/>
              <a:gd name="adj2" fmla="val -44676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读取指令一定是代码段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(CS)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，堆栈操作针对堆栈段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(SS)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，读写数据默认在数据段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(DS)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9" name="Group 85"/>
          <p:cNvGraphicFramePr/>
          <p:nvPr/>
        </p:nvGraphicFramePr>
        <p:xfrm>
          <a:off x="467544" y="872624"/>
          <a:ext cx="8255746" cy="4460835"/>
        </p:xfrm>
        <a:graphic>
          <a:graphicData uri="http://schemas.openxmlformats.org/drawingml/2006/table">
            <a:tbl>
              <a:tblPr/>
              <a:tblGrid>
                <a:gridCol w="3047754"/>
                <a:gridCol w="864096"/>
                <a:gridCol w="2409030"/>
                <a:gridCol w="1934866"/>
              </a:tblGrid>
              <a:tr h="640546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kern="1200" dirty="0">
                          <a:solidFill>
                            <a:srgbClr val="0000FF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访问存储器的方式</a:t>
                      </a:r>
                      <a:endParaRPr kumimoji="1" lang="zh-CN" altLang="en-US" sz="2400" kern="1200" dirty="0">
                        <a:solidFill>
                          <a:srgbClr val="0000FF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kern="1200" dirty="0">
                          <a:solidFill>
                            <a:srgbClr val="0000FF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默认</a:t>
                      </a:r>
                      <a:endParaRPr kumimoji="1" lang="zh-CN" altLang="en-US" sz="2400" kern="1200" dirty="0">
                        <a:solidFill>
                          <a:srgbClr val="0000FF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kern="1200" dirty="0">
                          <a:solidFill>
                            <a:srgbClr val="0000FF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可超越</a:t>
                      </a:r>
                      <a:endParaRPr kumimoji="1" lang="zh-CN" altLang="en-US" sz="2400" kern="1200" dirty="0">
                        <a:solidFill>
                          <a:srgbClr val="0000FF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kern="1200" dirty="0">
                          <a:solidFill>
                            <a:srgbClr val="0000FF"/>
                          </a:solidFill>
                          <a:latin typeface="+mn-lt"/>
                          <a:ea typeface="黑体" panose="02010609060101010101" pitchFamily="49" charset="-122"/>
                          <a:cs typeface="+mn-cs"/>
                        </a:rPr>
                        <a:t>偏移地址</a:t>
                      </a:r>
                      <a:endParaRPr kumimoji="1" lang="zh-CN" altLang="en-US" sz="2400" kern="1200" dirty="0">
                        <a:solidFill>
                          <a:srgbClr val="0000FF"/>
                        </a:solidFill>
                        <a:latin typeface="+mn-lt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604856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取指令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CS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宋体" panose="02010600030101010101" pitchFamily="2" charset="-122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kumimoji="0" lang="zh-CN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EIP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85806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堆栈操作</a:t>
                      </a:r>
                      <a:endParaRPr kumimoji="0" lang="zh-CN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SS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kumimoji="0" lang="zh-CN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ESP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1280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一般数据访问</a:t>
                      </a:r>
                      <a:endParaRPr kumimoji="0" lang="zh-CN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DS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CS ES SS FS GS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93C7D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有效地址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EA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93C7D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39766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EBP/ESP</a:t>
                      </a:r>
                      <a:r>
                        <a:rPr kumimoji="0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为</a:t>
                      </a: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基地址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的数据访问</a:t>
                      </a:r>
                      <a:endParaRPr kumimoji="0" lang="zh-CN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SS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93C7D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CS ES DS FS GS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93C7D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有效地址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EA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93C7D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26939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串操作的源操作数</a:t>
                      </a:r>
                      <a:endParaRPr kumimoji="0" lang="zh-CN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DS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93C7D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CS ES SS FS GS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93C7D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ESI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93C7D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2116"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串操作的目的操作数</a:t>
                      </a:r>
                      <a:endParaRPr kumimoji="0" lang="zh-CN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ES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93C7D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无</a:t>
                      </a:r>
                      <a:endParaRPr kumimoji="0" lang="zh-CN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rgbClr val="193C7D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algn="just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5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algn="just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algn="just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193C7D"/>
                          </a:solidFill>
                          <a:effectLst/>
                          <a:latin typeface="+mj-lt"/>
                          <a:ea typeface="宋体" panose="02010600030101010101" pitchFamily="2" charset="-122"/>
                          <a:cs typeface="+mn-cs"/>
                        </a:rPr>
                        <a:t>EDI</a:t>
                      </a:r>
                      <a:endParaRPr kumimoji="0" lang="en-US" altLang="zh-CN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193C7D"/>
                        </a:solidFill>
                        <a:effectLst/>
                        <a:latin typeface="+mj-lt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611560" y="702221"/>
            <a:ext cx="8136904" cy="6175523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段基地址由默认或指定的段寄存器指明，所以指令代码中只有偏移地址（有效地址）即可。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+mn-lt"/>
              </a:rPr>
              <a:t>32</a:t>
            </a:r>
            <a:r>
              <a:rPr lang="zh-CN" altLang="en-US" sz="2400" dirty="0">
                <a:latin typeface="+mn-lt"/>
              </a:rPr>
              <a:t>位有效地址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(Effective Address)</a:t>
            </a:r>
            <a:endParaRPr lang="en-US" altLang="zh-CN" sz="24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基址寄存器：</a:t>
            </a:r>
            <a:r>
              <a:rPr lang="en-US" altLang="zh-CN" sz="2300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个</a:t>
            </a:r>
            <a:r>
              <a:rPr lang="en-US" altLang="zh-CN" sz="23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位通用寄存器之一</a:t>
            </a:r>
            <a:endParaRPr lang="zh-CN" altLang="en-US" sz="23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变址寄存器：</a:t>
            </a:r>
            <a:r>
              <a:rPr lang="zh-CN" altLang="en-US" sz="23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除</a:t>
            </a:r>
            <a:r>
              <a:rPr lang="en-US" altLang="zh-CN" sz="23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ESP</a:t>
            </a:r>
            <a:r>
              <a:rPr lang="zh-CN" altLang="en-US" sz="23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之外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的</a:t>
            </a:r>
            <a:r>
              <a:rPr lang="en-US" altLang="zh-CN" sz="23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位通用寄存器之一</a:t>
            </a:r>
            <a:endParaRPr lang="zh-CN" altLang="en-US" sz="23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比例：</a:t>
            </a:r>
            <a:r>
              <a:rPr lang="en-US" altLang="zh-CN" sz="23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en-US" altLang="zh-CN" sz="23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en-US" altLang="zh-CN" sz="23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或</a:t>
            </a:r>
            <a:r>
              <a:rPr lang="en-US" altLang="zh-CN" sz="2300" dirty="0">
                <a:solidFill>
                  <a:schemeClr val="tx1"/>
                </a:solidFill>
                <a:latin typeface="+mn-lt"/>
              </a:rPr>
              <a:t>8</a:t>
            </a:r>
            <a:endParaRPr lang="en-US" altLang="zh-CN" sz="2300" dirty="0">
              <a:solidFill>
                <a:schemeClr val="tx1"/>
              </a:solidFill>
              <a:latin typeface="+mn-lt"/>
            </a:endParaRPr>
          </a:p>
          <a:p>
            <a:pPr marL="144018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位移量：</a:t>
            </a:r>
            <a:r>
              <a:rPr lang="en-US" altLang="zh-CN" sz="2300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或</a:t>
            </a:r>
            <a:r>
              <a:rPr lang="en-US" altLang="zh-CN" sz="23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位有符号值</a:t>
            </a:r>
            <a:endParaRPr lang="zh-CN" altLang="en-US" sz="23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偏移地址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Offset Address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的组成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629197" y="2239169"/>
            <a:ext cx="6956201" cy="53086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= 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</a:rPr>
              <a:t>基址寄存器＋（变址寄存器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×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</a:rPr>
              <a:t>比例）＋位移量</a:t>
            </a:r>
            <a:endParaRPr lang="nb-NO" altLang="zh-CN" sz="2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1176655" y="4726305"/>
            <a:ext cx="7429500" cy="1250315"/>
          </a:xfrm>
          <a:prstGeom prst="wedgeRoundRectCallout">
            <a:avLst>
              <a:gd name="adj1" fmla="val -23182"/>
              <a:gd name="adj2" fmla="val -44676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indent="0" latinLnBrk="0">
              <a:lnSpc>
                <a:spcPct val="130000"/>
              </a:lnSpc>
            </a:pP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‌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基址寄存器、变址寄存器、比例因子和位移量</a:t>
            </a:r>
            <a:r>
              <a:rPr lang="en-US" altLang="zh-CN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‌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这四个组成部分的不同组合，形成多种</a:t>
            </a:r>
            <a:r>
              <a:rPr lang="zh-CN" altLang="en-US" sz="2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存储器寻址模式</a:t>
            </a:r>
            <a:endParaRPr lang="zh-CN" altLang="en-US" sz="2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611560" y="702221"/>
            <a:ext cx="8136904" cy="6175523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有效地址只有位移量部分，直接包含在指令代码中</a:t>
            </a:r>
            <a:endParaRPr lang="zh-CN" altLang="en-US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常用于存取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变量</a:t>
            </a:r>
            <a:endParaRPr lang="en-US" altLang="zh-CN" sz="26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18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与立即数寻址的区别：立即数寻址为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常量</a:t>
            </a:r>
            <a:r>
              <a:rPr lang="zh-CN" altLang="en-US" sz="2600" dirty="0">
                <a:latin typeface="+mn-lt"/>
              </a:rPr>
              <a:t>形式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3.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存储器直接寻址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+mj-cs"/>
              </a:rPr>
              <a:t>Memory Direct Addressing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201911" y="1844824"/>
            <a:ext cx="7258521" cy="229044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;COUNT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是变量，将其内容传送给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ECX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 ECX, [COUNT]</a:t>
            </a:r>
            <a:endParaRPr lang="en-US" altLang="zh-CN" sz="22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 ECX, COUNT                       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假设操作系统为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COUNT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分配的有效地址为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00405000H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等价于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ECX,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DS:[405000H]</a:t>
            </a:r>
            <a:endParaRPr lang="en-US" altLang="zh-CN" sz="2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7624" y="4795887"/>
            <a:ext cx="7258521" cy="1808957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;OFFSET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操作符获取变量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COUNT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的偏移地址传送给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ECX</a:t>
            </a:r>
            <a:endParaRPr lang="en-US" altLang="zh-CN" sz="22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ECX, OFFSET COUNT           </a:t>
            </a:r>
            <a:endParaRPr lang="en-US" altLang="zh-CN" sz="22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假设操作系统为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COUNT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分配的有效地址为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00405000H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等价于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ECX,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405000H         </a:t>
            </a:r>
            <a:endParaRPr lang="en-US" altLang="zh-CN" sz="2200" dirty="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5" name="Group 10"/>
          <p:cNvGrpSpPr/>
          <p:nvPr/>
        </p:nvGrpSpPr>
        <p:grpSpPr bwMode="auto">
          <a:xfrm>
            <a:off x="5292706" y="2492137"/>
            <a:ext cx="3167726" cy="431324"/>
            <a:chOff x="1237" y="1200"/>
            <a:chExt cx="2137" cy="341"/>
          </a:xfrm>
        </p:grpSpPr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1680" y="1200"/>
              <a:ext cx="1694" cy="34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变量，直接寻址</a:t>
              </a:r>
              <a:endParaRPr kumimoji="1" lang="zh-CN" alt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0" name="AutoShape 12"/>
            <p:cNvSpPr>
              <a:spLocks noChangeArrowheads="1"/>
            </p:cNvSpPr>
            <p:nvPr/>
          </p:nvSpPr>
          <p:spPr bwMode="auto">
            <a:xfrm>
              <a:off x="1237" y="1271"/>
              <a:ext cx="443" cy="176"/>
            </a:xfrm>
            <a:prstGeom prst="leftArrow">
              <a:avLst>
                <a:gd name="adj1" fmla="val 50000"/>
                <a:gd name="adj2" fmla="val 10000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1" name="Group 10"/>
          <p:cNvGrpSpPr/>
          <p:nvPr/>
        </p:nvGrpSpPr>
        <p:grpSpPr bwMode="auto">
          <a:xfrm>
            <a:off x="5292080" y="5323527"/>
            <a:ext cx="3146518" cy="431324"/>
            <a:chOff x="1188" y="1200"/>
            <a:chExt cx="2211" cy="341"/>
          </a:xfrm>
        </p:grpSpPr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654" y="1200"/>
              <a:ext cx="1745" cy="34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2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</a:rPr>
                <a:t>常量，立即数寻址</a:t>
              </a:r>
              <a:endParaRPr kumimoji="1" lang="zh-CN" alt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endParaRPr>
            </a:p>
          </p:txBody>
        </p:sp>
        <p:sp>
          <p:nvSpPr>
            <p:cNvPr id="13" name="AutoShape 12"/>
            <p:cNvSpPr>
              <a:spLocks noChangeArrowheads="1"/>
            </p:cNvSpPr>
            <p:nvPr/>
          </p:nvSpPr>
          <p:spPr bwMode="auto">
            <a:xfrm>
              <a:off x="1188" y="1271"/>
              <a:ext cx="492" cy="176"/>
            </a:xfrm>
            <a:prstGeom prst="leftArrow">
              <a:avLst>
                <a:gd name="adj1" fmla="val 50000"/>
                <a:gd name="adj2" fmla="val 100000"/>
              </a:avLst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fig02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87" y="733368"/>
            <a:ext cx="8227962" cy="5143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3.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存储器直接寻址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+mj-cs"/>
              </a:rPr>
              <a:t>Memory Direct Addressing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ounded Rectangular Callout 2"/>
          <p:cNvSpPr/>
          <p:nvPr/>
        </p:nvSpPr>
        <p:spPr bwMode="auto">
          <a:xfrm>
            <a:off x="469188" y="5886797"/>
            <a:ext cx="8317588" cy="823058"/>
          </a:xfrm>
          <a:prstGeom prst="wedgeRoundRectCallout">
            <a:avLst>
              <a:gd name="adj1" fmla="val -23182"/>
              <a:gd name="adj2" fmla="val -44676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注意存储器直接寻址和立即数寻址的区别：</a:t>
            </a:r>
            <a:endParaRPr lang="zh-CN" altLang="en-US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直接寻址常用于存取变量，而立即数寻址则针对常量形式</a:t>
            </a:r>
            <a:endParaRPr lang="zh-CN" altLang="en-US" sz="2200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6418" y="4944581"/>
            <a:ext cx="3888432" cy="928716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ECX, COUNT</a:t>
            </a:r>
            <a:endParaRPr lang="en-US" altLang="zh-CN" sz="22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latin typeface="+mn-lt"/>
              </a:rPr>
              <a:t>MOV ECX, DS:[405000H]</a:t>
            </a:r>
            <a:endParaRPr lang="en-US" altLang="zh-CN" sz="2200" b="1" dirty="0">
              <a:latin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20072" y="747334"/>
            <a:ext cx="972617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+mn-lt"/>
              </a:rPr>
              <a:t>存储器</a:t>
            </a:r>
            <a:endParaRPr lang="en-US" altLang="zh-CN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75856" y="3483638"/>
            <a:ext cx="1793917" cy="449418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</a:rPr>
              <a:t>①取偏移地址</a:t>
            </a:r>
            <a:endParaRPr lang="en-US" altLang="zh-CN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47664" y="2276872"/>
            <a:ext cx="3131470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</a:rPr>
              <a:t>②获得线性地址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</a:rPr>
              <a:t>00405000H</a:t>
            </a:r>
            <a:endParaRPr lang="en-US" altLang="zh-CN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91880" y="1645338"/>
            <a:ext cx="1008112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</a:rPr>
              <a:t>③取值</a:t>
            </a:r>
            <a:endParaRPr lang="en-US" altLang="zh-CN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237880" y="3887665"/>
            <a:ext cx="288033" cy="261415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876256" y="1394219"/>
            <a:ext cx="1979712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高字节在高地址</a:t>
            </a:r>
            <a:endParaRPr lang="en-US" altLang="zh-CN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76256" y="2423122"/>
            <a:ext cx="1979712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低字节在低地址</a:t>
            </a:r>
            <a:endParaRPr lang="en-US" altLang="zh-CN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60232" y="1004815"/>
            <a:ext cx="1224136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B050"/>
                </a:solidFill>
                <a:latin typeface="+mn-lt"/>
              </a:rPr>
              <a:t>高地址</a:t>
            </a:r>
            <a:endParaRPr lang="en-US" altLang="zh-CN" sz="18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659880" y="3841750"/>
            <a:ext cx="1224280" cy="471170"/>
          </a:xfrm>
          <a:prstGeom prst="ellips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2-10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存储器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直接寻址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611505" y="765810"/>
            <a:ext cx="7883525" cy="575437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indent="0" defTabSz="914400" latinLnBrk="0">
              <a:lnSpc>
                <a:spcPct val="115000"/>
              </a:lnSpc>
              <a:buNone/>
              <a:tabLst>
                <a:tab pos="3589655" algn="l"/>
              </a:tabLst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  <a:sym typeface="+mn-ea"/>
              </a:rPr>
              <a:t>;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  <a:sym typeface="+mn-ea"/>
              </a:rPr>
              <a:t>数据段</a:t>
            </a:r>
            <a:endParaRPr lang="zh-CN" altLang="en-US" sz="2000" b="1" dirty="0">
              <a:solidFill>
                <a:schemeClr val="tx1"/>
              </a:solidFill>
              <a:latin typeface="+mn-lt"/>
              <a:sym typeface="+mn-ea"/>
            </a:endParaRPr>
          </a:p>
          <a:p>
            <a:pPr marL="0" indent="0" defTabSz="914400" latinLnBrk="0">
              <a:lnSpc>
                <a:spcPct val="115000"/>
              </a:lnSpc>
              <a:buNone/>
              <a:tabLst>
                <a:tab pos="3589655" algn="l"/>
              </a:tabLst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00000000 87 49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sym typeface="+mn-ea"/>
              </a:rPr>
              <a:t>	</a:t>
            </a:r>
            <a:r>
              <a:rPr lang="en-US" altLang="zh-CN" sz="2000" b="1" dirty="0">
                <a:solidFill>
                  <a:srgbClr val="0000FF"/>
                </a:solidFill>
                <a:latin typeface="+mn-lt"/>
                <a:sym typeface="+mn-ea"/>
              </a:rPr>
              <a:t>bvar  db 87h,49h</a:t>
            </a:r>
            <a:endParaRPr lang="en-US" altLang="zh-CN" sz="2000" b="1" dirty="0">
              <a:solidFill>
                <a:srgbClr val="0000FF"/>
              </a:solidFill>
              <a:latin typeface="+mn-lt"/>
              <a:sym typeface="+mn-ea"/>
            </a:endParaRPr>
          </a:p>
          <a:p>
            <a:pPr marL="0" algn="l" defTabSz="914400" latinLnBrk="0">
              <a:lnSpc>
                <a:spcPct val="115000"/>
              </a:lnSpc>
              <a:buClrTx/>
              <a:buSzTx/>
              <a:buFontTx/>
              <a:buNone/>
              <a:tabLst>
                <a:tab pos="3589655" algn="l"/>
              </a:tabLst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00000002 12345678 0000000C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  <a:sym typeface="+mn-ea"/>
              </a:rPr>
              <a:t>	</a:t>
            </a:r>
            <a:r>
              <a:rPr lang="en-US" altLang="zh-CN" sz="2000" b="1" dirty="0">
                <a:latin typeface="+mn-lt"/>
                <a:sym typeface="+mn-ea"/>
              </a:rPr>
              <a:t>dvar  dd 12345678h,12</a:t>
            </a:r>
            <a:endParaRPr lang="en-US" altLang="zh-CN" sz="2000" b="1" dirty="0">
              <a:latin typeface="+mn-lt"/>
              <a:sym typeface="+mn-ea"/>
            </a:endParaRPr>
          </a:p>
          <a:p>
            <a:pPr marL="0" indent="0" defTabSz="914400" latinLnBrk="0">
              <a:lnSpc>
                <a:spcPct val="115000"/>
              </a:lnSpc>
              <a:buNone/>
              <a:tabLst>
                <a:tab pos="3589655" algn="l"/>
              </a:tabLst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  <a:sym typeface="+mn-ea"/>
              </a:rPr>
              <a:t>;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  <a:sym typeface="+mn-ea"/>
              </a:rPr>
              <a:t>代码段</a:t>
            </a:r>
            <a:endParaRPr lang="zh-CN" altLang="en-US" sz="2000" b="1" dirty="0">
              <a:solidFill>
                <a:schemeClr val="tx1"/>
              </a:solidFill>
              <a:latin typeface="+mn-lt"/>
              <a:sym typeface="+mn-ea"/>
            </a:endParaRPr>
          </a:p>
          <a:p>
            <a:pPr marL="0" indent="0" defTabSz="914400" latinLnBrk="0">
              <a:lnSpc>
                <a:spcPct val="115000"/>
              </a:lnSpc>
              <a:buNone/>
              <a:tabLst>
                <a:tab pos="3589655" algn="l"/>
              </a:tabLst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00000000 8A 0D 00000000 R</a:t>
            </a:r>
            <a:endParaRPr lang="en-US" altLang="zh-CN" sz="2000" b="1" dirty="0">
              <a:solidFill>
                <a:srgbClr val="00B050"/>
              </a:solidFill>
              <a:latin typeface="+mn-lt"/>
              <a:sym typeface="+mn-ea"/>
            </a:endParaRPr>
          </a:p>
          <a:p>
            <a:pPr marL="0" algn="l" defTabSz="914400" latinLnBrk="0">
              <a:lnSpc>
                <a:spcPct val="115000"/>
              </a:lnSpc>
              <a:buClrTx/>
              <a:buSzTx/>
              <a:buFontTx/>
              <a:buNone/>
              <a:tabLst>
                <a:tab pos="3589655" algn="l"/>
              </a:tabLst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  <a:sym typeface="+mn-ea"/>
              </a:rPr>
              <a:t>	</a:t>
            </a:r>
            <a:r>
              <a:rPr lang="en-US" altLang="zh-CN" sz="2000" b="1" dirty="0">
                <a:latin typeface="+mn-lt"/>
                <a:sym typeface="+mn-ea"/>
              </a:rPr>
              <a:t>mov  cl, [bvar]</a:t>
            </a:r>
            <a:endParaRPr lang="en-US" altLang="zh-CN" sz="2000" b="1" dirty="0">
              <a:latin typeface="+mn-lt"/>
              <a:sym typeface="+mn-ea"/>
            </a:endParaRPr>
          </a:p>
          <a:p>
            <a:pPr marL="0" indent="0" defTabSz="914400" latinLnBrk="0">
              <a:lnSpc>
                <a:spcPct val="115000"/>
              </a:lnSpc>
              <a:buNone/>
              <a:tabLst>
                <a:tab pos="3589655" algn="l"/>
              </a:tabLst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  <a:sym typeface="+mn-ea"/>
              </a:rPr>
              <a:t>00000006 8B 15 00000002 R</a:t>
            </a:r>
            <a:endParaRPr lang="en-US" altLang="zh-CN" sz="2000" b="1" dirty="0">
              <a:solidFill>
                <a:srgbClr val="00B050"/>
              </a:solidFill>
              <a:latin typeface="+mn-lt"/>
              <a:sym typeface="+mn-ea"/>
            </a:endParaRPr>
          </a:p>
          <a:p>
            <a:pPr marL="0" algn="l" defTabSz="914400" latinLnBrk="0">
              <a:lnSpc>
                <a:spcPct val="115000"/>
              </a:lnSpc>
              <a:buClrTx/>
              <a:buSzTx/>
              <a:buFontTx/>
              <a:buNone/>
              <a:tabLst>
                <a:tab pos="3589655" algn="l"/>
              </a:tabLst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  <a:sym typeface="+mn-ea"/>
              </a:rPr>
              <a:t>	</a:t>
            </a:r>
            <a:r>
              <a:rPr lang="en-US" altLang="zh-CN" sz="2000" b="1" dirty="0">
                <a:latin typeface="+mn-lt"/>
                <a:sym typeface="+mn-ea"/>
              </a:rPr>
              <a:t>mov  edx, [dvar]</a:t>
            </a:r>
            <a:endParaRPr lang="en-US" altLang="zh-CN" sz="2000" b="1" dirty="0">
              <a:latin typeface="+mn-lt"/>
              <a:sym typeface="+mn-ea"/>
            </a:endParaRPr>
          </a:p>
          <a:p>
            <a:pPr marL="0" indent="0" defTabSz="914400" latinLnBrk="0">
              <a:lnSpc>
                <a:spcPct val="115000"/>
              </a:lnSpc>
              <a:buNone/>
              <a:tabLst>
                <a:tab pos="3589655" algn="l"/>
              </a:tabLst>
            </a:pPr>
            <a:r>
              <a:rPr lang="en-US" altLang="en-US" sz="2000" b="1" dirty="0">
                <a:solidFill>
                  <a:srgbClr val="00B050"/>
                </a:solidFill>
                <a:sym typeface="+mn-ea"/>
              </a:rPr>
              <a:t>0000000C 88 35 00000001 R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pPr marL="0" algn="l" defTabSz="914400" latinLnBrk="0">
              <a:lnSpc>
                <a:spcPct val="115000"/>
              </a:lnSpc>
              <a:buClrTx/>
              <a:buSzTx/>
              <a:buFontTx/>
              <a:buNone/>
              <a:tabLst>
                <a:tab pos="3589655" algn="l"/>
              </a:tabLst>
            </a:pPr>
            <a:r>
              <a:rPr lang="en-US" altLang="en-US" sz="2000" b="1" dirty="0">
                <a:solidFill>
                  <a:srgbClr val="663300"/>
                </a:solidFill>
                <a:sym typeface="+mn-ea"/>
              </a:rPr>
              <a:t>	</a:t>
            </a:r>
            <a:r>
              <a:rPr lang="en-US" altLang="zh-CN" sz="2000" b="1" dirty="0">
                <a:latin typeface="+mn-lt"/>
                <a:sym typeface="+mn-ea"/>
              </a:rPr>
              <a:t>mov  [bvar+1], dh</a:t>
            </a:r>
            <a:endParaRPr lang="en-US" altLang="zh-CN" sz="2000" b="1" dirty="0">
              <a:latin typeface="+mn-lt"/>
            </a:endParaRPr>
          </a:p>
          <a:p>
            <a:pPr marL="0" indent="0" defTabSz="914400" latinLnBrk="0">
              <a:lnSpc>
                <a:spcPct val="115000"/>
              </a:lnSpc>
              <a:buNone/>
              <a:tabLst>
                <a:tab pos="3589655" algn="l"/>
              </a:tabLst>
            </a:pPr>
            <a:r>
              <a:rPr lang="en-US" altLang="en-US" sz="2000" b="1" dirty="0">
                <a:solidFill>
                  <a:srgbClr val="00B050"/>
                </a:solidFill>
                <a:sym typeface="+mn-ea"/>
              </a:rPr>
              <a:t>00000012 66|89 15 00000004 R</a:t>
            </a:r>
            <a:endParaRPr lang="en-US" altLang="en-US" sz="2000" b="1" dirty="0">
              <a:solidFill>
                <a:srgbClr val="00B050"/>
              </a:solidFill>
            </a:endParaRPr>
          </a:p>
          <a:p>
            <a:pPr marL="0" algn="l" defTabSz="914400" latinLnBrk="0">
              <a:lnSpc>
                <a:spcPct val="115000"/>
              </a:lnSpc>
              <a:buClrTx/>
              <a:buSzTx/>
              <a:buFontTx/>
              <a:buNone/>
              <a:tabLst>
                <a:tab pos="3589655" algn="l"/>
              </a:tabLst>
            </a:pPr>
            <a:r>
              <a:rPr lang="en-US" altLang="en-US" sz="2000" b="1" dirty="0">
                <a:solidFill>
                  <a:srgbClr val="663300"/>
                </a:solidFill>
                <a:sym typeface="+mn-ea"/>
              </a:rPr>
              <a:t>	</a:t>
            </a:r>
            <a:r>
              <a:rPr lang="en-US" altLang="zh-CN" sz="2000" b="1" dirty="0">
                <a:latin typeface="+mn-lt"/>
                <a:sym typeface="+mn-ea"/>
              </a:rPr>
              <a:t>mov  word ptr [dvar+2], dx</a:t>
            </a:r>
            <a:endParaRPr lang="en-US" altLang="zh-CN" sz="2000" b="1" dirty="0">
              <a:latin typeface="+mn-lt"/>
            </a:endParaRPr>
          </a:p>
          <a:p>
            <a:pPr marL="0" indent="0" defTabSz="914400" latinLnBrk="0">
              <a:lnSpc>
                <a:spcPct val="115000"/>
              </a:lnSpc>
              <a:buNone/>
              <a:tabLst>
                <a:tab pos="3589655" algn="l"/>
              </a:tabLst>
            </a:pPr>
            <a:r>
              <a:rPr lang="en-US" altLang="en-US" sz="2000" b="1" dirty="0">
                <a:solidFill>
                  <a:srgbClr val="00B050"/>
                </a:solidFill>
                <a:sym typeface="+mn-ea"/>
              </a:rPr>
              <a:t>00000019  C7 05 00000002 R 87654321</a:t>
            </a:r>
            <a:endParaRPr lang="en-US" altLang="zh-CN" sz="2000" b="1" dirty="0">
              <a:solidFill>
                <a:srgbClr val="00B050"/>
              </a:solidFill>
            </a:endParaRPr>
          </a:p>
          <a:p>
            <a:pPr marL="0" algn="l" defTabSz="914400" latinLnBrk="0">
              <a:lnSpc>
                <a:spcPct val="115000"/>
              </a:lnSpc>
              <a:buClrTx/>
              <a:buSzTx/>
              <a:buFontTx/>
              <a:buNone/>
              <a:tabLst>
                <a:tab pos="3589655" algn="l"/>
              </a:tabLst>
            </a:pPr>
            <a:r>
              <a:rPr lang="en-US" altLang="en-US" sz="2000" b="1" dirty="0">
                <a:solidFill>
                  <a:srgbClr val="663300"/>
                </a:solidFill>
                <a:sym typeface="+mn-ea"/>
              </a:rPr>
              <a:t>	</a:t>
            </a:r>
            <a:r>
              <a:rPr lang="en-US" altLang="zh-CN" sz="2000" b="1" dirty="0">
                <a:latin typeface="+mn-lt"/>
                <a:sym typeface="+mn-ea"/>
              </a:rPr>
              <a:t>mov  dword ptr [dvar], 87654321h</a:t>
            </a:r>
            <a:endParaRPr lang="en-US" altLang="zh-CN" sz="2000" b="1" dirty="0">
              <a:latin typeface="+mn-lt"/>
            </a:endParaRPr>
          </a:p>
          <a:p>
            <a:pPr marL="0" indent="0" defTabSz="914400" latinLnBrk="0">
              <a:lnSpc>
                <a:spcPct val="115000"/>
              </a:lnSpc>
              <a:buNone/>
              <a:tabLst>
                <a:tab pos="3589655" algn="l"/>
              </a:tabLst>
            </a:pPr>
            <a:r>
              <a:rPr lang="en-US" altLang="en-US" sz="2000" b="1" dirty="0">
                <a:solidFill>
                  <a:srgbClr val="663300"/>
                </a:solidFill>
                <a:sym typeface="+mn-ea"/>
              </a:rPr>
              <a:t>	</a:t>
            </a:r>
            <a:r>
              <a:rPr lang="en-US" altLang="en-US" sz="2000" b="1" dirty="0">
                <a:solidFill>
                  <a:srgbClr val="FF0000"/>
                </a:solidFill>
                <a:sym typeface="+mn-ea"/>
              </a:rPr>
              <a:t>mov  dword ptr [dvar+4], dvar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pPr marL="0" indent="0" defTabSz="914400" latinLnBrk="0">
              <a:lnSpc>
                <a:spcPct val="115000"/>
              </a:lnSpc>
              <a:buNone/>
              <a:tabLst>
                <a:tab pos="3589655" algn="l"/>
              </a:tabLst>
            </a:pPr>
            <a:r>
              <a:rPr lang="en-US" altLang="en-US" sz="2000" b="1" dirty="0">
                <a:solidFill>
                  <a:srgbClr val="FF0000"/>
                </a:solidFill>
                <a:sym typeface="+mn-ea"/>
              </a:rPr>
              <a:t>eg02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en-US" sz="2000" b="1" dirty="0">
                <a:solidFill>
                  <a:srgbClr val="FF0000"/>
                </a:solidFill>
                <a:sym typeface="+mn-ea"/>
              </a:rPr>
              <a:t>0.asm(13) : error A2070:  invalid instruction operands</a:t>
            </a:r>
            <a:endParaRPr lang="en-US" altLang="en-US" sz="2000" b="1" dirty="0">
              <a:solidFill>
                <a:srgbClr val="FF0000"/>
              </a:solidFill>
              <a:latin typeface="+mn-lt"/>
              <a:sym typeface="+mn-ea"/>
            </a:endParaRPr>
          </a:p>
        </p:txBody>
      </p:sp>
      <p:sp>
        <p:nvSpPr>
          <p:cNvPr id="7" name="Rounded Rectangular Callout 2"/>
          <p:cNvSpPr/>
          <p:nvPr/>
        </p:nvSpPr>
        <p:spPr bwMode="auto">
          <a:xfrm>
            <a:off x="927735" y="5374005"/>
            <a:ext cx="2450465" cy="752475"/>
          </a:xfrm>
          <a:prstGeom prst="wedgeRoundRectCallout">
            <a:avLst>
              <a:gd name="adj1" fmla="val 82832"/>
              <a:gd name="adj2" fmla="val 23924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algn="just"/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两个操作数不能同时为存储器操作数</a:t>
            </a:r>
            <a:endParaRPr lang="zh-CN" altLang="en-US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611560" y="702221"/>
            <a:ext cx="8136904" cy="6175523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有效地址存放在寄存器中，并用英文中括号将寄存器括起来，这就是寄存器间接寻址</a:t>
            </a: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2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寄存器内容是偏移地址，相当于一个地址指针</a:t>
            </a:r>
            <a:endParaRPr lang="zh-CN" altLang="en-US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可以方便地对数组的元素或字符串的字符进行操作</a:t>
            </a: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2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寄存器间接寻址没有说明存储单元类型</a:t>
            </a:r>
            <a:endParaRPr lang="zh-CN" altLang="en-US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寄存器间接寻址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+mj-cs"/>
              </a:rPr>
              <a:t>Register Indirect Addressing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180077" y="3996307"/>
            <a:ext cx="7488832" cy="1805494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array byte 10h, 20h, 30h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定义数组 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esi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 offset array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将数组首地址赋值给寄存器 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inc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esi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                        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en-US" altLang="zh-CN" sz="2200" dirty="0" err="1">
                <a:solidFill>
                  <a:schemeClr val="tx1"/>
                </a:solidFill>
                <a:latin typeface="+mn-lt"/>
              </a:rPr>
              <a:t>esi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指向数组第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个元素 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al,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[</a:t>
            </a:r>
            <a:r>
              <a:rPr lang="en-US" altLang="zh-CN" sz="2200" b="1" dirty="0" err="1">
                <a:solidFill>
                  <a:srgbClr val="FF0000"/>
                </a:solidFill>
                <a:latin typeface="+mn-lt"/>
              </a:rPr>
              <a:t>esi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]              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操作数组元素，寄存器间接寻址</a:t>
            </a:r>
            <a:endParaRPr lang="en-US" altLang="zh-CN" sz="22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87624" y="1853367"/>
            <a:ext cx="7488832" cy="925253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edx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[</a:t>
            </a:r>
            <a:r>
              <a:rPr lang="en-US" altLang="zh-CN" sz="2200" b="1" dirty="0" err="1">
                <a:solidFill>
                  <a:srgbClr val="FF0000"/>
                </a:solidFill>
                <a:latin typeface="+mn-lt"/>
              </a:rPr>
              <a:t>ebx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]          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源操作数是寄存器间接寻址</a:t>
            </a:r>
            <a:endParaRPr lang="nb-NO" altLang="zh-CN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nb-NO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[</a:t>
            </a:r>
            <a:r>
              <a:rPr lang="en-US" altLang="zh-CN" sz="2200" b="1" dirty="0" err="1">
                <a:solidFill>
                  <a:srgbClr val="FF0000"/>
                </a:solidFill>
                <a:latin typeface="+mn-lt"/>
              </a:rPr>
              <a:t>esi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]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ecx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            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目的操作数是寄存器间接寻址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1"/>
          <p:cNvSpPr txBox="1">
            <a:spLocks noChangeArrowheads="1"/>
          </p:cNvSpPr>
          <p:nvPr/>
        </p:nvSpPr>
        <p:spPr bwMode="auto">
          <a:xfrm>
            <a:off x="1835696" y="2924944"/>
            <a:ext cx="5408147" cy="9845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寄存器间接寻址形式小结：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[]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中只有一个寄存器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611560" y="702221"/>
            <a:ext cx="8136904" cy="6175523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有效地址是寄存器内容与位移量之和，并用中括号括起来，这就是寄存器相对寻址</a:t>
            </a: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2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也可以是高级语言中的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一维数组形式</a:t>
            </a:r>
            <a:endParaRPr lang="en-US" altLang="zh-CN" sz="26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2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也可以方便地对数组元素或字符串的字符进行操作</a:t>
            </a: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5"/>
            <a:ext cx="10188624" cy="92525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5.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寄存器相对寻址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+mj-cs"/>
              </a:rPr>
              <a:t>Register Relative Addressing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187624" y="1853367"/>
            <a:ext cx="7488832" cy="925253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esi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[ebx+4]                     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位移量为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4</a:t>
            </a:r>
            <a:endParaRPr lang="nb-NO" altLang="zh-CN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nb-NO" altLang="zh-CN" sz="2200" b="1" dirty="0">
                <a:solidFill>
                  <a:srgbClr val="00B050"/>
                </a:solidFill>
                <a:latin typeface="+mn-lt"/>
              </a:rPr>
              <a:t>mov edi, </a:t>
            </a:r>
            <a:r>
              <a:rPr lang="nb-NO" altLang="zh-CN" sz="2200" b="1" dirty="0">
                <a:solidFill>
                  <a:srgbClr val="FF0000"/>
                </a:solidFill>
                <a:latin typeface="+mn-lt"/>
              </a:rPr>
              <a:t>[ebp-08h]                 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位移量为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-08H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87624" y="3492809"/>
            <a:ext cx="7488832" cy="925253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esi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 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count[</a:t>
            </a:r>
            <a:r>
              <a:rPr lang="en-US" altLang="zh-CN" sz="2200" b="1" dirty="0" err="1">
                <a:solidFill>
                  <a:srgbClr val="FF0000"/>
                </a:solidFill>
                <a:latin typeface="+mn-lt"/>
              </a:rPr>
              <a:t>ebx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]                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位移量为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count</a:t>
            </a:r>
            <a:endParaRPr lang="nb-NO" altLang="zh-CN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等价于</a:t>
            </a:r>
            <a:r>
              <a:rPr lang="nb-NO" altLang="zh-CN" sz="2200" b="1" dirty="0">
                <a:solidFill>
                  <a:srgbClr val="00B050"/>
                </a:solidFill>
                <a:latin typeface="+mn-lt"/>
              </a:rPr>
              <a:t>mov esi, </a:t>
            </a:r>
            <a:r>
              <a:rPr lang="nb-NO" altLang="zh-CN" sz="2200" b="1" dirty="0">
                <a:solidFill>
                  <a:srgbClr val="FF0000"/>
                </a:solidFill>
                <a:latin typeface="+mn-lt"/>
              </a:rPr>
              <a:t>[ebx+count] 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;count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为数组名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0077" y="5147667"/>
            <a:ext cx="7488832" cy="1365374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array byte 10h, 20h, 30h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定义数组 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esi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 0              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将数组元素的索引下标赋给寄存器 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al, array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[</a:t>
            </a:r>
            <a:r>
              <a:rPr lang="en-US" altLang="zh-CN" sz="2200" b="1" dirty="0" err="1">
                <a:solidFill>
                  <a:srgbClr val="FF0000"/>
                </a:solidFill>
                <a:latin typeface="+mn-lt"/>
              </a:rPr>
              <a:t>esi</a:t>
            </a:r>
            <a:r>
              <a:rPr lang="en-US" altLang="zh-CN" sz="2200" b="1" dirty="0">
                <a:solidFill>
                  <a:srgbClr val="FF0000"/>
                </a:solidFill>
                <a:latin typeface="+mn-lt"/>
              </a:rPr>
              <a:t>]             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以数组首地址作为位移量</a:t>
            </a:r>
            <a:endParaRPr lang="en-US" altLang="zh-CN" sz="22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5" name="TextBox 11"/>
          <p:cNvSpPr txBox="1">
            <a:spLocks noChangeArrowheads="1"/>
          </p:cNvSpPr>
          <p:nvPr/>
        </p:nvSpPr>
        <p:spPr bwMode="auto">
          <a:xfrm>
            <a:off x="1972165" y="2960331"/>
            <a:ext cx="5408147" cy="14646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寄存器相对寻址形式小结：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[]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中只有一个寄存器和一个数字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也可以是一维数组形式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611560" y="702221"/>
            <a:ext cx="8136904" cy="6175523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有效地址是基址寄存器的内容加上变址寄存器的内容，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或</a:t>
            </a:r>
            <a:r>
              <a:rPr lang="zh-CN" altLang="en-US" sz="2600" dirty="0">
                <a:latin typeface="+mn-lt"/>
              </a:rPr>
              <a:t>再加上位移量构成，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分为以下两种：</a:t>
            </a:r>
            <a:endParaRPr lang="en-US" altLang="zh-CN" sz="26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基址变址寻址（没有位移量）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相对基址变址寻址（有位移量）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便于支持二维数组等数据结构</a:t>
            </a: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6.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变址寻址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619672" y="2286397"/>
            <a:ext cx="7056784" cy="1401089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it-IT" altLang="zh-CN" sz="2200" b="1" dirty="0">
                <a:solidFill>
                  <a:srgbClr val="00B050"/>
                </a:solidFill>
                <a:latin typeface="+mn-lt"/>
              </a:rPr>
              <a:t>mov edi,[ebx+esi]                               </a:t>
            </a:r>
            <a:r>
              <a:rPr lang="it-IT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一个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[]</a:t>
            </a:r>
            <a:endParaRPr lang="it-IT" altLang="zh-CN" sz="2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it-IT" altLang="zh-CN" sz="2200" b="1" dirty="0">
                <a:solidFill>
                  <a:srgbClr val="00B050"/>
                </a:solidFill>
                <a:latin typeface="+mn-lt"/>
              </a:rPr>
              <a:t>mov edi,[ebx][esi]                               </a:t>
            </a:r>
            <a:r>
              <a:rPr lang="it-IT" altLang="zh-CN" sz="2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两个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[]</a:t>
            </a:r>
            <a:endParaRPr lang="it-IT" altLang="zh-CN" sz="2200" dirty="0">
              <a:solidFill>
                <a:schemeClr val="tx1"/>
              </a:solidFill>
              <a:highlight>
                <a:srgbClr val="FFFF00"/>
              </a:highlight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;</a:t>
            </a:r>
            <a:r>
              <a:rPr lang="zh-CN" altLang="it-IT" sz="2200" dirty="0">
                <a:solidFill>
                  <a:schemeClr val="tx1"/>
                </a:solidFill>
              </a:rPr>
              <a:t>基址变址寻址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it-IT" sz="2200" dirty="0">
                <a:solidFill>
                  <a:schemeClr val="tx1"/>
                </a:solidFill>
              </a:rPr>
              <a:t>功能</a:t>
            </a:r>
            <a:r>
              <a:rPr lang="zh-CN" altLang="en-US" sz="2200" dirty="0">
                <a:solidFill>
                  <a:schemeClr val="tx1"/>
                </a:solidFill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</a:rPr>
              <a:t>EDI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DS:[EBX+ESI]</a:t>
            </a:r>
            <a:endParaRPr lang="it-IT" altLang="zh-CN" sz="2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19672" y="4287802"/>
            <a:ext cx="7056784" cy="1805494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eax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,[ebx+edx+80h]                     </a:t>
            </a:r>
            <a:r>
              <a:rPr lang="it-IT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一个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[]</a:t>
            </a:r>
            <a:endParaRPr lang="en-US" altLang="zh-CN" sz="22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eax,80h[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ebx+edx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]                       </a:t>
            </a:r>
            <a:r>
              <a:rPr lang="it-IT" altLang="zh-CN" sz="22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一个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[]</a:t>
            </a:r>
            <a:endParaRPr lang="en-US" altLang="zh-CN" sz="22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eax,80h[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ebx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][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edx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]</a:t>
            </a:r>
            <a:r>
              <a:rPr lang="it-IT" altLang="zh-CN" sz="2200" dirty="0">
                <a:solidFill>
                  <a:schemeClr val="tx1"/>
                </a:solidFill>
                <a:latin typeface="+mn-lt"/>
              </a:rPr>
              <a:t>                       </a:t>
            </a:r>
            <a:r>
              <a:rPr lang="it-IT" altLang="zh-CN" sz="2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;</a:t>
            </a:r>
            <a:r>
              <a:rPr lang="zh-CN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两个</a:t>
            </a:r>
            <a:r>
              <a:rPr lang="en-US" altLang="zh-CN" sz="2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[]</a:t>
            </a:r>
            <a:r>
              <a:rPr lang="zh-CN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，位移量在前</a:t>
            </a:r>
            <a:endParaRPr lang="en-US" altLang="zh-CN" sz="2200" b="1" dirty="0">
              <a:solidFill>
                <a:srgbClr val="00B050"/>
              </a:solidFill>
              <a:highlight>
                <a:srgbClr val="FFFF00"/>
              </a:highlight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;</a:t>
            </a:r>
            <a:r>
              <a:rPr lang="zh-CN" altLang="en-US" sz="2200" dirty="0">
                <a:solidFill>
                  <a:schemeClr val="tx1"/>
                </a:solidFill>
              </a:rPr>
              <a:t>相对基址变址寻址，功能：</a:t>
            </a:r>
            <a:r>
              <a:rPr lang="en-US" altLang="zh-CN" sz="2200" dirty="0">
                <a:solidFill>
                  <a:schemeClr val="tx1"/>
                </a:solidFill>
              </a:rPr>
              <a:t>EAX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DS:[EBX+EDX+80H]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9" name="TextBox 11"/>
          <p:cNvSpPr txBox="1">
            <a:spLocks noChangeArrowheads="1"/>
          </p:cNvSpPr>
          <p:nvPr/>
        </p:nvSpPr>
        <p:spPr bwMode="auto">
          <a:xfrm>
            <a:off x="1619672" y="2986941"/>
            <a:ext cx="7056785" cy="146463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变址寻址形式小结：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基址变址寻址：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[]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里有两个寄存器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相对基址变址寻址：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[]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里有两个寄存器和一个数字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611560" y="764704"/>
            <a:ext cx="8064896" cy="5535091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变址寄存器内容乘以比例（</a:t>
            </a:r>
            <a:r>
              <a:rPr lang="en-US" altLang="zh-CN" sz="2600" dirty="0">
                <a:latin typeface="+mn-lt"/>
              </a:rPr>
              <a:t>1</a:t>
            </a:r>
            <a:r>
              <a:rPr lang="zh-CN" altLang="en-US" sz="2600" dirty="0">
                <a:latin typeface="+mn-lt"/>
              </a:rPr>
              <a:t>可省略），</a:t>
            </a:r>
            <a:r>
              <a:rPr lang="en-US" altLang="zh-CN" sz="2600" dirty="0">
                <a:latin typeface="+mn-lt"/>
              </a:rPr>
              <a:t>2</a:t>
            </a:r>
            <a:r>
              <a:rPr lang="zh-CN" altLang="en-US" sz="2600" dirty="0">
                <a:latin typeface="+mn-lt"/>
              </a:rPr>
              <a:t>、</a:t>
            </a:r>
            <a:r>
              <a:rPr lang="en-US" altLang="zh-CN" sz="2600" dirty="0">
                <a:latin typeface="+mn-lt"/>
              </a:rPr>
              <a:t>4</a:t>
            </a:r>
            <a:r>
              <a:rPr lang="zh-CN" altLang="en-US" sz="2600" dirty="0">
                <a:latin typeface="+mn-lt"/>
              </a:rPr>
              <a:t>或</a:t>
            </a:r>
            <a:r>
              <a:rPr lang="en-US" altLang="zh-CN" sz="2600" dirty="0">
                <a:latin typeface="+mn-lt"/>
              </a:rPr>
              <a:t>8</a:t>
            </a:r>
            <a:r>
              <a:rPr lang="zh-CN" altLang="en-US" sz="2600" dirty="0">
                <a:latin typeface="+mn-lt"/>
              </a:rPr>
              <a:t>的带比例存储器寻址方式</a:t>
            </a:r>
            <a:endParaRPr lang="en-US" altLang="zh-CN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比例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分别对应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64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位数据的字节个数，便于以数组元素为单位寻址相应数据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0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主存以字节为可寻址单位，所以地址的加减是以字节为单位</a:t>
            </a: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+mn-lt"/>
              </a:rPr>
              <a:t>ESP</a:t>
            </a:r>
            <a:r>
              <a:rPr lang="zh-CN" altLang="en-US" sz="2400" dirty="0">
                <a:latin typeface="+mn-lt"/>
              </a:rPr>
              <a:t>不能作为变址寄存器</a:t>
            </a:r>
            <a:endParaRPr lang="en-US" altLang="zh-CN" sz="24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-91440" y="-24"/>
            <a:ext cx="9396536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7.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带比例的变址寻址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+mj-cs"/>
              </a:rPr>
              <a:t>Scaled Indexed Addressing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441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619672" y="3020258"/>
            <a:ext cx="7056784" cy="192091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eax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,[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ebx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*4]                   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带比例的变址寻址</a:t>
            </a:r>
            <a:endParaRPr lang="zh-CN" altLang="en-US" sz="22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eax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,[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esi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*2+80h]            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带比例的相对变址寻址</a:t>
            </a:r>
            <a:endParaRPr lang="zh-CN" altLang="en-US" sz="22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eax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,[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ebx+esi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*4]             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带比例的基址变址寻址</a:t>
            </a:r>
            <a:endParaRPr lang="zh-CN" altLang="en-US" sz="22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mov 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eax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,[</a:t>
            </a:r>
            <a:r>
              <a:rPr lang="en-US" altLang="zh-CN" sz="2200" b="1" dirty="0" err="1">
                <a:solidFill>
                  <a:srgbClr val="00B050"/>
                </a:solidFill>
                <a:latin typeface="+mn-lt"/>
              </a:rPr>
              <a:t>ebx+esi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*8-80h]     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带比例的相对基址变址寻址</a:t>
            </a:r>
            <a:endParaRPr lang="en-US" altLang="zh-CN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1979712" y="2519644"/>
            <a:ext cx="5688632" cy="9845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带比例的变址寻址形式小结：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[]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里必有一个寄存器带乘号比例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39552" y="635000"/>
            <a:ext cx="8064896" cy="293801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除外设数据外的数据寻址方式有 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3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类，分别被称为</a:t>
            </a:r>
            <a:r>
              <a:rPr lang="zh-CN" altLang="en-US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、 </a:t>
            </a:r>
            <a:r>
              <a:rPr lang="zh-CN" altLang="en-US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2]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和</a:t>
            </a:r>
            <a:r>
              <a:rPr lang="zh-CN" altLang="en-US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黑体" panose="02010609060101010101" pitchFamily="49" charset="-122"/>
                <a:sym typeface="微软雅黑" panose="020B0503020204020204" charset="-122"/>
              </a:rPr>
              <a:t>3]</a:t>
            </a:r>
            <a:r>
              <a:rPr lang="en-US" altLang="zh-CN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。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2"/>
            </p:custDataLst>
          </p:nvPr>
        </p:nvSpPr>
        <p:spPr bwMode="auto">
          <a:xfrm>
            <a:off x="6172200" y="5517232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2.4.4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数据寻址方式总结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4" descr="fig02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057" y="1253760"/>
            <a:ext cx="6610495" cy="4191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内容占位符 2"/>
          <p:cNvSpPr txBox="1"/>
          <p:nvPr/>
        </p:nvSpPr>
        <p:spPr>
          <a:xfrm>
            <a:off x="467544" y="709861"/>
            <a:ext cx="8136904" cy="6175523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lt"/>
              </a:rPr>
              <a:t>立即数寻址</a:t>
            </a:r>
            <a:r>
              <a:rPr lang="en-US" altLang="zh-CN" sz="2400" dirty="0">
                <a:latin typeface="+mn-lt"/>
              </a:rPr>
              <a:t>(</a:t>
            </a:r>
            <a:r>
              <a:rPr lang="en-US" altLang="zh-CN" sz="2400" b="1" dirty="0" err="1">
                <a:latin typeface="+mn-lt"/>
              </a:rPr>
              <a:t>imm</a:t>
            </a:r>
            <a:r>
              <a:rPr lang="en-US" altLang="zh-CN" sz="2400" b="1" dirty="0">
                <a:latin typeface="+mn-lt"/>
              </a:rPr>
              <a:t>)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zh-CN" altLang="en-US" sz="2400" dirty="0">
                <a:latin typeface="+mn-lt"/>
              </a:rPr>
              <a:t>寄存器寻址</a:t>
            </a:r>
            <a:r>
              <a:rPr lang="en-US" altLang="zh-CN" sz="2400" dirty="0">
                <a:latin typeface="+mn-lt"/>
              </a:rPr>
              <a:t>(</a:t>
            </a:r>
            <a:r>
              <a:rPr lang="en-US" altLang="zh-CN" sz="2400" b="1" dirty="0">
                <a:latin typeface="+mn-lt"/>
              </a:rPr>
              <a:t>reg)</a:t>
            </a:r>
            <a:r>
              <a:rPr lang="zh-CN" altLang="en-US" sz="2400" b="1" dirty="0">
                <a:latin typeface="+mn-lt"/>
              </a:rPr>
              <a:t>、</a:t>
            </a:r>
            <a:r>
              <a:rPr lang="zh-CN" altLang="en-US" sz="2400" dirty="0">
                <a:latin typeface="+mn-lt"/>
              </a:rPr>
              <a:t>存储器寻址</a:t>
            </a:r>
            <a:r>
              <a:rPr lang="en-US" altLang="zh-CN" sz="2400" dirty="0">
                <a:latin typeface="+mn-lt"/>
              </a:rPr>
              <a:t>(</a:t>
            </a:r>
            <a:r>
              <a:rPr lang="en-US" altLang="zh-CN" sz="2400" b="1" dirty="0">
                <a:latin typeface="+mn-lt"/>
              </a:rPr>
              <a:t>mem)</a:t>
            </a:r>
            <a:endParaRPr lang="en-US" altLang="zh-CN" sz="2400" b="1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latin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44885" y="2564904"/>
            <a:ext cx="2602979" cy="449418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</a:rPr>
              <a:t>①</a:t>
            </a:r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没有入方向的箭头</a:t>
            </a:r>
            <a:endParaRPr lang="en-US" altLang="zh-CN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99928" y="5013176"/>
            <a:ext cx="1131912" cy="44941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</a:rPr>
              <a:t>②</a:t>
            </a:r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禁止</a:t>
            </a:r>
            <a:endParaRPr lang="en-US" altLang="zh-CN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04048" y="4110980"/>
            <a:ext cx="3672408" cy="136537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+mn-lt"/>
              </a:rPr>
              <a:t>对绝大多数指令而言：</a:t>
            </a:r>
            <a:endParaRPr lang="en-US" altLang="zh-CN" sz="22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200" b="1" dirty="0">
                <a:latin typeface="+mn-lt"/>
              </a:rPr>
              <a:t>助记符 </a:t>
            </a:r>
            <a:r>
              <a:rPr lang="en-US" altLang="zh-CN" sz="2200" b="1" dirty="0">
                <a:latin typeface="+mn-lt"/>
              </a:rPr>
              <a:t>reg, </a:t>
            </a:r>
            <a:r>
              <a:rPr lang="en-US" altLang="zh-CN" sz="2200" b="1" dirty="0" err="1">
                <a:latin typeface="+mn-lt"/>
              </a:rPr>
              <a:t>imm</a:t>
            </a:r>
            <a:r>
              <a:rPr lang="en-US" altLang="zh-CN" sz="2200" b="1" dirty="0">
                <a:latin typeface="+mn-lt"/>
              </a:rPr>
              <a:t>/reg/mem</a:t>
            </a:r>
            <a:endParaRPr lang="en-US" altLang="zh-CN" sz="2200" b="1" dirty="0"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200" b="1" dirty="0">
                <a:latin typeface="+mn-lt"/>
              </a:rPr>
              <a:t>助记符 </a:t>
            </a:r>
            <a:r>
              <a:rPr lang="en-US" altLang="zh-CN" sz="2200" b="1" dirty="0">
                <a:latin typeface="+mn-lt"/>
              </a:rPr>
              <a:t>mem, </a:t>
            </a:r>
            <a:r>
              <a:rPr lang="en-US" altLang="zh-CN" sz="2200" b="1" dirty="0" err="1">
                <a:latin typeface="+mn-lt"/>
              </a:rPr>
              <a:t>imm</a:t>
            </a:r>
            <a:r>
              <a:rPr lang="en-US" altLang="zh-CN" sz="2200" b="1" dirty="0">
                <a:latin typeface="+mn-lt"/>
              </a:rPr>
              <a:t>/reg</a:t>
            </a:r>
            <a:endParaRPr lang="en-US" altLang="zh-CN" sz="2200" b="1" dirty="0">
              <a:latin typeface="+mn-lt"/>
            </a:endParaRPr>
          </a:p>
        </p:txBody>
      </p:sp>
      <p:sp>
        <p:nvSpPr>
          <p:cNvPr id="13" name="Rounded Rectangular Callout 2"/>
          <p:cNvSpPr/>
          <p:nvPr/>
        </p:nvSpPr>
        <p:spPr bwMode="auto">
          <a:xfrm>
            <a:off x="549077" y="5604240"/>
            <a:ext cx="8136904" cy="913974"/>
          </a:xfrm>
          <a:prstGeom prst="wedgeRoundRectCallout">
            <a:avLst>
              <a:gd name="adj1" fmla="val -23182"/>
              <a:gd name="adj2" fmla="val -44676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zh-CN" alt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立即数不能作为目的操作数</a:t>
            </a:r>
            <a:endParaRPr lang="en-US" altLang="zh-CN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② </a:t>
            </a:r>
            <a:r>
              <a:rPr lang="zh-CN" alt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两个操作数不能同时为存储器寻址方式</a:t>
            </a:r>
            <a:endParaRPr lang="zh-CN" altLang="en-US" sz="2200" dirty="0">
              <a:solidFill>
                <a:srgbClr val="00B05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2.4.4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数据寻址方式总结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" y="772342"/>
          <a:ext cx="9143999" cy="60866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99"/>
                <a:gridCol w="547507"/>
                <a:gridCol w="1324701"/>
                <a:gridCol w="3096344"/>
                <a:gridCol w="3203848"/>
              </a:tblGrid>
              <a:tr h="41397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zh-CN" altLang="en-US" sz="2000" b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大类</a:t>
                      </a:r>
                      <a:endParaRPr kumimoji="1" lang="zh-CN" altLang="en-US" sz="2000" b="1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r>
                        <a:rPr kumimoji="1" lang="zh-CN" altLang="en-US" sz="2000" b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寻址方式</a:t>
                      </a:r>
                      <a:endParaRPr kumimoji="1" lang="zh-CN" altLang="en-US" sz="2000" b="1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CN" altLang="en-US" sz="2000" b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形式特点</a:t>
                      </a:r>
                      <a:endParaRPr kumimoji="1" lang="zh-CN" altLang="en-US" sz="2000" b="1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zh-CN" altLang="en-US" sz="2000" b="1" kern="1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举例</a:t>
                      </a:r>
                      <a:endParaRPr kumimoji="1" lang="zh-CN" altLang="en-US" sz="2000" b="1" kern="12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</a:tr>
              <a:tr h="624335">
                <a:tc gridSpan="3">
                  <a:txBody>
                    <a:bodyPr/>
                    <a:lstStyle/>
                    <a:p>
                      <a:pPr algn="ctr"/>
                      <a:endParaRPr kumimoji="1" lang="en-US" altLang="zh-CN" sz="10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ctr"/>
                      <a:r>
                        <a:rPr kumimoji="1" lang="zh-CN" altLang="en-US" sz="1800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立即数寻址</a:t>
                      </a:r>
                      <a:endParaRPr kumimoji="1" lang="zh-CN" altLang="en-US" sz="18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endParaRPr kumimoji="1" lang="en-US" altLang="zh-CN" sz="10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r>
                        <a:rPr kumimoji="1" lang="zh-CN" altLang="en-US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常量形式的操作数</a:t>
                      </a:r>
                      <a:endParaRPr kumimoji="1" lang="zh-CN" altLang="en-US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</a:rPr>
                        <a:t>eax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33221100h</a:t>
                      </a:r>
                      <a:endParaRPr lang="en-US" altLang="zh-CN" sz="18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</a:rPr>
                        <a:t>ecx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offset count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58979"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zh-CN" altLang="en-US" sz="1800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寄存器寻址</a:t>
                      </a:r>
                      <a:endParaRPr kumimoji="1" lang="zh-CN" altLang="en-US" sz="18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r>
                        <a:rPr kumimoji="1" lang="zh-CN" altLang="en-US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寄存器形式的操作数</a:t>
                      </a:r>
                      <a:endParaRPr kumimoji="1" lang="zh-CN" altLang="en-US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mov</a:t>
                      </a:r>
                      <a:r>
                        <a:rPr lang="en-US" altLang="zh-CN" sz="1800" dirty="0"/>
                        <a:t> 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</a:rPr>
                        <a:t>ebx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, 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</a:rPr>
                        <a:t>eax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56763">
                <a:tc rowSpan="6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kumimoji="1" lang="en-US" altLang="zh-CN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kumimoji="1" lang="en-US" altLang="zh-CN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kumimoji="1" lang="en-US" altLang="zh-CN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kumimoji="1" lang="en-US" altLang="zh-CN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kumimoji="1" lang="en-US" altLang="zh-CN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kumimoji="1" lang="en-US" altLang="zh-CN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kumimoji="1" lang="zh-CN" altLang="en-US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存储器</a:t>
                      </a:r>
                      <a:endParaRPr kumimoji="1" lang="en-US" altLang="zh-CN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kumimoji="1" lang="zh-CN" altLang="en-US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寻址</a:t>
                      </a:r>
                      <a:endParaRPr kumimoji="1" lang="zh-CN" altLang="en-US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1" lang="zh-CN" altLang="en-US" sz="1800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直接寻址</a:t>
                      </a:r>
                      <a:endParaRPr kumimoji="1" lang="zh-CN" altLang="en-US" sz="18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1" lang="zh-CN" altLang="en-US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变量形式的操作数</a:t>
                      </a:r>
                      <a:endParaRPr kumimoji="1" lang="zh-CN" altLang="en-US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</a:rPr>
                        <a:t>ecx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count</a:t>
                      </a: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24335">
                <a:tc v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kumimoji="1" lang="en-US" altLang="zh-CN" sz="10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ctr"/>
                      <a:r>
                        <a:rPr kumimoji="1" lang="zh-CN" altLang="en-US" sz="1800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寄存器间接寻址</a:t>
                      </a:r>
                      <a:endParaRPr lang="zh-CN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zh-CN" sz="10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[]</a:t>
                      </a:r>
                      <a:r>
                        <a:rPr kumimoji="1" lang="zh-CN" altLang="en-US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中只有一个寄存器</a:t>
                      </a:r>
                      <a:endParaRPr kumimoji="1" lang="zh-CN" altLang="en-US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</a:rPr>
                        <a:t>edx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</a:rPr>
                        <a:t>ebx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]</a:t>
                      </a:r>
                      <a:endParaRPr lang="en-US" altLang="zh-CN" sz="1800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mov</a:t>
                      </a:r>
                      <a:r>
                        <a:rPr lang="en-US" altLang="zh-CN" sz="1800" dirty="0"/>
                        <a:t>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</a:rPr>
                        <a:t>esi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]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,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</a:rPr>
                        <a:t>ecx</a:t>
                      </a:r>
                      <a:r>
                        <a:rPr lang="en-US" altLang="zh-CN" sz="1800" dirty="0"/>
                        <a:t> </a:t>
                      </a:r>
                      <a:endParaRPr lang="zh-CN" altLang="en-US" sz="1800" dirty="0"/>
                    </a:p>
                  </a:txBody>
                  <a:tcPr/>
                </a:tc>
              </a:tr>
              <a:tr h="624335">
                <a:tc v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kumimoji="1" lang="en-US" altLang="zh-CN" sz="8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ctr"/>
                      <a:r>
                        <a:rPr kumimoji="1" lang="zh-CN" altLang="en-US" sz="1800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寄存器相对寻址</a:t>
                      </a:r>
                      <a:endParaRPr kumimoji="1" lang="zh-CN" altLang="en-US" sz="18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[]</a:t>
                      </a:r>
                      <a:r>
                        <a:rPr kumimoji="1" lang="zh-CN" altLang="en-US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中只有一个寄存器和一个数字，也可以是一维数组形式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</a:rPr>
                        <a:t>esi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</a:rPr>
                        <a:t>[ebx+4]</a:t>
                      </a:r>
                      <a:endParaRPr lang="en-US" altLang="zh-CN" sz="1800" b="1" dirty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  <a:latin typeface="+mn-lt"/>
                        </a:rPr>
                        <a:t>esi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count[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ebx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]                      </a:t>
                      </a:r>
                      <a:endParaRPr lang="nb-NO" altLang="zh-CN" sz="1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643529">
                <a:tc vMerge="1">
                  <a:tcPr/>
                </a:tc>
                <a:tc rowSpan="3" gridSpan="2">
                  <a:txBody>
                    <a:bodyPr/>
                    <a:lstStyle/>
                    <a:p>
                      <a:pPr algn="ctr"/>
                      <a:endParaRPr kumimoji="1" lang="en-US" altLang="zh-CN" sz="20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ctr"/>
                      <a:endParaRPr kumimoji="1" lang="en-US" altLang="zh-CN" sz="24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ctr"/>
                      <a:r>
                        <a:rPr kumimoji="1" lang="zh-CN" altLang="en-US" sz="2400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变址寻址</a:t>
                      </a:r>
                      <a:endParaRPr kumimoji="1" lang="zh-CN" altLang="en-US" sz="24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ctr"/>
                      <a:endParaRPr kumimoji="1" lang="en-US" altLang="zh-CN" sz="20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ctr"/>
                      <a:endParaRPr lang="zh-CN" altLang="en-US" sz="2000" dirty="0">
                        <a:solidFill>
                          <a:srgbClr val="0000FF"/>
                        </a:solidFill>
                      </a:endParaRPr>
                    </a:p>
                  </a:txBody>
                  <a:tcPr vert="eaVert"/>
                </a:tc>
                <a:tc rowSpan="3" h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1800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基址变址寻址：</a:t>
                      </a:r>
                      <a:r>
                        <a:rPr kumimoji="1" lang="en-US" altLang="zh-CN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[]</a:t>
                      </a:r>
                      <a:r>
                        <a:rPr kumimoji="1" lang="zh-CN" altLang="en-US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里有两个寄存器（没有位移量）</a:t>
                      </a:r>
                      <a:endParaRPr kumimoji="1" lang="zh-CN" altLang="en-US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it-IT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mov edi, </a:t>
                      </a:r>
                      <a:r>
                        <a:rPr lang="it-IT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[ebx+esi]                               </a:t>
                      </a:r>
                      <a:endParaRPr lang="it-IT" altLang="zh-CN" sz="18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it-IT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mov edi, </a:t>
                      </a:r>
                      <a:r>
                        <a:rPr lang="it-IT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[ebx][esi] 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891908">
                <a:tc v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相对基址变址寻址：</a:t>
                      </a:r>
                      <a:r>
                        <a:rPr kumimoji="1" lang="en-US" altLang="zh-CN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[]</a:t>
                      </a:r>
                      <a:r>
                        <a:rPr kumimoji="1" lang="zh-CN" altLang="en-US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里有两个寄存器和一个数字（有位移量）</a:t>
                      </a:r>
                      <a:endParaRPr kumimoji="1" lang="zh-CN" altLang="en-US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  <a:latin typeface="+mn-lt"/>
                        </a:rPr>
                        <a:t>eax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[ebx+edx+80h]                     </a:t>
                      </a:r>
                      <a:endParaRPr lang="en-US" altLang="zh-CN" sz="18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  <a:latin typeface="+mn-lt"/>
                        </a:rPr>
                        <a:t>eax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80h[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ebx+edx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]                       </a:t>
                      </a:r>
                      <a:endParaRPr lang="en-US" altLang="zh-CN" sz="1800" b="1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  <a:latin typeface="+mn-lt"/>
                        </a:rPr>
                        <a:t>eax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80h[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ebx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][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edx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]</a:t>
                      </a:r>
                      <a:r>
                        <a:rPr lang="it-IT" altLang="zh-CN" sz="1800" dirty="0">
                          <a:solidFill>
                            <a:srgbClr val="FF0000"/>
                          </a:solidFill>
                          <a:latin typeface="+mn-lt"/>
                        </a:rPr>
                        <a:t> 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1427052">
                <a:tc v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kumimoji="1" lang="en-US" altLang="zh-CN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l"/>
                      <a:r>
                        <a:rPr kumimoji="1" lang="zh-CN" altLang="en-US" sz="1800" kern="12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带比例的变址寻址：</a:t>
                      </a:r>
                      <a:endParaRPr kumimoji="1" lang="en-US" altLang="zh-CN" sz="1800" kern="12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[]</a:t>
                      </a:r>
                      <a:r>
                        <a:rPr kumimoji="1" lang="zh-CN" altLang="en-US" sz="1800" kern="12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里只有一个寄存器带乘法比例</a:t>
                      </a:r>
                      <a:endParaRPr kumimoji="1" lang="zh-CN" altLang="en-US" sz="1800" kern="12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  <a:latin typeface="+mn-lt"/>
                        </a:rPr>
                        <a:t>eax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[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ebx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*4]</a:t>
                      </a:r>
                      <a:endParaRPr lang="zh-CN" altLang="en-US" sz="18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  <a:latin typeface="+mn-lt"/>
                        </a:rPr>
                        <a:t>eax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[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esi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*2+80h]</a:t>
                      </a:r>
                      <a:endParaRPr lang="zh-CN" altLang="en-US" sz="18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  <a:latin typeface="+mn-lt"/>
                        </a:rPr>
                        <a:t>eax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[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ebx+esi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*4]</a:t>
                      </a:r>
                      <a:endParaRPr lang="zh-CN" altLang="en-US" sz="18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mov </a:t>
                      </a:r>
                      <a:r>
                        <a:rPr lang="en-US" altLang="zh-CN" sz="1800" b="1" dirty="0" err="1">
                          <a:solidFill>
                            <a:srgbClr val="00B050"/>
                          </a:solidFill>
                          <a:latin typeface="+mn-lt"/>
                        </a:rPr>
                        <a:t>eax</a:t>
                      </a:r>
                      <a:r>
                        <a:rPr lang="en-US" altLang="zh-CN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,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[</a:t>
                      </a:r>
                      <a:r>
                        <a:rPr lang="en-US" altLang="zh-CN" sz="18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ebx+esi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+mn-lt"/>
                        </a:rPr>
                        <a:t>*8-80h] 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493787"/>
            <a:ext cx="7762056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VAR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是数据段中定义的字变量，指令 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MOV EBX, OFFSET VAR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源操作数的寻址方式是（ ）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49289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直接寻址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35014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</a:rPr>
              <a:t>寄存器间接寻址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420739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立即数寻址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506464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存储器寻址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55718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41443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271689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12893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0"/>
            </p:custDataLst>
          </p:nvPr>
        </p:nvSpPr>
        <p:spPr bwMode="auto">
          <a:xfrm>
            <a:off x="6172200" y="5921896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493787"/>
            <a:ext cx="7762056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VAR 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是数据段中定义的字变量，指令 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MOV AX, VAR[EBX]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中源的操作数的寻址方式是（ ）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49289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寄存器相对寻址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35014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</a:rPr>
              <a:t>直接寻址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420739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相对基址变址寻址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506464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间接寻址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557189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41443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27168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12893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0"/>
            </p:custDataLst>
          </p:nvPr>
        </p:nvSpPr>
        <p:spPr bwMode="auto">
          <a:xfrm>
            <a:off x="6172200" y="5921896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23528" y="493787"/>
            <a:ext cx="8549456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VAR 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是数据段中定义的字变量，指令 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MOV VAR[EBX][EDI],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AX 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中目的操作数的寻址方式是（ ）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49289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寄存器相对寻址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35014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</a:rPr>
              <a:t>直接寻址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420739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相对基址变址寻址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506464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间接寻址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55718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41443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271689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128939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0"/>
            </p:custDataLst>
          </p:nvPr>
        </p:nvSpPr>
        <p:spPr bwMode="auto">
          <a:xfrm>
            <a:off x="6172200" y="5921896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738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数据寻址综合程序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146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50194" y="783838"/>
            <a:ext cx="8786302" cy="5940152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数据段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12345678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第一列为指令地址</a:t>
            </a:r>
            <a:endParaRPr lang="en-US" altLang="zh-CN" sz="2000" b="1" dirty="0">
              <a:solidFill>
                <a:schemeClr val="tx1"/>
              </a:solidFill>
              <a:latin typeface="+mn-lt"/>
            </a:endParaRPr>
          </a:p>
          <a:p>
            <a:pPr lvl="1">
              <a:lnSpc>
                <a:spcPct val="106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9ABCDEF0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第二列为翻译后的机器码</a:t>
            </a:r>
            <a:endParaRPr lang="en-US" altLang="zh-CN" sz="2000" b="1" dirty="0">
              <a:solidFill>
                <a:schemeClr val="tx1"/>
              </a:solidFill>
              <a:latin typeface="+mn-lt"/>
            </a:endParaRPr>
          </a:p>
          <a:p>
            <a:pPr lvl="1">
              <a:lnSpc>
                <a:spcPct val="106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00000000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lvl="1">
              <a:lnSpc>
                <a:spcPct val="106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00000000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lvl="1">
              <a:lnSpc>
                <a:spcPct val="106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00003721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latin typeface="+mn-lt"/>
              </a:rPr>
              <a:t>	count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12345678h,9abcdef0h,0,0,3721h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B8 33221100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latin typeface="+mn-lt"/>
              </a:rPr>
              <a:t>	mov eax,33221100h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;EAX=33221100H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（立即数寻址）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00000005	8B D8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ebx,eax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;EBX=EAX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（寄存器寻址）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00000007 	8B 0D 00000000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ecx,count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;ECX=12345678H(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直接寻址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)</a:t>
            </a:r>
            <a:endParaRPr lang="en-US" altLang="zh-CN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0000000D	BB 00000000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ebx,offset</a:t>
            </a:r>
            <a:r>
              <a:rPr lang="en-US" altLang="zh-CN" sz="2000" b="1" dirty="0">
                <a:latin typeface="+mn-lt"/>
              </a:rPr>
              <a:t> count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;EBX=count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变量的有效地址（立即数寻址）</a:t>
            </a:r>
            <a:endParaRPr lang="en-US" altLang="zh-CN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00000012	8B 13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6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edx</a:t>
            </a:r>
            <a:r>
              <a:rPr lang="en-US" altLang="zh-CN" sz="2000" b="1" dirty="0">
                <a:latin typeface="+mn-lt"/>
              </a:rPr>
              <a:t>,[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]	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 EDX=12345678H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（寄存器间接寻址）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数据寻址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综合程序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95536" y="764704"/>
            <a:ext cx="8496944" cy="5966313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00000014	8B 73 04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esi</a:t>
            </a:r>
            <a:r>
              <a:rPr lang="en-US" altLang="zh-CN" sz="2000" b="1" dirty="0">
                <a:latin typeface="+mn-lt"/>
              </a:rPr>
              <a:t>,[ebx+4]	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 ESI=9ABCDEF0H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（寄存器相对寻址）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00000017	BE 00000004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	mov esi,4	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 ESI=4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（立即数寻址）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0000001C 	8B BE 00000000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edi,count</a:t>
            </a:r>
            <a:r>
              <a:rPr lang="en-US" altLang="zh-CN" sz="2000" b="1" dirty="0">
                <a:latin typeface="+mn-lt"/>
              </a:rPr>
              <a:t>[</a:t>
            </a:r>
            <a:r>
              <a:rPr lang="en-US" altLang="zh-CN" sz="2000" b="1" dirty="0" err="1">
                <a:latin typeface="+mn-lt"/>
              </a:rPr>
              <a:t>esi</a:t>
            </a:r>
            <a:r>
              <a:rPr lang="en-US" altLang="zh-CN" sz="2000" b="1" dirty="0">
                <a:latin typeface="+mn-lt"/>
              </a:rPr>
              <a:t>]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 EDI=9ABCDEF0H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（寄存器相对寻址）</a:t>
            </a:r>
            <a:endParaRPr lang="en-US" altLang="zh-CN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00000022 	8B 3C 1E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edi</a:t>
            </a:r>
            <a:r>
              <a:rPr lang="en-US" altLang="zh-CN" sz="2000" b="1" dirty="0">
                <a:latin typeface="+mn-lt"/>
              </a:rPr>
              <a:t>,[</a:t>
            </a:r>
            <a:r>
              <a:rPr lang="en-US" altLang="zh-CN" sz="2000" b="1" dirty="0" err="1">
                <a:latin typeface="+mn-lt"/>
              </a:rPr>
              <a:t>ebx+esi</a:t>
            </a:r>
            <a:r>
              <a:rPr lang="en-US" altLang="zh-CN" sz="2000" b="1" dirty="0">
                <a:latin typeface="+mn-lt"/>
              </a:rPr>
              <a:t>]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 EDI=9ABCDEF0H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（基址变址寻址）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00000025	8B 0C B3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ecx</a:t>
            </a:r>
            <a:r>
              <a:rPr lang="en-US" altLang="zh-CN" sz="2000" b="1" dirty="0">
                <a:latin typeface="+mn-lt"/>
              </a:rPr>
              <a:t>,[</a:t>
            </a:r>
            <a:r>
              <a:rPr lang="en-US" altLang="zh-CN" sz="2000" b="1" dirty="0" err="1">
                <a:latin typeface="+mn-lt"/>
              </a:rPr>
              <a:t>ebx+esi</a:t>
            </a:r>
            <a:r>
              <a:rPr lang="en-US" altLang="zh-CN" sz="2000" b="1" dirty="0">
                <a:latin typeface="+mn-lt"/>
              </a:rPr>
              <a:t>*4]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 ECX=3721H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（带比例的基址变址寻址）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00000028	8B 54 B3 FC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edx</a:t>
            </a:r>
            <a:r>
              <a:rPr lang="en-US" altLang="zh-CN" sz="2000" b="1" dirty="0">
                <a:latin typeface="+mn-lt"/>
              </a:rPr>
              <a:t>,[</a:t>
            </a:r>
            <a:r>
              <a:rPr lang="en-US" altLang="zh-CN" sz="2000" b="1" dirty="0" err="1">
                <a:latin typeface="+mn-lt"/>
              </a:rPr>
              <a:t>ebx+esi</a:t>
            </a:r>
            <a:r>
              <a:rPr lang="en-US" altLang="zh-CN" sz="2000" b="1" dirty="0">
                <a:latin typeface="+mn-lt"/>
              </a:rPr>
              <a:t>*4-4]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 EDX=0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（带比例的相对基址变址寻址）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0000002C	8B EC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ebp,esp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 EBP=ESP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（寄存器寻址）</a:t>
            </a:r>
            <a:endParaRPr lang="en-US" altLang="zh-CN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0000002E	E8 00000000 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	call </a:t>
            </a:r>
            <a:r>
              <a:rPr lang="en-US" altLang="zh-CN" sz="2000" b="1" dirty="0" err="1">
                <a:latin typeface="+mn-lt"/>
              </a:rPr>
              <a:t>disprd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教材显示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个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位通用寄存器内容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本课程实验的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输入输出方式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：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95536" y="842425"/>
            <a:ext cx="8424936" cy="42633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disprd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教材显示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8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个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位通用寄存器内容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4" b="10881"/>
          <a:stretch>
            <a:fillRect/>
          </a:stretch>
        </p:blipFill>
        <p:spPr bwMode="auto">
          <a:xfrm>
            <a:off x="1290416" y="1412776"/>
            <a:ext cx="6612581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395536" y="3591647"/>
            <a:ext cx="8424936" cy="2834687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format byte ‘EAX=%08X’,13,10,0            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; </a:t>
            </a:r>
            <a:r>
              <a:rPr lang="zh-CN" altLang="en-US" sz="2000" b="1" dirty="0">
                <a:latin typeface="+mn-lt"/>
              </a:rPr>
              <a:t>以</a:t>
            </a:r>
            <a:r>
              <a:rPr lang="en-US" altLang="zh-CN" sz="2000" b="1" dirty="0">
                <a:latin typeface="+mn-lt"/>
              </a:rPr>
              <a:t>8</a:t>
            </a:r>
            <a:r>
              <a:rPr lang="zh-CN" altLang="en-US" sz="2000" b="1" dirty="0">
                <a:latin typeface="+mn-lt"/>
              </a:rPr>
              <a:t>位十六进制</a:t>
            </a:r>
            <a:r>
              <a:rPr lang="en-US" altLang="zh-CN" sz="2000" b="1" dirty="0">
                <a:latin typeface="+mn-lt"/>
              </a:rPr>
              <a:t>(</a:t>
            </a:r>
            <a:r>
              <a:rPr lang="zh-CN" altLang="en-US" sz="2000" b="1" dirty="0">
                <a:latin typeface="+mn-lt"/>
              </a:rPr>
              <a:t>大写字母</a:t>
            </a:r>
            <a:r>
              <a:rPr lang="en-US" altLang="zh-CN" sz="2000" b="1" dirty="0">
                <a:latin typeface="+mn-lt"/>
              </a:rPr>
              <a:t>)</a:t>
            </a:r>
            <a:r>
              <a:rPr lang="zh-CN" altLang="en-US" sz="2000" b="1" dirty="0">
                <a:latin typeface="+mn-lt"/>
              </a:rPr>
              <a:t>的格式进行输出，不足</a:t>
            </a:r>
            <a:r>
              <a:rPr lang="en-US" altLang="zh-CN" sz="2000" b="1" dirty="0">
                <a:latin typeface="+mn-lt"/>
              </a:rPr>
              <a:t>8</a:t>
            </a:r>
            <a:r>
              <a:rPr lang="zh-CN" altLang="en-US" sz="2000" b="1" dirty="0">
                <a:latin typeface="+mn-lt"/>
              </a:rPr>
              <a:t>位则左补</a:t>
            </a:r>
            <a:r>
              <a:rPr lang="en-US" altLang="zh-CN" sz="2000" b="1" dirty="0">
                <a:latin typeface="+mn-lt"/>
              </a:rPr>
              <a:t>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 err="1">
                <a:latin typeface="+mn-lt"/>
              </a:rPr>
              <a:t>pushad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invoke </a:t>
            </a:r>
            <a:r>
              <a:rPr lang="en-US" altLang="zh-CN" sz="2000" b="1" dirty="0" err="1">
                <a:latin typeface="+mn-lt"/>
              </a:rPr>
              <a:t>printf</a:t>
            </a:r>
            <a:r>
              <a:rPr lang="en-US" altLang="zh-CN" sz="2000" b="1" dirty="0">
                <a:latin typeface="+mn-lt"/>
              </a:rPr>
              <a:t>, offset format, </a:t>
            </a:r>
            <a:r>
              <a:rPr lang="en-US" altLang="zh-CN" sz="2000" b="1" dirty="0" err="1">
                <a:latin typeface="+mn-lt"/>
              </a:rPr>
              <a:t>eax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 err="1">
                <a:latin typeface="+mn-lt"/>
              </a:rPr>
              <a:t>popad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;invoke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指令会改变</a:t>
            </a:r>
            <a:r>
              <a:rPr lang="en-US" altLang="zh-CN" sz="2000" b="1" dirty="0" err="1">
                <a:solidFill>
                  <a:schemeClr val="tx1"/>
                </a:solidFill>
                <a:latin typeface="+mn-lt"/>
              </a:rPr>
              <a:t>eax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altLang="zh-CN" sz="2000" b="1" dirty="0" err="1">
                <a:solidFill>
                  <a:schemeClr val="tx1"/>
                </a:solidFill>
                <a:latin typeface="+mn-lt"/>
              </a:rPr>
              <a:t>ecx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altLang="zh-CN" sz="2000" b="1" dirty="0" err="1">
                <a:solidFill>
                  <a:schemeClr val="tx1"/>
                </a:solidFill>
                <a:latin typeface="+mn-lt"/>
              </a:rPr>
              <a:t>edx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的值，可采用</a:t>
            </a:r>
            <a:r>
              <a:rPr lang="en-US" altLang="zh-CN" sz="2000" b="1" dirty="0" err="1">
                <a:solidFill>
                  <a:schemeClr val="tx1"/>
                </a:solidFill>
                <a:latin typeface="+mn-lt"/>
              </a:rPr>
              <a:t>pushad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000" b="1" dirty="0" err="1">
                <a:solidFill>
                  <a:schemeClr val="tx1"/>
                </a:solidFill>
                <a:latin typeface="+mn-lt"/>
              </a:rPr>
              <a:t>popad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进行保存恢复</a:t>
            </a:r>
            <a:endParaRPr lang="en-US" altLang="zh-CN" sz="2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3528" y="2999586"/>
            <a:ext cx="6642681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1079500" algn="l"/>
                <a:tab pos="1798320" algn="l"/>
              </a:tabLst>
            </a:pPr>
            <a:r>
              <a:rPr lang="zh-CN" altLang="en-US" sz="2800" dirty="0">
                <a:solidFill>
                  <a:srgbClr val="FF0000"/>
                </a:solidFill>
              </a:rPr>
              <a:t>本课程显示寄存器的方法：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数据寻址程序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-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课后作业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6"/>
          <a:stretch>
            <a:fillRect/>
          </a:stretch>
        </p:blipFill>
        <p:spPr bwMode="auto">
          <a:xfrm>
            <a:off x="454211" y="818314"/>
            <a:ext cx="8235578" cy="5817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直接连接符 6"/>
          <p:cNvCxnSpPr/>
          <p:nvPr/>
        </p:nvCxnSpPr>
        <p:spPr bwMode="auto">
          <a:xfrm>
            <a:off x="1404194" y="1907307"/>
            <a:ext cx="1890712" cy="0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none" w="sm" len="sm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1331913" y="5743575"/>
            <a:ext cx="1484312" cy="0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none" w="sm" len="sm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>
            <a:off x="1331913" y="6200775"/>
            <a:ext cx="1484312" cy="0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none" w="sm" len="sm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VS2022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源程序模板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31540" y="1034460"/>
            <a:ext cx="8280920" cy="4122732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.386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latin typeface="+mn-lt"/>
              </a:rPr>
              <a:t>.model flat, </a:t>
            </a:r>
            <a:r>
              <a:rPr lang="en-US" altLang="zh-CN" sz="2000" b="1" dirty="0" err="1">
                <a:latin typeface="+mn-lt"/>
              </a:rPr>
              <a:t>stdcall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</a:pPr>
            <a:endParaRPr lang="zh-CN" altLang="en-US" sz="1000" b="1" dirty="0">
              <a:latin typeface="+mn-lt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; VS2017</a:t>
            </a:r>
            <a:r>
              <a:rPr lang="zh-CN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后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,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调用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C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语言的库函数进行输入输出</a:t>
            </a:r>
            <a:endParaRPr lang="zh-CN" altLang="zh-CN" sz="2000" b="1" dirty="0">
              <a:solidFill>
                <a:srgbClr val="FF0000"/>
              </a:solidFill>
              <a:highlight>
                <a:srgbClr val="FFFF00"/>
              </a:highlight>
              <a:latin typeface="+mn-lt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b="1" dirty="0" err="1">
                <a:latin typeface="+mn-lt"/>
              </a:rPr>
              <a:t>includelib</a:t>
            </a:r>
            <a:r>
              <a:rPr lang="en-US" altLang="zh-CN" sz="2000" b="1" dirty="0">
                <a:latin typeface="+mn-lt"/>
              </a:rPr>
              <a:t> kernel32.lib</a:t>
            </a:r>
            <a:endParaRPr lang="zh-CN" altLang="zh-CN" sz="2000" b="1" dirty="0">
              <a:latin typeface="+mn-lt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b="1" dirty="0" err="1">
                <a:latin typeface="+mn-lt"/>
              </a:rPr>
              <a:t>includelib</a:t>
            </a:r>
            <a:r>
              <a:rPr lang="en-US" altLang="zh-CN" sz="2000" b="1" dirty="0">
                <a:latin typeface="+mn-lt"/>
              </a:rPr>
              <a:t> ucrt.lib</a:t>
            </a:r>
            <a:endParaRPr lang="zh-CN" altLang="zh-CN" sz="2000" b="1" dirty="0">
              <a:latin typeface="+mn-lt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b="1" dirty="0" err="1">
                <a:latin typeface="+mn-lt"/>
              </a:rPr>
              <a:t>includelib</a:t>
            </a:r>
            <a:r>
              <a:rPr lang="en-US" altLang="zh-CN" sz="2000" b="1" dirty="0">
                <a:latin typeface="+mn-lt"/>
              </a:rPr>
              <a:t> legacy_stdio_definitions.lib</a:t>
            </a:r>
            <a:endParaRPr lang="en-US" altLang="zh-CN" sz="2000" b="1" dirty="0">
              <a:latin typeface="+mn-lt"/>
            </a:endParaRPr>
          </a:p>
          <a:p>
            <a:pPr algn="just">
              <a:lnSpc>
                <a:spcPct val="120000"/>
              </a:lnSpc>
            </a:pPr>
            <a:endParaRPr lang="en-US" altLang="zh-CN" sz="1000" b="1" dirty="0">
              <a:latin typeface="+mn-lt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; C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语言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I/O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库函数的原型说明</a:t>
            </a:r>
            <a:endParaRPr lang="zh-CN" altLang="zh-CN" sz="2000" b="1" dirty="0">
              <a:solidFill>
                <a:srgbClr val="FF0000"/>
              </a:solidFill>
              <a:highlight>
                <a:srgbClr val="FFFF00"/>
              </a:highlight>
              <a:latin typeface="+mn-lt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b="1" dirty="0" err="1">
                <a:latin typeface="+mn-lt"/>
              </a:rPr>
              <a:t>ExitProcess</a:t>
            </a:r>
            <a:r>
              <a:rPr lang="en-US" altLang="zh-CN" sz="2000" b="1" dirty="0">
                <a:latin typeface="+mn-lt"/>
              </a:rPr>
              <a:t> PROTO, </a:t>
            </a:r>
            <a:r>
              <a:rPr lang="en-US" altLang="zh-CN" sz="2000" b="1" dirty="0" err="1">
                <a:latin typeface="+mn-lt"/>
              </a:rPr>
              <a:t>dwExitCode:DWORD</a:t>
            </a:r>
            <a:r>
              <a:rPr lang="en-US" altLang="zh-CN" sz="2000" b="1" dirty="0">
                <a:latin typeface="+mn-lt"/>
              </a:rPr>
              <a:t>		</a:t>
            </a:r>
            <a:endParaRPr lang="en-US" altLang="zh-CN" sz="2000" b="1" dirty="0">
              <a:latin typeface="+mn-lt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b="1" dirty="0" err="1">
                <a:latin typeface="+mn-lt"/>
              </a:rPr>
              <a:t>printf</a:t>
            </a:r>
            <a:r>
              <a:rPr lang="en-US" altLang="zh-CN" sz="2000" b="1" dirty="0">
                <a:latin typeface="+mn-lt"/>
              </a:rPr>
              <a:t>  PROTO C :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, :</a:t>
            </a:r>
            <a:r>
              <a:rPr lang="en-US" altLang="zh-CN" sz="2000" b="1" dirty="0" err="1">
                <a:latin typeface="+mn-lt"/>
              </a:rPr>
              <a:t>vararg</a:t>
            </a:r>
            <a:r>
              <a:rPr lang="en-US" altLang="zh-CN" sz="2000" b="1" dirty="0">
                <a:latin typeface="+mn-lt"/>
              </a:rPr>
              <a:t>   </a:t>
            </a:r>
            <a:endParaRPr lang="zh-CN" altLang="zh-CN" sz="2000" b="1" dirty="0">
              <a:latin typeface="+mn-lt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b="1" dirty="0" err="1">
                <a:latin typeface="+mn-lt"/>
              </a:rPr>
              <a:t>scanf</a:t>
            </a:r>
            <a:r>
              <a:rPr lang="en-US" altLang="zh-CN" sz="2000" b="1" dirty="0">
                <a:latin typeface="+mn-lt"/>
              </a:rPr>
              <a:t> PROTO C :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, :</a:t>
            </a:r>
            <a:r>
              <a:rPr lang="en-US" altLang="zh-CN" sz="2000" b="1" dirty="0" err="1">
                <a:latin typeface="+mn-lt"/>
              </a:rPr>
              <a:t>vararg</a:t>
            </a:r>
            <a:r>
              <a:rPr lang="en-US" altLang="zh-CN" sz="2000" b="1" dirty="0">
                <a:latin typeface="+mn-lt"/>
              </a:rPr>
              <a:t>   </a:t>
            </a:r>
            <a:endParaRPr lang="en-US" altLang="zh-CN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1540" y="5456075"/>
            <a:ext cx="8280920" cy="925253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b="1" dirty="0">
                <a:solidFill>
                  <a:schemeClr val="tx1"/>
                </a:solidFill>
                <a:latin typeface="+mn-lt"/>
              </a:rPr>
              <a:t>函数原型</a:t>
            </a:r>
            <a:r>
              <a:rPr lang="en-US" altLang="zh-CN" sz="2200" b="1" dirty="0">
                <a:solidFill>
                  <a:schemeClr val="tx1"/>
                </a:solidFill>
                <a:latin typeface="+mn-lt"/>
              </a:rPr>
              <a:t>proto</a:t>
            </a:r>
            <a:r>
              <a:rPr lang="zh-CN" altLang="en-US" sz="2200" b="1" dirty="0">
                <a:solidFill>
                  <a:schemeClr val="tx1"/>
                </a:solidFill>
                <a:latin typeface="+mn-lt"/>
              </a:rPr>
              <a:t>伪指令的格式 </a:t>
            </a:r>
            <a:r>
              <a:rPr lang="en-US" altLang="zh-CN" sz="2200" b="1" dirty="0">
                <a:solidFill>
                  <a:schemeClr val="tx1"/>
                </a:solidFill>
                <a:latin typeface="+mn-lt"/>
              </a:rPr>
              <a:t>:</a:t>
            </a:r>
            <a:endParaRPr lang="en-US" altLang="zh-CN" sz="22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200" b="1" dirty="0">
                <a:latin typeface="+mn-lt"/>
              </a:rPr>
              <a:t>函数名 </a:t>
            </a:r>
            <a:r>
              <a:rPr lang="en-US" altLang="zh-CN" sz="2200" b="1" dirty="0">
                <a:latin typeface="+mn-lt"/>
              </a:rPr>
              <a:t>proto [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语言</a:t>
            </a:r>
            <a:r>
              <a:rPr lang="en-US" altLang="zh-CN" sz="2200" b="1" dirty="0">
                <a:latin typeface="+mn-lt"/>
              </a:rPr>
              <a:t>] [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[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参数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1]: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数据类型</a:t>
            </a:r>
            <a:r>
              <a:rPr lang="en-US" altLang="zh-CN" sz="2200" b="1" dirty="0">
                <a:latin typeface="+mn-lt"/>
              </a:rPr>
              <a:t>]</a:t>
            </a:r>
            <a:r>
              <a:rPr lang="zh-CN" altLang="en-US" sz="2200" b="1" dirty="0">
                <a:latin typeface="+mn-lt"/>
              </a:rPr>
              <a:t> </a:t>
            </a:r>
            <a:r>
              <a:rPr lang="en-US" altLang="zh-CN" sz="2200" b="1" dirty="0">
                <a:latin typeface="+mn-lt"/>
              </a:rPr>
              <a:t>[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,[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参数</a:t>
            </a:r>
            <a:r>
              <a:rPr lang="en-US" altLang="zh-CN" sz="2200" b="1" dirty="0">
                <a:solidFill>
                  <a:srgbClr val="00B050"/>
                </a:solidFill>
                <a:latin typeface="+mn-lt"/>
              </a:rPr>
              <a:t>2]:</a:t>
            </a:r>
            <a:r>
              <a:rPr lang="zh-CN" altLang="en-US" sz="2200" b="1" dirty="0">
                <a:solidFill>
                  <a:srgbClr val="00B050"/>
                </a:solidFill>
                <a:latin typeface="+mn-lt"/>
              </a:rPr>
              <a:t>数据类型</a:t>
            </a:r>
            <a:r>
              <a:rPr lang="en-US" altLang="zh-CN" sz="2200" b="1" dirty="0">
                <a:latin typeface="+mn-lt"/>
              </a:rPr>
              <a:t>]……</a:t>
            </a:r>
            <a:endParaRPr lang="en-US" altLang="zh-CN" sz="2200" b="1" dirty="0">
              <a:latin typeface="+mn-lt"/>
            </a:endParaRPr>
          </a:p>
        </p:txBody>
      </p:sp>
      <p:sp>
        <p:nvSpPr>
          <p:cNvPr id="10" name="右大括号 9"/>
          <p:cNvSpPr/>
          <p:nvPr/>
        </p:nvSpPr>
        <p:spPr bwMode="auto">
          <a:xfrm>
            <a:off x="5724128" y="2096944"/>
            <a:ext cx="576064" cy="3024336"/>
          </a:xfrm>
          <a:prstGeom prst="rightBrac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" name="Rounded Rectangular Callout 2"/>
          <p:cNvSpPr/>
          <p:nvPr/>
        </p:nvSpPr>
        <p:spPr bwMode="auto">
          <a:xfrm>
            <a:off x="6408475" y="3250208"/>
            <a:ext cx="2303985" cy="913974"/>
          </a:xfrm>
          <a:prstGeom prst="wedgeRoundRectCallout">
            <a:avLst>
              <a:gd name="adj1" fmla="val -23182"/>
              <a:gd name="adj2" fmla="val -44676"/>
              <a:gd name="adj3" fmla="val 16667"/>
            </a:avLst>
          </a:prstGeom>
          <a:solidFill>
            <a:srgbClr val="7276BB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anose="02010609060101010101" pitchFamily="49" charset="-122"/>
              </a:rPr>
              <a:t>;VS2010/2015</a:t>
            </a:r>
            <a:endParaRPr lang="en-US" altLang="zh-CN" sz="22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黑体" panose="02010609060101010101" pitchFamily="49" charset="-122"/>
              </a:rPr>
              <a:t>include vcIO.inc</a:t>
            </a:r>
            <a:endParaRPr lang="zh-CN" altLang="en-US" sz="2200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数据寻址程序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-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课后作业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7060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751" y="764704"/>
            <a:ext cx="7344816" cy="59524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86011" y="754071"/>
            <a:ext cx="8568952" cy="5684813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微处理器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基本结构：算术逻辑单元、寄存器、指令处理单元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功能结构：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8086(BIU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EU)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80386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及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Pentium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lt"/>
              </a:rPr>
              <a:t>掌握</a:t>
            </a:r>
            <a:r>
              <a:rPr lang="en-US" altLang="zh-CN" sz="2800" dirty="0">
                <a:latin typeface="+mn-lt"/>
              </a:rPr>
              <a:t>IA-32</a:t>
            </a:r>
            <a:r>
              <a:rPr lang="zh-CN" altLang="en-US" sz="2800" dirty="0">
                <a:latin typeface="+mn-lt"/>
              </a:rPr>
              <a:t>常用寄存器的名称和作用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通用寄存器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(8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个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、标志寄存器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EFLAGS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专用寄存器：段寄存器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(6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个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位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、指令指针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EIP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理解</a:t>
            </a:r>
            <a:r>
              <a:rPr lang="en-US" altLang="zh-CN" sz="2800" dirty="0">
                <a:solidFill>
                  <a:schemeClr val="tx1"/>
                </a:solidFill>
                <a:latin typeface="+mn-lt"/>
              </a:rPr>
              <a:t>IA-32</a:t>
            </a: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的存储器模型和工作方式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工作方式         存储模型        地址转换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逻辑、线性地址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)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lt"/>
              </a:rPr>
              <a:t>掌握数据寻址方式及其应用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立即数寻址、寄存器寻址、存储器寻址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+mn-lt"/>
              </a:rPr>
              <a:t>掌握汇编语言程序的开发方法</a:t>
            </a:r>
            <a:r>
              <a:rPr lang="en-US" altLang="zh-CN" sz="2800" dirty="0">
                <a:latin typeface="+mn-lt"/>
              </a:rPr>
              <a:t>-VS201X</a:t>
            </a:r>
            <a:endParaRPr lang="en-US" altLang="zh-CN" sz="28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小结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Line 8"/>
          <p:cNvSpPr>
            <a:spLocks noChangeShapeType="1"/>
          </p:cNvSpPr>
          <p:nvPr/>
        </p:nvSpPr>
        <p:spPr bwMode="auto">
          <a:xfrm>
            <a:off x="2699792" y="4613031"/>
            <a:ext cx="57795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>
            <a:off x="4538092" y="4594776"/>
            <a:ext cx="57795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2-11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寄存器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间接寻址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67240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55600" y="765810"/>
            <a:ext cx="8354695" cy="593915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indent="0" defTabSz="914400" latinLnBrk="0">
              <a:lnSpc>
                <a:spcPct val="110000"/>
              </a:lnSpc>
              <a:spcBef>
                <a:spcPct val="0"/>
              </a:spcBef>
              <a:buNone/>
              <a:tabLst>
                <a:tab pos="1611630" algn="l"/>
              </a:tabLst>
            </a:pPr>
            <a:r>
              <a:rPr lang="en-US" altLang="en-US" sz="2000" b="1" dirty="0">
                <a:solidFill>
                  <a:schemeClr val="tx1"/>
                </a:solidFill>
                <a:sym typeface="+mn-ea"/>
              </a:rPr>
              <a:t>;数据段</a:t>
            </a:r>
            <a:endParaRPr lang="en-US" altLang="en-US" sz="2000" b="1" dirty="0">
              <a:solidFill>
                <a:schemeClr val="tx1"/>
              </a:solidFill>
            </a:endParaRPr>
          </a:p>
          <a:p>
            <a:pPr marL="0" indent="457200" defTabSz="914400" latinLnBrk="0">
              <a:lnSpc>
                <a:spcPct val="110000"/>
              </a:lnSpc>
              <a:spcBef>
                <a:spcPct val="0"/>
              </a:spcBef>
              <a:buNone/>
              <a:tabLst>
                <a:tab pos="1611630" algn="l"/>
              </a:tabLst>
            </a:pPr>
            <a:r>
              <a:rPr lang="en-US" altLang="en-US" sz="2000" b="1" dirty="0">
                <a:solidFill>
                  <a:srgbClr val="0000FF"/>
                </a:solidFill>
                <a:sym typeface="+mn-ea"/>
              </a:rPr>
              <a:t>srcmsg	db 'Try your best, why not.',0</a:t>
            </a:r>
            <a:endParaRPr lang="en-US" altLang="en-US" sz="2000" b="1" dirty="0">
              <a:solidFill>
                <a:srgbClr val="0000FF"/>
              </a:solidFill>
            </a:endParaRPr>
          </a:p>
          <a:p>
            <a:pPr marL="0" indent="457200" defTabSz="914400" latinLnBrk="0">
              <a:lnSpc>
                <a:spcPct val="110000"/>
              </a:lnSpc>
              <a:spcBef>
                <a:spcPct val="0"/>
              </a:spcBef>
              <a:buNone/>
              <a:tabLst>
                <a:tab pos="1611630" algn="l"/>
              </a:tabLst>
            </a:pPr>
            <a:r>
              <a:rPr lang="en-US" altLang="en-US" sz="2000" b="1" dirty="0">
                <a:solidFill>
                  <a:srgbClr val="C00000"/>
                </a:solidFill>
                <a:sym typeface="+mn-ea"/>
              </a:rPr>
              <a:t>count	equ  $-srcmsg</a:t>
            </a:r>
            <a:r>
              <a:rPr lang="en-US" altLang="en-US" sz="2000" dirty="0">
                <a:solidFill>
                  <a:srgbClr val="C00000"/>
                </a:solidFill>
                <a:sym typeface="+mn-ea"/>
              </a:rPr>
              <a:t>        </a:t>
            </a:r>
            <a:r>
              <a:rPr lang="en-US" altLang="en-US" sz="2000" dirty="0">
                <a:solidFill>
                  <a:schemeClr val="tx1"/>
                </a:solidFill>
                <a:latin typeface="黑体" panose="02010609060101010101" pitchFamily="49" charset="-122"/>
                <a:cs typeface="黑体" panose="02010609060101010101" pitchFamily="49" charset="-122"/>
                <a:sym typeface="+mn-ea"/>
              </a:rPr>
              <a:t>;计算字符串字符个数，赋给符号常量</a:t>
            </a:r>
            <a:endParaRPr lang="en-US" altLang="en-US" sz="2000" dirty="0">
              <a:solidFill>
                <a:schemeClr val="tx2"/>
              </a:solidFill>
            </a:endParaRPr>
          </a:p>
          <a:p>
            <a:pPr marL="0" indent="457200" defTabSz="914400" latinLnBrk="0">
              <a:lnSpc>
                <a:spcPct val="110000"/>
              </a:lnSpc>
              <a:spcBef>
                <a:spcPct val="0"/>
              </a:spcBef>
              <a:buNone/>
              <a:tabLst>
                <a:tab pos="1611630" algn="l"/>
              </a:tabLst>
            </a:pPr>
            <a:r>
              <a:rPr lang="en-US" altLang="en-US" sz="2000" b="1" dirty="0">
                <a:solidFill>
                  <a:srgbClr val="0000FF"/>
                </a:solidFill>
                <a:sym typeface="+mn-ea"/>
              </a:rPr>
              <a:t>dstmsg	db count dup(0)</a:t>
            </a:r>
            <a:endParaRPr lang="en-US" altLang="en-US" sz="2000" b="1" dirty="0">
              <a:solidFill>
                <a:srgbClr val="0000FF"/>
              </a:solidFill>
            </a:endParaRPr>
          </a:p>
          <a:p>
            <a:pPr marL="0" indent="0" defTabSz="914400" latinLnBrk="0">
              <a:lnSpc>
                <a:spcPct val="110000"/>
              </a:lnSpc>
              <a:spcBef>
                <a:spcPct val="0"/>
              </a:spcBef>
              <a:buNone/>
              <a:tabLst>
                <a:tab pos="1611630" algn="l"/>
              </a:tabLst>
            </a:pPr>
            <a:r>
              <a:rPr lang="en-US" altLang="en-US" sz="2000" b="1" dirty="0">
                <a:solidFill>
                  <a:schemeClr val="tx1"/>
                </a:solidFill>
                <a:sym typeface="+mn-ea"/>
              </a:rPr>
              <a:t>;代码段</a:t>
            </a:r>
            <a:endParaRPr lang="en-US" altLang="en-US" sz="2000" b="1" dirty="0">
              <a:solidFill>
                <a:schemeClr val="tx1"/>
              </a:solidFill>
            </a:endParaRPr>
          </a:p>
          <a:p>
            <a:pPr marL="0" indent="457200" defTabSz="914400" latinLnBrk="0">
              <a:lnSpc>
                <a:spcPct val="110000"/>
              </a:lnSpc>
              <a:spcBef>
                <a:spcPct val="0"/>
              </a:spcBef>
              <a:buNone/>
              <a:tabLst>
                <a:tab pos="1611630" algn="l"/>
              </a:tabLst>
            </a:pPr>
            <a:r>
              <a:rPr lang="en-US" altLang="en-US" sz="2000" b="1" dirty="0">
                <a:sym typeface="+mn-ea"/>
              </a:rPr>
              <a:t>mov ecx,count</a:t>
            </a:r>
            <a:r>
              <a:rPr lang="en-US" altLang="en-US" sz="2000" dirty="0">
                <a:solidFill>
                  <a:srgbClr val="663300"/>
                </a:solidFill>
                <a:sym typeface="+mn-ea"/>
              </a:rPr>
              <a:t>	</a:t>
            </a:r>
            <a:r>
              <a:rPr lang="en-US" altLang="en-US" sz="2000" dirty="0">
                <a:sym typeface="+mn-ea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sym typeface="+mn-ea"/>
              </a:rPr>
              <a:t>;ECX＝字符串字符个数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0" indent="457200" defTabSz="914400" latinLnBrk="0">
              <a:lnSpc>
                <a:spcPct val="110000"/>
              </a:lnSpc>
              <a:spcBef>
                <a:spcPct val="0"/>
              </a:spcBef>
              <a:buNone/>
              <a:tabLst>
                <a:tab pos="1611630" algn="l"/>
              </a:tabLst>
            </a:pPr>
            <a:r>
              <a:rPr lang="en-US" altLang="en-US" sz="2000" b="1" dirty="0">
                <a:sym typeface="+mn-ea"/>
              </a:rPr>
              <a:t>mov esi,offset srcmsg</a:t>
            </a:r>
            <a:r>
              <a:rPr lang="en-US" altLang="en-US" sz="2000" dirty="0">
                <a:solidFill>
                  <a:srgbClr val="663300"/>
                </a:solidFill>
                <a:sym typeface="+mn-ea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sym typeface="+mn-ea"/>
              </a:rPr>
              <a:t>;ESI＝源字符串首地址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0" indent="457200" defTabSz="914400" latinLnBrk="0">
              <a:lnSpc>
                <a:spcPct val="110000"/>
              </a:lnSpc>
              <a:spcBef>
                <a:spcPct val="0"/>
              </a:spcBef>
              <a:buNone/>
              <a:tabLst>
                <a:tab pos="1611630" algn="l"/>
              </a:tabLst>
            </a:pPr>
            <a:r>
              <a:rPr lang="en-US" altLang="en-US" sz="2000" b="1" dirty="0">
                <a:sym typeface="+mn-ea"/>
              </a:rPr>
              <a:t>mov edi,offset dstmsg</a:t>
            </a:r>
            <a:r>
              <a:rPr lang="en-US" altLang="en-US" sz="2000" dirty="0">
                <a:solidFill>
                  <a:srgbClr val="663300"/>
                </a:solidFill>
                <a:sym typeface="+mn-ea"/>
              </a:rPr>
              <a:t>	</a:t>
            </a:r>
            <a:r>
              <a:rPr lang="en-US" altLang="en-US" sz="2000" dirty="0">
                <a:solidFill>
                  <a:schemeClr val="tx1"/>
                </a:solidFill>
                <a:sym typeface="+mn-ea"/>
              </a:rPr>
              <a:t>;EDI＝目的字符串首地址</a:t>
            </a:r>
            <a:endParaRPr lang="en-US" altLang="en-US" sz="2000" dirty="0">
              <a:solidFill>
                <a:schemeClr val="tx1"/>
              </a:solidFill>
              <a:sym typeface="+mn-ea"/>
            </a:endParaRPr>
          </a:p>
          <a:p>
            <a:pPr marL="0" indent="0" defTabSz="914400" latinLnBrk="0">
              <a:lnSpc>
                <a:spcPct val="110000"/>
              </a:lnSpc>
              <a:spcBef>
                <a:spcPct val="0"/>
              </a:spcBef>
              <a:buNone/>
              <a:tabLst>
                <a:tab pos="1611630" algn="l"/>
              </a:tabLst>
            </a:pPr>
            <a:r>
              <a:rPr lang="en-US" altLang="en-US" sz="2000" b="1" dirty="0">
                <a:highlight>
                  <a:srgbClr val="FFFF00"/>
                </a:highlight>
                <a:sym typeface="+mn-ea"/>
              </a:rPr>
              <a:t>again:</a:t>
            </a:r>
            <a:endParaRPr lang="en-US" altLang="en-US" sz="2000" b="1" dirty="0">
              <a:highlight>
                <a:srgbClr val="FFFF00"/>
              </a:highlight>
              <a:sym typeface="+mn-ea"/>
            </a:endParaRPr>
          </a:p>
          <a:p>
            <a:pPr marL="0" marR="0" indent="457200" algn="l" defTabSz="914400" rtl="0" latinLnBrk="0">
              <a:lnSpc>
                <a:spcPct val="110000"/>
              </a:lnSpc>
              <a:spcBef>
                <a:spcPct val="20000"/>
              </a:spcBef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000" b="1" dirty="0">
                <a:sym typeface="+mn-ea"/>
              </a:rPr>
              <a:t>mov al,[esi]			</a:t>
            </a:r>
            <a:r>
              <a:rPr lang="en-US" altLang="en-US" sz="2000" dirty="0">
                <a:solidFill>
                  <a:schemeClr val="tx1"/>
                </a:solidFill>
                <a:sym typeface="+mn-ea"/>
              </a:rPr>
              <a:t>;取源串一个字符送AL</a:t>
            </a:r>
            <a:endParaRPr lang="en-US" altLang="en-US" sz="2000" i="0" u="none" strike="noStrike" kern="1200" cap="none" spc="0" normalizeH="0" baseline="0" noProof="1" dirty="0">
              <a:solidFill>
                <a:schemeClr val="tx1"/>
              </a:solidFill>
              <a:cs typeface="+mn-cs"/>
            </a:endParaRPr>
          </a:p>
          <a:p>
            <a:pPr marL="0" marR="0" indent="457200" algn="l" defTabSz="914400" rtl="0" latinLnBrk="0">
              <a:lnSpc>
                <a:spcPct val="110000"/>
              </a:lnSpc>
              <a:spcBef>
                <a:spcPct val="20000"/>
              </a:spcBef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000" b="1" dirty="0">
                <a:sym typeface="+mn-ea"/>
              </a:rPr>
              <a:t>mov [edi],al			</a:t>
            </a:r>
            <a:r>
              <a:rPr lang="en-US" altLang="en-US" sz="2000" dirty="0">
                <a:solidFill>
                  <a:schemeClr val="tx1"/>
                </a:solidFill>
                <a:sym typeface="+mn-ea"/>
              </a:rPr>
              <a:t>;将AL传送给目的串</a:t>
            </a:r>
            <a:endParaRPr lang="en-US" altLang="en-US" sz="2000" b="1" i="0" u="none" strike="noStrike" kern="1200" cap="none" spc="0" normalizeH="0" baseline="0" noProof="1" dirty="0">
              <a:cs typeface="+mn-cs"/>
            </a:endParaRPr>
          </a:p>
          <a:p>
            <a:pPr marL="0" marR="0" indent="457200" algn="l" defTabSz="914400" rtl="0" latinLnBrk="0">
              <a:lnSpc>
                <a:spcPct val="110000"/>
              </a:lnSpc>
              <a:spcBef>
                <a:spcPct val="20000"/>
              </a:spcBef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000" b="1" dirty="0">
                <a:sym typeface="+mn-ea"/>
              </a:rPr>
              <a:t>add esi,1				</a:t>
            </a:r>
            <a:r>
              <a:rPr lang="en-US" altLang="en-US" sz="2000" dirty="0">
                <a:solidFill>
                  <a:schemeClr val="tx1"/>
                </a:solidFill>
                <a:sym typeface="+mn-ea"/>
              </a:rPr>
              <a:t>;源串指针加1，指向下一个字符</a:t>
            </a:r>
            <a:endParaRPr lang="en-US" altLang="en-US" sz="2000" b="1" i="0" u="none" strike="noStrike" kern="1200" cap="none" spc="0" normalizeH="0" baseline="0" noProof="1" dirty="0">
              <a:cs typeface="+mn-cs"/>
            </a:endParaRPr>
          </a:p>
          <a:p>
            <a:pPr marL="0" marR="0" indent="457200" algn="l" defTabSz="914400" rtl="0" latinLnBrk="0">
              <a:lnSpc>
                <a:spcPct val="110000"/>
              </a:lnSpc>
              <a:spcBef>
                <a:spcPct val="20000"/>
              </a:spcBef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000" b="1" dirty="0">
                <a:sym typeface="+mn-ea"/>
              </a:rPr>
              <a:t>add edi,1				</a:t>
            </a:r>
            <a:r>
              <a:rPr lang="en-US" altLang="en-US" sz="2000" dirty="0">
                <a:solidFill>
                  <a:schemeClr val="tx1"/>
                </a:solidFill>
                <a:sym typeface="+mn-ea"/>
              </a:rPr>
              <a:t>;目的串指针加1，指向下一个字符</a:t>
            </a:r>
            <a:endParaRPr lang="en-US" altLang="en-US" sz="2000" b="1" i="0" u="none" strike="noStrike" kern="1200" cap="none" spc="0" normalizeH="0" baseline="0" noProof="1" dirty="0">
              <a:cs typeface="+mn-cs"/>
            </a:endParaRPr>
          </a:p>
          <a:p>
            <a:pPr marL="0" marR="0" indent="457200" algn="l" defTabSz="914400" rtl="0" latinLnBrk="0">
              <a:lnSpc>
                <a:spcPct val="110000"/>
              </a:lnSpc>
              <a:spcBef>
                <a:spcPct val="20000"/>
              </a:spcBef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000" b="1" dirty="0">
                <a:solidFill>
                  <a:srgbClr val="FF0000"/>
                </a:solidFill>
                <a:sym typeface="+mn-ea"/>
              </a:rPr>
              <a:t>loop </a:t>
            </a:r>
            <a:r>
              <a:rPr lang="en-US" altLang="en-US" sz="2000" b="1" dirty="0">
                <a:highlight>
                  <a:srgbClr val="FFFF00"/>
                </a:highlight>
                <a:sym typeface="+mn-ea"/>
              </a:rPr>
              <a:t>again </a:t>
            </a:r>
            <a:r>
              <a:rPr lang="en-US" altLang="en-US" sz="2000" b="1" dirty="0">
                <a:sym typeface="+mn-ea"/>
              </a:rPr>
              <a:t>	        </a:t>
            </a:r>
            <a:r>
              <a:rPr lang="en-US" altLang="en-US" sz="2000" b="1" dirty="0">
                <a:solidFill>
                  <a:srgbClr val="FF0000"/>
                </a:solidFill>
                <a:sym typeface="+mn-ea"/>
              </a:rPr>
              <a:t>;字符个数ECX减1，不为0，则转到again标号处执行</a:t>
            </a:r>
            <a:endParaRPr lang="en-US" altLang="en-US" sz="2000" b="1" i="0" u="none" strike="noStrike" kern="1200" cap="none" spc="0" normalizeH="0" baseline="0" noProof="1" dirty="0">
              <a:cs typeface="+mn-cs"/>
            </a:endParaRPr>
          </a:p>
          <a:p>
            <a:pPr marL="0" marR="0" indent="457200" algn="l" defTabSz="914400" rtl="0" latinLnBrk="0">
              <a:lnSpc>
                <a:spcPct val="110000"/>
              </a:lnSpc>
              <a:spcBef>
                <a:spcPct val="20000"/>
              </a:spcBef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000" b="1" dirty="0">
                <a:sym typeface="+mn-ea"/>
              </a:rPr>
              <a:t>mov eax,offset dstmsg</a:t>
            </a:r>
            <a:endParaRPr lang="en-US" altLang="en-US" sz="2000" b="1" i="0" u="none" strike="noStrike" kern="1200" cap="none" spc="0" normalizeH="0" baseline="0" noProof="1" dirty="0">
              <a:cs typeface="+mn-cs"/>
            </a:endParaRPr>
          </a:p>
          <a:p>
            <a:pPr marL="0" marR="0" indent="457200" algn="l" defTabSz="914400" rtl="0" latinLnBrk="0">
              <a:lnSpc>
                <a:spcPct val="110000"/>
              </a:lnSpc>
              <a:spcBef>
                <a:spcPct val="20000"/>
              </a:spcBef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000" b="1" dirty="0">
                <a:sym typeface="+mn-ea"/>
              </a:rPr>
              <a:t>call dispmsg			;显示目的字符串内容</a:t>
            </a:r>
            <a:endParaRPr lang="en-US" altLang="en-US" sz="2000" b="1" dirty="0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2-12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寄存器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相对寻址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67240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55600" y="837565"/>
            <a:ext cx="8439150" cy="496189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indent="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olidFill>
                  <a:schemeClr val="tx1"/>
                </a:solidFill>
                <a:sym typeface="+mn-ea"/>
              </a:rPr>
              <a:t>;数据段</a:t>
            </a:r>
            <a:endParaRPr lang="en-US" altLang="en-US" sz="2200" b="1" dirty="0">
              <a:solidFill>
                <a:schemeClr val="tx1"/>
              </a:solidFill>
            </a:endParaRPr>
          </a:p>
          <a:p>
            <a:pPr marL="0" indent="45720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ym typeface="+mn-ea"/>
              </a:rPr>
              <a:t>srcmsg	db 'Try your best, why not.',0</a:t>
            </a:r>
            <a:endParaRPr lang="en-US" altLang="en-US" sz="2200" b="1" dirty="0"/>
          </a:p>
          <a:p>
            <a:pPr marL="0" indent="45720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ym typeface="+mn-ea"/>
              </a:rPr>
              <a:t>count	equ  $-srcmsg	</a:t>
            </a:r>
            <a:r>
              <a:rPr lang="en-US" altLang="en-US" sz="2200" dirty="0">
                <a:solidFill>
                  <a:schemeClr val="tx1"/>
                </a:solidFill>
                <a:sym typeface="+mn-ea"/>
              </a:rPr>
              <a:t>;计算字符串字符个数，赋给符号常量</a:t>
            </a:r>
            <a:endParaRPr lang="en-US" altLang="en-US" sz="2200" dirty="0">
              <a:solidFill>
                <a:schemeClr val="tx1"/>
              </a:solidFill>
            </a:endParaRPr>
          </a:p>
          <a:p>
            <a:pPr marL="0" indent="45720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ym typeface="+mn-ea"/>
              </a:rPr>
              <a:t>dstmsg	db count dup(0)</a:t>
            </a:r>
            <a:endParaRPr lang="en-US" altLang="en-US" sz="2200" b="1" dirty="0"/>
          </a:p>
          <a:p>
            <a:pPr marL="0" indent="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olidFill>
                  <a:schemeClr val="tx1"/>
                </a:solidFill>
                <a:sym typeface="+mn-ea"/>
              </a:rPr>
              <a:t>;代码段</a:t>
            </a:r>
            <a:endParaRPr lang="en-US" altLang="en-US" sz="2200" b="1" dirty="0">
              <a:solidFill>
                <a:schemeClr val="tx1"/>
              </a:solidFill>
            </a:endParaRPr>
          </a:p>
          <a:p>
            <a:pPr marL="0" indent="45720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ym typeface="+mn-ea"/>
              </a:rPr>
              <a:t>mov ecx,count		</a:t>
            </a:r>
            <a:r>
              <a:rPr lang="en-US" altLang="en-US" sz="2200" dirty="0">
                <a:solidFill>
                  <a:schemeClr val="tx1"/>
                </a:solidFill>
                <a:sym typeface="+mn-ea"/>
              </a:rPr>
              <a:t>;ECX＝字符串字符个数</a:t>
            </a:r>
            <a:endParaRPr lang="en-US" altLang="en-US" sz="2200" dirty="0">
              <a:solidFill>
                <a:schemeClr val="tx1"/>
              </a:solidFill>
            </a:endParaRPr>
          </a:p>
          <a:p>
            <a:pPr marL="0" indent="45720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ym typeface="+mn-ea"/>
              </a:rPr>
              <a:t>mov ebx,0			</a:t>
            </a:r>
            <a:r>
              <a:rPr lang="en-US" altLang="en-US" sz="2200" dirty="0">
                <a:solidFill>
                  <a:schemeClr val="tx1"/>
                </a:solidFill>
                <a:sym typeface="+mn-ea"/>
              </a:rPr>
              <a:t>;EBX指向首个字符</a:t>
            </a:r>
            <a:endParaRPr lang="en-US" altLang="en-US" sz="2200" b="1" dirty="0">
              <a:sym typeface="+mn-ea"/>
            </a:endParaRPr>
          </a:p>
          <a:p>
            <a:pPr marL="0" indent="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highlight>
                  <a:srgbClr val="FFFF00"/>
                </a:highlight>
                <a:sym typeface="+mn-ea"/>
              </a:rPr>
              <a:t>again</a:t>
            </a:r>
            <a:r>
              <a:rPr lang="en-US" altLang="en-US" sz="2200" b="1" dirty="0">
                <a:sym typeface="+mn-ea"/>
              </a:rPr>
              <a:t>:	</a:t>
            </a:r>
            <a:endParaRPr lang="en-US" altLang="en-US" sz="2200" b="1" dirty="0">
              <a:sym typeface="+mn-ea"/>
            </a:endParaRPr>
          </a:p>
          <a:p>
            <a:pPr marL="0" indent="45720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ym typeface="+mn-ea"/>
              </a:rPr>
              <a:t>mov al,srcmsg[ebx]	</a:t>
            </a:r>
            <a:r>
              <a:rPr lang="en-US" altLang="en-US" sz="2200" dirty="0">
                <a:solidFill>
                  <a:schemeClr val="tx1"/>
                </a:solidFill>
                <a:sym typeface="+mn-ea"/>
              </a:rPr>
              <a:t>;取源串一个字符</a:t>
            </a:r>
            <a:endParaRPr lang="en-US" altLang="en-US" sz="2200" b="1" dirty="0"/>
          </a:p>
          <a:p>
            <a:pPr marL="0" indent="45720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ym typeface="+mn-ea"/>
              </a:rPr>
              <a:t>mov dstmsg[ebx],al	</a:t>
            </a:r>
            <a:r>
              <a:rPr lang="en-US" altLang="en-US" sz="2200" dirty="0">
                <a:solidFill>
                  <a:schemeClr val="tx1"/>
                </a:solidFill>
                <a:sym typeface="+mn-ea"/>
              </a:rPr>
              <a:t>;传送给目的串</a:t>
            </a:r>
            <a:endParaRPr lang="en-US" altLang="en-US" sz="2200" dirty="0">
              <a:solidFill>
                <a:schemeClr val="tx1"/>
              </a:solidFill>
            </a:endParaRPr>
          </a:p>
          <a:p>
            <a:pPr marL="0" indent="45720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ym typeface="+mn-ea"/>
              </a:rPr>
              <a:t>add ebx,1				</a:t>
            </a:r>
            <a:r>
              <a:rPr lang="en-US" altLang="en-US" sz="2200" dirty="0">
                <a:solidFill>
                  <a:schemeClr val="tx1"/>
                </a:solidFill>
                <a:sym typeface="+mn-ea"/>
              </a:rPr>
              <a:t>;加1，指向下一个字符</a:t>
            </a:r>
            <a:endParaRPr lang="en-US" altLang="en-US" sz="2200" b="1" dirty="0"/>
          </a:p>
          <a:p>
            <a:pPr marL="0" indent="457200" algn="l" defTabSz="914400" latinLnBrk="0">
              <a:lnSpc>
                <a:spcPct val="120000"/>
              </a:lnSpc>
              <a:buClrTx/>
              <a:buSzTx/>
              <a:buFontTx/>
              <a:buNone/>
              <a:tabLst>
                <a:tab pos="1611630" algn="l"/>
              </a:tabLst>
            </a:pPr>
            <a:r>
              <a:rPr lang="en-US" altLang="en-US" sz="2200" b="1" dirty="0">
                <a:solidFill>
                  <a:srgbClr val="FF0000"/>
                </a:solidFill>
                <a:sym typeface="+mn-ea"/>
              </a:rPr>
              <a:t>loop </a:t>
            </a:r>
            <a:r>
              <a:rPr lang="en-US" altLang="en-US" sz="2200" b="1" dirty="0">
                <a:highlight>
                  <a:srgbClr val="FFFF00"/>
                </a:highlight>
                <a:sym typeface="+mn-ea"/>
              </a:rPr>
              <a:t>again</a:t>
            </a:r>
            <a:endParaRPr lang="en-US" altLang="en-US" sz="2200" b="1" dirty="0"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Item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" val="ProblemSetting"/>
  <p:tag name="RAINPROBLEMTYPE" val="MultipleChoice"/>
</p:tagLst>
</file>

<file path=ppt/tags/tag19.xml><?xml version="1.0" encoding="utf-8"?>
<p:tagLst xmlns:p="http://schemas.openxmlformats.org/presentationml/2006/main">
  <p:tag name="RAINPROBLEM" val="MultipleChoice"/>
  <p:tag name="PROBLEMSCORE" val="1.0"/>
</p:tagLst>
</file>

<file path=ppt/tags/tag20.xml><?xml version="1.0" encoding="utf-8"?>
<p:tagLst xmlns:p="http://schemas.openxmlformats.org/presentationml/2006/main">
  <p:tag name="RAINPROBLEM" val="ProblemBody"/>
</p:tagLst>
</file>

<file path=ppt/tags/tag21.xml><?xml version="1.0" encoding="utf-8"?>
<p:tagLst xmlns:p="http://schemas.openxmlformats.org/presentationml/2006/main">
  <p:tag name="RAINPROBLEM" val="ProblemBody"/>
</p:tagLst>
</file>

<file path=ppt/tags/tag22.xml><?xml version="1.0" encoding="utf-8"?>
<p:tagLst xmlns:p="http://schemas.openxmlformats.org/presentationml/2006/main">
  <p:tag name="RAINPROBLEM" val="ProblemBody"/>
</p:tagLst>
</file>

<file path=ppt/tags/tag23.xml><?xml version="1.0" encoding="utf-8"?>
<p:tagLst xmlns:p="http://schemas.openxmlformats.org/presentationml/2006/main">
  <p:tag name="RAINPROBLEM" val="ProblemBody"/>
</p:tagLst>
</file>

<file path=ppt/tags/tag24.xml><?xml version="1.0" encoding="utf-8"?>
<p:tagLst xmlns:p="http://schemas.openxmlformats.org/presentationml/2006/main">
  <p:tag name="RAINPROBLEM" val="ProblemBody"/>
</p:tagLst>
</file>

<file path=ppt/tags/tag25.xml><?xml version="1.0" encoding="utf-8"?>
<p:tagLst xmlns:p="http://schemas.openxmlformats.org/presentationml/2006/main">
  <p:tag name="RAINPROBLEM" val="ProblemBody"/>
</p:tagLst>
</file>

<file path=ppt/tags/tag26.xml><?xml version="1.0" encoding="utf-8"?>
<p:tagLst xmlns:p="http://schemas.openxmlformats.org/presentationml/2006/main">
  <p:tag name="RAINPROBLEM" val="ProblemBody"/>
</p:tagLst>
</file>

<file path=ppt/tags/tag27.xml><?xml version="1.0" encoding="utf-8"?>
<p:tagLst xmlns:p="http://schemas.openxmlformats.org/presentationml/2006/main">
  <p:tag name="RAINPROBLEM" val="ProblemBody"/>
</p:tagLst>
</file>

<file path=ppt/tags/tag28.xml><?xml version="1.0" encoding="utf-8"?>
<p:tagLst xmlns:p="http://schemas.openxmlformats.org/presentationml/2006/main">
  <p:tag name="RAINPROBLEM" val="ProblemBody"/>
</p:tagLst>
</file>

<file path=ppt/tags/tag29.xml><?xml version="1.0" encoding="utf-8"?>
<p:tagLst xmlns:p="http://schemas.openxmlformats.org/presentationml/2006/main">
  <p:tag name="RAINPROBLEM" val="ProblemBody"/>
</p:tagLst>
</file>

<file path=ppt/tags/tag30.xml><?xml version="1.0" encoding="utf-8"?>
<p:tagLst xmlns:p="http://schemas.openxmlformats.org/presentationml/2006/main">
  <p:tag name="RAINPROBLEM" val="ProblemBody"/>
</p:tagLst>
</file>

<file path=ppt/tags/tag31.xml><?xml version="1.0" encoding="utf-8"?>
<p:tagLst xmlns:p="http://schemas.openxmlformats.org/presentationml/2006/main">
  <p:tag name="RAINPROBLEM" val="ProblemBody"/>
</p:tagLst>
</file>

<file path=ppt/tags/tag32.xml><?xml version="1.0" encoding="utf-8"?>
<p:tagLst xmlns:p="http://schemas.openxmlformats.org/presentationml/2006/main">
  <p:tag name="RAINPROBLEM" val="ProblemBody"/>
</p:tagLst>
</file>

<file path=ppt/tags/tag33.xml><?xml version="1.0" encoding="utf-8"?>
<p:tagLst xmlns:p="http://schemas.openxmlformats.org/presentationml/2006/main">
  <p:tag name="RAINPROBLEM" val="ProblemBody"/>
</p:tagLst>
</file>

<file path=ppt/tags/tag34.xml><?xml version="1.0" encoding="utf-8"?>
<p:tagLst xmlns:p="http://schemas.openxmlformats.org/presentationml/2006/main">
  <p:tag name="RAINPROBLEM" val="ProblemSubmit"/>
  <p:tag name="RAINPROBLEMTYPE" val="FillBlank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" val="ProblemSetting"/>
  <p:tag name="RAINPROBLEMTYPE" val="FillBlank"/>
</p:tagLst>
</file>

<file path=ppt/tags/tag41.xml><?xml version="1.0" encoding="utf-8"?>
<p:tagLst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.0,&quot;answers&quot;:[&quot;立即数寻址&quot;]},{&quot;num&quot;:2,&quot;caseSensitive&quot;:false,&quot;fuzzyMatch&quot;:false,&quot;Score&quot;:1.0,&quot;answers&quot;:[&quot;寄存器寻址&quot;]},{&quot;num&quot;:3,&quot;caseSensitive&quot;:false,&quot;fuzzyMatch&quot;:false,&quot;Score&quot;:1.0,&quot;answers&quot;:[&quot;存储器寻址&quot;]}]"/>
  <p:tag name="PROBLEMSCORE" val="3.0"/>
</p:tagLst>
</file>

<file path=ppt/tags/tag42.xml><?xml version="1.0" encoding="utf-8"?>
<p:tagLst xmlns:p="http://schemas.openxmlformats.org/presentationml/2006/main">
  <p:tag name="RAINPROBLEM" val="ProblemBody"/>
</p:tagLst>
</file>

<file path=ppt/tags/tag43.xml><?xml version="1.0" encoding="utf-8"?>
<p:tagLst xmlns:p="http://schemas.openxmlformats.org/presentationml/2006/main">
  <p:tag name="RAINPROBLEM" val="ProblemItem"/>
</p:tagLst>
</file>

<file path=ppt/tags/tag44.xml><?xml version="1.0" encoding="utf-8"?>
<p:tagLst xmlns:p="http://schemas.openxmlformats.org/presentationml/2006/main">
  <p:tag name="RAINPROBLEM" val="ProblemItem"/>
</p:tagLst>
</file>

<file path=ppt/tags/tag45.xml><?xml version="1.0" encoding="utf-8"?>
<p:tagLst xmlns:p="http://schemas.openxmlformats.org/presentationml/2006/main">
  <p:tag name="RAINPROBLEM" val="ProblemItem"/>
</p:tagLst>
</file>

<file path=ppt/tags/tag46.xml><?xml version="1.0" encoding="utf-8"?>
<p:tagLst xmlns:p="http://schemas.openxmlformats.org/presentationml/2006/main">
  <p:tag name="RAINPROBLEM" val="ProblemItem"/>
</p:tagLst>
</file>

<file path=ppt/tags/tag4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1.xml><?xml version="1.0" encoding="utf-8"?>
<p:tagLst xmlns:p="http://schemas.openxmlformats.org/presentationml/2006/main">
  <p:tag name="RAINPROBLEM" val="ProblemSubmit"/>
  <p:tag name="RAINPROBLEMTYPE" val="MultipleChoice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TYPE" val="ProblemTypeMarker"/>
</p:tagLst>
</file>

<file path=ppt/tags/tag54.xml><?xml version="1.0" encoding="utf-8"?>
<p:tagLst xmlns:p="http://schemas.openxmlformats.org/presentationml/2006/main">
  <p:tag name="RAINPROBLEMTYPE" val="ProblemTypeMarker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" val="ProblemSetting"/>
  <p:tag name="RAINPROBLEMTYPE" val="MultipleChoice"/>
</p:tagLst>
</file>

<file path=ppt/tags/tag58.xml><?xml version="1.0" encoding="utf-8"?>
<p:tagLst xmlns:p="http://schemas.openxmlformats.org/presentationml/2006/main">
  <p:tag name="RAINPROBLEM" val="MultipleChoice"/>
  <p:tag name="PROBLEMSCORE" val="1.0"/>
</p:tagLst>
</file>

<file path=ppt/tags/tag59.xml><?xml version="1.0" encoding="utf-8"?>
<p:tagLst xmlns:p="http://schemas.openxmlformats.org/presentationml/2006/main">
  <p:tag name="RAINPROBLEM" val="ProblemBody"/>
</p:tagLst>
</file>

<file path=ppt/tags/tag60.xml><?xml version="1.0" encoding="utf-8"?>
<p:tagLst xmlns:p="http://schemas.openxmlformats.org/presentationml/2006/main">
  <p:tag name="RAINPROBLEM" val="ProblemItem"/>
</p:tagLst>
</file>

<file path=ppt/tags/tag61.xml><?xml version="1.0" encoding="utf-8"?>
<p:tagLst xmlns:p="http://schemas.openxmlformats.org/presentationml/2006/main">
  <p:tag name="RAINPROBLEM" val="ProblemItem"/>
</p:tagLst>
</file>

<file path=ppt/tags/tag62.xml><?xml version="1.0" encoding="utf-8"?>
<p:tagLst xmlns:p="http://schemas.openxmlformats.org/presentationml/2006/main">
  <p:tag name="RAINPROBLEM" val="ProblemItem"/>
</p:tagLst>
</file>

<file path=ppt/tags/tag63.xml><?xml version="1.0" encoding="utf-8"?>
<p:tagLst xmlns:p="http://schemas.openxmlformats.org/presentationml/2006/main">
  <p:tag name="RAINPROBLEM" val="ProblemItem"/>
</p:tagLst>
</file>

<file path=ppt/tags/tag6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8.xml><?xml version="1.0" encoding="utf-8"?>
<p:tagLst xmlns:p="http://schemas.openxmlformats.org/presentationml/2006/main">
  <p:tag name="RAINPROBLEM" val="ProblemSubmit"/>
  <p:tag name="RAINPROBLEMTYPE" val="MultipleChoice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" val="ProblemSetting"/>
  <p:tag name="RAINPROBLEMTYPE" val="MultipleChoice"/>
</p:tagLst>
</file>

<file path=ppt/tags/tag75.xml><?xml version="1.0" encoding="utf-8"?>
<p:tagLst xmlns:p="http://schemas.openxmlformats.org/presentationml/2006/main">
  <p:tag name="RAINPROBLEM" val="MultipleChoice"/>
  <p:tag name="PROBLEMSCORE" val="1.0"/>
</p:tagLst>
</file>

<file path=ppt/tags/tag76.xml><?xml version="1.0" encoding="utf-8"?>
<p:tagLst xmlns:p="http://schemas.openxmlformats.org/presentationml/2006/main">
  <p:tag name="RAINPROBLEM" val="ProblemBody"/>
</p:tagLst>
</file>

<file path=ppt/tags/tag77.xml><?xml version="1.0" encoding="utf-8"?>
<p:tagLst xmlns:p="http://schemas.openxmlformats.org/presentationml/2006/main">
  <p:tag name="RAINPROBLEM" val="ProblemItem"/>
</p:tagLst>
</file>

<file path=ppt/tags/tag78.xml><?xml version="1.0" encoding="utf-8"?>
<p:tagLst xmlns:p="http://schemas.openxmlformats.org/presentationml/2006/main">
  <p:tag name="RAINPROBLEM" val="ProblemItem"/>
</p:tagLst>
</file>

<file path=ppt/tags/tag79.xml><?xml version="1.0" encoding="utf-8"?>
<p:tagLst xmlns:p="http://schemas.openxmlformats.org/presentationml/2006/main">
  <p:tag name="RAINPROBLEM" val="ProblemItem"/>
</p:tagLst>
</file>

<file path=ppt/tags/tag80.xml><?xml version="1.0" encoding="utf-8"?>
<p:tagLst xmlns:p="http://schemas.openxmlformats.org/presentationml/2006/main">
  <p:tag name="RAINPROBLEM" val="ProblemItem"/>
</p:tagLst>
</file>

<file path=ppt/tags/tag8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5.xml><?xml version="1.0" encoding="utf-8"?>
<p:tagLst xmlns:p="http://schemas.openxmlformats.org/presentationml/2006/main">
  <p:tag name="RAINPROBLEM" val="ProblemSubmit"/>
  <p:tag name="RAINPROBLEMTYPE" val="MultipleChoice"/>
</p:tagLst>
</file>

<file path=ppt/tags/tag86.xml><?xml version="1.0" encoding="utf-8"?>
<p:tagLst xmlns:p="http://schemas.openxmlformats.org/presentationml/2006/main">
  <p:tag name="RAINPROBLEMTYPE" val="ProblemTypeMarker"/>
</p:tagLst>
</file>

<file path=ppt/tags/tag87.xml><?xml version="1.0" encoding="utf-8"?>
<p:tagLst xmlns:p="http://schemas.openxmlformats.org/presentationml/2006/main">
  <p:tag name="RAINPROBLEMTYPE" val="ProblemTypeMarker"/>
</p:tagLst>
</file>

<file path=ppt/tags/tag88.xml><?xml version="1.0" encoding="utf-8"?>
<p:tagLst xmlns:p="http://schemas.openxmlformats.org/presentationml/2006/main">
  <p:tag name="RAINPROBLEMTYPE" val="ProblemTypeMarker"/>
</p:tagLst>
</file>

<file path=ppt/tags/tag89.xml><?xml version="1.0" encoding="utf-8"?>
<p:tagLst xmlns:p="http://schemas.openxmlformats.org/presentationml/2006/main">
  <p:tag name="RAINPROBLEMTYPE" val="ProblemTypeMarker"/>
</p:tagLst>
</file>

<file path=ppt/tags/tag90.xml><?xml version="1.0" encoding="utf-8"?>
<p:tagLst xmlns:p="http://schemas.openxmlformats.org/presentationml/2006/main">
  <p:tag name="RAINPROBLEMTYPE" val="ProblemTypeMarker"/>
</p:tagLst>
</file>

<file path=ppt/tags/tag91.xml><?xml version="1.0" encoding="utf-8"?>
<p:tagLst xmlns:p="http://schemas.openxmlformats.org/presentationml/2006/main">
  <p:tag name="RAINPROBLEM" val="ProblemSetting"/>
  <p:tag name="RAINPROBLEMTYPE" val="MultipleChoice"/>
</p:tagLst>
</file>

<file path=ppt/tags/tag92.xml><?xml version="1.0" encoding="utf-8"?>
<p:tagLst xmlns:p="http://schemas.openxmlformats.org/presentationml/2006/main">
  <p:tag name="RAINPROBLEM" val="MultipleChoice"/>
  <p:tag name="PROBLEMSCORE" val="1.0"/>
</p:tagLst>
</file>

<file path=ppt/tags/tag93.xml><?xml version="1.0" encoding="utf-8"?>
<p:tagLst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人与信息系统交互的信任机理及其电子税务系统实证研究&amp;quot;&quot;/&gt;&lt;property id=&quot;20307&quot; value=&quot;982&quot;/&gt;&lt;/object&gt;&lt;object type=&quot;3&quot; unique_id=&quot;10005&quot;&gt;&lt;property id=&quot;20148&quot; value=&quot;5&quot;/&gt;&lt;property id=&quot;20300&quot; value=&quot;Slide 2 - &amp;quot;汇 报 提 纲&amp;quot;&quot;/&gt;&lt;property id=&quot;20307&quot; value=&quot;983&quot;/&gt;&lt;/object&gt;&lt;object type=&quot;3&quot; unique_id=&quot;10006&quot;&gt;&lt;property id=&quot;20148&quot; value=&quot;5&quot;/&gt;&lt;property id=&quot;20300&quot; value=&quot;Slide 3&quot;/&gt;&lt;property id=&quot;20307&quot; value=&quot;1114&quot;/&gt;&lt;/object&gt;&lt;object type=&quot;3&quot; unique_id=&quot;10007&quot;&gt;&lt;property id=&quot;20148&quot; value=&quot;5&quot;/&gt;&lt;property id=&quot;20300&quot; value=&quot;Slide 4&quot;/&gt;&lt;property id=&quot;20307&quot; value=&quot;1115&quot;/&gt;&lt;/object&gt;&lt;object type=&quot;3&quot; unique_id=&quot;10008&quot;&gt;&lt;property id=&quot;20148&quot; value=&quot;5&quot;/&gt;&lt;property id=&quot;20300&quot; value=&quot;Slide 5&quot;/&gt;&lt;property id=&quot;20307&quot; value=&quot;1116&quot;/&gt;&lt;/object&gt;&lt;object type=&quot;3&quot; unique_id=&quot;10009&quot;&gt;&lt;property id=&quot;20148&quot; value=&quot;5&quot;/&gt;&lt;property id=&quot;20300&quot; value=&quot;Slide 6&quot;/&gt;&lt;property id=&quot;20307&quot; value=&quot;1112&quot;/&gt;&lt;/object&gt;&lt;object type=&quot;3&quot; unique_id=&quot;10010&quot;&gt;&lt;property id=&quot;20148&quot; value=&quot;5&quot;/&gt;&lt;property id=&quot;20300&quot; value=&quot;Slide 7&quot;/&gt;&lt;property id=&quot;20307&quot; value=&quot;1113&quot;/&gt;&lt;/object&gt;&lt;object type=&quot;3&quot; unique_id=&quot;10011&quot;&gt;&lt;property id=&quot;20148&quot; value=&quot;5&quot;/&gt;&lt;property id=&quot;20300&quot; value=&quot;Slide 8&quot;/&gt;&lt;property id=&quot;20307&quot; value=&quot;1123&quot;/&gt;&lt;/object&gt;&lt;object type=&quot;3&quot; unique_id=&quot;10013&quot;&gt;&lt;property id=&quot;20148&quot; value=&quot;5&quot;/&gt;&lt;property id=&quot;20300&quot; value=&quot;Slide 9&quot;/&gt;&lt;property id=&quot;20307&quot; value=&quot;1085&quot;/&gt;&lt;/object&gt;&lt;object type=&quot;3&quot; unique_id=&quot;10014&quot;&gt;&lt;property id=&quot;20148&quot; value=&quot;5&quot;/&gt;&lt;property id=&quot;20300&quot; value=&quot;Slide 10&quot;/&gt;&lt;property id=&quot;20307&quot; value=&quot;1086&quot;/&gt;&lt;/object&gt;&lt;object type=&quot;3&quot; unique_id=&quot;10015&quot;&gt;&lt;property id=&quot;20148&quot; value=&quot;5&quot;/&gt;&lt;property id=&quot;20300&quot; value=&quot;Slide 11&quot;/&gt;&lt;property id=&quot;20307&quot; value=&quot;1119&quot;/&gt;&lt;/object&gt;&lt;object type=&quot;3&quot; unique_id=&quot;10017&quot;&gt;&lt;property id=&quot;20148&quot; value=&quot;5&quot;/&gt;&lt;property id=&quot;20300&quot; value=&quot;Slide 13&quot;/&gt;&lt;property id=&quot;20307&quot; value=&quot;1120&quot;/&gt;&lt;/object&gt;&lt;object type=&quot;3&quot; unique_id=&quot;10018&quot;&gt;&lt;property id=&quot;20148&quot; value=&quot;5&quot;/&gt;&lt;property id=&quot;20300&quot; value=&quot;Slide 14&quot;/&gt;&lt;property id=&quot;20307&quot; value=&quot;1117&quot;/&gt;&lt;/object&gt;&lt;object type=&quot;3&quot; unique_id=&quot;10019&quot;&gt;&lt;property id=&quot;20148&quot; value=&quot;5&quot;/&gt;&lt;property id=&quot;20300&quot; value=&quot;Slide 15&quot;/&gt;&lt;property id=&quot;20307&quot; value=&quot;1118&quot;/&gt;&lt;/object&gt;&lt;object type=&quot;3&quot; unique_id=&quot;10236&quot;&gt;&lt;property id=&quot;20148&quot; value=&quot;5&quot;/&gt;&lt;property id=&quot;20300&quot; value=&quot;Slide 12&quot;/&gt;&lt;property id=&quot;20307&quot; value=&quot;1124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20841</Words>
  <Application>WPS 演示</Application>
  <PresentationFormat>全屏显示(4:3)</PresentationFormat>
  <Paragraphs>1562</Paragraphs>
  <Slides>79</Slides>
  <Notes>71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79</vt:i4>
      </vt:variant>
    </vt:vector>
  </HeadingPairs>
  <TitlesOfParts>
    <vt:vector size="107" baseType="lpstr">
      <vt:lpstr>Arial</vt:lpstr>
      <vt:lpstr>宋体</vt:lpstr>
      <vt:lpstr>Wingdings</vt:lpstr>
      <vt:lpstr>Times New Roman</vt:lpstr>
      <vt:lpstr>黑体</vt:lpstr>
      <vt:lpstr>隶书</vt:lpstr>
      <vt:lpstr>Symbol</vt:lpstr>
      <vt:lpstr>微软雅黑</vt:lpstr>
      <vt:lpstr>Arial Unicode MS</vt:lpstr>
      <vt:lpstr>-apple-system</vt:lpstr>
      <vt:lpstr>Segoe Print</vt:lpstr>
      <vt:lpstr>华光淡古印_CNKI</vt:lpstr>
      <vt:lpstr>Bodoni MT Condensed</vt:lpstr>
      <vt:lpstr>新宋体</vt:lpstr>
      <vt:lpstr>Verdana</vt:lpstr>
      <vt:lpstr>楷体_GB2312</vt:lpstr>
      <vt:lpstr>Tahoma</vt:lpstr>
      <vt:lpstr>Calibri</vt:lpstr>
      <vt:lpstr>Ricepaper</vt:lpstr>
      <vt:lpstr>1_Ricepaper</vt:lpstr>
      <vt:lpstr>2_Ricepaper</vt:lpstr>
      <vt:lpstr>3_Ricepaper</vt:lpstr>
      <vt:lpstr>4_Ricepaper</vt:lpstr>
      <vt:lpstr>5_Ricepaper</vt:lpstr>
      <vt:lpstr>6_Ricepaper</vt:lpstr>
      <vt:lpstr>7_Ricepaper</vt:lpstr>
      <vt:lpstr>8_Ricepaper</vt:lpstr>
      <vt:lpstr>9_Ricepaper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汇编原理与接口</dc:title>
  <dc:creator>刘兆丽</dc:creator>
  <cp:lastModifiedBy>甲烷</cp:lastModifiedBy>
  <cp:revision>8518</cp:revision>
  <cp:lastPrinted>1998-10-16T09:27:00Z</cp:lastPrinted>
  <dcterms:created xsi:type="dcterms:W3CDTF">1997-07-11T08:05:00Z</dcterms:created>
  <dcterms:modified xsi:type="dcterms:W3CDTF">2026-03-16T02:47:18Z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F5AB0092A48948B4BC413D3D21392F10_12</vt:lpwstr>
  </property>
</Properties>
</file>