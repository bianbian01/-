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6" r:id="rId29"/>
    <p:sldId id="287" r:id="rId30"/>
    <p:sldId id="288" r:id="rId31"/>
    <p:sldId id="291" r:id="rId32"/>
    <p:sldId id="289" r:id="rId33"/>
    <p:sldId id="290" r:id="rId3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56"/>
    <p:restoredTop sz="88027" autoAdjust="0"/>
  </p:normalViewPr>
  <p:slideViewPr>
    <p:cSldViewPr snapToGrid="0">
      <p:cViewPr varScale="1">
        <p:scale>
          <a:sx n="143" d="100"/>
          <a:sy n="143" d="100"/>
        </p:scale>
        <p:origin x="4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1100"/>
              <a:buChar char="●"/>
              <a:defRPr sz="1100"/>
            </a:lvl1pPr>
            <a:lvl2pPr lvl="1">
              <a:spcBef>
                <a:spcPts val="0"/>
              </a:spcBef>
              <a:buSzPts val="1100"/>
              <a:buChar char="○"/>
              <a:defRPr sz="1100"/>
            </a:lvl2pPr>
            <a:lvl3pPr lvl="2">
              <a:spcBef>
                <a:spcPts val="0"/>
              </a:spcBef>
              <a:buSzPts val="1100"/>
              <a:buChar char="■"/>
              <a:defRPr sz="1100"/>
            </a:lvl3pPr>
            <a:lvl4pPr lvl="3">
              <a:spcBef>
                <a:spcPts val="0"/>
              </a:spcBef>
              <a:buSzPts val="1100"/>
              <a:buChar char="●"/>
              <a:defRPr sz="1100"/>
            </a:lvl4pPr>
            <a:lvl5pPr lvl="4">
              <a:spcBef>
                <a:spcPts val="0"/>
              </a:spcBef>
              <a:buSzPts val="1100"/>
              <a:buChar char="○"/>
              <a:defRPr sz="1100"/>
            </a:lvl5pPr>
            <a:lvl6pPr lvl="5">
              <a:spcBef>
                <a:spcPts val="0"/>
              </a:spcBef>
              <a:buSzPts val="1100"/>
              <a:buChar char="■"/>
              <a:defRPr sz="1100"/>
            </a:lvl6pPr>
            <a:lvl7pPr lvl="6">
              <a:spcBef>
                <a:spcPts val="0"/>
              </a:spcBef>
              <a:buSzPts val="1100"/>
              <a:buChar char="●"/>
              <a:defRPr sz="1100"/>
            </a:lvl7pPr>
            <a:lvl8pPr lvl="7">
              <a:spcBef>
                <a:spcPts val="0"/>
              </a:spcBef>
              <a:buSzPts val="1100"/>
              <a:buChar char="○"/>
              <a:defRPr sz="1100"/>
            </a:lvl8pPr>
            <a:lvl9pPr lvl="8">
              <a:spcBef>
                <a:spcPts val="0"/>
              </a:spcBef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567150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63136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Shape 5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24453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Shape 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95738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Shape 6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通常情况下，参数使用变量名表示。但由于 printf() 函数中的可选参数没有名称，因此需要使用</a:t>
            </a:r>
            <a:r>
              <a:rPr lang="zh-CN" dirty="0" err="1"/>
              <a:t>stdarg.h头文件中的stdarg</a:t>
            </a:r>
            <a:r>
              <a:rPr lang="zh-CN" dirty="0"/>
              <a:t>宏来访问它们。</a:t>
            </a:r>
          </a:p>
        </p:txBody>
      </p:sp>
    </p:spTree>
    <p:extLst>
      <p:ext uri="{BB962C8B-B14F-4D97-AF65-F5344CB8AC3E}">
        <p14:creationId xmlns:p14="http://schemas.microsoft.com/office/powerpoint/2010/main" val="26627596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Shape 7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27154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Shape 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35417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Shape 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56041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23240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Shape 10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利用格式化字符串漏洞，攻击者可以覆盖程序内存并运行恶意代码。如果存在漏洞的程序拥有 root 权限，则该漏洞将使攻击者获得 root 访问权限。</a:t>
            </a:r>
          </a:p>
        </p:txBody>
      </p:sp>
    </p:spTree>
    <p:extLst>
      <p:ext uri="{BB962C8B-B14F-4D97-AF65-F5344CB8AC3E}">
        <p14:creationId xmlns:p14="http://schemas.microsoft.com/office/powerpoint/2010/main" val="29876516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Shape 11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 err="1"/>
              <a:t>printf </a:t>
            </a:r>
            <a:r>
              <a:rPr lang="zh-CN" dirty="0"/>
              <a:t>(input)函数存在格式字符串漏洞，因为输入可能包含格式说明符。</a:t>
            </a:r>
          </a:p>
        </p:txBody>
      </p:sp>
    </p:spTree>
    <p:extLst>
      <p:ext uri="{BB962C8B-B14F-4D97-AF65-F5344CB8AC3E}">
        <p14:creationId xmlns:p14="http://schemas.microsoft.com/office/powerpoint/2010/main" val="17199390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Shape 12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56762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Shape 1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97428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Shape 13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83902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Shape 14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56635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Shape 1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92199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Shape 15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/>
              <a:t>输入内容保存到文件中，并要求易受攻击的程序从文件中获取，因为我们无法输入二进制数据。</a:t>
            </a:r>
          </a:p>
        </p:txBody>
      </p:sp>
    </p:spTree>
    <p:extLst>
      <p:ext uri="{BB962C8B-B14F-4D97-AF65-F5344CB8AC3E}">
        <p14:creationId xmlns:p14="http://schemas.microsoft.com/office/powerpoint/2010/main" val="42801210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Shape 16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96827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7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Shape 1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05454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Shape 17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精度修饰符：控制要打印的最小数字位数。printf(“%.5d”, 10) 会打印数字 10 的 5 位数字： </a:t>
            </a:r>
            <a:r>
              <a:rPr lang="zh-CN" baseline="0" dirty="0"/>
              <a:t>“00010”。</a:t>
            </a:r>
            <a:endParaRPr lang="en-GB" dirty="0"/>
          </a:p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宽度修饰符：printf(“%5d”, 10) 打印数字 10，并在前面加上 3 个空格：“---10”。</a:t>
            </a:r>
          </a:p>
          <a:p>
            <a:pPr marL="0" lvl="0" indent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619442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Shape 1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-6985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000"/>
              <a:t>%n：将参数视为 4 字节整数</a:t>
            </a:r>
          </a:p>
          <a:p>
            <a:pPr marL="0" lvl="0" indent="-6985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000"/>
              <a:t>%hn：将参数视为 2 字节短整数。仅覆盖参数的 2 个有效字节。</a:t>
            </a:r>
          </a:p>
          <a:p>
            <a:pPr marL="0" lvl="0" indent="-6985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000"/>
              <a:t>%hhn：将参数视为 1 字节字符类型。覆盖参数的最低有效字节。</a:t>
            </a:r>
          </a:p>
        </p:txBody>
      </p:sp>
    </p:spTree>
    <p:extLst>
      <p:ext uri="{BB962C8B-B14F-4D97-AF65-F5344CB8AC3E}">
        <p14:creationId xmlns:p14="http://schemas.microsoft.com/office/powerpoint/2010/main" val="38276288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Shape 19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54968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Shape 19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32306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Shape 20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74523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Shape 21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89149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Shape 2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1898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22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Shape 22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88300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23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Shape 2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01409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Shape 26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Shape 26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71476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Shape 27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Shape 27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101920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2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Shape 2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604136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2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Shape 2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903107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Shape 29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Shape 29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8680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algn="ctr">
              <a:spcBef>
                <a:spcPts val="0"/>
              </a:spcBef>
              <a:buSzPts val="5200"/>
              <a:buNone/>
              <a:defRPr sz="5200"/>
            </a:lvl1pPr>
            <a:lvl2pPr lvl="1" algn="ctr">
              <a:spcBef>
                <a:spcPts val="0"/>
              </a:spcBef>
              <a:buSzPts val="5200"/>
              <a:buNone/>
              <a:defRPr sz="5200"/>
            </a:lvl2pPr>
            <a:lvl3pPr lvl="2" algn="ctr">
              <a:spcBef>
                <a:spcPts val="0"/>
              </a:spcBef>
              <a:buSzPts val="5200"/>
              <a:buNone/>
              <a:defRPr sz="5200"/>
            </a:lvl3pPr>
            <a:lvl4pPr lvl="3" algn="ctr">
              <a:spcBef>
                <a:spcPts val="0"/>
              </a:spcBef>
              <a:buSzPts val="5200"/>
              <a:buNone/>
              <a:defRPr sz="5200"/>
            </a:lvl4pPr>
            <a:lvl5pPr lvl="4" algn="ctr">
              <a:spcBef>
                <a:spcPts val="0"/>
              </a:spcBef>
              <a:buSzPts val="5200"/>
              <a:buNone/>
              <a:defRPr sz="5200"/>
            </a:lvl5pPr>
            <a:lvl6pPr lvl="5" algn="ctr">
              <a:spcBef>
                <a:spcPts val="0"/>
              </a:spcBef>
              <a:buSzPts val="5200"/>
              <a:buNone/>
              <a:defRPr sz="5200"/>
            </a:lvl6pPr>
            <a:lvl7pPr lvl="6" algn="ctr">
              <a:spcBef>
                <a:spcPts val="0"/>
              </a:spcBef>
              <a:buSzPts val="5200"/>
              <a:buNone/>
              <a:defRPr sz="5200"/>
            </a:lvl7pPr>
            <a:lvl8pPr lvl="7" algn="ctr">
              <a:spcBef>
                <a:spcPts val="0"/>
              </a:spcBef>
              <a:buSzPts val="5200"/>
              <a:buNone/>
              <a:defRPr sz="5200"/>
            </a:lvl8pPr>
            <a:lvl9pPr lvl="8" algn="ctr">
              <a:spcBef>
                <a:spcPts val="0"/>
              </a:spcBef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 algn="ctr">
              <a:spcBef>
                <a:spcPts val="0"/>
              </a:spcBef>
              <a:buSzPts val="3600"/>
              <a:buNone/>
              <a:defRPr sz="3600"/>
            </a:lvl1pPr>
            <a:lvl2pPr lvl="1" algn="ctr">
              <a:spcBef>
                <a:spcPts val="0"/>
              </a:spcBef>
              <a:buSzPts val="3600"/>
              <a:buNone/>
              <a:defRPr sz="3600"/>
            </a:lvl2pPr>
            <a:lvl3pPr lvl="2" algn="ctr">
              <a:spcBef>
                <a:spcPts val="0"/>
              </a:spcBef>
              <a:buSzPts val="3600"/>
              <a:buNone/>
              <a:defRPr sz="3600"/>
            </a:lvl3pPr>
            <a:lvl4pPr lvl="3" algn="ctr">
              <a:spcBef>
                <a:spcPts val="0"/>
              </a:spcBef>
              <a:buSzPts val="3600"/>
              <a:buNone/>
              <a:defRPr sz="3600"/>
            </a:lvl4pPr>
            <a:lvl5pPr lvl="4" algn="ctr">
              <a:spcBef>
                <a:spcPts val="0"/>
              </a:spcBef>
              <a:buSzPts val="3600"/>
              <a:buNone/>
              <a:defRPr sz="3600"/>
            </a:lvl5pPr>
            <a:lvl6pPr lvl="5" algn="ctr">
              <a:spcBef>
                <a:spcPts val="0"/>
              </a:spcBef>
              <a:buSzPts val="3600"/>
              <a:buNone/>
              <a:defRPr sz="3600"/>
            </a:lvl6pPr>
            <a:lvl7pPr lvl="6" algn="ctr">
              <a:spcBef>
                <a:spcPts val="0"/>
              </a:spcBef>
              <a:buSzPts val="3600"/>
              <a:buNone/>
              <a:defRPr sz="3600"/>
            </a:lvl7pPr>
            <a:lvl8pPr lvl="7" algn="ctr">
              <a:spcBef>
                <a:spcPts val="0"/>
              </a:spcBef>
              <a:buSzPts val="3600"/>
              <a:buNone/>
              <a:defRPr sz="3600"/>
            </a:lvl8pPr>
            <a:lvl9pPr lvl="8" algn="ctr">
              <a:spcBef>
                <a:spcPts val="0"/>
              </a:spcBef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2800"/>
              <a:buNone/>
              <a:defRPr/>
            </a:lvl1pPr>
            <a:lvl2pPr lvl="1">
              <a:spcBef>
                <a:spcPts val="0"/>
              </a:spcBef>
              <a:buSzPts val="2800"/>
              <a:buNone/>
              <a:defRPr/>
            </a:lvl2pPr>
            <a:lvl3pPr lvl="2">
              <a:spcBef>
                <a:spcPts val="0"/>
              </a:spcBef>
              <a:buSzPts val="2800"/>
              <a:buNone/>
              <a:defRPr/>
            </a:lvl3pPr>
            <a:lvl4pPr lvl="3">
              <a:spcBef>
                <a:spcPts val="0"/>
              </a:spcBef>
              <a:buSzPts val="2800"/>
              <a:buNone/>
              <a:defRPr/>
            </a:lvl4pPr>
            <a:lvl5pPr lvl="4">
              <a:spcBef>
                <a:spcPts val="0"/>
              </a:spcBef>
              <a:buSzPts val="2800"/>
              <a:buNone/>
              <a:defRPr/>
            </a:lvl5pPr>
            <a:lvl6pPr lvl="5">
              <a:spcBef>
                <a:spcPts val="0"/>
              </a:spcBef>
              <a:buSzPts val="2800"/>
              <a:buNone/>
              <a:defRPr/>
            </a:lvl6pPr>
            <a:lvl7pPr lvl="6">
              <a:spcBef>
                <a:spcPts val="0"/>
              </a:spcBef>
              <a:buSzPts val="2800"/>
              <a:buNone/>
              <a:defRPr/>
            </a:lvl7pPr>
            <a:lvl8pPr lvl="7">
              <a:spcBef>
                <a:spcPts val="0"/>
              </a:spcBef>
              <a:buSzPts val="2800"/>
              <a:buNone/>
              <a:defRPr/>
            </a:lvl8pPr>
            <a:lvl9pPr lvl="8">
              <a:spcBef>
                <a:spcPts val="0"/>
              </a:spcBef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1800"/>
              <a:buChar char="●"/>
              <a:defRPr/>
            </a:lvl1pPr>
            <a:lvl2pPr lvl="1">
              <a:spcBef>
                <a:spcPts val="0"/>
              </a:spcBef>
              <a:buSzPts val="1400"/>
              <a:buChar char="○"/>
              <a:defRPr/>
            </a:lvl2pPr>
            <a:lvl3pPr lvl="2">
              <a:spcBef>
                <a:spcPts val="0"/>
              </a:spcBef>
              <a:buSzPts val="1400"/>
              <a:buChar char="■"/>
              <a:defRPr/>
            </a:lvl3pPr>
            <a:lvl4pPr lvl="3">
              <a:spcBef>
                <a:spcPts val="0"/>
              </a:spcBef>
              <a:buSzPts val="1400"/>
              <a:buChar char="●"/>
              <a:defRPr/>
            </a:lvl4pPr>
            <a:lvl5pPr lvl="4">
              <a:spcBef>
                <a:spcPts val="0"/>
              </a:spcBef>
              <a:buSzPts val="1400"/>
              <a:buChar char="○"/>
              <a:defRPr/>
            </a:lvl5pPr>
            <a:lvl6pPr lvl="5">
              <a:spcBef>
                <a:spcPts val="0"/>
              </a:spcBef>
              <a:buSzPts val="1400"/>
              <a:buChar char="■"/>
              <a:defRPr/>
            </a:lvl6pPr>
            <a:lvl7pPr lvl="6">
              <a:spcBef>
                <a:spcPts val="0"/>
              </a:spcBef>
              <a:buSzPts val="1400"/>
              <a:buChar char="●"/>
              <a:defRPr/>
            </a:lvl7pPr>
            <a:lvl8pPr lvl="7">
              <a:spcBef>
                <a:spcPts val="0"/>
              </a:spcBef>
              <a:buSzPts val="1400"/>
              <a:buChar char="○"/>
              <a:defRPr/>
            </a:lvl8pPr>
            <a:lvl9pPr lvl="8">
              <a:spcBef>
                <a:spcPts val="0"/>
              </a:spcBef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2800"/>
              <a:buNone/>
              <a:defRPr/>
            </a:lvl1pPr>
            <a:lvl2pPr lvl="1">
              <a:spcBef>
                <a:spcPts val="0"/>
              </a:spcBef>
              <a:buSzPts val="2800"/>
              <a:buNone/>
              <a:defRPr/>
            </a:lvl2pPr>
            <a:lvl3pPr lvl="2">
              <a:spcBef>
                <a:spcPts val="0"/>
              </a:spcBef>
              <a:buSzPts val="2800"/>
              <a:buNone/>
              <a:defRPr/>
            </a:lvl3pPr>
            <a:lvl4pPr lvl="3">
              <a:spcBef>
                <a:spcPts val="0"/>
              </a:spcBef>
              <a:buSzPts val="2800"/>
              <a:buNone/>
              <a:defRPr/>
            </a:lvl4pPr>
            <a:lvl5pPr lvl="4">
              <a:spcBef>
                <a:spcPts val="0"/>
              </a:spcBef>
              <a:buSzPts val="2800"/>
              <a:buNone/>
              <a:defRPr/>
            </a:lvl5pPr>
            <a:lvl6pPr lvl="5">
              <a:spcBef>
                <a:spcPts val="0"/>
              </a:spcBef>
              <a:buSzPts val="2800"/>
              <a:buNone/>
              <a:defRPr/>
            </a:lvl6pPr>
            <a:lvl7pPr lvl="6">
              <a:spcBef>
                <a:spcPts val="0"/>
              </a:spcBef>
              <a:buSzPts val="2800"/>
              <a:buNone/>
              <a:defRPr/>
            </a:lvl7pPr>
            <a:lvl8pPr lvl="7">
              <a:spcBef>
                <a:spcPts val="0"/>
              </a:spcBef>
              <a:buSzPts val="2800"/>
              <a:buNone/>
              <a:defRPr/>
            </a:lvl8pPr>
            <a:lvl9pPr lvl="8">
              <a:spcBef>
                <a:spcPts val="0"/>
              </a:spcBef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1400"/>
              <a:buChar char="●"/>
              <a:defRPr sz="1400"/>
            </a:lvl1pPr>
            <a:lvl2pPr lvl="1">
              <a:spcBef>
                <a:spcPts val="0"/>
              </a:spcBef>
              <a:buSzPts val="1200"/>
              <a:buChar char="○"/>
              <a:defRPr sz="1200"/>
            </a:lvl2pPr>
            <a:lvl3pPr lvl="2">
              <a:spcBef>
                <a:spcPts val="0"/>
              </a:spcBef>
              <a:buSzPts val="1200"/>
              <a:buChar char="■"/>
              <a:defRPr sz="1200"/>
            </a:lvl3pPr>
            <a:lvl4pPr lvl="3">
              <a:spcBef>
                <a:spcPts val="0"/>
              </a:spcBef>
              <a:buSzPts val="1200"/>
              <a:buChar char="●"/>
              <a:defRPr sz="1200"/>
            </a:lvl4pPr>
            <a:lvl5pPr lvl="4">
              <a:spcBef>
                <a:spcPts val="0"/>
              </a:spcBef>
              <a:buSzPts val="1200"/>
              <a:buChar char="○"/>
              <a:defRPr sz="1200"/>
            </a:lvl5pPr>
            <a:lvl6pPr lvl="5">
              <a:spcBef>
                <a:spcPts val="0"/>
              </a:spcBef>
              <a:buSzPts val="1200"/>
              <a:buChar char="■"/>
              <a:defRPr sz="1200"/>
            </a:lvl6pPr>
            <a:lvl7pPr lvl="6">
              <a:spcBef>
                <a:spcPts val="0"/>
              </a:spcBef>
              <a:buSzPts val="1200"/>
              <a:buChar char="●"/>
              <a:defRPr sz="1200"/>
            </a:lvl7pPr>
            <a:lvl8pPr lvl="7">
              <a:spcBef>
                <a:spcPts val="0"/>
              </a:spcBef>
              <a:buSzPts val="1200"/>
              <a:buChar char="○"/>
              <a:defRPr sz="1200"/>
            </a:lvl8pPr>
            <a:lvl9pPr lvl="8">
              <a:spcBef>
                <a:spcPts val="0"/>
              </a:spcBef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1400"/>
              <a:buChar char="●"/>
              <a:defRPr sz="1400"/>
            </a:lvl1pPr>
            <a:lvl2pPr lvl="1">
              <a:spcBef>
                <a:spcPts val="0"/>
              </a:spcBef>
              <a:buSzPts val="1200"/>
              <a:buChar char="○"/>
              <a:defRPr sz="1200"/>
            </a:lvl2pPr>
            <a:lvl3pPr lvl="2">
              <a:spcBef>
                <a:spcPts val="0"/>
              </a:spcBef>
              <a:buSzPts val="1200"/>
              <a:buChar char="■"/>
              <a:defRPr sz="1200"/>
            </a:lvl3pPr>
            <a:lvl4pPr lvl="3">
              <a:spcBef>
                <a:spcPts val="0"/>
              </a:spcBef>
              <a:buSzPts val="1200"/>
              <a:buChar char="●"/>
              <a:defRPr sz="1200"/>
            </a:lvl4pPr>
            <a:lvl5pPr lvl="4">
              <a:spcBef>
                <a:spcPts val="0"/>
              </a:spcBef>
              <a:buSzPts val="1200"/>
              <a:buChar char="○"/>
              <a:defRPr sz="1200"/>
            </a:lvl5pPr>
            <a:lvl6pPr lvl="5">
              <a:spcBef>
                <a:spcPts val="0"/>
              </a:spcBef>
              <a:buSzPts val="1200"/>
              <a:buChar char="■"/>
              <a:defRPr sz="1200"/>
            </a:lvl6pPr>
            <a:lvl7pPr lvl="6">
              <a:spcBef>
                <a:spcPts val="0"/>
              </a:spcBef>
              <a:buSzPts val="1200"/>
              <a:buChar char="●"/>
              <a:defRPr sz="1200"/>
            </a:lvl7pPr>
            <a:lvl8pPr lvl="7">
              <a:spcBef>
                <a:spcPts val="0"/>
              </a:spcBef>
              <a:buSzPts val="1200"/>
              <a:buChar char="○"/>
              <a:defRPr sz="1200"/>
            </a:lvl8pPr>
            <a:lvl9pPr lvl="8">
              <a:spcBef>
                <a:spcPts val="0"/>
              </a:spcBef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2800"/>
              <a:buNone/>
              <a:defRPr/>
            </a:lvl1pPr>
            <a:lvl2pPr lvl="1">
              <a:spcBef>
                <a:spcPts val="0"/>
              </a:spcBef>
              <a:buSzPts val="2800"/>
              <a:buNone/>
              <a:defRPr/>
            </a:lvl2pPr>
            <a:lvl3pPr lvl="2">
              <a:spcBef>
                <a:spcPts val="0"/>
              </a:spcBef>
              <a:buSzPts val="2800"/>
              <a:buNone/>
              <a:defRPr/>
            </a:lvl3pPr>
            <a:lvl4pPr lvl="3">
              <a:spcBef>
                <a:spcPts val="0"/>
              </a:spcBef>
              <a:buSzPts val="2800"/>
              <a:buNone/>
              <a:defRPr/>
            </a:lvl4pPr>
            <a:lvl5pPr lvl="4">
              <a:spcBef>
                <a:spcPts val="0"/>
              </a:spcBef>
              <a:buSzPts val="2800"/>
              <a:buNone/>
              <a:defRPr/>
            </a:lvl5pPr>
            <a:lvl6pPr lvl="5">
              <a:spcBef>
                <a:spcPts val="0"/>
              </a:spcBef>
              <a:buSzPts val="2800"/>
              <a:buNone/>
              <a:defRPr/>
            </a:lvl6pPr>
            <a:lvl7pPr lvl="6">
              <a:spcBef>
                <a:spcPts val="0"/>
              </a:spcBef>
              <a:buSzPts val="2800"/>
              <a:buNone/>
              <a:defRPr/>
            </a:lvl7pPr>
            <a:lvl8pPr lvl="7">
              <a:spcBef>
                <a:spcPts val="0"/>
              </a:spcBef>
              <a:buSzPts val="2800"/>
              <a:buNone/>
              <a:defRPr/>
            </a:lvl8pPr>
            <a:lvl9pPr lvl="8">
              <a:spcBef>
                <a:spcPts val="0"/>
              </a:spcBef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>
              <a:spcBef>
                <a:spcPts val="0"/>
              </a:spcBef>
              <a:buSzPts val="2400"/>
              <a:buNone/>
              <a:defRPr sz="2400"/>
            </a:lvl1pPr>
            <a:lvl2pPr lvl="1">
              <a:spcBef>
                <a:spcPts val="0"/>
              </a:spcBef>
              <a:buSzPts val="2400"/>
              <a:buNone/>
              <a:defRPr sz="2400"/>
            </a:lvl2pPr>
            <a:lvl3pPr lvl="2">
              <a:spcBef>
                <a:spcPts val="0"/>
              </a:spcBef>
              <a:buSzPts val="2400"/>
              <a:buNone/>
              <a:defRPr sz="2400"/>
            </a:lvl3pPr>
            <a:lvl4pPr lvl="3">
              <a:spcBef>
                <a:spcPts val="0"/>
              </a:spcBef>
              <a:buSzPts val="2400"/>
              <a:buNone/>
              <a:defRPr sz="2400"/>
            </a:lvl4pPr>
            <a:lvl5pPr lvl="4">
              <a:spcBef>
                <a:spcPts val="0"/>
              </a:spcBef>
              <a:buSzPts val="2400"/>
              <a:buNone/>
              <a:defRPr sz="2400"/>
            </a:lvl5pPr>
            <a:lvl6pPr lvl="5">
              <a:spcBef>
                <a:spcPts val="0"/>
              </a:spcBef>
              <a:buSzPts val="2400"/>
              <a:buNone/>
              <a:defRPr sz="2400"/>
            </a:lvl6pPr>
            <a:lvl7pPr lvl="6">
              <a:spcBef>
                <a:spcPts val="0"/>
              </a:spcBef>
              <a:buSzPts val="2400"/>
              <a:buNone/>
              <a:defRPr sz="2400"/>
            </a:lvl7pPr>
            <a:lvl8pPr lvl="7">
              <a:spcBef>
                <a:spcPts val="0"/>
              </a:spcBef>
              <a:buSzPts val="2400"/>
              <a:buNone/>
              <a:defRPr sz="2400"/>
            </a:lvl8pPr>
            <a:lvl9pPr lvl="8">
              <a:spcBef>
                <a:spcPts val="0"/>
              </a:spcBef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1200"/>
              <a:buChar char="●"/>
              <a:defRPr sz="1200"/>
            </a:lvl1pPr>
            <a:lvl2pPr lvl="1">
              <a:spcBef>
                <a:spcPts val="0"/>
              </a:spcBef>
              <a:buSzPts val="1200"/>
              <a:buChar char="○"/>
              <a:defRPr sz="1200"/>
            </a:lvl2pPr>
            <a:lvl3pPr lvl="2">
              <a:spcBef>
                <a:spcPts val="0"/>
              </a:spcBef>
              <a:buSzPts val="1200"/>
              <a:buChar char="■"/>
              <a:defRPr sz="1200"/>
            </a:lvl3pPr>
            <a:lvl4pPr lvl="3">
              <a:spcBef>
                <a:spcPts val="0"/>
              </a:spcBef>
              <a:buSzPts val="1200"/>
              <a:buChar char="●"/>
              <a:defRPr sz="1200"/>
            </a:lvl4pPr>
            <a:lvl5pPr lvl="4">
              <a:spcBef>
                <a:spcPts val="0"/>
              </a:spcBef>
              <a:buSzPts val="1200"/>
              <a:buChar char="○"/>
              <a:defRPr sz="1200"/>
            </a:lvl5pPr>
            <a:lvl6pPr lvl="5">
              <a:spcBef>
                <a:spcPts val="0"/>
              </a:spcBef>
              <a:buSzPts val="1200"/>
              <a:buChar char="■"/>
              <a:defRPr sz="1200"/>
            </a:lvl6pPr>
            <a:lvl7pPr lvl="6">
              <a:spcBef>
                <a:spcPts val="0"/>
              </a:spcBef>
              <a:buSzPts val="1200"/>
              <a:buChar char="●"/>
              <a:defRPr sz="1200"/>
            </a:lvl7pPr>
            <a:lvl8pPr lvl="7">
              <a:spcBef>
                <a:spcPts val="0"/>
              </a:spcBef>
              <a:buSzPts val="1200"/>
              <a:buChar char="○"/>
              <a:defRPr sz="1200"/>
            </a:lvl8pPr>
            <a:lvl9pPr lvl="8">
              <a:spcBef>
                <a:spcPts val="0"/>
              </a:spcBef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>
              <a:spcBef>
                <a:spcPts val="0"/>
              </a:spcBef>
              <a:buSzPts val="4800"/>
              <a:buNone/>
              <a:defRPr sz="4800"/>
            </a:lvl1pPr>
            <a:lvl2pPr lvl="1">
              <a:spcBef>
                <a:spcPts val="0"/>
              </a:spcBef>
              <a:buSzPts val="4800"/>
              <a:buNone/>
              <a:defRPr sz="4800"/>
            </a:lvl2pPr>
            <a:lvl3pPr lvl="2">
              <a:spcBef>
                <a:spcPts val="0"/>
              </a:spcBef>
              <a:buSzPts val="4800"/>
              <a:buNone/>
              <a:defRPr sz="4800"/>
            </a:lvl3pPr>
            <a:lvl4pPr lvl="3">
              <a:spcBef>
                <a:spcPts val="0"/>
              </a:spcBef>
              <a:buSzPts val="4800"/>
              <a:buNone/>
              <a:defRPr sz="4800"/>
            </a:lvl4pPr>
            <a:lvl5pPr lvl="4">
              <a:spcBef>
                <a:spcPts val="0"/>
              </a:spcBef>
              <a:buSzPts val="4800"/>
              <a:buNone/>
              <a:defRPr sz="4800"/>
            </a:lvl5pPr>
            <a:lvl6pPr lvl="5">
              <a:spcBef>
                <a:spcPts val="0"/>
              </a:spcBef>
              <a:buSzPts val="4800"/>
              <a:buNone/>
              <a:defRPr sz="4800"/>
            </a:lvl6pPr>
            <a:lvl7pPr lvl="6">
              <a:spcBef>
                <a:spcPts val="0"/>
              </a:spcBef>
              <a:buSzPts val="4800"/>
              <a:buNone/>
              <a:defRPr sz="4800"/>
            </a:lvl7pPr>
            <a:lvl8pPr lvl="7">
              <a:spcBef>
                <a:spcPts val="0"/>
              </a:spcBef>
              <a:buSzPts val="4800"/>
              <a:buNone/>
              <a:defRPr sz="4800"/>
            </a:lvl8pPr>
            <a:lvl9pPr lvl="8">
              <a:spcBef>
                <a:spcPts val="0"/>
              </a:spcBef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algn="ctr">
              <a:spcBef>
                <a:spcPts val="0"/>
              </a:spcBef>
              <a:buSzPts val="4200"/>
              <a:buNone/>
              <a:defRPr sz="4200"/>
            </a:lvl1pPr>
            <a:lvl2pPr lvl="1" algn="ctr">
              <a:spcBef>
                <a:spcPts val="0"/>
              </a:spcBef>
              <a:buSzPts val="4200"/>
              <a:buNone/>
              <a:defRPr sz="4200"/>
            </a:lvl2pPr>
            <a:lvl3pPr lvl="2" algn="ctr">
              <a:spcBef>
                <a:spcPts val="0"/>
              </a:spcBef>
              <a:buSzPts val="4200"/>
              <a:buNone/>
              <a:defRPr sz="4200"/>
            </a:lvl3pPr>
            <a:lvl4pPr lvl="3" algn="ctr">
              <a:spcBef>
                <a:spcPts val="0"/>
              </a:spcBef>
              <a:buSzPts val="4200"/>
              <a:buNone/>
              <a:defRPr sz="4200"/>
            </a:lvl4pPr>
            <a:lvl5pPr lvl="4" algn="ctr">
              <a:spcBef>
                <a:spcPts val="0"/>
              </a:spcBef>
              <a:buSzPts val="4200"/>
              <a:buNone/>
              <a:defRPr sz="4200"/>
            </a:lvl5pPr>
            <a:lvl6pPr lvl="5" algn="ctr">
              <a:spcBef>
                <a:spcPts val="0"/>
              </a:spcBef>
              <a:buSzPts val="4200"/>
              <a:buNone/>
              <a:defRPr sz="4200"/>
            </a:lvl6pPr>
            <a:lvl7pPr lvl="6" algn="ctr">
              <a:spcBef>
                <a:spcPts val="0"/>
              </a:spcBef>
              <a:buSzPts val="4200"/>
              <a:buNone/>
              <a:defRPr sz="4200"/>
            </a:lvl7pPr>
            <a:lvl8pPr lvl="7" algn="ctr">
              <a:spcBef>
                <a:spcPts val="0"/>
              </a:spcBef>
              <a:buSzPts val="4200"/>
              <a:buNone/>
              <a:defRPr sz="4200"/>
            </a:lvl8pPr>
            <a:lvl9pPr lvl="8" algn="ctr">
              <a:spcBef>
                <a:spcPts val="0"/>
              </a:spcBef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>
              <a:spcBef>
                <a:spcPts val="0"/>
              </a:spcBef>
              <a:buSzPts val="1800"/>
              <a:buChar char="●"/>
              <a:defRPr/>
            </a:lvl1pPr>
            <a:lvl2pPr lvl="1">
              <a:spcBef>
                <a:spcPts val="0"/>
              </a:spcBef>
              <a:buSzPts val="1400"/>
              <a:buChar char="○"/>
              <a:defRPr/>
            </a:lvl2pPr>
            <a:lvl3pPr lvl="2">
              <a:spcBef>
                <a:spcPts val="0"/>
              </a:spcBef>
              <a:buSzPts val="1400"/>
              <a:buChar char="■"/>
              <a:defRPr/>
            </a:lvl3pPr>
            <a:lvl4pPr lvl="3">
              <a:spcBef>
                <a:spcPts val="0"/>
              </a:spcBef>
              <a:buSzPts val="1400"/>
              <a:buChar char="●"/>
              <a:defRPr/>
            </a:lvl4pPr>
            <a:lvl5pPr lvl="4">
              <a:spcBef>
                <a:spcPts val="0"/>
              </a:spcBef>
              <a:buSzPts val="1400"/>
              <a:buChar char="○"/>
              <a:defRPr/>
            </a:lvl5pPr>
            <a:lvl6pPr lvl="5">
              <a:spcBef>
                <a:spcPts val="0"/>
              </a:spcBef>
              <a:buSzPts val="1400"/>
              <a:buChar char="■"/>
              <a:defRPr/>
            </a:lvl6pPr>
            <a:lvl7pPr lvl="6">
              <a:spcBef>
                <a:spcPts val="0"/>
              </a:spcBef>
              <a:buSzPts val="1400"/>
              <a:buChar char="●"/>
              <a:defRPr/>
            </a:lvl7pPr>
            <a:lvl8pPr lvl="7">
              <a:spcBef>
                <a:spcPts val="0"/>
              </a:spcBef>
              <a:buSzPts val="1400"/>
              <a:buChar char="○"/>
              <a:defRPr/>
            </a:lvl8pPr>
            <a:lvl9pPr lvl="8">
              <a:spcBef>
                <a:spcPts val="0"/>
              </a:spcBef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algn="ctr">
              <a:spcBef>
                <a:spcPts val="0"/>
              </a:spcBef>
              <a:buSzPts val="12000"/>
              <a:buNone/>
              <a:defRPr sz="12000"/>
            </a:lvl1pPr>
            <a:lvl2pPr lvl="1" algn="ctr">
              <a:spcBef>
                <a:spcPts val="0"/>
              </a:spcBef>
              <a:buSzPts val="12000"/>
              <a:buNone/>
              <a:defRPr sz="12000"/>
            </a:lvl2pPr>
            <a:lvl3pPr lvl="2" algn="ctr">
              <a:spcBef>
                <a:spcPts val="0"/>
              </a:spcBef>
              <a:buSzPts val="12000"/>
              <a:buNone/>
              <a:defRPr sz="12000"/>
            </a:lvl3pPr>
            <a:lvl4pPr lvl="3" algn="ctr">
              <a:spcBef>
                <a:spcPts val="0"/>
              </a:spcBef>
              <a:buSzPts val="12000"/>
              <a:buNone/>
              <a:defRPr sz="12000"/>
            </a:lvl4pPr>
            <a:lvl5pPr lvl="4" algn="ctr">
              <a:spcBef>
                <a:spcPts val="0"/>
              </a:spcBef>
              <a:buSzPts val="12000"/>
              <a:buNone/>
              <a:defRPr sz="12000"/>
            </a:lvl5pPr>
            <a:lvl6pPr lvl="5" algn="ctr">
              <a:spcBef>
                <a:spcPts val="0"/>
              </a:spcBef>
              <a:buSzPts val="12000"/>
              <a:buNone/>
              <a:defRPr sz="12000"/>
            </a:lvl6pPr>
            <a:lvl7pPr lvl="6" algn="ctr">
              <a:spcBef>
                <a:spcPts val="0"/>
              </a:spcBef>
              <a:buSzPts val="12000"/>
              <a:buNone/>
              <a:defRPr sz="12000"/>
            </a:lvl7pPr>
            <a:lvl8pPr lvl="7" algn="ctr">
              <a:spcBef>
                <a:spcPts val="0"/>
              </a:spcBef>
              <a:buSzPts val="12000"/>
              <a:buNone/>
              <a:defRPr sz="12000"/>
            </a:lvl8pPr>
            <a:lvl9pPr lvl="8" algn="ctr">
              <a:spcBef>
                <a:spcPts val="0"/>
              </a:spcBef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>
              <a:spcBef>
                <a:spcPts val="0"/>
              </a:spcBef>
              <a:buSzPts val="1800"/>
              <a:buChar char="●"/>
              <a:defRPr/>
            </a:lvl1pPr>
            <a:lvl2pPr lvl="1" algn="ctr">
              <a:spcBef>
                <a:spcPts val="0"/>
              </a:spcBef>
              <a:buSzPts val="1400"/>
              <a:buChar char="○"/>
              <a:defRPr/>
            </a:lvl2pPr>
            <a:lvl3pPr lvl="2" algn="ctr">
              <a:spcBef>
                <a:spcPts val="0"/>
              </a:spcBef>
              <a:buSzPts val="1400"/>
              <a:buChar char="■"/>
              <a:defRPr/>
            </a:lvl3pPr>
            <a:lvl4pPr lvl="3" algn="ctr">
              <a:spcBef>
                <a:spcPts val="0"/>
              </a:spcBef>
              <a:buSzPts val="1400"/>
              <a:buChar char="●"/>
              <a:defRPr/>
            </a:lvl4pPr>
            <a:lvl5pPr lvl="4" algn="ctr">
              <a:spcBef>
                <a:spcPts val="0"/>
              </a:spcBef>
              <a:buSzPts val="1400"/>
              <a:buChar char="○"/>
              <a:defRPr/>
            </a:lvl5pPr>
            <a:lvl6pPr lvl="5" algn="ctr">
              <a:spcBef>
                <a:spcPts val="0"/>
              </a:spcBef>
              <a:buSzPts val="1400"/>
              <a:buChar char="■"/>
              <a:defRPr/>
            </a:lvl6pPr>
            <a:lvl7pPr lvl="6" algn="ctr">
              <a:spcBef>
                <a:spcPts val="0"/>
              </a:spcBef>
              <a:buSzPts val="1400"/>
              <a:buChar char="●"/>
              <a:defRPr/>
            </a:lvl7pPr>
            <a:lvl8pPr lvl="7" algn="ctr">
              <a:spcBef>
                <a:spcPts val="0"/>
              </a:spcBef>
              <a:buSzPts val="1400"/>
              <a:buChar char="○"/>
              <a:defRPr/>
            </a:lvl8pPr>
            <a:lvl9pPr lvl="8" algn="ctr">
              <a:spcBef>
                <a:spcPts val="0"/>
              </a:spcBef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r">
              <a:spcBef>
                <a:spcPts val="0"/>
              </a:spcBef>
              <a:buNone/>
            </a:pPr>
            <a:fld id="{00000000-1234-1234-1234-123412341234}" type="slidenum">
              <a:rPr lang="en-GB" sz="1000">
                <a:solidFill>
                  <a:schemeClr val="dk2"/>
                </a:solidFill>
              </a:rPr>
              <a:t>‹#›</a:t>
            </a:fld>
            <a:endParaRPr lang="en-GB" sz="1000">
              <a:solidFill>
                <a:schemeClr val="dk2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mp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tmp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ctrTitle"/>
          </p:nvPr>
        </p:nvSpPr>
        <p:spPr>
          <a:xfrm>
            <a:off x="639368" y="980795"/>
            <a:ext cx="8230312" cy="2052600"/>
          </a:xfrm>
          <a:prstGeom prst="rect">
            <a:avLst/>
          </a:prstGeom>
        </p:spPr>
        <p:txBody>
          <a:bodyPr wrap="square" lIns="91425" tIns="91425" rIns="91425" bIns="91425" anchor="b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格式字符串漏洞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/>
              <a:t>大纲</a:t>
            </a:r>
          </a:p>
        </p:txBody>
      </p:sp>
      <p:sp>
        <p:nvSpPr>
          <p:cNvPr id="60" name="Shape 6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</a:rPr>
              <a:t>格式字符串</a:t>
            </a:r>
          </a:p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</a:rPr>
              <a:t>访问可选参数</a:t>
            </a:r>
            <a:r>
              <a:rPr lang="en-US" altLang="zh-CN" dirty="0">
                <a:solidFill>
                  <a:srgbClr val="000000"/>
                </a:solidFill>
              </a:rPr>
              <a:t>(</a:t>
            </a:r>
            <a:r>
              <a:rPr lang="zh-CN" altLang="en-US" dirty="0">
                <a:solidFill>
                  <a:srgbClr val="000000"/>
                </a:solidFill>
              </a:rPr>
              <a:t>变长参数</a:t>
            </a:r>
            <a:r>
              <a:rPr lang="en-US" altLang="zh-CN" dirty="0">
                <a:solidFill>
                  <a:srgbClr val="000000"/>
                </a:solidFill>
              </a:rPr>
              <a:t>)</a:t>
            </a:r>
            <a:endParaRPr lang="zh-CN" dirty="0">
              <a:solidFill>
                <a:srgbClr val="000000"/>
              </a:solidFill>
            </a:endParaRPr>
          </a:p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 ()</a:t>
            </a:r>
            <a:r>
              <a:rPr lang="zh-CN" dirty="0">
                <a:solidFill>
                  <a:srgbClr val="000000"/>
                </a:solidFill>
              </a:rPr>
              <a:t>的</a:t>
            </a:r>
            <a:r>
              <a:rPr lang="zh-CN" altLang="en-US" dirty="0">
                <a:solidFill>
                  <a:srgbClr val="000000"/>
                </a:solidFill>
              </a:rPr>
              <a:t>工作方式</a:t>
            </a:r>
            <a:endParaRPr lang="en-GB" dirty="0">
              <a:solidFill>
                <a:srgbClr val="000000"/>
              </a:solidFill>
            </a:endParaRPr>
          </a:p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</a:rPr>
              <a:t>格式化字符串攻击​</a:t>
            </a:r>
            <a:endParaRPr lang="en-GB" dirty="0">
              <a:solidFill>
                <a:srgbClr val="000000"/>
              </a:solidFill>
            </a:endParaRPr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</a:rPr>
              <a:t>如何利用该漏洞</a:t>
            </a:r>
            <a:endParaRPr lang="en-GB" dirty="0">
              <a:solidFill>
                <a:srgbClr val="000000"/>
              </a:solidFill>
            </a:endParaRPr>
          </a:p>
          <a:p>
            <a:pPr marL="457200" lvl="0" indent="-342900">
              <a:spcBef>
                <a:spcPts val="0"/>
              </a:spcBef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</a:rPr>
              <a:t>应对措施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/>
              <a:t>格式字符串</a:t>
            </a:r>
          </a:p>
        </p:txBody>
      </p:sp>
      <p:sp>
        <p:nvSpPr>
          <p:cNvPr id="66" name="Shape 66"/>
          <p:cNvSpPr txBox="1">
            <a:spLocks noGrp="1"/>
          </p:cNvSpPr>
          <p:nvPr>
            <p:ph type="body" idx="1"/>
          </p:nvPr>
        </p:nvSpPr>
        <p:spPr>
          <a:xfrm>
            <a:off x="311700" y="1216775"/>
            <a:ext cx="8520600" cy="3416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printf() </a:t>
            </a:r>
            <a:r>
              <a:rPr lang="zh-CN" dirty="0">
                <a:solidFill>
                  <a:srgbClr val="000000"/>
                </a:solidFill>
              </a:rPr>
              <a:t>- 根据格式打印字符串。</a:t>
            </a:r>
          </a:p>
          <a:p>
            <a:pPr marL="457200" lvl="0" indent="457200" rtl="0">
              <a:spcBef>
                <a:spcPts val="0"/>
              </a:spcBef>
              <a:buNone/>
            </a:pPr>
            <a:r>
              <a:rPr lang="zh-CN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整数</a:t>
            </a: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zh-CN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 </a:t>
            </a: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zh-CN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 </a:t>
            </a: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*format, …);</a:t>
            </a:r>
          </a:p>
          <a:p>
            <a:pPr marL="0" lvl="0" indent="0" rtl="0">
              <a:spcBef>
                <a:spcPts val="0"/>
              </a:spcBef>
              <a:buNone/>
            </a:pP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printf() 函数</a:t>
            </a:r>
            <a:r>
              <a:rPr lang="zh-CN" dirty="0">
                <a:solidFill>
                  <a:srgbClr val="000000"/>
                </a:solidFill>
              </a:rPr>
              <a:t>的参数列表包含：</a:t>
            </a:r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CN" altLang="en-US" dirty="0">
                <a:solidFill>
                  <a:srgbClr val="000000"/>
                </a:solidFill>
              </a:rPr>
              <a:t>格式化输入字符串，后跟</a:t>
            </a:r>
            <a:endParaRPr lang="zh-CN" dirty="0">
              <a:solidFill>
                <a:srgbClr val="000000"/>
              </a:solidFill>
            </a:endParaRPr>
          </a:p>
          <a:p>
            <a:pPr marL="457200" lvl="0" indent="-342900" rtl="0">
              <a:spcBef>
                <a:spcPts val="0"/>
              </a:spcBef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</a:rPr>
              <a:t>零个或多个可选参数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zh-CN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若给</a:t>
            </a: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printf()</a:t>
            </a:r>
            <a:r>
              <a:rPr lang="zh-CN" dirty="0">
                <a:solidFill>
                  <a:srgbClr val="000000"/>
                </a:solidFill>
              </a:rPr>
              <a:t>传递</a:t>
            </a:r>
            <a:r>
              <a:rPr lang="zh-CN" altLang="en-US" dirty="0">
                <a:solidFill>
                  <a:srgbClr val="000000"/>
                </a:solidFill>
              </a:rPr>
              <a:t>的可选参数有短缺</a:t>
            </a:r>
            <a:r>
              <a:rPr lang="zh-CN" dirty="0">
                <a:solidFill>
                  <a:srgbClr val="000000"/>
                </a:solidFill>
              </a:rPr>
              <a:t>，编译器不会发出警告。</a:t>
            </a:r>
          </a:p>
          <a:p>
            <a:pPr marL="0" lvl="0" indent="0">
              <a:spcBef>
                <a:spcPts val="0"/>
              </a:spcBef>
              <a:buNone/>
            </a:pPr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访问可选参数​</a:t>
            </a:r>
            <a:endParaRPr lang="en-GB" dirty="0"/>
          </a:p>
        </p:txBody>
      </p:sp>
      <p:pic>
        <p:nvPicPr>
          <p:cNvPr id="72" name="Shape 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4751425" cy="3989549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Shape 73"/>
          <p:cNvSpPr txBox="1"/>
          <p:nvPr/>
        </p:nvSpPr>
        <p:spPr>
          <a:xfrm>
            <a:off x="5320200" y="1017725"/>
            <a:ext cx="3512100" cy="3831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CN" sz="1800" dirty="0" err="1">
                <a:solidFill>
                  <a:schemeClr val="dk1"/>
                </a:solidFill>
              </a:rPr>
              <a:t>myprint </a:t>
            </a:r>
            <a:r>
              <a:rPr lang="zh-CN" sz="1800" dirty="0">
                <a:solidFill>
                  <a:schemeClr val="dk1"/>
                </a:solidFill>
              </a:rPr>
              <a:t>() 展示了 printf() 的实际工作原理。</a:t>
            </a:r>
          </a:p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CN" sz="1800" dirty="0">
                <a:solidFill>
                  <a:schemeClr val="dk1"/>
                </a:solidFill>
              </a:rPr>
              <a:t>考虑第 7 行调用myprintf ()。</a:t>
            </a:r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CN" sz="1800" dirty="0">
                <a:solidFill>
                  <a:schemeClr val="dk1"/>
                </a:solidFill>
              </a:rPr>
              <a:t>va_list 指针（第 1 行</a:t>
            </a:r>
            <a:r>
              <a:rPr lang="zh-CN" altLang="en-US" sz="1800" dirty="0">
                <a:solidFill>
                  <a:schemeClr val="dk1"/>
                </a:solidFill>
              </a:rPr>
              <a:t>定义</a:t>
            </a:r>
            <a:r>
              <a:rPr lang="zh-CN" sz="1800" dirty="0">
                <a:solidFill>
                  <a:schemeClr val="dk1"/>
                </a:solidFill>
              </a:rPr>
              <a:t>）</a:t>
            </a:r>
            <a:r>
              <a:rPr lang="zh-CN" altLang="en-US" sz="1800" dirty="0">
                <a:solidFill>
                  <a:schemeClr val="dk1"/>
                </a:solidFill>
              </a:rPr>
              <a:t>被用于</a:t>
            </a:r>
            <a:r>
              <a:rPr lang="zh-CN" sz="1800" dirty="0">
                <a:solidFill>
                  <a:schemeClr val="dk1"/>
                </a:solidFill>
              </a:rPr>
              <a:t>访问可选参数。</a:t>
            </a:r>
          </a:p>
          <a:p>
            <a:pPr marL="457200" lvl="0" indent="-342900">
              <a:spcBef>
                <a:spcPts val="0"/>
              </a:spcBef>
              <a:buClr>
                <a:schemeClr val="dk1"/>
              </a:buClr>
              <a:buSzPts val="1800"/>
              <a:buChar char="●"/>
            </a:pPr>
            <a:r>
              <a:rPr lang="zh-CN" sz="1800" dirty="0">
                <a:solidFill>
                  <a:schemeClr val="dk1"/>
                </a:solidFill>
              </a:rPr>
              <a:t>va_start () 宏（第 2 行）根据第二个参数Narg 计算va_list的初始位置。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-69850"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zh-CN" dirty="0"/>
              <a:t>访问可选参数​</a:t>
            </a:r>
            <a:endParaRPr lang="en-GB" dirty="0"/>
          </a:p>
        </p:txBody>
      </p:sp>
      <p:pic>
        <p:nvPicPr>
          <p:cNvPr id="79" name="Shape 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19775"/>
            <a:ext cx="4337792" cy="305701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Shape 80"/>
          <p:cNvSpPr txBox="1"/>
          <p:nvPr/>
        </p:nvSpPr>
        <p:spPr>
          <a:xfrm>
            <a:off x="4838100" y="1017725"/>
            <a:ext cx="3994200" cy="3766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buSzPts val="1800"/>
              <a:buChar char="●"/>
            </a:pPr>
            <a:r>
              <a:rPr lang="zh-CN" sz="1800" dirty="0" err="1"/>
              <a:t>va_start () 宏获取Narg</a:t>
            </a:r>
            <a:r>
              <a:rPr lang="zh-CN" sz="1800" dirty="0"/>
              <a:t>的起始地址，根据数据类型查找大小，并为</a:t>
            </a:r>
            <a:r>
              <a:rPr lang="zh-CN" sz="1800" dirty="0" err="1"/>
              <a:t>va_list指针</a:t>
            </a:r>
            <a:r>
              <a:rPr lang="zh-CN" sz="1800" dirty="0"/>
              <a:t>设置值。</a:t>
            </a:r>
          </a:p>
          <a:p>
            <a:pPr marL="0" lvl="0" indent="0">
              <a:spcBef>
                <a:spcPts val="0"/>
              </a:spcBef>
              <a:buNone/>
            </a:pPr>
            <a:endParaRPr sz="1800" dirty="0"/>
          </a:p>
          <a:p>
            <a:pPr marL="457200" lvl="0" indent="-342900" rtl="0">
              <a:spcBef>
                <a:spcPts val="0"/>
              </a:spcBef>
              <a:buSzPts val="1800"/>
              <a:buChar char="●"/>
            </a:pPr>
            <a:r>
              <a:rPr lang="zh-CN" sz="1800" dirty="0"/>
              <a:t>va_list 使用va_arg () 宏进行指针前进。</a:t>
            </a:r>
          </a:p>
          <a:p>
            <a:pPr marL="0" lvl="0" indent="0">
              <a:spcBef>
                <a:spcPts val="0"/>
              </a:spcBef>
              <a:buNone/>
            </a:pPr>
            <a:endParaRPr sz="1800" dirty="0"/>
          </a:p>
          <a:p>
            <a:pPr marL="457200" lvl="0" indent="-342900" rtl="0">
              <a:spcBef>
                <a:spcPts val="0"/>
              </a:spcBef>
              <a:buSzPts val="1800"/>
              <a:buChar char="●"/>
            </a:pPr>
            <a:r>
              <a:rPr lang="zh-CN" sz="1800" dirty="0" err="1"/>
              <a:t>va_arg </a:t>
            </a:r>
            <a:r>
              <a:rPr lang="zh-CN" sz="1800" dirty="0"/>
              <a:t>( </a:t>
            </a:r>
            <a:r>
              <a:rPr lang="zh-CN" sz="1800" dirty="0" err="1"/>
              <a:t>ap </a:t>
            </a:r>
            <a:r>
              <a:rPr lang="zh-CN" sz="1800" dirty="0"/>
              <a:t>, </a:t>
            </a:r>
            <a:r>
              <a:rPr lang="zh-CN" sz="1800" dirty="0" err="1"/>
              <a:t>int </a:t>
            </a:r>
            <a:r>
              <a:rPr lang="zh-CN" sz="1800" dirty="0"/>
              <a:t>) : 将</a:t>
            </a:r>
            <a:r>
              <a:rPr lang="zh-CN" sz="1800" dirty="0" err="1"/>
              <a:t>ap</a:t>
            </a:r>
            <a:r>
              <a:rPr lang="zh-CN" sz="1800" dirty="0"/>
              <a:t>指针 ( </a:t>
            </a:r>
            <a:r>
              <a:rPr lang="zh-CN" sz="1800" dirty="0" err="1"/>
              <a:t>va_list </a:t>
            </a:r>
            <a:r>
              <a:rPr lang="zh-CN" sz="1800" dirty="0"/>
              <a:t>) 向上移动 4 个字节。</a:t>
            </a:r>
          </a:p>
          <a:p>
            <a:pPr marL="0" lvl="0" indent="0" rtl="0">
              <a:spcBef>
                <a:spcPts val="0"/>
              </a:spcBef>
              <a:buNone/>
            </a:pPr>
            <a:endParaRPr sz="1800" dirty="0"/>
          </a:p>
          <a:p>
            <a:pPr marL="457200" lvl="0" indent="-342900" rtl="0">
              <a:spcBef>
                <a:spcPts val="0"/>
              </a:spcBef>
              <a:buSzPts val="1800"/>
              <a:buChar char="●"/>
            </a:pPr>
            <a:r>
              <a:rPr lang="zh-CN" sz="1800" dirty="0"/>
              <a:t>当所有可选参数都被访问后，将调用</a:t>
            </a:r>
            <a:r>
              <a:rPr lang="zh-CN" sz="1800" dirty="0" err="1"/>
              <a:t>va_end ()。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printf </a:t>
            </a:r>
            <a:endParaRPr lang="en-GB" dirty="0"/>
          </a:p>
        </p:txBody>
      </p:sp>
      <p:pic>
        <p:nvPicPr>
          <p:cNvPr id="86" name="Shape 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150" y="1138349"/>
            <a:ext cx="5881332" cy="15837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Shape 88"/>
          <p:cNvSpPr txBox="1"/>
          <p:nvPr/>
        </p:nvSpPr>
        <p:spPr>
          <a:xfrm>
            <a:off x="462148" y="2722099"/>
            <a:ext cx="8449200" cy="195064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1800" dirty="0"/>
              <a:t>这里， </a:t>
            </a:r>
            <a:r>
              <a:rPr 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printf() 函数</a:t>
            </a:r>
            <a:r>
              <a:rPr lang="zh-CN" sz="1800" dirty="0"/>
              <a:t>有三个可选参数。以“%”开头的元素称为格式说明符。</a:t>
            </a:r>
          </a:p>
          <a:p>
            <a: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printf ()函数</a:t>
            </a:r>
            <a:r>
              <a:rPr lang="zh-CN" sz="1800" dirty="0"/>
              <a:t>会扫描格式字符串，并打印出每个字符，直到遇到“%”为止。</a:t>
            </a:r>
          </a:p>
          <a:p>
            <a:pPr marL="457200" lvl="0" indent="-342900">
              <a:spcBef>
                <a:spcPts val="0"/>
              </a:spcBef>
              <a:buSzPts val="1800"/>
              <a:buChar char="●"/>
            </a:pPr>
            <a:r>
              <a:rPr 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printf ()</a:t>
            </a:r>
            <a:r>
              <a:rPr lang="zh-CN" sz="1800" dirty="0"/>
              <a:t>调用</a:t>
            </a:r>
            <a:r>
              <a:rPr lang="zh-CN" sz="1800" b="1" dirty="0" err="1"/>
              <a:t>va_arg </a:t>
            </a:r>
            <a:r>
              <a:rPr lang="zh-CN" sz="1800" b="1" dirty="0"/>
              <a:t>() </a:t>
            </a:r>
            <a:r>
              <a:rPr lang="zh-CN" sz="1800" dirty="0"/>
              <a:t>，该函数返回由 指向的可选参数</a:t>
            </a:r>
            <a:r>
              <a:rPr 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。</a:t>
            </a:r>
            <a:r>
              <a:rPr lang="zh-CN" sz="1800" b="1" dirty="0"/>
              <a:t> </a:t>
            </a:r>
            <a:r>
              <a:rPr lang="zh-CN" sz="1800" b="1" dirty="0" err="1"/>
              <a:t>va_list</a:t>
            </a:r>
            <a:r>
              <a:rPr lang="zh-CN" sz="1800" dirty="0"/>
              <a:t>并将其推进到下一个参数。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-69850"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zh-CN" dirty="0"/>
              <a:t>printf </a:t>
            </a:r>
            <a:endParaRPr lang="en-GB" dirty="0"/>
          </a:p>
        </p:txBody>
      </p:sp>
      <p:sp>
        <p:nvSpPr>
          <p:cNvPr id="94" name="Shape 94"/>
          <p:cNvSpPr txBox="1">
            <a:spLocks noGrp="1"/>
          </p:cNvSpPr>
          <p:nvPr>
            <p:ph type="body" idx="1"/>
          </p:nvPr>
        </p:nvSpPr>
        <p:spPr>
          <a:xfrm>
            <a:off x="4570475" y="1152475"/>
            <a:ext cx="4261800" cy="3416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</a:rPr>
              <a:t>当调用 printf() 时，参数会按相反的顺序压入堆栈。</a:t>
            </a:r>
          </a:p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</a:rPr>
              <a:t>当扫描并打印格式字符串时，printf() 会将 %d 替换为第一个可选参数的值，并打印出该值。</a:t>
            </a:r>
          </a:p>
          <a:p>
            <a:pPr marL="457200" lvl="0" indent="-342900">
              <a:spcBef>
                <a:spcPts val="0"/>
              </a:spcBef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</a:rPr>
              <a:t>va_list 然后移至位置 2。</a:t>
            </a:r>
          </a:p>
        </p:txBody>
      </p:sp>
      <p:pic>
        <p:nvPicPr>
          <p:cNvPr id="95" name="Shape 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4063350" cy="299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缺少可选参数</a:t>
            </a:r>
            <a:endParaRPr lang="en-GB" dirty="0"/>
          </a:p>
        </p:txBody>
      </p:sp>
      <p:sp>
        <p:nvSpPr>
          <p:cNvPr id="101" name="Shape 101"/>
          <p:cNvSpPr txBox="1">
            <a:spLocks noGrp="1"/>
          </p:cNvSpPr>
          <p:nvPr>
            <p:ph type="body" idx="1"/>
          </p:nvPr>
        </p:nvSpPr>
        <p:spPr>
          <a:xfrm>
            <a:off x="311700" y="2865025"/>
            <a:ext cx="4258800" cy="2057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CN" dirty="0" err="1">
                <a:solidFill>
                  <a:srgbClr val="000000"/>
                </a:solidFill>
              </a:rPr>
              <a:t>va_arg </a:t>
            </a:r>
            <a:r>
              <a:rPr lang="zh-CN" dirty="0">
                <a:solidFill>
                  <a:srgbClr val="000000"/>
                </a:solidFill>
              </a:rPr>
              <a:t>() 宏无法判断是否已到达可选参数列表的末尾。</a:t>
            </a:r>
            <a:endParaRPr lang="en-GB" dirty="0">
              <a:solidFill>
                <a:srgbClr val="000000"/>
              </a:solidFill>
            </a:endParaRPr>
          </a:p>
          <a:p>
            <a:pPr marL="457200" lvl="0" indent="-342900">
              <a:spcBef>
                <a:spcPts val="0"/>
              </a:spcBef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</a:rPr>
              <a:t>它继续从堆栈中获取数据并推进</a:t>
            </a:r>
            <a:r>
              <a:rPr lang="zh-CN" dirty="0" err="1">
                <a:solidFill>
                  <a:srgbClr val="000000"/>
                </a:solidFill>
              </a:rPr>
              <a:t>va_list</a:t>
            </a:r>
            <a:r>
              <a:rPr lang="zh-CN" dirty="0">
                <a:solidFill>
                  <a:srgbClr val="000000"/>
                </a:solidFill>
              </a:rPr>
              <a:t>指针。</a:t>
            </a:r>
          </a:p>
        </p:txBody>
      </p:sp>
      <p:pic>
        <p:nvPicPr>
          <p:cNvPr id="102" name="Shape 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400" y="1213550"/>
            <a:ext cx="4176100" cy="130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Shape 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2050" y="1166442"/>
            <a:ext cx="4090250" cy="3397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/>
              <a:t>格式字符串漏洞</a:t>
            </a:r>
          </a:p>
        </p:txBody>
      </p:sp>
      <p:sp>
        <p:nvSpPr>
          <p:cNvPr id="109" name="Shape 109"/>
          <p:cNvSpPr txBox="1">
            <a:spLocks noGrp="1"/>
          </p:cNvSpPr>
          <p:nvPr>
            <p:ph type="body" idx="1"/>
          </p:nvPr>
        </p:nvSpPr>
        <p:spPr>
          <a:xfrm>
            <a:off x="5213103" y="3058220"/>
            <a:ext cx="3363818" cy="940231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>
                <a:solidFill>
                  <a:srgbClr val="FF0000"/>
                </a:solidFill>
              </a:rPr>
              <a:t>如果</a:t>
            </a:r>
            <a:r>
              <a:rPr lang="zh-CN" b="1" dirty="0">
                <a:solidFill>
                  <a:srgbClr val="FF0000"/>
                </a:solidFill>
              </a:rPr>
              <a:t>user_input包含</a:t>
            </a:r>
            <a:r>
              <a:rPr lang="zh-CN" altLang="en-US" b="1" dirty="0">
                <a:solidFill>
                  <a:srgbClr val="FF0000"/>
                </a:solidFill>
              </a:rPr>
              <a:t>占位</a:t>
            </a:r>
            <a:r>
              <a:rPr lang="zh-CN" b="1" dirty="0">
                <a:solidFill>
                  <a:srgbClr val="FF0000"/>
                </a:solidFill>
              </a:rPr>
              <a:t>符会发生</a:t>
            </a:r>
            <a:r>
              <a:rPr lang="zh-CN" dirty="0">
                <a:solidFill>
                  <a:srgbClr val="FF0000"/>
                </a:solidFill>
              </a:rPr>
              <a:t>什么情况？</a:t>
            </a:r>
          </a:p>
        </p:txBody>
      </p:sp>
      <p:pic>
        <p:nvPicPr>
          <p:cNvPr id="110" name="Shape 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724" y="1439723"/>
            <a:ext cx="2582350" cy="35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Shape 1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019" y="2341806"/>
            <a:ext cx="4108276" cy="50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Shape 112"/>
          <p:cNvSpPr txBox="1">
            <a:spLocks noGrp="1"/>
          </p:cNvSpPr>
          <p:nvPr>
            <p:ph type="body" idx="1"/>
          </p:nvPr>
        </p:nvSpPr>
        <p:spPr>
          <a:xfrm>
            <a:off x="4957724" y="1682318"/>
            <a:ext cx="3874576" cy="1318975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>
                <a:solidFill>
                  <a:srgbClr val="000000"/>
                </a:solidFill>
              </a:rPr>
              <a:t>在这三个例子中，用户的输入（ </a:t>
            </a:r>
            <a:r>
              <a:rPr lang="zh-CN" dirty="0" err="1">
                <a:solidFill>
                  <a:srgbClr val="000000"/>
                </a:solidFill>
              </a:rPr>
              <a:t>user_input </a:t>
            </a:r>
            <a:r>
              <a:rPr lang="zh-CN" dirty="0">
                <a:solidFill>
                  <a:srgbClr val="000000"/>
                </a:solidFill>
              </a:rPr>
              <a:t>）成为格式字符串的一部分。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zh-CN" dirty="0">
                <a:solidFill>
                  <a:srgbClr val="000000"/>
                </a:solidFill>
              </a:rPr>
              <a:t> </a:t>
            </a:r>
            <a:endParaRPr lang="en-GB" dirty="0">
              <a:solidFill>
                <a:srgbClr val="000000"/>
              </a:solidFill>
            </a:endParaRPr>
          </a:p>
        </p:txBody>
      </p:sp>
      <p:pic>
        <p:nvPicPr>
          <p:cNvPr id="113" name="Shape 1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0020" y="3275086"/>
            <a:ext cx="4108276" cy="50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altLang="en-US" dirty="0"/>
              <a:t>有漏洞</a:t>
            </a:r>
            <a:r>
              <a:rPr lang="zh-CN" dirty="0"/>
              <a:t>的代码</a:t>
            </a:r>
          </a:p>
        </p:txBody>
      </p:sp>
      <p:pic>
        <p:nvPicPr>
          <p:cNvPr id="120" name="Shape 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3241" y="1084882"/>
            <a:ext cx="5956237" cy="382859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Shape 121"/>
          <p:cNvSpPr/>
          <p:nvPr/>
        </p:nvSpPr>
        <p:spPr>
          <a:xfrm>
            <a:off x="1473950" y="3679775"/>
            <a:ext cx="1689000" cy="3072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Shape 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0650" y="800137"/>
            <a:ext cx="4931650" cy="387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Shape 1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altLang="en-US" dirty="0"/>
              <a:t>漏洞</a:t>
            </a:r>
            <a:r>
              <a:rPr lang="zh-CN" dirty="0"/>
              <a:t>程序的攻击策略</a:t>
            </a:r>
            <a:endParaRPr lang="en-GB" dirty="0"/>
          </a:p>
        </p:txBody>
      </p:sp>
      <p:sp>
        <p:nvSpPr>
          <p:cNvPr id="127" name="Shape 1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782128" cy="221151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printf() 函数</a:t>
            </a:r>
            <a:r>
              <a:rPr lang="zh-CN" dirty="0">
                <a:solidFill>
                  <a:srgbClr val="000000"/>
                </a:solidFill>
              </a:rPr>
              <a:t>内部，可选参数（ </a:t>
            </a:r>
            <a:r>
              <a:rPr lang="zh-CN" dirty="0" err="1">
                <a:solidFill>
                  <a:srgbClr val="000000"/>
                </a:solidFill>
              </a:rPr>
              <a:t>va_list</a:t>
            </a:r>
            <a:r>
              <a:rPr lang="zh-CN" dirty="0">
                <a:solidFill>
                  <a:srgbClr val="000000"/>
                </a:solidFill>
              </a:rPr>
              <a:t>指针）的起始位置位于格式字符串参数的正上方。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我们能取得什么成就？</a:t>
            </a:r>
            <a:endParaRPr lang="en-GB" dirty="0"/>
          </a:p>
        </p:txBody>
      </p:sp>
      <p:sp>
        <p:nvSpPr>
          <p:cNvPr id="134" name="Shape 1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>
                <a:solidFill>
                  <a:srgbClr val="000000"/>
                </a:solidFill>
              </a:rPr>
              <a:t>攻击 1：崩溃程序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zh-CN" dirty="0">
                <a:solidFill>
                  <a:srgbClr val="000000"/>
                </a:solidFill>
              </a:rPr>
              <a:t>攻击2：将</a:t>
            </a:r>
            <a:r>
              <a:rPr lang="zh-CN" altLang="en-US" dirty="0">
                <a:solidFill>
                  <a:srgbClr val="000000"/>
                </a:solidFill>
              </a:rPr>
              <a:t>栈上的</a:t>
            </a:r>
            <a:r>
              <a:rPr lang="zh-CN" dirty="0">
                <a:solidFill>
                  <a:srgbClr val="000000"/>
                </a:solidFill>
              </a:rPr>
              <a:t>数据打印</a:t>
            </a:r>
            <a:r>
              <a:rPr lang="zh-CN" altLang="en-US" dirty="0">
                <a:solidFill>
                  <a:srgbClr val="000000"/>
                </a:solidFill>
              </a:rPr>
              <a:t>输出</a:t>
            </a:r>
            <a:endParaRPr lang="zh-CN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None/>
            </a:pPr>
            <a:r>
              <a:rPr lang="zh-CN" dirty="0">
                <a:solidFill>
                  <a:srgbClr val="000000"/>
                </a:solidFill>
              </a:rPr>
              <a:t>攻击3：更改程序内存中的数据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zh-CN" dirty="0">
                <a:solidFill>
                  <a:srgbClr val="000000"/>
                </a:solidFill>
              </a:rPr>
              <a:t>攻击 4：将程序数据更改为特定值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zh-CN" dirty="0">
                <a:solidFill>
                  <a:srgbClr val="000000"/>
                </a:solidFill>
              </a:rPr>
              <a:t>攻击 5：注入恶意代码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/>
              <a:t>攻击 1：崩溃程序</a:t>
            </a:r>
          </a:p>
        </p:txBody>
      </p:sp>
      <p:sp>
        <p:nvSpPr>
          <p:cNvPr id="140" name="Shape 140"/>
          <p:cNvSpPr txBox="1">
            <a:spLocks noGrp="1"/>
          </p:cNvSpPr>
          <p:nvPr>
            <p:ph type="body" idx="1"/>
          </p:nvPr>
        </p:nvSpPr>
        <p:spPr>
          <a:xfrm>
            <a:off x="407375" y="2328650"/>
            <a:ext cx="8424900" cy="26715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</a:rPr>
              <a:t>输入格式： </a:t>
            </a: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 </a:t>
            </a:r>
            <a:r>
              <a:rPr lang="zh-CN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s%s%s%s%s%s%s%s</a:t>
            </a:r>
            <a:endParaRPr lang="en-GB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 ( )</a:t>
            </a:r>
            <a:r>
              <a:rPr lang="zh-CN" dirty="0">
                <a:solidFill>
                  <a:srgbClr val="000000"/>
                </a:solidFill>
              </a:rPr>
              <a:t>解析格式字符串。</a:t>
            </a:r>
          </a:p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</a:rPr>
              <a:t>对于每个</a:t>
            </a: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%s ，它获取</a:t>
            </a:r>
            <a:r>
              <a:rPr lang="zh-CN" dirty="0" err="1">
                <a:solidFill>
                  <a:srgbClr val="000000"/>
                </a:solidFill>
              </a:rPr>
              <a:t>va_list指向的</a:t>
            </a:r>
            <a:r>
              <a:rPr lang="zh-CN" dirty="0">
                <a:solidFill>
                  <a:srgbClr val="000000"/>
                </a:solidFill>
              </a:rPr>
              <a:t>值，并将</a:t>
            </a:r>
            <a:r>
              <a:rPr lang="zh-CN" dirty="0" err="1">
                <a:solidFill>
                  <a:srgbClr val="000000"/>
                </a:solidFill>
              </a:rPr>
              <a:t>va_list推进</a:t>
            </a:r>
            <a:r>
              <a:rPr lang="zh-CN" dirty="0">
                <a:solidFill>
                  <a:srgbClr val="000000"/>
                </a:solidFill>
              </a:rPr>
              <a:t>到下一个位置。</a:t>
            </a:r>
          </a:p>
          <a:p>
            <a:pPr marL="457200" lvl="0" indent="-342900">
              <a:buClr>
                <a:srgbClr val="000000"/>
              </a:buClr>
            </a:pPr>
            <a:r>
              <a:rPr lang="zh-CN" dirty="0">
                <a:solidFill>
                  <a:srgbClr val="000000"/>
                </a:solidFill>
              </a:rPr>
              <a:t>当我们输入 %s 时， </a:t>
            </a: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printf()</a:t>
            </a:r>
            <a:r>
              <a:rPr lang="zh-CN" dirty="0">
                <a:solidFill>
                  <a:srgbClr val="000000"/>
                </a:solidFill>
              </a:rPr>
              <a:t>函数会将该值视为地址，并从该地址获取数据。如果该值不是有效地址，程序将崩溃。</a:t>
            </a:r>
          </a:p>
        </p:txBody>
      </p:sp>
      <p:pic>
        <p:nvPicPr>
          <p:cNvPr id="141" name="Shape 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363" y="1017725"/>
            <a:ext cx="5934075" cy="116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1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攻击 2：将</a:t>
            </a:r>
            <a:r>
              <a:rPr lang="zh-CN" altLang="en-US" dirty="0"/>
              <a:t>栈上的</a:t>
            </a:r>
            <a:r>
              <a:rPr lang="zh-CN" dirty="0"/>
              <a:t>数据打印</a:t>
            </a:r>
            <a:r>
              <a:rPr lang="zh-CN" altLang="en-US" dirty="0"/>
              <a:t>输出</a:t>
            </a:r>
            <a:endParaRPr lang="en-GB" dirty="0"/>
          </a:p>
        </p:txBody>
      </p:sp>
      <p:sp>
        <p:nvSpPr>
          <p:cNvPr id="147" name="Shape 147"/>
          <p:cNvSpPr txBox="1">
            <a:spLocks noGrp="1"/>
          </p:cNvSpPr>
          <p:nvPr>
            <p:ph type="body" idx="1"/>
          </p:nvPr>
        </p:nvSpPr>
        <p:spPr>
          <a:xfrm>
            <a:off x="311700" y="2312250"/>
            <a:ext cx="8520600" cy="26436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</a:rPr>
              <a:t>假设栈上的一个变量包含一个秘密（常量），我们需要将其打印出来。</a:t>
            </a:r>
          </a:p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</a:rPr>
              <a:t>使用用户输入：</a:t>
            </a: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%x%x%x%x%x%x%x%x%x</a:t>
            </a:r>
            <a:endParaRPr lang="en-GB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0" indent="-342900">
              <a:spcAft>
                <a:spcPts val="0"/>
              </a:spcAft>
              <a:buClr>
                <a:srgbClr val="000000"/>
              </a:buClr>
            </a:pP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printf()</a:t>
            </a:r>
            <a:r>
              <a:rPr lang="zh-CN" dirty="0">
                <a:solidFill>
                  <a:srgbClr val="000000"/>
                </a:solidFill>
              </a:rPr>
              <a:t> 打印出</a:t>
            </a:r>
            <a:r>
              <a:rPr lang="zh-CN" dirty="0" err="1">
                <a:solidFill>
                  <a:srgbClr val="000000"/>
                </a:solidFill>
              </a:rPr>
              <a:t>va_list指针</a:t>
            </a:r>
            <a:r>
              <a:rPr lang="zh-CN" dirty="0">
                <a:solidFill>
                  <a:srgbClr val="000000"/>
                </a:solidFill>
              </a:rPr>
              <a:t>指向的整数值，并将其向前移动 4 个字节。</a:t>
            </a:r>
          </a:p>
          <a:p>
            <a:pPr marL="457200" lvl="0" indent="-342900">
              <a:spcBef>
                <a:spcPts val="0"/>
              </a:spcBef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%x</a:t>
            </a:r>
            <a:r>
              <a:rPr lang="zh-CN" dirty="0">
                <a:solidFill>
                  <a:srgbClr val="000000"/>
                </a:solidFill>
              </a:rPr>
              <a:t>的值由va_list的起始点到</a:t>
            </a:r>
            <a:r>
              <a:rPr lang="zh-CN" dirty="0" err="1">
                <a:solidFill>
                  <a:srgbClr val="000000"/>
                </a:solidFill>
              </a:rPr>
              <a:t>目标</a:t>
            </a:r>
            <a:r>
              <a:rPr lang="zh-CN" dirty="0">
                <a:solidFill>
                  <a:srgbClr val="000000"/>
                </a:solidFill>
              </a:rPr>
              <a:t>点的距离决定 指针和变量。这可以通过反复试验来实现。</a:t>
            </a:r>
          </a:p>
        </p:txBody>
      </p:sp>
      <p:pic>
        <p:nvPicPr>
          <p:cNvPr id="148" name="Shape 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449" y="1152475"/>
            <a:ext cx="8412849" cy="1025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5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攻击3：更改内存中</a:t>
            </a:r>
            <a:r>
              <a:rPr lang="zh-CN" altLang="en-US" dirty="0"/>
              <a:t>的数据</a:t>
            </a:r>
            <a:endParaRPr lang="en-GB" dirty="0"/>
          </a:p>
        </p:txBody>
      </p:sp>
      <p:sp>
        <p:nvSpPr>
          <p:cNvPr id="154" name="Shape 15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58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>
                <a:solidFill>
                  <a:srgbClr val="FF0000"/>
                </a:solidFill>
              </a:rPr>
              <a:t>目标：更改</a:t>
            </a:r>
            <a:r>
              <a:rPr lang="zh-CN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变量</a:t>
            </a:r>
            <a:r>
              <a:rPr lang="zh-CN" dirty="0">
                <a:solidFill>
                  <a:srgbClr val="FF0000"/>
                </a:solidFill>
              </a:rPr>
              <a:t>的值 变量从 0x11223344 变为其他值。</a:t>
            </a:r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CN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%n </a:t>
            </a:r>
            <a:r>
              <a:rPr lang="zh-CN" dirty="0">
                <a:solidFill>
                  <a:srgbClr val="000000"/>
                </a:solidFill>
              </a:rPr>
              <a:t>：将目前为止打印出的字符数写入内存。</a:t>
            </a:r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printf(“hello%n ”,</a:t>
            </a:r>
            <a:r>
              <a:rPr lang="zh-CN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&amp;i) </a:t>
            </a:r>
            <a:r>
              <a:rPr lang="zh-CN" dirty="0">
                <a:solidFill>
                  <a:srgbClr val="000000"/>
                </a:solidFill>
              </a:rPr>
              <a:t>⇒ 当 printf() 执行到</a:t>
            </a: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%n时</a:t>
            </a:r>
            <a:r>
              <a:rPr lang="zh-CN" dirty="0">
                <a:solidFill>
                  <a:srgbClr val="000000"/>
                </a:solidFill>
              </a:rPr>
              <a:t>，它已经打印了 5 个字符，因此它将 5 存储到提供的内存地址。</a:t>
            </a:r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%n将</a:t>
            </a:r>
            <a:r>
              <a:rPr lang="zh-CN" dirty="0" err="1">
                <a:solidFill>
                  <a:srgbClr val="000000"/>
                </a:solidFill>
              </a:rPr>
              <a:t>va_list</a:t>
            </a:r>
            <a:r>
              <a:rPr lang="zh-CN" dirty="0">
                <a:solidFill>
                  <a:srgbClr val="000000"/>
                </a:solidFill>
              </a:rPr>
              <a:t>指针指向的值视为内存地址，并写入该位置。</a:t>
            </a:r>
          </a:p>
          <a:p>
            <a:pPr marL="457200" lvl="0" indent="-342900" rtl="0">
              <a:spcBef>
                <a:spcPts val="0"/>
              </a:spcBef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</a:rPr>
              <a:t>因此，如果我们想向内存位置写入一个值，我们需要将该地址放在栈上。</a:t>
            </a:r>
            <a:endParaRPr lang="en-GB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15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-69850"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zh-CN" dirty="0"/>
              <a:t>攻击3：更改内存中</a:t>
            </a:r>
            <a:r>
              <a:rPr lang="zh-CN" altLang="en-US" dirty="0"/>
              <a:t>的数据</a:t>
            </a:r>
            <a:endParaRPr lang="en-GB" dirty="0"/>
          </a:p>
        </p:txBody>
      </p:sp>
      <p:sp>
        <p:nvSpPr>
          <p:cNvPr id="160" name="Shape 160"/>
          <p:cNvSpPr txBox="1">
            <a:spLocks noGrp="1"/>
          </p:cNvSpPr>
          <p:nvPr>
            <p:ph type="body" idx="1"/>
          </p:nvPr>
        </p:nvSpPr>
        <p:spPr>
          <a:xfrm>
            <a:off x="340400" y="2356800"/>
            <a:ext cx="8441400" cy="2360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CN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变量 var</a:t>
            </a:r>
            <a:r>
              <a:rPr lang="zh-CN" dirty="0">
                <a:solidFill>
                  <a:srgbClr val="000000"/>
                </a:solidFill>
              </a:rPr>
              <a:t>的地址在输入的开头给出，以便将其存储在栈上。</a:t>
            </a:r>
          </a:p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</a:rPr>
              <a:t>$(command ):命令替换。允许将命令的输出替换为命令本身。</a:t>
            </a:r>
          </a:p>
          <a:p>
            <a:pPr marL="457200" lvl="0" indent="-342900">
              <a:spcBef>
                <a:spcPts val="0"/>
              </a:spcBef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</a:rPr>
              <a:t>“ </a:t>
            </a: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\x04 </a:t>
            </a:r>
            <a:r>
              <a:rPr lang="zh-CN" dirty="0">
                <a:solidFill>
                  <a:srgbClr val="000000"/>
                </a:solidFill>
              </a:rPr>
              <a:t>”：表示“ </a:t>
            </a: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04 </a:t>
            </a:r>
            <a:r>
              <a:rPr lang="zh-CN" dirty="0">
                <a:solidFill>
                  <a:srgbClr val="000000"/>
                </a:solidFill>
              </a:rPr>
              <a:t>”是一个实际的数字，而不是两个</a:t>
            </a:r>
            <a:r>
              <a:rPr lang="zh-CN" dirty="0" err="1">
                <a:solidFill>
                  <a:srgbClr val="000000"/>
                </a:solidFill>
              </a:rPr>
              <a:t>ASCII</a:t>
            </a:r>
            <a:r>
              <a:rPr lang="zh-CN" dirty="0">
                <a:solidFill>
                  <a:srgbClr val="000000"/>
                </a:solidFill>
              </a:rPr>
              <a:t>字符。</a:t>
            </a:r>
          </a:p>
        </p:txBody>
      </p:sp>
      <p:pic>
        <p:nvPicPr>
          <p:cNvPr id="161" name="Shape 1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400" y="1821425"/>
            <a:ext cx="8520599" cy="31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Shape 162"/>
          <p:cNvSpPr txBox="1"/>
          <p:nvPr/>
        </p:nvSpPr>
        <p:spPr>
          <a:xfrm>
            <a:off x="300800" y="1107900"/>
            <a:ext cx="8520600" cy="445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r>
              <a:rPr lang="zh-CN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变量</a:t>
            </a:r>
            <a:r>
              <a:rPr lang="zh-CN" sz="1800" dirty="0"/>
              <a:t>的地址 是</a:t>
            </a:r>
            <a:r>
              <a:rPr 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0xbffff304</a:t>
            </a:r>
            <a:r>
              <a:rPr lang="zh-CN" sz="1800" dirty="0"/>
              <a:t> （可使用</a:t>
            </a:r>
            <a:r>
              <a:rPr lang="zh-CN" sz="1800" dirty="0" err="1"/>
              <a:t>gdb</a:t>
            </a:r>
            <a:r>
              <a:rPr lang="zh-CN" sz="1800" dirty="0"/>
              <a:t>获取）</a:t>
            </a:r>
            <a:endParaRPr lang="en-GB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16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-69850"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zh-CN" dirty="0"/>
              <a:t>攻击3：更改内存中</a:t>
            </a:r>
            <a:r>
              <a:rPr lang="zh-CN" altLang="en-US" dirty="0"/>
              <a:t>的数据</a:t>
            </a:r>
            <a:endParaRPr lang="en-GB" dirty="0"/>
          </a:p>
        </p:txBody>
      </p:sp>
      <p:pic>
        <p:nvPicPr>
          <p:cNvPr id="169" name="Shape 1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407" y="1086297"/>
            <a:ext cx="4506525" cy="35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Shape 168"/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4319023" cy="35811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zh-CN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变量</a:t>
            </a:r>
            <a:r>
              <a:rPr lang="zh-CN" dirty="0">
                <a:solidFill>
                  <a:srgbClr val="000000"/>
                </a:solidFill>
              </a:rPr>
              <a:t>的 地址（ </a:t>
            </a: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0xbffff304 </a:t>
            </a:r>
            <a:r>
              <a:rPr lang="zh-CN" dirty="0">
                <a:solidFill>
                  <a:srgbClr val="000000"/>
                </a:solidFill>
              </a:rPr>
              <a:t>）在栈上。</a:t>
            </a:r>
          </a:p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CN" b="1" dirty="0">
                <a:solidFill>
                  <a:srgbClr val="000000"/>
                </a:solidFill>
              </a:rPr>
              <a:t>目标：</a:t>
            </a:r>
            <a:r>
              <a:rPr lang="zh-CN" dirty="0">
                <a:solidFill>
                  <a:srgbClr val="000000"/>
                </a:solidFill>
              </a:rPr>
              <a:t>将</a:t>
            </a:r>
            <a:r>
              <a:rPr lang="zh-CN" dirty="0" err="1">
                <a:solidFill>
                  <a:srgbClr val="000000"/>
                </a:solidFill>
              </a:rPr>
              <a:t>va_list</a:t>
            </a:r>
            <a:r>
              <a:rPr lang="zh-CN" dirty="0">
                <a:solidFill>
                  <a:srgbClr val="000000"/>
                </a:solidFill>
              </a:rPr>
              <a:t>指针移动到此位置，然后使用</a:t>
            </a: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%n</a:t>
            </a:r>
            <a:r>
              <a:rPr lang="zh-CN" dirty="0">
                <a:solidFill>
                  <a:srgbClr val="000000"/>
                </a:solidFill>
              </a:rPr>
              <a:t> 存储一些值。</a:t>
            </a:r>
          </a:p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%x</a:t>
            </a:r>
            <a:r>
              <a:rPr lang="zh-CN" dirty="0">
                <a:solidFill>
                  <a:srgbClr val="000000"/>
                </a:solidFill>
              </a:rPr>
              <a:t>用于递增</a:t>
            </a:r>
            <a:r>
              <a:rPr lang="zh-CN" dirty="0" err="1">
                <a:solidFill>
                  <a:srgbClr val="000000"/>
                </a:solidFill>
              </a:rPr>
              <a:t>va_list</a:t>
            </a:r>
            <a:r>
              <a:rPr lang="zh-CN" dirty="0">
                <a:solidFill>
                  <a:srgbClr val="000000"/>
                </a:solidFill>
              </a:rPr>
              <a:t>指针。</a:t>
            </a:r>
          </a:p>
          <a:p>
            <a:pPr marL="457200" lvl="0" indent="-342900">
              <a:spcBef>
                <a:spcPts val="0"/>
              </a:spcBef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</a:rPr>
              <a:t>需要多少</a:t>
            </a: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%x？</a:t>
            </a:r>
          </a:p>
          <a:p>
            <a:pPr marL="0" lvl="0" indent="0">
              <a:spcBef>
                <a:spcPts val="0"/>
              </a:spcBef>
              <a:buNone/>
            </a:pP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-69850"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zh-CN" dirty="0"/>
              <a:t>攻击3：更改内存中</a:t>
            </a:r>
            <a:r>
              <a:rPr lang="zh-CN" altLang="en-US" dirty="0"/>
              <a:t>的数据</a:t>
            </a:r>
            <a:endParaRPr lang="en-GB" dirty="0"/>
          </a:p>
        </p:txBody>
      </p:sp>
      <p:sp>
        <p:nvSpPr>
          <p:cNvPr id="175" name="Shape 175"/>
          <p:cNvSpPr txBox="1">
            <a:spLocks noGrp="1"/>
          </p:cNvSpPr>
          <p:nvPr>
            <p:ph type="body" idx="1"/>
          </p:nvPr>
        </p:nvSpPr>
        <p:spPr>
          <a:xfrm>
            <a:off x="311700" y="2820475"/>
            <a:ext cx="8520600" cy="19911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</a:rPr>
              <a:t>我们通过反复试验，检查需要多少个</a:t>
            </a: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%x才能打印出0xbffff304 </a:t>
            </a:r>
            <a:r>
              <a:rPr lang="zh-CN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。</a:t>
            </a:r>
            <a:endParaRPr lang="en-GB" dirty="0">
              <a:solidFill>
                <a:srgbClr val="000000"/>
              </a:solidFill>
              <a:latin typeface="+mn-lt"/>
              <a:cs typeface="Courier New" panose="02070309020205020404" pitchFamily="49" charset="0"/>
            </a:endParaRPr>
          </a:p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</a:rPr>
              <a:t>这里我们需要6 个</a:t>
            </a:r>
            <a:r>
              <a:rPr lang="zh-CN" altLang="en-US" dirty="0">
                <a:solidFill>
                  <a:srgbClr val="000000"/>
                </a:solidFill>
              </a:rPr>
              <a:t>占位符</a:t>
            </a:r>
            <a:r>
              <a:rPr lang="zh-CN" dirty="0">
                <a:solidFill>
                  <a:srgbClr val="000000"/>
                </a:solidFill>
              </a:rPr>
              <a:t>，其中 5 个为</a:t>
            </a: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%x</a:t>
            </a:r>
            <a:r>
              <a:rPr lang="zh-CN" dirty="0">
                <a:solidFill>
                  <a:srgbClr val="000000"/>
                </a:solidFill>
              </a:rPr>
              <a:t>，1 个</a:t>
            </a: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为 %n </a:t>
            </a:r>
            <a:r>
              <a:rPr lang="zh-CN" dirty="0">
                <a:solidFill>
                  <a:srgbClr val="000000"/>
                </a:solidFill>
              </a:rPr>
              <a:t>。</a:t>
            </a:r>
          </a:p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</a:rPr>
              <a:t>攻击后，目标地址中的数据被修改为 0x2c（十进制为 44）。</a:t>
            </a:r>
          </a:p>
          <a:p>
            <a:pPr marL="457200" lvl="0" indent="-342900">
              <a:buClr>
                <a:srgbClr val="000000"/>
              </a:buClr>
            </a:pPr>
            <a:r>
              <a:rPr lang="zh-CN" dirty="0">
                <a:solidFill>
                  <a:srgbClr val="000000"/>
                </a:solidFill>
              </a:rPr>
              <a:t>因为在</a:t>
            </a: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%n</a:t>
            </a:r>
            <a:r>
              <a:rPr lang="zh-CN" dirty="0">
                <a:solidFill>
                  <a:srgbClr val="000000"/>
                </a:solidFill>
              </a:rPr>
              <a:t>之前已经打印出了 44 个字符。</a:t>
            </a:r>
            <a:endParaRPr lang="en-GB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None/>
            </a:pPr>
            <a:endParaRPr dirty="0"/>
          </a:p>
        </p:txBody>
      </p:sp>
      <p:pic>
        <p:nvPicPr>
          <p:cNvPr id="176" name="Shape 1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9" y="1081628"/>
            <a:ext cx="8520599" cy="1540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181"/>
          <p:cNvSpPr txBox="1">
            <a:spLocks noGrp="1"/>
          </p:cNvSpPr>
          <p:nvPr>
            <p:ph type="title"/>
          </p:nvPr>
        </p:nvSpPr>
        <p:spPr>
          <a:xfrm>
            <a:off x="234893" y="445025"/>
            <a:ext cx="8682604" cy="8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攻击4：将</a:t>
            </a:r>
            <a:r>
              <a:rPr lang="zh-CN" altLang="en-US" dirty="0"/>
              <a:t>内存中的数据改成制定的数值</a:t>
            </a:r>
            <a:endParaRPr lang="en-GB" dirty="0"/>
          </a:p>
        </p:txBody>
      </p:sp>
      <p:sp>
        <p:nvSpPr>
          <p:cNvPr id="182" name="Shape 182"/>
          <p:cNvSpPr txBox="1">
            <a:spLocks noGrp="1"/>
          </p:cNvSpPr>
          <p:nvPr>
            <p:ph type="body" idx="1"/>
          </p:nvPr>
        </p:nvSpPr>
        <p:spPr>
          <a:xfrm>
            <a:off x="311700" y="1188315"/>
            <a:ext cx="8520600" cy="9663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b="1" dirty="0">
                <a:solidFill>
                  <a:srgbClr val="FF0000"/>
                </a:solidFill>
              </a:rPr>
              <a:t>目标：更改</a:t>
            </a:r>
            <a:r>
              <a:rPr lang="zh-CN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变量</a:t>
            </a:r>
            <a:r>
              <a:rPr lang="zh-CN" b="1" dirty="0">
                <a:solidFill>
                  <a:srgbClr val="FF0000"/>
                </a:solidFill>
              </a:rPr>
              <a:t>的值 从</a:t>
            </a:r>
            <a:r>
              <a:rPr lang="zh-CN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0x11223344</a:t>
            </a:r>
            <a:r>
              <a:rPr lang="zh-CN" b="1" dirty="0">
                <a:solidFill>
                  <a:srgbClr val="FF0000"/>
                </a:solidFill>
                <a:latin typeface="+mn-lt"/>
                <a:cs typeface="Courier New" panose="02070309020205020404" pitchFamily="49" charset="0"/>
              </a:rPr>
              <a:t>到</a:t>
            </a:r>
            <a:r>
              <a:rPr lang="zh-CN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0x9896a9</a:t>
            </a:r>
            <a:endParaRPr lang="en-GB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83" name="Shape 1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24" y="1906459"/>
            <a:ext cx="8221651" cy="178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Shape 184"/>
          <p:cNvSpPr txBox="1"/>
          <p:nvPr/>
        </p:nvSpPr>
        <p:spPr>
          <a:xfrm>
            <a:off x="396775" y="3950468"/>
            <a:ext cx="8243886" cy="873202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printf ( )在%.10000000x之前</a:t>
            </a:r>
            <a:r>
              <a:rPr lang="zh-CN" sz="1800" dirty="0"/>
              <a:t>已经打印了 41 个字符，因此， </a:t>
            </a:r>
            <a:r>
              <a:rPr 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10000000+41 = 10000041 ( 0x9896a9)</a:t>
            </a:r>
            <a:r>
              <a:rPr lang="zh-CN" sz="1800" dirty="0"/>
              <a:t>将存储在</a:t>
            </a:r>
            <a:r>
              <a:rPr 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0xbffff304中</a:t>
            </a:r>
            <a:r>
              <a:rPr lang="zh-CN" sz="1800" dirty="0"/>
              <a:t>。</a:t>
            </a:r>
            <a:endParaRPr lang="en-GB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攻击方式 4：更快捷的进攻方式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511001" y="1551569"/>
            <a:ext cx="7604034" cy="2644369"/>
            <a:chOff x="640541" y="1551569"/>
            <a:chExt cx="7604034" cy="2644369"/>
          </a:xfrm>
        </p:grpSpPr>
        <p:pic>
          <p:nvPicPr>
            <p:cNvPr id="2" name="Picture 1" descr="Screen Clippi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541" y="1551569"/>
              <a:ext cx="3886537" cy="2644369"/>
            </a:xfrm>
            <a:prstGeom prst="rect">
              <a:avLst/>
            </a:prstGeom>
          </p:spPr>
        </p:pic>
        <p:pic>
          <p:nvPicPr>
            <p:cNvPr id="4" name="Picture 3" descr="Screen Clippi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63034" y="2303929"/>
              <a:ext cx="2781541" cy="1676545"/>
            </a:xfrm>
            <a:prstGeom prst="rect">
              <a:avLst/>
            </a:prstGeom>
          </p:spPr>
        </p:pic>
        <p:sp>
          <p:nvSpPr>
            <p:cNvPr id="5" name="Right Arrow 4"/>
            <p:cNvSpPr/>
            <p:nvPr/>
          </p:nvSpPr>
          <p:spPr>
            <a:xfrm>
              <a:off x="4634329" y="3041533"/>
              <a:ext cx="721453" cy="100668"/>
            </a:xfrm>
            <a:prstGeom prst="rightArrow">
              <a:avLst/>
            </a:prstGeom>
            <a:solidFill>
              <a:srgbClr val="002060"/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ight Arrow 7"/>
            <p:cNvSpPr/>
            <p:nvPr/>
          </p:nvSpPr>
          <p:spPr>
            <a:xfrm>
              <a:off x="4634328" y="3437214"/>
              <a:ext cx="721453" cy="100668"/>
            </a:xfrm>
            <a:prstGeom prst="rightArrow">
              <a:avLst/>
            </a:prstGeom>
            <a:solidFill>
              <a:srgbClr val="002060"/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ight Arrow 8"/>
            <p:cNvSpPr/>
            <p:nvPr/>
          </p:nvSpPr>
          <p:spPr>
            <a:xfrm>
              <a:off x="4634327" y="3832895"/>
              <a:ext cx="721453" cy="100668"/>
            </a:xfrm>
            <a:prstGeom prst="rightArrow">
              <a:avLst/>
            </a:prstGeom>
            <a:solidFill>
              <a:srgbClr val="002060"/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7701094" y="3596605"/>
              <a:ext cx="385893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7945772" y="3979600"/>
              <a:ext cx="166381" cy="874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2189782" y="2987319"/>
              <a:ext cx="166381" cy="874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V="1">
              <a:off x="2156762" y="3388360"/>
              <a:ext cx="327358" cy="279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V="1">
              <a:off x="2156762" y="3810000"/>
              <a:ext cx="427047" cy="282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-69850"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zh-CN" dirty="0"/>
              <a:t>攻击方式 4：更快捷的进攻方式</a:t>
            </a:r>
          </a:p>
        </p:txBody>
      </p:sp>
      <p:sp>
        <p:nvSpPr>
          <p:cNvPr id="196" name="Shape 19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01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变量</a:t>
            </a:r>
            <a:r>
              <a:rPr lang="zh-CN" b="1" dirty="0">
                <a:solidFill>
                  <a:srgbClr val="FF0000"/>
                </a:solidFill>
              </a:rPr>
              <a:t>的值更改为</a:t>
            </a:r>
            <a:r>
              <a:rPr lang="zh-CN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0x66887799</a:t>
            </a: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i="1" dirty="0">
              <a:solidFill>
                <a:srgbClr val="000000"/>
              </a:solidFill>
            </a:endParaRPr>
          </a:p>
          <a:p>
            <a: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zh-CN" dirty="0">
                <a:solidFill>
                  <a:srgbClr val="000000"/>
                </a:solidFill>
              </a:rPr>
              <a:t>使用</a:t>
            </a: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%hn </a:t>
            </a:r>
            <a:r>
              <a:rPr lang="zh-CN" dirty="0">
                <a:solidFill>
                  <a:srgbClr val="000000"/>
                </a:solidFill>
              </a:rPr>
              <a:t>每次修改变量</a:t>
            </a: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var两个字节。</a:t>
            </a: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00000"/>
              </a:solidFill>
            </a:endParaRPr>
          </a:p>
          <a:p>
            <a: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zh-CN" dirty="0">
                <a:solidFill>
                  <a:srgbClr val="000000"/>
                </a:solidFill>
              </a:rPr>
              <a:t>将变量</a:t>
            </a:r>
            <a:r>
              <a:rPr lang="zh-CN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zh-CN" dirty="0">
                <a:solidFill>
                  <a:srgbClr val="000000"/>
                </a:solidFill>
              </a:rPr>
              <a:t>的内存分成两部分，每部分两个字节。</a:t>
            </a: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00000"/>
              </a:solidFill>
            </a:endParaRPr>
          </a:p>
          <a:p>
            <a: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zh-CN" dirty="0">
                <a:solidFill>
                  <a:srgbClr val="000000"/>
                </a:solidFill>
              </a:rPr>
              <a:t>大多数计算机使用小端字节序架构</a:t>
            </a:r>
          </a:p>
          <a:p>
            <a:pPr marL="685800" lvl="1" indent="-228600">
              <a:lnSpc>
                <a:spcPct val="100000"/>
              </a:lnSpc>
              <a:spcAft>
                <a:spcPts val="0"/>
              </a:spcAft>
              <a:buClr>
                <a:srgbClr val="000000"/>
              </a:buClr>
              <a:buChar char="●"/>
            </a:pPr>
            <a:r>
              <a:rPr lang="zh-CN" dirty="0">
                <a:solidFill>
                  <a:srgbClr val="000000"/>
                </a:solidFill>
              </a:rPr>
              <a:t>最低两个字节（ </a:t>
            </a: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0x7799 </a:t>
            </a:r>
            <a:r>
              <a:rPr lang="zh-CN" dirty="0">
                <a:solidFill>
                  <a:srgbClr val="000000"/>
                </a:solidFill>
              </a:rPr>
              <a:t>）存储在地址</a:t>
            </a: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0xbffff304处。</a:t>
            </a:r>
            <a:r>
              <a:rPr lang="zh-CN" dirty="0">
                <a:solidFill>
                  <a:srgbClr val="000000"/>
                </a:solidFill>
              </a:rPr>
              <a:t> </a:t>
            </a:r>
            <a:endParaRPr lang="en-GB" dirty="0">
              <a:solidFill>
                <a:srgbClr val="000000"/>
              </a:solidFill>
            </a:endParaRPr>
          </a:p>
          <a:p>
            <a:pPr marL="685800" lvl="1" indent="-228600">
              <a:lnSpc>
                <a:spcPct val="100000"/>
              </a:lnSpc>
              <a:spcAft>
                <a:spcPts val="0"/>
              </a:spcAft>
              <a:buClr>
                <a:srgbClr val="000000"/>
              </a:buClr>
              <a:buChar char="●"/>
            </a:pPr>
            <a:r>
              <a:rPr lang="zh-CN" dirty="0">
                <a:solidFill>
                  <a:srgbClr val="000000"/>
                </a:solidFill>
              </a:rPr>
              <a:t>两个有效字节（ </a:t>
            </a: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0x6688 </a:t>
            </a:r>
            <a:r>
              <a:rPr lang="zh-CN" dirty="0">
                <a:solidFill>
                  <a:srgbClr val="000000"/>
                </a:solidFill>
              </a:rPr>
              <a:t>）存储在</a:t>
            </a: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0xbffff306处。</a:t>
            </a:r>
            <a:endParaRPr lang="en-GB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00000"/>
              </a:solidFill>
            </a:endParaRPr>
          </a:p>
          <a:p>
            <a: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zh-CN" dirty="0">
                <a:solidFill>
                  <a:srgbClr val="000000"/>
                </a:solidFill>
              </a:rPr>
              <a:t>如果第一个</a:t>
            </a: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%hn </a:t>
            </a:r>
            <a:r>
              <a:rPr lang="zh-CN" dirty="0">
                <a:solidFill>
                  <a:srgbClr val="000000"/>
                </a:solidFill>
              </a:rPr>
              <a:t>获取值</a:t>
            </a: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zh-CN" dirty="0">
                <a:solidFill>
                  <a:srgbClr val="000000"/>
                </a:solidFill>
              </a:rPr>
              <a:t>，在下一个</a:t>
            </a: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%hn之前，</a:t>
            </a:r>
            <a:r>
              <a:rPr lang="zh-CN" dirty="0">
                <a:solidFill>
                  <a:srgbClr val="000000"/>
                </a:solidFill>
              </a:rPr>
              <a:t>还会打印t个字符，第二个</a:t>
            </a: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 hn </a:t>
            </a:r>
            <a:r>
              <a:rPr lang="zh-CN" dirty="0">
                <a:solidFill>
                  <a:srgbClr val="000000"/>
                </a:solidFill>
              </a:rPr>
              <a:t>将得到值</a:t>
            </a: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x+t </a:t>
            </a:r>
            <a:r>
              <a:rPr lang="zh-CN" dirty="0">
                <a:solidFill>
                  <a:srgbClr val="000000"/>
                </a:solidFill>
              </a:rPr>
              <a:t>。</a:t>
            </a:r>
            <a:endParaRPr lang="en-GB" dirty="0">
              <a:solidFill>
                <a:srgbClr val="000000"/>
              </a:solidFill>
            </a:endParaRP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None/>
            </a:pP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-69850"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zh-CN" dirty="0"/>
              <a:t>攻击方式 4：更快捷的进攻方式</a:t>
            </a:r>
          </a:p>
        </p:txBody>
      </p:sp>
      <p:sp>
        <p:nvSpPr>
          <p:cNvPr id="202" name="Shape 20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0xbffff306</a:t>
            </a:r>
            <a:r>
              <a:rPr lang="zh-CN" dirty="0">
                <a:solidFill>
                  <a:srgbClr val="000000"/>
                </a:solidFill>
              </a:rPr>
              <a:t>处的字节 使用0x6688。</a:t>
            </a:r>
          </a:p>
          <a:p>
            <a:pPr marL="457200" lvl="0" indent="-342900">
              <a:spcBef>
                <a:spcPts val="0"/>
              </a:spcBef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</a:rPr>
              <a:t>再打印一些字符，以便当我们到达</a:t>
            </a: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0xbffff304时</a:t>
            </a:r>
            <a:r>
              <a:rPr lang="zh-CN" dirty="0">
                <a:solidFill>
                  <a:srgbClr val="000000"/>
                </a:solidFill>
              </a:rPr>
              <a:t>，字符数将增加到 0x7799。</a:t>
            </a:r>
          </a:p>
          <a:p>
            <a:pPr marL="0" lvl="0" indent="0">
              <a:spcBef>
                <a:spcPts val="0"/>
              </a:spcBef>
              <a:buNone/>
            </a:pPr>
            <a:endParaRPr dirty="0"/>
          </a:p>
        </p:txBody>
      </p:sp>
      <p:pic>
        <p:nvPicPr>
          <p:cNvPr id="203" name="Shape 2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975" y="2214125"/>
            <a:ext cx="8020050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Shape 2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975" y="4153875"/>
            <a:ext cx="8095549" cy="54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209"/>
          <p:cNvSpPr txBox="1">
            <a:spLocks noGrp="1"/>
          </p:cNvSpPr>
          <p:nvPr>
            <p:ph type="title"/>
          </p:nvPr>
        </p:nvSpPr>
        <p:spPr>
          <a:xfrm>
            <a:off x="311700" y="27637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-69850"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zh-CN"/>
              <a:t>攻击 4：快速接近</a:t>
            </a:r>
          </a:p>
        </p:txBody>
      </p:sp>
      <p:pic>
        <p:nvPicPr>
          <p:cNvPr id="210" name="Shape 2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849075"/>
            <a:ext cx="7150001" cy="276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Shape 211"/>
          <p:cNvSpPr txBox="1"/>
          <p:nvPr/>
        </p:nvSpPr>
        <p:spPr>
          <a:xfrm>
            <a:off x="465000" y="3670160"/>
            <a:ext cx="8214000" cy="13209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CN" dirty="0" err="1"/>
              <a:t>变量</a:t>
            </a:r>
            <a:r>
              <a:rPr lang="zh-CN" dirty="0"/>
              <a:t>地址的第一部分（4 个字符）</a:t>
            </a:r>
          </a:p>
          <a:p>
            <a: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CN" dirty="0" err="1"/>
              <a:t>变量</a:t>
            </a:r>
            <a:r>
              <a:rPr lang="zh-CN" dirty="0"/>
              <a:t>地址的第二部分（4 个字符）</a:t>
            </a:r>
          </a:p>
          <a:p>
            <a: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CN" dirty="0"/>
              <a:t>4%.8x：将</a:t>
            </a:r>
            <a:r>
              <a:rPr lang="zh-CN" dirty="0" err="1"/>
              <a:t>va_list移动</a:t>
            </a:r>
            <a:r>
              <a:rPr lang="zh-CN" dirty="0"/>
              <a:t>到地址 1（反复试验，4x8=32）</a:t>
            </a:r>
          </a:p>
          <a:p>
            <a: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CN" dirty="0"/>
              <a:t>@@@@：4 个字符</a:t>
            </a:r>
          </a:p>
          <a:p>
            <a: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CN" dirty="0"/>
              <a:t>5_：5个字符</a:t>
            </a:r>
          </a:p>
          <a:p>
            <a:pPr marL="457200" lvl="0" indent="-317500">
              <a:spcBef>
                <a:spcPts val="0"/>
              </a:spcBef>
              <a:buSzPts val="1400"/>
              <a:buChar char="●"/>
            </a:pPr>
            <a:r>
              <a:rPr lang="zh-CN" dirty="0"/>
              <a:t>总计：12+5+32=49 个字符</a:t>
            </a:r>
          </a:p>
          <a:p>
            <a:pPr marL="0" lvl="0" indent="0">
              <a:spcBef>
                <a:spcPts val="0"/>
              </a:spcBef>
              <a:buNone/>
            </a:pP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2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-69850"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zh-CN"/>
              <a:t>攻击 4：快速接近</a:t>
            </a:r>
          </a:p>
        </p:txBody>
      </p:sp>
      <p:sp>
        <p:nvSpPr>
          <p:cNvPr id="217" name="Shape 2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889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</a:rPr>
              <a:t>要打印 0x6688 (26248)，我们需要 26248 - 49 = 26199 个字符作为 %x 的精度字段。</a:t>
            </a:r>
          </a:p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</a:rPr>
              <a:t>在第一个地址后使用 % </a:t>
            </a:r>
            <a:r>
              <a:rPr lang="zh-CN" dirty="0" err="1">
                <a:solidFill>
                  <a:srgbClr val="000000"/>
                </a:solidFill>
              </a:rPr>
              <a:t>hn ，则va_list</a:t>
            </a:r>
            <a:r>
              <a:rPr lang="zh-CN" dirty="0">
                <a:solidFill>
                  <a:srgbClr val="000000"/>
                </a:solidFill>
              </a:rPr>
              <a:t>将指向第二个地址，并且将存储相同的值。</a:t>
            </a:r>
          </a:p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</a:rPr>
              <a:t>因此，我们在两个地址之间插入 @@@@，以便我们可以再插入一个 %x，并将打印字符数增加到0x7799。</a:t>
            </a:r>
          </a:p>
          <a:p>
            <a:pPr marL="457200" lvl="0" indent="-342900" rtl="0">
              <a:spcBef>
                <a:spcPts val="0"/>
              </a:spcBef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</a:rPr>
              <a:t>在第一个 % </a:t>
            </a:r>
            <a:r>
              <a:rPr lang="zh-CN" dirty="0" err="1">
                <a:solidFill>
                  <a:srgbClr val="000000"/>
                </a:solidFill>
              </a:rPr>
              <a:t>hn之后</a:t>
            </a:r>
            <a:r>
              <a:rPr lang="zh-CN" dirty="0">
                <a:solidFill>
                  <a:srgbClr val="000000"/>
                </a:solidFill>
              </a:rPr>
              <a:t>， </a:t>
            </a:r>
            <a:r>
              <a:rPr lang="zh-CN" dirty="0" err="1">
                <a:solidFill>
                  <a:srgbClr val="000000"/>
                </a:solidFill>
              </a:rPr>
              <a:t>va_list</a:t>
            </a:r>
            <a:r>
              <a:rPr lang="zh-CN" dirty="0">
                <a:solidFill>
                  <a:srgbClr val="000000"/>
                </a:solidFill>
              </a:rPr>
              <a:t>指针指向 @@@@，指针将前进到第二个地址。精度字段设置为 4368 = 30617 - 26248 - 1，以便在到达第二个 % </a:t>
            </a:r>
            <a:r>
              <a:rPr lang="zh-CN" dirty="0" err="1">
                <a:solidFill>
                  <a:srgbClr val="000000"/>
                </a:solidFill>
              </a:rPr>
              <a:t>hn时打印 0x7799 (30617) </a:t>
            </a:r>
            <a:r>
              <a:rPr lang="zh-CN" dirty="0">
                <a:solidFill>
                  <a:srgbClr val="000000"/>
                </a:solidFill>
              </a:rPr>
              <a:t>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2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/>
              <a:t>攻击 5：注入恶意代码</a:t>
            </a:r>
          </a:p>
        </p:txBody>
      </p:sp>
      <p:sp>
        <p:nvSpPr>
          <p:cNvPr id="223" name="Shape 2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b="1" dirty="0">
                <a:solidFill>
                  <a:srgbClr val="000000"/>
                </a:solidFill>
              </a:rPr>
              <a:t>目标：</a:t>
            </a:r>
            <a:r>
              <a:rPr lang="zh-CN" dirty="0">
                <a:solidFill>
                  <a:srgbClr val="000000"/>
                </a:solidFill>
              </a:rPr>
              <a:t>修改易受攻击代码的返回地址，使其指向恶意代码（例如， </a:t>
            </a:r>
            <a:r>
              <a:rPr lang="zh-CN" dirty="0" err="1">
                <a:solidFill>
                  <a:srgbClr val="000000"/>
                </a:solidFill>
              </a:rPr>
              <a:t>shellcode） 。</a:t>
            </a:r>
            <a:r>
              <a:rPr lang="zh-CN" dirty="0">
                <a:solidFill>
                  <a:srgbClr val="000000"/>
                </a:solidFill>
              </a:rPr>
              <a:t> 执行 /bin/ </a:t>
            </a:r>
            <a:r>
              <a:rPr lang="zh-CN" dirty="0" err="1">
                <a:solidFill>
                  <a:srgbClr val="000000"/>
                </a:solidFill>
              </a:rPr>
              <a:t>sh ）。如果存在漏洞的代码是</a:t>
            </a:r>
            <a:r>
              <a:rPr lang="zh-CN" dirty="0">
                <a:solidFill>
                  <a:srgbClr val="000000"/>
                </a:solidFill>
              </a:rPr>
              <a:t>SET-UID 程序，则</a:t>
            </a:r>
            <a:endParaRPr lang="en-GB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None/>
            </a:pPr>
            <a:r>
              <a:rPr lang="zh-CN" b="1" dirty="0">
                <a:solidFill>
                  <a:srgbClr val="000000"/>
                </a:solidFill>
              </a:rPr>
              <a:t>挑战：</a:t>
            </a:r>
          </a:p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</a:rPr>
              <a:t>在栈中注入恶意代码</a:t>
            </a:r>
          </a:p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</a:rPr>
              <a:t>找到注入代码的起始地址 (A)</a:t>
            </a:r>
          </a:p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</a:rPr>
              <a:t>找到易受攻击代码的返回地址 (B)</a:t>
            </a:r>
          </a:p>
          <a:p>
            <a:pPr marL="457200" lvl="0" indent="-342900">
              <a:spcBef>
                <a:spcPts val="0"/>
              </a:spcBef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</a:rPr>
              <a:t>将值 A 写入 B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-69850"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zh-CN"/>
              <a:t>攻击 5：注入恶意代码</a:t>
            </a:r>
          </a:p>
        </p:txBody>
      </p:sp>
      <p:sp>
        <p:nvSpPr>
          <p:cNvPr id="229" name="Shape 2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</a:rPr>
              <a:t>使用</a:t>
            </a:r>
            <a:r>
              <a:rPr lang="zh-CN" dirty="0" err="1">
                <a:solidFill>
                  <a:srgbClr val="000000"/>
                </a:solidFill>
              </a:rPr>
              <a:t>gdb</a:t>
            </a:r>
            <a:r>
              <a:rPr lang="zh-CN" dirty="0">
                <a:solidFill>
                  <a:srgbClr val="000000"/>
                </a:solidFill>
              </a:rPr>
              <a:t> 获取恶意代码的返回地址和起始地址。</a:t>
            </a:r>
            <a:endParaRPr lang="en-GB" dirty="0">
              <a:solidFill>
                <a:srgbClr val="000000"/>
              </a:solidFill>
            </a:endParaRPr>
          </a:p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</a:rPr>
              <a:t>假设</a:t>
            </a:r>
            <a:r>
              <a:rPr lang="zh-CN" altLang="en-US" dirty="0">
                <a:solidFill>
                  <a:srgbClr val="000000"/>
                </a:solidFill>
              </a:rPr>
              <a:t>返回</a:t>
            </a:r>
            <a:r>
              <a:rPr lang="zh-CN" dirty="0">
                <a:solidFill>
                  <a:srgbClr val="000000"/>
                </a:solidFill>
              </a:rPr>
              <a:t>地址为</a:t>
            </a:r>
            <a:r>
              <a:rPr lang="zh-CN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0xbffff38c</a:t>
            </a:r>
          </a:p>
          <a:p>
            <a: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</a:rPr>
              <a:t>假设恶意代码的起始地址为</a:t>
            </a:r>
            <a:r>
              <a:rPr lang="zh-CN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0xbfff358</a:t>
            </a:r>
          </a:p>
          <a:p>
            <a:pPr marL="114300"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endParaRPr lang="en-GB" dirty="0">
              <a:solidFill>
                <a:srgbClr val="000000"/>
              </a:solidFill>
            </a:endParaRPr>
          </a:p>
          <a:p>
            <a:pPr marL="0" lvl="0" indent="0">
              <a:spcBef>
                <a:spcPts val="0"/>
              </a:spcBef>
              <a:buNone/>
            </a:pPr>
            <a:r>
              <a:rPr lang="zh-CN" b="1" dirty="0">
                <a:solidFill>
                  <a:srgbClr val="FF0000"/>
                </a:solidFill>
              </a:rPr>
              <a:t>目标：</a:t>
            </a:r>
            <a:r>
              <a:rPr lang="zh-CN" dirty="0">
                <a:solidFill>
                  <a:srgbClr val="FF0000"/>
                </a:solidFill>
              </a:rPr>
              <a:t>写入值</a:t>
            </a:r>
            <a:r>
              <a:rPr lang="zh-CN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0xbffff358</a:t>
            </a:r>
            <a:r>
              <a:rPr lang="zh-CN" dirty="0">
                <a:solidFill>
                  <a:srgbClr val="FF0000"/>
                </a:solidFill>
              </a:rPr>
              <a:t> 到地址</a:t>
            </a:r>
            <a:r>
              <a:rPr lang="zh-CN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0xbffff38c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zh-CN" b="1" dirty="0">
                <a:solidFill>
                  <a:srgbClr val="000000"/>
                </a:solidFill>
              </a:rPr>
              <a:t>步骤：</a:t>
            </a:r>
          </a:p>
          <a:p>
            <a:pPr marL="457200" indent="-342900">
              <a:spcAft>
                <a:spcPts val="0"/>
              </a:spcAft>
              <a:buClr>
                <a:srgbClr val="000000"/>
              </a:buClr>
            </a:pPr>
            <a:r>
              <a:rPr lang="zh-CN" altLang="en-US" dirty="0">
                <a:solidFill>
                  <a:srgbClr val="000000"/>
                </a:solidFill>
              </a:rPr>
              <a:t>把返回地址</a:t>
            </a:r>
            <a:r>
              <a:rPr lang="zh-CN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0xbffff38c</a:t>
            </a:r>
            <a:r>
              <a:rPr lang="zh-CN" dirty="0">
                <a:solidFill>
                  <a:srgbClr val="000000"/>
                </a:solidFill>
              </a:rPr>
              <a:t> </a:t>
            </a:r>
            <a:r>
              <a:rPr lang="zh-CN" altLang="en-US" dirty="0">
                <a:solidFill>
                  <a:srgbClr val="000000"/>
                </a:solidFill>
              </a:rPr>
              <a:t>切分</a:t>
            </a:r>
            <a:r>
              <a:rPr lang="zh-CN" dirty="0">
                <a:solidFill>
                  <a:srgbClr val="000000"/>
                </a:solidFill>
              </a:rPr>
              <a:t>成两个连续的 2 字节内存位置： </a:t>
            </a: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0xbffff38c</a:t>
            </a:r>
            <a:r>
              <a:rPr lang="zh-CN" dirty="0">
                <a:solidFill>
                  <a:srgbClr val="000000"/>
                </a:solidFill>
              </a:rPr>
              <a:t>和</a:t>
            </a: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0xbffff38e </a:t>
            </a:r>
            <a:r>
              <a:rPr lang="zh-CN" dirty="0">
                <a:solidFill>
                  <a:srgbClr val="000000"/>
                </a:solidFill>
              </a:rPr>
              <a:t>。</a:t>
            </a:r>
          </a:p>
          <a:p>
            <a:pPr marL="457200" lvl="0" indent="-342900">
              <a:spcBef>
                <a:spcPts val="0"/>
              </a:spcBef>
              <a:buClr>
                <a:srgbClr val="000000"/>
              </a:buClr>
              <a:buSzPts val="1800"/>
              <a:buChar char="●"/>
            </a:pPr>
            <a:r>
              <a:rPr lang="zh-CN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0xbfff</a:t>
            </a:r>
            <a:r>
              <a:rPr lang="zh-CN" dirty="0">
                <a:solidFill>
                  <a:srgbClr val="000000"/>
                </a:solidFill>
              </a:rPr>
              <a:t>存储到</a:t>
            </a:r>
            <a:r>
              <a:rPr lang="zh-CN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0xbffff38e </a:t>
            </a:r>
            <a:r>
              <a:rPr lang="zh-CN" dirty="0">
                <a:solidFill>
                  <a:srgbClr val="000000"/>
                </a:solidFill>
              </a:rPr>
              <a:t>，将</a:t>
            </a:r>
            <a:r>
              <a:rPr lang="zh-CN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0xf358存储</a:t>
            </a:r>
            <a:r>
              <a:rPr lang="zh-CN" dirty="0">
                <a:solidFill>
                  <a:srgbClr val="000000"/>
                </a:solidFill>
              </a:rPr>
              <a:t>到</a:t>
            </a:r>
            <a:r>
              <a:rPr lang="zh-CN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0xbffff38c</a:t>
            </a:r>
          </a:p>
          <a:p>
            <a:pPr marL="0" lvl="0" indent="0">
              <a:spcBef>
                <a:spcPts val="0"/>
              </a:spcBef>
              <a:buNone/>
            </a:pPr>
            <a:endParaRPr dirty="0"/>
          </a:p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2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/>
              <a:t>攻击 5：注入恶意代码</a:t>
            </a:r>
          </a:p>
        </p:txBody>
      </p:sp>
      <p:sp>
        <p:nvSpPr>
          <p:cNvPr id="236" name="Shape 236"/>
          <p:cNvSpPr txBox="1"/>
          <p:nvPr/>
        </p:nvSpPr>
        <p:spPr>
          <a:xfrm>
            <a:off x="507225" y="1779056"/>
            <a:ext cx="4829700" cy="180783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17500">
              <a:spcBef>
                <a:spcPts val="0"/>
              </a:spcBef>
              <a:buSzPts val="1400"/>
              <a:buChar char="●"/>
            </a:pPr>
            <a:r>
              <a:rPr 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% </a:t>
            </a:r>
            <a:r>
              <a:rPr 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hn</a:t>
            </a:r>
            <a:r>
              <a:rPr lang="zh-CN" dirty="0"/>
              <a:t>之前打印的字符数</a:t>
            </a:r>
            <a:r>
              <a:rPr 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zh-CN" dirty="0"/>
              <a:t>=</a:t>
            </a:r>
          </a:p>
          <a:p>
            <a:pPr marL="0" lvl="0" indent="457200">
              <a:spcBef>
                <a:spcPts val="0"/>
              </a:spcBef>
              <a:buNone/>
            </a:pPr>
            <a:r>
              <a:rPr lang="zh-CN" dirty="0"/>
              <a:t>12 + (4x8) + 5 + 49102 = 49151 ( </a:t>
            </a:r>
            <a:r>
              <a:rPr 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0xbfff </a:t>
            </a:r>
            <a:r>
              <a:rPr lang="zh-CN" dirty="0"/>
              <a:t>)。</a:t>
            </a:r>
          </a:p>
          <a:p>
            <a:pPr marL="0" lvl="0" indent="0">
              <a:spcBef>
                <a:spcPts val="0"/>
              </a:spcBef>
              <a:buNone/>
            </a:pPr>
            <a:endParaRPr dirty="0"/>
          </a:p>
          <a:p>
            <a:pPr marL="457200" lvl="0" indent="-317500">
              <a:spcBef>
                <a:spcPts val="0"/>
              </a:spcBef>
              <a:buSzPts val="1400"/>
              <a:buChar char="●"/>
            </a:pPr>
            <a:r>
              <a:rPr 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% </a:t>
            </a:r>
            <a:r>
              <a:rPr 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hn</a:t>
            </a:r>
            <a:r>
              <a:rPr lang="zh-CN" dirty="0"/>
              <a:t>之后，打印出 13144 + 1 = 13145。</a:t>
            </a:r>
          </a:p>
          <a:p>
            <a:pPr marL="0" lvl="0" indent="0">
              <a:spcBef>
                <a:spcPts val="0"/>
              </a:spcBef>
              <a:buNone/>
            </a:pPr>
            <a:endParaRPr dirty="0"/>
          </a:p>
          <a:p>
            <a:pPr marL="457200" lvl="0" indent="-317500">
              <a:spcBef>
                <a:spcPts val="0"/>
              </a:spcBef>
              <a:buSzPts val="1400"/>
              <a:buChar char="●"/>
            </a:pPr>
            <a:r>
              <a:rPr lang="zh-CN" dirty="0"/>
              <a:t>49151 + 13145 = 62296 ( </a:t>
            </a:r>
            <a:r>
              <a:rPr 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0xbffff358 </a:t>
            </a:r>
            <a:r>
              <a:rPr lang="zh-CN" dirty="0"/>
              <a:t>) 打印在</a:t>
            </a:r>
            <a:r>
              <a:rPr 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0xbffff38c上</a:t>
            </a:r>
          </a:p>
        </p:txBody>
      </p:sp>
      <p:pic>
        <p:nvPicPr>
          <p:cNvPr id="237" name="Shape 2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2355" y="1476371"/>
            <a:ext cx="3549945" cy="241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Shape 26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应对措施：开发商</a:t>
            </a:r>
            <a:endParaRPr lang="en-GB" dirty="0"/>
          </a:p>
        </p:txBody>
      </p:sp>
      <p:sp>
        <p:nvSpPr>
          <p:cNvPr id="270" name="Shape 27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897305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42900">
              <a:spcBef>
                <a:spcPts val="0"/>
              </a:spcBef>
              <a:buClr>
                <a:srgbClr val="000000"/>
              </a:buClr>
              <a:buSzPts val="1800"/>
              <a:buChar char="●"/>
            </a:pPr>
            <a:r>
              <a:rPr lang="zh-CN" dirty="0">
                <a:solidFill>
                  <a:srgbClr val="000000"/>
                </a:solidFill>
              </a:rPr>
              <a:t>避免在</a:t>
            </a: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 、 </a:t>
            </a:r>
            <a:r>
              <a:rPr lang="zh-CN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sprintf </a:t>
            </a: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、 </a:t>
            </a:r>
            <a:r>
              <a:rPr lang="zh-CN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fprintf </a:t>
            </a: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、 </a:t>
            </a:r>
            <a:r>
              <a:rPr lang="zh-CN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vprintf </a:t>
            </a: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、 </a:t>
            </a:r>
            <a:r>
              <a:rPr lang="zh-CN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scanf </a:t>
            </a: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、 </a:t>
            </a:r>
            <a:r>
              <a:rPr lang="zh-CN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vfscanf</a:t>
            </a:r>
            <a:r>
              <a:rPr lang="zh-CN" dirty="0">
                <a:solidFill>
                  <a:srgbClr val="000000"/>
                </a:solidFill>
              </a:rPr>
              <a:t>等函数中使用不受信任的用户输入作为格式字符串</a:t>
            </a: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。</a:t>
            </a:r>
          </a:p>
          <a:p>
            <a:pPr marL="0" lvl="0" indent="0">
              <a:spcBef>
                <a:spcPts val="0"/>
              </a:spcBef>
              <a:buNone/>
            </a:pPr>
            <a:endParaRPr dirty="0"/>
          </a:p>
        </p:txBody>
      </p:sp>
      <p:pic>
        <p:nvPicPr>
          <p:cNvPr id="271" name="Shape 2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660" y="2184530"/>
            <a:ext cx="8670474" cy="2056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Shape 27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altLang="en-US" dirty="0"/>
              <a:t>应对措施</a:t>
            </a:r>
            <a:r>
              <a:rPr lang="zh-CN" dirty="0"/>
              <a:t>：编译器</a:t>
            </a:r>
            <a:endParaRPr lang="en-GB" dirty="0"/>
          </a:p>
        </p:txBody>
      </p:sp>
      <p:pic>
        <p:nvPicPr>
          <p:cNvPr id="277" name="Shape 2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443" y="1975250"/>
            <a:ext cx="5575057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Shape 2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450" y="2547950"/>
            <a:ext cx="5575050" cy="1545728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Shape 279"/>
          <p:cNvSpPr txBox="1"/>
          <p:nvPr/>
        </p:nvSpPr>
        <p:spPr>
          <a:xfrm>
            <a:off x="381050" y="1143345"/>
            <a:ext cx="8520600" cy="594016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sz="2000" dirty="0"/>
              <a:t>编译器可以检测潜在的格式字符串漏洞</a:t>
            </a:r>
            <a:endParaRPr lang="en-GB" sz="2000" dirty="0"/>
          </a:p>
        </p:txBody>
      </p:sp>
      <p:sp>
        <p:nvSpPr>
          <p:cNvPr id="280" name="Shape 280"/>
          <p:cNvSpPr txBox="1"/>
          <p:nvPr/>
        </p:nvSpPr>
        <p:spPr>
          <a:xfrm>
            <a:off x="6033350" y="1899541"/>
            <a:ext cx="2868300" cy="2194137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42900">
              <a:spcBef>
                <a:spcPts val="0"/>
              </a:spcBef>
              <a:buSzPts val="1800"/>
              <a:buChar char="●"/>
            </a:pPr>
            <a:r>
              <a:rPr lang="zh-CN" sz="1800" dirty="0"/>
              <a:t>使用两个编译器编译程序： </a:t>
            </a:r>
            <a:r>
              <a:rPr lang="zh-CN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gcc</a:t>
            </a:r>
            <a:r>
              <a:rPr lang="zh-CN" sz="1800" dirty="0"/>
              <a:t>和</a:t>
            </a:r>
            <a:r>
              <a:rPr 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clang </a:t>
            </a:r>
            <a:r>
              <a:rPr lang="zh-CN" sz="1800" dirty="0"/>
              <a:t>。</a:t>
            </a:r>
          </a:p>
          <a:p>
            <a:pPr marL="0" lvl="0" indent="0">
              <a:spcBef>
                <a:spcPts val="0"/>
              </a:spcBef>
              <a:buNone/>
            </a:pPr>
            <a:endParaRPr sz="1800" dirty="0"/>
          </a:p>
          <a:p>
            <a:pPr marL="457200" lvl="0" indent="-342900">
              <a:spcBef>
                <a:spcPts val="0"/>
              </a:spcBef>
              <a:buSzPts val="1800"/>
              <a:buChar char="●"/>
            </a:pPr>
            <a:r>
              <a:rPr lang="zh-CN" sz="1800" dirty="0"/>
              <a:t>我们可以看到格式字符串存在不匹配。</a:t>
            </a:r>
            <a:endParaRPr lang="en-GB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Shape 28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altLang="en-US" dirty="0"/>
              <a:t>应对措施</a:t>
            </a:r>
            <a:r>
              <a:rPr lang="zh-CN" dirty="0"/>
              <a:t>：编译器</a:t>
            </a:r>
            <a:endParaRPr lang="en-GB" dirty="0"/>
          </a:p>
        </p:txBody>
      </p:sp>
      <p:pic>
        <p:nvPicPr>
          <p:cNvPr id="286" name="Shape 2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720" y="1132970"/>
            <a:ext cx="6424380" cy="219758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Shape 287"/>
          <p:cNvSpPr txBox="1"/>
          <p:nvPr/>
        </p:nvSpPr>
        <p:spPr>
          <a:xfrm>
            <a:off x="311700" y="3608870"/>
            <a:ext cx="7770170" cy="96313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17500">
              <a:spcBef>
                <a:spcPts val="0"/>
              </a:spcBef>
              <a:buSzPts val="1400"/>
              <a:buChar char="●"/>
            </a:pPr>
            <a:r>
              <a:rPr lang="zh-CN" dirty="0"/>
              <a:t>默认设置下，两个编译器都对第一个</a:t>
            </a:r>
            <a:r>
              <a:rPr 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printf()发出警告</a:t>
            </a:r>
            <a:r>
              <a:rPr lang="zh-CN" dirty="0"/>
              <a:t>。</a:t>
            </a:r>
            <a:endParaRPr lang="en-GB" dirty="0"/>
          </a:p>
          <a:p>
            <a:pPr marL="0" lvl="0" indent="0">
              <a:spcBef>
                <a:spcPts val="0"/>
              </a:spcBef>
              <a:buNone/>
            </a:pPr>
            <a:endParaRPr dirty="0"/>
          </a:p>
          <a:p>
            <a:pPr marL="457200" lvl="0" indent="-317500">
              <a:spcBef>
                <a:spcPts val="0"/>
              </a:spcBef>
              <a:buSzPts val="1400"/>
              <a:buChar char="●"/>
            </a:pPr>
            <a:r>
              <a:rPr lang="zh-CN" dirty="0"/>
              <a:t>第二次事故没有发出任何警告。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Shape 28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altLang="en-US" dirty="0"/>
              <a:t>应对措施</a:t>
            </a:r>
            <a:r>
              <a:rPr lang="zh-CN" dirty="0"/>
              <a:t>：编译器</a:t>
            </a:r>
            <a:endParaRPr lang="en-GB" dirty="0"/>
          </a:p>
        </p:txBody>
      </p:sp>
      <p:pic>
        <p:nvPicPr>
          <p:cNvPr id="288" name="Shape 2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794" y="1083550"/>
            <a:ext cx="6636186" cy="239879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Shape 289"/>
          <p:cNvSpPr txBox="1"/>
          <p:nvPr/>
        </p:nvSpPr>
        <p:spPr>
          <a:xfrm>
            <a:off x="215590" y="3550919"/>
            <a:ext cx="8349290" cy="146296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17500">
              <a:spcBef>
                <a:spcPts val="0"/>
              </a:spcBef>
              <a:buSzPts val="1400"/>
              <a:buChar char="●"/>
            </a:pPr>
            <a:r>
              <a:rPr lang="zh-CN" dirty="0"/>
              <a:t>当给出选项</a:t>
            </a:r>
            <a:r>
              <a:rPr 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wformat </a:t>
            </a:r>
            <a:r>
              <a:rPr 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=2 时</a:t>
            </a:r>
            <a:r>
              <a:rPr lang="zh-CN" dirty="0"/>
              <a:t>，两个编译器都会对两个</a:t>
            </a:r>
            <a:r>
              <a:rPr 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zh-CN" dirty="0"/>
              <a:t>语句发出警告，指出格式字符串不是字符串字面量。</a:t>
            </a:r>
          </a:p>
          <a:p>
            <a:pPr marL="0" lvl="0" indent="0">
              <a:spcBef>
                <a:spcPts val="0"/>
              </a:spcBef>
              <a:buNone/>
            </a:pPr>
            <a:endParaRPr dirty="0"/>
          </a:p>
          <a:p>
            <a:pPr marL="457200" lvl="0" indent="-317500">
              <a:spcBef>
                <a:spcPts val="0"/>
              </a:spcBef>
              <a:buSzPts val="1400"/>
              <a:buChar char="●"/>
            </a:pPr>
            <a:r>
              <a:rPr lang="zh-CN" dirty="0"/>
              <a:t>这些警告只是提醒开发者可能存在问题，但仍然需要编译程序。</a:t>
            </a:r>
          </a:p>
          <a:p>
            <a:pPr marL="0" lvl="0" indent="0">
              <a:spcBef>
                <a:spcPts val="0"/>
              </a:spcBef>
              <a:buNone/>
            </a:pPr>
            <a:endParaRPr dirty="0"/>
          </a:p>
          <a:p>
            <a:pPr marL="0" lvl="0" indent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009014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Shape 29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/>
              <a:t>应对措施</a:t>
            </a:r>
          </a:p>
        </p:txBody>
      </p:sp>
      <p:sp>
        <p:nvSpPr>
          <p:cNvPr id="295" name="Shape 29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085540" cy="3416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285750" indent="-285750"/>
            <a:r>
              <a:rPr lang="zh-CN" b="1" dirty="0">
                <a:solidFill>
                  <a:srgbClr val="000000"/>
                </a:solidFill>
              </a:rPr>
              <a:t>地址随机化</a:t>
            </a:r>
            <a:r>
              <a:rPr lang="zh-CN" dirty="0">
                <a:solidFill>
                  <a:srgbClr val="000000"/>
                </a:solidFill>
              </a:rPr>
              <a:t>：使攻击者难以猜测目标内存的地址（返回地址、恶意代码地址）。</a:t>
            </a:r>
          </a:p>
          <a:p>
            <a:pPr marL="285750" indent="-285750"/>
            <a:r>
              <a:rPr lang="zh-CN" b="1" dirty="0">
                <a:solidFill>
                  <a:srgbClr val="000000"/>
                </a:solidFill>
              </a:rPr>
              <a:t>不可执行的栈/堆</a:t>
            </a:r>
            <a:r>
              <a:rPr lang="zh-CN" dirty="0">
                <a:solidFill>
                  <a:srgbClr val="000000"/>
                </a:solidFill>
              </a:rPr>
              <a:t>：这种方法行不通。攻击者可以使用返回</a:t>
            </a:r>
            <a:r>
              <a:rPr lang="zh-CN" dirty="0" err="1">
                <a:solidFill>
                  <a:srgbClr val="000000"/>
                </a:solidFill>
              </a:rPr>
              <a:t>libc 的</a:t>
            </a:r>
            <a:r>
              <a:rPr lang="zh-CN" dirty="0">
                <a:solidFill>
                  <a:srgbClr val="000000"/>
                </a:solidFill>
              </a:rPr>
              <a:t>技术来绕过这种防御措施。</a:t>
            </a:r>
          </a:p>
          <a:p>
            <a:pPr marL="285750" indent="-285750"/>
            <a:r>
              <a:rPr lang="zh-CN" b="1" dirty="0" err="1">
                <a:solidFill>
                  <a:srgbClr val="000000"/>
                </a:solidFill>
              </a:rPr>
              <a:t>StackGuard </a:t>
            </a:r>
            <a:r>
              <a:rPr lang="zh-CN" dirty="0">
                <a:solidFill>
                  <a:srgbClr val="000000"/>
                </a:solidFill>
              </a:rPr>
              <a:t>：这种方法行不通。与缓冲区溢出不同，利用格式字符串漏洞，我们可以确保只有目标内存被修改，而不会影响其他内存。</a:t>
            </a:r>
            <a:endParaRPr lang="en-GB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概括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fontAlgn="ctr"/>
            <a:r>
              <a:rPr lang="zh-CN" dirty="0"/>
              <a:t>格式字符串的工作</a:t>
            </a:r>
            <a:endParaRPr lang="en-US" dirty="0"/>
          </a:p>
          <a:p>
            <a:pPr marL="228600" indent="-228600" fontAlgn="ctr"/>
            <a:r>
              <a:rPr lang="zh-CN" dirty="0"/>
              <a:t>格式字符串漏洞</a:t>
            </a:r>
            <a:endParaRPr lang="en-US" sz="1400" dirty="0"/>
          </a:p>
          <a:p>
            <a:pPr marL="228600" indent="-228600" fontAlgn="ctr"/>
            <a:r>
              <a:rPr lang="zh-CN" dirty="0"/>
              <a:t>利用漏洞​</a:t>
            </a:r>
          </a:p>
          <a:p>
            <a:pPr marL="228600" indent="-228600" fontAlgn="ctr"/>
            <a:r>
              <a:rPr lang="zh-CN" dirty="0"/>
              <a:t>利用漏洞注入恶意代码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53428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2189</Words>
  <Application>Microsoft Macintosh PowerPoint</Application>
  <PresentationFormat>全屏显示(16:9)</PresentationFormat>
  <Paragraphs>172</Paragraphs>
  <Slides>33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36" baseType="lpstr">
      <vt:lpstr>Arial</vt:lpstr>
      <vt:lpstr>Courier New</vt:lpstr>
      <vt:lpstr>Simple Light</vt:lpstr>
      <vt:lpstr>格式字符串漏洞</vt:lpstr>
      <vt:lpstr>大纲</vt:lpstr>
      <vt:lpstr>格式字符串</vt:lpstr>
      <vt:lpstr>访问可选参数​</vt:lpstr>
      <vt:lpstr>访问可选参数​</vt:lpstr>
      <vt:lpstr>printf </vt:lpstr>
      <vt:lpstr>printf </vt:lpstr>
      <vt:lpstr>缺少可选参数</vt:lpstr>
      <vt:lpstr>格式字符串漏洞</vt:lpstr>
      <vt:lpstr>有漏洞的代码</vt:lpstr>
      <vt:lpstr>漏洞程序的攻击策略</vt:lpstr>
      <vt:lpstr>我们能取得什么成就？</vt:lpstr>
      <vt:lpstr>攻击 1：崩溃程序</vt:lpstr>
      <vt:lpstr>攻击 2：将栈上的数据打印输出</vt:lpstr>
      <vt:lpstr>攻击3：更改内存中的数据</vt:lpstr>
      <vt:lpstr>攻击3：更改内存中的数据</vt:lpstr>
      <vt:lpstr>攻击3：更改内存中的数据</vt:lpstr>
      <vt:lpstr>攻击3：更改内存中的数据</vt:lpstr>
      <vt:lpstr>攻击4：将内存中的数据改成制定的数值</vt:lpstr>
      <vt:lpstr>攻击方式 4：更快捷的进攻方式</vt:lpstr>
      <vt:lpstr>攻击方式 4：更快捷的进攻方式</vt:lpstr>
      <vt:lpstr>攻击方式 4：更快捷的进攻方式</vt:lpstr>
      <vt:lpstr>攻击 4：快速接近</vt:lpstr>
      <vt:lpstr>攻击 4：快速接近</vt:lpstr>
      <vt:lpstr>攻击 5：注入恶意代码</vt:lpstr>
      <vt:lpstr>攻击 5：注入恶意代码</vt:lpstr>
      <vt:lpstr>攻击 5：注入恶意代码</vt:lpstr>
      <vt:lpstr>应对措施：开发商</vt:lpstr>
      <vt:lpstr>应对措施：编译器</vt:lpstr>
      <vt:lpstr>应对措施：编译器</vt:lpstr>
      <vt:lpstr>应对措施：编译器</vt:lpstr>
      <vt:lpstr>应对措施</vt:lpstr>
      <vt:lpstr>概括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 String Vulnerability</dc:title>
  <cp:lastModifiedBy>Microsoft Office User</cp:lastModifiedBy>
  <cp:revision>21</cp:revision>
  <dcterms:modified xsi:type="dcterms:W3CDTF">2026-04-09T06:50:36Z</dcterms:modified>
</cp:coreProperties>
</file>