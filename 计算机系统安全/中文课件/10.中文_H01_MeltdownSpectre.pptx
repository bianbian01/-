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7" r:id="rId3"/>
    <p:sldId id="291" r:id="rId4"/>
    <p:sldId id="292" r:id="rId5"/>
    <p:sldId id="293" r:id="rId6"/>
    <p:sldId id="294" r:id="rId7"/>
    <p:sldId id="295" r:id="rId8"/>
    <p:sldId id="298" r:id="rId9"/>
    <p:sldId id="296" r:id="rId10"/>
    <p:sldId id="297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290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29"/>
    <p:restoredTop sz="94687"/>
  </p:normalViewPr>
  <p:slideViewPr>
    <p:cSldViewPr snapToGrid="0">
      <p:cViewPr varScale="1">
        <p:scale>
          <a:sx n="72" d="100"/>
          <a:sy n="72" d="100"/>
        </p:scale>
        <p:origin x="232" y="1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6T01:28:23.169"/>
    </inkml:context>
    <inkml:brush xml:id="br0">
      <inkml:brushProperty name="width" value="0.1" units="cm"/>
      <inkml:brushProperty name="height" value="0.1" units="cm"/>
      <inkml:brushProperty name="color" value="#3165BB"/>
    </inkml:brush>
  </inkml:definitions>
  <inkml:trace contextRef="#ctx0" brushRef="#br0">1 1,'13110'0,"-13110"13147,-13110-13147,13110-13147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6T01:28:23.176"/>
    </inkml:context>
    <inkml:brush xml:id="br0">
      <inkml:brushProperty name="width" value="0.1" units="cm"/>
      <inkml:brushProperty name="height" value="0.1" units="cm"/>
      <inkml:brushProperty name="color" value="#3165BB"/>
    </inkml:brush>
  </inkml:definitions>
  <inkml:trace contextRef="#ctx0" brushRef="#br0">1 1,'13309'0,"-13309"13148,-13309-13148,13309-13148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070110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4155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4db1095c5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4db1095c58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g4db1095c58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6402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68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5026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5140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customXml" Target="../ink/ink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tmp"/><Relationship Id="rId5" Type="http://schemas.openxmlformats.org/officeDocument/2006/relationships/image" Target="../media/image4.jpeg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tmp"/><Relationship Id="rId4" Type="http://schemas.openxmlformats.org/officeDocument/2006/relationships/image" Target="../media/image18.tm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tm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mp"/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249810" y="2450538"/>
            <a:ext cx="9144000" cy="137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altLang="zh-CN" dirty="0"/>
              <a:t>Meltdown</a:t>
            </a:r>
            <a:r>
              <a:rPr lang="zh-CN" dirty="0"/>
              <a:t>与</a:t>
            </a:r>
            <a:r>
              <a:rPr lang="en-US" altLang="zh-CN" dirty="0" err="1"/>
              <a:t>Spectre</a:t>
            </a:r>
            <a:r>
              <a:rPr lang="zh-CN" altLang="en-US" dirty="0"/>
              <a:t>攻击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/>
              <a:t>概述</a:t>
            </a:r>
            <a:endParaRPr dirty="0"/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zh-CN" altLang="en-US" dirty="0"/>
              <a:t>一个类比的例子</a:t>
            </a:r>
            <a:endParaRPr lang="zh-CN" dirty="0"/>
          </a:p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zh-CN" dirty="0"/>
              <a:t>CPU缓存</a:t>
            </a:r>
            <a:r>
              <a:rPr lang="zh-CN" altLang="en-US" dirty="0"/>
              <a:t>与</a:t>
            </a:r>
            <a:r>
              <a:rPr lang="zh-CN" dirty="0"/>
              <a:t>侧信道</a:t>
            </a:r>
            <a:r>
              <a:rPr lang="zh-CN" altLang="en-US" dirty="0"/>
              <a:t>（</a:t>
            </a:r>
            <a:r>
              <a:rPr lang="en-US" altLang="zh-CN" dirty="0"/>
              <a:t>Side </a:t>
            </a:r>
            <a:r>
              <a:rPr lang="en-US" altLang="zh-CN" dirty="0" err="1"/>
              <a:t>Chennel</a:t>
            </a:r>
            <a:r>
              <a:rPr lang="zh-CN" altLang="en-US" dirty="0"/>
              <a:t>）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altLang="zh-CN" dirty="0"/>
              <a:t>Meltdown</a:t>
            </a:r>
            <a:r>
              <a:rPr lang="zh-CN" dirty="0"/>
              <a:t>攻击</a:t>
            </a:r>
            <a:r>
              <a:rPr lang="zh-CN" altLang="en-US" dirty="0"/>
              <a:t>（熔断攻击）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altLang="zh-CN" dirty="0" err="1"/>
              <a:t>Spectre</a:t>
            </a:r>
            <a:r>
              <a:rPr lang="zh-CN" dirty="0"/>
              <a:t>攻击</a:t>
            </a:r>
            <a:r>
              <a:rPr lang="zh-CN" altLang="en-US" dirty="0"/>
              <a:t>（幽灵攻击）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微软面试题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30093" y="3843814"/>
          <a:ext cx="6731813" cy="314960"/>
        </p:xfrm>
        <a:graphic>
          <a:graphicData uri="http://schemas.openxmlformats.org/drawingml/2006/table">
            <a:tbl>
              <a:tblPr/>
              <a:tblGrid>
                <a:gridCol w="2250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7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4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dirty="0">
                        <a:effectLst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>
                        <a:effectLst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dirty="0">
                        <a:effectLst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25" name="Picture 1" descr="Machine generated alternative text:&#10;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293" y="1944500"/>
            <a:ext cx="1758752" cy="24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achine generated alternative text:&#10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007" y="1877310"/>
            <a:ext cx="1745231" cy="24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Machine generated alternative text:&#10;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44501"/>
            <a:ext cx="1758752" cy="24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0850" y="2011823"/>
            <a:ext cx="1413774" cy="22957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/>
              <p14:cNvContentPartPr/>
              <p14:nvPr/>
            </p14:nvContentPartPr>
            <p14:xfrm>
              <a:off x="6633882" y="1559858"/>
              <a:ext cx="4719918" cy="4733365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15882" y="1541858"/>
                <a:ext cx="4755918" cy="476936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5395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窃取秘密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30093" y="3843814"/>
          <a:ext cx="6731813" cy="314960"/>
        </p:xfrm>
        <a:graphic>
          <a:graphicData uri="http://schemas.openxmlformats.org/drawingml/2006/table">
            <a:tbl>
              <a:tblPr/>
              <a:tblGrid>
                <a:gridCol w="2250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7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4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dirty="0">
                        <a:effectLst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>
                        <a:effectLst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dirty="0">
                        <a:effectLst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27" name="Picture 3" descr="Machine generated alternative text:&#10;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87" y="1944500"/>
            <a:ext cx="1012676" cy="139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6562165" y="1690687"/>
              <a:ext cx="4791635" cy="4733365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44165" y="1672688"/>
                <a:ext cx="4827635" cy="4769363"/>
              </a:xfrm>
              <a:prstGeom prst="rect">
                <a:avLst/>
              </a:prstGeom>
            </p:spPr>
          </p:pic>
        </mc:Fallback>
      </mc:AlternateContent>
      <p:pic>
        <p:nvPicPr>
          <p:cNvPr id="2052" name="Picture 4" descr="Related im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862" y="4522738"/>
            <a:ext cx="1496605" cy="171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791658" y="2073087"/>
            <a:ext cx="16225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2800" dirty="0"/>
              <a:t>秘密： </a:t>
            </a:r>
            <a:r>
              <a:rPr lang="zh-CN" sz="2800" dirty="0">
                <a:solidFill>
                  <a:srgbClr val="FF0000"/>
                </a:solidFill>
              </a:rPr>
              <a:t>7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12" name="Picture 3" descr="Machine generated alternative text:&#10;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197" y="1975524"/>
            <a:ext cx="1012676" cy="139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" descr="Machine generated alternative text:&#10;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032" y="1944499"/>
            <a:ext cx="1012676" cy="139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Machine generated alternative text:&#10;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534" y="1944498"/>
            <a:ext cx="1012676" cy="139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Machine generated alternative text:&#10;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637" y="1975524"/>
            <a:ext cx="1012676" cy="139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Machine generated alternative text:&#10;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60" y="3566617"/>
            <a:ext cx="1012676" cy="139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3" descr="Machine generated alternative text:&#10;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70" y="3597641"/>
            <a:ext cx="1012676" cy="139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3" descr="Machine generated alternative text:&#10;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605" y="3566616"/>
            <a:ext cx="1012676" cy="139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3" descr="Machine generated alternative text:&#10;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107" y="3566615"/>
            <a:ext cx="1012676" cy="139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3" descr="Machine generated alternative text:&#10;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7210" y="3597641"/>
            <a:ext cx="1012676" cy="139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8723725" y="1994242"/>
            <a:ext cx="2470686" cy="1633064"/>
            <a:chOff x="8222123" y="2527298"/>
            <a:chExt cx="2470686" cy="1633064"/>
          </a:xfrm>
        </p:grpSpPr>
        <p:grpSp>
          <p:nvGrpSpPr>
            <p:cNvPr id="9" name="Group 8"/>
            <p:cNvGrpSpPr/>
            <p:nvPr/>
          </p:nvGrpSpPr>
          <p:grpSpPr>
            <a:xfrm>
              <a:off x="8222124" y="2527298"/>
              <a:ext cx="2470685" cy="816533"/>
              <a:chOff x="8222124" y="2527298"/>
              <a:chExt cx="2470685" cy="816533"/>
            </a:xfrm>
          </p:grpSpPr>
          <p:pic>
            <p:nvPicPr>
              <p:cNvPr id="8" name="Picture 7" descr="Screen Clipping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8222124" y="2527300"/>
                <a:ext cx="494137" cy="816531"/>
              </a:xfrm>
              <a:prstGeom prst="rect">
                <a:avLst/>
              </a:prstGeom>
            </p:spPr>
          </p:pic>
          <p:pic>
            <p:nvPicPr>
              <p:cNvPr id="26" name="Picture 25" descr="Screen Clipping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8716261" y="2527299"/>
                <a:ext cx="494137" cy="816531"/>
              </a:xfrm>
              <a:prstGeom prst="rect">
                <a:avLst/>
              </a:prstGeom>
            </p:spPr>
          </p:pic>
          <p:pic>
            <p:nvPicPr>
              <p:cNvPr id="27" name="Picture 26" descr="Screen Clipping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9210398" y="2527299"/>
                <a:ext cx="494137" cy="816531"/>
              </a:xfrm>
              <a:prstGeom prst="rect">
                <a:avLst/>
              </a:prstGeom>
            </p:spPr>
          </p:pic>
          <p:pic>
            <p:nvPicPr>
              <p:cNvPr id="28" name="Picture 27" descr="Screen Clipping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9704535" y="2527298"/>
                <a:ext cx="494137" cy="816531"/>
              </a:xfrm>
              <a:prstGeom prst="rect">
                <a:avLst/>
              </a:prstGeom>
            </p:spPr>
          </p:pic>
          <p:pic>
            <p:nvPicPr>
              <p:cNvPr id="29" name="Picture 28" descr="Screen Clipping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10198672" y="2527298"/>
                <a:ext cx="494137" cy="816531"/>
              </a:xfrm>
              <a:prstGeom prst="rect">
                <a:avLst/>
              </a:prstGeom>
            </p:spPr>
          </p:pic>
        </p:grpSp>
        <p:grpSp>
          <p:nvGrpSpPr>
            <p:cNvPr id="39" name="Group 38"/>
            <p:cNvGrpSpPr/>
            <p:nvPr/>
          </p:nvGrpSpPr>
          <p:grpSpPr>
            <a:xfrm>
              <a:off x="8222123" y="3343829"/>
              <a:ext cx="2470685" cy="816533"/>
              <a:chOff x="8222124" y="2527298"/>
              <a:chExt cx="2470685" cy="816533"/>
            </a:xfrm>
          </p:grpSpPr>
          <p:pic>
            <p:nvPicPr>
              <p:cNvPr id="40" name="Picture 39" descr="Screen Clipping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8222124" y="2527300"/>
                <a:ext cx="494137" cy="816531"/>
              </a:xfrm>
              <a:prstGeom prst="rect">
                <a:avLst/>
              </a:prstGeom>
            </p:spPr>
          </p:pic>
          <p:pic>
            <p:nvPicPr>
              <p:cNvPr id="41" name="Picture 40" descr="Screen Clipping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8716261" y="2527299"/>
                <a:ext cx="494137" cy="816531"/>
              </a:xfrm>
              <a:prstGeom prst="rect">
                <a:avLst/>
              </a:prstGeom>
            </p:spPr>
          </p:pic>
          <p:pic>
            <p:nvPicPr>
              <p:cNvPr id="42" name="Picture 41" descr="Screen Clipping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9210398" y="2527299"/>
                <a:ext cx="494137" cy="816531"/>
              </a:xfrm>
              <a:prstGeom prst="rect">
                <a:avLst/>
              </a:prstGeom>
            </p:spPr>
          </p:pic>
          <p:pic>
            <p:nvPicPr>
              <p:cNvPr id="43" name="Picture 42" descr="Screen Clipping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9704535" y="2527298"/>
                <a:ext cx="494137" cy="816531"/>
              </a:xfrm>
              <a:prstGeom prst="rect">
                <a:avLst/>
              </a:prstGeom>
            </p:spPr>
          </p:pic>
          <p:pic>
            <p:nvPicPr>
              <p:cNvPr id="44" name="Picture 43" descr="Screen Clipping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10198672" y="2527298"/>
                <a:ext cx="494137" cy="816531"/>
              </a:xfrm>
              <a:prstGeom prst="rect">
                <a:avLst/>
              </a:prstGeom>
            </p:spPr>
          </p:pic>
        </p:grpSp>
      </p:grpSp>
      <p:sp>
        <p:nvSpPr>
          <p:cNvPr id="11" name="TextBox 10"/>
          <p:cNvSpPr txBox="1"/>
          <p:nvPr/>
        </p:nvSpPr>
        <p:spPr>
          <a:xfrm>
            <a:off x="7147898" y="4522737"/>
            <a:ext cx="14798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1800" dirty="0"/>
              <a:t>守卫</a:t>
            </a:r>
            <a:r>
              <a:rPr lang="en-US" altLang="zh-CN" sz="1800" dirty="0"/>
              <a:t>Guard</a:t>
            </a:r>
            <a:endParaRPr lang="zh-CN" sz="1800" dirty="0"/>
          </a:p>
          <a:p>
            <a:r>
              <a:rPr lang="zh-CN" sz="1800" dirty="0"/>
              <a:t>记忆</a:t>
            </a:r>
            <a:r>
              <a:rPr lang="en-US" altLang="zh-CN" sz="1800" dirty="0"/>
              <a:t>Memory</a:t>
            </a:r>
            <a:endParaRPr lang="zh-CN" sz="1800" dirty="0"/>
          </a:p>
          <a:p>
            <a:r>
              <a:rPr lang="zh-CN" sz="1800" dirty="0"/>
              <a:t>橡皮</a:t>
            </a:r>
            <a:r>
              <a:rPr lang="en-US" altLang="zh-CN" sz="1800" dirty="0"/>
              <a:t>Eraser</a:t>
            </a:r>
            <a:endParaRPr lang="en-US" sz="1800" dirty="0"/>
          </a:p>
        </p:txBody>
      </p:sp>
      <p:sp>
        <p:nvSpPr>
          <p:cNvPr id="21" name="TextBox 20"/>
          <p:cNvSpPr txBox="1"/>
          <p:nvPr/>
        </p:nvSpPr>
        <p:spPr>
          <a:xfrm>
            <a:off x="8723725" y="5731555"/>
            <a:ext cx="2374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2400" dirty="0"/>
              <a:t>限制</a:t>
            </a:r>
            <a:r>
              <a:rPr lang="zh-CN" altLang="en-US" sz="2400" dirty="0"/>
              <a:t>进入的</a:t>
            </a:r>
            <a:r>
              <a:rPr lang="zh-CN" sz="2400" dirty="0"/>
              <a:t>房间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9390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CPU缓存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545" y="2170359"/>
            <a:ext cx="10278909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939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从灯光到 CPU 缓存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520390"/>
            <a:ext cx="10515600" cy="2293657"/>
          </a:xfrm>
        </p:spPr>
        <p:txBody>
          <a:bodyPr/>
          <a:lstStyle/>
          <a:p>
            <a:pPr marL="50800" indent="0">
              <a:buNone/>
            </a:pPr>
            <a:r>
              <a:rPr lang="zh-CN" sz="4000" b="1" dirty="0"/>
              <a:t>问题</a:t>
            </a:r>
          </a:p>
          <a:p>
            <a:pPr marL="50800" indent="0">
              <a:buNone/>
            </a:pPr>
            <a:endParaRPr lang="en-US" dirty="0"/>
          </a:p>
          <a:p>
            <a:pPr marL="50800" indent="0">
              <a:buNone/>
            </a:pPr>
            <a:r>
              <a:rPr lang="zh-CN" dirty="0"/>
              <a:t>你刚刚得知了一个秘密数字7，你想记住它。然而，你的记忆将被清除，你所做的一切操作都将被撤销（CPU缓存除外）。在关于这个秘密数字的记忆被清除后，你该如何找回它？</a:t>
            </a:r>
            <a:endParaRPr lang="en-US" dirty="0"/>
          </a:p>
        </p:txBody>
      </p:sp>
      <p:pic>
        <p:nvPicPr>
          <p:cNvPr id="3076" name="Picture 4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1" y="2040918"/>
            <a:ext cx="1376424" cy="1527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4202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利用 CPU 缓存记住秘密信息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340" y="1993899"/>
            <a:ext cx="10400930" cy="411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62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清</a:t>
            </a:r>
            <a:r>
              <a:rPr lang="zh-CN" dirty="0"/>
              <a:t>洗+重新</a:t>
            </a:r>
            <a:r>
              <a:rPr lang="zh-CN" altLang="en-US" dirty="0"/>
              <a:t>加载</a:t>
            </a:r>
            <a:r>
              <a:rPr lang="zh-CN" dirty="0"/>
              <a:t>技术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06033" y="3074894"/>
            <a:ext cx="2644588" cy="1425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</a:rPr>
              <a:t>清</a:t>
            </a:r>
            <a:r>
              <a:rPr lang="zh-CN" sz="2400" b="1" dirty="0">
                <a:solidFill>
                  <a:srgbClr val="FF0000"/>
                </a:solidFill>
              </a:rPr>
              <a:t>洗：</a:t>
            </a:r>
          </a:p>
          <a:p>
            <a:pPr algn="ctr"/>
            <a:r>
              <a:rPr lang="zh-CN" altLang="en-US" sz="2400" dirty="0"/>
              <a:t>清</a:t>
            </a:r>
            <a:r>
              <a:rPr lang="zh-CN" sz="2400" dirty="0"/>
              <a:t>洗</a:t>
            </a:r>
          </a:p>
          <a:p>
            <a:pPr algn="ctr"/>
            <a:r>
              <a:rPr lang="zh-CN" sz="2400" dirty="0"/>
              <a:t>CPU缓存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8149479" y="3074894"/>
            <a:ext cx="2644588" cy="1425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400" b="1" dirty="0">
                <a:solidFill>
                  <a:srgbClr val="FF0000"/>
                </a:solidFill>
              </a:rPr>
              <a:t>重新加载：</a:t>
            </a:r>
          </a:p>
          <a:p>
            <a:pPr algn="ctr"/>
            <a:r>
              <a:rPr lang="zh-CN" sz="2400" dirty="0"/>
              <a:t>检查缓存中哪个</a:t>
            </a:r>
            <a:r>
              <a:rPr lang="zh-CN" altLang="en-US" sz="2400" dirty="0"/>
              <a:t>位置刚刚被访问了</a:t>
            </a:r>
            <a:r>
              <a:rPr lang="zh-CN" sz="2400" dirty="0"/>
              <a:t>。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4652684" y="3074894"/>
            <a:ext cx="2644588" cy="1425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访问</a:t>
            </a:r>
            <a:r>
              <a:rPr lang="zh-CN" sz="2400" dirty="0">
                <a:solidFill>
                  <a:srgbClr val="FF0000"/>
                </a:solidFill>
              </a:rPr>
              <a:t>S</a:t>
            </a:r>
            <a:r>
              <a:rPr lang="zh-CN" altLang="en-US" sz="2400" dirty="0">
                <a:solidFill>
                  <a:srgbClr val="FF0000"/>
                </a:solidFill>
              </a:rPr>
              <a:t>指向的内存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75477" y="2022709"/>
            <a:ext cx="1241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2800" dirty="0">
                <a:solidFill>
                  <a:schemeClr val="tx1"/>
                </a:solidFill>
              </a:rPr>
              <a:t>秘密</a:t>
            </a:r>
            <a:r>
              <a:rPr lang="zh-CN" altLang="en-US" sz="2800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S</a:t>
            </a:r>
            <a:r>
              <a:rPr lang="zh-CN" sz="2800" b="1" dirty="0">
                <a:solidFill>
                  <a:srgbClr val="FF0000"/>
                </a:solidFill>
              </a:rPr>
              <a:t>​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6378389" y="2558348"/>
            <a:ext cx="183775" cy="3934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3981450" y="3629025"/>
            <a:ext cx="590550" cy="361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7428100" y="3629025"/>
            <a:ext cx="590550" cy="361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83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清</a:t>
            </a:r>
            <a:r>
              <a:rPr lang="zh-CN" dirty="0"/>
              <a:t>洗+重新加载：</a:t>
            </a:r>
            <a:r>
              <a:rPr lang="zh-CN" altLang="en-US" dirty="0"/>
              <a:t>清</a:t>
            </a:r>
            <a:r>
              <a:rPr lang="zh-CN" dirty="0"/>
              <a:t>洗步骤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68075" y="1891261"/>
            <a:ext cx="3163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2400" dirty="0"/>
              <a:t>清除 CPU 缓存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75" y="2491944"/>
            <a:ext cx="9840698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479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冲洗+重新装弹：重新</a:t>
            </a:r>
            <a:r>
              <a:rPr lang="zh-CN" altLang="en-US" dirty="0"/>
              <a:t>装载</a:t>
            </a:r>
            <a:r>
              <a:rPr lang="zh-CN" dirty="0"/>
              <a:t>步骤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187" y="1788850"/>
            <a:ext cx="8568812" cy="462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117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213951" y="2513291"/>
            <a:ext cx="9144000" cy="137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zh-CN" altLang="en-US" dirty="0"/>
              <a:t>熔断</a:t>
            </a:r>
            <a:r>
              <a:rPr lang="zh-CN" dirty="0"/>
              <a:t>攻击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2953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保安室和保安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899" y="2759640"/>
            <a:ext cx="6220693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510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保持生存： C语言</a:t>
            </a:r>
            <a:endParaRPr lang="en-US" dirty="0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529" y="1477604"/>
            <a:ext cx="7734680" cy="518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1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乱序执行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63" y="1595811"/>
            <a:ext cx="9057741" cy="484562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429" y="1846823"/>
            <a:ext cx="4481948" cy="91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6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乱序执行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853934" y="2704781"/>
            <a:ext cx="74554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3600" dirty="0">
                <a:latin typeface="Calibri" panose="020F0502020204030204" pitchFamily="34" charset="0"/>
              </a:rPr>
              <a:t>如何证明发生了乱序执行？</a:t>
            </a:r>
          </a:p>
        </p:txBody>
      </p:sp>
      <p:pic>
        <p:nvPicPr>
          <p:cNvPr id="4" name="Picture 4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884" y="2247105"/>
            <a:ext cx="1761564" cy="1954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4957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757316"/>
            <a:ext cx="6578507" cy="15691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乱序执行实验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97816"/>
            <a:ext cx="7444090" cy="2252372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H="1">
            <a:off x="5952565" y="5253318"/>
            <a:ext cx="1533184" cy="50202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85749" y="4963179"/>
            <a:ext cx="41440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2800" dirty="0"/>
              <a:t>出现紊乱迹象</a:t>
            </a:r>
          </a:p>
          <a:p>
            <a:r>
              <a:rPr lang="zh-CN" sz="2800" dirty="0"/>
              <a:t>执行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43955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熔断</a:t>
            </a:r>
            <a:r>
              <a:rPr lang="zh-CN" dirty="0"/>
              <a:t>攻击：</a:t>
            </a:r>
            <a:r>
              <a:rPr lang="zh-CN" altLang="en-US" dirty="0"/>
              <a:t>初步尝试</a:t>
            </a:r>
            <a:endParaRPr lang="en-US" dirty="0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406" y="1799769"/>
            <a:ext cx="9126224" cy="25054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122006" y="4521852"/>
            <a:ext cx="6088420" cy="2059923"/>
            <a:chOff x="1122005" y="4521852"/>
            <a:chExt cx="6893885" cy="2268145"/>
          </a:xfrm>
        </p:grpSpPr>
        <p:pic>
          <p:nvPicPr>
            <p:cNvPr id="6" name="Picture 5" descr="Screen Clippi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2005" y="5751627"/>
              <a:ext cx="6893885" cy="1038370"/>
            </a:xfrm>
            <a:prstGeom prst="rect">
              <a:avLst/>
            </a:prstGeom>
          </p:spPr>
        </p:pic>
        <p:pic>
          <p:nvPicPr>
            <p:cNvPr id="4" name="Picture 3" descr="Screen Clippi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7406" y="4521852"/>
              <a:ext cx="6868484" cy="1295581"/>
            </a:xfrm>
            <a:prstGeom prst="rect">
              <a:avLst/>
            </a:prstGeom>
          </p:spPr>
        </p:pic>
      </p:grpSp>
      <p:cxnSp>
        <p:nvCxnSpPr>
          <p:cNvPr id="8" name="Straight Arrow Connector 7"/>
          <p:cNvCxnSpPr/>
          <p:nvPr/>
        </p:nvCxnSpPr>
        <p:spPr>
          <a:xfrm flipH="1">
            <a:off x="7424178" y="5572125"/>
            <a:ext cx="733985" cy="1625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532" y="4638420"/>
            <a:ext cx="1877068" cy="159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14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改进：</a:t>
            </a:r>
            <a:r>
              <a:rPr lang="zh-CN" altLang="en-US" dirty="0"/>
              <a:t>要让秘密数据进入</a:t>
            </a:r>
            <a:r>
              <a:rPr lang="zh-CN" dirty="0"/>
              <a:t>缓存</a:t>
            </a:r>
            <a:endParaRPr lang="en-US" dirty="0"/>
          </a:p>
        </p:txBody>
      </p:sp>
      <p:pic>
        <p:nvPicPr>
          <p:cNvPr id="3" name="Picture 4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259" y="2685255"/>
            <a:ext cx="1761564" cy="1954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728519" y="3222746"/>
            <a:ext cx="450636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sz="4000" dirty="0">
                <a:latin typeface="Calibri" panose="020F0502020204030204" pitchFamily="34" charset="0"/>
              </a:rPr>
              <a:t>这样做有什么帮助？</a:t>
            </a:r>
            <a:endParaRPr lang="en-US" sz="4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887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使用汇编代码改进攻击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105" y="3429000"/>
            <a:ext cx="5042871" cy="3316070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9880"/>
            <a:ext cx="7208105" cy="52475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55232" y="295729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1800" dirty="0"/>
              <a:t>执行结果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7524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利用统计方法改进攻击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769" y="1794619"/>
            <a:ext cx="6970490" cy="458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554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应对措施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根本问题出在CPU硬件上。</a:t>
            </a:r>
          </a:p>
          <a:p>
            <a:pPr lvl="1"/>
            <a:r>
              <a:rPr lang="zh-CN" dirty="0"/>
              <a:t>维修费用昂贵</a:t>
            </a:r>
          </a:p>
          <a:p>
            <a:r>
              <a:rPr lang="zh-CN" dirty="0"/>
              <a:t>开发操作系统中的变通方法</a:t>
            </a:r>
          </a:p>
          <a:p>
            <a:r>
              <a:rPr lang="zh-CN" dirty="0"/>
              <a:t>KASLR（内核地址空间布局随机化）</a:t>
            </a:r>
          </a:p>
          <a:p>
            <a:pPr lvl="1"/>
            <a:r>
              <a:rPr lang="zh-CN" dirty="0"/>
              <a:t>x86 架构所需的一些部分（例如，中断处理程序）之外，不会将任何内核内存映射到用户空间。</a:t>
            </a:r>
          </a:p>
          <a:p>
            <a:pPr lvl="1"/>
            <a:r>
              <a:rPr lang="zh-CN" dirty="0"/>
              <a:t>用户级程序不能直接使用内核内存地址，因为这些地址无法解析。</a:t>
            </a:r>
          </a:p>
        </p:txBody>
      </p:sp>
    </p:spTree>
    <p:extLst>
      <p:ext uri="{BB962C8B-B14F-4D97-AF65-F5344CB8AC3E}">
        <p14:creationId xmlns:p14="http://schemas.microsoft.com/office/powerpoint/2010/main" val="1244341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213951" y="2513291"/>
            <a:ext cx="9144000" cy="137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zh-CN" dirty="0"/>
              <a:t>幽灵</a:t>
            </a:r>
            <a:r>
              <a:rPr lang="zh-CN" altLang="en-US" dirty="0"/>
              <a:t>攻击</a:t>
            </a:r>
            <a:r>
              <a:rPr lang="en-US" altLang="zh-CN" dirty="0" err="1"/>
              <a:t>Spectre</a:t>
            </a:r>
            <a:r>
              <a:rPr lang="zh-CN" altLang="en-US" dirty="0"/>
              <a:t> </a:t>
            </a:r>
            <a:r>
              <a:rPr lang="en-US" altLang="zh-CN" dirty="0"/>
              <a:t>Attack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9729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会被执行吗？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29" y="2090646"/>
            <a:ext cx="4881871" cy="1444527"/>
          </a:xfrm>
          <a:prstGeom prst="rect">
            <a:avLst/>
          </a:prstGeom>
        </p:spPr>
      </p:pic>
      <p:pic>
        <p:nvPicPr>
          <p:cNvPr id="5" name="Picture 4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935131"/>
            <a:ext cx="1761564" cy="1954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2833169" y="4558347"/>
            <a:ext cx="73500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sz="4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x &gt; size，</a:t>
            </a:r>
            <a:r>
              <a:rPr lang="zh-CN" sz="4000" dirty="0">
                <a:latin typeface="Calibri" panose="020F0502020204030204" pitchFamily="34" charset="0"/>
              </a:rPr>
              <a:t>第 3 行是否会执行？</a:t>
            </a:r>
            <a:endParaRPr lang="en-US" sz="4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605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乱序执行</a:t>
            </a:r>
            <a:endParaRPr lang="en-US" dirty="0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293" y="1571274"/>
            <a:ext cx="9174525" cy="481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0003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让我们来寻找</a:t>
            </a:r>
            <a:r>
              <a:rPr lang="zh-CN" altLang="en-US" dirty="0"/>
              <a:t>这种乱序执行的证据</a:t>
            </a:r>
            <a:endParaRPr lang="en-US" dirty="0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232" y="1809619"/>
            <a:ext cx="5996468" cy="164218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065629" y="3657804"/>
            <a:ext cx="2203837" cy="11193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清</a:t>
            </a:r>
            <a:r>
              <a:rPr lang="zh-CN" sz="2000" b="1" dirty="0">
                <a:solidFill>
                  <a:srgbClr val="FF0000"/>
                </a:solidFill>
              </a:rPr>
              <a:t>洗</a:t>
            </a:r>
          </a:p>
          <a:p>
            <a:pPr algn="ctr"/>
            <a:r>
              <a:rPr lang="zh-CN" altLang="en-US" sz="2000" dirty="0"/>
              <a:t>清</a:t>
            </a:r>
            <a:r>
              <a:rPr lang="zh-CN" sz="2000" dirty="0"/>
              <a:t>洗</a:t>
            </a:r>
          </a:p>
          <a:p>
            <a:pPr algn="ctr"/>
            <a:r>
              <a:rPr lang="zh-CN" sz="2000" dirty="0"/>
              <a:t>CPU缓存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8826101" y="3657804"/>
            <a:ext cx="2396018" cy="11193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b="1" dirty="0">
                <a:solidFill>
                  <a:srgbClr val="FF0000"/>
                </a:solidFill>
              </a:rPr>
              <a:t>重新加载</a:t>
            </a:r>
          </a:p>
          <a:p>
            <a:pPr algn="ctr"/>
            <a:r>
              <a:rPr lang="zh-CN" sz="2000" dirty="0"/>
              <a:t>检查缓存中哪个</a:t>
            </a:r>
            <a:r>
              <a:rPr lang="zh-CN" altLang="en-US" sz="2000" dirty="0"/>
              <a:t>数据</a:t>
            </a:r>
            <a:r>
              <a:rPr lang="zh-CN" sz="2000" dirty="0"/>
              <a:t>存在。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6032426" y="3658736"/>
            <a:ext cx="2044713" cy="11193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b="1" dirty="0"/>
              <a:t>调用</a:t>
            </a:r>
          </a:p>
          <a:p>
            <a:pPr algn="ctr"/>
            <a:r>
              <a:rPr lang="zh-CN" sz="2000" b="1" dirty="0"/>
              <a:t>受害者（ </a:t>
            </a:r>
            <a:r>
              <a:rPr lang="zh-CN" sz="2000" b="1" dirty="0">
                <a:solidFill>
                  <a:schemeClr val="accent2">
                    <a:lumMod val="75000"/>
                  </a:schemeClr>
                </a:solidFill>
              </a:rPr>
              <a:t>97 </a:t>
            </a:r>
            <a:r>
              <a:rPr lang="zh-CN" sz="2000" b="1" dirty="0"/>
              <a:t>）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66138" y="1833485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/>
              <a:t>size</a:t>
            </a:r>
            <a:r>
              <a:rPr lang="zh-CN" sz="1800" dirty="0"/>
              <a:t>为 10</a:t>
            </a:r>
            <a:endParaRPr lang="en-US" sz="1800" dirty="0"/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4032613" y="2053445"/>
            <a:ext cx="1533525" cy="295275"/>
          </a:xfrm>
          <a:prstGeom prst="line">
            <a:avLst/>
          </a:prstGeom>
          <a:ln w="28575"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018" y="5029207"/>
            <a:ext cx="5257800" cy="1585556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>
            <a:off x="5350304" y="4059531"/>
            <a:ext cx="590550" cy="361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8129943" y="4036484"/>
            <a:ext cx="590550" cy="361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7254478" y="5659716"/>
            <a:ext cx="1013222" cy="9854"/>
          </a:xfrm>
          <a:prstGeom prst="line">
            <a:avLst/>
          </a:prstGeom>
          <a:ln w="28575"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20329" y="6070699"/>
            <a:ext cx="23246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dirty="0"/>
              <a:t>但并非总是如此。</a:t>
            </a:r>
            <a:endParaRPr lang="en-US" dirty="0"/>
          </a:p>
        </p:txBody>
      </p:sp>
      <p:cxnSp>
        <p:nvCxnSpPr>
          <p:cNvPr id="19" name="Straight Connector 18"/>
          <p:cNvCxnSpPr/>
          <p:nvPr/>
        </p:nvCxnSpPr>
        <p:spPr>
          <a:xfrm flipH="1">
            <a:off x="7243166" y="6224588"/>
            <a:ext cx="1024534" cy="2942"/>
          </a:xfrm>
          <a:prstGeom prst="line">
            <a:avLst/>
          </a:prstGeom>
          <a:ln w="28575"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17455" y="3680851"/>
            <a:ext cx="2174285" cy="11193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dirty="0">
                <a:solidFill>
                  <a:srgbClr val="FF0000"/>
                </a:solidFill>
              </a:rPr>
              <a:t>训练</a:t>
            </a:r>
          </a:p>
          <a:p>
            <a:pPr algn="ctr"/>
            <a:r>
              <a:rPr lang="zh-CN" sz="2000" dirty="0">
                <a:solidFill>
                  <a:schemeClr val="bg1"/>
                </a:solidFill>
              </a:rPr>
              <a:t>训练 CPU 进入</a:t>
            </a:r>
            <a:r>
              <a:rPr lang="en-US" altLang="zh-CN" sz="2000" dirty="0">
                <a:solidFill>
                  <a:schemeClr val="bg1"/>
                </a:solidFill>
              </a:rPr>
              <a:t>True</a:t>
            </a:r>
            <a:r>
              <a:rPr lang="zh-CN" sz="2000" dirty="0">
                <a:solidFill>
                  <a:schemeClr val="bg1"/>
                </a:solidFill>
              </a:rPr>
              <a:t>分支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2569618" y="4059531"/>
            <a:ext cx="459662" cy="361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320329" y="5505827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dirty="0"/>
              <a:t>证据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19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攻击目标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74" y="1969197"/>
            <a:ext cx="7259063" cy="4410691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6275525" y="478112"/>
            <a:ext cx="5903553" cy="3134058"/>
            <a:chOff x="7860873" y="2591306"/>
            <a:chExt cx="4125798" cy="2216907"/>
          </a:xfrm>
        </p:grpSpPr>
        <p:pic>
          <p:nvPicPr>
            <p:cNvPr id="5" name="Picture 4" descr="Screen Clippi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0873" y="2591306"/>
              <a:ext cx="4125798" cy="1569214"/>
            </a:xfrm>
            <a:prstGeom prst="rect">
              <a:avLst/>
            </a:prstGeom>
          </p:spPr>
        </p:pic>
        <p:pic>
          <p:nvPicPr>
            <p:cNvPr id="6" name="Picture 5" descr="Screen Clippi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9557" y="4160521"/>
              <a:ext cx="4107114" cy="647692"/>
            </a:xfrm>
            <a:prstGeom prst="rect">
              <a:avLst/>
            </a:prstGeom>
          </p:spPr>
        </p:pic>
      </p:grp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5736049" y="2141575"/>
            <a:ext cx="969556" cy="1470595"/>
          </a:xfrm>
          <a:prstGeom prst="line">
            <a:avLst/>
          </a:prstGeom>
          <a:ln w="57150"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8849" y="5099304"/>
            <a:ext cx="51349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000" dirty="0"/>
              <a:t>这种保护模式被广泛应用。</a:t>
            </a:r>
          </a:p>
          <a:p>
            <a:r>
              <a:rPr lang="zh-CN" sz="2000" dirty="0"/>
              <a:t>用于软件</a:t>
            </a:r>
            <a:r>
              <a:rPr lang="zh-CN" sz="2000" b="1" dirty="0">
                <a:solidFill>
                  <a:schemeClr val="accent2">
                    <a:lumMod val="75000"/>
                  </a:schemeClr>
                </a:solidFill>
              </a:rPr>
              <a:t>沙箱</a:t>
            </a:r>
            <a:r>
              <a:rPr lang="zh-CN" sz="2000" dirty="0"/>
              <a:t>（例如浏览器中实现的沙箱）</a:t>
            </a:r>
          </a:p>
        </p:txBody>
      </p:sp>
    </p:spTree>
    <p:extLst>
      <p:ext uri="{BB962C8B-B14F-4D97-AF65-F5344CB8AC3E}">
        <p14:creationId xmlns:p14="http://schemas.microsoft.com/office/powerpoint/2010/main" val="39537818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幽灵</a:t>
            </a:r>
            <a:r>
              <a:rPr lang="zh-CN" altLang="en-US" dirty="0"/>
              <a:t>攻</a:t>
            </a:r>
            <a:r>
              <a:rPr lang="zh-CN" dirty="0"/>
              <a:t>击</a:t>
            </a:r>
            <a:endParaRPr lang="en-US" dirty="0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00" y="1947576"/>
            <a:ext cx="9897856" cy="1371791"/>
          </a:xfrm>
          <a:prstGeom prst="rect">
            <a:avLst/>
          </a:prstGeom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00" y="3854020"/>
            <a:ext cx="8849960" cy="25149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" y="1547466"/>
            <a:ext cx="47884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20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spectreAttack （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sz="20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） larger_x )</a:t>
            </a:r>
            <a:endParaRPr lang="en-US" sz="2000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3799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攻击结果</a:t>
            </a:r>
            <a:endParaRPr lang="en-US" dirty="0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93" y="2608497"/>
            <a:ext cx="6325483" cy="1924319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 rot="14282027">
            <a:off x="3130969" y="4700194"/>
            <a:ext cx="808300" cy="2510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223" y="2630563"/>
            <a:ext cx="1123530" cy="1246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ight Arrow 9"/>
          <p:cNvSpPr/>
          <p:nvPr/>
        </p:nvSpPr>
        <p:spPr>
          <a:xfrm rot="10058825">
            <a:off x="6346876" y="3388601"/>
            <a:ext cx="1287399" cy="2510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769753" y="2544239"/>
            <a:ext cx="305664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4000" dirty="0">
                <a:latin typeface="Calibri" panose="020F0502020204030204" pitchFamily="34" charset="0"/>
              </a:rPr>
              <a:t>为什么缓存中会有 0？</a:t>
            </a:r>
            <a:endParaRPr lang="en-US" sz="4000" dirty="0">
              <a:latin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14679" y="5235011"/>
            <a:ext cx="18149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3600" dirty="0">
                <a:solidFill>
                  <a:schemeClr val="accent2">
                    <a:lumMod val="75000"/>
                  </a:schemeClr>
                </a:solidFill>
                <a:latin typeface="Kozuka Gothic Pro B" panose="020B0800000000000000" pitchFamily="34" charset="-128"/>
                <a:ea typeface="Kozuka Gothic Pro B" panose="020B0800000000000000" pitchFamily="34" charset="-128"/>
              </a:rPr>
              <a:t>成功</a:t>
            </a:r>
            <a:endParaRPr lang="en-US" sz="3600" dirty="0">
              <a:solidFill>
                <a:schemeClr val="accent2">
                  <a:lumMod val="75000"/>
                </a:schemeClr>
              </a:solidFill>
              <a:latin typeface="Kozuka Gothic Pro B" panose="020B0800000000000000" pitchFamily="34" charset="-128"/>
              <a:ea typeface="Kozuka Gothic Pro B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210800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幽灵攻击的</a:t>
            </a:r>
            <a:r>
              <a:rPr lang="zh-CN" dirty="0"/>
              <a:t>变体</a:t>
            </a:r>
            <a:r>
              <a:rPr lang="zh-CN" altLang="en-US" dirty="0"/>
              <a:t>及其防御</a:t>
            </a:r>
            <a:endParaRPr lang="zh-C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自2017年被发现以来，已经发现了几种幽灵</a:t>
            </a:r>
            <a:r>
              <a:rPr lang="zh-CN" altLang="en-US" dirty="0"/>
              <a:t>变体</a:t>
            </a:r>
            <a:r>
              <a:rPr lang="zh-CN" dirty="0"/>
              <a:t>。</a:t>
            </a:r>
          </a:p>
          <a:p>
            <a:r>
              <a:rPr lang="zh-CN" dirty="0"/>
              <a:t>影响 Intel、ARM 和 ARM</a:t>
            </a:r>
          </a:p>
          <a:p>
            <a:r>
              <a:rPr lang="zh-CN" dirty="0"/>
              <a:t>问题出在硬件上。</a:t>
            </a:r>
          </a:p>
          <a:p>
            <a:r>
              <a:rPr lang="zh-CN" dirty="0"/>
              <a:t>与 Meltdown 不同，目前还没有简单的软件解决方法。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8338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CN" dirty="0"/>
              <a:t>概括</a:t>
            </a:r>
            <a:endParaRPr dirty="0"/>
          </a:p>
        </p:txBody>
      </p:sp>
      <p:sp>
        <p:nvSpPr>
          <p:cNvPr id="349" name="Google Shape;349;p47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zh-CN" dirty="0"/>
              <a:t>利用侧信道窃取机密信息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zh-CN" altLang="en-US" dirty="0"/>
              <a:t>熔断</a:t>
            </a:r>
            <a:r>
              <a:rPr lang="zh-CN" dirty="0"/>
              <a:t>攻击</a:t>
            </a: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zh-CN" dirty="0" err="1"/>
              <a:t>幽灵</a:t>
            </a:r>
            <a:r>
              <a:rPr lang="zh-CN" dirty="0"/>
              <a:t>攻击</a:t>
            </a: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zh-CN" dirty="0"/>
              <a:t>一种竞态条件脆弱性</a:t>
            </a: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zh-CN" dirty="0"/>
              <a:t>漏洞存在于硬件内部。</a:t>
            </a:r>
          </a:p>
          <a:p>
            <a:pPr lvl="1" indent="-406400">
              <a:lnSpc>
                <a:spcPct val="115000"/>
              </a:lnSpc>
              <a:spcBef>
                <a:spcPts val="0"/>
              </a:spcBef>
              <a:buSzPts val="2800"/>
            </a:pPr>
            <a:r>
              <a:rPr lang="zh-CN" dirty="0"/>
              <a:t>AMD、英特尔和ARM均受到影响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490</Words>
  <Application>Microsoft Macintosh PowerPoint</Application>
  <PresentationFormat>宽屏</PresentationFormat>
  <Paragraphs>90</Paragraphs>
  <Slides>30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5" baseType="lpstr">
      <vt:lpstr>Kozuka Gothic Pro B</vt:lpstr>
      <vt:lpstr>Arial</vt:lpstr>
      <vt:lpstr>Calibri</vt:lpstr>
      <vt:lpstr>Consolas</vt:lpstr>
      <vt:lpstr>Office Theme</vt:lpstr>
      <vt:lpstr>Meltdown与Spectre攻击</vt:lpstr>
      <vt:lpstr>概述</vt:lpstr>
      <vt:lpstr>微软面试题</vt:lpstr>
      <vt:lpstr>窃取秘密</vt:lpstr>
      <vt:lpstr>CPU缓存</vt:lpstr>
      <vt:lpstr>从灯光到 CPU 缓存</vt:lpstr>
      <vt:lpstr>利用 CPU 缓存记住秘密信息</vt:lpstr>
      <vt:lpstr>清洗+重新加载技术</vt:lpstr>
      <vt:lpstr>清洗+重新加载：清洗步骤</vt:lpstr>
      <vt:lpstr>冲洗+重新装弹：重新装载步骤</vt:lpstr>
      <vt:lpstr>熔断攻击</vt:lpstr>
      <vt:lpstr>保安室和保安</vt:lpstr>
      <vt:lpstr>保持生存： C语言</vt:lpstr>
      <vt:lpstr>乱序执行</vt:lpstr>
      <vt:lpstr>乱序执行</vt:lpstr>
      <vt:lpstr>乱序执行实验</vt:lpstr>
      <vt:lpstr>熔断攻击：初步尝试</vt:lpstr>
      <vt:lpstr>改进：要让秘密数据进入缓存</vt:lpstr>
      <vt:lpstr>使用汇编代码改进攻击</vt:lpstr>
      <vt:lpstr>利用统计方法改进攻击</vt:lpstr>
      <vt:lpstr>应对措施</vt:lpstr>
      <vt:lpstr>幽灵攻击Spectre Attack</vt:lpstr>
      <vt:lpstr>会被执行吗？</vt:lpstr>
      <vt:lpstr>乱序执行</vt:lpstr>
      <vt:lpstr>让我们来寻找这种乱序执行的证据</vt:lpstr>
      <vt:lpstr>攻击目标</vt:lpstr>
      <vt:lpstr>幽灵攻击</vt:lpstr>
      <vt:lpstr>攻击结果</vt:lpstr>
      <vt:lpstr>幽灵攻击的变体及其防御</vt:lpstr>
      <vt:lpstr>概括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One-Way Hash Functions</dc:title>
  <cp:lastModifiedBy>Microsoft Office User</cp:lastModifiedBy>
  <cp:revision>32</cp:revision>
  <dcterms:modified xsi:type="dcterms:W3CDTF">2026-04-16T06:33:58Z</dcterms:modified>
</cp:coreProperties>
</file>