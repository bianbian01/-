
<file path=[Content_Types].xml><?xml version="1.0" encoding="utf-8"?>
<Types xmlns="http://schemas.openxmlformats.org/package/2006/content-types">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2" r:id="rId25"/>
    <p:sldId id="279" r:id="rId26"/>
    <p:sldId id="280" r:id="rId27"/>
    <p:sldId id="281" r:id="rId28"/>
    <p:sldId id="283" r:id="rId29"/>
    <p:sldId id="284" r:id="rId3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20"/>
    <p:restoredTop sz="96405" autoAdjust="0"/>
  </p:normalViewPr>
  <p:slideViewPr>
    <p:cSldViewPr snapToGrid="0">
      <p:cViewPr varScale="1">
        <p:scale>
          <a:sx n="165" d="100"/>
          <a:sy n="165" d="100"/>
        </p:scale>
        <p:origin x="50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lstStyle>
            <a:lvl1pPr lvl="0">
              <a:spcBef>
                <a:spcPts val="0"/>
              </a:spcBef>
              <a:buSzPts val="1100"/>
              <a:buChar char="●"/>
              <a:defRPr sz="1100"/>
            </a:lvl1pPr>
            <a:lvl2pPr lvl="1">
              <a:spcBef>
                <a:spcPts val="0"/>
              </a:spcBef>
              <a:buSzPts val="1100"/>
              <a:buChar char="○"/>
              <a:defRPr sz="1100"/>
            </a:lvl2pPr>
            <a:lvl3pPr lvl="2">
              <a:spcBef>
                <a:spcPts val="0"/>
              </a:spcBef>
              <a:buSzPts val="1100"/>
              <a:buChar char="■"/>
              <a:defRPr sz="1100"/>
            </a:lvl3pPr>
            <a:lvl4pPr lvl="3">
              <a:spcBef>
                <a:spcPts val="0"/>
              </a:spcBef>
              <a:buSzPts val="1100"/>
              <a:buChar char="●"/>
              <a:defRPr sz="1100"/>
            </a:lvl4pPr>
            <a:lvl5pPr lvl="4">
              <a:spcBef>
                <a:spcPts val="0"/>
              </a:spcBef>
              <a:buSzPts val="1100"/>
              <a:buChar char="○"/>
              <a:defRPr sz="1100"/>
            </a:lvl5pPr>
            <a:lvl6pPr lvl="5">
              <a:spcBef>
                <a:spcPts val="0"/>
              </a:spcBef>
              <a:buSzPts val="1100"/>
              <a:buChar char="■"/>
              <a:defRPr sz="1100"/>
            </a:lvl6pPr>
            <a:lvl7pPr lvl="6">
              <a:spcBef>
                <a:spcPts val="0"/>
              </a:spcBef>
              <a:buSzPts val="1100"/>
              <a:buChar char="●"/>
              <a:defRPr sz="1100"/>
            </a:lvl7pPr>
            <a:lvl8pPr lvl="7">
              <a:spcBef>
                <a:spcPts val="0"/>
              </a:spcBef>
              <a:buSzPts val="1100"/>
              <a:buChar char="○"/>
              <a:defRPr sz="1100"/>
            </a:lvl8pPr>
            <a:lvl9pPr lvl="8">
              <a:spcBef>
                <a:spcPts val="0"/>
              </a:spcBef>
              <a:buSzPts val="1100"/>
              <a:buChar char="■"/>
              <a:defRPr sz="1100"/>
            </a:lvl9pPr>
          </a:lstStyle>
          <a:p>
            <a:endParaRPr/>
          </a:p>
        </p:txBody>
      </p:sp>
    </p:spTree>
    <p:extLst>
      <p:ext uri="{BB962C8B-B14F-4D97-AF65-F5344CB8AC3E}">
        <p14:creationId xmlns:p14="http://schemas.microsoft.com/office/powerpoint/2010/main" val="1818633541"/>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2" name="Shape 52"/>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5044043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Shape 5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7" name="Shape 5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3215321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Shape 6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3" name="Shape 6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11568723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Shape 6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9" name="Shape 69"/>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zh-CN" dirty="0"/>
              <a:t>上述</a:t>
            </a:r>
            <a:r>
              <a:rPr lang="zh-CN" dirty="0" err="1"/>
              <a:t>PHP</a:t>
            </a:r>
            <a:r>
              <a:rPr lang="zh-CN" dirty="0"/>
              <a:t>代码执行从银行账户取款的交易。该函数会检查取款金额是否小于账户余额。如果小于，则授权取款并更新余额。如果</a:t>
            </a:r>
            <a:r>
              <a:rPr lang="zh-CN" dirty="0" err="1"/>
              <a:t>同时</a:t>
            </a:r>
            <a:r>
              <a:rPr lang="zh-CN" dirty="0"/>
              <a:t>存在两个取款请求，则可能会出现竞态条件。例如，当前余额为 100 美元。请求 1 尝试取款 90 美元。在服务器更新余额之前，请求 2 尝试取款 90 美元，由于</a:t>
            </a:r>
            <a:r>
              <a:rPr lang="zh-CN" dirty="0" err="1"/>
              <a:t>当前</a:t>
            </a:r>
            <a:r>
              <a:rPr lang="zh-CN" dirty="0"/>
              <a:t>余额仍为 100 美元，因此该请求会被批准。因此，最终将</a:t>
            </a:r>
            <a:r>
              <a:rPr lang="zh-CN" dirty="0" err="1"/>
              <a:t>提取180 美元</a:t>
            </a:r>
            <a:r>
              <a:rPr lang="zh-CN" dirty="0"/>
              <a:t>，账户余额为 10 美元。</a:t>
            </a:r>
          </a:p>
        </p:txBody>
      </p:sp>
    </p:spTree>
    <p:extLst>
      <p:ext uri="{BB962C8B-B14F-4D97-AF65-F5344CB8AC3E}">
        <p14:creationId xmlns:p14="http://schemas.microsoft.com/office/powerpoint/2010/main" val="1818784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Shape 7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8" name="Shape 78"/>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1860247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Shape 8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4" name="Shape 8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30981898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Shape 9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2" name="Shape 92"/>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26408415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8" name="Shape 98"/>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14368046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3" name="Shape 11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zh-CN"/>
              <a:t>上图显示了用于更改 /etc/passwd 链接的 TOCTOU 窗口</a:t>
            </a:r>
          </a:p>
        </p:txBody>
      </p:sp>
    </p:spTree>
    <p:extLst>
      <p:ext uri="{BB962C8B-B14F-4D97-AF65-F5344CB8AC3E}">
        <p14:creationId xmlns:p14="http://schemas.microsoft.com/office/powerpoint/2010/main" val="18753520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Shape 11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0" name="Shape 12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34868649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Shape 12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8" name="Shape 128"/>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11798524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Shape 13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6" name="Shape 13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24520045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Shape 14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7" name="Shape 14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22550993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Shape 15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53" name="Shape 15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19279971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Shape 15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59" name="Shape 159"/>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10828773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Shape 17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1" name="Shape 17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dirty="0"/>
          </a:p>
        </p:txBody>
      </p:sp>
    </p:spTree>
    <p:extLst>
      <p:ext uri="{BB962C8B-B14F-4D97-AF65-F5344CB8AC3E}">
        <p14:creationId xmlns:p14="http://schemas.microsoft.com/office/powerpoint/2010/main" val="40606244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Shape 17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80" name="Shape 18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40159948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Shape 18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88" name="Shape 188"/>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18760065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Shape 19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97" name="Shape 19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zh-CN"/>
              <a:t>无权限：访问检查失败</a:t>
            </a:r>
          </a:p>
          <a:p>
            <a:pPr marL="0" lvl="0" indent="0">
              <a:spcBef>
                <a:spcPts val="0"/>
              </a:spcBef>
              <a:buNone/>
            </a:pPr>
            <a:r>
              <a:rPr lang="zh-CN"/>
              <a:t>成功：攻击进程获胜，/etc/passwd 被修改。</a:t>
            </a:r>
          </a:p>
        </p:txBody>
      </p:sp>
    </p:spTree>
    <p:extLst>
      <p:ext uri="{BB962C8B-B14F-4D97-AF65-F5344CB8AC3E}">
        <p14:creationId xmlns:p14="http://schemas.microsoft.com/office/powerpoint/2010/main" val="40104519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Shape 20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8" name="Shape 208"/>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23615788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Shape 21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4" name="Shape 21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26700110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Shape 22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24" name="Shape 22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21408857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Shape 23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36" name="Shape 23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zh-CN"/>
              <a:t>粘性目录：在 Linux 文件系统中，目录有一个特殊的位，称为粘性位。当此位被设置时，目录内的文件只能由文件所有者、目录所有者或 root 用户重命名或删除。如果此位未被设置，则任何对该目录具有写入和执行权限的用户都可以重命名或删除文件。设置粘性位是为了防止普通用户重命名或删除其他用户的文件。</a:t>
            </a:r>
          </a:p>
        </p:txBody>
      </p:sp>
    </p:spTree>
    <p:extLst>
      <p:ext uri="{BB962C8B-B14F-4D97-AF65-F5344CB8AC3E}">
        <p14:creationId xmlns:p14="http://schemas.microsoft.com/office/powerpoint/2010/main" val="14703986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Shape 24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45" name="Shape 245"/>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3460182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Shape 25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53" name="Shape 25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14424330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Shape 25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59" name="Shape 259"/>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23392621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8" y="744575"/>
            <a:ext cx="8520600" cy="2052600"/>
          </a:xfrm>
          <a:prstGeom prst="rect">
            <a:avLst/>
          </a:prstGeom>
        </p:spPr>
        <p:txBody>
          <a:bodyPr wrap="square" lIns="91425" tIns="91425" rIns="91425" bIns="91425" anchor="b" anchorCtr="0"/>
          <a:lstStyle>
            <a:lvl1pPr lvl="0" algn="ctr">
              <a:spcBef>
                <a:spcPts val="0"/>
              </a:spcBef>
              <a:buSzPts val="5200"/>
              <a:buNone/>
              <a:defRPr sz="5200"/>
            </a:lvl1pPr>
            <a:lvl2pPr lvl="1" algn="ctr">
              <a:spcBef>
                <a:spcPts val="0"/>
              </a:spcBef>
              <a:buSzPts val="5200"/>
              <a:buNone/>
              <a:defRPr sz="5200"/>
            </a:lvl2pPr>
            <a:lvl3pPr lvl="2" algn="ctr">
              <a:spcBef>
                <a:spcPts val="0"/>
              </a:spcBef>
              <a:buSzPts val="5200"/>
              <a:buNone/>
              <a:defRPr sz="5200"/>
            </a:lvl3pPr>
            <a:lvl4pPr lvl="3" algn="ctr">
              <a:spcBef>
                <a:spcPts val="0"/>
              </a:spcBef>
              <a:buSzPts val="5200"/>
              <a:buNone/>
              <a:defRPr sz="5200"/>
            </a:lvl4pPr>
            <a:lvl5pPr lvl="4" algn="ctr">
              <a:spcBef>
                <a:spcPts val="0"/>
              </a:spcBef>
              <a:buSzPts val="5200"/>
              <a:buNone/>
              <a:defRPr sz="5200"/>
            </a:lvl5pPr>
            <a:lvl6pPr lvl="5" algn="ctr">
              <a:spcBef>
                <a:spcPts val="0"/>
              </a:spcBef>
              <a:buSzPts val="5200"/>
              <a:buNone/>
              <a:defRPr sz="5200"/>
            </a:lvl6pPr>
            <a:lvl7pPr lvl="6" algn="ctr">
              <a:spcBef>
                <a:spcPts val="0"/>
              </a:spcBef>
              <a:buSzPts val="5200"/>
              <a:buNone/>
              <a:defRPr sz="5200"/>
            </a:lvl7pPr>
            <a:lvl8pPr lvl="7" algn="ctr">
              <a:spcBef>
                <a:spcPts val="0"/>
              </a:spcBef>
              <a:buSzPts val="5200"/>
              <a:buNone/>
              <a:defRPr sz="5200"/>
            </a:lvl8pPr>
            <a:lvl9pPr lvl="8" algn="ctr">
              <a:spcBef>
                <a:spcPts val="0"/>
              </a:spcBef>
              <a:buSzPts val="5200"/>
              <a:buNone/>
              <a:defRPr sz="5200"/>
            </a:lvl9pPr>
          </a:lstStyle>
          <a:p>
            <a:endParaRPr/>
          </a:p>
        </p:txBody>
      </p:sp>
      <p:sp>
        <p:nvSpPr>
          <p:cNvPr id="11" name="Shape 11"/>
          <p:cNvSpPr txBox="1">
            <a:spLocks noGrp="1"/>
          </p:cNvSpPr>
          <p:nvPr>
            <p:ph type="subTitle" idx="1"/>
          </p:nvPr>
        </p:nvSpPr>
        <p:spPr>
          <a:xfrm>
            <a:off x="311700" y="2834125"/>
            <a:ext cx="8520600" cy="792600"/>
          </a:xfrm>
          <a:prstGeom prst="rect">
            <a:avLst/>
          </a:prstGeom>
        </p:spPr>
        <p:txBody>
          <a:bodyPr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Shape 12"/>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311700" y="2150850"/>
            <a:ext cx="8520600" cy="841800"/>
          </a:xfrm>
          <a:prstGeom prst="rect">
            <a:avLst/>
          </a:prstGeom>
        </p:spPr>
        <p:txBody>
          <a:bodyPr wrap="square" lIns="91425" tIns="91425" rIns="91425" bIns="91425" anchor="ctr" anchorCtr="0"/>
          <a:lstStyle>
            <a:lvl1pPr lvl="0" algn="ctr">
              <a:spcBef>
                <a:spcPts val="0"/>
              </a:spcBef>
              <a:buSzPts val="3600"/>
              <a:buNone/>
              <a:defRPr sz="3600"/>
            </a:lvl1pPr>
            <a:lvl2pPr lvl="1" algn="ctr">
              <a:spcBef>
                <a:spcPts val="0"/>
              </a:spcBef>
              <a:buSzPts val="3600"/>
              <a:buNone/>
              <a:defRPr sz="3600"/>
            </a:lvl2pPr>
            <a:lvl3pPr lvl="2" algn="ctr">
              <a:spcBef>
                <a:spcPts val="0"/>
              </a:spcBef>
              <a:buSzPts val="3600"/>
              <a:buNone/>
              <a:defRPr sz="3600"/>
            </a:lvl3pPr>
            <a:lvl4pPr lvl="3" algn="ctr">
              <a:spcBef>
                <a:spcPts val="0"/>
              </a:spcBef>
              <a:buSzPts val="3600"/>
              <a:buNone/>
              <a:defRPr sz="3600"/>
            </a:lvl4pPr>
            <a:lvl5pPr lvl="4" algn="ctr">
              <a:spcBef>
                <a:spcPts val="0"/>
              </a:spcBef>
              <a:buSzPts val="3600"/>
              <a:buNone/>
              <a:defRPr sz="3600"/>
            </a:lvl5pPr>
            <a:lvl6pPr lvl="5" algn="ctr">
              <a:spcBef>
                <a:spcPts val="0"/>
              </a:spcBef>
              <a:buSzPts val="3600"/>
              <a:buNone/>
              <a:defRPr sz="3600"/>
            </a:lvl6pPr>
            <a:lvl7pPr lvl="6" algn="ctr">
              <a:spcBef>
                <a:spcPts val="0"/>
              </a:spcBef>
              <a:buSzPts val="3600"/>
              <a:buNone/>
              <a:defRPr sz="3600"/>
            </a:lvl7pPr>
            <a:lvl8pPr lvl="7" algn="ctr">
              <a:spcBef>
                <a:spcPts val="0"/>
              </a:spcBef>
              <a:buSzPts val="3600"/>
              <a:buNone/>
              <a:defRPr sz="3600"/>
            </a:lvl8pPr>
            <a:lvl9pPr lvl="8" algn="ctr">
              <a:spcBef>
                <a:spcPts val="0"/>
              </a:spcBef>
              <a:buSzPts val="3600"/>
              <a:buNone/>
              <a:defRPr sz="3600"/>
            </a:lvl9pPr>
          </a:lstStyle>
          <a:p>
            <a:endParaRPr/>
          </a:p>
        </p:txBody>
      </p:sp>
      <p:sp>
        <p:nvSpPr>
          <p:cNvPr id="15" name="Shape 15"/>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311700" y="445025"/>
            <a:ext cx="8520600" cy="572700"/>
          </a:xfrm>
          <a:prstGeom prst="rect">
            <a:avLst/>
          </a:prstGeom>
        </p:spPr>
        <p:txBody>
          <a:bodyPr wrap="square" lIns="91425" tIns="91425" rIns="91425" bIns="91425" anchor="t" anchorCtr="0"/>
          <a:lstStyle>
            <a:lvl1pPr lvl="0">
              <a:spcBef>
                <a:spcPts val="0"/>
              </a:spcBef>
              <a:buSzPts val="2800"/>
              <a:buNone/>
              <a:defRPr/>
            </a:lvl1pPr>
            <a:lvl2pPr lvl="1">
              <a:spcBef>
                <a:spcPts val="0"/>
              </a:spcBef>
              <a:buSzPts val="2800"/>
              <a:buNone/>
              <a:defRPr/>
            </a:lvl2pPr>
            <a:lvl3pPr lvl="2">
              <a:spcBef>
                <a:spcPts val="0"/>
              </a:spcBef>
              <a:buSzPts val="2800"/>
              <a:buNone/>
              <a:defRPr/>
            </a:lvl3pPr>
            <a:lvl4pPr lvl="3">
              <a:spcBef>
                <a:spcPts val="0"/>
              </a:spcBef>
              <a:buSzPts val="2800"/>
              <a:buNone/>
              <a:defRPr/>
            </a:lvl4pPr>
            <a:lvl5pPr lvl="4">
              <a:spcBef>
                <a:spcPts val="0"/>
              </a:spcBef>
              <a:buSzPts val="2800"/>
              <a:buNone/>
              <a:defRPr/>
            </a:lvl5pPr>
            <a:lvl6pPr lvl="5">
              <a:spcBef>
                <a:spcPts val="0"/>
              </a:spcBef>
              <a:buSzPts val="2800"/>
              <a:buNone/>
              <a:defRPr/>
            </a:lvl6pPr>
            <a:lvl7pPr lvl="6">
              <a:spcBef>
                <a:spcPts val="0"/>
              </a:spcBef>
              <a:buSzPts val="2800"/>
              <a:buNone/>
              <a:defRPr/>
            </a:lvl7pPr>
            <a:lvl8pPr lvl="7">
              <a:spcBef>
                <a:spcPts val="0"/>
              </a:spcBef>
              <a:buSzPts val="2800"/>
              <a:buNone/>
              <a:defRPr/>
            </a:lvl8pPr>
            <a:lvl9pPr lvl="8">
              <a:spcBef>
                <a:spcPts val="0"/>
              </a:spcBef>
              <a:buSzPts val="2800"/>
              <a:buNone/>
              <a:defRPr/>
            </a:lvl9pPr>
          </a:lstStyle>
          <a:p>
            <a:endParaRPr/>
          </a:p>
        </p:txBody>
      </p:sp>
      <p:sp>
        <p:nvSpPr>
          <p:cNvPr id="18" name="Shape 18"/>
          <p:cNvSpPr txBox="1">
            <a:spLocks noGrp="1"/>
          </p:cNvSpPr>
          <p:nvPr>
            <p:ph type="body" idx="1"/>
          </p:nvPr>
        </p:nvSpPr>
        <p:spPr>
          <a:xfrm>
            <a:off x="311700" y="1152475"/>
            <a:ext cx="8520600" cy="3416400"/>
          </a:xfrm>
          <a:prstGeom prst="rect">
            <a:avLst/>
          </a:prstGeom>
        </p:spPr>
        <p:txBody>
          <a:bodyPr wrap="square" lIns="91425" tIns="91425" rIns="91425" bIns="91425" anchor="t" anchorCtr="0"/>
          <a:lstStyle>
            <a:lvl1pPr lvl="0">
              <a:spcBef>
                <a:spcPts val="0"/>
              </a:spcBef>
              <a:buSzPts val="1800"/>
              <a:buChar char="●"/>
              <a:defRPr/>
            </a:lvl1pPr>
            <a:lvl2pPr lvl="1">
              <a:spcBef>
                <a:spcPts val="0"/>
              </a:spcBef>
              <a:buSzPts val="1400"/>
              <a:buChar char="○"/>
              <a:defRPr/>
            </a:lvl2pPr>
            <a:lvl3pPr lvl="2">
              <a:spcBef>
                <a:spcPts val="0"/>
              </a:spcBef>
              <a:buSzPts val="1400"/>
              <a:buChar char="■"/>
              <a:defRPr/>
            </a:lvl3pPr>
            <a:lvl4pPr lvl="3">
              <a:spcBef>
                <a:spcPts val="0"/>
              </a:spcBef>
              <a:buSzPts val="1400"/>
              <a:buChar char="●"/>
              <a:defRPr/>
            </a:lvl4pPr>
            <a:lvl5pPr lvl="4">
              <a:spcBef>
                <a:spcPts val="0"/>
              </a:spcBef>
              <a:buSzPts val="1400"/>
              <a:buChar char="○"/>
              <a:defRPr/>
            </a:lvl5pPr>
            <a:lvl6pPr lvl="5">
              <a:spcBef>
                <a:spcPts val="0"/>
              </a:spcBef>
              <a:buSzPts val="1400"/>
              <a:buChar char="■"/>
              <a:defRPr/>
            </a:lvl6pPr>
            <a:lvl7pPr lvl="6">
              <a:spcBef>
                <a:spcPts val="0"/>
              </a:spcBef>
              <a:buSzPts val="1400"/>
              <a:buChar char="●"/>
              <a:defRPr/>
            </a:lvl7pPr>
            <a:lvl8pPr lvl="7">
              <a:spcBef>
                <a:spcPts val="0"/>
              </a:spcBef>
              <a:buSzPts val="1400"/>
              <a:buChar char="○"/>
              <a:defRPr/>
            </a:lvl8pPr>
            <a:lvl9pPr lvl="8">
              <a:spcBef>
                <a:spcPts val="0"/>
              </a:spcBef>
              <a:buSzPts val="1400"/>
              <a:buChar char="■"/>
              <a:defRPr/>
            </a:lvl9pPr>
          </a:lstStyle>
          <a:p>
            <a:endParaRPr/>
          </a:p>
        </p:txBody>
      </p:sp>
      <p:sp>
        <p:nvSpPr>
          <p:cNvPr id="19" name="Shape 19"/>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0"/>
        <p:cNvGrpSpPr/>
        <p:nvPr/>
      </p:nvGrpSpPr>
      <p:grpSpPr>
        <a:xfrm>
          <a:off x="0" y="0"/>
          <a:ext cx="0" cy="0"/>
          <a:chOff x="0" y="0"/>
          <a:chExt cx="0" cy="0"/>
        </a:xfrm>
      </p:grpSpPr>
      <p:sp>
        <p:nvSpPr>
          <p:cNvPr id="21" name="Shape 21"/>
          <p:cNvSpPr txBox="1">
            <a:spLocks noGrp="1"/>
          </p:cNvSpPr>
          <p:nvPr>
            <p:ph type="title"/>
          </p:nvPr>
        </p:nvSpPr>
        <p:spPr>
          <a:xfrm>
            <a:off x="311700" y="445025"/>
            <a:ext cx="8520600" cy="572700"/>
          </a:xfrm>
          <a:prstGeom prst="rect">
            <a:avLst/>
          </a:prstGeom>
        </p:spPr>
        <p:txBody>
          <a:bodyPr wrap="square" lIns="91425" tIns="91425" rIns="91425" bIns="91425" anchor="t" anchorCtr="0"/>
          <a:lstStyle>
            <a:lvl1pPr lvl="0">
              <a:spcBef>
                <a:spcPts val="0"/>
              </a:spcBef>
              <a:buSzPts val="2800"/>
              <a:buNone/>
              <a:defRPr/>
            </a:lvl1pPr>
            <a:lvl2pPr lvl="1">
              <a:spcBef>
                <a:spcPts val="0"/>
              </a:spcBef>
              <a:buSzPts val="2800"/>
              <a:buNone/>
              <a:defRPr/>
            </a:lvl2pPr>
            <a:lvl3pPr lvl="2">
              <a:spcBef>
                <a:spcPts val="0"/>
              </a:spcBef>
              <a:buSzPts val="2800"/>
              <a:buNone/>
              <a:defRPr/>
            </a:lvl3pPr>
            <a:lvl4pPr lvl="3">
              <a:spcBef>
                <a:spcPts val="0"/>
              </a:spcBef>
              <a:buSzPts val="2800"/>
              <a:buNone/>
              <a:defRPr/>
            </a:lvl4pPr>
            <a:lvl5pPr lvl="4">
              <a:spcBef>
                <a:spcPts val="0"/>
              </a:spcBef>
              <a:buSzPts val="2800"/>
              <a:buNone/>
              <a:defRPr/>
            </a:lvl5pPr>
            <a:lvl6pPr lvl="5">
              <a:spcBef>
                <a:spcPts val="0"/>
              </a:spcBef>
              <a:buSzPts val="2800"/>
              <a:buNone/>
              <a:defRPr/>
            </a:lvl6pPr>
            <a:lvl7pPr lvl="6">
              <a:spcBef>
                <a:spcPts val="0"/>
              </a:spcBef>
              <a:buSzPts val="2800"/>
              <a:buNone/>
              <a:defRPr/>
            </a:lvl7pPr>
            <a:lvl8pPr lvl="7">
              <a:spcBef>
                <a:spcPts val="0"/>
              </a:spcBef>
              <a:buSzPts val="2800"/>
              <a:buNone/>
              <a:defRPr/>
            </a:lvl8pPr>
            <a:lvl9pPr lvl="8">
              <a:spcBef>
                <a:spcPts val="0"/>
              </a:spcBef>
              <a:buSzPts val="2800"/>
              <a:buNone/>
              <a:defRPr/>
            </a:lvl9pPr>
          </a:lstStyle>
          <a:p>
            <a:endParaRPr/>
          </a:p>
        </p:txBody>
      </p:sp>
      <p:sp>
        <p:nvSpPr>
          <p:cNvPr id="22" name="Shape 22"/>
          <p:cNvSpPr txBox="1">
            <a:spLocks noGrp="1"/>
          </p:cNvSpPr>
          <p:nvPr>
            <p:ph type="body" idx="1"/>
          </p:nvPr>
        </p:nvSpPr>
        <p:spPr>
          <a:xfrm>
            <a:off x="311700" y="1152475"/>
            <a:ext cx="3999900" cy="3416400"/>
          </a:xfrm>
          <a:prstGeom prst="rect">
            <a:avLst/>
          </a:prstGeom>
        </p:spPr>
        <p:txBody>
          <a:bodyPr wrap="square" lIns="91425" tIns="91425" rIns="91425" bIns="91425" anchor="t" anchorCtr="0"/>
          <a:lstStyle>
            <a:lvl1pPr lvl="0">
              <a:spcBef>
                <a:spcPts val="0"/>
              </a:spcBef>
              <a:buSzPts val="1400"/>
              <a:buChar char="●"/>
              <a:defRPr sz="1400"/>
            </a:lvl1pPr>
            <a:lvl2pPr lvl="1">
              <a:spcBef>
                <a:spcPts val="0"/>
              </a:spcBef>
              <a:buSzPts val="1200"/>
              <a:buChar char="○"/>
              <a:defRPr sz="1200"/>
            </a:lvl2pPr>
            <a:lvl3pPr lvl="2">
              <a:spcBef>
                <a:spcPts val="0"/>
              </a:spcBef>
              <a:buSzPts val="1200"/>
              <a:buChar char="■"/>
              <a:defRPr sz="1200"/>
            </a:lvl3pPr>
            <a:lvl4pPr lvl="3">
              <a:spcBef>
                <a:spcPts val="0"/>
              </a:spcBef>
              <a:buSzPts val="1200"/>
              <a:buChar char="●"/>
              <a:defRPr sz="1200"/>
            </a:lvl4pPr>
            <a:lvl5pPr lvl="4">
              <a:spcBef>
                <a:spcPts val="0"/>
              </a:spcBef>
              <a:buSzPts val="1200"/>
              <a:buChar char="○"/>
              <a:defRPr sz="1200"/>
            </a:lvl5pPr>
            <a:lvl6pPr lvl="5">
              <a:spcBef>
                <a:spcPts val="0"/>
              </a:spcBef>
              <a:buSzPts val="1200"/>
              <a:buChar char="■"/>
              <a:defRPr sz="1200"/>
            </a:lvl6pPr>
            <a:lvl7pPr lvl="6">
              <a:spcBef>
                <a:spcPts val="0"/>
              </a:spcBef>
              <a:buSzPts val="1200"/>
              <a:buChar char="●"/>
              <a:defRPr sz="1200"/>
            </a:lvl7pPr>
            <a:lvl8pPr lvl="7">
              <a:spcBef>
                <a:spcPts val="0"/>
              </a:spcBef>
              <a:buSzPts val="1200"/>
              <a:buChar char="○"/>
              <a:defRPr sz="1200"/>
            </a:lvl8pPr>
            <a:lvl9pPr lvl="8">
              <a:spcBef>
                <a:spcPts val="0"/>
              </a:spcBef>
              <a:buSzPts val="1200"/>
              <a:buChar char="■"/>
              <a:defRPr sz="1200"/>
            </a:lvl9pPr>
          </a:lstStyle>
          <a:p>
            <a:endParaRPr/>
          </a:p>
        </p:txBody>
      </p:sp>
      <p:sp>
        <p:nvSpPr>
          <p:cNvPr id="23" name="Shape 23"/>
          <p:cNvSpPr txBox="1">
            <a:spLocks noGrp="1"/>
          </p:cNvSpPr>
          <p:nvPr>
            <p:ph type="body" idx="2"/>
          </p:nvPr>
        </p:nvSpPr>
        <p:spPr>
          <a:xfrm>
            <a:off x="4832400" y="1152475"/>
            <a:ext cx="3999900" cy="3416400"/>
          </a:xfrm>
          <a:prstGeom prst="rect">
            <a:avLst/>
          </a:prstGeom>
        </p:spPr>
        <p:txBody>
          <a:bodyPr wrap="square" lIns="91425" tIns="91425" rIns="91425" bIns="91425" anchor="t" anchorCtr="0"/>
          <a:lstStyle>
            <a:lvl1pPr lvl="0">
              <a:spcBef>
                <a:spcPts val="0"/>
              </a:spcBef>
              <a:buSzPts val="1400"/>
              <a:buChar char="●"/>
              <a:defRPr sz="1400"/>
            </a:lvl1pPr>
            <a:lvl2pPr lvl="1">
              <a:spcBef>
                <a:spcPts val="0"/>
              </a:spcBef>
              <a:buSzPts val="1200"/>
              <a:buChar char="○"/>
              <a:defRPr sz="1200"/>
            </a:lvl2pPr>
            <a:lvl3pPr lvl="2">
              <a:spcBef>
                <a:spcPts val="0"/>
              </a:spcBef>
              <a:buSzPts val="1200"/>
              <a:buChar char="■"/>
              <a:defRPr sz="1200"/>
            </a:lvl3pPr>
            <a:lvl4pPr lvl="3">
              <a:spcBef>
                <a:spcPts val="0"/>
              </a:spcBef>
              <a:buSzPts val="1200"/>
              <a:buChar char="●"/>
              <a:defRPr sz="1200"/>
            </a:lvl4pPr>
            <a:lvl5pPr lvl="4">
              <a:spcBef>
                <a:spcPts val="0"/>
              </a:spcBef>
              <a:buSzPts val="1200"/>
              <a:buChar char="○"/>
              <a:defRPr sz="1200"/>
            </a:lvl5pPr>
            <a:lvl6pPr lvl="5">
              <a:spcBef>
                <a:spcPts val="0"/>
              </a:spcBef>
              <a:buSzPts val="1200"/>
              <a:buChar char="■"/>
              <a:defRPr sz="1200"/>
            </a:lvl6pPr>
            <a:lvl7pPr lvl="6">
              <a:spcBef>
                <a:spcPts val="0"/>
              </a:spcBef>
              <a:buSzPts val="1200"/>
              <a:buChar char="●"/>
              <a:defRPr sz="1200"/>
            </a:lvl7pPr>
            <a:lvl8pPr lvl="7">
              <a:spcBef>
                <a:spcPts val="0"/>
              </a:spcBef>
              <a:buSzPts val="1200"/>
              <a:buChar char="○"/>
              <a:defRPr sz="1200"/>
            </a:lvl8pPr>
            <a:lvl9pPr lvl="8">
              <a:spcBef>
                <a:spcPts val="0"/>
              </a:spcBef>
              <a:buSzPts val="1200"/>
              <a:buChar char="■"/>
              <a:defRPr sz="1200"/>
            </a:lvl9pPr>
          </a:lstStyle>
          <a:p>
            <a:endParaRPr/>
          </a:p>
        </p:txBody>
      </p:sp>
      <p:sp>
        <p:nvSpPr>
          <p:cNvPr id="24" name="Shape 24"/>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25"/>
        <p:cNvGrpSpPr/>
        <p:nvPr/>
      </p:nvGrpSpPr>
      <p:grpSpPr>
        <a:xfrm>
          <a:off x="0" y="0"/>
          <a:ext cx="0" cy="0"/>
          <a:chOff x="0" y="0"/>
          <a:chExt cx="0" cy="0"/>
        </a:xfrm>
      </p:grpSpPr>
      <p:sp>
        <p:nvSpPr>
          <p:cNvPr id="26" name="Shape 26"/>
          <p:cNvSpPr txBox="1">
            <a:spLocks noGrp="1"/>
          </p:cNvSpPr>
          <p:nvPr>
            <p:ph type="title"/>
          </p:nvPr>
        </p:nvSpPr>
        <p:spPr>
          <a:xfrm>
            <a:off x="311700" y="445025"/>
            <a:ext cx="8520600" cy="572700"/>
          </a:xfrm>
          <a:prstGeom prst="rect">
            <a:avLst/>
          </a:prstGeom>
        </p:spPr>
        <p:txBody>
          <a:bodyPr wrap="square" lIns="91425" tIns="91425" rIns="91425" bIns="91425" anchor="t" anchorCtr="0"/>
          <a:lstStyle>
            <a:lvl1pPr lvl="0">
              <a:spcBef>
                <a:spcPts val="0"/>
              </a:spcBef>
              <a:buSzPts val="2800"/>
              <a:buNone/>
              <a:defRPr/>
            </a:lvl1pPr>
            <a:lvl2pPr lvl="1">
              <a:spcBef>
                <a:spcPts val="0"/>
              </a:spcBef>
              <a:buSzPts val="2800"/>
              <a:buNone/>
              <a:defRPr/>
            </a:lvl2pPr>
            <a:lvl3pPr lvl="2">
              <a:spcBef>
                <a:spcPts val="0"/>
              </a:spcBef>
              <a:buSzPts val="2800"/>
              <a:buNone/>
              <a:defRPr/>
            </a:lvl3pPr>
            <a:lvl4pPr lvl="3">
              <a:spcBef>
                <a:spcPts val="0"/>
              </a:spcBef>
              <a:buSzPts val="2800"/>
              <a:buNone/>
              <a:defRPr/>
            </a:lvl4pPr>
            <a:lvl5pPr lvl="4">
              <a:spcBef>
                <a:spcPts val="0"/>
              </a:spcBef>
              <a:buSzPts val="2800"/>
              <a:buNone/>
              <a:defRPr/>
            </a:lvl5pPr>
            <a:lvl6pPr lvl="5">
              <a:spcBef>
                <a:spcPts val="0"/>
              </a:spcBef>
              <a:buSzPts val="2800"/>
              <a:buNone/>
              <a:defRPr/>
            </a:lvl6pPr>
            <a:lvl7pPr lvl="6">
              <a:spcBef>
                <a:spcPts val="0"/>
              </a:spcBef>
              <a:buSzPts val="2800"/>
              <a:buNone/>
              <a:defRPr/>
            </a:lvl7pPr>
            <a:lvl8pPr lvl="7">
              <a:spcBef>
                <a:spcPts val="0"/>
              </a:spcBef>
              <a:buSzPts val="2800"/>
              <a:buNone/>
              <a:defRPr/>
            </a:lvl8pPr>
            <a:lvl9pPr lvl="8">
              <a:spcBef>
                <a:spcPts val="0"/>
              </a:spcBef>
              <a:buSzPts val="2800"/>
              <a:buNone/>
              <a:defRPr/>
            </a:lvl9pPr>
          </a:lstStyle>
          <a:p>
            <a:endParaRPr/>
          </a:p>
        </p:txBody>
      </p:sp>
      <p:sp>
        <p:nvSpPr>
          <p:cNvPr id="27" name="Shape 27"/>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311700" y="555600"/>
            <a:ext cx="2808000" cy="755700"/>
          </a:xfrm>
          <a:prstGeom prst="rect">
            <a:avLst/>
          </a:prstGeom>
        </p:spPr>
        <p:txBody>
          <a:bodyPr wrap="square" lIns="91425" tIns="91425" rIns="91425" bIns="91425" anchor="b" anchorCtr="0"/>
          <a:lstStyle>
            <a:lvl1pPr lvl="0">
              <a:spcBef>
                <a:spcPts val="0"/>
              </a:spcBef>
              <a:buSzPts val="2400"/>
              <a:buNone/>
              <a:defRPr sz="2400"/>
            </a:lvl1pPr>
            <a:lvl2pPr lvl="1">
              <a:spcBef>
                <a:spcPts val="0"/>
              </a:spcBef>
              <a:buSzPts val="2400"/>
              <a:buNone/>
              <a:defRPr sz="2400"/>
            </a:lvl2pPr>
            <a:lvl3pPr lvl="2">
              <a:spcBef>
                <a:spcPts val="0"/>
              </a:spcBef>
              <a:buSzPts val="2400"/>
              <a:buNone/>
              <a:defRPr sz="2400"/>
            </a:lvl3pPr>
            <a:lvl4pPr lvl="3">
              <a:spcBef>
                <a:spcPts val="0"/>
              </a:spcBef>
              <a:buSzPts val="2400"/>
              <a:buNone/>
              <a:defRPr sz="2400"/>
            </a:lvl4pPr>
            <a:lvl5pPr lvl="4">
              <a:spcBef>
                <a:spcPts val="0"/>
              </a:spcBef>
              <a:buSzPts val="2400"/>
              <a:buNone/>
              <a:defRPr sz="2400"/>
            </a:lvl5pPr>
            <a:lvl6pPr lvl="5">
              <a:spcBef>
                <a:spcPts val="0"/>
              </a:spcBef>
              <a:buSzPts val="2400"/>
              <a:buNone/>
              <a:defRPr sz="2400"/>
            </a:lvl6pPr>
            <a:lvl7pPr lvl="6">
              <a:spcBef>
                <a:spcPts val="0"/>
              </a:spcBef>
              <a:buSzPts val="2400"/>
              <a:buNone/>
              <a:defRPr sz="2400"/>
            </a:lvl7pPr>
            <a:lvl8pPr lvl="7">
              <a:spcBef>
                <a:spcPts val="0"/>
              </a:spcBef>
              <a:buSzPts val="2400"/>
              <a:buNone/>
              <a:defRPr sz="2400"/>
            </a:lvl8pPr>
            <a:lvl9pPr lvl="8">
              <a:spcBef>
                <a:spcPts val="0"/>
              </a:spcBef>
              <a:buSzPts val="2400"/>
              <a:buNone/>
              <a:defRPr sz="2400"/>
            </a:lvl9pPr>
          </a:lstStyle>
          <a:p>
            <a:endParaRPr/>
          </a:p>
        </p:txBody>
      </p:sp>
      <p:sp>
        <p:nvSpPr>
          <p:cNvPr id="30" name="Shape 30"/>
          <p:cNvSpPr txBox="1">
            <a:spLocks noGrp="1"/>
          </p:cNvSpPr>
          <p:nvPr>
            <p:ph type="body" idx="1"/>
          </p:nvPr>
        </p:nvSpPr>
        <p:spPr>
          <a:xfrm>
            <a:off x="311700" y="1389600"/>
            <a:ext cx="2808000" cy="3179400"/>
          </a:xfrm>
          <a:prstGeom prst="rect">
            <a:avLst/>
          </a:prstGeom>
        </p:spPr>
        <p:txBody>
          <a:bodyPr wrap="square" lIns="91425" tIns="91425" rIns="91425" bIns="91425" anchor="t" anchorCtr="0"/>
          <a:lstStyle>
            <a:lvl1pPr lvl="0">
              <a:spcBef>
                <a:spcPts val="0"/>
              </a:spcBef>
              <a:buSzPts val="1200"/>
              <a:buChar char="●"/>
              <a:defRPr sz="1200"/>
            </a:lvl1pPr>
            <a:lvl2pPr lvl="1">
              <a:spcBef>
                <a:spcPts val="0"/>
              </a:spcBef>
              <a:buSzPts val="1200"/>
              <a:buChar char="○"/>
              <a:defRPr sz="1200"/>
            </a:lvl2pPr>
            <a:lvl3pPr lvl="2">
              <a:spcBef>
                <a:spcPts val="0"/>
              </a:spcBef>
              <a:buSzPts val="1200"/>
              <a:buChar char="■"/>
              <a:defRPr sz="1200"/>
            </a:lvl3pPr>
            <a:lvl4pPr lvl="3">
              <a:spcBef>
                <a:spcPts val="0"/>
              </a:spcBef>
              <a:buSzPts val="1200"/>
              <a:buChar char="●"/>
              <a:defRPr sz="1200"/>
            </a:lvl4pPr>
            <a:lvl5pPr lvl="4">
              <a:spcBef>
                <a:spcPts val="0"/>
              </a:spcBef>
              <a:buSzPts val="1200"/>
              <a:buChar char="○"/>
              <a:defRPr sz="1200"/>
            </a:lvl5pPr>
            <a:lvl6pPr lvl="5">
              <a:spcBef>
                <a:spcPts val="0"/>
              </a:spcBef>
              <a:buSzPts val="1200"/>
              <a:buChar char="■"/>
              <a:defRPr sz="1200"/>
            </a:lvl6pPr>
            <a:lvl7pPr lvl="6">
              <a:spcBef>
                <a:spcPts val="0"/>
              </a:spcBef>
              <a:buSzPts val="1200"/>
              <a:buChar char="●"/>
              <a:defRPr sz="1200"/>
            </a:lvl7pPr>
            <a:lvl8pPr lvl="7">
              <a:spcBef>
                <a:spcPts val="0"/>
              </a:spcBef>
              <a:buSzPts val="1200"/>
              <a:buChar char="○"/>
              <a:defRPr sz="1200"/>
            </a:lvl8pPr>
            <a:lvl9pPr lvl="8">
              <a:spcBef>
                <a:spcPts val="0"/>
              </a:spcBef>
              <a:buSzPts val="1200"/>
              <a:buChar char="■"/>
              <a:defRPr sz="1200"/>
            </a:lvl9pPr>
          </a:lstStyle>
          <a:p>
            <a:endParaRPr/>
          </a:p>
        </p:txBody>
      </p:sp>
      <p:sp>
        <p:nvSpPr>
          <p:cNvPr id="31" name="Shape 31"/>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Main point">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490250" y="450150"/>
            <a:ext cx="6367800" cy="4090800"/>
          </a:xfrm>
          <a:prstGeom prst="rect">
            <a:avLst/>
          </a:prstGeom>
        </p:spPr>
        <p:txBody>
          <a:bodyPr wrap="square" lIns="91425" tIns="91425" rIns="91425" bIns="91425" anchor="ctr" anchorCtr="0"/>
          <a:lstStyle>
            <a:lvl1pPr lvl="0">
              <a:spcBef>
                <a:spcPts val="0"/>
              </a:spcBef>
              <a:buSzPts val="4800"/>
              <a:buNone/>
              <a:defRPr sz="4800"/>
            </a:lvl1pPr>
            <a:lvl2pPr lvl="1">
              <a:spcBef>
                <a:spcPts val="0"/>
              </a:spcBef>
              <a:buSzPts val="4800"/>
              <a:buNone/>
              <a:defRPr sz="4800"/>
            </a:lvl2pPr>
            <a:lvl3pPr lvl="2">
              <a:spcBef>
                <a:spcPts val="0"/>
              </a:spcBef>
              <a:buSzPts val="4800"/>
              <a:buNone/>
              <a:defRPr sz="4800"/>
            </a:lvl3pPr>
            <a:lvl4pPr lvl="3">
              <a:spcBef>
                <a:spcPts val="0"/>
              </a:spcBef>
              <a:buSzPts val="4800"/>
              <a:buNone/>
              <a:defRPr sz="4800"/>
            </a:lvl4pPr>
            <a:lvl5pPr lvl="4">
              <a:spcBef>
                <a:spcPts val="0"/>
              </a:spcBef>
              <a:buSzPts val="4800"/>
              <a:buNone/>
              <a:defRPr sz="4800"/>
            </a:lvl5pPr>
            <a:lvl6pPr lvl="5">
              <a:spcBef>
                <a:spcPts val="0"/>
              </a:spcBef>
              <a:buSzPts val="4800"/>
              <a:buNone/>
              <a:defRPr sz="4800"/>
            </a:lvl6pPr>
            <a:lvl7pPr lvl="6">
              <a:spcBef>
                <a:spcPts val="0"/>
              </a:spcBef>
              <a:buSzPts val="4800"/>
              <a:buNone/>
              <a:defRPr sz="4800"/>
            </a:lvl7pPr>
            <a:lvl8pPr lvl="7">
              <a:spcBef>
                <a:spcPts val="0"/>
              </a:spcBef>
              <a:buSzPts val="4800"/>
              <a:buNone/>
              <a:defRPr sz="4800"/>
            </a:lvl8pPr>
            <a:lvl9pPr lvl="8">
              <a:spcBef>
                <a:spcPts val="0"/>
              </a:spcBef>
              <a:buSzPts val="4800"/>
              <a:buNone/>
              <a:defRPr sz="4800"/>
            </a:lvl9pPr>
          </a:lstStyle>
          <a:p>
            <a:endParaRPr/>
          </a:p>
        </p:txBody>
      </p:sp>
      <p:sp>
        <p:nvSpPr>
          <p:cNvPr id="34" name="Shape 34"/>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ection title and description">
    <p:spTree>
      <p:nvGrpSpPr>
        <p:cNvPr id="1" name="Shape 35"/>
        <p:cNvGrpSpPr/>
        <p:nvPr/>
      </p:nvGrpSpPr>
      <p:grpSpPr>
        <a:xfrm>
          <a:off x="0" y="0"/>
          <a:ext cx="0" cy="0"/>
          <a:chOff x="0" y="0"/>
          <a:chExt cx="0" cy="0"/>
        </a:xfrm>
      </p:grpSpPr>
      <p:sp>
        <p:nvSpPr>
          <p:cNvPr id="36" name="Shape 36"/>
          <p:cNvSpPr/>
          <p:nvPr/>
        </p:nvSpPr>
        <p:spPr>
          <a:xfrm>
            <a:off x="4572000" y="-125"/>
            <a:ext cx="4572000" cy="5143500"/>
          </a:xfrm>
          <a:prstGeom prst="rect">
            <a:avLst/>
          </a:prstGeom>
          <a:solidFill>
            <a:schemeClr val="lt2"/>
          </a:solidFill>
          <a:ln>
            <a:noFill/>
          </a:ln>
        </p:spPr>
        <p:txBody>
          <a:bodyPr wrap="square" lIns="91425" tIns="91425" rIns="91425" bIns="91425" anchor="ctr" anchorCtr="0">
            <a:noAutofit/>
          </a:bodyPr>
          <a:lstStyle/>
          <a:p>
            <a:pPr marL="0" lvl="0" indent="0">
              <a:spcBef>
                <a:spcPts val="0"/>
              </a:spcBef>
              <a:buNone/>
            </a:pPr>
            <a:endParaRPr/>
          </a:p>
        </p:txBody>
      </p:sp>
      <p:sp>
        <p:nvSpPr>
          <p:cNvPr id="37" name="Shape 37"/>
          <p:cNvSpPr txBox="1">
            <a:spLocks noGrp="1"/>
          </p:cNvSpPr>
          <p:nvPr>
            <p:ph type="title"/>
          </p:nvPr>
        </p:nvSpPr>
        <p:spPr>
          <a:xfrm>
            <a:off x="265500" y="1233175"/>
            <a:ext cx="4045200" cy="1482300"/>
          </a:xfrm>
          <a:prstGeom prst="rect">
            <a:avLst/>
          </a:prstGeom>
        </p:spPr>
        <p:txBody>
          <a:bodyPr wrap="square" lIns="91425" tIns="91425" rIns="91425" bIns="91425" anchor="b" anchorCtr="0"/>
          <a:lstStyle>
            <a:lvl1pPr lvl="0" algn="ctr">
              <a:spcBef>
                <a:spcPts val="0"/>
              </a:spcBef>
              <a:buSzPts val="4200"/>
              <a:buNone/>
              <a:defRPr sz="4200"/>
            </a:lvl1pPr>
            <a:lvl2pPr lvl="1" algn="ctr">
              <a:spcBef>
                <a:spcPts val="0"/>
              </a:spcBef>
              <a:buSzPts val="4200"/>
              <a:buNone/>
              <a:defRPr sz="4200"/>
            </a:lvl2pPr>
            <a:lvl3pPr lvl="2" algn="ctr">
              <a:spcBef>
                <a:spcPts val="0"/>
              </a:spcBef>
              <a:buSzPts val="4200"/>
              <a:buNone/>
              <a:defRPr sz="4200"/>
            </a:lvl3pPr>
            <a:lvl4pPr lvl="3" algn="ctr">
              <a:spcBef>
                <a:spcPts val="0"/>
              </a:spcBef>
              <a:buSzPts val="4200"/>
              <a:buNone/>
              <a:defRPr sz="4200"/>
            </a:lvl4pPr>
            <a:lvl5pPr lvl="4" algn="ctr">
              <a:spcBef>
                <a:spcPts val="0"/>
              </a:spcBef>
              <a:buSzPts val="4200"/>
              <a:buNone/>
              <a:defRPr sz="4200"/>
            </a:lvl5pPr>
            <a:lvl6pPr lvl="5" algn="ctr">
              <a:spcBef>
                <a:spcPts val="0"/>
              </a:spcBef>
              <a:buSzPts val="4200"/>
              <a:buNone/>
              <a:defRPr sz="4200"/>
            </a:lvl6pPr>
            <a:lvl7pPr lvl="6" algn="ctr">
              <a:spcBef>
                <a:spcPts val="0"/>
              </a:spcBef>
              <a:buSzPts val="4200"/>
              <a:buNone/>
              <a:defRPr sz="4200"/>
            </a:lvl7pPr>
            <a:lvl8pPr lvl="7" algn="ctr">
              <a:spcBef>
                <a:spcPts val="0"/>
              </a:spcBef>
              <a:buSzPts val="4200"/>
              <a:buNone/>
              <a:defRPr sz="4200"/>
            </a:lvl8pPr>
            <a:lvl9pPr lvl="8" algn="ctr">
              <a:spcBef>
                <a:spcPts val="0"/>
              </a:spcBef>
              <a:buSzPts val="4200"/>
              <a:buNone/>
              <a:defRPr sz="4200"/>
            </a:lvl9pPr>
          </a:lstStyle>
          <a:p>
            <a:endParaRPr/>
          </a:p>
        </p:txBody>
      </p:sp>
      <p:sp>
        <p:nvSpPr>
          <p:cNvPr id="38" name="Shape 38"/>
          <p:cNvSpPr txBox="1">
            <a:spLocks noGrp="1"/>
          </p:cNvSpPr>
          <p:nvPr>
            <p:ph type="subTitle" idx="1"/>
          </p:nvPr>
        </p:nvSpPr>
        <p:spPr>
          <a:xfrm>
            <a:off x="265500" y="2803075"/>
            <a:ext cx="4045200" cy="1235100"/>
          </a:xfrm>
          <a:prstGeom prst="rect">
            <a:avLst/>
          </a:prstGeom>
        </p:spPr>
        <p:txBody>
          <a:bodyPr wrap="square" lIns="91425" tIns="91425" rIns="91425" bIns="91425" anchor="t" anchorCtr="0"/>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Shape 39"/>
          <p:cNvSpPr txBox="1">
            <a:spLocks noGrp="1"/>
          </p:cNvSpPr>
          <p:nvPr>
            <p:ph type="body" idx="2"/>
          </p:nvPr>
        </p:nvSpPr>
        <p:spPr>
          <a:xfrm>
            <a:off x="4939500" y="724075"/>
            <a:ext cx="3837000" cy="3695100"/>
          </a:xfrm>
          <a:prstGeom prst="rect">
            <a:avLst/>
          </a:prstGeom>
        </p:spPr>
        <p:txBody>
          <a:bodyPr wrap="square" lIns="91425" tIns="91425" rIns="91425" bIns="91425" anchor="ctr" anchorCtr="0"/>
          <a:lstStyle>
            <a:lvl1pPr lvl="0">
              <a:spcBef>
                <a:spcPts val="0"/>
              </a:spcBef>
              <a:buSzPts val="1800"/>
              <a:buChar char="●"/>
              <a:defRPr/>
            </a:lvl1pPr>
            <a:lvl2pPr lvl="1">
              <a:spcBef>
                <a:spcPts val="0"/>
              </a:spcBef>
              <a:buSzPts val="1400"/>
              <a:buChar char="○"/>
              <a:defRPr/>
            </a:lvl2pPr>
            <a:lvl3pPr lvl="2">
              <a:spcBef>
                <a:spcPts val="0"/>
              </a:spcBef>
              <a:buSzPts val="1400"/>
              <a:buChar char="■"/>
              <a:defRPr/>
            </a:lvl3pPr>
            <a:lvl4pPr lvl="3">
              <a:spcBef>
                <a:spcPts val="0"/>
              </a:spcBef>
              <a:buSzPts val="1400"/>
              <a:buChar char="●"/>
              <a:defRPr/>
            </a:lvl4pPr>
            <a:lvl5pPr lvl="4">
              <a:spcBef>
                <a:spcPts val="0"/>
              </a:spcBef>
              <a:buSzPts val="1400"/>
              <a:buChar char="○"/>
              <a:defRPr/>
            </a:lvl5pPr>
            <a:lvl6pPr lvl="5">
              <a:spcBef>
                <a:spcPts val="0"/>
              </a:spcBef>
              <a:buSzPts val="1400"/>
              <a:buChar char="■"/>
              <a:defRPr/>
            </a:lvl6pPr>
            <a:lvl7pPr lvl="6">
              <a:spcBef>
                <a:spcPts val="0"/>
              </a:spcBef>
              <a:buSzPts val="1400"/>
              <a:buChar char="●"/>
              <a:defRPr/>
            </a:lvl7pPr>
            <a:lvl8pPr lvl="7">
              <a:spcBef>
                <a:spcPts val="0"/>
              </a:spcBef>
              <a:buSzPts val="1400"/>
              <a:buChar char="○"/>
              <a:defRPr/>
            </a:lvl8pPr>
            <a:lvl9pPr lvl="8">
              <a:spcBef>
                <a:spcPts val="0"/>
              </a:spcBef>
              <a:buSzPts val="1400"/>
              <a:buChar char="■"/>
              <a:defRPr/>
            </a:lvl9pPr>
          </a:lstStyle>
          <a:p>
            <a:endParaRPr/>
          </a:p>
        </p:txBody>
      </p:sp>
      <p:sp>
        <p:nvSpPr>
          <p:cNvPr id="40" name="Shape 40"/>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aption">
    <p:spTree>
      <p:nvGrpSpPr>
        <p:cNvPr id="1" name="Shape 41"/>
        <p:cNvGrpSpPr/>
        <p:nvPr/>
      </p:nvGrpSpPr>
      <p:grpSpPr>
        <a:xfrm>
          <a:off x="0" y="0"/>
          <a:ext cx="0" cy="0"/>
          <a:chOff x="0" y="0"/>
          <a:chExt cx="0" cy="0"/>
        </a:xfrm>
      </p:grpSpPr>
      <p:sp>
        <p:nvSpPr>
          <p:cNvPr id="42" name="Shape 42"/>
          <p:cNvSpPr txBox="1">
            <a:spLocks noGrp="1"/>
          </p:cNvSpPr>
          <p:nvPr>
            <p:ph type="body" idx="1"/>
          </p:nvPr>
        </p:nvSpPr>
        <p:spPr>
          <a:xfrm>
            <a:off x="311700" y="4230575"/>
            <a:ext cx="5998800" cy="605100"/>
          </a:xfrm>
          <a:prstGeom prst="rect">
            <a:avLst/>
          </a:prstGeom>
        </p:spPr>
        <p:txBody>
          <a:bodyPr wrap="square" lIns="91425" tIns="91425" rIns="91425" bIns="91425" anchor="ctr" anchorCtr="0"/>
          <a:lstStyle>
            <a:lvl1pPr lvl="0">
              <a:lnSpc>
                <a:spcPct val="100000"/>
              </a:lnSpc>
              <a:spcBef>
                <a:spcPts val="0"/>
              </a:spcBef>
              <a:spcAft>
                <a:spcPts val="0"/>
              </a:spcAft>
              <a:buSzPts val="1800"/>
              <a:buNone/>
              <a:defRPr/>
            </a:lvl1pPr>
          </a:lstStyle>
          <a:p>
            <a:endParaRPr/>
          </a:p>
        </p:txBody>
      </p:sp>
      <p:sp>
        <p:nvSpPr>
          <p:cNvPr id="43" name="Shape 43"/>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Big number">
    <p:spTree>
      <p:nvGrpSpPr>
        <p:cNvPr id="1" name="Shape 44"/>
        <p:cNvGrpSpPr/>
        <p:nvPr/>
      </p:nvGrpSpPr>
      <p:grpSpPr>
        <a:xfrm>
          <a:off x="0" y="0"/>
          <a:ext cx="0" cy="0"/>
          <a:chOff x="0" y="0"/>
          <a:chExt cx="0" cy="0"/>
        </a:xfrm>
      </p:grpSpPr>
      <p:sp>
        <p:nvSpPr>
          <p:cNvPr id="45" name="Shape 45"/>
          <p:cNvSpPr txBox="1">
            <a:spLocks noGrp="1"/>
          </p:cNvSpPr>
          <p:nvPr>
            <p:ph type="title"/>
          </p:nvPr>
        </p:nvSpPr>
        <p:spPr>
          <a:xfrm>
            <a:off x="311700" y="1106125"/>
            <a:ext cx="8520600" cy="1963500"/>
          </a:xfrm>
          <a:prstGeom prst="rect">
            <a:avLst/>
          </a:prstGeom>
        </p:spPr>
        <p:txBody>
          <a:bodyPr wrap="square" lIns="91425" tIns="91425" rIns="91425" bIns="91425" anchor="b" anchorCtr="0"/>
          <a:lstStyle>
            <a:lvl1pPr lvl="0" algn="ctr">
              <a:spcBef>
                <a:spcPts val="0"/>
              </a:spcBef>
              <a:buSzPts val="12000"/>
              <a:buNone/>
              <a:defRPr sz="12000"/>
            </a:lvl1pPr>
            <a:lvl2pPr lvl="1" algn="ctr">
              <a:spcBef>
                <a:spcPts val="0"/>
              </a:spcBef>
              <a:buSzPts val="12000"/>
              <a:buNone/>
              <a:defRPr sz="12000"/>
            </a:lvl2pPr>
            <a:lvl3pPr lvl="2" algn="ctr">
              <a:spcBef>
                <a:spcPts val="0"/>
              </a:spcBef>
              <a:buSzPts val="12000"/>
              <a:buNone/>
              <a:defRPr sz="12000"/>
            </a:lvl3pPr>
            <a:lvl4pPr lvl="3" algn="ctr">
              <a:spcBef>
                <a:spcPts val="0"/>
              </a:spcBef>
              <a:buSzPts val="12000"/>
              <a:buNone/>
              <a:defRPr sz="12000"/>
            </a:lvl4pPr>
            <a:lvl5pPr lvl="4" algn="ctr">
              <a:spcBef>
                <a:spcPts val="0"/>
              </a:spcBef>
              <a:buSzPts val="12000"/>
              <a:buNone/>
              <a:defRPr sz="12000"/>
            </a:lvl5pPr>
            <a:lvl6pPr lvl="5" algn="ctr">
              <a:spcBef>
                <a:spcPts val="0"/>
              </a:spcBef>
              <a:buSzPts val="12000"/>
              <a:buNone/>
              <a:defRPr sz="12000"/>
            </a:lvl6pPr>
            <a:lvl7pPr lvl="6" algn="ctr">
              <a:spcBef>
                <a:spcPts val="0"/>
              </a:spcBef>
              <a:buSzPts val="12000"/>
              <a:buNone/>
              <a:defRPr sz="12000"/>
            </a:lvl7pPr>
            <a:lvl8pPr lvl="7" algn="ctr">
              <a:spcBef>
                <a:spcPts val="0"/>
              </a:spcBef>
              <a:buSzPts val="12000"/>
              <a:buNone/>
              <a:defRPr sz="12000"/>
            </a:lvl8pPr>
            <a:lvl9pPr lvl="8" algn="ctr">
              <a:spcBef>
                <a:spcPts val="0"/>
              </a:spcBef>
              <a:buSzPts val="12000"/>
              <a:buNone/>
              <a:defRPr sz="12000"/>
            </a:lvl9pPr>
          </a:lstStyle>
          <a:p>
            <a:endParaRPr/>
          </a:p>
        </p:txBody>
      </p:sp>
      <p:sp>
        <p:nvSpPr>
          <p:cNvPr id="46" name="Shape 46"/>
          <p:cNvSpPr txBox="1">
            <a:spLocks noGrp="1"/>
          </p:cNvSpPr>
          <p:nvPr>
            <p:ph type="body" idx="1"/>
          </p:nvPr>
        </p:nvSpPr>
        <p:spPr>
          <a:xfrm>
            <a:off x="311700" y="3152225"/>
            <a:ext cx="8520600" cy="1300800"/>
          </a:xfrm>
          <a:prstGeom prst="rect">
            <a:avLst/>
          </a:prstGeom>
        </p:spPr>
        <p:txBody>
          <a:bodyPr wrap="square" lIns="91425" tIns="91425" rIns="91425" bIns="91425" anchor="t" anchorCtr="0"/>
          <a:lstStyle>
            <a:lvl1pPr lvl="0" algn="ctr">
              <a:spcBef>
                <a:spcPts val="0"/>
              </a:spcBef>
              <a:buSzPts val="1800"/>
              <a:buChar char="●"/>
              <a:defRPr/>
            </a:lvl1pPr>
            <a:lvl2pPr lvl="1" algn="ctr">
              <a:spcBef>
                <a:spcPts val="0"/>
              </a:spcBef>
              <a:buSzPts val="1400"/>
              <a:buChar char="○"/>
              <a:defRPr/>
            </a:lvl2pPr>
            <a:lvl3pPr lvl="2" algn="ctr">
              <a:spcBef>
                <a:spcPts val="0"/>
              </a:spcBef>
              <a:buSzPts val="1400"/>
              <a:buChar char="■"/>
              <a:defRPr/>
            </a:lvl3pPr>
            <a:lvl4pPr lvl="3" algn="ctr">
              <a:spcBef>
                <a:spcPts val="0"/>
              </a:spcBef>
              <a:buSzPts val="1400"/>
              <a:buChar char="●"/>
              <a:defRPr/>
            </a:lvl4pPr>
            <a:lvl5pPr lvl="4" algn="ctr">
              <a:spcBef>
                <a:spcPts val="0"/>
              </a:spcBef>
              <a:buSzPts val="1400"/>
              <a:buChar char="○"/>
              <a:defRPr/>
            </a:lvl5pPr>
            <a:lvl6pPr lvl="5" algn="ctr">
              <a:spcBef>
                <a:spcPts val="0"/>
              </a:spcBef>
              <a:buSzPts val="1400"/>
              <a:buChar char="■"/>
              <a:defRPr/>
            </a:lvl6pPr>
            <a:lvl7pPr lvl="6" algn="ctr">
              <a:spcBef>
                <a:spcPts val="0"/>
              </a:spcBef>
              <a:buSzPts val="1400"/>
              <a:buChar char="●"/>
              <a:defRPr/>
            </a:lvl7pPr>
            <a:lvl8pPr lvl="7" algn="ctr">
              <a:spcBef>
                <a:spcPts val="0"/>
              </a:spcBef>
              <a:buSzPts val="1400"/>
              <a:buChar char="○"/>
              <a:defRPr/>
            </a:lvl8pPr>
            <a:lvl9pPr lvl="8" algn="ctr">
              <a:spcBef>
                <a:spcPts val="0"/>
              </a:spcBef>
              <a:buSzPts val="1400"/>
              <a:buChar char="■"/>
              <a:defRPr/>
            </a:lvl9pPr>
          </a:lstStyle>
          <a:p>
            <a:endParaRPr/>
          </a:p>
        </p:txBody>
      </p:sp>
      <p:sp>
        <p:nvSpPr>
          <p:cNvPr id="47" name="Shape 47"/>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48"/>
        <p:cNvGrpSpPr/>
        <p:nvPr/>
      </p:nvGrpSpPr>
      <p:grpSpPr>
        <a:xfrm>
          <a:off x="0" y="0"/>
          <a:ext cx="0" cy="0"/>
          <a:chOff x="0" y="0"/>
          <a:chExt cx="0" cy="0"/>
        </a:xfrm>
      </p:grpSpPr>
      <p:sp>
        <p:nvSpPr>
          <p:cNvPr id="49" name="Shape 49"/>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311700" y="445025"/>
            <a:ext cx="8520600" cy="572700"/>
          </a:xfrm>
          <a:prstGeom prst="rect">
            <a:avLst/>
          </a:prstGeom>
          <a:noFill/>
          <a:ln>
            <a:noFill/>
          </a:ln>
        </p:spPr>
        <p:txBody>
          <a:bodyPr wrap="square" lIns="91425" tIns="91425" rIns="91425" bIns="91425" anchor="t" anchorCtr="0"/>
          <a:lstStyle>
            <a:lvl1pPr lvl="0">
              <a:spcBef>
                <a:spcPts val="0"/>
              </a:spcBef>
              <a:buClr>
                <a:schemeClr val="dk1"/>
              </a:buClr>
              <a:buSzPts val="2800"/>
              <a:buNone/>
              <a:defRPr sz="2800">
                <a:solidFill>
                  <a:schemeClr val="dk1"/>
                </a:solidFill>
              </a:defRPr>
            </a:lvl1pPr>
            <a:lvl2pPr lvl="1">
              <a:spcBef>
                <a:spcPts val="0"/>
              </a:spcBef>
              <a:buClr>
                <a:schemeClr val="dk1"/>
              </a:buClr>
              <a:buSzPts val="2800"/>
              <a:buNone/>
              <a:defRPr sz="2800">
                <a:solidFill>
                  <a:schemeClr val="dk1"/>
                </a:solidFill>
              </a:defRPr>
            </a:lvl2pPr>
            <a:lvl3pPr lvl="2">
              <a:spcBef>
                <a:spcPts val="0"/>
              </a:spcBef>
              <a:buClr>
                <a:schemeClr val="dk1"/>
              </a:buClr>
              <a:buSzPts val="2800"/>
              <a:buNone/>
              <a:defRPr sz="2800">
                <a:solidFill>
                  <a:schemeClr val="dk1"/>
                </a:solidFill>
              </a:defRPr>
            </a:lvl3pPr>
            <a:lvl4pPr lvl="3">
              <a:spcBef>
                <a:spcPts val="0"/>
              </a:spcBef>
              <a:buClr>
                <a:schemeClr val="dk1"/>
              </a:buClr>
              <a:buSzPts val="2800"/>
              <a:buNone/>
              <a:defRPr sz="2800">
                <a:solidFill>
                  <a:schemeClr val="dk1"/>
                </a:solidFill>
              </a:defRPr>
            </a:lvl4pPr>
            <a:lvl5pPr lvl="4">
              <a:spcBef>
                <a:spcPts val="0"/>
              </a:spcBef>
              <a:buClr>
                <a:schemeClr val="dk1"/>
              </a:buClr>
              <a:buSzPts val="2800"/>
              <a:buNone/>
              <a:defRPr sz="2800">
                <a:solidFill>
                  <a:schemeClr val="dk1"/>
                </a:solidFill>
              </a:defRPr>
            </a:lvl5pPr>
            <a:lvl6pPr lvl="5">
              <a:spcBef>
                <a:spcPts val="0"/>
              </a:spcBef>
              <a:buClr>
                <a:schemeClr val="dk1"/>
              </a:buClr>
              <a:buSzPts val="2800"/>
              <a:buNone/>
              <a:defRPr sz="2800">
                <a:solidFill>
                  <a:schemeClr val="dk1"/>
                </a:solidFill>
              </a:defRPr>
            </a:lvl6pPr>
            <a:lvl7pPr lvl="6">
              <a:spcBef>
                <a:spcPts val="0"/>
              </a:spcBef>
              <a:buClr>
                <a:schemeClr val="dk1"/>
              </a:buClr>
              <a:buSzPts val="2800"/>
              <a:buNone/>
              <a:defRPr sz="2800">
                <a:solidFill>
                  <a:schemeClr val="dk1"/>
                </a:solidFill>
              </a:defRPr>
            </a:lvl7pPr>
            <a:lvl8pPr lvl="7">
              <a:spcBef>
                <a:spcPts val="0"/>
              </a:spcBef>
              <a:buClr>
                <a:schemeClr val="dk1"/>
              </a:buClr>
              <a:buSzPts val="2800"/>
              <a:buNone/>
              <a:defRPr sz="2800">
                <a:solidFill>
                  <a:schemeClr val="dk1"/>
                </a:solidFill>
              </a:defRPr>
            </a:lvl8pPr>
            <a:lvl9pPr lvl="8">
              <a:spcBef>
                <a:spcPts val="0"/>
              </a:spcBef>
              <a:buClr>
                <a:schemeClr val="dk1"/>
              </a:buClr>
              <a:buSzPts val="2800"/>
              <a:buNone/>
              <a:defRPr sz="2800">
                <a:solidFill>
                  <a:schemeClr val="dk1"/>
                </a:solidFill>
              </a:defRPr>
            </a:lvl9pPr>
          </a:lstStyle>
          <a:p>
            <a:endParaRPr/>
          </a:p>
        </p:txBody>
      </p:sp>
      <p:sp>
        <p:nvSpPr>
          <p:cNvPr id="7" name="Shape 7"/>
          <p:cNvSpPr txBox="1">
            <a:spLocks noGrp="1"/>
          </p:cNvSpPr>
          <p:nvPr>
            <p:ph type="body" idx="1"/>
          </p:nvPr>
        </p:nvSpPr>
        <p:spPr>
          <a:xfrm>
            <a:off x="311700" y="1152475"/>
            <a:ext cx="8520600" cy="3416400"/>
          </a:xfrm>
          <a:prstGeom prst="rect">
            <a:avLst/>
          </a:prstGeom>
          <a:noFill/>
          <a:ln>
            <a:noFill/>
          </a:ln>
        </p:spPr>
        <p:txBody>
          <a:bodyPr wrap="square" lIns="91425" tIns="91425" rIns="91425" bIns="91425" anchor="t" anchorCtr="0"/>
          <a:lstStyle>
            <a:lvl1pPr lvl="0">
              <a:lnSpc>
                <a:spcPct val="115000"/>
              </a:lnSpc>
              <a:spcBef>
                <a:spcPts val="0"/>
              </a:spcBef>
              <a:spcAft>
                <a:spcPts val="1600"/>
              </a:spcAft>
              <a:buClr>
                <a:schemeClr val="dk2"/>
              </a:buClr>
              <a:buSzPts val="1800"/>
              <a:buChar char="●"/>
              <a:defRPr sz="1800">
                <a:solidFill>
                  <a:schemeClr val="dk2"/>
                </a:solidFill>
              </a:defRPr>
            </a:lvl1pPr>
            <a:lvl2pPr lvl="1">
              <a:lnSpc>
                <a:spcPct val="115000"/>
              </a:lnSpc>
              <a:spcBef>
                <a:spcPts val="0"/>
              </a:spcBef>
              <a:spcAft>
                <a:spcPts val="1600"/>
              </a:spcAft>
              <a:buClr>
                <a:schemeClr val="dk2"/>
              </a:buClr>
              <a:buSzPts val="1400"/>
              <a:buChar char="○"/>
              <a:defRPr>
                <a:solidFill>
                  <a:schemeClr val="dk2"/>
                </a:solidFill>
              </a:defRPr>
            </a:lvl2pPr>
            <a:lvl3pPr lvl="2">
              <a:lnSpc>
                <a:spcPct val="115000"/>
              </a:lnSpc>
              <a:spcBef>
                <a:spcPts val="0"/>
              </a:spcBef>
              <a:spcAft>
                <a:spcPts val="1600"/>
              </a:spcAft>
              <a:buClr>
                <a:schemeClr val="dk2"/>
              </a:buClr>
              <a:buSzPts val="1400"/>
              <a:buChar char="■"/>
              <a:defRPr>
                <a:solidFill>
                  <a:schemeClr val="dk2"/>
                </a:solidFill>
              </a:defRPr>
            </a:lvl3pPr>
            <a:lvl4pPr lvl="3">
              <a:lnSpc>
                <a:spcPct val="115000"/>
              </a:lnSpc>
              <a:spcBef>
                <a:spcPts val="0"/>
              </a:spcBef>
              <a:spcAft>
                <a:spcPts val="1600"/>
              </a:spcAft>
              <a:buClr>
                <a:schemeClr val="dk2"/>
              </a:buClr>
              <a:buSzPts val="1400"/>
              <a:buChar char="●"/>
              <a:defRPr>
                <a:solidFill>
                  <a:schemeClr val="dk2"/>
                </a:solidFill>
              </a:defRPr>
            </a:lvl4pPr>
            <a:lvl5pPr lvl="4">
              <a:lnSpc>
                <a:spcPct val="115000"/>
              </a:lnSpc>
              <a:spcBef>
                <a:spcPts val="0"/>
              </a:spcBef>
              <a:spcAft>
                <a:spcPts val="1600"/>
              </a:spcAft>
              <a:buClr>
                <a:schemeClr val="dk2"/>
              </a:buClr>
              <a:buSzPts val="1400"/>
              <a:buChar char="○"/>
              <a:defRPr>
                <a:solidFill>
                  <a:schemeClr val="dk2"/>
                </a:solidFill>
              </a:defRPr>
            </a:lvl5pPr>
            <a:lvl6pPr lvl="5">
              <a:lnSpc>
                <a:spcPct val="115000"/>
              </a:lnSpc>
              <a:spcBef>
                <a:spcPts val="0"/>
              </a:spcBef>
              <a:spcAft>
                <a:spcPts val="1600"/>
              </a:spcAft>
              <a:buClr>
                <a:schemeClr val="dk2"/>
              </a:buClr>
              <a:buSzPts val="1400"/>
              <a:buChar char="■"/>
              <a:defRPr>
                <a:solidFill>
                  <a:schemeClr val="dk2"/>
                </a:solidFill>
              </a:defRPr>
            </a:lvl6pPr>
            <a:lvl7pPr lvl="6">
              <a:lnSpc>
                <a:spcPct val="115000"/>
              </a:lnSpc>
              <a:spcBef>
                <a:spcPts val="0"/>
              </a:spcBef>
              <a:spcAft>
                <a:spcPts val="1600"/>
              </a:spcAft>
              <a:buClr>
                <a:schemeClr val="dk2"/>
              </a:buClr>
              <a:buSzPts val="1400"/>
              <a:buChar char="●"/>
              <a:defRPr>
                <a:solidFill>
                  <a:schemeClr val="dk2"/>
                </a:solidFill>
              </a:defRPr>
            </a:lvl7pPr>
            <a:lvl8pPr lvl="7">
              <a:lnSpc>
                <a:spcPct val="115000"/>
              </a:lnSpc>
              <a:spcBef>
                <a:spcPts val="0"/>
              </a:spcBef>
              <a:spcAft>
                <a:spcPts val="1600"/>
              </a:spcAft>
              <a:buClr>
                <a:schemeClr val="dk2"/>
              </a:buClr>
              <a:buSzPts val="1400"/>
              <a:buChar char="○"/>
              <a:defRPr>
                <a:solidFill>
                  <a:schemeClr val="dk2"/>
                </a:solidFill>
              </a:defRPr>
            </a:lvl8pPr>
            <a:lvl9pPr lvl="8">
              <a:lnSpc>
                <a:spcPct val="115000"/>
              </a:lnSpc>
              <a:spcBef>
                <a:spcPts val="0"/>
              </a:spcBef>
              <a:spcAft>
                <a:spcPts val="1600"/>
              </a:spcAft>
              <a:buClr>
                <a:schemeClr val="dk2"/>
              </a:buClr>
              <a:buSzPts val="1400"/>
              <a:buChar char="■"/>
              <a:defRPr>
                <a:solidFill>
                  <a:schemeClr val="dk2"/>
                </a:solidFill>
              </a:defRPr>
            </a:lvl9pPr>
          </a:lstStyle>
          <a:p>
            <a:endParaRPr/>
          </a:p>
        </p:txBody>
      </p:sp>
      <p:sp>
        <p:nvSpPr>
          <p:cNvPr id="8" name="Shape 8"/>
          <p:cNvSpPr txBox="1">
            <a:spLocks noGrp="1"/>
          </p:cNvSpPr>
          <p:nvPr>
            <p:ph type="sldNum" idx="12"/>
          </p:nvPr>
        </p:nvSpPr>
        <p:spPr>
          <a:xfrm>
            <a:off x="8472458" y="4663217"/>
            <a:ext cx="548700" cy="393600"/>
          </a:xfrm>
          <a:prstGeom prst="rect">
            <a:avLst/>
          </a:prstGeom>
          <a:noFill/>
          <a:ln>
            <a:noFill/>
          </a:ln>
        </p:spPr>
        <p:txBody>
          <a:bodyPr wrap="square" lIns="91425" tIns="91425" rIns="91425" bIns="91425" anchor="ctr" anchorCtr="0">
            <a:noAutofit/>
          </a:bodyPr>
          <a:lstStyle/>
          <a:p>
            <a:pPr marL="0" lvl="0" indent="0" algn="r">
              <a:spcBef>
                <a:spcPts val="0"/>
              </a:spcBef>
              <a:buNone/>
            </a:pPr>
            <a:fld id="{00000000-1234-1234-1234-123412341234}" type="slidenum">
              <a:rPr lang="en-GB" sz="1000">
                <a:solidFill>
                  <a:schemeClr val="dk2"/>
                </a:solidFill>
              </a:rPr>
              <a:t>‹#›</a:t>
            </a:fld>
            <a:endParaRPr lang="en-GB" sz="1000">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Shape 54"/>
          <p:cNvSpPr txBox="1">
            <a:spLocks noGrp="1"/>
          </p:cNvSpPr>
          <p:nvPr>
            <p:ph type="ctrTitle"/>
          </p:nvPr>
        </p:nvSpPr>
        <p:spPr>
          <a:xfrm>
            <a:off x="311700" y="1139125"/>
            <a:ext cx="8520600" cy="1541812"/>
          </a:xfrm>
          <a:prstGeom prst="rect">
            <a:avLst/>
          </a:prstGeom>
        </p:spPr>
        <p:txBody>
          <a:bodyPr wrap="square" lIns="91425" tIns="91425" rIns="91425" bIns="91425" anchor="b" anchorCtr="0">
            <a:noAutofit/>
          </a:bodyPr>
          <a:lstStyle/>
          <a:p>
            <a:pPr marL="0" lvl="0" indent="0">
              <a:spcBef>
                <a:spcPts val="0"/>
              </a:spcBef>
              <a:buNone/>
            </a:pPr>
            <a:r>
              <a:rPr lang="zh-CN" sz="4800" dirty="0"/>
              <a:t>竞态条件</a:t>
            </a:r>
            <a:r>
              <a:rPr lang="zh-CN" altLang="en-US" sz="4800" dirty="0"/>
              <a:t>漏洞</a:t>
            </a:r>
            <a:br>
              <a:rPr lang="en-US" altLang="zh-CN" sz="4800" dirty="0"/>
            </a:br>
            <a:r>
              <a:rPr lang="en-US" altLang="zh-CN" sz="4800" dirty="0"/>
              <a:t>Race Condition Vulnerability</a:t>
            </a:r>
            <a:endParaRPr lang="zh-CN"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Shape 59"/>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0">
              <a:spcBef>
                <a:spcPts val="0"/>
              </a:spcBef>
              <a:buNone/>
            </a:pPr>
            <a:r>
              <a:rPr lang="zh-CN"/>
              <a:t>大纲</a:t>
            </a:r>
          </a:p>
        </p:txBody>
      </p:sp>
      <p:sp>
        <p:nvSpPr>
          <p:cNvPr id="60" name="Shape 60"/>
          <p:cNvSpPr txBox="1">
            <a:spLocks noGrp="1"/>
          </p:cNvSpPr>
          <p:nvPr>
            <p:ph type="body" idx="1"/>
          </p:nvPr>
        </p:nvSpPr>
        <p:spPr>
          <a:xfrm>
            <a:off x="311700" y="1152475"/>
            <a:ext cx="8520600" cy="3416400"/>
          </a:xfrm>
          <a:prstGeom prst="rect">
            <a:avLst/>
          </a:prstGeom>
        </p:spPr>
        <p:txBody>
          <a:bodyPr wrap="square" lIns="91425" tIns="91425" rIns="91425" bIns="91425" anchor="t" anchorCtr="0">
            <a:noAutofit/>
          </a:bodyPr>
          <a:lstStyle/>
          <a:p>
            <a:pPr marL="457200" lvl="0" indent="-342900" rtl="0">
              <a:spcBef>
                <a:spcPts val="0"/>
              </a:spcBef>
              <a:spcAft>
                <a:spcPts val="0"/>
              </a:spcAft>
              <a:buClr>
                <a:srgbClr val="000000"/>
              </a:buClr>
              <a:buSzPts val="1800"/>
              <a:buChar char="●"/>
            </a:pPr>
            <a:r>
              <a:rPr lang="zh-CN" dirty="0">
                <a:solidFill>
                  <a:srgbClr val="000000"/>
                </a:solidFill>
              </a:rPr>
              <a:t>什么是竞态条件？</a:t>
            </a:r>
          </a:p>
          <a:p>
            <a:pPr marL="457200" lvl="0" indent="-342900" rtl="0">
              <a:spcBef>
                <a:spcPts val="0"/>
              </a:spcBef>
              <a:spcAft>
                <a:spcPts val="0"/>
              </a:spcAft>
              <a:buClr>
                <a:srgbClr val="000000"/>
              </a:buClr>
              <a:buSzPts val="1800"/>
              <a:buChar char="●"/>
            </a:pPr>
            <a:r>
              <a:rPr lang="zh-CN" dirty="0">
                <a:solidFill>
                  <a:srgbClr val="000000"/>
                </a:solidFill>
              </a:rPr>
              <a:t>竞态条件</a:t>
            </a:r>
            <a:r>
              <a:rPr lang="zh-CN" altLang="en-US" dirty="0">
                <a:solidFill>
                  <a:srgbClr val="000000"/>
                </a:solidFill>
              </a:rPr>
              <a:t>引发的</a:t>
            </a:r>
            <a:r>
              <a:rPr lang="zh-CN" dirty="0">
                <a:solidFill>
                  <a:srgbClr val="000000"/>
                </a:solidFill>
              </a:rPr>
              <a:t>问题</a:t>
            </a:r>
          </a:p>
          <a:p>
            <a:pPr marL="457200" lvl="0" indent="-342900" rtl="0">
              <a:spcBef>
                <a:spcPts val="0"/>
              </a:spcBef>
              <a:spcAft>
                <a:spcPts val="0"/>
              </a:spcAft>
              <a:buClr>
                <a:srgbClr val="000000"/>
              </a:buClr>
              <a:buSzPts val="1800"/>
              <a:buChar char="●"/>
            </a:pPr>
            <a:r>
              <a:rPr lang="zh-CN" dirty="0">
                <a:solidFill>
                  <a:srgbClr val="000000"/>
                </a:solidFill>
              </a:rPr>
              <a:t>竞态条件</a:t>
            </a:r>
            <a:r>
              <a:rPr lang="zh-CN" altLang="en-US" dirty="0">
                <a:solidFill>
                  <a:srgbClr val="000000"/>
                </a:solidFill>
              </a:rPr>
              <a:t>漏洞</a:t>
            </a:r>
            <a:endParaRPr lang="zh-CN" dirty="0">
              <a:solidFill>
                <a:srgbClr val="000000"/>
              </a:solidFill>
            </a:endParaRPr>
          </a:p>
          <a:p>
            <a:pPr marL="457200" lvl="0" indent="-342900">
              <a:spcBef>
                <a:spcPts val="0"/>
              </a:spcBef>
              <a:spcAft>
                <a:spcPts val="0"/>
              </a:spcAft>
              <a:buClr>
                <a:srgbClr val="000000"/>
              </a:buClr>
              <a:buSzPts val="1800"/>
              <a:buChar char="●"/>
            </a:pPr>
            <a:r>
              <a:rPr lang="zh-CN" dirty="0">
                <a:solidFill>
                  <a:srgbClr val="000000"/>
                </a:solidFill>
              </a:rPr>
              <a:t>如何利用漏洞？</a:t>
            </a:r>
          </a:p>
          <a:p>
            <a:pPr marL="457200" lvl="0" indent="-342900">
              <a:spcBef>
                <a:spcPts val="0"/>
              </a:spcBef>
              <a:buClr>
                <a:srgbClr val="000000"/>
              </a:buClr>
              <a:buSzPts val="1800"/>
              <a:buChar char="●"/>
            </a:pPr>
            <a:r>
              <a:rPr lang="zh-CN" dirty="0">
                <a:solidFill>
                  <a:srgbClr val="000000"/>
                </a:solidFill>
              </a:rPr>
              <a:t>应对措施</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0">
              <a:spcBef>
                <a:spcPts val="0"/>
              </a:spcBef>
              <a:buNone/>
            </a:pPr>
            <a:r>
              <a:rPr lang="zh-CN"/>
              <a:t>竞态条件</a:t>
            </a:r>
          </a:p>
        </p:txBody>
      </p:sp>
      <p:sp>
        <p:nvSpPr>
          <p:cNvPr id="66" name="Shape 66"/>
          <p:cNvSpPr txBox="1">
            <a:spLocks noGrp="1"/>
          </p:cNvSpPr>
          <p:nvPr>
            <p:ph type="body" idx="1"/>
          </p:nvPr>
        </p:nvSpPr>
        <p:spPr>
          <a:xfrm>
            <a:off x="311700" y="1152475"/>
            <a:ext cx="8520600" cy="3416400"/>
          </a:xfrm>
          <a:prstGeom prst="rect">
            <a:avLst/>
          </a:prstGeom>
        </p:spPr>
        <p:txBody>
          <a:bodyPr wrap="square" lIns="91425" tIns="91425" rIns="91425" bIns="91425" anchor="t" anchorCtr="0">
            <a:noAutofit/>
          </a:bodyPr>
          <a:lstStyle/>
          <a:p>
            <a:pPr marL="457200" lvl="0" indent="-342900" rtl="0">
              <a:spcBef>
                <a:spcPts val="0"/>
              </a:spcBef>
              <a:spcAft>
                <a:spcPts val="0"/>
              </a:spcAft>
              <a:buSzPts val="1800"/>
              <a:buChar char="●"/>
            </a:pPr>
            <a:r>
              <a:rPr lang="zh-CN" altLang="en-US" dirty="0">
                <a:solidFill>
                  <a:srgbClr val="000000"/>
                </a:solidFill>
              </a:rPr>
              <a:t>产生的原因</a:t>
            </a:r>
            <a:r>
              <a:rPr lang="zh-CN" dirty="0">
                <a:solidFill>
                  <a:srgbClr val="000000"/>
                </a:solidFill>
              </a:rPr>
              <a:t>：</a:t>
            </a:r>
          </a:p>
          <a:p>
            <a:pPr marL="914400" lvl="1" indent="-317500" rtl="0">
              <a:spcBef>
                <a:spcPts val="0"/>
              </a:spcBef>
              <a:spcAft>
                <a:spcPts val="0"/>
              </a:spcAft>
              <a:buSzPts val="1400"/>
              <a:buChar char="○"/>
            </a:pPr>
            <a:r>
              <a:rPr lang="zh-CN" sz="1800" dirty="0">
                <a:solidFill>
                  <a:srgbClr val="FF0000"/>
                </a:solidFill>
              </a:rPr>
              <a:t>多个进程</a:t>
            </a:r>
            <a:r>
              <a:rPr lang="zh-CN" sz="1800" dirty="0">
                <a:solidFill>
                  <a:srgbClr val="0070C0"/>
                </a:solidFill>
              </a:rPr>
              <a:t>同时访问</a:t>
            </a:r>
            <a:r>
              <a:rPr lang="zh-CN" sz="1800" dirty="0">
                <a:solidFill>
                  <a:srgbClr val="000000"/>
                </a:solidFill>
              </a:rPr>
              <a:t>和操作相同的</a:t>
            </a:r>
            <a:r>
              <a:rPr lang="zh-CN" sz="1800" dirty="0">
                <a:solidFill>
                  <a:srgbClr val="FF0000"/>
                </a:solidFill>
              </a:rPr>
              <a:t>数据</a:t>
            </a:r>
            <a:r>
              <a:rPr lang="zh-CN" sz="1800" dirty="0">
                <a:solidFill>
                  <a:srgbClr val="000000"/>
                </a:solidFill>
              </a:rPr>
              <a:t>。</a:t>
            </a:r>
          </a:p>
          <a:p>
            <a:pPr marL="914400" lvl="1" indent="-317500" rtl="0">
              <a:spcBef>
                <a:spcPts val="0"/>
              </a:spcBef>
              <a:spcAft>
                <a:spcPts val="0"/>
              </a:spcAft>
              <a:buSzPts val="1400"/>
              <a:buChar char="○"/>
            </a:pPr>
            <a:r>
              <a:rPr lang="zh-CN" sz="1800" dirty="0">
                <a:solidFill>
                  <a:srgbClr val="000000"/>
                </a:solidFill>
              </a:rPr>
              <a:t>执行结果取决于特定的</a:t>
            </a:r>
            <a:r>
              <a:rPr lang="zh-CN" altLang="en-US" sz="1800" dirty="0">
                <a:solidFill>
                  <a:srgbClr val="000000"/>
                </a:solidFill>
              </a:rPr>
              <a:t>执行次序</a:t>
            </a:r>
            <a:r>
              <a:rPr lang="zh-CN" sz="1800" dirty="0">
                <a:solidFill>
                  <a:srgbClr val="000000"/>
                </a:solidFill>
              </a:rPr>
              <a:t>。</a:t>
            </a:r>
          </a:p>
          <a:p>
            <a:pPr marL="0" lvl="0" indent="0" rtl="0">
              <a:spcBef>
                <a:spcPts val="0"/>
              </a:spcBef>
              <a:spcAft>
                <a:spcPts val="0"/>
              </a:spcAft>
              <a:buNone/>
            </a:pPr>
            <a:endParaRPr dirty="0">
              <a:solidFill>
                <a:srgbClr val="000000"/>
              </a:solidFill>
            </a:endParaRPr>
          </a:p>
          <a:p>
            <a:pPr marL="457200" lvl="0" indent="-342900">
              <a:spcBef>
                <a:spcPts val="0"/>
              </a:spcBef>
              <a:buClr>
                <a:srgbClr val="000000"/>
              </a:buClr>
              <a:buSzPts val="1800"/>
              <a:buChar char="●"/>
            </a:pPr>
            <a:r>
              <a:rPr lang="zh-CN" dirty="0">
                <a:solidFill>
                  <a:srgbClr val="000000"/>
                </a:solidFill>
              </a:rPr>
              <a:t>如果一个特权程序存在</a:t>
            </a:r>
            <a:r>
              <a:rPr lang="zh-CN" altLang="en-US" dirty="0">
                <a:solidFill>
                  <a:srgbClr val="000000"/>
                </a:solidFill>
              </a:rPr>
              <a:t>静态</a:t>
            </a:r>
            <a:r>
              <a:rPr lang="zh-CN" dirty="0">
                <a:solidFill>
                  <a:srgbClr val="000000"/>
                </a:solidFill>
              </a:rPr>
              <a:t>条件，攻击者可以</a:t>
            </a:r>
            <a:r>
              <a:rPr lang="zh-CN" altLang="en-US" dirty="0">
                <a:solidFill>
                  <a:srgbClr val="0070C0"/>
                </a:solidFill>
              </a:rPr>
              <a:t>利用</a:t>
            </a:r>
            <a:r>
              <a:rPr lang="zh-CN" dirty="0">
                <a:solidFill>
                  <a:srgbClr val="FF0000"/>
                </a:solidFill>
              </a:rPr>
              <a:t>不可控事件</a:t>
            </a:r>
            <a:r>
              <a:rPr lang="zh-CN" dirty="0">
                <a:solidFill>
                  <a:srgbClr val="000000"/>
                </a:solidFill>
              </a:rPr>
              <a:t>来影响特权程序的输出。</a:t>
            </a:r>
          </a:p>
          <a:p>
            <a:pPr marL="0" lvl="0" indent="0">
              <a:spcBef>
                <a:spcPts val="0"/>
              </a:spcBef>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Shape 71"/>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0">
              <a:spcBef>
                <a:spcPts val="0"/>
              </a:spcBef>
              <a:buNone/>
            </a:pPr>
            <a:r>
              <a:rPr lang="zh-CN" dirty="0"/>
              <a:t>竞态条件</a:t>
            </a:r>
            <a:r>
              <a:rPr lang="zh-CN" altLang="en-US" dirty="0"/>
              <a:t>引发的</a:t>
            </a:r>
            <a:r>
              <a:rPr lang="zh-CN" dirty="0"/>
              <a:t>问题</a:t>
            </a:r>
          </a:p>
        </p:txBody>
      </p:sp>
      <p:sp>
        <p:nvSpPr>
          <p:cNvPr id="72" name="Shape 72"/>
          <p:cNvSpPr txBox="1">
            <a:spLocks noGrp="1"/>
          </p:cNvSpPr>
          <p:nvPr>
            <p:ph type="body" idx="1"/>
          </p:nvPr>
        </p:nvSpPr>
        <p:spPr>
          <a:xfrm>
            <a:off x="311650" y="1017725"/>
            <a:ext cx="8520600" cy="1053600"/>
          </a:xfrm>
          <a:prstGeom prst="rect">
            <a:avLst/>
          </a:prstGeom>
        </p:spPr>
        <p:txBody>
          <a:bodyPr wrap="square" lIns="91425" tIns="91425" rIns="91425" bIns="91425" anchor="t" anchorCtr="0">
            <a:noAutofit/>
          </a:bodyPr>
          <a:lstStyle/>
          <a:p>
            <a:pPr marL="0" lvl="0" indent="0">
              <a:spcBef>
                <a:spcPts val="0"/>
              </a:spcBef>
              <a:buNone/>
            </a:pPr>
            <a:r>
              <a:rPr lang="zh-CN" dirty="0">
                <a:solidFill>
                  <a:srgbClr val="000000"/>
                </a:solidFill>
              </a:rPr>
              <a:t>当两个并发执行线程访问共享资源时，由于线程或进程的执行时间不同，无意中产生了不同的结果。</a:t>
            </a:r>
          </a:p>
        </p:txBody>
      </p:sp>
      <p:pic>
        <p:nvPicPr>
          <p:cNvPr id="73" name="Shape 73"/>
          <p:cNvPicPr preferRelativeResize="0"/>
          <p:nvPr/>
        </p:nvPicPr>
        <p:blipFill>
          <a:blip r:embed="rId3">
            <a:alphaModFix/>
          </a:blip>
          <a:stretch>
            <a:fillRect/>
          </a:stretch>
        </p:blipFill>
        <p:spPr>
          <a:xfrm>
            <a:off x="311699" y="2071325"/>
            <a:ext cx="5694325" cy="2825990"/>
          </a:xfrm>
          <a:prstGeom prst="rect">
            <a:avLst/>
          </a:prstGeom>
          <a:noFill/>
          <a:ln>
            <a:noFill/>
          </a:ln>
        </p:spPr>
      </p:pic>
      <p:cxnSp>
        <p:nvCxnSpPr>
          <p:cNvPr id="74" name="Shape 74"/>
          <p:cNvCxnSpPr/>
          <p:nvPr/>
        </p:nvCxnSpPr>
        <p:spPr>
          <a:xfrm flipH="1">
            <a:off x="3418275" y="2167075"/>
            <a:ext cx="2460000" cy="31800"/>
          </a:xfrm>
          <a:prstGeom prst="straightConnector1">
            <a:avLst/>
          </a:prstGeom>
          <a:noFill/>
          <a:ln w="9525" cap="flat" cmpd="sng">
            <a:solidFill>
              <a:srgbClr val="FF0000"/>
            </a:solidFill>
            <a:prstDash val="solid"/>
            <a:round/>
            <a:headEnd type="none" w="lg" len="lg"/>
            <a:tailEnd type="triangle" w="lg" len="lg"/>
          </a:ln>
        </p:spPr>
      </p:cxnSp>
      <p:sp>
        <p:nvSpPr>
          <p:cNvPr id="75" name="Shape 75"/>
          <p:cNvSpPr txBox="1"/>
          <p:nvPr/>
        </p:nvSpPr>
        <p:spPr>
          <a:xfrm>
            <a:off x="6006075" y="2007350"/>
            <a:ext cx="3003000" cy="1368896"/>
          </a:xfrm>
          <a:prstGeom prst="rect">
            <a:avLst/>
          </a:prstGeom>
          <a:noFill/>
          <a:ln>
            <a:noFill/>
          </a:ln>
        </p:spPr>
        <p:txBody>
          <a:bodyPr wrap="square" lIns="91425" tIns="91425" rIns="91425" bIns="91425" anchor="t" anchorCtr="0">
            <a:noAutofit/>
          </a:bodyPr>
          <a:lstStyle/>
          <a:p>
            <a:pPr marL="0" lvl="0" indent="0">
              <a:spcBef>
                <a:spcPts val="0"/>
              </a:spcBef>
              <a:buNone/>
            </a:pPr>
            <a:r>
              <a:rPr lang="zh-CN" sz="1800" dirty="0"/>
              <a:t>如果同时有两个提款请求，则可能会出现竞态条件。</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Shape 80"/>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0">
              <a:spcBef>
                <a:spcPts val="0"/>
              </a:spcBef>
              <a:buNone/>
            </a:pPr>
            <a:r>
              <a:rPr lang="zh-CN" dirty="0"/>
              <a:t>一种</a:t>
            </a:r>
            <a:r>
              <a:rPr lang="zh-CN" altLang="en-US" dirty="0"/>
              <a:t>典</a:t>
            </a:r>
            <a:r>
              <a:rPr lang="zh-CN" dirty="0"/>
              <a:t>型的</a:t>
            </a:r>
            <a:r>
              <a:rPr lang="zh-CN" altLang="en-US" dirty="0"/>
              <a:t>竟态</a:t>
            </a:r>
            <a:r>
              <a:rPr lang="zh-CN" dirty="0"/>
              <a:t>条件</a:t>
            </a:r>
          </a:p>
        </p:txBody>
      </p:sp>
      <p:sp>
        <p:nvSpPr>
          <p:cNvPr id="81" name="Shape 81"/>
          <p:cNvSpPr txBox="1">
            <a:spLocks noGrp="1"/>
          </p:cNvSpPr>
          <p:nvPr>
            <p:ph type="body" idx="1"/>
          </p:nvPr>
        </p:nvSpPr>
        <p:spPr>
          <a:xfrm>
            <a:off x="311700" y="1152475"/>
            <a:ext cx="8520600" cy="3416400"/>
          </a:xfrm>
          <a:prstGeom prst="rect">
            <a:avLst/>
          </a:prstGeom>
        </p:spPr>
        <p:txBody>
          <a:bodyPr wrap="square" lIns="91425" tIns="91425" rIns="91425" bIns="91425" anchor="t" anchorCtr="0">
            <a:noAutofit/>
          </a:bodyPr>
          <a:lstStyle/>
          <a:p>
            <a:pPr marL="285750" indent="-285750"/>
            <a:r>
              <a:rPr lang="zh-CN" dirty="0">
                <a:solidFill>
                  <a:srgbClr val="000000"/>
                </a:solidFill>
              </a:rPr>
              <a:t>检查时间到使用时间（ TOCTTOU）</a:t>
            </a:r>
            <a:endParaRPr lang="en-US" altLang="zh-CN" dirty="0">
              <a:solidFill>
                <a:srgbClr val="000000"/>
              </a:solidFill>
            </a:endParaRPr>
          </a:p>
          <a:p>
            <a:pPr>
              <a:buNone/>
            </a:pPr>
            <a:r>
              <a:rPr lang="zh-CN" altLang="en-US" dirty="0">
                <a:solidFill>
                  <a:srgbClr val="000000"/>
                </a:solidFill>
              </a:rPr>
              <a:t>    </a:t>
            </a:r>
            <a:r>
              <a:rPr lang="en-US" altLang="zh-CN" dirty="0">
                <a:solidFill>
                  <a:srgbClr val="FF0000"/>
                </a:solidFill>
              </a:rPr>
              <a:t>T</a:t>
            </a:r>
            <a:r>
              <a:rPr lang="en-US" altLang="zh-CN" dirty="0">
                <a:solidFill>
                  <a:srgbClr val="000000"/>
                </a:solidFill>
              </a:rPr>
              <a:t>ime-</a:t>
            </a:r>
            <a:r>
              <a:rPr lang="en-US" altLang="zh-CN" dirty="0">
                <a:solidFill>
                  <a:srgbClr val="FF0000"/>
                </a:solidFill>
              </a:rPr>
              <a:t>O</a:t>
            </a:r>
            <a:r>
              <a:rPr lang="en-US" altLang="zh-CN" dirty="0">
                <a:solidFill>
                  <a:srgbClr val="000000"/>
                </a:solidFill>
              </a:rPr>
              <a:t>f-</a:t>
            </a:r>
            <a:r>
              <a:rPr lang="en-US" altLang="zh-CN" dirty="0">
                <a:solidFill>
                  <a:srgbClr val="FF0000"/>
                </a:solidFill>
              </a:rPr>
              <a:t>C</a:t>
            </a:r>
            <a:r>
              <a:rPr lang="en-US" altLang="zh-CN" dirty="0">
                <a:solidFill>
                  <a:srgbClr val="000000"/>
                </a:solidFill>
              </a:rPr>
              <a:t>heck</a:t>
            </a:r>
            <a:r>
              <a:rPr lang="zh-CN" altLang="en-US" dirty="0">
                <a:solidFill>
                  <a:srgbClr val="000000"/>
                </a:solidFill>
              </a:rPr>
              <a:t> </a:t>
            </a:r>
            <a:r>
              <a:rPr lang="en-US" altLang="zh-CN" dirty="0">
                <a:solidFill>
                  <a:srgbClr val="FF0000"/>
                </a:solidFill>
              </a:rPr>
              <a:t>T</a:t>
            </a:r>
            <a:r>
              <a:rPr lang="en-US" altLang="zh-CN" dirty="0">
                <a:solidFill>
                  <a:srgbClr val="000000"/>
                </a:solidFill>
              </a:rPr>
              <a:t>o</a:t>
            </a:r>
            <a:r>
              <a:rPr lang="zh-CN" altLang="en-US" dirty="0">
                <a:solidFill>
                  <a:srgbClr val="000000"/>
                </a:solidFill>
              </a:rPr>
              <a:t> </a:t>
            </a:r>
            <a:r>
              <a:rPr lang="en-US" altLang="zh-CN" dirty="0">
                <a:solidFill>
                  <a:srgbClr val="FF0000"/>
                </a:solidFill>
              </a:rPr>
              <a:t>T</a:t>
            </a:r>
            <a:r>
              <a:rPr lang="en-US" altLang="zh-CN" dirty="0">
                <a:solidFill>
                  <a:srgbClr val="000000"/>
                </a:solidFill>
              </a:rPr>
              <a:t>ime-</a:t>
            </a:r>
            <a:r>
              <a:rPr lang="en-US" altLang="zh-CN" dirty="0">
                <a:solidFill>
                  <a:srgbClr val="FF0000"/>
                </a:solidFill>
              </a:rPr>
              <a:t>O</a:t>
            </a:r>
            <a:r>
              <a:rPr lang="en-US" altLang="zh-CN" dirty="0">
                <a:solidFill>
                  <a:srgbClr val="000000"/>
                </a:solidFill>
              </a:rPr>
              <a:t>f-</a:t>
            </a:r>
            <a:r>
              <a:rPr lang="en-US" altLang="zh-CN" dirty="0">
                <a:solidFill>
                  <a:srgbClr val="FF0000"/>
                </a:solidFill>
              </a:rPr>
              <a:t>U</a:t>
            </a:r>
            <a:r>
              <a:rPr lang="en-US" altLang="zh-CN" dirty="0">
                <a:solidFill>
                  <a:srgbClr val="000000"/>
                </a:solidFill>
              </a:rPr>
              <a:t>se</a:t>
            </a:r>
            <a:endParaRPr lang="zh-CN" dirty="0">
              <a:solidFill>
                <a:srgbClr val="000000"/>
              </a:solidFill>
            </a:endParaRPr>
          </a:p>
          <a:p>
            <a:pPr marL="285750" indent="-285750"/>
            <a:r>
              <a:rPr lang="zh-CN" altLang="en-US" dirty="0">
                <a:solidFill>
                  <a:srgbClr val="000000"/>
                </a:solidFill>
              </a:rPr>
              <a:t>资源的检查和资源的使用不是同时进行，而是先检查后使用，中间有时间差。</a:t>
            </a:r>
            <a:endParaRPr lang="en-GB" dirty="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Shape 86"/>
          <p:cNvSpPr txBox="1">
            <a:spLocks noGrp="1"/>
          </p:cNvSpPr>
          <p:nvPr>
            <p:ph type="title"/>
          </p:nvPr>
        </p:nvSpPr>
        <p:spPr>
          <a:xfrm>
            <a:off x="311700" y="156277"/>
            <a:ext cx="8520600" cy="572700"/>
          </a:xfrm>
          <a:prstGeom prst="rect">
            <a:avLst/>
          </a:prstGeom>
        </p:spPr>
        <p:txBody>
          <a:bodyPr wrap="square" lIns="91425" tIns="91425" rIns="91425" bIns="91425" anchor="t" anchorCtr="0">
            <a:noAutofit/>
          </a:bodyPr>
          <a:lstStyle/>
          <a:p>
            <a:pPr marL="0" lvl="0" indent="0">
              <a:spcBef>
                <a:spcPts val="0"/>
              </a:spcBef>
              <a:buNone/>
            </a:pPr>
            <a:r>
              <a:rPr lang="zh-CN" dirty="0"/>
              <a:t>竞态条件</a:t>
            </a:r>
            <a:r>
              <a:rPr lang="zh-CN" altLang="en-US" dirty="0"/>
              <a:t>漏洞</a:t>
            </a:r>
            <a:endParaRPr lang="zh-CN" dirty="0"/>
          </a:p>
        </p:txBody>
      </p:sp>
      <p:sp>
        <p:nvSpPr>
          <p:cNvPr id="87" name="Shape 87"/>
          <p:cNvSpPr txBox="1">
            <a:spLocks noGrp="1"/>
          </p:cNvSpPr>
          <p:nvPr>
            <p:ph type="body" idx="1"/>
          </p:nvPr>
        </p:nvSpPr>
        <p:spPr>
          <a:xfrm>
            <a:off x="5844600" y="1238736"/>
            <a:ext cx="2987700" cy="1307945"/>
          </a:xfrm>
          <a:prstGeom prst="rect">
            <a:avLst/>
          </a:prstGeom>
        </p:spPr>
        <p:txBody>
          <a:bodyPr wrap="square" lIns="91425" tIns="91425" rIns="91425" bIns="91425" anchor="t" anchorCtr="0">
            <a:noAutofit/>
          </a:bodyPr>
          <a:lstStyle/>
          <a:p>
            <a:pPr marL="457200" lvl="0" indent="-342900">
              <a:spcBef>
                <a:spcPts val="0"/>
              </a:spcBef>
              <a:spcAft>
                <a:spcPts val="0"/>
              </a:spcAft>
              <a:buClr>
                <a:srgbClr val="000000"/>
              </a:buClr>
              <a:buSzPts val="1800"/>
              <a:buChar char="●"/>
            </a:pPr>
            <a:r>
              <a:rPr lang="en-US" altLang="zh-CN" sz="1600" dirty="0">
                <a:solidFill>
                  <a:srgbClr val="000000"/>
                </a:solidFill>
              </a:rPr>
              <a:t>r</a:t>
            </a:r>
            <a:r>
              <a:rPr lang="zh-CN" sz="1600" dirty="0">
                <a:solidFill>
                  <a:srgbClr val="000000"/>
                </a:solidFill>
              </a:rPr>
              <a:t>oot 拥有的 Set-UID 程序</a:t>
            </a:r>
          </a:p>
          <a:p>
            <a:pPr marL="457200" lvl="0" indent="-342900">
              <a:spcBef>
                <a:spcPts val="0"/>
              </a:spcBef>
              <a:spcAft>
                <a:spcPts val="0"/>
              </a:spcAft>
              <a:buClr>
                <a:srgbClr val="000000"/>
              </a:buClr>
              <a:buSzPts val="1800"/>
              <a:buChar char="●"/>
            </a:pPr>
            <a:r>
              <a:rPr lang="zh-CN" sz="1600" dirty="0">
                <a:solidFill>
                  <a:srgbClr val="000000"/>
                </a:solidFill>
              </a:rPr>
              <a:t>有效用户 ID：root</a:t>
            </a:r>
          </a:p>
          <a:p>
            <a:pPr marL="457200" lvl="0" indent="-342900">
              <a:spcBef>
                <a:spcPts val="0"/>
              </a:spcBef>
              <a:buClr>
                <a:srgbClr val="000000"/>
              </a:buClr>
              <a:buSzPts val="1800"/>
              <a:buChar char="●"/>
            </a:pPr>
            <a:r>
              <a:rPr lang="zh-CN" sz="1600" dirty="0">
                <a:solidFill>
                  <a:srgbClr val="000000"/>
                </a:solidFill>
              </a:rPr>
              <a:t>真实用户 ID：</a:t>
            </a:r>
            <a:r>
              <a:rPr lang="en-US" altLang="zh-CN" sz="1600" dirty="0">
                <a:solidFill>
                  <a:srgbClr val="000000"/>
                </a:solidFill>
              </a:rPr>
              <a:t>seed</a:t>
            </a:r>
            <a:endParaRPr lang="zh-CN" sz="1600" dirty="0">
              <a:solidFill>
                <a:srgbClr val="000000"/>
              </a:solidFill>
            </a:endParaRPr>
          </a:p>
          <a:p>
            <a:pPr marL="0" lvl="0" indent="0">
              <a:spcBef>
                <a:spcPts val="0"/>
              </a:spcBef>
              <a:buNone/>
            </a:pPr>
            <a:endParaRPr dirty="0"/>
          </a:p>
        </p:txBody>
      </p:sp>
      <p:pic>
        <p:nvPicPr>
          <p:cNvPr id="88" name="Shape 88"/>
          <p:cNvPicPr preferRelativeResize="0"/>
          <p:nvPr/>
        </p:nvPicPr>
        <p:blipFill>
          <a:blip r:embed="rId3">
            <a:alphaModFix/>
          </a:blip>
          <a:stretch>
            <a:fillRect/>
          </a:stretch>
        </p:blipFill>
        <p:spPr>
          <a:xfrm>
            <a:off x="311700" y="958001"/>
            <a:ext cx="5703198" cy="2035499"/>
          </a:xfrm>
          <a:prstGeom prst="rect">
            <a:avLst/>
          </a:prstGeom>
          <a:noFill/>
          <a:ln>
            <a:noFill/>
          </a:ln>
        </p:spPr>
      </p:pic>
      <p:sp>
        <p:nvSpPr>
          <p:cNvPr id="89" name="Shape 89"/>
          <p:cNvSpPr txBox="1"/>
          <p:nvPr/>
        </p:nvSpPr>
        <p:spPr>
          <a:xfrm>
            <a:off x="316300" y="2993500"/>
            <a:ext cx="8581800" cy="2035500"/>
          </a:xfrm>
          <a:prstGeom prst="rect">
            <a:avLst/>
          </a:prstGeom>
          <a:noFill/>
          <a:ln>
            <a:noFill/>
          </a:ln>
        </p:spPr>
        <p:txBody>
          <a:bodyPr wrap="square" lIns="91425" tIns="91425" rIns="91425" bIns="91425" anchor="t" anchorCtr="0">
            <a:noAutofit/>
          </a:bodyPr>
          <a:lstStyle/>
          <a:p>
            <a:pPr marL="457200" lvl="0" indent="-342900">
              <a:spcBef>
                <a:spcPts val="0"/>
              </a:spcBef>
              <a:spcAft>
                <a:spcPts val="0"/>
              </a:spcAft>
              <a:buSzPts val="1800"/>
              <a:buChar char="●"/>
            </a:pPr>
            <a:r>
              <a:rPr lang="zh-CN" sz="1800" dirty="0"/>
              <a:t>上述程序会将数据写入</a:t>
            </a:r>
            <a:r>
              <a:rPr lang="zh-CN" sz="1800" dirty="0">
                <a:latin typeface="Courier New" panose="02070309020205020404" pitchFamily="49" charset="0"/>
                <a:cs typeface="Courier New" panose="02070309020205020404" pitchFamily="49" charset="0"/>
              </a:rPr>
              <a:t>/tmp目录</a:t>
            </a:r>
            <a:r>
              <a:rPr lang="zh-CN" altLang="en-US" sz="1800" dirty="0">
                <a:latin typeface="Courier New" panose="02070309020205020404" pitchFamily="49" charset="0"/>
                <a:cs typeface="Courier New" panose="02070309020205020404" pitchFamily="49" charset="0"/>
              </a:rPr>
              <a:t>（全局可写）</a:t>
            </a:r>
            <a:r>
              <a:rPr lang="zh-CN" sz="1800" dirty="0">
                <a:latin typeface="Courier New" panose="02070309020205020404" pitchFamily="49" charset="0"/>
                <a:cs typeface="Courier New" panose="02070309020205020404" pitchFamily="49" charset="0"/>
              </a:rPr>
              <a:t>下的一个文件。</a:t>
            </a:r>
            <a:endParaRPr lang="zh-CN" sz="1800" dirty="0"/>
          </a:p>
          <a:p>
            <a:pPr marL="457200" lvl="0" indent="-342900">
              <a:spcBef>
                <a:spcPts val="0"/>
              </a:spcBef>
              <a:spcAft>
                <a:spcPts val="0"/>
              </a:spcAft>
              <a:buSzPts val="1800"/>
              <a:buChar char="●"/>
            </a:pPr>
            <a:r>
              <a:rPr lang="zh-CN" sz="1800" dirty="0"/>
              <a:t>由于 root 用户可以写入任何文件，因此该程序会确保真正的用户拥有写入目标文件的权限。</a:t>
            </a:r>
          </a:p>
          <a:p>
            <a:pPr marL="457200" lvl="0" indent="-342900">
              <a:spcBef>
                <a:spcPts val="0"/>
              </a:spcBef>
              <a:spcAft>
                <a:spcPts val="0"/>
              </a:spcAft>
              <a:buSzPts val="1800"/>
              <a:buChar char="●"/>
            </a:pPr>
            <a:r>
              <a:rPr lang="zh-CN" sz="1800" dirty="0">
                <a:latin typeface="Courier New" panose="02070309020205020404" pitchFamily="49" charset="0"/>
                <a:cs typeface="Courier New" panose="02070309020205020404" pitchFamily="49" charset="0"/>
              </a:rPr>
              <a:t>access()</a:t>
            </a:r>
            <a:r>
              <a:rPr lang="zh-CN" sz="1800" dirty="0"/>
              <a:t>系统调用检查真实用户 ID 是否对 /tm</a:t>
            </a:r>
            <a:r>
              <a:rPr lang="en-US" altLang="zh-CN" sz="1800" dirty="0"/>
              <a:t>p</a:t>
            </a:r>
            <a:r>
              <a:rPr lang="zh-CN" sz="1800" dirty="0"/>
              <a:t>/X 具有写入权限。</a:t>
            </a:r>
          </a:p>
          <a:p>
            <a:pPr marL="457200" lvl="0" indent="-342900">
              <a:spcBef>
                <a:spcPts val="0"/>
              </a:spcBef>
              <a:spcAft>
                <a:spcPts val="0"/>
              </a:spcAft>
              <a:buSzPts val="1800"/>
              <a:buChar char="●"/>
            </a:pPr>
            <a:r>
              <a:rPr lang="zh-CN" sz="1800" dirty="0"/>
              <a:t>检查完成后，文件即可打开进行写入。</a:t>
            </a:r>
          </a:p>
          <a:p>
            <a:pPr marL="457200" lvl="0" indent="-342900">
              <a:spcBef>
                <a:spcPts val="0"/>
              </a:spcBef>
              <a:buSzPts val="1800"/>
              <a:buChar char="●"/>
            </a:pPr>
            <a:r>
              <a:rPr lang="zh-CN" sz="1800" dirty="0">
                <a:latin typeface="Courier New" panose="02070309020205020404" pitchFamily="49" charset="0"/>
                <a:cs typeface="Courier New" panose="02070309020205020404" pitchFamily="49" charset="0"/>
              </a:rPr>
              <a:t>open()</a:t>
            </a:r>
            <a:r>
              <a:rPr lang="zh-CN" sz="1800" dirty="0"/>
              <a:t>检查有效用户ID，该 ID 为 0，因此将</a:t>
            </a:r>
            <a:r>
              <a:rPr lang="zh-CN" altLang="en-US" sz="1800" dirty="0"/>
              <a:t>以</a:t>
            </a:r>
            <a:r>
              <a:rPr lang="en-US" altLang="zh-CN" sz="1800" dirty="0"/>
              <a:t>root</a:t>
            </a:r>
            <a:r>
              <a:rPr lang="zh-CN" altLang="en-US" sz="1800" dirty="0"/>
              <a:t>身份</a:t>
            </a:r>
            <a:r>
              <a:rPr lang="zh-CN" sz="1800" dirty="0"/>
              <a:t>打开文件</a:t>
            </a:r>
            <a:r>
              <a:rPr lang="zh-CN" sz="1800" dirty="0">
                <a:latin typeface="Courier New" panose="02070309020205020404" pitchFamily="49" charset="0"/>
                <a:cs typeface="Courier New" panose="02070309020205020404" pitchFamily="49" charset="0"/>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Shape 94"/>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0">
              <a:spcBef>
                <a:spcPts val="0"/>
              </a:spcBef>
              <a:buNone/>
            </a:pPr>
            <a:r>
              <a:rPr lang="zh-CN" dirty="0"/>
              <a:t>竞态条件</a:t>
            </a:r>
            <a:r>
              <a:rPr lang="zh-CN" altLang="en-US" dirty="0"/>
              <a:t>漏洞</a:t>
            </a:r>
            <a:endParaRPr lang="zh-CN" dirty="0"/>
          </a:p>
        </p:txBody>
      </p:sp>
      <p:sp>
        <p:nvSpPr>
          <p:cNvPr id="95" name="Shape 95"/>
          <p:cNvSpPr txBox="1">
            <a:spLocks noGrp="1"/>
          </p:cNvSpPr>
          <p:nvPr>
            <p:ph type="body" idx="1"/>
          </p:nvPr>
        </p:nvSpPr>
        <p:spPr>
          <a:xfrm>
            <a:off x="311700" y="1152475"/>
            <a:ext cx="8520600" cy="3416400"/>
          </a:xfrm>
          <a:prstGeom prst="rect">
            <a:avLst/>
          </a:prstGeom>
        </p:spPr>
        <p:txBody>
          <a:bodyPr wrap="square" lIns="91425" tIns="91425" rIns="91425" bIns="91425" anchor="t" anchorCtr="0">
            <a:noAutofit/>
          </a:bodyPr>
          <a:lstStyle/>
          <a:p>
            <a:pPr marL="0" lvl="0" indent="0">
              <a:spcBef>
                <a:spcPts val="0"/>
              </a:spcBef>
              <a:buNone/>
            </a:pPr>
            <a:r>
              <a:rPr lang="zh-CN" altLang="en-US" b="1" dirty="0">
                <a:solidFill>
                  <a:srgbClr val="FF0000"/>
                </a:solidFill>
              </a:rPr>
              <a:t>攻击</a:t>
            </a:r>
            <a:r>
              <a:rPr lang="zh-CN" b="1" dirty="0">
                <a:solidFill>
                  <a:srgbClr val="FF0000"/>
                </a:solidFill>
              </a:rPr>
              <a:t>目标：</a:t>
            </a:r>
            <a:r>
              <a:rPr lang="zh-CN" dirty="0">
                <a:solidFill>
                  <a:srgbClr val="FF0000"/>
                </a:solidFill>
              </a:rPr>
              <a:t>写入受保护的文件，例如</a:t>
            </a:r>
            <a:r>
              <a:rPr lang="zh-CN" dirty="0">
                <a:solidFill>
                  <a:srgbClr val="FF0000"/>
                </a:solidFill>
                <a:latin typeface="Courier New" panose="02070309020205020404" pitchFamily="49" charset="0"/>
                <a:cs typeface="Courier New" panose="02070309020205020404" pitchFamily="49" charset="0"/>
              </a:rPr>
              <a:t>/etc/passwd </a:t>
            </a:r>
            <a:r>
              <a:rPr lang="zh-CN" dirty="0">
                <a:solidFill>
                  <a:srgbClr val="FF0000"/>
                </a:solidFill>
              </a:rPr>
              <a:t>。</a:t>
            </a:r>
          </a:p>
          <a:p>
            <a:pPr marL="0" lvl="0" indent="0">
              <a:spcBef>
                <a:spcPts val="0"/>
              </a:spcBef>
              <a:buNone/>
            </a:pPr>
            <a:r>
              <a:rPr lang="zh-CN" dirty="0">
                <a:solidFill>
                  <a:srgbClr val="000000"/>
                </a:solidFill>
              </a:rPr>
              <a:t>为了实现这个目标，</a:t>
            </a:r>
            <a:r>
              <a:rPr lang="zh-CN" altLang="en-US" dirty="0">
                <a:solidFill>
                  <a:srgbClr val="000000"/>
                </a:solidFill>
              </a:rPr>
              <a:t>攻击者</a:t>
            </a:r>
            <a:r>
              <a:rPr lang="zh-CN" dirty="0">
                <a:solidFill>
                  <a:srgbClr val="000000"/>
                </a:solidFill>
              </a:rPr>
              <a:t>需要将</a:t>
            </a:r>
            <a:r>
              <a:rPr lang="zh-CN" dirty="0">
                <a:solidFill>
                  <a:srgbClr val="000000"/>
                </a:solidFill>
                <a:latin typeface="Courier New" panose="02070309020205020404" pitchFamily="49" charset="0"/>
                <a:cs typeface="Courier New" panose="02070309020205020404" pitchFamily="49" charset="0"/>
              </a:rPr>
              <a:t>/etc/passwd</a:t>
            </a:r>
            <a:r>
              <a:rPr lang="zh-CN" altLang="en-US" dirty="0">
                <a:solidFill>
                  <a:srgbClr val="000000"/>
                </a:solidFill>
                <a:latin typeface="Courier New" panose="02070309020205020404" pitchFamily="49" charset="0"/>
                <a:cs typeface="Courier New" panose="02070309020205020404" pitchFamily="49" charset="0"/>
              </a:rPr>
              <a:t>作为目标文件，并且在</a:t>
            </a:r>
            <a:r>
              <a:rPr lang="zh-CN" altLang="en-US" dirty="0">
                <a:solidFill>
                  <a:srgbClr val="FF0000"/>
                </a:solidFill>
                <a:latin typeface="Courier New" panose="02070309020205020404" pitchFamily="49" charset="0"/>
                <a:cs typeface="Courier New" panose="02070309020205020404" pitchFamily="49" charset="0"/>
              </a:rPr>
              <a:t>不能修改存在竟态条件漏洞的程序的条件</a:t>
            </a:r>
            <a:r>
              <a:rPr lang="zh-CN" altLang="en-US" dirty="0">
                <a:solidFill>
                  <a:srgbClr val="000000"/>
                </a:solidFill>
                <a:latin typeface="Courier New" panose="02070309020205020404" pitchFamily="49" charset="0"/>
                <a:cs typeface="Courier New" panose="02070309020205020404" pitchFamily="49" charset="0"/>
              </a:rPr>
              <a:t>下做到这一点。</a:t>
            </a:r>
            <a:endParaRPr lang="zh-CN" dirty="0">
              <a:solidFill>
                <a:srgbClr val="000000"/>
              </a:solidFill>
            </a:endParaRPr>
          </a:p>
          <a:p>
            <a:pPr marL="457200" lvl="0" indent="-342900">
              <a:spcBef>
                <a:spcPts val="0"/>
              </a:spcBef>
              <a:spcAft>
                <a:spcPts val="0"/>
              </a:spcAft>
              <a:buClr>
                <a:srgbClr val="000000"/>
              </a:buClr>
              <a:buSzPts val="1800"/>
              <a:buChar char="●"/>
            </a:pPr>
            <a:r>
              <a:rPr lang="zh-CN" dirty="0">
                <a:solidFill>
                  <a:srgbClr val="000000"/>
                </a:solidFill>
              </a:rPr>
              <a:t>符号链接（软链接）可以帮助</a:t>
            </a:r>
            <a:r>
              <a:rPr lang="zh-CN" altLang="en-US" dirty="0">
                <a:solidFill>
                  <a:srgbClr val="000000"/>
                </a:solidFill>
              </a:rPr>
              <a:t>攻击者</a:t>
            </a:r>
            <a:r>
              <a:rPr lang="zh-CN" dirty="0">
                <a:solidFill>
                  <a:srgbClr val="000000"/>
                </a:solidFill>
              </a:rPr>
              <a:t>实现这一点。</a:t>
            </a:r>
          </a:p>
          <a:p>
            <a:pPr marL="457200" lvl="0" indent="-342900">
              <a:spcBef>
                <a:spcPts val="0"/>
              </a:spcBef>
              <a:buClr>
                <a:srgbClr val="000000"/>
              </a:buClr>
              <a:buSzPts val="1800"/>
              <a:buChar char="●"/>
            </a:pPr>
            <a:r>
              <a:rPr lang="zh-CN" altLang="en-US" dirty="0">
                <a:solidFill>
                  <a:srgbClr val="000000"/>
                </a:solidFill>
              </a:rPr>
              <a:t>符号链接</a:t>
            </a:r>
            <a:r>
              <a:rPr lang="zh-CN" dirty="0">
                <a:solidFill>
                  <a:srgbClr val="000000"/>
                </a:solidFill>
              </a:rPr>
              <a:t>是一种特殊的文件，</a:t>
            </a:r>
            <a:r>
              <a:rPr lang="zh-CN" altLang="en-US" dirty="0">
                <a:solidFill>
                  <a:srgbClr val="000000"/>
                </a:solidFill>
              </a:rPr>
              <a:t>它</a:t>
            </a:r>
            <a:r>
              <a:rPr lang="zh-CN" dirty="0">
                <a:solidFill>
                  <a:srgbClr val="000000"/>
                </a:solidFill>
              </a:rPr>
              <a:t>指向另一个</a:t>
            </a:r>
            <a:r>
              <a:rPr lang="zh-CN" altLang="en-US" dirty="0">
                <a:solidFill>
                  <a:srgbClr val="000000"/>
                </a:solidFill>
              </a:rPr>
              <a:t>目标</a:t>
            </a:r>
            <a:r>
              <a:rPr lang="zh-CN" dirty="0">
                <a:solidFill>
                  <a:srgbClr val="000000"/>
                </a:solidFill>
              </a:rPr>
              <a:t>文件。</a:t>
            </a:r>
          </a:p>
          <a:p>
            <a:pPr marL="0" lvl="0" indent="0">
              <a:spcBef>
                <a:spcPts val="0"/>
              </a:spcBef>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Shape 100"/>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0">
              <a:spcBef>
                <a:spcPts val="0"/>
              </a:spcBef>
              <a:buNone/>
            </a:pPr>
            <a:r>
              <a:rPr lang="zh-CN" dirty="0"/>
              <a:t>竞态条件</a:t>
            </a:r>
            <a:r>
              <a:rPr lang="zh-CN" altLang="en-US" dirty="0"/>
              <a:t>漏洞</a:t>
            </a:r>
            <a:endParaRPr lang="zh-CN" dirty="0"/>
          </a:p>
        </p:txBody>
      </p:sp>
      <p:sp>
        <p:nvSpPr>
          <p:cNvPr id="101" name="Shape 101"/>
          <p:cNvSpPr/>
          <p:nvPr/>
        </p:nvSpPr>
        <p:spPr>
          <a:xfrm>
            <a:off x="311700" y="1284725"/>
            <a:ext cx="3593700" cy="466500"/>
          </a:xfrm>
          <a:prstGeom prst="rect">
            <a:avLst/>
          </a:prstGeom>
          <a:solidFill>
            <a:schemeClr val="lt2"/>
          </a:solidFill>
          <a:ln w="9525" cap="flat" cmpd="sng">
            <a:solidFill>
              <a:schemeClr val="dk2"/>
            </a:solidFill>
            <a:prstDash val="solid"/>
            <a:round/>
            <a:headEnd type="none" w="med" len="med"/>
            <a:tailEnd type="none" w="med" len="med"/>
          </a:ln>
        </p:spPr>
        <p:txBody>
          <a:bodyPr wrap="square" lIns="91425" tIns="91425" rIns="91425" bIns="91425" anchor="ctr" anchorCtr="0">
            <a:noAutofit/>
          </a:bodyPr>
          <a:lstStyle/>
          <a:p>
            <a:pPr marL="0" lvl="0" indent="0">
              <a:spcBef>
                <a:spcPts val="0"/>
              </a:spcBef>
              <a:buNone/>
            </a:pPr>
            <a:r>
              <a:rPr lang="zh-CN"/>
              <a:t>在 /tmp 目录下创建一个普通文件 X</a:t>
            </a:r>
          </a:p>
        </p:txBody>
      </p:sp>
      <p:cxnSp>
        <p:nvCxnSpPr>
          <p:cNvPr id="102" name="Shape 102"/>
          <p:cNvCxnSpPr>
            <a:endCxn id="101" idx="3"/>
          </p:cNvCxnSpPr>
          <p:nvPr/>
        </p:nvCxnSpPr>
        <p:spPr>
          <a:xfrm flipH="1">
            <a:off x="3905400" y="1504475"/>
            <a:ext cx="977400" cy="13500"/>
          </a:xfrm>
          <a:prstGeom prst="straightConnector1">
            <a:avLst/>
          </a:prstGeom>
          <a:noFill/>
          <a:ln w="9525" cap="flat" cmpd="sng">
            <a:solidFill>
              <a:srgbClr val="FF0000"/>
            </a:solidFill>
            <a:prstDash val="solid"/>
            <a:round/>
            <a:headEnd type="none" w="lg" len="lg"/>
            <a:tailEnd type="triangle" w="lg" len="lg"/>
          </a:ln>
        </p:spPr>
      </p:cxnSp>
      <p:sp>
        <p:nvSpPr>
          <p:cNvPr id="103" name="Shape 103"/>
          <p:cNvSpPr txBox="1"/>
          <p:nvPr/>
        </p:nvSpPr>
        <p:spPr>
          <a:xfrm>
            <a:off x="4910324" y="1284725"/>
            <a:ext cx="3566175" cy="466500"/>
          </a:xfrm>
          <a:prstGeom prst="rect">
            <a:avLst/>
          </a:prstGeom>
          <a:noFill/>
          <a:ln>
            <a:noFill/>
          </a:ln>
        </p:spPr>
        <p:txBody>
          <a:bodyPr wrap="square" lIns="91425" tIns="91425" rIns="91425" bIns="91425" anchor="t" anchorCtr="0">
            <a:noAutofit/>
          </a:bodyPr>
          <a:lstStyle/>
          <a:p>
            <a:pPr marL="0" lvl="0" indent="0">
              <a:spcBef>
                <a:spcPts val="0"/>
              </a:spcBef>
              <a:buNone/>
            </a:pPr>
            <a:r>
              <a:rPr lang="zh-CN" sz="1600" dirty="0">
                <a:solidFill>
                  <a:srgbClr val="FF0000"/>
                </a:solidFill>
              </a:rPr>
              <a:t>通过 access() </a:t>
            </a:r>
            <a:r>
              <a:rPr lang="zh-CN" altLang="en-US" sz="1600" dirty="0">
                <a:solidFill>
                  <a:srgbClr val="FF0000"/>
                </a:solidFill>
              </a:rPr>
              <a:t>函数</a:t>
            </a:r>
            <a:r>
              <a:rPr lang="zh-CN" sz="1600" dirty="0">
                <a:solidFill>
                  <a:srgbClr val="FF0000"/>
                </a:solidFill>
              </a:rPr>
              <a:t>检查</a:t>
            </a:r>
            <a:r>
              <a:rPr lang="zh-CN" altLang="en-US" sz="1600" dirty="0">
                <a:solidFill>
                  <a:srgbClr val="FF0000"/>
                </a:solidFill>
              </a:rPr>
              <a:t>访问许可</a:t>
            </a:r>
            <a:endParaRPr lang="zh-CN" sz="1600" dirty="0">
              <a:solidFill>
                <a:srgbClr val="FF0000"/>
              </a:solidFill>
            </a:endParaRPr>
          </a:p>
        </p:txBody>
      </p:sp>
      <p:cxnSp>
        <p:nvCxnSpPr>
          <p:cNvPr id="104" name="Shape 104"/>
          <p:cNvCxnSpPr>
            <a:stCxn id="101" idx="2"/>
          </p:cNvCxnSpPr>
          <p:nvPr/>
        </p:nvCxnSpPr>
        <p:spPr>
          <a:xfrm>
            <a:off x="2108550" y="1751225"/>
            <a:ext cx="3600" cy="630900"/>
          </a:xfrm>
          <a:prstGeom prst="straightConnector1">
            <a:avLst/>
          </a:prstGeom>
          <a:noFill/>
          <a:ln w="9525" cap="flat" cmpd="sng">
            <a:solidFill>
              <a:schemeClr val="dk2"/>
            </a:solidFill>
            <a:prstDash val="solid"/>
            <a:round/>
            <a:headEnd type="none" w="lg" len="lg"/>
            <a:tailEnd type="triangle" w="lg" len="lg"/>
          </a:ln>
        </p:spPr>
      </p:cxnSp>
      <p:sp>
        <p:nvSpPr>
          <p:cNvPr id="105" name="Shape 105"/>
          <p:cNvSpPr/>
          <p:nvPr/>
        </p:nvSpPr>
        <p:spPr>
          <a:xfrm>
            <a:off x="313500" y="2382125"/>
            <a:ext cx="3593700" cy="466500"/>
          </a:xfrm>
          <a:prstGeom prst="rect">
            <a:avLst/>
          </a:prstGeom>
          <a:solidFill>
            <a:schemeClr val="lt2"/>
          </a:solidFill>
          <a:ln w="9525" cap="flat" cmpd="sng">
            <a:solidFill>
              <a:schemeClr val="dk2"/>
            </a:solidFill>
            <a:prstDash val="solid"/>
            <a:round/>
            <a:headEnd type="none" w="med" len="med"/>
            <a:tailEnd type="none" w="med" len="med"/>
          </a:ln>
        </p:spPr>
        <p:txBody>
          <a:bodyPr wrap="square" lIns="91425" tIns="91425" rIns="91425" bIns="91425" anchor="ctr" anchorCtr="0">
            <a:noAutofit/>
          </a:bodyPr>
          <a:lstStyle/>
          <a:p>
            <a:pPr marL="0" lvl="0" indent="0">
              <a:spcBef>
                <a:spcPts val="0"/>
              </a:spcBef>
              <a:buNone/>
            </a:pPr>
            <a:r>
              <a:rPr lang="zh-CN" dirty="0"/>
              <a:t>将“/tmp/X”更改为指向“/etc/ passwd”的符号链接。</a:t>
            </a:r>
            <a:endParaRPr lang="en-GB" dirty="0"/>
          </a:p>
        </p:txBody>
      </p:sp>
      <p:cxnSp>
        <p:nvCxnSpPr>
          <p:cNvPr id="106" name="Shape 106"/>
          <p:cNvCxnSpPr>
            <a:stCxn id="105" idx="2"/>
          </p:cNvCxnSpPr>
          <p:nvPr/>
        </p:nvCxnSpPr>
        <p:spPr>
          <a:xfrm>
            <a:off x="2110350" y="2848625"/>
            <a:ext cx="1800" cy="630600"/>
          </a:xfrm>
          <a:prstGeom prst="straightConnector1">
            <a:avLst/>
          </a:prstGeom>
          <a:noFill/>
          <a:ln w="9525" cap="flat" cmpd="sng">
            <a:solidFill>
              <a:schemeClr val="dk2"/>
            </a:solidFill>
            <a:prstDash val="solid"/>
            <a:round/>
            <a:headEnd type="none" w="lg" len="lg"/>
            <a:tailEnd type="triangle" w="lg" len="lg"/>
          </a:ln>
        </p:spPr>
      </p:cxnSp>
      <p:sp>
        <p:nvSpPr>
          <p:cNvPr id="107" name="Shape 107"/>
          <p:cNvSpPr/>
          <p:nvPr/>
        </p:nvSpPr>
        <p:spPr>
          <a:xfrm>
            <a:off x="311700" y="3479525"/>
            <a:ext cx="3593700" cy="466500"/>
          </a:xfrm>
          <a:prstGeom prst="rect">
            <a:avLst/>
          </a:prstGeom>
          <a:solidFill>
            <a:schemeClr val="lt2"/>
          </a:solidFill>
          <a:ln w="9525" cap="flat" cmpd="sng">
            <a:solidFill>
              <a:schemeClr val="dk2"/>
            </a:solidFill>
            <a:prstDash val="solid"/>
            <a:round/>
            <a:headEnd type="none" w="med" len="med"/>
            <a:tailEnd type="none" w="med" len="med"/>
          </a:ln>
        </p:spPr>
        <p:txBody>
          <a:bodyPr wrap="square" lIns="91425" tIns="91425" rIns="91425" bIns="91425" anchor="ctr" anchorCtr="0">
            <a:noAutofit/>
          </a:bodyPr>
          <a:lstStyle/>
          <a:p>
            <a:pPr marL="0" lvl="0" indent="0" rtl="0">
              <a:spcBef>
                <a:spcPts val="0"/>
              </a:spcBef>
              <a:buNone/>
            </a:pPr>
            <a:r>
              <a:rPr lang="zh-CN" dirty="0"/>
              <a:t>open() 检查 E</a:t>
            </a:r>
            <a:r>
              <a:rPr lang="en-US" altLang="zh-CN" dirty="0"/>
              <a:t>U</a:t>
            </a:r>
            <a:r>
              <a:rPr lang="zh-CN" dirty="0"/>
              <a:t>ID，E</a:t>
            </a:r>
            <a:r>
              <a:rPr lang="en-US" altLang="zh-CN" dirty="0"/>
              <a:t>U</a:t>
            </a:r>
            <a:r>
              <a:rPr lang="zh-CN" dirty="0"/>
              <a:t>ID 为 root。</a:t>
            </a:r>
          </a:p>
        </p:txBody>
      </p:sp>
      <p:cxnSp>
        <p:nvCxnSpPr>
          <p:cNvPr id="108" name="Shape 108"/>
          <p:cNvCxnSpPr/>
          <p:nvPr/>
        </p:nvCxnSpPr>
        <p:spPr>
          <a:xfrm>
            <a:off x="2107650" y="3946025"/>
            <a:ext cx="1800" cy="630600"/>
          </a:xfrm>
          <a:prstGeom prst="straightConnector1">
            <a:avLst/>
          </a:prstGeom>
          <a:noFill/>
          <a:ln w="9525" cap="flat" cmpd="sng">
            <a:solidFill>
              <a:schemeClr val="dk2"/>
            </a:solidFill>
            <a:prstDash val="solid"/>
            <a:round/>
            <a:headEnd type="none" w="lg" len="lg"/>
            <a:tailEnd type="triangle" w="lg" len="lg"/>
          </a:ln>
        </p:spPr>
      </p:cxnSp>
      <p:sp>
        <p:nvSpPr>
          <p:cNvPr id="109" name="Shape 109"/>
          <p:cNvSpPr/>
          <p:nvPr/>
        </p:nvSpPr>
        <p:spPr>
          <a:xfrm>
            <a:off x="381800" y="4576925"/>
            <a:ext cx="3593700" cy="466500"/>
          </a:xfrm>
          <a:prstGeom prst="rect">
            <a:avLst/>
          </a:prstGeom>
          <a:solidFill>
            <a:schemeClr val="lt2"/>
          </a:solidFill>
          <a:ln w="9525" cap="flat" cmpd="sng">
            <a:solidFill>
              <a:schemeClr val="dk2"/>
            </a:solidFill>
            <a:prstDash val="solid"/>
            <a:round/>
            <a:headEnd type="none" w="med" len="med"/>
            <a:tailEnd type="none" w="med" len="med"/>
          </a:ln>
        </p:spPr>
        <p:txBody>
          <a:bodyPr wrap="square" lIns="91425" tIns="91425" rIns="91425" bIns="91425" anchor="ctr" anchorCtr="0">
            <a:noAutofit/>
          </a:bodyPr>
          <a:lstStyle/>
          <a:p>
            <a:pPr marL="0" lvl="0" indent="0" rtl="0">
              <a:spcBef>
                <a:spcPts val="0"/>
              </a:spcBef>
              <a:buNone/>
            </a:pPr>
            <a:r>
              <a:rPr lang="zh-CN" dirty="0"/>
              <a:t>打开密码文件进行写入。</a:t>
            </a:r>
          </a:p>
        </p:txBody>
      </p:sp>
      <p:sp>
        <p:nvSpPr>
          <p:cNvPr id="110" name="Shape 110"/>
          <p:cNvSpPr txBox="1"/>
          <p:nvPr/>
        </p:nvSpPr>
        <p:spPr>
          <a:xfrm>
            <a:off x="4251950" y="1641350"/>
            <a:ext cx="4663500" cy="3347100"/>
          </a:xfrm>
          <a:prstGeom prst="rect">
            <a:avLst/>
          </a:prstGeom>
          <a:noFill/>
          <a:ln>
            <a:noFill/>
          </a:ln>
        </p:spPr>
        <p:txBody>
          <a:bodyPr wrap="square" lIns="91425" tIns="91425" rIns="91425" bIns="91425" anchor="t" anchorCtr="0">
            <a:noAutofit/>
          </a:bodyPr>
          <a:lstStyle/>
          <a:p>
            <a:pPr marL="0" lvl="0" indent="0">
              <a:spcBef>
                <a:spcPts val="0"/>
              </a:spcBef>
              <a:buNone/>
            </a:pPr>
            <a:r>
              <a:rPr lang="zh-CN" sz="1800" b="1" dirty="0"/>
              <a:t>问题 ：</a:t>
            </a:r>
          </a:p>
          <a:p>
            <a:pPr marL="0" lvl="0" indent="0">
              <a:spcBef>
                <a:spcPts val="0"/>
              </a:spcBef>
              <a:buNone/>
            </a:pPr>
            <a:endParaRPr sz="1800" dirty="0"/>
          </a:p>
          <a:p>
            <a:pPr marL="0" lvl="0" indent="0">
              <a:spcBef>
                <a:spcPts val="0"/>
              </a:spcBef>
              <a:buNone/>
            </a:pPr>
            <a:r>
              <a:rPr lang="zh-CN" sz="1800" dirty="0"/>
              <a:t>由于程序每秒运行数十亿条指令，检查时间和使用时间之间的</a:t>
            </a:r>
            <a:r>
              <a:rPr lang="zh-CN" sz="1800" dirty="0">
                <a:solidFill>
                  <a:srgbClr val="FF0000"/>
                </a:solidFill>
              </a:rPr>
              <a:t>窗口期</a:t>
            </a:r>
            <a:r>
              <a:rPr lang="zh-CN" sz="1800" dirty="0"/>
              <a:t>非常短，因此不可能将其更改为符号链接。</a:t>
            </a:r>
            <a:endParaRPr lang="en-GB" sz="1800" dirty="0"/>
          </a:p>
          <a:p>
            <a:pPr marL="457200" lvl="0" indent="-342900">
              <a:spcBef>
                <a:spcPts val="0"/>
              </a:spcBef>
              <a:spcAft>
                <a:spcPts val="0"/>
              </a:spcAft>
              <a:buSzPts val="1800"/>
              <a:buChar char="●"/>
            </a:pPr>
            <a:r>
              <a:rPr lang="zh-CN" sz="1800" dirty="0"/>
              <a:t>如果更改过早， </a:t>
            </a:r>
            <a:r>
              <a:rPr lang="zh-CN" sz="1800" dirty="0">
                <a:latin typeface="Courier New" panose="02070309020205020404" pitchFamily="49" charset="0"/>
                <a:cs typeface="Courier New" panose="02070309020205020404" pitchFamily="49" charset="0"/>
              </a:rPr>
              <a:t>access()</a:t>
            </a:r>
            <a:r>
              <a:rPr lang="zh-CN" sz="1800" dirty="0"/>
              <a:t>将会失败。</a:t>
            </a:r>
          </a:p>
          <a:p>
            <a:pPr marL="457200" lvl="0" indent="-342900">
              <a:spcBef>
                <a:spcPts val="0"/>
              </a:spcBef>
              <a:buSzPts val="1800"/>
              <a:buChar char="●"/>
            </a:pPr>
            <a:r>
              <a:rPr lang="zh-CN" sz="1800" dirty="0"/>
              <a:t>如果更改稍晚一些，程序将完成对该文件的使用。</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Shape 115"/>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0">
              <a:spcBef>
                <a:spcPts val="0"/>
              </a:spcBef>
              <a:buNone/>
            </a:pPr>
            <a:r>
              <a:rPr lang="zh-CN" dirty="0"/>
              <a:t>竞态条件</a:t>
            </a:r>
            <a:r>
              <a:rPr lang="zh-CN" altLang="en-US" dirty="0"/>
              <a:t>漏洞</a:t>
            </a:r>
            <a:endParaRPr lang="zh-CN" dirty="0"/>
          </a:p>
        </p:txBody>
      </p:sp>
      <p:pic>
        <p:nvPicPr>
          <p:cNvPr id="116" name="Shape 116"/>
          <p:cNvPicPr preferRelativeResize="0"/>
          <p:nvPr/>
        </p:nvPicPr>
        <p:blipFill>
          <a:blip r:embed="rId3">
            <a:alphaModFix/>
          </a:blip>
          <a:stretch>
            <a:fillRect/>
          </a:stretch>
        </p:blipFill>
        <p:spPr>
          <a:xfrm>
            <a:off x="369751" y="1236051"/>
            <a:ext cx="5872788" cy="3362325"/>
          </a:xfrm>
          <a:prstGeom prst="rect">
            <a:avLst/>
          </a:prstGeom>
          <a:noFill/>
          <a:ln>
            <a:noFill/>
          </a:ln>
        </p:spPr>
      </p:pic>
      <p:sp>
        <p:nvSpPr>
          <p:cNvPr id="117" name="Shape 117"/>
          <p:cNvSpPr txBox="1"/>
          <p:nvPr/>
        </p:nvSpPr>
        <p:spPr>
          <a:xfrm>
            <a:off x="6242539" y="1236051"/>
            <a:ext cx="2701200" cy="3129451"/>
          </a:xfrm>
          <a:prstGeom prst="rect">
            <a:avLst/>
          </a:prstGeom>
          <a:noFill/>
          <a:ln>
            <a:noFill/>
          </a:ln>
        </p:spPr>
        <p:txBody>
          <a:bodyPr wrap="square" lIns="91425" tIns="91425" rIns="91425" bIns="91425" anchor="t" anchorCtr="0">
            <a:noAutofit/>
          </a:bodyPr>
          <a:lstStyle/>
          <a:p>
            <a:pPr marL="0" lvl="0" indent="0">
              <a:spcBef>
                <a:spcPts val="0"/>
              </a:spcBef>
              <a:buNone/>
            </a:pPr>
            <a:r>
              <a:rPr lang="zh-CN" sz="1800" dirty="0"/>
              <a:t>为了赢得</a:t>
            </a:r>
            <a:r>
              <a:rPr lang="zh-CN" altLang="en-US" sz="1800" dirty="0"/>
              <a:t>竟态</a:t>
            </a:r>
            <a:r>
              <a:rPr lang="zh-CN" sz="1800" dirty="0"/>
              <a:t>条件（ TOCTTOU窗口），我们需要两个进程：</a:t>
            </a:r>
          </a:p>
          <a:p>
            <a:pPr marL="0" lvl="0" indent="0">
              <a:spcBef>
                <a:spcPts val="0"/>
              </a:spcBef>
              <a:buNone/>
            </a:pPr>
            <a:endParaRPr dirty="0"/>
          </a:p>
          <a:p>
            <a:pPr marL="457200" lvl="0" indent="-342900" rtl="0">
              <a:lnSpc>
                <a:spcPct val="115000"/>
              </a:lnSpc>
              <a:spcBef>
                <a:spcPts val="0"/>
              </a:spcBef>
              <a:spcAft>
                <a:spcPts val="1600"/>
              </a:spcAft>
              <a:buClr>
                <a:schemeClr val="dk1"/>
              </a:buClr>
              <a:buSzPts val="1800"/>
              <a:buChar char="●"/>
            </a:pPr>
            <a:r>
              <a:rPr lang="zh-CN" sz="1800" dirty="0">
                <a:solidFill>
                  <a:schemeClr val="dk1"/>
                </a:solidFill>
              </a:rPr>
              <a:t>循环运行存在漏洞的程序</a:t>
            </a:r>
          </a:p>
          <a:p>
            <a:pPr marL="457200" lvl="0" indent="-342900" rtl="0">
              <a:lnSpc>
                <a:spcPct val="115000"/>
              </a:lnSpc>
              <a:spcBef>
                <a:spcPts val="0"/>
              </a:spcBef>
              <a:spcAft>
                <a:spcPts val="1600"/>
              </a:spcAft>
              <a:buClr>
                <a:schemeClr val="dk1"/>
              </a:buClr>
              <a:buSzPts val="1800"/>
              <a:buChar char="●"/>
            </a:pPr>
            <a:r>
              <a:rPr lang="zh-CN" sz="1800" dirty="0">
                <a:solidFill>
                  <a:schemeClr val="dk1"/>
                </a:solidFill>
              </a:rPr>
              <a:t>运行攻击程序</a:t>
            </a:r>
          </a:p>
          <a:p>
            <a:pPr marL="0" lvl="0" indent="0">
              <a:spcBef>
                <a:spcPts val="0"/>
              </a:spcBef>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Shape 122"/>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0">
              <a:spcBef>
                <a:spcPts val="0"/>
              </a:spcBef>
              <a:buNone/>
            </a:pPr>
            <a:r>
              <a:rPr lang="zh-CN" dirty="0"/>
              <a:t>攻击</a:t>
            </a:r>
            <a:r>
              <a:rPr lang="zh-CN" altLang="en-US" dirty="0"/>
              <a:t>步骤</a:t>
            </a:r>
            <a:endParaRPr lang="zh-CN" dirty="0"/>
          </a:p>
        </p:txBody>
      </p:sp>
      <p:sp>
        <p:nvSpPr>
          <p:cNvPr id="123" name="Shape 123"/>
          <p:cNvSpPr txBox="1">
            <a:spLocks noGrp="1"/>
          </p:cNvSpPr>
          <p:nvPr>
            <p:ph type="body" idx="1"/>
          </p:nvPr>
        </p:nvSpPr>
        <p:spPr>
          <a:xfrm>
            <a:off x="311700" y="1152475"/>
            <a:ext cx="4424700" cy="3416400"/>
          </a:xfrm>
          <a:prstGeom prst="rect">
            <a:avLst/>
          </a:prstGeom>
        </p:spPr>
        <p:txBody>
          <a:bodyPr wrap="square" lIns="91425" tIns="91425" rIns="91425" bIns="91425" anchor="t" anchorCtr="0">
            <a:noAutofit/>
          </a:bodyPr>
          <a:lstStyle/>
          <a:p>
            <a:pPr marL="0" lvl="0" indent="0">
              <a:spcBef>
                <a:spcPts val="0"/>
              </a:spcBef>
              <a:buNone/>
            </a:pPr>
            <a:r>
              <a:rPr lang="zh-CN" dirty="0">
                <a:solidFill>
                  <a:srgbClr val="000000"/>
                </a:solidFill>
              </a:rPr>
              <a:t>让我们来看两个程序的步骤：</a:t>
            </a:r>
          </a:p>
          <a:p>
            <a:pPr marL="0" lvl="0" indent="0">
              <a:spcBef>
                <a:spcPts val="0"/>
              </a:spcBef>
              <a:buNone/>
            </a:pPr>
            <a:r>
              <a:rPr lang="zh-CN" b="1" dirty="0">
                <a:solidFill>
                  <a:srgbClr val="000000"/>
                </a:solidFill>
              </a:rPr>
              <a:t>A1 </a:t>
            </a:r>
            <a:r>
              <a:rPr lang="zh-CN" dirty="0">
                <a:solidFill>
                  <a:srgbClr val="000000"/>
                </a:solidFill>
              </a:rPr>
              <a:t>：将“/tmp /X”指向我们拥有的文件。</a:t>
            </a:r>
          </a:p>
          <a:p>
            <a:pPr marL="0" lvl="0" indent="0">
              <a:spcBef>
                <a:spcPts val="0"/>
              </a:spcBef>
              <a:buNone/>
            </a:pPr>
            <a:r>
              <a:rPr lang="zh-CN" b="1" dirty="0">
                <a:solidFill>
                  <a:srgbClr val="000000"/>
                </a:solidFill>
              </a:rPr>
              <a:t>A2 </a:t>
            </a:r>
            <a:r>
              <a:rPr lang="zh-CN" dirty="0">
                <a:solidFill>
                  <a:srgbClr val="000000"/>
                </a:solidFill>
              </a:rPr>
              <a:t>：将“/tmp /X”指向/etc/passwd</a:t>
            </a:r>
            <a:endParaRPr lang="en-GB" dirty="0">
              <a:solidFill>
                <a:srgbClr val="000000"/>
              </a:solidFill>
            </a:endParaRPr>
          </a:p>
          <a:p>
            <a:pPr marL="0" lvl="0" indent="0">
              <a:spcBef>
                <a:spcPts val="0"/>
              </a:spcBef>
              <a:buNone/>
            </a:pPr>
            <a:r>
              <a:rPr lang="zh-CN" b="1" dirty="0">
                <a:solidFill>
                  <a:srgbClr val="000000"/>
                </a:solidFill>
              </a:rPr>
              <a:t>V1 </a:t>
            </a:r>
            <a:r>
              <a:rPr lang="zh-CN" dirty="0">
                <a:solidFill>
                  <a:srgbClr val="000000"/>
                </a:solidFill>
              </a:rPr>
              <a:t>：检查用户对“/ </a:t>
            </a:r>
            <a:r>
              <a:rPr lang="zh-CN" dirty="0" err="1">
                <a:solidFill>
                  <a:srgbClr val="000000"/>
                </a:solidFill>
              </a:rPr>
              <a:t>tmp </a:t>
            </a:r>
            <a:r>
              <a:rPr lang="zh-CN" dirty="0">
                <a:solidFill>
                  <a:srgbClr val="000000"/>
                </a:solidFill>
              </a:rPr>
              <a:t>/X”的权限</a:t>
            </a:r>
          </a:p>
          <a:p>
            <a:pPr marL="0" lvl="0" indent="0">
              <a:spcBef>
                <a:spcPts val="0"/>
              </a:spcBef>
              <a:buNone/>
            </a:pPr>
            <a:r>
              <a:rPr lang="zh-CN" b="1" dirty="0">
                <a:solidFill>
                  <a:srgbClr val="000000"/>
                </a:solidFill>
              </a:rPr>
              <a:t>V2 </a:t>
            </a:r>
            <a:r>
              <a:rPr lang="zh-CN" dirty="0">
                <a:solidFill>
                  <a:srgbClr val="000000"/>
                </a:solidFill>
              </a:rPr>
              <a:t>：打开文件</a:t>
            </a:r>
          </a:p>
        </p:txBody>
      </p:sp>
      <p:sp>
        <p:nvSpPr>
          <p:cNvPr id="124" name="Shape 124"/>
          <p:cNvSpPr txBox="1"/>
          <p:nvPr/>
        </p:nvSpPr>
        <p:spPr>
          <a:xfrm>
            <a:off x="4961520" y="906475"/>
            <a:ext cx="4017000" cy="3908400"/>
          </a:xfrm>
          <a:prstGeom prst="rect">
            <a:avLst/>
          </a:prstGeom>
          <a:noFill/>
          <a:ln>
            <a:noFill/>
          </a:ln>
        </p:spPr>
        <p:txBody>
          <a:bodyPr wrap="square" lIns="91425" tIns="91425" rIns="91425" bIns="91425" anchor="t" anchorCtr="0">
            <a:noAutofit/>
          </a:bodyPr>
          <a:lstStyle/>
          <a:p>
            <a:pPr marL="0" lvl="0" indent="0">
              <a:spcBef>
                <a:spcPts val="0"/>
              </a:spcBef>
              <a:buNone/>
            </a:pPr>
            <a:r>
              <a:rPr lang="zh-CN" sz="1800" dirty="0">
                <a:solidFill>
                  <a:schemeClr val="dk1"/>
                </a:solidFill>
              </a:rPr>
              <a:t>攻击程序运行：A1,A2,A1,A2 ……。</a:t>
            </a:r>
          </a:p>
          <a:p>
            <a:pPr marL="0" lvl="0" indent="0">
              <a:spcBef>
                <a:spcPts val="0"/>
              </a:spcBef>
              <a:buNone/>
            </a:pPr>
            <a:endParaRPr sz="1800" dirty="0">
              <a:solidFill>
                <a:schemeClr val="dk1"/>
              </a:solidFill>
            </a:endParaRPr>
          </a:p>
          <a:p>
            <a:pPr marL="0" lvl="0" indent="0">
              <a:spcBef>
                <a:spcPts val="0"/>
              </a:spcBef>
              <a:buNone/>
            </a:pPr>
            <a:r>
              <a:rPr lang="zh-CN" sz="1800" dirty="0">
                <a:solidFill>
                  <a:schemeClr val="dk1"/>
                </a:solidFill>
              </a:rPr>
              <a:t>易受攻击的程序运行版本：V1、V2、V1、V2……</a:t>
            </a:r>
          </a:p>
          <a:p>
            <a:pPr marL="0" lvl="0" indent="0">
              <a:spcBef>
                <a:spcPts val="0"/>
              </a:spcBef>
              <a:buNone/>
            </a:pPr>
            <a:endParaRPr sz="1800" dirty="0">
              <a:solidFill>
                <a:schemeClr val="dk1"/>
              </a:solidFill>
            </a:endParaRPr>
          </a:p>
          <a:p>
            <a:pPr marL="0" lvl="0" indent="0">
              <a:spcBef>
                <a:spcPts val="0"/>
              </a:spcBef>
              <a:buNone/>
            </a:pPr>
            <a:r>
              <a:rPr lang="zh-CN" sz="1800" dirty="0">
                <a:solidFill>
                  <a:schemeClr val="dk1"/>
                </a:solidFill>
              </a:rPr>
              <a:t>由于这些程序在多核机器上同时运行，指令将交错执行（两种序列混合）。</a:t>
            </a:r>
          </a:p>
          <a:p>
            <a:pPr marL="0" lvl="0" indent="0">
              <a:spcBef>
                <a:spcPts val="0"/>
              </a:spcBef>
              <a:buNone/>
            </a:pPr>
            <a:endParaRPr dirty="0"/>
          </a:p>
          <a:p>
            <a:pPr marL="0" lvl="0" indent="0">
              <a:spcBef>
                <a:spcPts val="0"/>
              </a:spcBef>
              <a:buNone/>
            </a:pPr>
            <a:r>
              <a:rPr lang="zh-CN" sz="1800" dirty="0"/>
              <a:t>A1、V1、A2、V2：易受攻击的</a:t>
            </a:r>
            <a:r>
              <a:rPr lang="zh-CN" sz="1800" dirty="0" err="1"/>
              <a:t>程序</a:t>
            </a:r>
            <a:r>
              <a:rPr lang="zh-CN" sz="1800" dirty="0"/>
              <a:t>打开 /etc/ </a:t>
            </a:r>
            <a:r>
              <a:rPr lang="zh-CN" sz="1800" dirty="0" err="1"/>
              <a:t>passwd</a:t>
            </a:r>
            <a:r>
              <a:rPr lang="zh-CN" sz="1800" dirty="0"/>
              <a:t>进行编辑。</a:t>
            </a:r>
          </a:p>
        </p:txBody>
      </p:sp>
      <p:cxnSp>
        <p:nvCxnSpPr>
          <p:cNvPr id="125" name="Shape 125"/>
          <p:cNvCxnSpPr/>
          <p:nvPr/>
        </p:nvCxnSpPr>
        <p:spPr>
          <a:xfrm>
            <a:off x="4736400" y="1152475"/>
            <a:ext cx="0" cy="3586579"/>
          </a:xfrm>
          <a:prstGeom prst="straightConnector1">
            <a:avLst/>
          </a:prstGeom>
          <a:noFill/>
          <a:ln w="9525" cap="flat" cmpd="sng">
            <a:solidFill>
              <a:schemeClr val="dk2"/>
            </a:solidFill>
            <a:prstDash val="solid"/>
            <a:round/>
            <a:headEnd type="none" w="lg" len="lg"/>
            <a:tailEnd type="none" w="lg" len="lg"/>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Shape 130"/>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0">
              <a:spcBef>
                <a:spcPts val="0"/>
              </a:spcBef>
              <a:buNone/>
            </a:pPr>
            <a:r>
              <a:rPr lang="zh-CN" dirty="0"/>
              <a:t>另一个竞态条件</a:t>
            </a:r>
            <a:r>
              <a:rPr lang="zh-CN" altLang="en-US" dirty="0"/>
              <a:t>的</a:t>
            </a:r>
            <a:r>
              <a:rPr lang="zh-CN" dirty="0"/>
              <a:t>示例</a:t>
            </a:r>
          </a:p>
        </p:txBody>
      </p:sp>
      <p:sp>
        <p:nvSpPr>
          <p:cNvPr id="131" name="Shape 131"/>
          <p:cNvSpPr txBox="1">
            <a:spLocks noGrp="1"/>
          </p:cNvSpPr>
          <p:nvPr>
            <p:ph type="body" idx="1"/>
          </p:nvPr>
        </p:nvSpPr>
        <p:spPr>
          <a:xfrm>
            <a:off x="6138983" y="1043325"/>
            <a:ext cx="2768400" cy="4042500"/>
          </a:xfrm>
          <a:prstGeom prst="rect">
            <a:avLst/>
          </a:prstGeom>
        </p:spPr>
        <p:txBody>
          <a:bodyPr wrap="square" lIns="91425" tIns="91425" rIns="91425" bIns="91425" anchor="t" anchorCtr="0">
            <a:noAutofit/>
          </a:bodyPr>
          <a:lstStyle/>
          <a:p>
            <a:pPr marL="0" lvl="0" indent="0">
              <a:spcBef>
                <a:spcPts val="0"/>
              </a:spcBef>
              <a:buNone/>
            </a:pPr>
            <a:r>
              <a:rPr lang="zh-CN" dirty="0">
                <a:solidFill>
                  <a:srgbClr val="000000"/>
                </a:solidFill>
              </a:rPr>
              <a:t>以 root 权限运行的 Set-UID 程序。</a:t>
            </a:r>
          </a:p>
          <a:p>
            <a:pPr marL="457200" lvl="0" indent="-342900">
              <a:spcBef>
                <a:spcPts val="0"/>
              </a:spcBef>
              <a:spcAft>
                <a:spcPts val="0"/>
              </a:spcAft>
              <a:buClr>
                <a:srgbClr val="000000"/>
              </a:buClr>
              <a:buSzPts val="1800"/>
              <a:buAutoNum type="arabicPeriod"/>
            </a:pPr>
            <a:r>
              <a:rPr lang="zh-CN" dirty="0">
                <a:solidFill>
                  <a:srgbClr val="000000"/>
                </a:solidFill>
              </a:rPr>
              <a:t>检查文件“/ tmp/X”是否存在。</a:t>
            </a:r>
          </a:p>
          <a:p>
            <a:pPr marL="457200" lvl="0" indent="-342900">
              <a:spcBef>
                <a:spcPts val="0"/>
              </a:spcBef>
              <a:buClr>
                <a:srgbClr val="000000"/>
              </a:buClr>
              <a:buSzPts val="1800"/>
              <a:buAutoNum type="arabicPeriod"/>
            </a:pPr>
            <a:r>
              <a:rPr lang="zh-CN" dirty="0">
                <a:solidFill>
                  <a:srgbClr val="000000"/>
                </a:solidFill>
              </a:rPr>
              <a:t>如果文件不存在，则会</a:t>
            </a:r>
            <a:r>
              <a:rPr lang="zh-CN" altLang="en-US" dirty="0">
                <a:solidFill>
                  <a:srgbClr val="000000"/>
                </a:solidFill>
              </a:rPr>
              <a:t>用</a:t>
            </a:r>
            <a:r>
              <a:rPr lang="en-US" altLang="zh-CN" dirty="0">
                <a:solidFill>
                  <a:srgbClr val="000000"/>
                </a:solidFill>
              </a:rPr>
              <a:t>open()</a:t>
            </a:r>
            <a:r>
              <a:rPr lang="zh-CN" altLang="en-US" dirty="0">
                <a:solidFill>
                  <a:srgbClr val="000000"/>
                </a:solidFill>
              </a:rPr>
              <a:t>函数</a:t>
            </a:r>
            <a:r>
              <a:rPr lang="zh-CN" dirty="0">
                <a:solidFill>
                  <a:srgbClr val="000000"/>
                </a:solidFill>
              </a:rPr>
              <a:t>创建一个具有指定名称的新文件</a:t>
            </a:r>
            <a:r>
              <a:rPr lang="zh-CN" altLang="en-US" dirty="0">
                <a:solidFill>
                  <a:srgbClr val="000000"/>
                </a:solidFill>
              </a:rPr>
              <a:t>，随后用</a:t>
            </a:r>
            <a:r>
              <a:rPr lang="en-US" altLang="zh-CN" dirty="0">
                <a:solidFill>
                  <a:srgbClr val="000000"/>
                </a:solidFill>
              </a:rPr>
              <a:t>write()</a:t>
            </a:r>
            <a:r>
              <a:rPr lang="zh-CN" altLang="en-US" dirty="0">
                <a:solidFill>
                  <a:srgbClr val="000000"/>
                </a:solidFill>
              </a:rPr>
              <a:t>函数写入内容</a:t>
            </a:r>
            <a:r>
              <a:rPr lang="zh-CN" dirty="0">
                <a:solidFill>
                  <a:srgbClr val="000000"/>
                </a:solidFill>
              </a:rPr>
              <a:t>。</a:t>
            </a:r>
          </a:p>
        </p:txBody>
      </p:sp>
      <p:pic>
        <p:nvPicPr>
          <p:cNvPr id="132" name="Shape 132"/>
          <p:cNvPicPr preferRelativeResize="0"/>
          <p:nvPr/>
        </p:nvPicPr>
        <p:blipFill>
          <a:blip r:embed="rId3">
            <a:alphaModFix/>
          </a:blip>
          <a:stretch>
            <a:fillRect/>
          </a:stretch>
        </p:blipFill>
        <p:spPr>
          <a:xfrm>
            <a:off x="311700" y="1101148"/>
            <a:ext cx="5697501" cy="1880000"/>
          </a:xfrm>
          <a:prstGeom prst="rect">
            <a:avLst/>
          </a:prstGeom>
          <a:noFill/>
          <a:ln>
            <a:noFill/>
          </a:ln>
        </p:spPr>
      </p:pic>
      <p:sp>
        <p:nvSpPr>
          <p:cNvPr id="133" name="Shape 133"/>
          <p:cNvSpPr txBox="1"/>
          <p:nvPr/>
        </p:nvSpPr>
        <p:spPr>
          <a:xfrm>
            <a:off x="311650" y="2985996"/>
            <a:ext cx="5697600" cy="2079000"/>
          </a:xfrm>
          <a:prstGeom prst="rect">
            <a:avLst/>
          </a:prstGeom>
          <a:noFill/>
          <a:ln>
            <a:noFill/>
          </a:ln>
        </p:spPr>
        <p:txBody>
          <a:bodyPr wrap="square" lIns="91425" tIns="91425" rIns="91425" bIns="91425" anchor="t" anchorCtr="0">
            <a:noAutofit/>
          </a:bodyPr>
          <a:lstStyle/>
          <a:p>
            <a:pPr marL="290513" lvl="0" indent="-290513">
              <a:spcBef>
                <a:spcPts val="0"/>
              </a:spcBef>
              <a:buNone/>
            </a:pPr>
            <a:r>
              <a:rPr lang="zh-CN" sz="1800" dirty="0"/>
              <a:t>3.检查和使用（打开文件）之间存在一个时间窗口。</a:t>
            </a:r>
          </a:p>
          <a:p>
            <a:pPr marL="290513" lvl="0" indent="-290513">
              <a:spcBef>
                <a:spcPts val="0"/>
              </a:spcBef>
              <a:buNone/>
            </a:pPr>
            <a:r>
              <a:rPr lang="zh-CN" sz="1800" dirty="0"/>
              <a:t>4.如果文件已存在，open() 系统调用不会失败，它会打开文件进行写入。</a:t>
            </a:r>
          </a:p>
          <a:p>
            <a:pPr marL="290513" lvl="0" indent="-290513">
              <a:spcBef>
                <a:spcPts val="0"/>
              </a:spcBef>
              <a:buNone/>
            </a:pPr>
            <a:r>
              <a:rPr lang="zh-CN" sz="1800" dirty="0"/>
              <a:t>5.因此，</a:t>
            </a:r>
            <a:r>
              <a:rPr lang="zh-CN" altLang="en-US" sz="1800" dirty="0"/>
              <a:t>攻击者</a:t>
            </a:r>
            <a:r>
              <a:rPr lang="zh-CN" sz="1800" dirty="0"/>
              <a:t>可以利用检查和使用之间的这个窗口，将文件指向一个现有的文件“/etc/ passwd ”，并最终写入其中。</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Shape 138"/>
          <p:cNvSpPr txBox="1">
            <a:spLocks noGrp="1"/>
          </p:cNvSpPr>
          <p:nvPr>
            <p:ph type="title"/>
          </p:nvPr>
        </p:nvSpPr>
        <p:spPr>
          <a:xfrm>
            <a:off x="471956" y="0"/>
            <a:ext cx="8520600" cy="572700"/>
          </a:xfrm>
          <a:prstGeom prst="rect">
            <a:avLst/>
          </a:prstGeom>
        </p:spPr>
        <p:txBody>
          <a:bodyPr wrap="square" lIns="91425" tIns="91425" rIns="91425" bIns="91425" anchor="t" anchorCtr="0">
            <a:noAutofit/>
          </a:bodyPr>
          <a:lstStyle/>
          <a:p>
            <a:pPr marL="0" lvl="0" indent="0">
              <a:spcBef>
                <a:spcPts val="0"/>
              </a:spcBef>
              <a:buNone/>
            </a:pPr>
            <a:r>
              <a:rPr lang="zh-CN" dirty="0"/>
              <a:t>实验设置</a:t>
            </a:r>
          </a:p>
        </p:txBody>
      </p:sp>
      <p:sp>
        <p:nvSpPr>
          <p:cNvPr id="139" name="Shape 139"/>
          <p:cNvSpPr txBox="1">
            <a:spLocks noGrp="1"/>
          </p:cNvSpPr>
          <p:nvPr>
            <p:ph type="body" idx="1"/>
          </p:nvPr>
        </p:nvSpPr>
        <p:spPr>
          <a:xfrm>
            <a:off x="5224500" y="3883500"/>
            <a:ext cx="3445800" cy="1053000"/>
          </a:xfrm>
          <a:prstGeom prst="rect">
            <a:avLst/>
          </a:prstGeom>
        </p:spPr>
        <p:txBody>
          <a:bodyPr wrap="square" lIns="91425" tIns="91425" rIns="91425" bIns="91425" anchor="t" anchorCtr="0">
            <a:noAutofit/>
          </a:bodyPr>
          <a:lstStyle/>
          <a:p>
            <a:pPr marL="0" lvl="0" indent="0">
              <a:spcBef>
                <a:spcPts val="0"/>
              </a:spcBef>
              <a:buNone/>
            </a:pPr>
            <a:r>
              <a:rPr lang="zh-CN" dirty="0">
                <a:solidFill>
                  <a:srgbClr val="000000"/>
                </a:solidFill>
              </a:rPr>
              <a:t>access() 和 fopen() 之间存在竞争条件。任何受保护的文件都可以被写入。</a:t>
            </a:r>
          </a:p>
        </p:txBody>
      </p:sp>
      <p:pic>
        <p:nvPicPr>
          <p:cNvPr id="140" name="Shape 140"/>
          <p:cNvPicPr preferRelativeResize="0"/>
          <p:nvPr/>
        </p:nvPicPr>
        <p:blipFill>
          <a:blip r:embed="rId3">
            <a:alphaModFix/>
          </a:blip>
          <a:stretch>
            <a:fillRect/>
          </a:stretch>
        </p:blipFill>
        <p:spPr>
          <a:xfrm>
            <a:off x="0" y="721626"/>
            <a:ext cx="5274900" cy="4321619"/>
          </a:xfrm>
          <a:prstGeom prst="rect">
            <a:avLst/>
          </a:prstGeom>
          <a:noFill/>
          <a:ln>
            <a:noFill/>
          </a:ln>
        </p:spPr>
      </p:pic>
      <p:cxnSp>
        <p:nvCxnSpPr>
          <p:cNvPr id="141" name="Shape 141"/>
          <p:cNvCxnSpPr/>
          <p:nvPr/>
        </p:nvCxnSpPr>
        <p:spPr>
          <a:xfrm rot="10800000">
            <a:off x="3037500" y="3316500"/>
            <a:ext cx="3537000" cy="54000"/>
          </a:xfrm>
          <a:prstGeom prst="straightConnector1">
            <a:avLst/>
          </a:prstGeom>
          <a:noFill/>
          <a:ln w="9525" cap="flat" cmpd="sng">
            <a:solidFill>
              <a:srgbClr val="FF0000"/>
            </a:solidFill>
            <a:prstDash val="solid"/>
            <a:round/>
            <a:headEnd type="none" w="lg" len="lg"/>
            <a:tailEnd type="triangle" w="lg" len="lg"/>
          </a:ln>
        </p:spPr>
      </p:cxnSp>
      <p:cxnSp>
        <p:nvCxnSpPr>
          <p:cNvPr id="142" name="Shape 142"/>
          <p:cNvCxnSpPr/>
          <p:nvPr/>
        </p:nvCxnSpPr>
        <p:spPr>
          <a:xfrm flipH="1">
            <a:off x="6574500" y="3370500"/>
            <a:ext cx="5100" cy="513000"/>
          </a:xfrm>
          <a:prstGeom prst="straightConnector1">
            <a:avLst/>
          </a:prstGeom>
          <a:noFill/>
          <a:ln w="9525" cap="flat" cmpd="sng">
            <a:solidFill>
              <a:srgbClr val="FF0000"/>
            </a:solidFill>
            <a:prstDash val="solid"/>
            <a:round/>
            <a:headEnd type="none" w="lg" len="lg"/>
            <a:tailEnd type="none" w="lg" len="lg"/>
          </a:ln>
        </p:spPr>
      </p:cxnSp>
      <p:pic>
        <p:nvPicPr>
          <p:cNvPr id="143" name="Shape 143"/>
          <p:cNvPicPr preferRelativeResize="0"/>
          <p:nvPr/>
        </p:nvPicPr>
        <p:blipFill>
          <a:blip r:embed="rId4">
            <a:alphaModFix/>
          </a:blip>
          <a:stretch>
            <a:fillRect/>
          </a:stretch>
        </p:blipFill>
        <p:spPr>
          <a:xfrm>
            <a:off x="5431890" y="1822800"/>
            <a:ext cx="3354600" cy="694834"/>
          </a:xfrm>
          <a:prstGeom prst="rect">
            <a:avLst/>
          </a:prstGeom>
          <a:noFill/>
          <a:ln>
            <a:noFill/>
          </a:ln>
        </p:spPr>
      </p:pic>
      <p:sp>
        <p:nvSpPr>
          <p:cNvPr id="144" name="Shape 144"/>
          <p:cNvSpPr txBox="1">
            <a:spLocks noGrp="1"/>
          </p:cNvSpPr>
          <p:nvPr>
            <p:ph type="body" idx="1"/>
          </p:nvPr>
        </p:nvSpPr>
        <p:spPr>
          <a:xfrm>
            <a:off x="5305500" y="1264500"/>
            <a:ext cx="3364800" cy="801900"/>
          </a:xfrm>
          <a:prstGeom prst="rect">
            <a:avLst/>
          </a:prstGeom>
        </p:spPr>
        <p:txBody>
          <a:bodyPr wrap="square" lIns="91425" tIns="91425" rIns="91425" bIns="91425" anchor="t" anchorCtr="0">
            <a:noAutofit/>
          </a:bodyPr>
          <a:lstStyle/>
          <a:p>
            <a:pPr marL="0" lvl="0" indent="0" rtl="0">
              <a:spcBef>
                <a:spcPts val="0"/>
              </a:spcBef>
              <a:buNone/>
            </a:pPr>
            <a:r>
              <a:rPr lang="zh-CN" altLang="en-US" dirty="0">
                <a:solidFill>
                  <a:srgbClr val="000000"/>
                </a:solidFill>
              </a:rPr>
              <a:t>把漏洞</a:t>
            </a:r>
            <a:r>
              <a:rPr lang="zh-CN" dirty="0">
                <a:solidFill>
                  <a:srgbClr val="000000"/>
                </a:solidFill>
              </a:rPr>
              <a:t>程序</a:t>
            </a:r>
            <a:r>
              <a:rPr lang="zh-CN" altLang="en-US" dirty="0">
                <a:solidFill>
                  <a:srgbClr val="000000"/>
                </a:solidFill>
              </a:rPr>
              <a:t>改为</a:t>
            </a:r>
            <a:r>
              <a:rPr lang="en-US" altLang="zh-CN" dirty="0">
                <a:solidFill>
                  <a:srgbClr val="000000"/>
                </a:solidFill>
              </a:rPr>
              <a:t>Set-UID</a:t>
            </a:r>
            <a:r>
              <a:rPr lang="zh-CN" altLang="en-US" dirty="0">
                <a:solidFill>
                  <a:srgbClr val="000000"/>
                </a:solidFill>
              </a:rPr>
              <a:t>程序</a:t>
            </a:r>
            <a:r>
              <a:rPr lang="zh-CN" dirty="0">
                <a:solidFill>
                  <a:srgbClr val="000000"/>
                </a:solidFill>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Shape 149"/>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a:buNone/>
            </a:pPr>
            <a:r>
              <a:rPr lang="zh-CN"/>
              <a:t>实验设置</a:t>
            </a:r>
          </a:p>
        </p:txBody>
      </p:sp>
      <p:sp>
        <p:nvSpPr>
          <p:cNvPr id="150" name="Shape 150"/>
          <p:cNvSpPr txBox="1">
            <a:spLocks noGrp="1"/>
          </p:cNvSpPr>
          <p:nvPr>
            <p:ph type="body" idx="1"/>
          </p:nvPr>
        </p:nvSpPr>
        <p:spPr>
          <a:xfrm>
            <a:off x="311700" y="1305625"/>
            <a:ext cx="7512547" cy="972755"/>
          </a:xfrm>
          <a:prstGeom prst="rect">
            <a:avLst/>
          </a:prstGeom>
        </p:spPr>
        <p:txBody>
          <a:bodyPr wrap="square" lIns="91425" tIns="91425" rIns="91425" bIns="91425" anchor="t" anchorCtr="0">
            <a:noAutofit/>
          </a:bodyPr>
          <a:lstStyle/>
          <a:p>
            <a:pPr marL="0" lvl="0" indent="0" rtl="0">
              <a:spcBef>
                <a:spcPts val="0"/>
              </a:spcBef>
              <a:buNone/>
            </a:pPr>
            <a:r>
              <a:rPr lang="zh-CN" altLang="en-US" b="1" dirty="0">
                <a:solidFill>
                  <a:schemeClr val="dk1"/>
                </a:solidFill>
              </a:rPr>
              <a:t>关闭防护措施</a:t>
            </a:r>
            <a:r>
              <a:rPr lang="zh-CN" dirty="0">
                <a:solidFill>
                  <a:schemeClr val="dk1"/>
                </a:solidFill>
              </a:rPr>
              <a:t>：限制程序访问全局可写目录（如 /tmp）中的符号链接。</a:t>
            </a:r>
          </a:p>
          <a:p>
            <a:pPr marL="0" lvl="0" indent="0">
              <a:spcBef>
                <a:spcPts val="0"/>
              </a:spcBef>
              <a:buNone/>
            </a:pPr>
            <a:endParaRPr dirty="0"/>
          </a:p>
        </p:txBody>
      </p:sp>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976" y="2076086"/>
            <a:ext cx="7779671" cy="136380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Shape 155"/>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a:buNone/>
            </a:pPr>
            <a:r>
              <a:rPr lang="zh-CN" dirty="0"/>
              <a:t>如何利用竞态条件？</a:t>
            </a:r>
          </a:p>
        </p:txBody>
      </p:sp>
      <p:sp>
        <p:nvSpPr>
          <p:cNvPr id="156" name="Shape 156"/>
          <p:cNvSpPr txBox="1">
            <a:spLocks noGrp="1"/>
          </p:cNvSpPr>
          <p:nvPr>
            <p:ph type="body" idx="1"/>
          </p:nvPr>
        </p:nvSpPr>
        <p:spPr>
          <a:xfrm>
            <a:off x="311700" y="1152475"/>
            <a:ext cx="5457300" cy="1932000"/>
          </a:xfrm>
          <a:prstGeom prst="rect">
            <a:avLst/>
          </a:prstGeom>
        </p:spPr>
        <p:txBody>
          <a:bodyPr wrap="square" lIns="91425" tIns="91425" rIns="91425" bIns="91425" anchor="t" anchorCtr="0">
            <a:noAutofit/>
          </a:bodyPr>
          <a:lstStyle/>
          <a:p>
            <a:pPr marL="457200" lvl="0" indent="-342900" rtl="0">
              <a:spcBef>
                <a:spcPts val="0"/>
              </a:spcBef>
              <a:spcAft>
                <a:spcPts val="0"/>
              </a:spcAft>
              <a:buClr>
                <a:srgbClr val="000000"/>
              </a:buClr>
              <a:buSzPts val="1800"/>
              <a:buChar char="●"/>
            </a:pPr>
            <a:r>
              <a:rPr lang="zh-CN" dirty="0">
                <a:solidFill>
                  <a:srgbClr val="000000"/>
                </a:solidFill>
              </a:rPr>
              <a:t>选择目标文件</a:t>
            </a:r>
          </a:p>
          <a:p>
            <a:pPr marL="457200" lvl="0" indent="-342900">
              <a:spcBef>
                <a:spcPts val="0"/>
              </a:spcBef>
              <a:spcAft>
                <a:spcPts val="0"/>
              </a:spcAft>
              <a:buClr>
                <a:srgbClr val="000000"/>
              </a:buClr>
              <a:buSzPts val="1800"/>
              <a:buChar char="●"/>
            </a:pPr>
            <a:r>
              <a:rPr lang="zh-CN" dirty="0">
                <a:solidFill>
                  <a:srgbClr val="000000"/>
                </a:solidFill>
              </a:rPr>
              <a:t>发起攻击</a:t>
            </a:r>
          </a:p>
          <a:p>
            <a:pPr marL="914400" lvl="1" indent="-342900">
              <a:spcBef>
                <a:spcPts val="0"/>
              </a:spcBef>
              <a:spcAft>
                <a:spcPts val="0"/>
              </a:spcAft>
              <a:buClr>
                <a:srgbClr val="000000"/>
              </a:buClr>
              <a:buSzPts val="1800"/>
              <a:buChar char="○"/>
            </a:pPr>
            <a:r>
              <a:rPr lang="zh-CN" sz="1800" dirty="0">
                <a:solidFill>
                  <a:srgbClr val="000000"/>
                </a:solidFill>
              </a:rPr>
              <a:t>攻击</a:t>
            </a:r>
            <a:r>
              <a:rPr lang="zh-CN" altLang="en-US" sz="1800" dirty="0">
                <a:solidFill>
                  <a:srgbClr val="000000"/>
                </a:solidFill>
              </a:rPr>
              <a:t>进程（改写</a:t>
            </a:r>
            <a:r>
              <a:rPr lang="en-US" altLang="zh-CN" sz="1800" dirty="0" err="1">
                <a:solidFill>
                  <a:srgbClr val="000000"/>
                </a:solidFill>
              </a:rPr>
              <a:t>symlink</a:t>
            </a:r>
            <a:r>
              <a:rPr lang="zh-CN" altLang="en-US" sz="1800" dirty="0">
                <a:solidFill>
                  <a:srgbClr val="000000"/>
                </a:solidFill>
              </a:rPr>
              <a:t>的进程）</a:t>
            </a:r>
            <a:endParaRPr lang="zh-CN" sz="1800" dirty="0">
              <a:solidFill>
                <a:srgbClr val="000000"/>
              </a:solidFill>
            </a:endParaRPr>
          </a:p>
          <a:p>
            <a:pPr marL="914400" lvl="1" indent="-342900" rtl="0">
              <a:spcBef>
                <a:spcPts val="0"/>
              </a:spcBef>
              <a:spcAft>
                <a:spcPts val="0"/>
              </a:spcAft>
              <a:buClr>
                <a:srgbClr val="000000"/>
              </a:buClr>
              <a:buSzPts val="1800"/>
              <a:buChar char="○"/>
            </a:pPr>
            <a:r>
              <a:rPr lang="zh-CN" altLang="en-US" sz="1800" dirty="0">
                <a:solidFill>
                  <a:srgbClr val="000000"/>
                </a:solidFill>
              </a:rPr>
              <a:t>漏洞程序执行进程</a:t>
            </a:r>
            <a:endParaRPr lang="zh-CN" sz="1800" dirty="0">
              <a:solidFill>
                <a:srgbClr val="000000"/>
              </a:solidFill>
            </a:endParaRPr>
          </a:p>
          <a:p>
            <a:pPr marL="457200" lvl="0" indent="-342900">
              <a:spcBef>
                <a:spcPts val="0"/>
              </a:spcBef>
              <a:spcAft>
                <a:spcPts val="0"/>
              </a:spcAft>
              <a:buClr>
                <a:srgbClr val="000000"/>
              </a:buClr>
              <a:buSzPts val="1800"/>
              <a:buChar char="●"/>
            </a:pPr>
            <a:r>
              <a:rPr lang="zh-CN" altLang="en-US" dirty="0">
                <a:solidFill>
                  <a:srgbClr val="000000"/>
                </a:solidFill>
              </a:rPr>
              <a:t>观察攻击</a:t>
            </a:r>
            <a:r>
              <a:rPr lang="zh-CN" dirty="0">
                <a:solidFill>
                  <a:srgbClr val="000000"/>
                </a:solidFill>
              </a:rPr>
              <a:t>结果</a:t>
            </a:r>
          </a:p>
          <a:p>
            <a:pPr marL="457200" lvl="0" indent="-342900">
              <a:spcBef>
                <a:spcPts val="0"/>
              </a:spcBef>
              <a:buClr>
                <a:srgbClr val="000000"/>
              </a:buClr>
              <a:buSzPts val="1800"/>
              <a:buChar char="●"/>
            </a:pPr>
            <a:r>
              <a:rPr lang="zh-CN" dirty="0">
                <a:solidFill>
                  <a:srgbClr val="000000"/>
                </a:solidFill>
              </a:rPr>
              <a:t>运行漏洞利用程序</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Shape 161"/>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0">
              <a:spcBef>
                <a:spcPts val="0"/>
              </a:spcBef>
              <a:buNone/>
            </a:pPr>
            <a:r>
              <a:rPr lang="zh-CN" dirty="0"/>
              <a:t>攻击：选择目标文件</a:t>
            </a:r>
            <a:endParaRPr lang="en-GB" dirty="0"/>
          </a:p>
        </p:txBody>
      </p:sp>
      <p:sp>
        <p:nvSpPr>
          <p:cNvPr id="162" name="Shape 162"/>
          <p:cNvSpPr txBox="1">
            <a:spLocks noGrp="1"/>
          </p:cNvSpPr>
          <p:nvPr>
            <p:ph type="body" idx="1"/>
          </p:nvPr>
        </p:nvSpPr>
        <p:spPr>
          <a:xfrm>
            <a:off x="311700" y="1152475"/>
            <a:ext cx="8520600" cy="3416400"/>
          </a:xfrm>
          <a:prstGeom prst="rect">
            <a:avLst/>
          </a:prstGeom>
        </p:spPr>
        <p:txBody>
          <a:bodyPr wrap="square" lIns="91425" tIns="91425" rIns="91425" bIns="91425" anchor="t" anchorCtr="0">
            <a:noAutofit/>
          </a:bodyPr>
          <a:lstStyle/>
          <a:p>
            <a:pPr marL="400050" indent="-285750">
              <a:buClr>
                <a:srgbClr val="000000"/>
              </a:buClr>
            </a:pPr>
            <a:r>
              <a:rPr lang="zh-CN" dirty="0">
                <a:solidFill>
                  <a:srgbClr val="000000"/>
                </a:solidFill>
              </a:rPr>
              <a:t>将以下</a:t>
            </a:r>
            <a:r>
              <a:rPr lang="zh-CN" altLang="en-US" dirty="0">
                <a:solidFill>
                  <a:srgbClr val="000000"/>
                </a:solidFill>
              </a:rPr>
              <a:t>字符串文本</a:t>
            </a:r>
            <a:r>
              <a:rPr lang="zh-CN" dirty="0">
                <a:solidFill>
                  <a:srgbClr val="000000"/>
                </a:solidFill>
              </a:rPr>
              <a:t>添加到</a:t>
            </a:r>
            <a:r>
              <a:rPr lang="zh-CN" dirty="0">
                <a:solidFill>
                  <a:srgbClr val="000000"/>
                </a:solidFill>
                <a:latin typeface="Courier New" panose="02070309020205020404" pitchFamily="49" charset="0"/>
                <a:cs typeface="Courier New" panose="02070309020205020404" pitchFamily="49" charset="0"/>
              </a:rPr>
              <a:t>/etc/passwd</a:t>
            </a:r>
            <a:r>
              <a:rPr lang="zh-CN" dirty="0">
                <a:solidFill>
                  <a:srgbClr val="000000"/>
                </a:solidFill>
              </a:rPr>
              <a:t> </a:t>
            </a:r>
            <a:r>
              <a:rPr lang="zh-CN" altLang="en-US" dirty="0">
                <a:solidFill>
                  <a:srgbClr val="000000"/>
                </a:solidFill>
              </a:rPr>
              <a:t>文件中（即</a:t>
            </a:r>
            <a:r>
              <a:rPr lang="zh-CN" dirty="0">
                <a:solidFill>
                  <a:srgbClr val="000000"/>
                </a:solidFill>
              </a:rPr>
              <a:t>添加新用户</a:t>
            </a:r>
            <a:r>
              <a:rPr lang="zh-CN" altLang="en-US" dirty="0">
                <a:solidFill>
                  <a:srgbClr val="000000"/>
                </a:solidFill>
              </a:rPr>
              <a:t>）</a:t>
            </a:r>
            <a:endParaRPr lang="zh-CN" dirty="0">
              <a:solidFill>
                <a:srgbClr val="000000"/>
              </a:solidFill>
            </a:endParaRPr>
          </a:p>
          <a:p>
            <a:pPr marL="0" lvl="0" indent="0">
              <a:spcBef>
                <a:spcPts val="0"/>
              </a:spcBef>
              <a:buNone/>
            </a:pPr>
            <a:r>
              <a:rPr lang="zh-CN" dirty="0">
                <a:solidFill>
                  <a:srgbClr val="000000"/>
                </a:solidFill>
              </a:rPr>
              <a:t>                    </a:t>
            </a:r>
            <a:r>
              <a:rPr lang="en-US" altLang="zh-CN" i="1" dirty="0">
                <a:solidFill>
                  <a:srgbClr val="00B050"/>
                </a:solidFill>
              </a:rPr>
              <a:t>test</a:t>
            </a:r>
            <a:r>
              <a:rPr lang="zh-CN" i="1" dirty="0">
                <a:solidFill>
                  <a:srgbClr val="000000"/>
                </a:solidFill>
              </a:rPr>
              <a:t>： </a:t>
            </a:r>
            <a:r>
              <a:rPr lang="zh-CN" i="1" dirty="0">
                <a:solidFill>
                  <a:srgbClr val="0070C0"/>
                </a:solidFill>
              </a:rPr>
              <a:t>U6aMy0wojraho </a:t>
            </a:r>
            <a:r>
              <a:rPr lang="zh-CN" i="1" dirty="0">
                <a:solidFill>
                  <a:srgbClr val="000000"/>
                </a:solidFill>
              </a:rPr>
              <a:t>： </a:t>
            </a:r>
            <a:r>
              <a:rPr lang="zh-CN" i="1" dirty="0">
                <a:solidFill>
                  <a:srgbClr val="C00000"/>
                </a:solidFill>
              </a:rPr>
              <a:t>0 </a:t>
            </a:r>
            <a:r>
              <a:rPr lang="zh-CN" i="1" dirty="0">
                <a:solidFill>
                  <a:srgbClr val="000000"/>
                </a:solidFill>
              </a:rPr>
              <a:t>：0：test：/root：/bin/bash</a:t>
            </a:r>
          </a:p>
        </p:txBody>
      </p:sp>
      <p:cxnSp>
        <p:nvCxnSpPr>
          <p:cNvPr id="163" name="Shape 163"/>
          <p:cNvCxnSpPr/>
          <p:nvPr/>
        </p:nvCxnSpPr>
        <p:spPr>
          <a:xfrm>
            <a:off x="1810512" y="2193750"/>
            <a:ext cx="0" cy="378000"/>
          </a:xfrm>
          <a:prstGeom prst="straightConnector1">
            <a:avLst/>
          </a:prstGeom>
          <a:noFill/>
          <a:ln w="9525" cap="flat" cmpd="sng">
            <a:solidFill>
              <a:schemeClr val="dk2"/>
            </a:solidFill>
            <a:prstDash val="solid"/>
            <a:round/>
            <a:headEnd type="none" w="lg" len="lg"/>
            <a:tailEnd type="triangle" w="lg" len="lg"/>
          </a:ln>
        </p:spPr>
      </p:cxnSp>
      <p:cxnSp>
        <p:nvCxnSpPr>
          <p:cNvPr id="164" name="Shape 164"/>
          <p:cNvCxnSpPr/>
          <p:nvPr/>
        </p:nvCxnSpPr>
        <p:spPr>
          <a:xfrm>
            <a:off x="3044847" y="2193750"/>
            <a:ext cx="0" cy="989400"/>
          </a:xfrm>
          <a:prstGeom prst="straightConnector1">
            <a:avLst/>
          </a:prstGeom>
          <a:noFill/>
          <a:ln w="9525" cap="flat" cmpd="sng">
            <a:solidFill>
              <a:schemeClr val="dk2"/>
            </a:solidFill>
            <a:prstDash val="solid"/>
            <a:round/>
            <a:headEnd type="none" w="lg" len="lg"/>
            <a:tailEnd type="triangle" w="lg" len="lg"/>
          </a:ln>
        </p:spPr>
      </p:cxnSp>
      <p:cxnSp>
        <p:nvCxnSpPr>
          <p:cNvPr id="165" name="Shape 165"/>
          <p:cNvCxnSpPr/>
          <p:nvPr/>
        </p:nvCxnSpPr>
        <p:spPr>
          <a:xfrm>
            <a:off x="4376756" y="2193750"/>
            <a:ext cx="0" cy="378000"/>
          </a:xfrm>
          <a:prstGeom prst="straightConnector1">
            <a:avLst/>
          </a:prstGeom>
          <a:noFill/>
          <a:ln w="9525" cap="flat" cmpd="sng">
            <a:solidFill>
              <a:schemeClr val="dk2"/>
            </a:solidFill>
            <a:prstDash val="solid"/>
            <a:round/>
            <a:headEnd type="none" w="lg" len="lg"/>
            <a:tailEnd type="triangle" w="lg" len="lg"/>
          </a:ln>
        </p:spPr>
      </p:cxnSp>
      <p:sp>
        <p:nvSpPr>
          <p:cNvPr id="166" name="Shape 166"/>
          <p:cNvSpPr txBox="1"/>
          <p:nvPr/>
        </p:nvSpPr>
        <p:spPr>
          <a:xfrm>
            <a:off x="1285875" y="2585993"/>
            <a:ext cx="928124" cy="350133"/>
          </a:xfrm>
          <a:prstGeom prst="rect">
            <a:avLst/>
          </a:prstGeom>
          <a:noFill/>
          <a:ln>
            <a:noFill/>
          </a:ln>
        </p:spPr>
        <p:txBody>
          <a:bodyPr wrap="square" lIns="91425" tIns="91425" rIns="91425" bIns="91425" anchor="t" anchorCtr="0">
            <a:noAutofit/>
          </a:bodyPr>
          <a:lstStyle/>
          <a:p>
            <a:pPr marL="0" lvl="0" indent="0">
              <a:spcBef>
                <a:spcPts val="0"/>
              </a:spcBef>
              <a:buNone/>
            </a:pPr>
            <a:r>
              <a:rPr lang="zh-CN" dirty="0"/>
              <a:t> </a:t>
            </a:r>
            <a:r>
              <a:rPr lang="zh-CN" sz="1800" dirty="0"/>
              <a:t>用户名</a:t>
            </a:r>
            <a:endParaRPr lang="en-GB" dirty="0"/>
          </a:p>
        </p:txBody>
      </p:sp>
      <p:sp>
        <p:nvSpPr>
          <p:cNvPr id="167" name="Shape 167"/>
          <p:cNvSpPr txBox="1"/>
          <p:nvPr/>
        </p:nvSpPr>
        <p:spPr>
          <a:xfrm>
            <a:off x="2121533" y="3249277"/>
            <a:ext cx="1864834" cy="324000"/>
          </a:xfrm>
          <a:prstGeom prst="rect">
            <a:avLst/>
          </a:prstGeom>
          <a:noFill/>
          <a:ln>
            <a:noFill/>
          </a:ln>
        </p:spPr>
        <p:txBody>
          <a:bodyPr wrap="square" lIns="91425" tIns="91425" rIns="91425" bIns="91425" anchor="t" anchorCtr="0">
            <a:noAutofit/>
          </a:bodyPr>
          <a:lstStyle/>
          <a:p>
            <a:pPr marL="0" lvl="0" indent="0" rtl="0">
              <a:spcBef>
                <a:spcPts val="0"/>
              </a:spcBef>
              <a:buNone/>
            </a:pPr>
            <a:r>
              <a:rPr lang="zh-CN" sz="1800" dirty="0"/>
              <a:t>空密码的</a:t>
            </a:r>
            <a:r>
              <a:rPr lang="zh-CN" altLang="en-US" sz="1800" dirty="0"/>
              <a:t>哈希值</a:t>
            </a:r>
            <a:endParaRPr lang="en-GB" sz="1800" dirty="0"/>
          </a:p>
        </p:txBody>
      </p:sp>
      <p:sp>
        <p:nvSpPr>
          <p:cNvPr id="168" name="Shape 168"/>
          <p:cNvSpPr txBox="1"/>
          <p:nvPr/>
        </p:nvSpPr>
        <p:spPr>
          <a:xfrm>
            <a:off x="3188174" y="2609345"/>
            <a:ext cx="2694456" cy="324000"/>
          </a:xfrm>
          <a:prstGeom prst="rect">
            <a:avLst/>
          </a:prstGeom>
          <a:noFill/>
          <a:ln>
            <a:noFill/>
          </a:ln>
        </p:spPr>
        <p:txBody>
          <a:bodyPr wrap="square" lIns="91425" tIns="91425" rIns="91425" bIns="91425" anchor="t" anchorCtr="0">
            <a:noAutofit/>
          </a:bodyPr>
          <a:lstStyle/>
          <a:p>
            <a:pPr marL="0" lvl="0" indent="0" rtl="0">
              <a:spcBef>
                <a:spcPts val="0"/>
              </a:spcBef>
              <a:buNone/>
            </a:pPr>
            <a:r>
              <a:rPr lang="zh-CN" dirty="0"/>
              <a:t>         </a:t>
            </a:r>
            <a:r>
              <a:rPr lang="zh-CN" sz="1800" dirty="0"/>
              <a:t>UID（0 表示 root）</a:t>
            </a:r>
            <a:endParaRPr lang="en-GB"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Shape 173"/>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a:buNone/>
            </a:pPr>
            <a:r>
              <a:rPr lang="zh-CN" dirty="0"/>
              <a:t>攻击：运行</a:t>
            </a:r>
            <a:r>
              <a:rPr lang="zh-CN" altLang="en-US" dirty="0"/>
              <a:t>有漏洞</a:t>
            </a:r>
            <a:r>
              <a:rPr lang="zh-CN" dirty="0"/>
              <a:t>的程序</a:t>
            </a:r>
            <a:endParaRPr lang="en-GB" dirty="0"/>
          </a:p>
        </p:txBody>
      </p:sp>
      <p:sp>
        <p:nvSpPr>
          <p:cNvPr id="174" name="Shape 174"/>
          <p:cNvSpPr txBox="1">
            <a:spLocks noGrp="1"/>
          </p:cNvSpPr>
          <p:nvPr>
            <p:ph type="body" idx="1"/>
          </p:nvPr>
        </p:nvSpPr>
        <p:spPr>
          <a:xfrm>
            <a:off x="311700" y="1152475"/>
            <a:ext cx="8665246" cy="1241100"/>
          </a:xfrm>
          <a:prstGeom prst="rect">
            <a:avLst/>
          </a:prstGeom>
        </p:spPr>
        <p:txBody>
          <a:bodyPr wrap="square" lIns="91425" tIns="91425" rIns="91425" bIns="91425" anchor="t" anchorCtr="0">
            <a:noAutofit/>
          </a:bodyPr>
          <a:lstStyle/>
          <a:p>
            <a:pPr marL="285750" indent="-285750"/>
            <a:r>
              <a:rPr lang="zh-CN" dirty="0">
                <a:solidFill>
                  <a:srgbClr val="000000"/>
                </a:solidFill>
              </a:rPr>
              <a:t>两个相互竞争的</a:t>
            </a:r>
            <a:r>
              <a:rPr lang="zh-CN" altLang="en-US" dirty="0">
                <a:solidFill>
                  <a:srgbClr val="FF0000"/>
                </a:solidFill>
              </a:rPr>
              <a:t>进程</a:t>
            </a:r>
            <a:r>
              <a:rPr lang="zh-CN" dirty="0">
                <a:solidFill>
                  <a:srgbClr val="000000"/>
                </a:solidFill>
              </a:rPr>
              <a:t>：</a:t>
            </a:r>
            <a:r>
              <a:rPr lang="zh-CN" altLang="en-US" b="1" dirty="0">
                <a:solidFill>
                  <a:srgbClr val="FF0000"/>
                </a:solidFill>
              </a:rPr>
              <a:t>漏洞程序进程</a:t>
            </a:r>
            <a:r>
              <a:rPr lang="zh-CN" b="1" dirty="0">
                <a:solidFill>
                  <a:srgbClr val="000000"/>
                </a:solidFill>
              </a:rPr>
              <a:t>和</a:t>
            </a:r>
            <a:r>
              <a:rPr lang="zh-CN" b="1" dirty="0">
                <a:solidFill>
                  <a:srgbClr val="FF0000"/>
                </a:solidFill>
              </a:rPr>
              <a:t>攻击</a:t>
            </a:r>
            <a:r>
              <a:rPr lang="zh-CN" altLang="en-US" b="1" dirty="0">
                <a:solidFill>
                  <a:srgbClr val="FF0000"/>
                </a:solidFill>
              </a:rPr>
              <a:t>进程</a:t>
            </a:r>
            <a:r>
              <a:rPr lang="zh-CN" b="1" dirty="0">
                <a:solidFill>
                  <a:srgbClr val="000000"/>
                </a:solidFill>
              </a:rPr>
              <a:t>。</a:t>
            </a:r>
          </a:p>
          <a:p>
            <a:pPr marL="0" lvl="0" indent="0">
              <a:spcBef>
                <a:spcPts val="0"/>
              </a:spcBef>
              <a:buNone/>
            </a:pPr>
            <a:r>
              <a:rPr lang="zh-CN" dirty="0">
                <a:solidFill>
                  <a:srgbClr val="000000"/>
                </a:solidFill>
              </a:rPr>
              <a:t>运行存在漏洞的进程</a:t>
            </a:r>
          </a:p>
        </p:txBody>
      </p:sp>
      <p:pic>
        <p:nvPicPr>
          <p:cNvPr id="175" name="Shape 175"/>
          <p:cNvPicPr preferRelativeResize="0"/>
          <p:nvPr/>
        </p:nvPicPr>
        <p:blipFill>
          <a:blip r:embed="rId3">
            <a:alphaModFix/>
          </a:blip>
          <a:stretch>
            <a:fillRect/>
          </a:stretch>
        </p:blipFill>
        <p:spPr>
          <a:xfrm>
            <a:off x="423238" y="2470500"/>
            <a:ext cx="4600575" cy="1666875"/>
          </a:xfrm>
          <a:prstGeom prst="rect">
            <a:avLst/>
          </a:prstGeom>
          <a:noFill/>
          <a:ln>
            <a:noFill/>
          </a:ln>
        </p:spPr>
      </p:pic>
      <p:sp>
        <p:nvSpPr>
          <p:cNvPr id="176" name="Shape 176"/>
          <p:cNvSpPr txBox="1"/>
          <p:nvPr/>
        </p:nvSpPr>
        <p:spPr>
          <a:xfrm>
            <a:off x="5023813" y="2528325"/>
            <a:ext cx="4043387" cy="2036100"/>
          </a:xfrm>
          <a:prstGeom prst="rect">
            <a:avLst/>
          </a:prstGeom>
          <a:noFill/>
          <a:ln>
            <a:noFill/>
          </a:ln>
        </p:spPr>
        <p:txBody>
          <a:bodyPr wrap="square" lIns="91425" tIns="91425" rIns="91425" bIns="91425" anchor="t" anchorCtr="0">
            <a:noAutofit/>
          </a:bodyPr>
          <a:lstStyle/>
          <a:p>
            <a:pPr marL="457200" lvl="0" indent="-342900">
              <a:spcBef>
                <a:spcPts val="0"/>
              </a:spcBef>
              <a:buSzPts val="1800"/>
              <a:buChar char="●"/>
            </a:pPr>
            <a:r>
              <a:rPr lang="zh-CN" sz="1800" dirty="0"/>
              <a:t>循环中运行（target_process.sh）</a:t>
            </a:r>
          </a:p>
          <a:p>
            <a:pPr marL="0" lvl="0" indent="0" rtl="0">
              <a:spcBef>
                <a:spcPts val="0"/>
              </a:spcBef>
              <a:buNone/>
            </a:pPr>
            <a:endParaRPr sz="1800" dirty="0"/>
          </a:p>
          <a:p>
            <a:pPr marL="457200" lvl="0" indent="-342900">
              <a:spcBef>
                <a:spcPts val="0"/>
              </a:spcBef>
              <a:buSzPts val="1800"/>
              <a:buChar char="●"/>
            </a:pPr>
            <a:r>
              <a:rPr lang="zh-CN" sz="1800" dirty="0">
                <a:latin typeface="Courier New" panose="02070309020205020404" pitchFamily="49" charset="0"/>
                <a:cs typeface="Courier New" panose="02070309020205020404" pitchFamily="49" charset="0"/>
              </a:rPr>
              <a:t>passwd_input 包含要插入到</a:t>
            </a:r>
            <a:r>
              <a:rPr lang="zh-CN" sz="1800" dirty="0"/>
              <a:t>/ etc/passwd</a:t>
            </a:r>
            <a:r>
              <a:rPr lang="zh-CN" altLang="en-US" sz="1800" dirty="0"/>
              <a:t> 文件中</a:t>
            </a:r>
            <a:endParaRPr lang="zh-CN" sz="1800" dirty="0"/>
          </a:p>
        </p:txBody>
      </p:sp>
      <p:sp>
        <p:nvSpPr>
          <p:cNvPr id="177" name="Shape 177"/>
          <p:cNvSpPr txBox="1"/>
          <p:nvPr/>
        </p:nvSpPr>
        <p:spPr>
          <a:xfrm>
            <a:off x="423313" y="4079550"/>
            <a:ext cx="4600500" cy="408300"/>
          </a:xfrm>
          <a:prstGeom prst="rect">
            <a:avLst/>
          </a:prstGeom>
          <a:noFill/>
          <a:ln>
            <a:noFill/>
          </a:ln>
        </p:spPr>
        <p:txBody>
          <a:bodyPr wrap="square" lIns="91425" tIns="91425" rIns="91425" bIns="91425" anchor="t" anchorCtr="0">
            <a:noAutofit/>
          </a:bodyPr>
          <a:lstStyle/>
          <a:p>
            <a:pPr marL="914400" lvl="0" indent="457200" rtl="0">
              <a:spcBef>
                <a:spcPts val="0"/>
              </a:spcBef>
              <a:buNone/>
            </a:pPr>
            <a:endParaRPr lang="en-GB" i="1" dirty="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Shape 182"/>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lvl="0" indent="-69850">
              <a:buSzPts val="1100"/>
            </a:pPr>
            <a:r>
              <a:rPr lang="zh-CN" dirty="0"/>
              <a:t>攻击：运行攻击程序</a:t>
            </a:r>
          </a:p>
        </p:txBody>
      </p:sp>
      <p:pic>
        <p:nvPicPr>
          <p:cNvPr id="183" name="Shape 183"/>
          <p:cNvPicPr preferRelativeResize="0"/>
          <p:nvPr/>
        </p:nvPicPr>
        <p:blipFill>
          <a:blip r:embed="rId3">
            <a:alphaModFix/>
          </a:blip>
          <a:stretch>
            <a:fillRect/>
          </a:stretch>
        </p:blipFill>
        <p:spPr>
          <a:xfrm>
            <a:off x="381562" y="1280900"/>
            <a:ext cx="5207575" cy="3528450"/>
          </a:xfrm>
          <a:prstGeom prst="rect">
            <a:avLst/>
          </a:prstGeom>
          <a:noFill/>
          <a:ln>
            <a:noFill/>
          </a:ln>
        </p:spPr>
      </p:pic>
      <p:sp>
        <p:nvSpPr>
          <p:cNvPr id="185" name="Shape 185"/>
          <p:cNvSpPr txBox="1"/>
          <p:nvPr/>
        </p:nvSpPr>
        <p:spPr>
          <a:xfrm>
            <a:off x="5662500" y="1280900"/>
            <a:ext cx="3169800" cy="3369637"/>
          </a:xfrm>
          <a:prstGeom prst="rect">
            <a:avLst/>
          </a:prstGeom>
          <a:noFill/>
          <a:ln>
            <a:noFill/>
          </a:ln>
        </p:spPr>
        <p:txBody>
          <a:bodyPr wrap="square" lIns="91425" tIns="91425" rIns="91425" bIns="91425" anchor="t" anchorCtr="0">
            <a:noAutofit/>
          </a:bodyPr>
          <a:lstStyle/>
          <a:p>
            <a:pPr marL="457200" lvl="0" indent="-342900">
              <a:spcBef>
                <a:spcPts val="0"/>
              </a:spcBef>
              <a:spcAft>
                <a:spcPts val="1200"/>
              </a:spcAft>
              <a:buSzPts val="1800"/>
              <a:buFont typeface="+mj-lt"/>
              <a:buAutoNum type="arabicParenR"/>
            </a:pPr>
            <a:r>
              <a:rPr lang="zh-CN" sz="1800" dirty="0"/>
              <a:t>创建一个指向</a:t>
            </a:r>
            <a:r>
              <a:rPr lang="zh-CN" sz="1800" dirty="0">
                <a:solidFill>
                  <a:srgbClr val="FF0000"/>
                </a:solidFill>
              </a:rPr>
              <a:t>我们</a:t>
            </a:r>
            <a:r>
              <a:rPr lang="zh-CN" altLang="en-US" sz="1800" dirty="0">
                <a:solidFill>
                  <a:srgbClr val="FF0000"/>
                </a:solidFill>
              </a:rPr>
              <a:t>（攻击者）</a:t>
            </a:r>
            <a:r>
              <a:rPr lang="zh-CN" sz="1800" dirty="0">
                <a:solidFill>
                  <a:srgbClr val="FF0000"/>
                </a:solidFill>
              </a:rPr>
              <a:t>拥有的文件</a:t>
            </a:r>
            <a:r>
              <a:rPr lang="zh-CN" sz="1800" dirty="0"/>
              <a:t>的符号链接。（以</a:t>
            </a:r>
            <a:r>
              <a:rPr lang="zh-CN" altLang="en-US" sz="1800" dirty="0"/>
              <a:t>便</a:t>
            </a:r>
            <a:r>
              <a:rPr lang="zh-CN" sz="1800" dirty="0"/>
              <a:t>通过 access() 检查）</a:t>
            </a:r>
          </a:p>
          <a:p>
            <a:pPr marL="457200" lvl="0" indent="-342900">
              <a:spcBef>
                <a:spcPts val="0"/>
              </a:spcBef>
              <a:spcAft>
                <a:spcPts val="1200"/>
              </a:spcAft>
              <a:buSzPts val="1800"/>
              <a:buFont typeface="+mj-lt"/>
              <a:buAutoNum type="arabicParenR"/>
            </a:pPr>
            <a:r>
              <a:rPr lang="zh-CN" sz="1800" dirty="0"/>
              <a:t>休眠 10000 微秒，让</a:t>
            </a:r>
            <a:r>
              <a:rPr lang="zh-CN" altLang="en-US" sz="1800" dirty="0"/>
              <a:t>漏洞程序</a:t>
            </a:r>
            <a:r>
              <a:rPr lang="zh-CN" sz="1800" dirty="0"/>
              <a:t>的进程运行。</a:t>
            </a:r>
          </a:p>
          <a:p>
            <a:pPr marL="457200" lvl="0" indent="-342900">
              <a:spcBef>
                <a:spcPts val="0"/>
              </a:spcBef>
              <a:spcAft>
                <a:spcPts val="1200"/>
              </a:spcAft>
              <a:buSzPts val="1800"/>
              <a:buFont typeface="+mj-lt"/>
              <a:buAutoNum type="arabicParenR"/>
            </a:pPr>
            <a:r>
              <a:rPr lang="zh-CN" sz="1800" dirty="0"/>
              <a:t>取消</a:t>
            </a:r>
            <a:r>
              <a:rPr lang="zh-CN" sz="1800" dirty="0" err="1"/>
              <a:t>符号链接</a:t>
            </a:r>
            <a:endParaRPr lang="en-GB" sz="1800" dirty="0"/>
          </a:p>
          <a:p>
            <a:pPr marL="457200" lvl="0" indent="-342900">
              <a:spcBef>
                <a:spcPts val="0"/>
              </a:spcBef>
              <a:spcAft>
                <a:spcPts val="1200"/>
              </a:spcAft>
              <a:buSzPts val="1800"/>
              <a:buFont typeface="+mj-lt"/>
              <a:buAutoNum type="arabicParenR"/>
            </a:pPr>
            <a:r>
              <a:rPr lang="zh-CN" sz="1800" dirty="0"/>
              <a:t>创建指向 </a:t>
            </a:r>
            <a:r>
              <a:rPr lang="zh-CN" sz="1800" dirty="0">
                <a:solidFill>
                  <a:srgbClr val="FF0000"/>
                </a:solidFill>
              </a:rPr>
              <a:t>/etc/ passwd</a:t>
            </a:r>
            <a:r>
              <a:rPr lang="zh-CN" sz="1800" dirty="0"/>
              <a:t>的符号链接 （这是我们要打开的</a:t>
            </a:r>
            <a:r>
              <a:rPr lang="zh-CN" altLang="en-US" sz="1800" dirty="0">
                <a:solidFill>
                  <a:srgbClr val="FF0000"/>
                </a:solidFill>
              </a:rPr>
              <a:t>目标</a:t>
            </a:r>
            <a:r>
              <a:rPr lang="zh-CN" sz="1800" dirty="0">
                <a:solidFill>
                  <a:srgbClr val="FF0000"/>
                </a:solidFill>
              </a:rPr>
              <a:t>文件</a:t>
            </a:r>
            <a:r>
              <a:rPr lang="zh-CN" sz="1800" dirty="0"/>
              <a:t>）</a:t>
            </a:r>
            <a:endParaRPr lang="en-GB"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Shape 190"/>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a:buNone/>
            </a:pPr>
            <a:r>
              <a:rPr lang="zh-CN" altLang="en-US" dirty="0"/>
              <a:t>观察攻击</a:t>
            </a:r>
            <a:r>
              <a:rPr lang="zh-CN" dirty="0"/>
              <a:t>结果</a:t>
            </a:r>
            <a:endParaRPr lang="en-GB" dirty="0"/>
          </a:p>
        </p:txBody>
      </p:sp>
      <p:pic>
        <p:nvPicPr>
          <p:cNvPr id="192" name="Shape 192"/>
          <p:cNvPicPr preferRelativeResize="0"/>
          <p:nvPr/>
        </p:nvPicPr>
        <p:blipFill>
          <a:blip r:embed="rId3">
            <a:alphaModFix/>
          </a:blip>
          <a:stretch>
            <a:fillRect/>
          </a:stretch>
        </p:blipFill>
        <p:spPr>
          <a:xfrm>
            <a:off x="600659" y="1053090"/>
            <a:ext cx="6036445" cy="2662549"/>
          </a:xfrm>
          <a:prstGeom prst="rect">
            <a:avLst/>
          </a:prstGeom>
          <a:noFill/>
          <a:ln>
            <a:noFill/>
          </a:ln>
        </p:spPr>
      </p:pic>
      <p:sp>
        <p:nvSpPr>
          <p:cNvPr id="193" name="Shape 193"/>
          <p:cNvSpPr txBox="1"/>
          <p:nvPr/>
        </p:nvSpPr>
        <p:spPr>
          <a:xfrm>
            <a:off x="179816" y="3751005"/>
            <a:ext cx="8322346" cy="777033"/>
          </a:xfrm>
          <a:prstGeom prst="rect">
            <a:avLst/>
          </a:prstGeom>
          <a:noFill/>
          <a:ln>
            <a:noFill/>
          </a:ln>
        </p:spPr>
        <p:txBody>
          <a:bodyPr wrap="square" lIns="91425" tIns="91425" rIns="91425" bIns="91425" anchor="t" anchorCtr="0">
            <a:noAutofit/>
          </a:bodyPr>
          <a:lstStyle/>
          <a:p>
            <a:pPr marL="457200" lvl="0" indent="-342900" rtl="0">
              <a:spcBef>
                <a:spcPts val="0"/>
              </a:spcBef>
              <a:spcAft>
                <a:spcPts val="1200"/>
              </a:spcAft>
              <a:buSzPts val="1800"/>
              <a:buFont typeface="Wingdings" panose="05000000000000000000" pitchFamily="2" charset="2"/>
              <a:buChar char="§"/>
            </a:pPr>
            <a:r>
              <a:rPr lang="zh-CN" sz="1800" dirty="0"/>
              <a:t>检查/etc/passwd 文件的时间戳 查看它是否已被修改。</a:t>
            </a:r>
            <a:endParaRPr sz="1800" dirty="0"/>
          </a:p>
          <a:p>
            <a:pPr marL="457200" lvl="0" indent="-342900">
              <a:spcBef>
                <a:spcPts val="0"/>
              </a:spcBef>
              <a:spcAft>
                <a:spcPts val="1200"/>
              </a:spcAft>
              <a:buSzPts val="1800"/>
              <a:buFont typeface="Wingdings" panose="05000000000000000000" pitchFamily="2" charset="2"/>
              <a:buChar char="§"/>
            </a:pPr>
            <a:r>
              <a:rPr lang="zh-CN" sz="1800" dirty="0"/>
              <a:t>ls</a:t>
            </a:r>
            <a:r>
              <a:rPr lang="zh-CN" sz="1800" dirty="0" err="1">
                <a:latin typeface="Courier New" panose="02070309020205020404" pitchFamily="49" charset="0"/>
                <a:cs typeface="Courier New" panose="02070309020205020404" pitchFamily="49" charset="0"/>
              </a:rPr>
              <a:t>​</a:t>
            </a:r>
            <a:r>
              <a:rPr lang="zh-CN" sz="1800" dirty="0">
                <a:latin typeface="Courier New" panose="02070309020205020404" pitchFamily="49" charset="0"/>
                <a:cs typeface="Courier New" panose="02070309020205020404" pitchFamily="49" charset="0"/>
              </a:rPr>
              <a:t> -l</a:t>
            </a:r>
            <a:r>
              <a:rPr lang="zh-CN" sz="1800" dirty="0"/>
              <a:t> 该命令会打印出时间戳。</a:t>
            </a:r>
            <a:endParaRPr lang="en-GB"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Shape 199"/>
          <p:cNvSpPr txBox="1">
            <a:spLocks noGrp="1"/>
          </p:cNvSpPr>
          <p:nvPr>
            <p:ph type="title"/>
          </p:nvPr>
        </p:nvSpPr>
        <p:spPr>
          <a:xfrm>
            <a:off x="311700" y="142889"/>
            <a:ext cx="8520600" cy="572700"/>
          </a:xfrm>
          <a:prstGeom prst="rect">
            <a:avLst/>
          </a:prstGeom>
        </p:spPr>
        <p:txBody>
          <a:bodyPr wrap="square" lIns="91425" tIns="91425" rIns="91425" bIns="91425" anchor="t" anchorCtr="0">
            <a:noAutofit/>
          </a:bodyPr>
          <a:lstStyle/>
          <a:p>
            <a:pPr marL="0" lvl="0" indent="0">
              <a:spcBef>
                <a:spcPts val="0"/>
              </a:spcBef>
              <a:buNone/>
            </a:pPr>
            <a:r>
              <a:rPr lang="zh-CN" dirty="0"/>
              <a:t>运行漏洞利用程序</a:t>
            </a:r>
            <a:endParaRPr lang="en-GB" dirty="0"/>
          </a:p>
        </p:txBody>
      </p:sp>
      <p:pic>
        <p:nvPicPr>
          <p:cNvPr id="201" name="Shape 201"/>
          <p:cNvPicPr preferRelativeResize="0"/>
          <p:nvPr/>
        </p:nvPicPr>
        <p:blipFill>
          <a:blip r:embed="rId3">
            <a:alphaModFix/>
          </a:blip>
          <a:stretch>
            <a:fillRect/>
          </a:stretch>
        </p:blipFill>
        <p:spPr>
          <a:xfrm>
            <a:off x="160412" y="859439"/>
            <a:ext cx="4609037" cy="1712311"/>
          </a:xfrm>
          <a:prstGeom prst="rect">
            <a:avLst/>
          </a:prstGeom>
          <a:noFill/>
          <a:ln>
            <a:noFill/>
          </a:ln>
        </p:spPr>
      </p:pic>
      <p:pic>
        <p:nvPicPr>
          <p:cNvPr id="202" name="Shape 202"/>
          <p:cNvPicPr preferRelativeResize="0"/>
          <p:nvPr/>
        </p:nvPicPr>
        <p:blipFill>
          <a:blip r:embed="rId4">
            <a:alphaModFix/>
          </a:blip>
          <a:stretch>
            <a:fillRect/>
          </a:stretch>
        </p:blipFill>
        <p:spPr>
          <a:xfrm>
            <a:off x="160411" y="2593851"/>
            <a:ext cx="5932163" cy="1241863"/>
          </a:xfrm>
          <a:prstGeom prst="rect">
            <a:avLst/>
          </a:prstGeom>
          <a:noFill/>
          <a:ln>
            <a:noFill/>
          </a:ln>
        </p:spPr>
      </p:pic>
      <p:sp>
        <p:nvSpPr>
          <p:cNvPr id="203" name="Shape 203"/>
          <p:cNvSpPr txBox="1">
            <a:spLocks noGrp="1"/>
          </p:cNvSpPr>
          <p:nvPr>
            <p:ph type="body" idx="1"/>
          </p:nvPr>
        </p:nvSpPr>
        <p:spPr>
          <a:xfrm>
            <a:off x="6157851" y="2770932"/>
            <a:ext cx="3073334" cy="887700"/>
          </a:xfrm>
          <a:prstGeom prst="rect">
            <a:avLst/>
          </a:prstGeom>
        </p:spPr>
        <p:txBody>
          <a:bodyPr wrap="square" lIns="91425" tIns="91425" rIns="91425" bIns="91425" anchor="t" anchorCtr="0">
            <a:noAutofit/>
          </a:bodyPr>
          <a:lstStyle/>
          <a:p>
            <a:pPr marL="457200" lvl="0" indent="-342900" rtl="0">
              <a:spcBef>
                <a:spcPts val="0"/>
              </a:spcBef>
              <a:buClr>
                <a:srgbClr val="000000"/>
              </a:buClr>
              <a:buSzPts val="1800"/>
              <a:buBlip>
                <a:blip r:embed="rId5"/>
              </a:buBlip>
            </a:pPr>
            <a:r>
              <a:rPr lang="zh-CN" dirty="0">
                <a:solidFill>
                  <a:srgbClr val="000000"/>
                </a:solidFill>
              </a:rPr>
              <a:t>在/ etc/ </a:t>
            </a:r>
            <a:r>
              <a:rPr lang="zh-CN" dirty="0" err="1">
                <a:solidFill>
                  <a:srgbClr val="000000"/>
                </a:solidFill>
              </a:rPr>
              <a:t>passwd中</a:t>
            </a:r>
            <a:endParaRPr lang="en-GB" dirty="0">
              <a:solidFill>
                <a:srgbClr val="000000"/>
              </a:solidFill>
            </a:endParaRPr>
          </a:p>
          <a:p>
            <a:pPr marL="0" lvl="0" indent="0" rtl="0">
              <a:spcBef>
                <a:spcPts val="0"/>
              </a:spcBef>
              <a:buNone/>
            </a:pPr>
            <a:endParaRPr dirty="0"/>
          </a:p>
        </p:txBody>
      </p:sp>
      <p:pic>
        <p:nvPicPr>
          <p:cNvPr id="204" name="Shape 204"/>
          <p:cNvPicPr preferRelativeResize="0"/>
          <p:nvPr/>
        </p:nvPicPr>
        <p:blipFill>
          <a:blip r:embed="rId6">
            <a:alphaModFix/>
          </a:blip>
          <a:stretch>
            <a:fillRect/>
          </a:stretch>
        </p:blipFill>
        <p:spPr>
          <a:xfrm>
            <a:off x="184935" y="3938628"/>
            <a:ext cx="3917851" cy="1061983"/>
          </a:xfrm>
          <a:prstGeom prst="rect">
            <a:avLst/>
          </a:prstGeom>
          <a:noFill/>
          <a:ln>
            <a:noFill/>
          </a:ln>
        </p:spPr>
      </p:pic>
      <p:sp>
        <p:nvSpPr>
          <p:cNvPr id="9" name="Shape 203"/>
          <p:cNvSpPr txBox="1">
            <a:spLocks/>
          </p:cNvSpPr>
          <p:nvPr/>
        </p:nvSpPr>
        <p:spPr>
          <a:xfrm>
            <a:off x="4102786" y="4034785"/>
            <a:ext cx="4110130" cy="854426"/>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1600"/>
              </a:spcAft>
              <a:buClr>
                <a:schemeClr val="dk2"/>
              </a:buClr>
              <a:buSzPts val="1800"/>
              <a:buChar char="●"/>
              <a:defRPr sz="1800" b="0" i="0" u="none" strike="noStrike" cap="none">
                <a:solidFill>
                  <a:schemeClr val="dk2"/>
                </a:solidFill>
                <a:latin typeface="Arial"/>
                <a:ea typeface="Arial"/>
                <a:cs typeface="Arial"/>
                <a:sym typeface="Arial"/>
              </a:defRPr>
            </a:lvl1pPr>
            <a:lvl2pPr marR="0" lvl="1"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2pPr>
            <a:lvl3pPr marR="0" lvl="2"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3pPr>
            <a:lvl4pPr marR="0" lvl="3"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4pPr>
            <a:lvl5pPr marR="0" lvl="4"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5pPr>
            <a:lvl6pPr marR="0" lvl="5"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6pPr>
            <a:lvl7pPr marR="0" lvl="6"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7pPr>
            <a:lvl8pPr marR="0" lvl="7"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8pPr>
            <a:lvl9pPr marR="0" lvl="8"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9pPr>
          </a:lstStyle>
          <a:p>
            <a:pPr marL="457200" indent="-342900">
              <a:buClr>
                <a:srgbClr val="000000"/>
              </a:buClr>
              <a:buBlip>
                <a:blip r:embed="rId5"/>
              </a:buBlip>
            </a:pPr>
            <a:r>
              <a:rPr lang="zh-CN" dirty="0">
                <a:solidFill>
                  <a:srgbClr val="000000"/>
                </a:solidFill>
              </a:rPr>
              <a:t>使用创建的</a:t>
            </a:r>
            <a:r>
              <a:rPr lang="en-US" altLang="zh-CN" dirty="0">
                <a:solidFill>
                  <a:srgbClr val="FF0000"/>
                </a:solidFill>
              </a:rPr>
              <a:t>test</a:t>
            </a:r>
            <a:r>
              <a:rPr lang="zh-CN" dirty="0">
                <a:solidFill>
                  <a:srgbClr val="FF0000"/>
                </a:solidFill>
              </a:rPr>
              <a:t>用户</a:t>
            </a:r>
            <a:r>
              <a:rPr lang="zh-CN" altLang="en-US" dirty="0">
                <a:solidFill>
                  <a:srgbClr val="FF0000"/>
                </a:solidFill>
              </a:rPr>
              <a:t>名</a:t>
            </a:r>
            <a:r>
              <a:rPr lang="zh-CN" dirty="0">
                <a:solidFill>
                  <a:srgbClr val="000000"/>
                </a:solidFill>
              </a:rPr>
              <a:t>登录后，我们</a:t>
            </a:r>
            <a:r>
              <a:rPr lang="zh-CN" altLang="en-US" dirty="0">
                <a:solidFill>
                  <a:srgbClr val="000000"/>
                </a:solidFill>
              </a:rPr>
              <a:t>（攻击者）</a:t>
            </a:r>
            <a:r>
              <a:rPr lang="zh-CN" dirty="0">
                <a:solidFill>
                  <a:srgbClr val="000000"/>
                </a:solidFill>
              </a:rPr>
              <a:t>将获得root shell。</a:t>
            </a:r>
          </a:p>
          <a:p>
            <a:pPr marL="457200" lvl="0" indent="-342900">
              <a:buClr>
                <a:srgbClr val="000000"/>
              </a:buClr>
              <a:buBlip>
                <a:blip r:embed="rId5"/>
              </a:buBlip>
            </a:pPr>
            <a:endParaRPr lang="en-GB" dirty="0">
              <a:solidFill>
                <a:srgbClr val="000000"/>
              </a:solidFill>
            </a:endParaRPr>
          </a:p>
          <a:p>
            <a:pPr marL="457200" indent="-342900">
              <a:buClr>
                <a:srgbClr val="000000"/>
              </a:buClr>
              <a:buFontTx/>
              <a:buBlip>
                <a:blip r:embed="rId5"/>
              </a:buBlip>
            </a:pPr>
            <a:endParaRPr lang="en-US" dirty="0">
              <a:solidFill>
                <a:srgbClr val="000000"/>
              </a:solidFill>
            </a:endParaRPr>
          </a:p>
          <a:p>
            <a:pPr>
              <a:buFontTx/>
              <a:buNone/>
            </a:pPr>
            <a:endParaRPr lang="en-US" dirty="0"/>
          </a:p>
        </p:txBody>
      </p:sp>
      <p:sp>
        <p:nvSpPr>
          <p:cNvPr id="10" name="Shape 203"/>
          <p:cNvSpPr txBox="1">
            <a:spLocks/>
          </p:cNvSpPr>
          <p:nvPr/>
        </p:nvSpPr>
        <p:spPr>
          <a:xfrm>
            <a:off x="4696276" y="998167"/>
            <a:ext cx="3961184" cy="107543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1600"/>
              </a:spcAft>
              <a:buClr>
                <a:schemeClr val="dk2"/>
              </a:buClr>
              <a:buSzPts val="1800"/>
              <a:buChar char="●"/>
              <a:defRPr sz="1800" b="0" i="0" u="none" strike="noStrike" cap="none">
                <a:solidFill>
                  <a:schemeClr val="dk2"/>
                </a:solidFill>
                <a:latin typeface="Arial"/>
                <a:ea typeface="Arial"/>
                <a:cs typeface="Arial"/>
                <a:sym typeface="Arial"/>
              </a:defRPr>
            </a:lvl1pPr>
            <a:lvl2pPr marR="0" lvl="1"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2pPr>
            <a:lvl3pPr marR="0" lvl="2"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3pPr>
            <a:lvl4pPr marR="0" lvl="3"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4pPr>
            <a:lvl5pPr marR="0" lvl="4"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5pPr>
            <a:lvl6pPr marR="0" lvl="5"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6pPr>
            <a:lvl7pPr marR="0" lvl="6"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7pPr>
            <a:lvl8pPr marR="0" lvl="7"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8pPr>
            <a:lvl9pPr marR="0" lvl="8" algn="l" rtl="0">
              <a:lnSpc>
                <a:spcPct val="115000"/>
              </a:lnSpc>
              <a:spcBef>
                <a:spcPts val="0"/>
              </a:spcBef>
              <a:spcAft>
                <a:spcPts val="1600"/>
              </a:spcAft>
              <a:buClr>
                <a:schemeClr val="dk2"/>
              </a:buClr>
              <a:buSzPts val="1400"/>
              <a:buChar char="■"/>
              <a:defRPr sz="1400" b="0" i="0" u="none" strike="noStrike" cap="none">
                <a:solidFill>
                  <a:schemeClr val="dk2"/>
                </a:solidFill>
                <a:latin typeface="Arial"/>
                <a:ea typeface="Arial"/>
                <a:cs typeface="Arial"/>
                <a:sym typeface="Arial"/>
              </a:defRPr>
            </a:lvl9pPr>
          </a:lstStyle>
          <a:p>
            <a:pPr marL="457200" lvl="0" indent="-342900">
              <a:buClr>
                <a:srgbClr val="000000"/>
              </a:buClr>
              <a:buBlip>
                <a:blip r:embed="rId5"/>
              </a:buBlip>
            </a:pPr>
            <a:r>
              <a:rPr lang="zh-CN" dirty="0">
                <a:solidFill>
                  <a:srgbClr val="000000"/>
                </a:solidFill>
              </a:rPr>
              <a:t>运行攻击程序和</a:t>
            </a:r>
            <a:r>
              <a:rPr lang="zh-CN" altLang="en-US" dirty="0">
                <a:solidFill>
                  <a:srgbClr val="000000"/>
                </a:solidFill>
              </a:rPr>
              <a:t>漏洞</a:t>
            </a:r>
            <a:r>
              <a:rPr lang="zh-CN" dirty="0">
                <a:solidFill>
                  <a:srgbClr val="000000"/>
                </a:solidFill>
              </a:rPr>
              <a:t>程序，开始“竞赛”。</a:t>
            </a:r>
          </a:p>
          <a:p>
            <a:pPr marL="457200" indent="-342900">
              <a:buClr>
                <a:srgbClr val="000000"/>
              </a:buClr>
              <a:buFontTx/>
              <a:buBlip>
                <a:blip r:embed="rId5"/>
              </a:buBlip>
            </a:pPr>
            <a:endParaRPr lang="en-US" dirty="0">
              <a:solidFill>
                <a:srgbClr val="000000"/>
              </a:solidFill>
            </a:endParaRPr>
          </a:p>
          <a:p>
            <a:pPr>
              <a:buFontTx/>
              <a:buNone/>
            </a:pP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Shape 210"/>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0">
              <a:spcBef>
                <a:spcPts val="0"/>
              </a:spcBef>
              <a:buNone/>
            </a:pPr>
            <a:r>
              <a:rPr lang="zh-CN"/>
              <a:t>应对措施</a:t>
            </a:r>
          </a:p>
        </p:txBody>
      </p:sp>
      <p:sp>
        <p:nvSpPr>
          <p:cNvPr id="211" name="Shape 211"/>
          <p:cNvSpPr txBox="1">
            <a:spLocks noGrp="1"/>
          </p:cNvSpPr>
          <p:nvPr>
            <p:ph type="body" idx="1"/>
          </p:nvPr>
        </p:nvSpPr>
        <p:spPr>
          <a:xfrm>
            <a:off x="311700" y="1152475"/>
            <a:ext cx="8520600" cy="3416400"/>
          </a:xfrm>
          <a:prstGeom prst="rect">
            <a:avLst/>
          </a:prstGeom>
        </p:spPr>
        <p:txBody>
          <a:bodyPr wrap="square" lIns="91425" tIns="91425" rIns="91425" bIns="91425" anchor="t" anchorCtr="0">
            <a:noAutofit/>
          </a:bodyPr>
          <a:lstStyle/>
          <a:p>
            <a:pPr marL="457200" lvl="0" indent="-342900" rtl="0">
              <a:lnSpc>
                <a:spcPct val="200000"/>
              </a:lnSpc>
              <a:spcBef>
                <a:spcPts val="0"/>
              </a:spcBef>
              <a:spcAft>
                <a:spcPts val="0"/>
              </a:spcAft>
              <a:buClr>
                <a:srgbClr val="000000"/>
              </a:buClr>
              <a:buSzPts val="1800"/>
              <a:buChar char="●"/>
            </a:pPr>
            <a:r>
              <a:rPr lang="zh-CN" dirty="0">
                <a:solidFill>
                  <a:srgbClr val="000000"/>
                </a:solidFill>
              </a:rPr>
              <a:t>原子操作：消除检查和使用之间的时间窗口</a:t>
            </a:r>
          </a:p>
          <a:p>
            <a:pPr marL="457200" lvl="0" indent="-342900" rtl="0">
              <a:lnSpc>
                <a:spcPct val="200000"/>
              </a:lnSpc>
              <a:spcBef>
                <a:spcPts val="0"/>
              </a:spcBef>
              <a:spcAft>
                <a:spcPts val="0"/>
              </a:spcAft>
              <a:buClr>
                <a:srgbClr val="000000"/>
              </a:buClr>
              <a:buSzPts val="1800"/>
              <a:buChar char="●"/>
            </a:pPr>
            <a:r>
              <a:rPr lang="zh-CN" altLang="en-US" dirty="0">
                <a:solidFill>
                  <a:srgbClr val="000000"/>
                </a:solidFill>
              </a:rPr>
              <a:t>反复执行</a:t>
            </a:r>
            <a:r>
              <a:rPr lang="en-US" altLang="zh-CN" dirty="0">
                <a:solidFill>
                  <a:srgbClr val="000000"/>
                </a:solidFill>
              </a:rPr>
              <a:t>access()</a:t>
            </a:r>
            <a:r>
              <a:rPr lang="zh-CN" dirty="0">
                <a:solidFill>
                  <a:srgbClr val="000000"/>
                </a:solidFill>
              </a:rPr>
              <a:t>和</a:t>
            </a:r>
            <a:r>
              <a:rPr lang="en-US" altLang="zh-CN" dirty="0">
                <a:solidFill>
                  <a:srgbClr val="000000"/>
                </a:solidFill>
              </a:rPr>
              <a:t>open()</a:t>
            </a:r>
            <a:r>
              <a:rPr lang="zh-CN" altLang="en-US" dirty="0">
                <a:solidFill>
                  <a:srgbClr val="000000"/>
                </a:solidFill>
              </a:rPr>
              <a:t>函数</a:t>
            </a:r>
            <a:r>
              <a:rPr lang="zh-CN" dirty="0">
                <a:solidFill>
                  <a:srgbClr val="000000"/>
                </a:solidFill>
              </a:rPr>
              <a:t>：使赢得“比赛”变得困难。</a:t>
            </a:r>
          </a:p>
          <a:p>
            <a:pPr marL="457200" lvl="0" indent="-342900" rtl="0">
              <a:lnSpc>
                <a:spcPct val="200000"/>
              </a:lnSpc>
              <a:spcBef>
                <a:spcPts val="0"/>
              </a:spcBef>
              <a:spcAft>
                <a:spcPts val="0"/>
              </a:spcAft>
              <a:buClr>
                <a:srgbClr val="000000"/>
              </a:buClr>
              <a:buSzPts val="1800"/>
              <a:buChar char="●"/>
            </a:pPr>
            <a:r>
              <a:rPr lang="zh-CN" dirty="0">
                <a:solidFill>
                  <a:srgbClr val="000000"/>
                </a:solidFill>
              </a:rPr>
              <a:t>粘性</a:t>
            </a:r>
            <a:r>
              <a:rPr lang="zh-CN" dirty="0" err="1">
                <a:solidFill>
                  <a:srgbClr val="000000"/>
                </a:solidFill>
              </a:rPr>
              <a:t>符号链接</a:t>
            </a:r>
            <a:r>
              <a:rPr lang="zh-CN" dirty="0">
                <a:solidFill>
                  <a:srgbClr val="000000"/>
                </a:solidFill>
              </a:rPr>
              <a:t> 保护措施：防止创建符号链接。</a:t>
            </a:r>
          </a:p>
          <a:p>
            <a:pPr marL="457200" lvl="0" indent="-342900">
              <a:spcBef>
                <a:spcPts val="0"/>
              </a:spcBef>
              <a:buClr>
                <a:srgbClr val="000000"/>
              </a:buClr>
              <a:buSzPts val="1800"/>
              <a:buChar char="●"/>
            </a:pPr>
            <a:r>
              <a:rPr lang="zh-CN" dirty="0">
                <a:solidFill>
                  <a:srgbClr val="000000"/>
                </a:solidFill>
              </a:rPr>
              <a:t>最小权限原则：防止攻击者赢得比赛后造成的损害。</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Shape 216"/>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0">
              <a:spcBef>
                <a:spcPts val="0"/>
              </a:spcBef>
              <a:buNone/>
            </a:pPr>
            <a:r>
              <a:rPr lang="zh-CN" dirty="0"/>
              <a:t>原子</a:t>
            </a:r>
            <a:r>
              <a:rPr lang="zh-CN" altLang="en-US" dirty="0"/>
              <a:t>操作</a:t>
            </a:r>
            <a:endParaRPr lang="zh-CN" dirty="0"/>
          </a:p>
        </p:txBody>
      </p:sp>
      <p:sp>
        <p:nvSpPr>
          <p:cNvPr id="217" name="Shape 217"/>
          <p:cNvSpPr txBox="1">
            <a:spLocks noGrp="1"/>
          </p:cNvSpPr>
          <p:nvPr>
            <p:ph type="body" idx="1"/>
          </p:nvPr>
        </p:nvSpPr>
        <p:spPr>
          <a:xfrm>
            <a:off x="470100" y="1565600"/>
            <a:ext cx="3798000" cy="485100"/>
          </a:xfrm>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a:buNone/>
            </a:pPr>
            <a:r>
              <a:rPr lang="zh-CN" dirty="0">
                <a:solidFill>
                  <a:srgbClr val="000000"/>
                </a:solidFill>
              </a:rPr>
              <a:t>f = open(file, O_CREAT | </a:t>
            </a:r>
            <a:r>
              <a:rPr lang="zh-CN" dirty="0">
                <a:solidFill>
                  <a:srgbClr val="FF0000"/>
                </a:solidFill>
              </a:rPr>
              <a:t>O_EXCL </a:t>
            </a:r>
            <a:r>
              <a:rPr lang="zh-CN" dirty="0">
                <a:solidFill>
                  <a:srgbClr val="000000"/>
                </a:solidFill>
              </a:rPr>
              <a:t>)</a:t>
            </a:r>
          </a:p>
          <a:p>
            <a:pPr marL="0" lvl="0" indent="0">
              <a:spcBef>
                <a:spcPts val="0"/>
              </a:spcBef>
              <a:buNone/>
            </a:pPr>
            <a:endParaRPr dirty="0"/>
          </a:p>
          <a:p>
            <a:pPr marL="0" lvl="0" indent="0">
              <a:spcBef>
                <a:spcPts val="0"/>
              </a:spcBef>
              <a:buNone/>
            </a:pPr>
            <a:endParaRPr dirty="0"/>
          </a:p>
        </p:txBody>
      </p:sp>
      <p:sp>
        <p:nvSpPr>
          <p:cNvPr id="218" name="Shape 218"/>
          <p:cNvSpPr txBox="1"/>
          <p:nvPr/>
        </p:nvSpPr>
        <p:spPr>
          <a:xfrm>
            <a:off x="311700" y="2280200"/>
            <a:ext cx="3956400" cy="2731200"/>
          </a:xfrm>
          <a:prstGeom prst="rect">
            <a:avLst/>
          </a:prstGeom>
          <a:noFill/>
          <a:ln>
            <a:noFill/>
          </a:ln>
        </p:spPr>
        <p:txBody>
          <a:bodyPr wrap="square" lIns="91425" tIns="91425" rIns="91425" bIns="91425" anchor="t" anchorCtr="0">
            <a:noAutofit/>
          </a:bodyPr>
          <a:lstStyle/>
          <a:p>
            <a:pPr marL="457200" lvl="0" indent="-342900" rtl="0">
              <a:spcBef>
                <a:spcPts val="0"/>
              </a:spcBef>
              <a:buSzPts val="1800"/>
              <a:buChar char="●"/>
            </a:pPr>
            <a:r>
              <a:rPr lang="zh-CN" sz="1800" dirty="0"/>
              <a:t>如果指定文件已存在，则这两个选项同时使用也无法打开该文件。</a:t>
            </a:r>
          </a:p>
          <a:p>
            <a:pPr marL="0" lvl="0" indent="0" rtl="0">
              <a:spcBef>
                <a:spcPts val="0"/>
              </a:spcBef>
              <a:buNone/>
            </a:pPr>
            <a:endParaRPr sz="1800" dirty="0"/>
          </a:p>
          <a:p>
            <a:pPr marL="457200" lvl="0" indent="-342900">
              <a:spcBef>
                <a:spcPts val="0"/>
              </a:spcBef>
              <a:buSzPts val="1800"/>
              <a:buChar char="●"/>
            </a:pPr>
            <a:r>
              <a:rPr lang="zh-CN" sz="1800" dirty="0"/>
              <a:t>保证检查和使用的原子性。</a:t>
            </a:r>
          </a:p>
          <a:p>
            <a:pPr marL="0" lvl="0" indent="0">
              <a:spcBef>
                <a:spcPts val="0"/>
              </a:spcBef>
              <a:buNone/>
            </a:pPr>
            <a:endParaRPr dirty="0"/>
          </a:p>
        </p:txBody>
      </p:sp>
      <p:sp>
        <p:nvSpPr>
          <p:cNvPr id="220" name="Shape 220"/>
          <p:cNvSpPr txBox="1"/>
          <p:nvPr/>
        </p:nvSpPr>
        <p:spPr>
          <a:xfrm>
            <a:off x="5005974" y="1565600"/>
            <a:ext cx="4058895" cy="714600"/>
          </a:xfrm>
          <a:prstGeom prst="rect">
            <a:avLst/>
          </a:prstGeom>
          <a:noFill/>
          <a:ln>
            <a:noFill/>
          </a:ln>
        </p:spPr>
        <p:txBody>
          <a:bodyPr wrap="square" lIns="91425" tIns="91425" rIns="91425" bIns="91425" anchor="t" anchorCtr="0">
            <a:noAutofit/>
          </a:bodyPr>
          <a:lstStyle/>
          <a:p>
            <a:pPr marL="1319213" lvl="0" indent="-1319213">
              <a:spcBef>
                <a:spcPts val="0"/>
              </a:spcBef>
              <a:buNone/>
            </a:pPr>
            <a:r>
              <a:rPr lang="zh-CN" sz="1800" dirty="0"/>
              <a:t>f = open(file , O_WRITE | </a:t>
            </a:r>
            <a:r>
              <a:rPr lang="zh-CN" sz="1800" b="1" dirty="0">
                <a:solidFill>
                  <a:srgbClr val="FF0000"/>
                </a:solidFill>
              </a:rPr>
              <a:t>O_REAL_USER_ID</a:t>
            </a:r>
          </a:p>
        </p:txBody>
      </p:sp>
      <p:sp>
        <p:nvSpPr>
          <p:cNvPr id="221" name="Shape 221"/>
          <p:cNvSpPr txBox="1"/>
          <p:nvPr/>
        </p:nvSpPr>
        <p:spPr>
          <a:xfrm>
            <a:off x="4722325" y="2280200"/>
            <a:ext cx="4110000" cy="2527200"/>
          </a:xfrm>
          <a:prstGeom prst="rect">
            <a:avLst/>
          </a:prstGeom>
          <a:noFill/>
          <a:ln>
            <a:noFill/>
          </a:ln>
        </p:spPr>
        <p:txBody>
          <a:bodyPr wrap="square" lIns="91425" tIns="91425" rIns="91425" bIns="91425" anchor="t" anchorCtr="0">
            <a:noAutofit/>
          </a:bodyPr>
          <a:lstStyle/>
          <a:p>
            <a:pPr marL="457200" lvl="0" indent="-342900">
              <a:spcBef>
                <a:spcPts val="0"/>
              </a:spcBef>
              <a:spcAft>
                <a:spcPts val="1200"/>
              </a:spcAft>
              <a:buSzPts val="1800"/>
              <a:buChar char="●"/>
            </a:pPr>
            <a:r>
              <a:rPr lang="zh-CN" sz="1800" dirty="0"/>
              <a:t>这只是一个想法，尚未在实际系统中实现。</a:t>
            </a:r>
          </a:p>
          <a:p>
            <a:pPr marL="457200" lvl="0" indent="-342900">
              <a:spcBef>
                <a:spcPts val="0"/>
              </a:spcBef>
              <a:spcAft>
                <a:spcPts val="1200"/>
              </a:spcAft>
              <a:buSzPts val="1800"/>
              <a:buChar char="●"/>
            </a:pPr>
            <a:r>
              <a:rPr lang="zh-CN" sz="1800" dirty="0"/>
              <a:t>启用此选项后，open() 函数将仅检查真实的 User ID。</a:t>
            </a:r>
          </a:p>
          <a:p>
            <a:pPr marL="457200" lvl="0" indent="-342900">
              <a:spcBef>
                <a:spcPts val="0"/>
              </a:spcBef>
              <a:spcAft>
                <a:spcPts val="1200"/>
              </a:spcAft>
              <a:buSzPts val="1800"/>
              <a:buChar char="●"/>
            </a:pPr>
            <a:r>
              <a:rPr lang="zh-CN" sz="1800" dirty="0"/>
              <a:t>因此，open () 可以自行完成检查和使用，并且这些操作是原子性的。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Shape 226"/>
          <p:cNvSpPr txBox="1">
            <a:spLocks noGrp="1"/>
          </p:cNvSpPr>
          <p:nvPr>
            <p:ph type="title"/>
          </p:nvPr>
        </p:nvSpPr>
        <p:spPr>
          <a:xfrm>
            <a:off x="311700" y="202524"/>
            <a:ext cx="8520600" cy="572700"/>
          </a:xfrm>
          <a:prstGeom prst="rect">
            <a:avLst/>
          </a:prstGeom>
        </p:spPr>
        <p:txBody>
          <a:bodyPr wrap="square" lIns="91425" tIns="91425" rIns="91425" bIns="91425" anchor="t" anchorCtr="0">
            <a:noAutofit/>
          </a:bodyPr>
          <a:lstStyle/>
          <a:p>
            <a:pPr marL="0" lvl="0" indent="-69850" rtl="0">
              <a:lnSpc>
                <a:spcPct val="115000"/>
              </a:lnSpc>
              <a:spcBef>
                <a:spcPts val="0"/>
              </a:spcBef>
              <a:spcAft>
                <a:spcPts val="1600"/>
              </a:spcAft>
              <a:buClr>
                <a:schemeClr val="dk1"/>
              </a:buClr>
              <a:buSzPts val="1100"/>
              <a:buFont typeface="Arial"/>
              <a:buNone/>
            </a:pPr>
            <a:r>
              <a:rPr lang="zh-CN" altLang="en-US" dirty="0"/>
              <a:t>反复执行</a:t>
            </a:r>
            <a:r>
              <a:rPr lang="en-US" altLang="zh-CN" dirty="0"/>
              <a:t>access()</a:t>
            </a:r>
            <a:r>
              <a:rPr lang="zh-CN" dirty="0"/>
              <a:t>和</a:t>
            </a:r>
            <a:r>
              <a:rPr lang="en-US" altLang="zh-CN" dirty="0"/>
              <a:t>open()</a:t>
            </a:r>
            <a:r>
              <a:rPr lang="zh-CN" altLang="en-US" dirty="0"/>
              <a:t>函数</a:t>
            </a:r>
            <a:endParaRPr lang="zh-CN" dirty="0"/>
          </a:p>
        </p:txBody>
      </p:sp>
      <p:pic>
        <p:nvPicPr>
          <p:cNvPr id="227" name="Shape 227"/>
          <p:cNvPicPr preferRelativeResize="0"/>
          <p:nvPr/>
        </p:nvPicPr>
        <p:blipFill>
          <a:blip r:embed="rId3">
            <a:alphaModFix/>
          </a:blip>
          <a:stretch>
            <a:fillRect/>
          </a:stretch>
        </p:blipFill>
        <p:spPr>
          <a:xfrm>
            <a:off x="355924" y="1097675"/>
            <a:ext cx="3880726" cy="2133600"/>
          </a:xfrm>
          <a:prstGeom prst="rect">
            <a:avLst/>
          </a:prstGeom>
          <a:noFill/>
          <a:ln>
            <a:noFill/>
          </a:ln>
        </p:spPr>
      </p:pic>
      <p:pic>
        <p:nvPicPr>
          <p:cNvPr id="228" name="Shape 228"/>
          <p:cNvPicPr preferRelativeResize="0"/>
          <p:nvPr/>
        </p:nvPicPr>
        <p:blipFill>
          <a:blip r:embed="rId4">
            <a:alphaModFix/>
          </a:blip>
          <a:stretch>
            <a:fillRect/>
          </a:stretch>
        </p:blipFill>
        <p:spPr>
          <a:xfrm>
            <a:off x="4337925" y="1093549"/>
            <a:ext cx="4806075" cy="3971595"/>
          </a:xfrm>
          <a:prstGeom prst="rect">
            <a:avLst/>
          </a:prstGeom>
          <a:noFill/>
          <a:ln>
            <a:noFill/>
          </a:ln>
        </p:spPr>
      </p:pic>
      <p:sp>
        <p:nvSpPr>
          <p:cNvPr id="229" name="Shape 229"/>
          <p:cNvSpPr txBox="1"/>
          <p:nvPr/>
        </p:nvSpPr>
        <p:spPr>
          <a:xfrm>
            <a:off x="178674" y="3365174"/>
            <a:ext cx="4057975" cy="1778325"/>
          </a:xfrm>
          <a:prstGeom prst="rect">
            <a:avLst/>
          </a:prstGeom>
          <a:noFill/>
          <a:ln>
            <a:noFill/>
          </a:ln>
        </p:spPr>
        <p:txBody>
          <a:bodyPr wrap="square" lIns="91425" tIns="91425" rIns="91425" bIns="91425" anchor="t" anchorCtr="0">
            <a:noAutofit/>
          </a:bodyPr>
          <a:lstStyle/>
          <a:p>
            <a:pPr marL="457200" lvl="0" indent="-317500">
              <a:spcBef>
                <a:spcPts val="0"/>
              </a:spcBef>
              <a:spcAft>
                <a:spcPts val="0"/>
              </a:spcAft>
              <a:buSzPts val="1400"/>
              <a:buChar char="●"/>
            </a:pPr>
            <a:r>
              <a:rPr lang="zh-CN" dirty="0"/>
              <a:t>检查和使用已完成三次 次数。</a:t>
            </a:r>
            <a:endParaRPr lang="en-GB" dirty="0"/>
          </a:p>
          <a:p>
            <a:pPr marL="457200" lvl="0" indent="-317500">
              <a:spcBef>
                <a:spcPts val="0"/>
              </a:spcBef>
              <a:spcAft>
                <a:spcPts val="0"/>
              </a:spcAft>
              <a:buSzPts val="1400"/>
              <a:buChar char="●"/>
            </a:pPr>
            <a:r>
              <a:rPr lang="zh-CN" dirty="0"/>
              <a:t>检查</a:t>
            </a:r>
            <a:r>
              <a:rPr lang="zh-CN" dirty="0" err="1"/>
              <a:t>inode是否</a:t>
            </a:r>
            <a:r>
              <a:rPr lang="zh-CN" dirty="0"/>
              <a:t>相同。</a:t>
            </a:r>
          </a:p>
          <a:p>
            <a:pPr marL="457200" lvl="0" indent="-317500">
              <a:spcBef>
                <a:spcPts val="0"/>
              </a:spcBef>
              <a:spcAft>
                <a:spcPts val="0"/>
              </a:spcAft>
              <a:buSzPts val="1400"/>
              <a:buChar char="●"/>
            </a:pPr>
            <a:r>
              <a:rPr lang="zh-CN" dirty="0"/>
              <a:t>要成功发起攻击，“/ </a:t>
            </a:r>
            <a:r>
              <a:rPr lang="zh-CN" dirty="0" err="1"/>
              <a:t>tmp </a:t>
            </a:r>
            <a:r>
              <a:rPr lang="zh-CN" dirty="0"/>
              <a:t>/XYZ”需要更改5次。</a:t>
            </a:r>
          </a:p>
          <a:p>
            <a:pPr marL="457200" lvl="0" indent="-317500">
              <a:spcBef>
                <a:spcPts val="0"/>
              </a:spcBef>
              <a:buSzPts val="1400"/>
              <a:buChar char="●"/>
            </a:pPr>
            <a:r>
              <a:rPr lang="zh-CN" dirty="0"/>
              <a:t>赢得比赛 5 次的概率远低于只有一个竞态条件的代码。</a:t>
            </a:r>
          </a:p>
        </p:txBody>
      </p:sp>
      <p:sp>
        <p:nvSpPr>
          <p:cNvPr id="230" name="Shape 230"/>
          <p:cNvSpPr/>
          <p:nvPr/>
        </p:nvSpPr>
        <p:spPr>
          <a:xfrm>
            <a:off x="3786351" y="2720066"/>
            <a:ext cx="255300" cy="255300"/>
          </a:xfrm>
          <a:prstGeom prst="ellipse">
            <a:avLst/>
          </a:prstGeom>
          <a:solidFill>
            <a:schemeClr val="lt2"/>
          </a:solidFill>
          <a:ln w="9525" cap="flat" cmpd="sng">
            <a:solidFill>
              <a:srgbClr val="FF0000"/>
            </a:solidFill>
            <a:prstDash val="solid"/>
            <a:round/>
            <a:headEnd type="none" w="med" len="med"/>
            <a:tailEnd type="none" w="med" len="med"/>
          </a:ln>
        </p:spPr>
        <p:txBody>
          <a:bodyPr wrap="square" lIns="91425" tIns="91425" rIns="91425" bIns="91425" anchor="ctr" anchorCtr="0">
            <a:noAutofit/>
          </a:bodyPr>
          <a:lstStyle/>
          <a:p>
            <a:pPr marL="0" lvl="0" indent="0">
              <a:spcBef>
                <a:spcPts val="0"/>
              </a:spcBef>
              <a:buNone/>
            </a:pPr>
            <a:r>
              <a:rPr lang="zh-CN"/>
              <a:t>1</a:t>
            </a:r>
          </a:p>
        </p:txBody>
      </p:sp>
      <p:sp>
        <p:nvSpPr>
          <p:cNvPr id="231" name="Shape 231"/>
          <p:cNvSpPr/>
          <p:nvPr/>
        </p:nvSpPr>
        <p:spPr>
          <a:xfrm>
            <a:off x="7626785" y="1544567"/>
            <a:ext cx="255300" cy="255300"/>
          </a:xfrm>
          <a:prstGeom prst="ellipse">
            <a:avLst/>
          </a:prstGeom>
          <a:solidFill>
            <a:schemeClr val="lt2"/>
          </a:solidFill>
          <a:ln w="9525" cap="flat" cmpd="sng">
            <a:solidFill>
              <a:srgbClr val="FF0000"/>
            </a:solidFill>
            <a:prstDash val="solid"/>
            <a:round/>
            <a:headEnd type="none" w="med" len="med"/>
            <a:tailEnd type="none" w="med" len="med"/>
          </a:ln>
        </p:spPr>
        <p:txBody>
          <a:bodyPr wrap="square" lIns="91425" tIns="91425" rIns="91425" bIns="91425" anchor="ctr" anchorCtr="0">
            <a:noAutofit/>
          </a:bodyPr>
          <a:lstStyle/>
          <a:p>
            <a:pPr marL="0" lvl="0" indent="0" rtl="0">
              <a:spcBef>
                <a:spcPts val="0"/>
              </a:spcBef>
              <a:buNone/>
            </a:pPr>
            <a:r>
              <a:rPr lang="zh-CN"/>
              <a:t>2</a:t>
            </a:r>
          </a:p>
        </p:txBody>
      </p:sp>
      <p:sp>
        <p:nvSpPr>
          <p:cNvPr id="232" name="Shape 232"/>
          <p:cNvSpPr/>
          <p:nvPr/>
        </p:nvSpPr>
        <p:spPr>
          <a:xfrm>
            <a:off x="7754435" y="2506184"/>
            <a:ext cx="255300" cy="255300"/>
          </a:xfrm>
          <a:prstGeom prst="ellipse">
            <a:avLst/>
          </a:prstGeom>
          <a:solidFill>
            <a:schemeClr val="lt2"/>
          </a:solidFill>
          <a:ln w="9525" cap="flat" cmpd="sng">
            <a:solidFill>
              <a:srgbClr val="FF0000"/>
            </a:solidFill>
            <a:prstDash val="solid"/>
            <a:round/>
            <a:headEnd type="none" w="med" len="med"/>
            <a:tailEnd type="none" w="med" len="med"/>
          </a:ln>
        </p:spPr>
        <p:txBody>
          <a:bodyPr wrap="square" lIns="91425" tIns="91425" rIns="91425" bIns="91425" anchor="ctr" anchorCtr="0">
            <a:noAutofit/>
          </a:bodyPr>
          <a:lstStyle/>
          <a:p>
            <a:pPr marL="0" lvl="0" indent="0" rtl="0">
              <a:spcBef>
                <a:spcPts val="0"/>
              </a:spcBef>
              <a:buNone/>
            </a:pPr>
            <a:r>
              <a:rPr lang="zh-CN" dirty="0"/>
              <a:t>3</a:t>
            </a:r>
          </a:p>
        </p:txBody>
      </p:sp>
      <p:cxnSp>
        <p:nvCxnSpPr>
          <p:cNvPr id="233" name="Shape 233"/>
          <p:cNvCxnSpPr/>
          <p:nvPr/>
        </p:nvCxnSpPr>
        <p:spPr>
          <a:xfrm>
            <a:off x="3114175" y="3773600"/>
            <a:ext cx="1148700" cy="0"/>
          </a:xfrm>
          <a:prstGeom prst="straightConnector1">
            <a:avLst/>
          </a:prstGeom>
          <a:noFill/>
          <a:ln w="9525" cap="flat" cmpd="sng">
            <a:solidFill>
              <a:srgbClr val="FF0000"/>
            </a:solidFill>
            <a:prstDash val="solid"/>
            <a:round/>
            <a:headEnd type="none" w="lg" len="lg"/>
            <a:tailEnd type="triangle" w="lg" len="lg"/>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Shape 238"/>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0">
              <a:spcBef>
                <a:spcPts val="0"/>
              </a:spcBef>
              <a:buNone/>
            </a:pPr>
            <a:r>
              <a:rPr lang="zh-CN" dirty="0"/>
              <a:t>粘性符号链接保护</a:t>
            </a:r>
          </a:p>
        </p:txBody>
      </p:sp>
      <p:sp>
        <p:nvSpPr>
          <p:cNvPr id="241" name="Shape 241"/>
          <p:cNvSpPr txBox="1"/>
          <p:nvPr/>
        </p:nvSpPr>
        <p:spPr>
          <a:xfrm>
            <a:off x="229725" y="1144425"/>
            <a:ext cx="8602500" cy="572700"/>
          </a:xfrm>
          <a:prstGeom prst="rect">
            <a:avLst/>
          </a:prstGeom>
          <a:noFill/>
          <a:ln>
            <a:noFill/>
          </a:ln>
        </p:spPr>
        <p:txBody>
          <a:bodyPr wrap="square" lIns="91425" tIns="91425" rIns="91425" bIns="91425" anchor="t" anchorCtr="0">
            <a:noAutofit/>
          </a:bodyPr>
          <a:lstStyle/>
          <a:p>
            <a:pPr marL="0" lvl="0" indent="0">
              <a:spcBef>
                <a:spcPts val="0"/>
              </a:spcBef>
              <a:buNone/>
            </a:pPr>
            <a:r>
              <a:rPr lang="zh-CN" sz="1800" dirty="0"/>
              <a:t>为全局可写</a:t>
            </a:r>
            <a:r>
              <a:rPr lang="zh-CN" altLang="en-US" sz="1800" dirty="0"/>
              <a:t>的</a:t>
            </a:r>
            <a:r>
              <a:rPr lang="zh-CN" sz="1800" dirty="0"/>
              <a:t>粘性目录启用粘性符号链接保护：</a:t>
            </a:r>
          </a:p>
        </p:txBody>
      </p:sp>
      <p:sp>
        <p:nvSpPr>
          <p:cNvPr id="242" name="Shape 242"/>
          <p:cNvSpPr txBox="1"/>
          <p:nvPr/>
        </p:nvSpPr>
        <p:spPr>
          <a:xfrm>
            <a:off x="311700" y="2991791"/>
            <a:ext cx="7830265" cy="1147042"/>
          </a:xfrm>
          <a:prstGeom prst="rect">
            <a:avLst/>
          </a:prstGeom>
          <a:noFill/>
          <a:ln>
            <a:noFill/>
          </a:ln>
        </p:spPr>
        <p:txBody>
          <a:bodyPr wrap="square" lIns="91425" tIns="91425" rIns="91425" bIns="91425" anchor="t" anchorCtr="0">
            <a:noAutofit/>
          </a:bodyPr>
          <a:lstStyle/>
          <a:p>
            <a:pPr marL="457200" lvl="0" indent="-342900">
              <a:spcBef>
                <a:spcPts val="0"/>
              </a:spcBef>
              <a:buSzPts val="1800"/>
              <a:buChar char="●"/>
            </a:pPr>
            <a:r>
              <a:rPr lang="zh-CN" sz="1800" dirty="0"/>
              <a:t>粘性</a:t>
            </a:r>
            <a:r>
              <a:rPr lang="zh-CN" sz="1800" dirty="0" err="1"/>
              <a:t>符号链接保护后，只有当符号链接</a:t>
            </a:r>
            <a:r>
              <a:rPr lang="zh-CN" sz="1800" dirty="0"/>
              <a:t>的所有者与</a:t>
            </a:r>
            <a:r>
              <a:rPr lang="zh-CN" sz="1800" dirty="0">
                <a:solidFill>
                  <a:srgbClr val="FF0000"/>
                </a:solidFill>
              </a:rPr>
              <a:t>跟随者</a:t>
            </a:r>
            <a:r>
              <a:rPr lang="zh-CN" sz="1800" dirty="0"/>
              <a:t>或目录所有者匹配时，才能跟踪粘性全局可写目录中的符号链接。</a:t>
            </a:r>
          </a:p>
          <a:p>
            <a:pPr marL="0" lvl="0" indent="0">
              <a:spcBef>
                <a:spcPts val="0"/>
              </a:spcBef>
              <a:buNone/>
            </a:pPr>
            <a:endParaRPr sz="1800" dirty="0"/>
          </a:p>
        </p:txBody>
      </p:sp>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665" y="1717125"/>
            <a:ext cx="6979410" cy="116323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dirty="0"/>
              <a:t>尝试使用</a:t>
            </a:r>
            <a:r>
              <a:rPr lang="zh-CN" dirty="0" err="1"/>
              <a:t>符号链接</a:t>
            </a:r>
            <a:r>
              <a:rPr lang="zh-CN" dirty="0"/>
              <a:t>保护</a:t>
            </a:r>
            <a:endParaRPr lang="en-US" dirty="0"/>
          </a:p>
        </p:txBody>
      </p:sp>
      <p:sp>
        <p:nvSpPr>
          <p:cNvPr id="3" name="Text Placeholder 2"/>
          <p:cNvSpPr>
            <a:spLocks noGrp="1"/>
          </p:cNvSpPr>
          <p:nvPr>
            <p:ph type="body" idx="1"/>
          </p:nvPr>
        </p:nvSpPr>
        <p:spPr>
          <a:xfrm>
            <a:off x="4897316" y="1758462"/>
            <a:ext cx="3666392" cy="1579490"/>
          </a:xfrm>
        </p:spPr>
        <p:txBody>
          <a:bodyPr/>
          <a:lstStyle/>
          <a:p>
            <a:pPr marL="285750" lvl="0" indent="-285750">
              <a:buBlip>
                <a:blip r:embed="rId2"/>
              </a:buBlip>
            </a:pPr>
            <a:r>
              <a:rPr lang="zh-CN" dirty="0"/>
              <a:t> 利用代码和用户 ID（</a:t>
            </a:r>
            <a:r>
              <a:rPr lang="en-US" altLang="zh-CN" dirty="0"/>
              <a:t>seed</a:t>
            </a:r>
            <a:r>
              <a:rPr lang="zh-CN" dirty="0"/>
              <a:t>和</a:t>
            </a:r>
            <a:r>
              <a:rPr lang="en-US" altLang="zh-CN" dirty="0"/>
              <a:t>root</a:t>
            </a:r>
            <a:r>
              <a:rPr lang="zh-CN" dirty="0"/>
              <a:t>），进行了实验以了解保护机制。</a:t>
            </a:r>
          </a:p>
          <a:p>
            <a:endParaRPr lang="en-US" dirty="0"/>
          </a:p>
        </p:txBody>
      </p:sp>
      <p:pic>
        <p:nvPicPr>
          <p:cNvPr id="5" name="Shape 239"/>
          <p:cNvPicPr preferRelativeResize="0"/>
          <p:nvPr/>
        </p:nvPicPr>
        <p:blipFill>
          <a:blip r:embed="rId3">
            <a:alphaModFix/>
          </a:blip>
          <a:stretch>
            <a:fillRect/>
          </a:stretch>
        </p:blipFill>
        <p:spPr>
          <a:xfrm>
            <a:off x="311701" y="1160980"/>
            <a:ext cx="4427354" cy="3093195"/>
          </a:xfrm>
          <a:prstGeom prst="rect">
            <a:avLst/>
          </a:prstGeom>
          <a:noFill/>
          <a:ln>
            <a:noFill/>
          </a:ln>
        </p:spPr>
      </p:pic>
    </p:spTree>
    <p:extLst>
      <p:ext uri="{BB962C8B-B14F-4D97-AF65-F5344CB8AC3E}">
        <p14:creationId xmlns:p14="http://schemas.microsoft.com/office/powerpoint/2010/main" val="28407837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Shape 247"/>
          <p:cNvSpPr txBox="1">
            <a:spLocks noGrp="1"/>
          </p:cNvSpPr>
          <p:nvPr>
            <p:ph type="title"/>
          </p:nvPr>
        </p:nvSpPr>
        <p:spPr>
          <a:xfrm>
            <a:off x="311700" y="286946"/>
            <a:ext cx="8520600" cy="572700"/>
          </a:xfrm>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a:buNone/>
            </a:pPr>
            <a:r>
              <a:rPr lang="zh-CN" dirty="0"/>
              <a:t>粘性符号链接保护</a:t>
            </a:r>
          </a:p>
        </p:txBody>
      </p:sp>
      <p:pic>
        <p:nvPicPr>
          <p:cNvPr id="248" name="Shape 248"/>
          <p:cNvPicPr preferRelativeResize="0"/>
          <p:nvPr/>
        </p:nvPicPr>
        <p:blipFill>
          <a:blip r:embed="rId3">
            <a:alphaModFix/>
          </a:blip>
          <a:stretch>
            <a:fillRect/>
          </a:stretch>
        </p:blipFill>
        <p:spPr>
          <a:xfrm>
            <a:off x="417850" y="1252336"/>
            <a:ext cx="5697900" cy="2257364"/>
          </a:xfrm>
          <a:prstGeom prst="rect">
            <a:avLst/>
          </a:prstGeom>
          <a:noFill/>
          <a:ln>
            <a:noFill/>
          </a:ln>
        </p:spPr>
      </p:pic>
      <p:sp>
        <p:nvSpPr>
          <p:cNvPr id="249" name="Shape 249"/>
          <p:cNvSpPr txBox="1"/>
          <p:nvPr/>
        </p:nvSpPr>
        <p:spPr>
          <a:xfrm>
            <a:off x="6115824" y="1059235"/>
            <a:ext cx="2833500" cy="2169600"/>
          </a:xfrm>
          <a:prstGeom prst="rect">
            <a:avLst/>
          </a:prstGeom>
          <a:noFill/>
          <a:ln>
            <a:noFill/>
          </a:ln>
        </p:spPr>
        <p:txBody>
          <a:bodyPr wrap="square" lIns="91425" tIns="91425" rIns="91425" bIns="91425" anchor="t" anchorCtr="0">
            <a:noAutofit/>
          </a:bodyPr>
          <a:lstStyle/>
          <a:p>
            <a:pPr marL="457200" lvl="0" indent="-342900">
              <a:spcBef>
                <a:spcPts val="0"/>
              </a:spcBef>
              <a:buSzPts val="1800"/>
              <a:buChar char="●"/>
            </a:pPr>
            <a:r>
              <a:rPr lang="zh-CN" sz="1800" dirty="0" err="1"/>
              <a:t>符号链接</a:t>
            </a:r>
            <a:r>
              <a:rPr lang="zh-CN" sz="1800" dirty="0"/>
              <a:t>保护允许当</a:t>
            </a:r>
            <a:r>
              <a:rPr lang="zh-CN" sz="1800" dirty="0" err="1"/>
              <a:t>符号链接</a:t>
            </a:r>
            <a:r>
              <a:rPr lang="zh-CN" sz="1800" dirty="0"/>
              <a:t>的所有者与跟随者（进程的 EID）或目录所有者匹配时使用</a:t>
            </a:r>
            <a:r>
              <a:rPr lang="zh-CN" sz="1800" dirty="0" err="1"/>
              <a:t>fopen ()。</a:t>
            </a:r>
          </a:p>
          <a:p>
            <a:pPr marL="0" lvl="0" indent="0">
              <a:spcBef>
                <a:spcPts val="0"/>
              </a:spcBef>
              <a:buNone/>
            </a:pPr>
            <a:endParaRPr sz="1800" dirty="0"/>
          </a:p>
          <a:p>
            <a:pPr marL="0" lvl="0" indent="0">
              <a:spcBef>
                <a:spcPts val="0"/>
              </a:spcBef>
              <a:buNone/>
            </a:pPr>
            <a:endParaRPr sz="1800" dirty="0"/>
          </a:p>
        </p:txBody>
      </p:sp>
      <p:sp>
        <p:nvSpPr>
          <p:cNvPr id="250" name="Shape 250"/>
          <p:cNvSpPr txBox="1"/>
          <p:nvPr/>
        </p:nvSpPr>
        <p:spPr>
          <a:xfrm>
            <a:off x="311700" y="3509700"/>
            <a:ext cx="5697900" cy="1633800"/>
          </a:xfrm>
          <a:prstGeom prst="rect">
            <a:avLst/>
          </a:prstGeom>
          <a:noFill/>
          <a:ln>
            <a:noFill/>
          </a:ln>
        </p:spPr>
        <p:txBody>
          <a:bodyPr wrap="square" lIns="91425" tIns="91425" rIns="91425" bIns="91425" anchor="t" anchorCtr="0">
            <a:noAutofit/>
          </a:bodyPr>
          <a:lstStyle/>
          <a:p>
            <a:pPr marL="457200" lvl="0" indent="-342900" rtl="0">
              <a:spcBef>
                <a:spcPts val="0"/>
              </a:spcBef>
              <a:buClr>
                <a:schemeClr val="dk1"/>
              </a:buClr>
              <a:buSzPts val="1800"/>
              <a:buChar char="●"/>
            </a:pPr>
            <a:r>
              <a:rPr lang="zh-CN" sz="1800" dirty="0">
                <a:solidFill>
                  <a:schemeClr val="dk1"/>
                </a:solidFill>
              </a:rPr>
              <a:t>在我们存在漏洞的程序（EID 为 root）中，/ </a:t>
            </a:r>
            <a:r>
              <a:rPr lang="zh-CN" sz="1800" dirty="0" err="1">
                <a:solidFill>
                  <a:schemeClr val="dk1"/>
                </a:solidFill>
              </a:rPr>
              <a:t>tmp</a:t>
            </a:r>
            <a:r>
              <a:rPr lang="zh-CN" sz="1800" dirty="0">
                <a:solidFill>
                  <a:schemeClr val="dk1"/>
                </a:solidFill>
              </a:rPr>
              <a:t>目录也属于 root 所有，除非链接是由 root 创建的，否则程序将不允许跟踪符号链接。</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Shape 255"/>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0">
              <a:spcBef>
                <a:spcPts val="0"/>
              </a:spcBef>
              <a:buNone/>
            </a:pPr>
            <a:r>
              <a:rPr lang="zh-CN"/>
              <a:t>最小特权原则</a:t>
            </a:r>
          </a:p>
        </p:txBody>
      </p:sp>
      <p:sp>
        <p:nvSpPr>
          <p:cNvPr id="256" name="Shape 256"/>
          <p:cNvSpPr txBox="1">
            <a:spLocks noGrp="1"/>
          </p:cNvSpPr>
          <p:nvPr>
            <p:ph type="body" idx="1"/>
          </p:nvPr>
        </p:nvSpPr>
        <p:spPr>
          <a:xfrm>
            <a:off x="461169" y="1372282"/>
            <a:ext cx="7742054" cy="3270056"/>
          </a:xfrm>
          <a:prstGeom prst="rect">
            <a:avLst/>
          </a:prstGeom>
        </p:spPr>
        <p:txBody>
          <a:bodyPr wrap="square" lIns="91425" tIns="91425" rIns="91425" bIns="91425" anchor="t" anchorCtr="0">
            <a:noAutofit/>
          </a:bodyPr>
          <a:lstStyle/>
          <a:p>
            <a:pPr marL="0" lvl="0" indent="0">
              <a:spcBef>
                <a:spcPts val="0"/>
              </a:spcBef>
              <a:buNone/>
            </a:pPr>
            <a:r>
              <a:rPr lang="zh-CN" b="1" dirty="0">
                <a:solidFill>
                  <a:srgbClr val="000000"/>
                </a:solidFill>
              </a:rPr>
              <a:t>最小特权原则：</a:t>
            </a:r>
          </a:p>
          <a:p>
            <a:pPr marL="747713" lvl="0">
              <a:spcBef>
                <a:spcPts val="0"/>
              </a:spcBef>
              <a:buNone/>
            </a:pPr>
            <a:r>
              <a:rPr lang="zh-CN" b="1" dirty="0">
                <a:solidFill>
                  <a:srgbClr val="FF0000"/>
                </a:solidFill>
              </a:rPr>
              <a:t>程序不应使用超出任务所需权限的权限。</a:t>
            </a:r>
          </a:p>
          <a:p>
            <a:pPr marL="285750" indent="-285750"/>
            <a:r>
              <a:rPr lang="zh-CN" dirty="0">
                <a:solidFill>
                  <a:srgbClr val="000000"/>
                </a:solidFill>
              </a:rPr>
              <a:t>我们的程序存在漏洞，在打开文件时拥有超出所需的权限。</a:t>
            </a:r>
          </a:p>
          <a:p>
            <a:pPr marL="285750" indent="-285750"/>
            <a:r>
              <a:rPr lang="zh-CN" dirty="0">
                <a:solidFill>
                  <a:srgbClr val="000000"/>
                </a:solidFill>
              </a:rPr>
              <a:t>seteuid () 和setuid ()可用于丢弃或暂时禁用权限。</a:t>
            </a:r>
          </a:p>
          <a:p>
            <a:pPr lvl="0">
              <a:spcBef>
                <a:spcPts val="0"/>
              </a:spcBef>
              <a:buNone/>
            </a:pPr>
            <a:endParaRPr lang="en-GB" dirty="0">
              <a:solidFill>
                <a:srgbClr val="00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Shape 261"/>
          <p:cNvSpPr txBox="1">
            <a:spLocks noGrp="1"/>
          </p:cNvSpPr>
          <p:nvPr>
            <p:ph type="title"/>
          </p:nvPr>
        </p:nvSpPr>
        <p:spPr>
          <a:xfrm>
            <a:off x="311700" y="445025"/>
            <a:ext cx="8520600" cy="572700"/>
          </a:xfrm>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a:buNone/>
            </a:pPr>
            <a:r>
              <a:rPr lang="zh-CN"/>
              <a:t>最小特权原则</a:t>
            </a:r>
          </a:p>
        </p:txBody>
      </p:sp>
      <p:sp>
        <p:nvSpPr>
          <p:cNvPr id="262" name="Shape 262"/>
          <p:cNvSpPr txBox="1">
            <a:spLocks noGrp="1"/>
          </p:cNvSpPr>
          <p:nvPr>
            <p:ph type="body" idx="1"/>
          </p:nvPr>
        </p:nvSpPr>
        <p:spPr>
          <a:xfrm>
            <a:off x="6233700" y="1418276"/>
            <a:ext cx="2910300" cy="1297800"/>
          </a:xfrm>
          <a:prstGeom prst="rect">
            <a:avLst/>
          </a:prstGeom>
        </p:spPr>
        <p:txBody>
          <a:bodyPr wrap="square" lIns="91425" tIns="91425" rIns="91425" bIns="91425" anchor="t" anchorCtr="0">
            <a:noAutofit/>
          </a:bodyPr>
          <a:lstStyle/>
          <a:p>
            <a:pPr marL="0" lvl="0" indent="0" rtl="0">
              <a:lnSpc>
                <a:spcPct val="100000"/>
              </a:lnSpc>
              <a:spcBef>
                <a:spcPts val="0"/>
              </a:spcBef>
              <a:spcAft>
                <a:spcPts val="0"/>
              </a:spcAft>
              <a:buNone/>
            </a:pPr>
            <a:r>
              <a:rPr lang="zh-CN" dirty="0">
                <a:solidFill>
                  <a:srgbClr val="000000"/>
                </a:solidFill>
              </a:rPr>
              <a:t>在打开文件之前，程序应该通过设置 E</a:t>
            </a:r>
            <a:r>
              <a:rPr lang="en-US" altLang="zh-CN" dirty="0">
                <a:solidFill>
                  <a:srgbClr val="000000"/>
                </a:solidFill>
              </a:rPr>
              <a:t>U</a:t>
            </a:r>
            <a:r>
              <a:rPr lang="zh-CN" dirty="0">
                <a:solidFill>
                  <a:srgbClr val="000000"/>
                </a:solidFill>
              </a:rPr>
              <a:t>ID = R</a:t>
            </a:r>
            <a:r>
              <a:rPr lang="en-US" altLang="zh-CN" dirty="0">
                <a:solidFill>
                  <a:srgbClr val="000000"/>
                </a:solidFill>
              </a:rPr>
              <a:t>U</a:t>
            </a:r>
            <a:r>
              <a:rPr lang="zh-CN" dirty="0">
                <a:solidFill>
                  <a:srgbClr val="000000"/>
                </a:solidFill>
              </a:rPr>
              <a:t>ID 来降低其特权。</a:t>
            </a:r>
          </a:p>
        </p:txBody>
      </p:sp>
      <p:pic>
        <p:nvPicPr>
          <p:cNvPr id="263" name="Shape 263"/>
          <p:cNvPicPr preferRelativeResize="0"/>
          <p:nvPr/>
        </p:nvPicPr>
        <p:blipFill>
          <a:blip r:embed="rId3">
            <a:alphaModFix/>
          </a:blip>
          <a:stretch>
            <a:fillRect/>
          </a:stretch>
        </p:blipFill>
        <p:spPr>
          <a:xfrm>
            <a:off x="311700" y="1247531"/>
            <a:ext cx="5906890" cy="2433062"/>
          </a:xfrm>
          <a:prstGeom prst="rect">
            <a:avLst/>
          </a:prstGeom>
          <a:noFill/>
          <a:ln>
            <a:noFill/>
          </a:ln>
        </p:spPr>
      </p:pic>
      <p:pic>
        <p:nvPicPr>
          <p:cNvPr id="264" name="Shape 264"/>
          <p:cNvPicPr preferRelativeResize="0"/>
          <p:nvPr/>
        </p:nvPicPr>
        <p:blipFill>
          <a:blip r:embed="rId4">
            <a:alphaModFix/>
          </a:blip>
          <a:stretch>
            <a:fillRect/>
          </a:stretch>
        </p:blipFill>
        <p:spPr>
          <a:xfrm>
            <a:off x="311699" y="3690867"/>
            <a:ext cx="5906889" cy="261823"/>
          </a:xfrm>
          <a:prstGeom prst="rect">
            <a:avLst/>
          </a:prstGeom>
          <a:noFill/>
          <a:ln>
            <a:noFill/>
          </a:ln>
        </p:spPr>
      </p:pic>
      <p:cxnSp>
        <p:nvCxnSpPr>
          <p:cNvPr id="265" name="Shape 265"/>
          <p:cNvCxnSpPr>
            <a:cxnSpLocks/>
            <a:stCxn id="262" idx="1"/>
          </p:cNvCxnSpPr>
          <p:nvPr/>
        </p:nvCxnSpPr>
        <p:spPr>
          <a:xfrm flipH="1">
            <a:off x="5024063" y="2067176"/>
            <a:ext cx="1209637" cy="0"/>
          </a:xfrm>
          <a:prstGeom prst="straightConnector1">
            <a:avLst/>
          </a:prstGeom>
          <a:noFill/>
          <a:ln w="19050" cap="flat" cmpd="sng">
            <a:solidFill>
              <a:srgbClr val="000000"/>
            </a:solidFill>
            <a:prstDash val="solid"/>
            <a:round/>
            <a:headEnd type="none" w="lg" len="lg"/>
            <a:tailEnd type="triangle" w="lg" len="lg"/>
          </a:ln>
        </p:spPr>
      </p:cxnSp>
      <p:sp>
        <p:nvSpPr>
          <p:cNvPr id="266" name="Shape 266"/>
          <p:cNvSpPr txBox="1">
            <a:spLocks noGrp="1"/>
          </p:cNvSpPr>
          <p:nvPr>
            <p:ph type="body" idx="1"/>
          </p:nvPr>
        </p:nvSpPr>
        <p:spPr>
          <a:xfrm>
            <a:off x="5922050" y="3900574"/>
            <a:ext cx="2817504" cy="1297800"/>
          </a:xfrm>
          <a:prstGeom prst="rect">
            <a:avLst/>
          </a:prstGeom>
        </p:spPr>
        <p:txBody>
          <a:bodyPr wrap="square" lIns="91425" tIns="91425" rIns="91425" bIns="91425" anchor="t" anchorCtr="0">
            <a:noAutofit/>
          </a:bodyPr>
          <a:lstStyle/>
          <a:p>
            <a:pPr marL="0" lvl="0" indent="0" rtl="0">
              <a:lnSpc>
                <a:spcPct val="100000"/>
              </a:lnSpc>
              <a:spcBef>
                <a:spcPts val="0"/>
              </a:spcBef>
              <a:spcAft>
                <a:spcPts val="0"/>
              </a:spcAft>
              <a:buNone/>
            </a:pPr>
            <a:r>
              <a:rPr lang="zh-CN" dirty="0">
                <a:solidFill>
                  <a:srgbClr val="000000"/>
                </a:solidFill>
              </a:rPr>
              <a:t>写入完成后，通过设置 EUID = root 来恢复权限。</a:t>
            </a:r>
          </a:p>
        </p:txBody>
      </p:sp>
      <p:cxnSp>
        <p:nvCxnSpPr>
          <p:cNvPr id="267" name="Shape 267"/>
          <p:cNvCxnSpPr>
            <a:stCxn id="266" idx="1"/>
          </p:cNvCxnSpPr>
          <p:nvPr/>
        </p:nvCxnSpPr>
        <p:spPr>
          <a:xfrm flipH="1">
            <a:off x="3012050" y="4549474"/>
            <a:ext cx="2910000" cy="14400"/>
          </a:xfrm>
          <a:prstGeom prst="straightConnector1">
            <a:avLst/>
          </a:prstGeom>
          <a:noFill/>
          <a:ln w="19050" cap="flat" cmpd="sng">
            <a:solidFill>
              <a:srgbClr val="000000"/>
            </a:solidFill>
            <a:prstDash val="solid"/>
            <a:round/>
            <a:headEnd type="none" w="lg" len="lg"/>
            <a:tailEnd type="none" w="lg" len="lg"/>
          </a:ln>
        </p:spPr>
      </p:cxnSp>
      <p:cxnSp>
        <p:nvCxnSpPr>
          <p:cNvPr id="268" name="Shape 268"/>
          <p:cNvCxnSpPr/>
          <p:nvPr/>
        </p:nvCxnSpPr>
        <p:spPr>
          <a:xfrm rot="10800000">
            <a:off x="3012050" y="4086274"/>
            <a:ext cx="2400" cy="470400"/>
          </a:xfrm>
          <a:prstGeom prst="straightConnector1">
            <a:avLst/>
          </a:prstGeom>
          <a:noFill/>
          <a:ln w="19050" cap="flat" cmpd="sng">
            <a:solidFill>
              <a:srgbClr val="000000"/>
            </a:solidFill>
            <a:prstDash val="solid"/>
            <a:round/>
            <a:headEnd type="none" w="lg" len="lg"/>
            <a:tailEnd type="triangle" w="lg" len="lg"/>
          </a:ln>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dirty="0"/>
              <a:t>问题</a:t>
            </a:r>
            <a:endParaRPr lang="en-US" dirty="0"/>
          </a:p>
        </p:txBody>
      </p:sp>
      <p:sp>
        <p:nvSpPr>
          <p:cNvPr id="3" name="Text Placeholder 2"/>
          <p:cNvSpPr>
            <a:spLocks noGrp="1"/>
          </p:cNvSpPr>
          <p:nvPr>
            <p:ph type="body" idx="1"/>
          </p:nvPr>
        </p:nvSpPr>
        <p:spPr/>
        <p:txBody>
          <a:bodyPr/>
          <a:lstStyle/>
          <a:p>
            <a:pPr>
              <a:buNone/>
            </a:pPr>
            <a:r>
              <a:rPr lang="zh-CN" b="1" dirty="0">
                <a:solidFill>
                  <a:schemeClr val="tx1"/>
                </a:solidFill>
              </a:rPr>
              <a:t>问：</a:t>
            </a:r>
            <a:r>
              <a:rPr lang="zh-CN" dirty="0">
                <a:solidFill>
                  <a:schemeClr val="tx1"/>
                </a:solidFill>
              </a:rPr>
              <a:t>最小权限原则可以有效防御本章讨论的竞态条件攻击。我们能否运用同样的原则来防御缓冲区溢出攻击？为什么？具体来说，在执行易受攻击的函数之前，我们禁用 root 权限；在易受攻击的函数返回之后，我们重新启用 root权限。</a:t>
            </a:r>
            <a:endParaRPr lang="en-US" dirty="0">
              <a:solidFill>
                <a:schemeClr val="tx1"/>
              </a:solidFill>
            </a:endParaRPr>
          </a:p>
        </p:txBody>
      </p:sp>
    </p:spTree>
    <p:extLst>
      <p:ext uri="{BB962C8B-B14F-4D97-AF65-F5344CB8AC3E}">
        <p14:creationId xmlns:p14="http://schemas.microsoft.com/office/powerpoint/2010/main" val="16428834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dirty="0"/>
              <a:t>概括</a:t>
            </a:r>
            <a:endParaRPr lang="en-US" dirty="0"/>
          </a:p>
        </p:txBody>
      </p:sp>
      <p:sp>
        <p:nvSpPr>
          <p:cNvPr id="3" name="Text Placeholder 2"/>
          <p:cNvSpPr>
            <a:spLocks noGrp="1"/>
          </p:cNvSpPr>
          <p:nvPr>
            <p:ph type="body" idx="1"/>
          </p:nvPr>
        </p:nvSpPr>
        <p:spPr/>
        <p:txBody>
          <a:bodyPr/>
          <a:lstStyle/>
          <a:p>
            <a:pPr marL="290513" indent="-290513"/>
            <a:r>
              <a:rPr lang="zh-CN" dirty="0">
                <a:solidFill>
                  <a:schemeClr val="tx1"/>
                </a:solidFill>
              </a:rPr>
              <a:t>什么是竞态条件</a:t>
            </a:r>
          </a:p>
          <a:p>
            <a:pPr marL="290513" indent="-290513"/>
            <a:r>
              <a:rPr lang="zh-CN" dirty="0">
                <a:solidFill>
                  <a:schemeClr val="tx1"/>
                </a:solidFill>
              </a:rPr>
              <a:t>如何利用 TOCTTOU 类型的竞态条件漏洞</a:t>
            </a:r>
          </a:p>
          <a:p>
            <a:pPr marL="290513" indent="-290513"/>
            <a:r>
              <a:rPr lang="zh-CN" dirty="0">
                <a:solidFill>
                  <a:schemeClr val="tx1"/>
                </a:solidFill>
              </a:rPr>
              <a:t>如何避免出现竞态条件问题</a:t>
            </a:r>
            <a:endParaRPr lang="en-US" dirty="0">
              <a:solidFill>
                <a:schemeClr val="tx1"/>
              </a:solidFill>
            </a:endParaRPr>
          </a:p>
        </p:txBody>
      </p:sp>
    </p:spTree>
    <p:extLst>
      <p:ext uri="{BB962C8B-B14F-4D97-AF65-F5344CB8AC3E}">
        <p14:creationId xmlns:p14="http://schemas.microsoft.com/office/powerpoint/2010/main" val="1949738208"/>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367</TotalTime>
  <Words>1876</Words>
  <Application>Microsoft Macintosh PowerPoint</Application>
  <PresentationFormat>全屏显示(16:9)</PresentationFormat>
  <Paragraphs>156</Paragraphs>
  <Slides>29</Slides>
  <Notes>26</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29</vt:i4>
      </vt:variant>
    </vt:vector>
  </HeadingPairs>
  <TitlesOfParts>
    <vt:vector size="33" baseType="lpstr">
      <vt:lpstr>Wingdings</vt:lpstr>
      <vt:lpstr>Courier New</vt:lpstr>
      <vt:lpstr>Arial</vt:lpstr>
      <vt:lpstr>Simple Light</vt:lpstr>
      <vt:lpstr>竞态条件漏洞 Race Condition Vulnerability</vt:lpstr>
      <vt:lpstr>大纲</vt:lpstr>
      <vt:lpstr>竞态条件</vt:lpstr>
      <vt:lpstr>竞态条件引发的问题</vt:lpstr>
      <vt:lpstr>一种典型的竟态条件</vt:lpstr>
      <vt:lpstr>竞态条件漏洞</vt:lpstr>
      <vt:lpstr>竞态条件漏洞</vt:lpstr>
      <vt:lpstr>竞态条件漏洞</vt:lpstr>
      <vt:lpstr>竞态条件漏洞</vt:lpstr>
      <vt:lpstr>攻击步骤</vt:lpstr>
      <vt:lpstr>另一个竞态条件的示例</vt:lpstr>
      <vt:lpstr>实验设置</vt:lpstr>
      <vt:lpstr>实验设置</vt:lpstr>
      <vt:lpstr>如何利用竞态条件？</vt:lpstr>
      <vt:lpstr>攻击：选择目标文件</vt:lpstr>
      <vt:lpstr>攻击：运行有漏洞的程序</vt:lpstr>
      <vt:lpstr>攻击：运行攻击程序</vt:lpstr>
      <vt:lpstr>观察攻击结果</vt:lpstr>
      <vt:lpstr>运行漏洞利用程序</vt:lpstr>
      <vt:lpstr>应对措施</vt:lpstr>
      <vt:lpstr>原子操作</vt:lpstr>
      <vt:lpstr>反复执行access()和open()函数</vt:lpstr>
      <vt:lpstr>粘性符号链接保护</vt:lpstr>
      <vt:lpstr>尝试使用符号链接保护</vt:lpstr>
      <vt:lpstr>粘性符号链接保护</vt:lpstr>
      <vt:lpstr>最小特权原则</vt:lpstr>
      <vt:lpstr>最小特权原则</vt:lpstr>
      <vt:lpstr>问题</vt:lpstr>
      <vt:lpstr>概括</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Race Condition Vulnerability</dc:title>
  <cp:lastModifiedBy>Microsoft Office User</cp:lastModifiedBy>
  <cp:revision>36</cp:revision>
  <dcterms:modified xsi:type="dcterms:W3CDTF">2026-04-12T13:06:28Z</dcterms:modified>
</cp:coreProperties>
</file>