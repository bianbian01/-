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</p:sldMasterIdLst>
  <p:notesMasterIdLst>
    <p:notesMasterId r:id="rId5"/>
  </p:notesMasterIdLst>
  <p:handoutMasterIdLst>
    <p:handoutMasterId r:id="rId34"/>
  </p:handoutMasterIdLst>
  <p:sldIdLst>
    <p:sldId id="1896" r:id="rId4"/>
    <p:sldId id="2349" r:id="rId6"/>
    <p:sldId id="2211" r:id="rId7"/>
    <p:sldId id="2212" r:id="rId8"/>
    <p:sldId id="2213" r:id="rId9"/>
    <p:sldId id="2214" r:id="rId10"/>
    <p:sldId id="2402" r:id="rId11"/>
    <p:sldId id="2215" r:id="rId12"/>
    <p:sldId id="2216" r:id="rId13"/>
    <p:sldId id="2350" r:id="rId14"/>
    <p:sldId id="2217" r:id="rId15"/>
    <p:sldId id="2221" r:id="rId16"/>
    <p:sldId id="2220" r:id="rId17"/>
    <p:sldId id="2222" r:id="rId18"/>
    <p:sldId id="2351" r:id="rId19"/>
    <p:sldId id="2352" r:id="rId20"/>
    <p:sldId id="2223" r:id="rId21"/>
    <p:sldId id="2359" r:id="rId22"/>
    <p:sldId id="2361" r:id="rId23"/>
    <p:sldId id="2362" r:id="rId24"/>
    <p:sldId id="2363" r:id="rId25"/>
    <p:sldId id="2364" r:id="rId26"/>
    <p:sldId id="2365" r:id="rId27"/>
    <p:sldId id="2373" r:id="rId28"/>
    <p:sldId id="2374" r:id="rId29"/>
    <p:sldId id="2375" r:id="rId30"/>
    <p:sldId id="2376" r:id="rId31"/>
    <p:sldId id="2377" r:id="rId32"/>
    <p:sldId id="2314" r:id="rId33"/>
  </p:sldIdLst>
  <p:sldSz cx="9144000" cy="6858000" type="screen4x3"/>
  <p:notesSz cx="6797675" cy="9926320"/>
  <p:custDataLst>
    <p:tags r:id="rId38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3600" kern="1200">
        <a:solidFill>
          <a:srgbClr val="0000FF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3600" kern="1200">
        <a:solidFill>
          <a:srgbClr val="0000FF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3600" kern="1200">
        <a:solidFill>
          <a:srgbClr val="0000FF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3600" kern="1200">
        <a:solidFill>
          <a:srgbClr val="0000FF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3600" kern="1200">
        <a:solidFill>
          <a:srgbClr val="0000FF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kumimoji="1" sz="3600" kern="1200">
        <a:solidFill>
          <a:srgbClr val="0000FF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kumimoji="1" sz="3600" kern="1200">
        <a:solidFill>
          <a:srgbClr val="0000FF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kumimoji="1" sz="3600" kern="1200">
        <a:solidFill>
          <a:srgbClr val="0000FF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kumimoji="1" sz="3600" kern="1200">
        <a:solidFill>
          <a:srgbClr val="0000FF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81" userDrawn="1">
          <p15:clr>
            <a:srgbClr val="A4A3A4"/>
          </p15:clr>
        </p15:guide>
        <p15:guide id="3" pos="29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F7F47B"/>
    <a:srgbClr val="B8B8B9"/>
    <a:srgbClr val="DDEEFF"/>
    <a:srgbClr val="7276BB"/>
    <a:srgbClr val="FF6600"/>
    <a:srgbClr val="FFFF99"/>
    <a:srgbClr val="E6E6E6"/>
    <a:srgbClr val="DD84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81" autoAdjust="0"/>
    <p:restoredTop sz="79597" autoAdjust="0"/>
  </p:normalViewPr>
  <p:slideViewPr>
    <p:cSldViewPr snapToObjects="1" showGuides="1">
      <p:cViewPr varScale="1">
        <p:scale>
          <a:sx n="53" d="100"/>
          <a:sy n="53" d="100"/>
        </p:scale>
        <p:origin x="1696" y="56"/>
      </p:cViewPr>
      <p:guideLst>
        <p:guide orient="horz" pos="981"/>
        <p:guide pos="2958"/>
      </p:guideLst>
    </p:cSldViewPr>
  </p:slideViewPr>
  <p:outlineViewPr>
    <p:cViewPr>
      <p:scale>
        <a:sx n="25" d="100"/>
        <a:sy n="25" d="100"/>
      </p:scale>
      <p:origin x="0" y="0"/>
    </p:cViewPr>
    <p:sldLst>
      <p:sld r:id="rId1" collapse="1"/>
    </p:sldLst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9012"/>
    </p:cViewPr>
  </p:sorterViewPr>
  <p:notesViewPr>
    <p:cSldViewPr snapToObjects="1">
      <p:cViewPr>
        <p:scale>
          <a:sx n="75" d="100"/>
          <a:sy n="75" d="100"/>
        </p:scale>
        <p:origin x="-4158" y="-222"/>
      </p:cViewPr>
      <p:guideLst>
        <p:guide orient="horz" pos="2407"/>
        <p:guide pos="285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8" Type="http://schemas.openxmlformats.org/officeDocument/2006/relationships/tags" Target="tags/tag1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handoutMaster" Target="handoutMasters/handoutMaster1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5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2667" tIns="46333" rIns="92667" bIns="46333" numCol="1" anchor="t" anchorCtr="0" compatLnSpc="1"/>
          <a:lstStyle>
            <a:lvl1pPr defTabSz="927100" eaLnBrk="1" hangingPunct="1">
              <a:defRPr sz="13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2863" y="0"/>
            <a:ext cx="2944812" cy="495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2667" tIns="46333" rIns="92667" bIns="46333" numCol="1" anchor="t" anchorCtr="0" compatLnSpc="1"/>
          <a:lstStyle>
            <a:lvl1pPr algn="r" defTabSz="927100" eaLnBrk="1" hangingPunct="1">
              <a:defRPr sz="13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338"/>
            <a:ext cx="2944813" cy="495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2667" tIns="46333" rIns="92667" bIns="46333" numCol="1" anchor="b" anchorCtr="0" compatLnSpc="1"/>
          <a:lstStyle>
            <a:lvl1pPr defTabSz="927100" eaLnBrk="1" hangingPunct="1">
              <a:defRPr sz="13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2863" y="9431338"/>
            <a:ext cx="2944812" cy="495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2667" tIns="46333" rIns="92667" bIns="46333" numCol="1" anchor="b" anchorCtr="0" compatLnSpc="1"/>
          <a:lstStyle>
            <a:lvl1pPr algn="r" defTabSz="927100" eaLnBrk="1" hangingPunct="1">
              <a:defRPr sz="13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7134E63-CDBE-4D97-ABFD-7014D49E4694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6238" cy="5175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88194" tIns="44097" rIns="88194" bIns="44097" numCol="1" anchor="t" anchorCtr="0" compatLnSpc="1"/>
          <a:lstStyle>
            <a:lvl1pPr defTabSz="882650" eaLnBrk="1" hangingPunct="1">
              <a:defRPr sz="12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5563" y="0"/>
            <a:ext cx="2916237" cy="5175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88194" tIns="44097" rIns="88194" bIns="44097" numCol="1" anchor="t" anchorCtr="0" compatLnSpc="1"/>
          <a:lstStyle>
            <a:lvl1pPr algn="r" defTabSz="882650" eaLnBrk="1" hangingPunct="1">
              <a:defRPr sz="12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42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3613" y="739775"/>
            <a:ext cx="4929187" cy="36972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768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76300" y="4730750"/>
            <a:ext cx="5030788" cy="4435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88194" tIns="44097" rIns="88194" bIns="44097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768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63088"/>
            <a:ext cx="2916238" cy="4429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88194" tIns="44097" rIns="88194" bIns="44097" numCol="1" anchor="b" anchorCtr="0" compatLnSpc="1"/>
          <a:lstStyle>
            <a:lvl1pPr defTabSz="882650" eaLnBrk="1" hangingPunct="1">
              <a:defRPr sz="12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68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5563" y="9463088"/>
            <a:ext cx="2916237" cy="4429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88194" tIns="44097" rIns="88194" bIns="44097" numCol="1" anchor="b" anchorCtr="0" compatLnSpc="1"/>
          <a:lstStyle>
            <a:lvl1pPr algn="r" defTabSz="882650" eaLnBrk="1" hangingPunct="1">
              <a:defRPr sz="12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6A3250A-D96D-4FF1-9A04-805EFEDA6A1B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数制：二进制、十进制、十六进制</a:t>
            </a:r>
            <a:endParaRPr lang="en-US" altLang="zh-CN" dirty="0"/>
          </a:p>
          <a:p>
            <a:r>
              <a:rPr lang="zh-CN" altLang="en-US" dirty="0"/>
              <a:t>数值的编码：原码、反码、补码</a:t>
            </a:r>
            <a:endParaRPr lang="en-US" altLang="zh-CN" dirty="0"/>
          </a:p>
          <a:p>
            <a:r>
              <a:rPr lang="zh-CN" altLang="en-US" dirty="0"/>
              <a:t>字符的编码：</a:t>
            </a:r>
            <a:r>
              <a:rPr lang="en-US" altLang="zh-CN" dirty="0"/>
              <a:t>BCD</a:t>
            </a:r>
            <a:r>
              <a:rPr lang="zh-CN" altLang="en-US" dirty="0"/>
              <a:t>、</a:t>
            </a:r>
            <a:r>
              <a:rPr lang="en-US" altLang="zh-CN" dirty="0"/>
              <a:t>ASCII</a:t>
            </a:r>
            <a:r>
              <a:rPr lang="zh-CN" altLang="en-US" dirty="0"/>
              <a:t>、</a:t>
            </a:r>
            <a:r>
              <a:rPr lang="en-US" altLang="zh-CN" dirty="0"/>
              <a:t>Unicode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algn="l"/>
            <a:r>
              <a:rPr lang="en-US" altLang="zh-CN"/>
              <a:t>EAX</a:t>
            </a:r>
            <a:r>
              <a:rPr lang="zh-CN" altLang="en-US"/>
              <a:t>等于</a:t>
            </a:r>
            <a:r>
              <a:rPr lang="en-US" altLang="zh-CN"/>
              <a:t>next</a:t>
            </a:r>
            <a:r>
              <a:rPr lang="zh-CN" altLang="en-US"/>
              <a:t>标号处的地址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Call</a:t>
            </a:r>
            <a:r>
              <a:rPr lang="zh-CN" altLang="en-US" dirty="0"/>
              <a:t>时</a:t>
            </a:r>
            <a:r>
              <a:rPr lang="en-US" altLang="zh-CN" dirty="0"/>
              <a:t>push</a:t>
            </a:r>
            <a:r>
              <a:rPr lang="zh-CN" altLang="en-US" dirty="0"/>
              <a:t>操作，</a:t>
            </a:r>
            <a:r>
              <a:rPr lang="en-US" altLang="zh-CN" dirty="0"/>
              <a:t>ret</a:t>
            </a:r>
            <a:r>
              <a:rPr lang="zh-CN" altLang="en-US" dirty="0"/>
              <a:t>时</a:t>
            </a:r>
            <a:r>
              <a:rPr lang="en-US" altLang="zh-CN" dirty="0"/>
              <a:t>pop</a:t>
            </a:r>
            <a:r>
              <a:rPr lang="zh-CN" altLang="en-US" dirty="0"/>
              <a:t>操作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algn="l"/>
            <a:r>
              <a:rPr lang="zh-CN" altLang="en-US"/>
              <a:t>带有入口参数的寄存器可以保护、也可以不保护，但最好能够保持一致</a:t>
            </a:r>
            <a:endParaRPr lang="en-US" altLang="zh-CN"/>
          </a:p>
          <a:p>
            <a:pPr algn="l"/>
            <a:r>
              <a:rPr lang="en-US" altLang="zh-CN"/>
              <a:t>“</a:t>
            </a:r>
            <a:r>
              <a:rPr lang="zh-CN" altLang="en-US"/>
              <a:t>保护</a:t>
            </a:r>
            <a:r>
              <a:rPr lang="en-US" altLang="zh-CN"/>
              <a:t>”</a:t>
            </a:r>
            <a:r>
              <a:rPr lang="zh-CN" altLang="en-US"/>
              <a:t>指在子程序开头用</a:t>
            </a:r>
            <a:r>
              <a:rPr lang="en-US" altLang="zh-CN"/>
              <a:t> push </a:t>
            </a:r>
            <a:r>
              <a:rPr lang="zh-CN" altLang="en-US"/>
              <a:t>保存该寄存器的原值，结尾用</a:t>
            </a:r>
            <a:r>
              <a:rPr lang="en-US" altLang="zh-CN"/>
              <a:t> pop </a:t>
            </a:r>
            <a:r>
              <a:rPr lang="zh-CN" altLang="en-US"/>
              <a:t>恢复，以免子程序修改它而影响调用者。</a:t>
            </a:r>
            <a:endParaRPr lang="en-US" altLang="zh-CN"/>
          </a:p>
          <a:p>
            <a:pPr algn="l"/>
            <a:r>
              <a:rPr lang="en-US" altLang="zh-CN"/>
              <a:t>“</a:t>
            </a:r>
            <a:r>
              <a:rPr lang="zh-CN" altLang="en-US"/>
              <a:t>不保护</a:t>
            </a:r>
            <a:r>
              <a:rPr lang="en-US" altLang="zh-CN"/>
              <a:t>”</a:t>
            </a:r>
            <a:r>
              <a:rPr lang="zh-CN" altLang="en-US"/>
              <a:t>就是直接使用、修改它。</a:t>
            </a:r>
            <a:endParaRPr lang="en-US" altLang="zh-CN"/>
          </a:p>
          <a:p>
            <a:pPr algn="l"/>
            <a:r>
              <a:rPr lang="en-US" altLang="zh-CN"/>
              <a:t>“</a:t>
            </a:r>
            <a:r>
              <a:rPr lang="zh-CN" altLang="en-US"/>
              <a:t>保持一致</a:t>
            </a:r>
            <a:r>
              <a:rPr lang="en-US" altLang="zh-CN"/>
              <a:t>”</a:t>
            </a:r>
            <a:r>
              <a:rPr lang="zh-CN" altLang="en-US"/>
              <a:t>是指：在整个项目中（或一个模块内），对同一个寄存器的处理方式要固定。比如约定</a:t>
            </a:r>
            <a:r>
              <a:rPr lang="en-US" altLang="zh-CN"/>
              <a:t> eax </a:t>
            </a:r>
            <a:r>
              <a:rPr lang="zh-CN" altLang="en-US"/>
              <a:t>专门传参数且不保护，那就所有子程序都这样用，避免混乱。</a:t>
            </a:r>
            <a:endParaRPr lang="zh-CN" altLang="en-US"/>
          </a:p>
          <a:p>
            <a:pPr algn="l"/>
            <a:endParaRPr lang="en-US" altLang="zh-CN"/>
          </a:p>
          <a:p>
            <a:pPr algn="l"/>
            <a:r>
              <a:rPr lang="zh-CN" altLang="en-US"/>
              <a:t>假如</a:t>
            </a:r>
            <a:r>
              <a:rPr lang="en-US" altLang="zh-CN"/>
              <a:t>eax</a:t>
            </a:r>
            <a:r>
              <a:rPr lang="zh-CN" altLang="en-US"/>
              <a:t>中保存入口参数，则会将参数直接送子程序</a:t>
            </a:r>
            <a:endParaRPr lang="en-US" altLang="zh-CN"/>
          </a:p>
          <a:p>
            <a:pPr algn="l"/>
            <a:r>
              <a:rPr lang="zh-CN" altLang="en-US"/>
              <a:t>示例：调用者把参数放入</a:t>
            </a:r>
            <a:r>
              <a:rPr lang="en-US" altLang="zh-CN"/>
              <a:t> eax</a:t>
            </a:r>
            <a:r>
              <a:rPr lang="zh-CN" altLang="en-US"/>
              <a:t>，然后</a:t>
            </a:r>
            <a:r>
              <a:rPr lang="en-US" altLang="zh-CN"/>
              <a:t> call </a:t>
            </a:r>
            <a:r>
              <a:rPr lang="zh-CN" altLang="en-US"/>
              <a:t>子程序；子程序直接从</a:t>
            </a:r>
            <a:r>
              <a:rPr lang="en-US" altLang="zh-CN"/>
              <a:t> eax </a:t>
            </a:r>
            <a:r>
              <a:rPr lang="zh-CN" altLang="en-US"/>
              <a:t>读取参数，无需通过栈或内存传递。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带有出口参数</a:t>
            </a:r>
            <a:r>
              <a:rPr lang="en-US" altLang="zh-CN"/>
              <a:t>(</a:t>
            </a:r>
            <a:r>
              <a:rPr lang="zh-CN" altLang="en-US"/>
              <a:t>返回值</a:t>
            </a:r>
            <a:r>
              <a:rPr lang="en-US" altLang="zh-CN"/>
              <a:t>)</a:t>
            </a:r>
            <a:r>
              <a:rPr lang="zh-CN" altLang="en-US"/>
              <a:t>的寄存器不能保护和恢复</a:t>
            </a:r>
            <a:endParaRPr lang="en-US" altLang="zh-CN"/>
          </a:p>
          <a:p>
            <a:pPr algn="l"/>
            <a:r>
              <a:rPr lang="zh-CN" altLang="en-US"/>
              <a:t>返回值必须通过某个寄存器（通常是</a:t>
            </a:r>
            <a:r>
              <a:rPr lang="en-US" altLang="zh-CN"/>
              <a:t> eax</a:t>
            </a:r>
            <a:r>
              <a:rPr lang="zh-CN" altLang="en-US"/>
              <a:t>）传回调用者。</a:t>
            </a:r>
            <a:endParaRPr lang="en-US" altLang="zh-CN"/>
          </a:p>
          <a:p>
            <a:pPr algn="l"/>
            <a:r>
              <a:rPr lang="zh-CN" altLang="en-US"/>
              <a:t>如果子程序在结尾恢复了这个寄存器的原值，返回值就会被覆盖掉，调用者就拿不到结果了。</a:t>
            </a:r>
            <a:endParaRPr lang="zh-CN" altLang="en-US"/>
          </a:p>
          <a:p>
            <a:pPr algn="l"/>
            <a:endParaRPr lang="en-US" altLang="zh-CN"/>
          </a:p>
          <a:p>
            <a:pPr algn="l"/>
            <a:r>
              <a:rPr lang="zh-CN" altLang="en-US"/>
              <a:t>假如</a:t>
            </a:r>
            <a:r>
              <a:rPr lang="en-US" altLang="zh-CN"/>
              <a:t>eax</a:t>
            </a:r>
            <a:r>
              <a:rPr lang="zh-CN" altLang="en-US"/>
              <a:t>中保存返回值，上述操作可能被覆盖</a:t>
            </a:r>
            <a:endParaRPr lang="en-US" altLang="zh-CN"/>
          </a:p>
          <a:p>
            <a:pPr algn="l"/>
            <a:r>
              <a:rPr lang="en-US" altLang="zh-CN"/>
              <a:t>“</a:t>
            </a:r>
            <a:r>
              <a:rPr lang="zh-CN" altLang="en-US"/>
              <a:t>上述操作</a:t>
            </a:r>
            <a:r>
              <a:rPr lang="en-US" altLang="zh-CN"/>
              <a:t>”</a:t>
            </a:r>
            <a:r>
              <a:rPr lang="zh-CN" altLang="en-US"/>
              <a:t>指对</a:t>
            </a:r>
            <a:r>
              <a:rPr lang="en-US" altLang="zh-CN"/>
              <a:t> eax </a:t>
            </a:r>
            <a:r>
              <a:rPr lang="zh-CN" altLang="en-US"/>
              <a:t>进行保护（</a:t>
            </a:r>
            <a:r>
              <a:rPr lang="en-US" altLang="zh-CN"/>
              <a:t>push/pop</a:t>
            </a:r>
            <a:r>
              <a:rPr lang="zh-CN" altLang="en-US"/>
              <a:t>）或恢复。</a:t>
            </a:r>
            <a:endParaRPr lang="en-US" altLang="zh-CN"/>
          </a:p>
          <a:p>
            <a:pPr algn="l"/>
            <a:r>
              <a:rPr lang="zh-CN" altLang="en-US"/>
              <a:t>例如：子程序开头</a:t>
            </a:r>
            <a:r>
              <a:rPr lang="en-US" altLang="zh-CN"/>
              <a:t> push eax</a:t>
            </a:r>
            <a:r>
              <a:rPr lang="zh-CN" altLang="en-US"/>
              <a:t>，结尾</a:t>
            </a:r>
            <a:r>
              <a:rPr lang="en-US" altLang="zh-CN"/>
              <a:t> pop eax</a:t>
            </a:r>
            <a:r>
              <a:rPr lang="zh-CN" altLang="en-US"/>
              <a:t>，那么即使子程序计算出了正确结果并存到</a:t>
            </a:r>
            <a:r>
              <a:rPr lang="en-US" altLang="zh-CN"/>
              <a:t> eax</a:t>
            </a:r>
            <a:r>
              <a:rPr lang="zh-CN" altLang="en-US"/>
              <a:t>，最后的</a:t>
            </a:r>
            <a:r>
              <a:rPr lang="en-US" altLang="zh-CN"/>
              <a:t> pop eax </a:t>
            </a:r>
            <a:r>
              <a:rPr lang="zh-CN" altLang="en-US"/>
              <a:t>也会把之前保存的旧值写回</a:t>
            </a:r>
            <a:r>
              <a:rPr lang="en-US" altLang="zh-CN"/>
              <a:t> eax</a:t>
            </a:r>
            <a:r>
              <a:rPr lang="zh-CN" altLang="en-US"/>
              <a:t>，导致返回值丢失。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0ah+37h=41h</a:t>
            </a:r>
            <a:r>
              <a:rPr lang="zh-CN" altLang="en-US" dirty="0"/>
              <a:t>，大写字母</a:t>
            </a:r>
            <a:r>
              <a:rPr lang="en-US" altLang="zh-CN" dirty="0"/>
              <a:t>A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相当于双重</a:t>
            </a:r>
            <a:r>
              <a:rPr lang="zh-CN" altLang="en-US" dirty="0"/>
              <a:t>循环</a:t>
            </a:r>
            <a:endParaRPr lang="zh-CN" altLang="en-US" dirty="0"/>
          </a:p>
          <a:p>
            <a:r>
              <a:rPr lang="zh-CN" altLang="en-US" dirty="0"/>
              <a:t>主程序</a:t>
            </a:r>
            <a:r>
              <a:rPr lang="zh-CN" altLang="en-US" dirty="0"/>
              <a:t>相当于外循环，执行</a:t>
            </a:r>
            <a:r>
              <a:rPr lang="en-US" altLang="zh-CN" dirty="0"/>
              <a:t>count</a:t>
            </a:r>
            <a:r>
              <a:rPr lang="zh-CN" altLang="en-US" dirty="0"/>
              <a:t>次，每次通过全局变量</a:t>
            </a:r>
            <a:r>
              <a:rPr lang="en-US" altLang="zh-CN" dirty="0"/>
              <a:t>temp</a:t>
            </a:r>
            <a:r>
              <a:rPr lang="zh-CN" altLang="en-US" dirty="0"/>
              <a:t>获取</a:t>
            </a:r>
            <a:r>
              <a:rPr lang="zh-CN" altLang="en-US" dirty="0"/>
              <a:t>返回值</a:t>
            </a:r>
            <a:endParaRPr lang="zh-CN" altLang="en-US" dirty="0"/>
          </a:p>
          <a:p>
            <a:r>
              <a:rPr lang="zh-CN" altLang="en-US" dirty="0"/>
              <a:t>子程序相当于内循环，每次最多输入</a:t>
            </a:r>
            <a:r>
              <a:rPr lang="en-US" altLang="zh-CN" dirty="0"/>
              <a:t>32</a:t>
            </a:r>
            <a:r>
              <a:rPr lang="zh-CN" altLang="en-US" dirty="0"/>
              <a:t>个二进制，输入字符放入</a:t>
            </a:r>
            <a:r>
              <a:rPr lang="en-US" altLang="zh-CN" dirty="0"/>
              <a:t>al</a:t>
            </a:r>
            <a:r>
              <a:rPr lang="zh-CN" altLang="en-US" dirty="0"/>
              <a:t>中，利用</a:t>
            </a:r>
            <a:r>
              <a:rPr lang="en-US" altLang="zh-CN" dirty="0"/>
              <a:t>ebx</a:t>
            </a:r>
            <a:r>
              <a:rPr lang="zh-CN" altLang="en-US" dirty="0"/>
              <a:t>进行二进制的</a:t>
            </a:r>
            <a:r>
              <a:rPr lang="zh-CN" altLang="en-US" dirty="0"/>
              <a:t>串联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571472" y="6215082"/>
            <a:ext cx="1905000" cy="457200"/>
          </a:xfrm>
        </p:spPr>
        <p:txBody>
          <a:bodyPr/>
          <a:lstStyle/>
          <a:p>
            <a:pPr>
              <a:defRPr/>
            </a:pPr>
            <a:fld id="{A5D3E114-792B-40AC-99AF-9E658BD4CE7F}" type="datetime1">
              <a:rPr lang="zh-CN" altLang="en-US" smtClean="0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215082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64ACF5-FE95-4751-B03E-D32A19BA1102}" type="datetime1">
              <a:rPr lang="zh-CN" altLang="en-US" smtClean="0"/>
            </a:fld>
            <a:r>
              <a:rPr lang="en-US" altLang="zh-CN"/>
              <a:t> Technology</a:t>
            </a:r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0" name="Rectangle 10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764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09A00B-03E2-4224-A5BD-9BD234FCB243}" type="datetime1">
              <a:rPr lang="zh-CN" altLang="en-US" smtClean="0"/>
            </a:fld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fld id="{EAC332C5-313C-42E8-A3F7-890A1E7064B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571472" y="6215082"/>
            <a:ext cx="1905000" cy="457200"/>
          </a:xfrm>
        </p:spPr>
        <p:txBody>
          <a:bodyPr/>
          <a:lstStyle/>
          <a:p>
            <a:pPr>
              <a:defRPr/>
            </a:pPr>
            <a:fld id="{A5D3E114-792B-40AC-99AF-9E658BD4CE7F}" type="datetime1">
              <a:rPr lang="zh-CN" altLang="en-US" smtClean="0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215082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64ACF5-FE95-4751-B03E-D32A19BA1102}" type="datetime1">
              <a:rPr lang="zh-CN" altLang="en-US" smtClean="0"/>
            </a:fld>
            <a:r>
              <a:rPr lang="en-US" altLang="zh-CN"/>
              <a:t> Technology</a:t>
            </a:r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0" name="Rectangle 10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764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09A00B-03E2-4224-A5BD-9BD234FCB243}" type="datetime1">
              <a:rPr lang="zh-CN" altLang="en-US" smtClean="0"/>
            </a:fld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fld id="{EAC332C5-313C-42E8-A3F7-890A1E7064B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6" Type="http://schemas.openxmlformats.org/officeDocument/2006/relationships/theme" Target="../theme/theme2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 descr="Large confetti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0"/>
            <a:ext cx="8713787" cy="7667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8825" y="1125538"/>
            <a:ext cx="8134350" cy="4895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13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fld id="{DA61D4B7-5C77-436D-AE67-CD94D6A7AF5E}" type="datetime1">
              <a:rPr lang="zh-CN" altLang="en-US" smtClean="0"/>
            </a:fld>
            <a:r>
              <a:rPr lang="en-US" altLang="zh-CN"/>
              <a:t> </a:t>
            </a:r>
            <a:r>
              <a:rPr lang="en-US" altLang="zh-CN" dirty="0"/>
              <a:t>Technology</a:t>
            </a:r>
            <a:endParaRPr lang="en-US" altLang="zh-CN" dirty="0"/>
          </a:p>
        </p:txBody>
      </p:sp>
      <p:sp>
        <p:nvSpPr>
          <p:cNvPr id="1013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kumimoji="0" sz="12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  <p:sp>
        <p:nvSpPr>
          <p:cNvPr id="9" name="Rectangle 4"/>
          <p:cNvSpPr txBox="1">
            <a:spLocks noChangeArrowheads="1"/>
          </p:cNvSpPr>
          <p:nvPr userDrawn="1"/>
        </p:nvSpPr>
        <p:spPr bwMode="auto">
          <a:xfrm>
            <a:off x="8072461" y="6296068"/>
            <a:ext cx="820713" cy="34764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500" fill="hold"/>
                                        <p:tgtEl>
                                          <p:spTgt spid="101378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8" grpId="0"/>
    </p:bld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5000"/>
        <a:buBlip>
          <a:blip r:embed="rId5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 descr="Large confetti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0"/>
            <a:ext cx="8713787" cy="7667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8825" y="1125538"/>
            <a:ext cx="8134350" cy="4895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13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fld id="{DA61D4B7-5C77-436D-AE67-CD94D6A7AF5E}" type="datetime1">
              <a:rPr lang="zh-CN" altLang="en-US" smtClean="0"/>
            </a:fld>
            <a:r>
              <a:rPr lang="en-US" altLang="zh-CN"/>
              <a:t> </a:t>
            </a:r>
            <a:r>
              <a:rPr lang="en-US" altLang="zh-CN" dirty="0"/>
              <a:t>Technology</a:t>
            </a:r>
            <a:endParaRPr lang="en-US" altLang="zh-CN" dirty="0"/>
          </a:p>
        </p:txBody>
      </p:sp>
      <p:sp>
        <p:nvSpPr>
          <p:cNvPr id="1013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kumimoji="0" sz="12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  <p:sp>
        <p:nvSpPr>
          <p:cNvPr id="9" name="Rectangle 4"/>
          <p:cNvSpPr txBox="1">
            <a:spLocks noChangeArrowheads="1"/>
          </p:cNvSpPr>
          <p:nvPr userDrawn="1"/>
        </p:nvSpPr>
        <p:spPr bwMode="auto">
          <a:xfrm>
            <a:off x="8072461" y="6296068"/>
            <a:ext cx="820713" cy="34764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500" fill="hold"/>
                                        <p:tgtEl>
                                          <p:spTgt spid="101378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8" grpId="0"/>
    </p:bld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5000"/>
        <a:buBlip>
          <a:blip r:embed="rId5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ChangeArrowheads="1"/>
          </p:cNvSpPr>
          <p:nvPr/>
        </p:nvSpPr>
        <p:spPr bwMode="auto">
          <a:xfrm>
            <a:off x="1357290" y="4500563"/>
            <a:ext cx="6858024" cy="19288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ctr"/>
            <a:r>
              <a:rPr lang="zh-CN" altLang="en-US" sz="3200" dirty="0">
                <a:solidFill>
                  <a:srgbClr val="000000"/>
                </a:solidFill>
                <a:latin typeface="黑体" panose="02010609060101010101" pitchFamily="49" charset="-122"/>
              </a:rPr>
              <a:t>刘兆丽</a:t>
            </a:r>
            <a:endParaRPr lang="en-US" altLang="zh-CN" sz="3200" dirty="0">
              <a:solidFill>
                <a:srgbClr val="000000"/>
              </a:solidFill>
              <a:latin typeface="黑体" panose="02010609060101010101" pitchFamily="49" charset="-122"/>
            </a:endParaRPr>
          </a:p>
          <a:p>
            <a:pPr algn="ctr"/>
            <a:r>
              <a:rPr lang="zh-CN" altLang="en-US" sz="3200" dirty="0">
                <a:solidFill>
                  <a:srgbClr val="000000"/>
                </a:solidFill>
                <a:latin typeface="黑体" panose="02010609060101010101" pitchFamily="49" charset="-122"/>
              </a:rPr>
              <a:t>计算机科学与工程学院</a:t>
            </a:r>
            <a:endParaRPr lang="en-US" altLang="zh-CN" dirty="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  <p:sp>
        <p:nvSpPr>
          <p:cNvPr id="4" name="Rectangle 2" descr="Large confetti"/>
          <p:cNvSpPr txBox="1">
            <a:spLocks noChangeArrowheads="1"/>
          </p:cNvSpPr>
          <p:nvPr/>
        </p:nvSpPr>
        <p:spPr bwMode="auto">
          <a:xfrm>
            <a:off x="150302" y="1131063"/>
            <a:ext cx="8993698" cy="2153668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12700" dir="5400000" algn="ctr" rotWithShape="0">
              <a:schemeClr val="bg2"/>
            </a:outerShdw>
          </a:effectLst>
        </p:spPr>
        <p:txBody>
          <a:bodyPr anchor="b"/>
          <a:lstStyle/>
          <a:p>
            <a:pPr lvl="0" algn="ctr">
              <a:lnSpc>
                <a:spcPct val="130000"/>
              </a:lnSpc>
              <a:defRPr/>
            </a:pPr>
            <a:endParaRPr lang="en-US" altLang="zh-CN" sz="7200" b="1" kern="0" dirty="0">
              <a:solidFill>
                <a:srgbClr val="FF3300"/>
              </a:solidFill>
              <a:latin typeface="+mn-ea"/>
              <a:ea typeface="+mn-ea"/>
              <a:cs typeface="+mj-cs"/>
            </a:endParaRPr>
          </a:p>
          <a:p>
            <a:pPr lvl="0" algn="ctr">
              <a:lnSpc>
                <a:spcPct val="110000"/>
              </a:lnSpc>
              <a:defRPr/>
            </a:pPr>
            <a:r>
              <a:rPr lang="zh-CN" altLang="en-US" sz="7200" b="1" kern="0" dirty="0">
                <a:solidFill>
                  <a:srgbClr val="FF3300"/>
                </a:solidFill>
                <a:latin typeface="+mn-ea"/>
                <a:ea typeface="+mn-ea"/>
                <a:cs typeface="+mj-cs"/>
              </a:rPr>
              <a:t>第</a:t>
            </a:r>
            <a:r>
              <a:rPr lang="en-US" altLang="zh-CN" sz="7200" b="1" kern="0" dirty="0">
                <a:solidFill>
                  <a:srgbClr val="FF3300"/>
                </a:solidFill>
                <a:latin typeface="+mn-ea"/>
                <a:ea typeface="+mn-ea"/>
                <a:cs typeface="+mj-cs"/>
              </a:rPr>
              <a:t>5</a:t>
            </a:r>
            <a:r>
              <a:rPr lang="zh-CN" altLang="en-US" sz="7200" b="1" kern="0" dirty="0">
                <a:solidFill>
                  <a:srgbClr val="FF3300"/>
                </a:solidFill>
                <a:latin typeface="+mn-ea"/>
                <a:ea typeface="+mn-ea"/>
                <a:cs typeface="+mj-cs"/>
              </a:rPr>
              <a:t>章 模块化</a:t>
            </a:r>
            <a:endParaRPr lang="en-US" altLang="zh-CN" sz="7200" b="1" kern="0" dirty="0">
              <a:solidFill>
                <a:srgbClr val="FF3300"/>
              </a:solidFill>
              <a:latin typeface="+mn-ea"/>
              <a:ea typeface="+mn-ea"/>
              <a:cs typeface="+mj-cs"/>
            </a:endParaRPr>
          </a:p>
          <a:p>
            <a:pPr lvl="0" algn="ctr">
              <a:lnSpc>
                <a:spcPct val="110000"/>
              </a:lnSpc>
              <a:defRPr/>
            </a:pPr>
            <a:r>
              <a:rPr lang="zh-CN" altLang="en-US" sz="7200" b="1" kern="0" dirty="0">
                <a:solidFill>
                  <a:srgbClr val="FF3300"/>
                </a:solidFill>
                <a:latin typeface="+mn-ea"/>
                <a:ea typeface="+mn-ea"/>
                <a:cs typeface="+mj-cs"/>
              </a:rPr>
              <a:t>程序设计</a:t>
            </a:r>
            <a:endParaRPr lang="en-US" altLang="zh-CN" sz="7200" b="1" kern="0" dirty="0">
              <a:solidFill>
                <a:srgbClr val="FF3300"/>
              </a:solidFill>
              <a:latin typeface="+mn-ea"/>
              <a:ea typeface="+mn-ea"/>
              <a:cs typeface="+mj-cs"/>
            </a:endParaRPr>
          </a:p>
        </p:txBody>
      </p:sp>
      <p:pic>
        <p:nvPicPr>
          <p:cNvPr id="6" name="图片 5" descr="logo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80949" y="71414"/>
            <a:ext cx="3419481" cy="968050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C332C5-313C-42E8-A3F7-890A1E7064BF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 advTm="13494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内容占位符 2"/>
          <p:cNvSpPr txBox="1"/>
          <p:nvPr/>
        </p:nvSpPr>
        <p:spPr>
          <a:xfrm>
            <a:off x="638810" y="737870"/>
            <a:ext cx="8181975" cy="5355590"/>
          </a:xfrm>
          <a:prstGeom prst="rect">
            <a:avLst/>
          </a:prstGeom>
        </p:spPr>
        <p:txBody>
          <a:bodyPr/>
          <a:lstStyle/>
          <a:p>
            <a:pPr algn="just" eaLnBrk="1" latinLnBrk="0" hangingPunct="1">
              <a:lnSpc>
                <a:spcPct val="150000"/>
              </a:lnSpc>
              <a:spcBef>
                <a:spcPts val="600"/>
              </a:spcBef>
              <a:buSzPct val="100000"/>
            </a:pPr>
            <a:r>
              <a:rPr lang="en-US" altLang="zh-CN" sz="2800" dirty="0">
                <a:solidFill>
                  <a:schemeClr val="tx1"/>
                </a:solidFill>
                <a:latin typeface="黑体" panose="02010609060101010101" pitchFamily="49" charset="-122"/>
              </a:rPr>
              <a:t>5.1 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49" charset="-122"/>
              </a:rPr>
              <a:t>子程序结构</a:t>
            </a:r>
            <a:endParaRPr lang="en-US" altLang="zh-CN" sz="2800" dirty="0">
              <a:solidFill>
                <a:schemeClr val="tx1"/>
              </a:solidFill>
              <a:latin typeface="黑体" panose="02010609060101010101" pitchFamily="49" charset="-122"/>
            </a:endParaRPr>
          </a:p>
          <a:p>
            <a:pPr marL="720090" lvl="1" indent="-457200" algn="just" latinLnBrk="0">
              <a:lnSpc>
                <a:spcPct val="15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子程序指令、子程序设计</a:t>
            </a:r>
            <a:endParaRPr lang="zh-CN" altLang="en-US" sz="2800" dirty="0">
              <a:solidFill>
                <a:srgbClr val="000000"/>
              </a:solidFill>
              <a:latin typeface="黑体" panose="02010609060101010101" pitchFamily="49" charset="-122"/>
            </a:endParaRPr>
          </a:p>
          <a:p>
            <a:pPr algn="just" eaLnBrk="1" latinLnBrk="0" hangingPunct="1">
              <a:lnSpc>
                <a:spcPct val="150000"/>
              </a:lnSpc>
              <a:spcBef>
                <a:spcPts val="600"/>
              </a:spcBef>
              <a:buSzPct val="100000"/>
            </a:pPr>
            <a:r>
              <a:rPr lang="en-US" altLang="zh-CN" sz="2800" dirty="0">
                <a:solidFill>
                  <a:schemeClr val="tx1"/>
                </a:solidFill>
                <a:latin typeface="黑体" panose="02010609060101010101" pitchFamily="49" charset="-122"/>
                <a:sym typeface="+mn-ea"/>
              </a:rPr>
              <a:t>5.2 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49" charset="-122"/>
                <a:sym typeface="+mn-ea"/>
              </a:rPr>
              <a:t>参数传递</a:t>
            </a:r>
            <a:endParaRPr lang="en-US" altLang="zh-CN" sz="2800" dirty="0">
              <a:solidFill>
                <a:schemeClr val="tx1"/>
              </a:solidFill>
              <a:latin typeface="黑体" panose="02010609060101010101" pitchFamily="49" charset="-122"/>
            </a:endParaRPr>
          </a:p>
          <a:p>
            <a:pPr marL="720090" lvl="1" indent="-457200" algn="just" latinLnBrk="0">
              <a:lnSpc>
                <a:spcPct val="15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  <a:sym typeface="+mn-ea"/>
              </a:rPr>
              <a:t>寄存器、共享变量、堆栈</a:t>
            </a:r>
            <a:endParaRPr lang="zh-CN" altLang="en-US" sz="2400" dirty="0">
              <a:solidFill>
                <a:srgbClr val="000000"/>
              </a:solidFill>
              <a:latin typeface="黑体" panose="02010609060101010101" pitchFamily="49" charset="-122"/>
            </a:endParaRPr>
          </a:p>
          <a:p>
            <a:pPr algn="just" eaLnBrk="1" latinLnBrk="0" hangingPunct="1">
              <a:lnSpc>
                <a:spcPct val="150000"/>
              </a:lnSpc>
              <a:spcBef>
                <a:spcPts val="600"/>
              </a:spcBef>
              <a:buSzPct val="100000"/>
            </a:pPr>
            <a:r>
              <a:rPr lang="en-US" altLang="zh-CN" sz="2800" strike="sngStrike" dirty="0">
                <a:solidFill>
                  <a:srgbClr val="000000"/>
                </a:solidFill>
                <a:latin typeface="黑体" panose="02010609060101010101" pitchFamily="49" charset="-122"/>
              </a:rPr>
              <a:t>5.3 </a:t>
            </a:r>
            <a:r>
              <a:rPr lang="zh-CN" altLang="en-US" sz="2800" strike="sngStrike" dirty="0">
                <a:solidFill>
                  <a:srgbClr val="000000"/>
                </a:solidFill>
                <a:latin typeface="黑体" panose="02010609060101010101" pitchFamily="49" charset="-122"/>
              </a:rPr>
              <a:t>多模块程序结构</a:t>
            </a:r>
            <a:endParaRPr lang="zh-CN" altLang="en-US" sz="2800" strike="sngStrike" dirty="0">
              <a:solidFill>
                <a:srgbClr val="000000"/>
              </a:solidFill>
              <a:latin typeface="黑体" panose="02010609060101010101" pitchFamily="49" charset="-122"/>
            </a:endParaRPr>
          </a:p>
          <a:p>
            <a:pPr algn="just" eaLnBrk="1" latinLnBrk="0" hangingPunct="1">
              <a:lnSpc>
                <a:spcPct val="150000"/>
              </a:lnSpc>
              <a:spcBef>
                <a:spcPts val="600"/>
              </a:spcBef>
              <a:buSzPct val="100000"/>
            </a:pPr>
            <a:r>
              <a:rPr lang="en-US" altLang="zh-CN" sz="2800" strike="sngStrike" dirty="0">
                <a:solidFill>
                  <a:srgbClr val="000000"/>
                </a:solidFill>
                <a:latin typeface="黑体" panose="02010609060101010101" pitchFamily="49" charset="-122"/>
              </a:rPr>
              <a:t>5.4 </a:t>
            </a:r>
            <a:r>
              <a:rPr lang="zh-CN" altLang="en-US" sz="2800" strike="sngStrike" dirty="0">
                <a:solidFill>
                  <a:srgbClr val="000000"/>
                </a:solidFill>
                <a:latin typeface="黑体" panose="02010609060101010101" pitchFamily="49" charset="-122"/>
              </a:rPr>
              <a:t>与</a:t>
            </a:r>
            <a:r>
              <a:rPr lang="en-US" altLang="zh-CN" sz="2800" strike="sngStrike" dirty="0">
                <a:solidFill>
                  <a:srgbClr val="000000"/>
                </a:solidFill>
                <a:latin typeface="黑体" panose="02010609060101010101" pitchFamily="49" charset="-122"/>
              </a:rPr>
              <a:t>C++</a:t>
            </a:r>
            <a:r>
              <a:rPr lang="zh-CN" altLang="en-US" sz="2800" strike="sngStrike" dirty="0">
                <a:solidFill>
                  <a:srgbClr val="000000"/>
                </a:solidFill>
                <a:latin typeface="黑体" panose="02010609060101010101" pitchFamily="49" charset="-122"/>
              </a:rPr>
              <a:t>语言混合编程</a:t>
            </a:r>
            <a:r>
              <a:rPr lang="en-US" altLang="zh-CN" sz="2000" dirty="0"/>
              <a:t>	</a:t>
            </a:r>
            <a:endParaRPr lang="en-US" altLang="zh-CN" sz="2200" dirty="0"/>
          </a:p>
        </p:txBody>
      </p:sp>
      <p:sp>
        <p:nvSpPr>
          <p:cNvPr id="5" name="标题 1"/>
          <p:cNvSpPr txBox="1"/>
          <p:nvPr/>
        </p:nvSpPr>
        <p:spPr>
          <a:xfrm>
            <a:off x="0" y="-27384"/>
            <a:ext cx="9144000" cy="64993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cs typeface="+mj-cs"/>
              </a:rPr>
              <a:t>章节内容安排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6" name="直接连接符 5"/>
          <p:cNvCxnSpPr/>
          <p:nvPr/>
        </p:nvCxnSpPr>
        <p:spPr bwMode="auto">
          <a:xfrm>
            <a:off x="142844" y="688877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467544" y="764704"/>
            <a:ext cx="8280920" cy="5332411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solidFill>
                  <a:schemeClr val="tx1"/>
                </a:solidFill>
                <a:latin typeface="+mn-lt"/>
              </a:rPr>
              <a:t>程序中有些部分要实现相同的功能，只是参数不一样，并且这些功能需要经常用到，可以编写成一个通用子程序，在需要时调用</a:t>
            </a:r>
            <a:endParaRPr lang="zh-CN" altLang="en-US" sz="28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子程序在高级语言中常被称为函数或者过程</a:t>
            </a:r>
            <a:endParaRPr lang="en-US" altLang="zh-CN" sz="28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solidFill>
                  <a:schemeClr val="tx1"/>
                </a:solidFill>
                <a:latin typeface="+mn-lt"/>
              </a:rPr>
              <a:t>使用子程序可以</a:t>
            </a:r>
            <a:endParaRPr lang="zh-CN" altLang="en-US" sz="28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使程序的结构更为清楚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程序的维护更为方便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有利于大程序开发时的多个程序员分工合作</a:t>
            </a:r>
            <a:endParaRPr lang="zh-CN" altLang="en-US" sz="2400" dirty="0">
              <a:solidFill>
                <a:srgbClr val="FF0000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2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4000" dirty="0"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5.1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子程序结构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78184" y="751360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内容占位符 2"/>
          <p:cNvSpPr txBox="1"/>
          <p:nvPr/>
        </p:nvSpPr>
        <p:spPr>
          <a:xfrm>
            <a:off x="5417046" y="3370193"/>
            <a:ext cx="3096344" cy="1398384"/>
          </a:xfrm>
          <a:prstGeom prst="rect">
            <a:avLst/>
          </a:prstGeom>
          <a:solidFill>
            <a:schemeClr val="bg1"/>
          </a:solidFill>
          <a:ln w="19050">
            <a:solidFill>
              <a:srgbClr val="00B050"/>
            </a:solidFill>
            <a:prstDash val="dash"/>
          </a:ln>
        </p:spPr>
        <p:txBody>
          <a:bodyPr/>
          <a:lstStyle/>
          <a:p>
            <a:pPr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defRPr/>
            </a:pPr>
            <a:r>
              <a:rPr lang="zh-CN" altLang="en-US" sz="2200" b="1" dirty="0">
                <a:solidFill>
                  <a:srgbClr val="00B050"/>
                </a:solidFill>
                <a:latin typeface="+mn-lt"/>
              </a:rPr>
              <a:t>子程序（</a:t>
            </a: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Subroutine</a:t>
            </a:r>
            <a:r>
              <a:rPr lang="zh-CN" altLang="en-US" sz="2200" b="1" dirty="0">
                <a:solidFill>
                  <a:srgbClr val="00B050"/>
                </a:solidFill>
                <a:latin typeface="+mn-lt"/>
              </a:rPr>
              <a:t>）</a:t>
            </a:r>
            <a:endParaRPr lang="zh-CN" altLang="en-US" sz="2200" b="1" dirty="0">
              <a:solidFill>
                <a:srgbClr val="00B050"/>
              </a:solidFill>
              <a:latin typeface="+mn-lt"/>
            </a:endParaRPr>
          </a:p>
          <a:p>
            <a:pPr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defRPr/>
            </a:pPr>
            <a:r>
              <a:rPr lang="zh-CN" altLang="en-US" sz="2200" b="1" dirty="0">
                <a:solidFill>
                  <a:srgbClr val="00B050"/>
                </a:solidFill>
                <a:latin typeface="+mn-lt"/>
              </a:rPr>
              <a:t>＝函数（</a:t>
            </a: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Function</a:t>
            </a:r>
            <a:r>
              <a:rPr lang="zh-CN" altLang="en-US" sz="2200" b="1" dirty="0">
                <a:solidFill>
                  <a:srgbClr val="00B050"/>
                </a:solidFill>
                <a:latin typeface="+mn-lt"/>
              </a:rPr>
              <a:t>）</a:t>
            </a:r>
            <a:endParaRPr lang="zh-CN" altLang="en-US" sz="2200" b="1" dirty="0">
              <a:solidFill>
                <a:srgbClr val="00B050"/>
              </a:solidFill>
              <a:latin typeface="+mn-lt"/>
            </a:endParaRPr>
          </a:p>
          <a:p>
            <a:pPr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defRPr/>
            </a:pPr>
            <a:r>
              <a:rPr lang="zh-CN" altLang="en-US" sz="2200" b="1" dirty="0">
                <a:solidFill>
                  <a:srgbClr val="00B050"/>
                </a:solidFill>
                <a:latin typeface="+mn-lt"/>
              </a:rPr>
              <a:t>＝过程（</a:t>
            </a: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Procedure</a:t>
            </a:r>
            <a:r>
              <a:rPr lang="zh-CN" altLang="en-US" sz="2200" b="1" dirty="0">
                <a:solidFill>
                  <a:srgbClr val="00B050"/>
                </a:solidFill>
                <a:latin typeface="+mn-lt"/>
              </a:rPr>
              <a:t>）</a:t>
            </a:r>
            <a:endParaRPr lang="zh-CN" altLang="en-US" sz="2200" b="1" dirty="0">
              <a:solidFill>
                <a:srgbClr val="00B050"/>
              </a:solidFill>
              <a:latin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467995" y="836930"/>
            <a:ext cx="4030345" cy="5634990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12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solidFill>
                  <a:schemeClr val="tx1"/>
                </a:solidFill>
                <a:latin typeface="+mn-lt"/>
              </a:rPr>
              <a:t>子程序：与主程序分开的、完成特定功能的一段程序</a:t>
            </a:r>
            <a:endParaRPr lang="zh-CN" altLang="en-US" sz="26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12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solidFill>
                  <a:schemeClr val="tx1"/>
                </a:solidFill>
                <a:latin typeface="+mn-lt"/>
              </a:rPr>
              <a:t>当</a:t>
            </a:r>
            <a:r>
              <a:rPr lang="zh-CN" altLang="en-US" sz="2600" dirty="0">
                <a:solidFill>
                  <a:srgbClr val="00B050"/>
                </a:solidFill>
                <a:latin typeface="+mn-lt"/>
              </a:rPr>
              <a:t>主程序</a:t>
            </a:r>
            <a:r>
              <a:rPr lang="zh-CN" altLang="en-US" sz="2600" dirty="0">
                <a:solidFill>
                  <a:schemeClr val="tx1"/>
                </a:solidFill>
                <a:latin typeface="+mn-lt"/>
              </a:rPr>
              <a:t>（调用程序）执行调用指令</a:t>
            </a:r>
            <a:r>
              <a:rPr lang="en-US" altLang="zh-CN" sz="2600" dirty="0">
                <a:solidFill>
                  <a:schemeClr val="tx1"/>
                </a:solidFill>
                <a:latin typeface="+mn-lt"/>
              </a:rPr>
              <a:t>CALL</a:t>
            </a:r>
            <a:r>
              <a:rPr lang="zh-CN" altLang="en-US" sz="2600" dirty="0">
                <a:solidFill>
                  <a:schemeClr val="tx1"/>
                </a:solidFill>
                <a:latin typeface="+mn-lt"/>
              </a:rPr>
              <a:t>调用子程序</a:t>
            </a:r>
            <a:endParaRPr lang="zh-CN" altLang="en-US" sz="26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12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solidFill>
                  <a:srgbClr val="00B050"/>
                </a:solidFill>
                <a:latin typeface="+mn-lt"/>
              </a:rPr>
              <a:t>子程序</a:t>
            </a:r>
            <a:r>
              <a:rPr lang="zh-CN" altLang="en-US" sz="2600" dirty="0">
                <a:solidFill>
                  <a:schemeClr val="tx1"/>
                </a:solidFill>
                <a:latin typeface="+mn-lt"/>
              </a:rPr>
              <a:t>（被调用程序）执行返回指令</a:t>
            </a:r>
            <a:r>
              <a:rPr lang="en-US" altLang="zh-CN" sz="2600" dirty="0">
                <a:solidFill>
                  <a:schemeClr val="tx1"/>
                </a:solidFill>
                <a:latin typeface="+mn-lt"/>
              </a:rPr>
              <a:t>RET</a:t>
            </a:r>
            <a:r>
              <a:rPr lang="zh-CN" altLang="en-US" sz="2600" dirty="0">
                <a:solidFill>
                  <a:schemeClr val="tx1"/>
                </a:solidFill>
                <a:latin typeface="+mn-lt"/>
              </a:rPr>
              <a:t>返回主程序</a:t>
            </a:r>
            <a:endParaRPr lang="zh-CN" altLang="en-US" sz="26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5.1.1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子程序指令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78184" y="745654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Line 4"/>
          <p:cNvSpPr>
            <a:spLocks noChangeShapeType="1"/>
          </p:cNvSpPr>
          <p:nvPr/>
        </p:nvSpPr>
        <p:spPr bwMode="auto">
          <a:xfrm>
            <a:off x="5534099" y="1493937"/>
            <a:ext cx="0" cy="1600200"/>
          </a:xfrm>
          <a:prstGeom prst="line">
            <a:avLst/>
          </a:prstGeom>
          <a:noFill/>
          <a:ln w="28575" cap="sq">
            <a:solidFill>
              <a:srgbClr val="660066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Line 5"/>
          <p:cNvSpPr>
            <a:spLocks noChangeShapeType="1"/>
          </p:cNvSpPr>
          <p:nvPr/>
        </p:nvSpPr>
        <p:spPr bwMode="auto">
          <a:xfrm>
            <a:off x="5534099" y="3441800"/>
            <a:ext cx="0" cy="1600200"/>
          </a:xfrm>
          <a:prstGeom prst="line">
            <a:avLst/>
          </a:prstGeom>
          <a:noFill/>
          <a:ln w="28575" cap="sq">
            <a:solidFill>
              <a:srgbClr val="660066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Line 6"/>
          <p:cNvSpPr>
            <a:spLocks noChangeShapeType="1"/>
          </p:cNvSpPr>
          <p:nvPr/>
        </p:nvSpPr>
        <p:spPr bwMode="auto">
          <a:xfrm>
            <a:off x="7781999" y="2074962"/>
            <a:ext cx="0" cy="2057400"/>
          </a:xfrm>
          <a:prstGeom prst="line">
            <a:avLst/>
          </a:prstGeom>
          <a:noFill/>
          <a:ln w="28575" cap="sq">
            <a:solidFill>
              <a:srgbClr val="660066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Line 7"/>
          <p:cNvSpPr>
            <a:spLocks noChangeShapeType="1"/>
          </p:cNvSpPr>
          <p:nvPr/>
        </p:nvSpPr>
        <p:spPr bwMode="auto">
          <a:xfrm flipV="1">
            <a:off x="6470724" y="1976537"/>
            <a:ext cx="1296988" cy="1192213"/>
          </a:xfrm>
          <a:prstGeom prst="line">
            <a:avLst/>
          </a:prstGeom>
          <a:noFill/>
          <a:ln w="28575" cap="sq">
            <a:solidFill>
              <a:srgbClr val="660066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" name="Group 8"/>
          <p:cNvGrpSpPr/>
          <p:nvPr/>
        </p:nvGrpSpPr>
        <p:grpSpPr bwMode="auto">
          <a:xfrm>
            <a:off x="4692724" y="836712"/>
            <a:ext cx="3794125" cy="4295775"/>
            <a:chOff x="249" y="673"/>
            <a:chExt cx="2390" cy="2706"/>
          </a:xfrm>
        </p:grpSpPr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249" y="1009"/>
              <a:ext cx="1152" cy="2370"/>
            </a:xfrm>
            <a:prstGeom prst="rect">
              <a:avLst/>
            </a:prstGeom>
            <a:noFill/>
            <a:ln w="19050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sz="32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algn="just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Blip>
                  <a:blip r:embed="rId1"/>
                </a:buBlip>
                <a:defRPr sz="2800" b="1">
                  <a:solidFill>
                    <a:srgbClr val="193C7D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algn="just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Blip>
                  <a:blip r:embed="rId2"/>
                </a:buBlip>
                <a:defRPr sz="2400" b="1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?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endParaRPr kumimoji="1"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endParaRPr kumimoji="1"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endParaRPr kumimoji="1"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CALL label</a:t>
              </a:r>
              <a:endParaRPr kumimoji="1"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endParaRPr kumimoji="1"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endParaRPr kumimoji="1"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endParaRPr kumimoji="1" lang="zh-CN" altLang="zh-CN" sz="2400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" name="Text Box 10"/>
            <p:cNvSpPr txBox="1">
              <a:spLocks noChangeArrowheads="1"/>
            </p:cNvSpPr>
            <p:nvPr/>
          </p:nvSpPr>
          <p:spPr bwMode="auto">
            <a:xfrm>
              <a:off x="537" y="673"/>
              <a:ext cx="8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sz="32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algn="just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Blip>
                  <a:blip r:embed="rId1"/>
                </a:buBlip>
                <a:defRPr sz="2800" b="1">
                  <a:solidFill>
                    <a:srgbClr val="193C7D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algn="just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Blip>
                  <a:blip r:embed="rId2"/>
                </a:buBlip>
                <a:defRPr sz="2400" b="1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?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zh-CN" altLang="en-US" sz="2400" b="0" dirty="0">
                  <a:latin typeface="黑体" panose="02010609060101010101" pitchFamily="49" charset="-122"/>
                  <a:ea typeface="黑体" panose="02010609060101010101" pitchFamily="49" charset="-122"/>
                </a:rPr>
                <a:t>主程序</a:t>
              </a:r>
              <a:endParaRPr kumimoji="1"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2" name="Text Box 11"/>
            <p:cNvSpPr txBox="1">
              <a:spLocks noChangeArrowheads="1"/>
            </p:cNvSpPr>
            <p:nvPr/>
          </p:nvSpPr>
          <p:spPr bwMode="auto">
            <a:xfrm>
              <a:off x="1913" y="1349"/>
              <a:ext cx="681" cy="1680"/>
            </a:xfrm>
            <a:prstGeom prst="rect">
              <a:avLst/>
            </a:prstGeom>
            <a:noFill/>
            <a:ln w="19050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sz="32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algn="just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Blip>
                  <a:blip r:embed="rId1"/>
                </a:buBlip>
                <a:defRPr sz="2800" b="1">
                  <a:solidFill>
                    <a:srgbClr val="193C7D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algn="just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Blip>
                  <a:blip r:embed="rId2"/>
                </a:buBlip>
                <a:defRPr sz="2400" b="1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?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kumimoji="1"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kumimoji="1"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kumimoji="1"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kumimoji="1" lang="zh-CN" altLang="zh-CN" sz="2400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RET</a:t>
              </a:r>
              <a:endParaRPr kumimoji="1"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" name="Text Box 12"/>
            <p:cNvSpPr txBox="1">
              <a:spLocks noChangeArrowheads="1"/>
            </p:cNvSpPr>
            <p:nvPr/>
          </p:nvSpPr>
          <p:spPr bwMode="auto">
            <a:xfrm>
              <a:off x="1823" y="1013"/>
              <a:ext cx="8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sz="32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algn="just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Blip>
                  <a:blip r:embed="rId1"/>
                </a:buBlip>
                <a:defRPr sz="2800" b="1">
                  <a:solidFill>
                    <a:srgbClr val="193C7D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algn="just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Blip>
                  <a:blip r:embed="rId2"/>
                </a:buBlip>
                <a:defRPr sz="2400" b="1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?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zh-CN" altLang="en-US" sz="2400" b="0" dirty="0">
                  <a:latin typeface="黑体" panose="02010609060101010101" pitchFamily="49" charset="-122"/>
                  <a:ea typeface="黑体" panose="02010609060101010101" pitchFamily="49" charset="-122"/>
                </a:rPr>
                <a:t>子程序</a:t>
              </a:r>
              <a:endParaRPr kumimoji="1"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14" name="Line 13"/>
          <p:cNvSpPr>
            <a:spLocks noChangeShapeType="1"/>
          </p:cNvSpPr>
          <p:nvPr/>
        </p:nvSpPr>
        <p:spPr bwMode="auto">
          <a:xfrm flipH="1" flipV="1">
            <a:off x="5610299" y="3398937"/>
            <a:ext cx="1868488" cy="922338"/>
          </a:xfrm>
          <a:prstGeom prst="line">
            <a:avLst/>
          </a:prstGeom>
          <a:noFill/>
          <a:ln w="28575" cap="sq">
            <a:solidFill>
              <a:srgbClr val="660066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AutoShape 14"/>
          <p:cNvSpPr/>
          <p:nvPr/>
        </p:nvSpPr>
        <p:spPr bwMode="auto">
          <a:xfrm>
            <a:off x="6061149" y="5329337"/>
            <a:ext cx="2441575" cy="835025"/>
          </a:xfrm>
          <a:prstGeom prst="accentCallout1">
            <a:avLst>
              <a:gd name="adj1" fmla="val 13690"/>
              <a:gd name="adj2" fmla="val -3120"/>
              <a:gd name="adj3" fmla="val -199620"/>
              <a:gd name="adj4" fmla="val -14630"/>
            </a:avLst>
          </a:prstGeom>
          <a:solidFill>
            <a:srgbClr val="DDEEFF"/>
          </a:solidFill>
          <a:ln w="12700" cap="sq">
            <a:solidFill>
              <a:srgbClr val="0000CC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回到</a:t>
            </a:r>
            <a:r>
              <a:rPr kumimoji="1" lang="en-US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CALL</a:t>
            </a:r>
            <a:r>
              <a:rPr kumimoji="1"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指令后的指令处</a:t>
            </a:r>
            <a:endParaRPr kumimoji="1" lang="zh-CN" altLang="en-US" sz="24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2" presetID="17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6000"/>
                            </p:stCondLst>
                            <p:childTnLst>
                              <p:par>
                                <p:cTn id="19" presetID="17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0"/>
                            </p:stCondLst>
                            <p:childTnLst>
                              <p:par>
                                <p:cTn id="26" presetID="17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3000"/>
                            </p:stCondLst>
                            <p:childTnLst>
                              <p:par>
                                <p:cTn id="33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3500"/>
                            </p:stCondLst>
                            <p:childTnLst>
                              <p:par>
                                <p:cTn id="40" presetID="17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478397" y="717079"/>
            <a:ext cx="8271395" cy="5855085"/>
          </a:xfrm>
          <a:prstGeom prst="rect">
            <a:avLst/>
          </a:prstGeom>
        </p:spPr>
        <p:txBody>
          <a:bodyPr/>
          <a:lstStyle/>
          <a:p>
            <a:pPr marL="457200" indent="-457200" algn="just" latinLnBrk="0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CALL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指令用在主程序中，实现子程序的调用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 latinLnBrk="0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200" dirty="0">
                <a:solidFill>
                  <a:schemeClr val="tx1"/>
                </a:solidFill>
                <a:latin typeface="+mn-lt"/>
                <a:sym typeface="+mn-ea"/>
              </a:rPr>
              <a:t>要同</a:t>
            </a:r>
            <a:r>
              <a:rPr lang="en-US" altLang="zh-CN" sz="2200" dirty="0">
                <a:solidFill>
                  <a:srgbClr val="FF0000"/>
                </a:solidFill>
                <a:latin typeface="+mn-lt"/>
                <a:sym typeface="+mn-ea"/>
              </a:rPr>
              <a:t>JMP</a:t>
            </a:r>
            <a:r>
              <a:rPr lang="zh-CN" altLang="en-US" sz="2200" dirty="0">
                <a:solidFill>
                  <a:srgbClr val="FF0000"/>
                </a:solidFill>
                <a:latin typeface="+mn-lt"/>
                <a:sym typeface="+mn-ea"/>
              </a:rPr>
              <a:t>指令</a:t>
            </a:r>
            <a:r>
              <a:rPr lang="zh-CN" altLang="en-US" sz="2200" dirty="0">
                <a:solidFill>
                  <a:schemeClr val="tx1"/>
                </a:solidFill>
                <a:latin typeface="+mn-lt"/>
                <a:sym typeface="+mn-ea"/>
              </a:rPr>
              <a:t>一样改变</a:t>
            </a:r>
            <a:r>
              <a:rPr lang="en-US" altLang="zh-CN" sz="2200" dirty="0">
                <a:solidFill>
                  <a:schemeClr val="tx1"/>
                </a:solidFill>
                <a:latin typeface="+mn-lt"/>
                <a:sym typeface="+mn-ea"/>
              </a:rPr>
              <a:t>CS</a:t>
            </a:r>
            <a:r>
              <a:rPr lang="zh-CN" altLang="en-US" sz="2200" dirty="0">
                <a:solidFill>
                  <a:schemeClr val="tx1"/>
                </a:solidFill>
                <a:latin typeface="+mn-lt"/>
                <a:sym typeface="+mn-ea"/>
              </a:rPr>
              <a:t>和</a:t>
            </a:r>
            <a:r>
              <a:rPr lang="en-US" altLang="zh-CN" sz="2200" dirty="0">
                <a:solidFill>
                  <a:schemeClr val="tx1"/>
                </a:solidFill>
                <a:latin typeface="+mn-lt"/>
                <a:sym typeface="+mn-ea"/>
              </a:rPr>
              <a:t>EIP</a:t>
            </a:r>
            <a:r>
              <a:rPr lang="zh-CN" altLang="en-US" sz="2200" dirty="0">
                <a:solidFill>
                  <a:schemeClr val="tx1"/>
                </a:solidFill>
                <a:latin typeface="+mn-lt"/>
                <a:sym typeface="+mn-ea"/>
              </a:rPr>
              <a:t>以实现转移</a:t>
            </a:r>
            <a:endParaRPr lang="zh-CN" altLang="en-US" sz="2200" dirty="0">
              <a:solidFill>
                <a:schemeClr val="tx1"/>
              </a:solidFill>
              <a:latin typeface="+mn-lt"/>
              <a:sym typeface="+mn-ea"/>
            </a:endParaRPr>
          </a:p>
          <a:p>
            <a:pPr marL="914400" lvl="1" indent="-457200" algn="just" latinLnBrk="0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200" dirty="0">
                <a:solidFill>
                  <a:schemeClr val="tx1"/>
                </a:solidFill>
                <a:latin typeface="+mn-lt"/>
                <a:sym typeface="+mn-ea"/>
              </a:rPr>
              <a:t>子程序执行结束时要返回的，因此要使用</a:t>
            </a:r>
            <a:r>
              <a:rPr lang="en-US" altLang="zh-CN" sz="2200" dirty="0">
                <a:solidFill>
                  <a:srgbClr val="FF0000"/>
                </a:solidFill>
                <a:latin typeface="+mn-lt"/>
                <a:sym typeface="+mn-ea"/>
              </a:rPr>
              <a:t>PUSH</a:t>
            </a:r>
            <a:r>
              <a:rPr lang="zh-CN" altLang="en-US" sz="2200" dirty="0">
                <a:solidFill>
                  <a:srgbClr val="FF0000"/>
                </a:solidFill>
                <a:latin typeface="+mn-lt"/>
                <a:sym typeface="+mn-ea"/>
              </a:rPr>
              <a:t>指令</a:t>
            </a:r>
            <a:r>
              <a:rPr lang="zh-CN" altLang="en-US" sz="2200" dirty="0">
                <a:solidFill>
                  <a:schemeClr val="tx1"/>
                </a:solidFill>
                <a:latin typeface="+mn-lt"/>
                <a:sym typeface="+mn-ea"/>
              </a:rPr>
              <a:t>保留下一条要执行指令的地址，以便返回时获取</a:t>
            </a:r>
            <a:endParaRPr lang="en-US" altLang="zh-CN" sz="2200" dirty="0">
              <a:solidFill>
                <a:schemeClr val="tx1"/>
              </a:solidFill>
              <a:latin typeface="+mn-lt"/>
            </a:endParaRPr>
          </a:p>
          <a:p>
            <a:pPr marL="457200" indent="-457200" algn="just" latinLnBrk="0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返回地址：将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CALL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下条指令的地址压入堆栈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 latinLnBrk="0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200" dirty="0">
                <a:solidFill>
                  <a:schemeClr val="tx1"/>
                </a:solidFill>
                <a:latin typeface="+mn-lt"/>
                <a:sym typeface="+mn-ea"/>
              </a:rPr>
              <a:t>段内调用：仅</a:t>
            </a:r>
            <a:r>
              <a:rPr lang="en-US" altLang="zh-CN" sz="2200" dirty="0">
                <a:solidFill>
                  <a:schemeClr val="tx1"/>
                </a:solidFill>
                <a:latin typeface="+mn-lt"/>
                <a:sym typeface="+mn-ea"/>
              </a:rPr>
              <a:t>PUSH EIP</a:t>
            </a:r>
            <a:endParaRPr lang="en-US" altLang="zh-CN" sz="2200" dirty="0">
              <a:solidFill>
                <a:schemeClr val="tx1"/>
              </a:solidFill>
              <a:latin typeface="+mn-lt"/>
              <a:sym typeface="+mn-ea"/>
            </a:endParaRPr>
          </a:p>
          <a:p>
            <a:pPr marL="914400" lvl="1" indent="-457200" algn="just" latinLnBrk="0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200" dirty="0">
                <a:solidFill>
                  <a:schemeClr val="tx1"/>
                </a:solidFill>
                <a:latin typeface="+mn-lt"/>
                <a:sym typeface="+mn-ea"/>
              </a:rPr>
              <a:t>段间调用：先</a:t>
            </a:r>
            <a:r>
              <a:rPr lang="en-US" altLang="zh-CN" sz="2200" dirty="0">
                <a:solidFill>
                  <a:schemeClr val="tx1"/>
                </a:solidFill>
                <a:latin typeface="+mn-lt"/>
                <a:sym typeface="+mn-ea"/>
              </a:rPr>
              <a:t>PUSH CS</a:t>
            </a:r>
            <a:r>
              <a:rPr lang="zh-CN" altLang="en-US" sz="2200" dirty="0">
                <a:solidFill>
                  <a:schemeClr val="tx1"/>
                </a:solidFill>
                <a:latin typeface="+mn-lt"/>
                <a:sym typeface="+mn-ea"/>
              </a:rPr>
              <a:t>，再</a:t>
            </a:r>
            <a:r>
              <a:rPr lang="en-US" altLang="zh-CN" sz="2200" dirty="0">
                <a:solidFill>
                  <a:schemeClr val="tx1"/>
                </a:solidFill>
                <a:latin typeface="+mn-lt"/>
                <a:sym typeface="+mn-ea"/>
              </a:rPr>
              <a:t>PUSH EIP</a:t>
            </a:r>
            <a:endParaRPr lang="zh-CN" altLang="en-US" sz="22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1.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子程序调用指令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CALL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78184" y="760885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996950" y="3982085"/>
            <a:ext cx="7680960" cy="2738120"/>
          </a:xfrm>
          <a:prstGeom prst="rect">
            <a:avLst/>
          </a:prstGeom>
          <a:solidFill>
            <a:srgbClr val="DDEEFF"/>
          </a:solidFill>
          <a:ln w="9525">
            <a:noFill/>
            <a:miter lim="800000"/>
          </a:ln>
        </p:spPr>
        <p:txBody>
          <a:bodyPr/>
          <a:lstStyle>
            <a:lvl1pPr marL="342900" indent="-342900" algn="l" defTabSz="762000" eaLnBrk="0" hangingPunct="0">
              <a:spcBef>
                <a:spcPct val="20000"/>
              </a:spcBef>
              <a:buChar char="•"/>
              <a:defRPr kumimoji="1" sz="44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62100" indent="-22860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812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4384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95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352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10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lvl="1" indent="-457200" latinLnBrk="0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en-US" altLang="zh-CN" sz="2200" b="1" dirty="0">
                <a:solidFill>
                  <a:srgbClr val="0000FF"/>
                </a:solidFill>
                <a:latin typeface="+mj-lt"/>
                <a:ea typeface="黑体" panose="02010609060101010101" pitchFamily="49" charset="-122"/>
              </a:rPr>
              <a:t>CALL label</a:t>
            </a:r>
            <a:endParaRPr lang="en-US" altLang="zh-CN" sz="2200" b="1" dirty="0">
              <a:solidFill>
                <a:srgbClr val="0000FF"/>
              </a:solidFill>
              <a:latin typeface="+mj-lt"/>
              <a:ea typeface="黑体" panose="02010609060101010101" pitchFamily="49" charset="-122"/>
            </a:endParaRPr>
          </a:p>
          <a:p>
            <a:pPr marL="457200" lvl="1" indent="-457200" latinLnBrk="0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en-US" altLang="zh-CN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en-US" altLang="zh-CN" sz="2200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r>
              <a:rPr lang="zh-CN" altLang="en-US" sz="2200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调用标号指定的子程序</a:t>
            </a:r>
            <a:endParaRPr lang="zh-CN" altLang="en-US" sz="2200" dirty="0">
              <a:solidFill>
                <a:srgbClr val="00B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-457200" latinLnBrk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200" b="1" dirty="0">
                <a:solidFill>
                  <a:srgbClr val="0000FF"/>
                </a:solidFill>
                <a:latin typeface="+mj-lt"/>
                <a:ea typeface="黑体" panose="02010609060101010101" pitchFamily="49" charset="-122"/>
              </a:rPr>
              <a:t>CALL reg16/reg32</a:t>
            </a:r>
            <a:r>
              <a:rPr lang="en-US" altLang="zh-CN" sz="2200" dirty="0">
                <a:solidFill>
                  <a:srgbClr val="0000FF"/>
                </a:solidFill>
                <a:latin typeface="+mj-lt"/>
                <a:ea typeface="黑体" panose="02010609060101010101" pitchFamily="49" charset="-122"/>
              </a:rPr>
              <a:t>	</a:t>
            </a:r>
            <a:endParaRPr lang="en-US" altLang="zh-CN" sz="2200" dirty="0">
              <a:solidFill>
                <a:srgbClr val="0000FF"/>
              </a:solidFill>
              <a:latin typeface="+mj-lt"/>
              <a:ea typeface="黑体" panose="02010609060101010101" pitchFamily="49" charset="-122"/>
            </a:endParaRPr>
          </a:p>
          <a:p>
            <a:pPr marL="457200" lvl="1" indent="-457200" latinLnBrk="0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en-US" altLang="zh-CN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en-US" altLang="zh-CN" sz="2200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r>
              <a:rPr lang="zh-CN" altLang="en-US" sz="2200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调用寄存器指定地址的子程序</a:t>
            </a:r>
            <a:endParaRPr lang="zh-CN" altLang="en-US" sz="2200" dirty="0">
              <a:solidFill>
                <a:srgbClr val="00B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-457200" latinLnBrk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200" b="1" dirty="0">
                <a:solidFill>
                  <a:srgbClr val="0000FF"/>
                </a:solidFill>
                <a:latin typeface="+mj-lt"/>
                <a:ea typeface="黑体" panose="02010609060101010101" pitchFamily="49" charset="-122"/>
              </a:rPr>
              <a:t>CALL mem16/mem32/mem48</a:t>
            </a:r>
            <a:endParaRPr lang="en-US" altLang="zh-CN" sz="2200" b="1" dirty="0">
              <a:solidFill>
                <a:srgbClr val="0000FF"/>
              </a:solidFill>
              <a:latin typeface="+mj-lt"/>
              <a:ea typeface="黑体" panose="02010609060101010101" pitchFamily="49" charset="-122"/>
            </a:endParaRPr>
          </a:p>
          <a:p>
            <a:pPr marL="457200" lvl="1" indent="-457200" latinLnBrk="0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en-US" altLang="zh-CN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en-US" altLang="zh-CN" sz="2200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r>
              <a:rPr lang="zh-CN" altLang="en-US" sz="2200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调用存储单元指定地址的子程序</a:t>
            </a:r>
            <a:endParaRPr lang="en-US" altLang="zh-CN" sz="2200" dirty="0">
              <a:solidFill>
                <a:srgbClr val="00B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396864" y="774229"/>
            <a:ext cx="8208912" cy="5680994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600" dirty="0">
                <a:latin typeface="+mn-lt"/>
              </a:rPr>
              <a:t>RET</a:t>
            </a:r>
            <a:r>
              <a:rPr lang="zh-CN" altLang="en-US" sz="2600" dirty="0">
                <a:latin typeface="+mn-lt"/>
              </a:rPr>
              <a:t>指令用于在子程序执行结束，返回主程序中继续执行，需获取由</a:t>
            </a:r>
            <a:r>
              <a:rPr lang="en-US" altLang="zh-CN" sz="2600" dirty="0">
                <a:latin typeface="+mn-lt"/>
              </a:rPr>
              <a:t>CALL</a:t>
            </a:r>
            <a:r>
              <a:rPr lang="zh-CN" altLang="en-US" sz="2600" dirty="0">
                <a:latin typeface="+mn-lt"/>
              </a:rPr>
              <a:t>指令保存于堆栈的指令地址</a:t>
            </a:r>
            <a:endParaRPr lang="zh-CN" altLang="en-US" sz="2600" dirty="0">
              <a:latin typeface="+mn-lt"/>
            </a:endParaRPr>
          </a:p>
          <a:p>
            <a:pPr algn="just">
              <a:lnSpc>
                <a:spcPct val="130000"/>
              </a:lnSpc>
              <a:spcBef>
                <a:spcPts val="200"/>
              </a:spcBef>
              <a:buClr>
                <a:srgbClr val="0000FF"/>
              </a:buClr>
              <a:buSzPct val="100000"/>
              <a:defRPr/>
            </a:pPr>
            <a:endParaRPr lang="en-US" altLang="zh-CN" sz="4000" dirty="0"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2.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子程序返回指令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+mj-cs"/>
              </a:rPr>
              <a:t>RET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78184" y="745654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987478" y="2030113"/>
            <a:ext cx="7474282" cy="3171296"/>
          </a:xfrm>
          <a:prstGeom prst="rect">
            <a:avLst/>
          </a:prstGeom>
          <a:solidFill>
            <a:srgbClr val="DDEEFF"/>
          </a:solidFill>
          <a:ln w="9525">
            <a:noFill/>
            <a:miter lim="800000"/>
          </a:ln>
        </p:spPr>
        <p:txBody>
          <a:bodyPr/>
          <a:lstStyle>
            <a:lvl1pPr marL="342900" indent="-342900" algn="l" defTabSz="762000" eaLnBrk="0" hangingPunct="0">
              <a:spcBef>
                <a:spcPct val="20000"/>
              </a:spcBef>
              <a:buChar char="•"/>
              <a:defRPr kumimoji="1" sz="44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62100" indent="-22860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812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4384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95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352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10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lvl="1" indent="-457200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en-US" altLang="zh-CN" sz="2200" b="1" dirty="0">
                <a:solidFill>
                  <a:srgbClr val="0000FF"/>
                </a:solidFill>
                <a:latin typeface="+mj-lt"/>
                <a:ea typeface="黑体" panose="02010609060101010101" pitchFamily="49" charset="-122"/>
              </a:rPr>
              <a:t>RET</a:t>
            </a:r>
            <a:endParaRPr lang="en-US" altLang="zh-CN" sz="2200" b="1" dirty="0">
              <a:solidFill>
                <a:srgbClr val="0000FF"/>
              </a:solidFill>
              <a:latin typeface="+mj-lt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en-US" altLang="zh-CN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;</a:t>
            </a:r>
            <a:r>
              <a:rPr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无参数返回：出栈返回地址</a:t>
            </a:r>
            <a:endParaRPr lang="en-US" altLang="zh-CN" sz="22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en-US" altLang="zh-CN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;</a:t>
            </a:r>
            <a:r>
              <a:rPr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弹出返回地址：</a:t>
            </a:r>
            <a:r>
              <a:rPr lang="en-US" altLang="zh-CN" sz="2200" dirty="0">
                <a:solidFill>
                  <a:srgbClr val="000000"/>
                </a:solidFill>
                <a:latin typeface="+mj-lt"/>
                <a:ea typeface="黑体" panose="02010609060101010101" pitchFamily="49" charset="-122"/>
              </a:rPr>
              <a:t>EIP=SS:[ESP], ESP=ESP+4</a:t>
            </a:r>
            <a:endParaRPr lang="zh-CN" altLang="en-US" sz="2200" dirty="0">
              <a:solidFill>
                <a:srgbClr val="000000"/>
              </a:solidFill>
              <a:latin typeface="+mj-lt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200" b="1" dirty="0">
                <a:solidFill>
                  <a:srgbClr val="0000FF"/>
                </a:solidFill>
                <a:latin typeface="+mj-lt"/>
                <a:ea typeface="黑体" panose="02010609060101010101" pitchFamily="49" charset="-122"/>
              </a:rPr>
              <a:t>RET i16</a:t>
            </a:r>
            <a:endParaRPr lang="en-US" altLang="zh-CN" sz="2200" b="1" dirty="0">
              <a:solidFill>
                <a:srgbClr val="0000FF"/>
              </a:solidFill>
              <a:latin typeface="+mj-lt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en-US" altLang="zh-CN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;</a:t>
            </a:r>
            <a:r>
              <a:rPr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有参数返回：出栈返回地址</a:t>
            </a:r>
            <a:endParaRPr lang="zh-CN" altLang="en-US" sz="22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en-US" altLang="zh-CN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r>
              <a:rPr lang="en-US" altLang="zh-CN" sz="2200" dirty="0">
                <a:solidFill>
                  <a:srgbClr val="000000"/>
                </a:solidFill>
                <a:latin typeface="+mj-lt"/>
                <a:ea typeface="黑体" panose="02010609060101010101" pitchFamily="49" charset="-122"/>
              </a:rPr>
              <a:t>ESP←ESP</a:t>
            </a:r>
            <a:r>
              <a:rPr lang="zh-CN" altLang="en-US" sz="2200" dirty="0">
                <a:solidFill>
                  <a:srgbClr val="000000"/>
                </a:solidFill>
                <a:latin typeface="+mj-lt"/>
                <a:ea typeface="黑体" panose="02010609060101010101" pitchFamily="49" charset="-122"/>
              </a:rPr>
              <a:t>＋</a:t>
            </a:r>
            <a:r>
              <a:rPr lang="en-US" altLang="zh-CN" sz="2200" dirty="0">
                <a:solidFill>
                  <a:srgbClr val="000000"/>
                </a:solidFill>
                <a:latin typeface="+mj-lt"/>
                <a:ea typeface="黑体" panose="02010609060101010101" pitchFamily="49" charset="-122"/>
              </a:rPr>
              <a:t>i16</a:t>
            </a:r>
            <a:endParaRPr lang="en-US" altLang="zh-CN" sz="2200" dirty="0">
              <a:solidFill>
                <a:srgbClr val="000000"/>
              </a:solidFill>
              <a:latin typeface="+mj-lt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en-US" altLang="zh-CN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;</a:t>
            </a:r>
            <a:r>
              <a:rPr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弹出返回地址：</a:t>
            </a:r>
            <a:r>
              <a:rPr lang="en-US" altLang="zh-CN" sz="2200" dirty="0">
                <a:solidFill>
                  <a:srgbClr val="000000"/>
                </a:solidFill>
                <a:latin typeface="+mj-lt"/>
                <a:ea typeface="黑体" panose="02010609060101010101" pitchFamily="49" charset="-122"/>
              </a:rPr>
              <a:t>EIP=SS:[ESP], ESP=ESP+4</a:t>
            </a:r>
            <a:endParaRPr lang="en-US" altLang="zh-CN" sz="2200" dirty="0">
              <a:solidFill>
                <a:srgbClr val="000000"/>
              </a:solidFill>
              <a:latin typeface="+mj-lt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0"/>
              </a:spcBef>
              <a:buFontTx/>
              <a:buNone/>
            </a:pPr>
            <a:endParaRPr lang="en-US" altLang="zh-CN" sz="2400" dirty="0">
              <a:solidFill>
                <a:srgbClr val="000000"/>
              </a:solidFill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2" name="filecab3"/>
          <p:cNvSpPr>
            <a:spLocks noEditPoints="1" noChangeArrowheads="1"/>
          </p:cNvSpPr>
          <p:nvPr/>
        </p:nvSpPr>
        <p:spPr bwMode="auto">
          <a:xfrm flipV="1">
            <a:off x="997003" y="5301208"/>
            <a:ext cx="7464757" cy="1006922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0 h 21600"/>
              <a:gd name="T4" fmla="*/ 0 w 21600"/>
              <a:gd name="T5" fmla="*/ 2147483646 h 21600"/>
              <a:gd name="T6" fmla="*/ 0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2147483646 w 21600"/>
              <a:gd name="T13" fmla="*/ 2147483646 h 21600"/>
              <a:gd name="T14" fmla="*/ 2147483646 w 21600"/>
              <a:gd name="T15" fmla="*/ 0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1004 w 21600"/>
              <a:gd name="T25" fmla="*/ 511 h 21600"/>
              <a:gd name="T26" fmla="*/ 20542 w 21600"/>
              <a:gd name="T27" fmla="*/ 18765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 extrusionOk="0">
                <a:moveTo>
                  <a:pt x="10788" y="0"/>
                </a:moveTo>
                <a:lnTo>
                  <a:pt x="0" y="0"/>
                </a:lnTo>
                <a:lnTo>
                  <a:pt x="0" y="10800"/>
                </a:lnTo>
                <a:lnTo>
                  <a:pt x="0" y="19099"/>
                </a:lnTo>
                <a:lnTo>
                  <a:pt x="8466" y="19099"/>
                </a:lnTo>
                <a:lnTo>
                  <a:pt x="8490" y="19440"/>
                </a:lnTo>
                <a:lnTo>
                  <a:pt x="8537" y="20008"/>
                </a:lnTo>
                <a:lnTo>
                  <a:pt x="8607" y="20349"/>
                </a:lnTo>
                <a:lnTo>
                  <a:pt x="8701" y="20691"/>
                </a:lnTo>
                <a:lnTo>
                  <a:pt x="8842" y="21145"/>
                </a:lnTo>
                <a:lnTo>
                  <a:pt x="9053" y="21373"/>
                </a:lnTo>
                <a:lnTo>
                  <a:pt x="9264" y="21600"/>
                </a:lnTo>
                <a:lnTo>
                  <a:pt x="9545" y="21600"/>
                </a:lnTo>
                <a:lnTo>
                  <a:pt x="10718" y="21600"/>
                </a:lnTo>
                <a:lnTo>
                  <a:pt x="11891" y="21600"/>
                </a:lnTo>
                <a:lnTo>
                  <a:pt x="12266" y="21600"/>
                </a:lnTo>
                <a:lnTo>
                  <a:pt x="12477" y="21429"/>
                </a:lnTo>
                <a:lnTo>
                  <a:pt x="12618" y="21202"/>
                </a:lnTo>
                <a:lnTo>
                  <a:pt x="12758" y="20861"/>
                </a:lnTo>
                <a:lnTo>
                  <a:pt x="12922" y="20349"/>
                </a:lnTo>
                <a:lnTo>
                  <a:pt x="12993" y="19952"/>
                </a:lnTo>
                <a:lnTo>
                  <a:pt x="13016" y="19440"/>
                </a:lnTo>
                <a:lnTo>
                  <a:pt x="13063" y="19099"/>
                </a:lnTo>
                <a:lnTo>
                  <a:pt x="21600" y="19099"/>
                </a:lnTo>
                <a:lnTo>
                  <a:pt x="21600" y="10800"/>
                </a:lnTo>
                <a:lnTo>
                  <a:pt x="21600" y="0"/>
                </a:lnTo>
                <a:lnTo>
                  <a:pt x="10788" y="0"/>
                </a:lnTo>
                <a:close/>
                <a:moveTo>
                  <a:pt x="9053" y="19099"/>
                </a:moveTo>
                <a:lnTo>
                  <a:pt x="9053" y="19440"/>
                </a:lnTo>
                <a:lnTo>
                  <a:pt x="9076" y="19611"/>
                </a:lnTo>
                <a:lnTo>
                  <a:pt x="9123" y="19781"/>
                </a:lnTo>
                <a:lnTo>
                  <a:pt x="9193" y="20008"/>
                </a:lnTo>
                <a:lnTo>
                  <a:pt x="9264" y="20179"/>
                </a:lnTo>
                <a:lnTo>
                  <a:pt x="9334" y="20293"/>
                </a:lnTo>
                <a:lnTo>
                  <a:pt x="9405" y="20349"/>
                </a:lnTo>
                <a:lnTo>
                  <a:pt x="9545" y="20349"/>
                </a:lnTo>
                <a:lnTo>
                  <a:pt x="11891" y="20349"/>
                </a:lnTo>
                <a:lnTo>
                  <a:pt x="12031" y="20349"/>
                </a:lnTo>
                <a:lnTo>
                  <a:pt x="12172" y="20236"/>
                </a:lnTo>
                <a:lnTo>
                  <a:pt x="12266" y="20179"/>
                </a:lnTo>
                <a:lnTo>
                  <a:pt x="12336" y="20008"/>
                </a:lnTo>
                <a:lnTo>
                  <a:pt x="12383" y="19838"/>
                </a:lnTo>
                <a:lnTo>
                  <a:pt x="12430" y="19611"/>
                </a:lnTo>
                <a:lnTo>
                  <a:pt x="12477" y="19440"/>
                </a:lnTo>
                <a:lnTo>
                  <a:pt x="12477" y="19099"/>
                </a:lnTo>
                <a:lnTo>
                  <a:pt x="9053" y="19099"/>
                </a:lnTo>
                <a:close/>
              </a:path>
              <a:path w="21600" h="21600" extrusionOk="0">
                <a:moveTo>
                  <a:pt x="9053" y="19099"/>
                </a:moveTo>
                <a:lnTo>
                  <a:pt x="0" y="19099"/>
                </a:lnTo>
                <a:lnTo>
                  <a:pt x="21600" y="19099"/>
                </a:lnTo>
              </a:path>
            </a:pathLst>
          </a:custGeom>
          <a:solidFill>
            <a:srgbClr val="DDEEFF"/>
          </a:solidFill>
          <a:ln w="9525" cap="rnd">
            <a:solidFill>
              <a:srgbClr val="000000"/>
            </a:solidFill>
            <a:prstDash val="sysDot"/>
            <a:miter lim="800000"/>
          </a:ln>
          <a:effectLst>
            <a:outerShdw dist="107763" dir="2700000" algn="ctr" rotWithShape="0">
              <a:srgbClr val="808080"/>
            </a:outerShdw>
          </a:effectLst>
        </p:spPr>
        <p:txBody>
          <a:bodyPr rot="10800000"/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600"/>
              </a:spcBef>
              <a:buClrTx/>
              <a:buFontTx/>
              <a:buNone/>
            </a:pPr>
            <a:r>
              <a:rPr lang="en-US" altLang="zh-CN" sz="2200" b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MASM</a:t>
            </a:r>
            <a:r>
              <a:rPr lang="zh-CN" altLang="en-US" sz="22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会根据存储模型等信息确定子程序的远近调用，并相应产生返回指令</a:t>
            </a:r>
            <a:endParaRPr lang="zh-CN" altLang="en-US" sz="2200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CALL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的调用和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+mj-cs"/>
              </a:rPr>
              <a:t>RET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+mj-cs"/>
              </a:rPr>
              <a:t>的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+mj-cs"/>
              </a:rPr>
              <a:t>返回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78184" y="745654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314" name="Text Box 11"/>
          <p:cNvSpPr txBox="1"/>
          <p:nvPr/>
        </p:nvSpPr>
        <p:spPr>
          <a:xfrm>
            <a:off x="6303328" y="1577975"/>
            <a:ext cx="2252662" cy="3228975"/>
          </a:xfrm>
          <a:prstGeom prst="rect">
            <a:avLst/>
          </a:prstGeom>
          <a:noFill/>
          <a:ln w="19050" cap="sq" cmpd="sng">
            <a:solidFill>
              <a:srgbClr val="0000CC"/>
            </a:solidFill>
            <a:prstDash val="solid"/>
            <a:miter/>
            <a:headEnd type="none" w="sm" len="sm"/>
            <a:tailEnd type="none" w="sm" len="sm"/>
          </a:ln>
        </p:spPr>
        <p:txBody>
          <a:bodyPr lIns="91431" tIns="45716" rIns="91431" bIns="45716" anchor="t" anchorCtr="0">
            <a:spAutoFit/>
          </a:bodyPr>
          <a:p>
            <a:pPr algn="just" defTabSz="914400">
              <a:spcBef>
                <a:spcPct val="50000"/>
              </a:spcBef>
              <a:tabLst>
                <a:tab pos="1071880" algn="l"/>
              </a:tabLst>
            </a:pPr>
            <a:r>
              <a:rPr lang="en-US" altLang="zh-CN" sz="2400" b="1">
                <a:solidFill>
                  <a:srgbClr val="0000CC"/>
                </a:solidFill>
                <a:latin typeface="黑体" panose="02010609060101010101" pitchFamily="49" charset="-122"/>
              </a:rPr>
              <a:t>name	</a:t>
            </a:r>
            <a:r>
              <a:rPr lang="en-US" altLang="zh-CN" sz="2400" b="1">
                <a:latin typeface="黑体" panose="02010609060101010101" pitchFamily="49" charset="-122"/>
              </a:rPr>
              <a:t>…</a:t>
            </a:r>
            <a:endParaRPr lang="zh-CN" altLang="en-US" sz="2400" b="1" dirty="0">
              <a:latin typeface="黑体" panose="02010609060101010101" pitchFamily="49" charset="-122"/>
            </a:endParaRPr>
          </a:p>
          <a:p>
            <a:pPr algn="ctr" defTabSz="914400">
              <a:spcBef>
                <a:spcPct val="50000"/>
              </a:spcBef>
              <a:tabLst>
                <a:tab pos="1071880" algn="l"/>
              </a:tabLst>
            </a:pPr>
            <a:endParaRPr lang="zh-CN" altLang="en-US" sz="2400" b="1" dirty="0">
              <a:solidFill>
                <a:schemeClr val="bg2"/>
              </a:solidFill>
              <a:latin typeface="黑体" panose="02010609060101010101" pitchFamily="49" charset="-122"/>
            </a:endParaRPr>
          </a:p>
          <a:p>
            <a:pPr algn="ctr" defTabSz="914400">
              <a:spcBef>
                <a:spcPct val="50000"/>
              </a:spcBef>
              <a:tabLst>
                <a:tab pos="1071880" algn="l"/>
              </a:tabLst>
            </a:pPr>
            <a:endParaRPr lang="zh-CN" altLang="en-US" sz="2400" b="1" dirty="0">
              <a:solidFill>
                <a:schemeClr val="bg2"/>
              </a:solidFill>
              <a:latin typeface="黑体" panose="02010609060101010101" pitchFamily="49" charset="-122"/>
            </a:endParaRPr>
          </a:p>
          <a:p>
            <a:pPr algn="ctr" defTabSz="914400">
              <a:spcBef>
                <a:spcPct val="50000"/>
              </a:spcBef>
              <a:tabLst>
                <a:tab pos="1071880" algn="l"/>
              </a:tabLst>
            </a:pPr>
            <a:endParaRPr lang="zh-CN" altLang="en-US" sz="2400" b="1" dirty="0">
              <a:solidFill>
                <a:schemeClr val="bg2"/>
              </a:solidFill>
              <a:latin typeface="黑体" panose="02010609060101010101" pitchFamily="49" charset="-122"/>
            </a:endParaRPr>
          </a:p>
          <a:p>
            <a:pPr algn="ctr" defTabSz="914400">
              <a:spcBef>
                <a:spcPct val="50000"/>
              </a:spcBef>
              <a:tabLst>
                <a:tab pos="1071880" algn="l"/>
              </a:tabLst>
            </a:pPr>
            <a:endParaRPr lang="zh-CN" altLang="zh-CN" sz="2400" b="1" dirty="0">
              <a:solidFill>
                <a:schemeClr val="bg2"/>
              </a:solidFill>
              <a:latin typeface="黑体" panose="02010609060101010101" pitchFamily="49" charset="-122"/>
            </a:endParaRPr>
          </a:p>
          <a:p>
            <a:pPr algn="just" defTabSz="914400">
              <a:spcBef>
                <a:spcPct val="50000"/>
              </a:spcBef>
              <a:tabLst>
                <a:tab pos="1071880" algn="l"/>
              </a:tabLst>
            </a:pPr>
            <a:r>
              <a:rPr lang="en-US" altLang="zh-CN" sz="2400" b="1">
                <a:solidFill>
                  <a:srgbClr val="0000CC"/>
                </a:solidFill>
                <a:latin typeface="黑体" panose="02010609060101010101" pitchFamily="49" charset="-122"/>
              </a:rPr>
              <a:t>	</a:t>
            </a:r>
            <a:r>
              <a:rPr lang="en-US" altLang="zh-CN" sz="2400" b="1">
                <a:solidFill>
                  <a:srgbClr val="663300"/>
                </a:solidFill>
                <a:latin typeface="黑体" panose="02010609060101010101" pitchFamily="49" charset="-122"/>
              </a:rPr>
              <a:t>RET</a:t>
            </a:r>
            <a:endParaRPr lang="en-US" altLang="zh-CN" sz="2400" b="1">
              <a:solidFill>
                <a:srgbClr val="663300"/>
              </a:solidFill>
              <a:latin typeface="黑体" panose="02010609060101010101" pitchFamily="49" charset="-122"/>
            </a:endParaRPr>
          </a:p>
        </p:txBody>
      </p:sp>
      <p:sp>
        <p:nvSpPr>
          <p:cNvPr id="13315" name="Text Box 9"/>
          <p:cNvSpPr txBox="1"/>
          <p:nvPr/>
        </p:nvSpPr>
        <p:spPr>
          <a:xfrm>
            <a:off x="2339340" y="1571625"/>
            <a:ext cx="3321050" cy="3130550"/>
          </a:xfrm>
          <a:prstGeom prst="rect">
            <a:avLst/>
          </a:prstGeom>
          <a:noFill/>
          <a:ln w="19050" cap="sq" cmpd="sng">
            <a:solidFill>
              <a:srgbClr val="0000CC"/>
            </a:solidFill>
            <a:prstDash val="solid"/>
            <a:miter/>
            <a:headEnd type="none" w="sm" len="sm"/>
            <a:tailEnd type="none" w="sm" len="sm"/>
          </a:ln>
        </p:spPr>
        <p:txBody>
          <a:bodyPr lIns="91431" tIns="45716" rIns="91431" bIns="45716" anchor="t" anchorCtr="0">
            <a:spAutoFit/>
          </a:bodyPr>
          <a:p>
            <a:pPr defTabSz="914400">
              <a:spcBef>
                <a:spcPct val="20000"/>
              </a:spcBef>
              <a:tabLst>
                <a:tab pos="1071880" algn="l"/>
                <a:tab pos="1524000" algn="l"/>
              </a:tabLst>
            </a:pPr>
            <a:endParaRPr lang="zh-CN" altLang="en-US" sz="2000" b="1" dirty="0">
              <a:solidFill>
                <a:schemeClr val="bg2"/>
              </a:solidFill>
              <a:latin typeface="黑体" panose="02010609060101010101" pitchFamily="49" charset="-122"/>
              <a:cs typeface="黑体" panose="02010609060101010101" pitchFamily="49" charset="-122"/>
            </a:endParaRPr>
          </a:p>
          <a:p>
            <a:pPr defTabSz="914400">
              <a:spcBef>
                <a:spcPct val="20000"/>
              </a:spcBef>
              <a:tabLst>
                <a:tab pos="1071880" algn="l"/>
                <a:tab pos="1524000" algn="l"/>
              </a:tabLst>
            </a:pPr>
            <a:endParaRPr lang="zh-CN" altLang="en-US" sz="2000" b="1" dirty="0">
              <a:solidFill>
                <a:schemeClr val="bg2"/>
              </a:solidFill>
              <a:latin typeface="黑体" panose="02010609060101010101" pitchFamily="49" charset="-122"/>
              <a:cs typeface="黑体" panose="02010609060101010101" pitchFamily="49" charset="-122"/>
            </a:endParaRPr>
          </a:p>
          <a:p>
            <a:pPr algn="just" defTabSz="914400">
              <a:spcBef>
                <a:spcPct val="20000"/>
              </a:spcBef>
              <a:tabLst>
                <a:tab pos="1071880" algn="l"/>
                <a:tab pos="1524000" algn="l"/>
              </a:tabLst>
            </a:pPr>
            <a:endParaRPr lang="zh-CN" altLang="en-US" sz="2000" b="1" dirty="0">
              <a:solidFill>
                <a:schemeClr val="bg2"/>
              </a:solidFill>
              <a:latin typeface="黑体" panose="02010609060101010101" pitchFamily="49" charset="-122"/>
              <a:cs typeface="黑体" panose="02010609060101010101" pitchFamily="49" charset="-122"/>
            </a:endParaRPr>
          </a:p>
          <a:p>
            <a:pPr algn="just" defTabSz="914400">
              <a:spcBef>
                <a:spcPct val="20000"/>
              </a:spcBef>
              <a:tabLst>
                <a:tab pos="1071880" algn="l"/>
                <a:tab pos="1524000" algn="l"/>
              </a:tabLst>
            </a:pPr>
            <a:r>
              <a:rPr lang="en-US" altLang="zh-CN" sz="2400" b="1">
                <a:solidFill>
                  <a:srgbClr val="0000CC"/>
                </a:solidFill>
                <a:latin typeface="黑体" panose="02010609060101010101" pitchFamily="49" charset="-122"/>
                <a:cs typeface="黑体" panose="02010609060101010101" pitchFamily="49" charset="-122"/>
              </a:rPr>
              <a:t>	</a:t>
            </a:r>
            <a:r>
              <a:rPr lang="en-US" altLang="zh-CN" sz="2400" b="1">
                <a:solidFill>
                  <a:srgbClr val="663300"/>
                </a:solidFill>
                <a:latin typeface="黑体" panose="02010609060101010101" pitchFamily="49" charset="-122"/>
                <a:cs typeface="黑体" panose="02010609060101010101" pitchFamily="49" charset="-122"/>
              </a:rPr>
              <a:t>CALL</a:t>
            </a:r>
            <a:r>
              <a:rPr lang="en-US" altLang="zh-CN" sz="2400" b="1">
                <a:solidFill>
                  <a:srgbClr val="0000CC"/>
                </a:solidFill>
                <a:latin typeface="黑体" panose="02010609060101010101" pitchFamily="49" charset="-122"/>
                <a:cs typeface="黑体" panose="02010609060101010101" pitchFamily="49" charset="-122"/>
              </a:rPr>
              <a:t> name</a:t>
            </a:r>
            <a:endParaRPr lang="en-US" altLang="zh-CN" sz="2400" b="1">
              <a:solidFill>
                <a:srgbClr val="0000CC"/>
              </a:solidFill>
              <a:latin typeface="黑体" panose="02010609060101010101" pitchFamily="49" charset="-122"/>
              <a:cs typeface="黑体" panose="02010609060101010101" pitchFamily="49" charset="-122"/>
            </a:endParaRPr>
          </a:p>
          <a:p>
            <a:pPr algn="just" defTabSz="914400">
              <a:spcBef>
                <a:spcPct val="20000"/>
              </a:spcBef>
              <a:tabLst>
                <a:tab pos="1071880" algn="l"/>
                <a:tab pos="1524000" algn="l"/>
              </a:tabLst>
            </a:pPr>
            <a:r>
              <a:rPr lang="en-US" altLang="zh-CN" sz="2400" b="1">
                <a:solidFill>
                  <a:srgbClr val="0000CC"/>
                </a:solidFill>
                <a:latin typeface="黑体" panose="02010609060101010101" pitchFamily="49" charset="-122"/>
                <a:cs typeface="黑体" panose="02010609060101010101" pitchFamily="49" charset="-122"/>
              </a:rPr>
              <a:t>next</a:t>
            </a:r>
            <a:r>
              <a:rPr lang="zh-CN" altLang="en-US" sz="2400" b="1" dirty="0">
                <a:solidFill>
                  <a:srgbClr val="0000CC"/>
                </a:solidFill>
                <a:latin typeface="黑体" panose="02010609060101010101" pitchFamily="49" charset="-122"/>
                <a:cs typeface="黑体" panose="02010609060101010101" pitchFamily="49" charset="-122"/>
              </a:rPr>
              <a:t>：</a:t>
            </a:r>
            <a:r>
              <a:rPr lang="en-US" altLang="zh-CN" sz="2400" b="1">
                <a:latin typeface="黑体" panose="02010609060101010101" pitchFamily="49" charset="-122"/>
                <a:cs typeface="黑体" panose="02010609060101010101" pitchFamily="49" charset="-122"/>
              </a:rPr>
              <a:t>…	;</a:t>
            </a:r>
            <a:r>
              <a:rPr lang="zh-CN" altLang="en-US" sz="2400" b="1" dirty="0">
                <a:latin typeface="黑体" panose="02010609060101010101" pitchFamily="49" charset="-122"/>
                <a:cs typeface="黑体" panose="02010609060101010101" pitchFamily="49" charset="-122"/>
              </a:rPr>
              <a:t>下条指令</a:t>
            </a:r>
            <a:endParaRPr lang="zh-CN" altLang="en-US" sz="2400" b="1" dirty="0">
              <a:latin typeface="黑体" panose="02010609060101010101" pitchFamily="49" charset="-122"/>
              <a:cs typeface="黑体" panose="02010609060101010101" pitchFamily="49" charset="-122"/>
            </a:endParaRPr>
          </a:p>
          <a:p>
            <a:pPr algn="just" defTabSz="914400">
              <a:spcBef>
                <a:spcPct val="20000"/>
              </a:spcBef>
              <a:tabLst>
                <a:tab pos="1071880" algn="l"/>
                <a:tab pos="1524000" algn="l"/>
              </a:tabLst>
            </a:pPr>
            <a:endParaRPr lang="en-US" altLang="zh-CN" sz="2000" b="1">
              <a:solidFill>
                <a:srgbClr val="0000CC"/>
              </a:solidFill>
              <a:latin typeface="黑体" panose="02010609060101010101" pitchFamily="49" charset="-122"/>
              <a:cs typeface="黑体" panose="02010609060101010101" pitchFamily="49" charset="-122"/>
            </a:endParaRPr>
          </a:p>
          <a:p>
            <a:pPr algn="just" defTabSz="914400">
              <a:spcBef>
                <a:spcPct val="20000"/>
              </a:spcBef>
              <a:tabLst>
                <a:tab pos="1071880" algn="l"/>
                <a:tab pos="1524000" algn="l"/>
              </a:tabLst>
            </a:pPr>
            <a:endParaRPr lang="en-US" altLang="zh-CN" sz="2000" b="1">
              <a:solidFill>
                <a:schemeClr val="bg2"/>
              </a:solidFill>
              <a:latin typeface="黑体" panose="02010609060101010101" pitchFamily="49" charset="-122"/>
              <a:cs typeface="黑体" panose="02010609060101010101" pitchFamily="49" charset="-122"/>
            </a:endParaRPr>
          </a:p>
          <a:p>
            <a:pPr algn="just" defTabSz="914400">
              <a:spcBef>
                <a:spcPct val="20000"/>
              </a:spcBef>
              <a:tabLst>
                <a:tab pos="1071880" algn="l"/>
                <a:tab pos="1524000" algn="l"/>
              </a:tabLst>
            </a:pPr>
            <a:endParaRPr lang="zh-CN" altLang="zh-CN" sz="2000" b="1" dirty="0">
              <a:solidFill>
                <a:schemeClr val="bg2"/>
              </a:solidFill>
              <a:latin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13317" name="Line 4"/>
          <p:cNvSpPr/>
          <p:nvPr/>
        </p:nvSpPr>
        <p:spPr>
          <a:xfrm>
            <a:off x="3982403" y="1825625"/>
            <a:ext cx="0" cy="806450"/>
          </a:xfrm>
          <a:prstGeom prst="line">
            <a:avLst/>
          </a:prstGeom>
          <a:ln w="57150" cap="sq" cmpd="sng">
            <a:solidFill>
              <a:srgbClr val="660066"/>
            </a:solidFill>
            <a:prstDash val="solid"/>
            <a:round/>
            <a:headEnd type="oval" w="med" len="med"/>
            <a:tailEnd type="triangle" w="med" len="med"/>
          </a:ln>
        </p:spPr>
      </p:sp>
      <p:sp>
        <p:nvSpPr>
          <p:cNvPr id="13318" name="Line 5"/>
          <p:cNvSpPr/>
          <p:nvPr/>
        </p:nvSpPr>
        <p:spPr>
          <a:xfrm>
            <a:off x="3982403" y="3711575"/>
            <a:ext cx="0" cy="752475"/>
          </a:xfrm>
          <a:prstGeom prst="line">
            <a:avLst/>
          </a:prstGeom>
          <a:ln w="57150" cap="sq" cmpd="sng">
            <a:solidFill>
              <a:srgbClr val="660066"/>
            </a:solidFill>
            <a:prstDash val="solid"/>
            <a:round/>
            <a:headEnd type="oval" w="med" len="med"/>
            <a:tailEnd type="triangle" w="med" len="med"/>
          </a:ln>
        </p:spPr>
      </p:sp>
      <p:sp>
        <p:nvSpPr>
          <p:cNvPr id="13319" name="Line 6"/>
          <p:cNvSpPr/>
          <p:nvPr/>
        </p:nvSpPr>
        <p:spPr>
          <a:xfrm>
            <a:off x="7686040" y="2171700"/>
            <a:ext cx="0" cy="2057400"/>
          </a:xfrm>
          <a:prstGeom prst="line">
            <a:avLst/>
          </a:prstGeom>
          <a:ln w="57150" cap="sq" cmpd="sng">
            <a:solidFill>
              <a:srgbClr val="660066"/>
            </a:solidFill>
            <a:prstDash val="solid"/>
            <a:round/>
            <a:headEnd type="oval" w="med" len="med"/>
            <a:tailEnd type="triangle" w="med" len="med"/>
          </a:ln>
        </p:spPr>
      </p:sp>
      <p:sp>
        <p:nvSpPr>
          <p:cNvPr id="13320" name="Line 7"/>
          <p:cNvSpPr/>
          <p:nvPr/>
        </p:nvSpPr>
        <p:spPr>
          <a:xfrm flipV="1">
            <a:off x="4944428" y="1933575"/>
            <a:ext cx="1358900" cy="889000"/>
          </a:xfrm>
          <a:prstGeom prst="line">
            <a:avLst/>
          </a:prstGeom>
          <a:ln w="57150" cap="sq" cmpd="sng">
            <a:solidFill>
              <a:srgbClr val="660066"/>
            </a:solidFill>
            <a:prstDash val="solid"/>
            <a:round/>
            <a:headEnd type="oval" w="med" len="med"/>
            <a:tailEnd type="triangle" w="med" len="med"/>
          </a:ln>
        </p:spPr>
      </p:sp>
      <p:sp>
        <p:nvSpPr>
          <p:cNvPr id="13321" name="Text Box 10"/>
          <p:cNvSpPr txBox="1"/>
          <p:nvPr/>
        </p:nvSpPr>
        <p:spPr>
          <a:xfrm>
            <a:off x="3364865" y="952500"/>
            <a:ext cx="1357313" cy="520700"/>
          </a:xfrm>
          <a:prstGeom prst="rect">
            <a:avLst/>
          </a:prstGeom>
          <a:noFill/>
          <a:ln w="12700">
            <a:noFill/>
          </a:ln>
        </p:spPr>
        <p:txBody>
          <a:bodyPr lIns="91431" tIns="45716" rIns="91431" bIns="45716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</a:rPr>
              <a:t>主程序</a:t>
            </a:r>
            <a:endParaRPr lang="zh-CN" altLang="en-US" sz="2800" b="1" dirty="0">
              <a:latin typeface="黑体" panose="02010609060101010101" pitchFamily="49" charset="-122"/>
            </a:endParaRPr>
          </a:p>
        </p:txBody>
      </p:sp>
      <p:sp>
        <p:nvSpPr>
          <p:cNvPr id="13322" name="Text Box 12"/>
          <p:cNvSpPr txBox="1"/>
          <p:nvPr/>
        </p:nvSpPr>
        <p:spPr>
          <a:xfrm>
            <a:off x="6303328" y="981075"/>
            <a:ext cx="1598612" cy="520700"/>
          </a:xfrm>
          <a:prstGeom prst="rect">
            <a:avLst/>
          </a:prstGeom>
          <a:noFill/>
          <a:ln w="12700">
            <a:noFill/>
          </a:ln>
        </p:spPr>
        <p:txBody>
          <a:bodyPr lIns="91431" tIns="45716" rIns="91431" bIns="45716"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</a:rPr>
              <a:t>子程序</a:t>
            </a:r>
            <a:endParaRPr lang="zh-CN" altLang="en-US" sz="2800" b="1" dirty="0">
              <a:latin typeface="黑体" panose="02010609060101010101" pitchFamily="49" charset="-122"/>
            </a:endParaRPr>
          </a:p>
        </p:txBody>
      </p:sp>
      <p:sp>
        <p:nvSpPr>
          <p:cNvPr id="13323" name="Line 13"/>
          <p:cNvSpPr/>
          <p:nvPr/>
        </p:nvSpPr>
        <p:spPr>
          <a:xfrm flipH="1" flipV="1">
            <a:off x="4838065" y="3600450"/>
            <a:ext cx="1393825" cy="952500"/>
          </a:xfrm>
          <a:prstGeom prst="line">
            <a:avLst/>
          </a:prstGeom>
          <a:ln w="57150" cap="sq" cmpd="sng">
            <a:solidFill>
              <a:srgbClr val="660066"/>
            </a:solidFill>
            <a:prstDash val="solid"/>
            <a:round/>
            <a:headEnd type="oval" w="med" len="med"/>
            <a:tailEnd type="triangle" w="med" len="med"/>
          </a:ln>
        </p:spPr>
      </p:sp>
      <p:graphicFrame>
        <p:nvGraphicFramePr>
          <p:cNvPr id="257036" name="表格 257035"/>
          <p:cNvGraphicFramePr/>
          <p:nvPr/>
        </p:nvGraphicFramePr>
        <p:xfrm>
          <a:off x="659765" y="1343025"/>
          <a:ext cx="1000125" cy="3121025"/>
        </p:xfrm>
        <a:graphic>
          <a:graphicData uri="http://schemas.openxmlformats.org/drawingml/2006/table">
            <a:tbl>
              <a:tblPr/>
              <a:tblGrid>
                <a:gridCol w="1000125"/>
              </a:tblGrid>
              <a:tr h="636588"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50000"/>
                        <a:buFontTx/>
                        <a:buChar char="•"/>
                        <a:defRPr sz="2800" b="1" u="none" kern="1200" baseline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rgbClr val="6633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rgbClr val="008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堆栈</a:t>
                      </a:r>
                      <a:endParaRPr lang="zh-CN" altLang="en-US" sz="24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115196" marR="115196" marT="57598" marB="57598" anchor="ctr" anchorCtr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6587"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50000"/>
                        <a:buFontTx/>
                        <a:buChar char="•"/>
                        <a:defRPr sz="2800" b="1" u="none" kern="1200" baseline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rgbClr val="6633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rgbClr val="008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Font typeface="Wingdings" panose="05000000000000000000" pitchFamily="2" charset="2"/>
                        <a:buNone/>
                      </a:pPr>
                      <a:endParaRPr lang="en-US" altLang="zh-CN" sz="240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115196" marR="115196" marT="57598" marB="57598" anchor="ctr" anchorCtr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8175"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50000"/>
                        <a:buFontTx/>
                        <a:buChar char="•"/>
                        <a:defRPr sz="2800" b="1" u="none" kern="1200" baseline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rgbClr val="6633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rgbClr val="008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>
                          <a:solidFill>
                            <a:schemeClr val="hlink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next</a:t>
                      </a:r>
                      <a:endParaRPr lang="en-US" altLang="zh-CN" sz="2400">
                        <a:solidFill>
                          <a:schemeClr val="hlink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115196" marR="115196" marT="57598" marB="57598" anchor="ctr" anchorCtr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6588"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50000"/>
                        <a:buFontTx/>
                        <a:buChar char="•"/>
                        <a:defRPr sz="2800" b="1" u="none" kern="1200" baseline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rgbClr val="6633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rgbClr val="008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Font typeface="Wingdings" panose="05000000000000000000" pitchFamily="2" charset="2"/>
                        <a:buNone/>
                      </a:pPr>
                      <a:endParaRPr lang="zh-CN" altLang="en-US" sz="240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115196" marR="115196" marT="57598" marB="57598" anchor="ctr" anchorCtr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3087"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50000"/>
                        <a:buFontTx/>
                        <a:buChar char="•"/>
                        <a:defRPr sz="2800" b="1" u="none" kern="1200" baseline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rgbClr val="6633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rgbClr val="008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Font typeface="Wingdings" panose="05000000000000000000" pitchFamily="2" charset="2"/>
                        <a:buNone/>
                      </a:pPr>
                      <a:endParaRPr lang="zh-CN" altLang="en-US" sz="20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115196" marR="115196" marT="57598" marB="57598" anchor="ctr" anchorCtr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338" name="直接连接符 257047"/>
          <p:cNvSpPr/>
          <p:nvPr/>
        </p:nvSpPr>
        <p:spPr>
          <a:xfrm flipH="1">
            <a:off x="1694815" y="2963863"/>
            <a:ext cx="1428750" cy="0"/>
          </a:xfrm>
          <a:prstGeom prst="line">
            <a:avLst/>
          </a:prstGeom>
          <a:ln w="76200" cap="flat" cmpd="tri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sp>
      <p:sp>
        <p:nvSpPr>
          <p:cNvPr id="257049" name="Text Box 4"/>
          <p:cNvSpPr txBox="1"/>
          <p:nvPr/>
        </p:nvSpPr>
        <p:spPr>
          <a:xfrm>
            <a:off x="1231265" y="4906010"/>
            <a:ext cx="5000625" cy="1554163"/>
          </a:xfrm>
          <a:prstGeom prst="rect">
            <a:avLst/>
          </a:prstGeom>
          <a:solidFill>
            <a:schemeClr val="bg1">
              <a:lumMod val="90000"/>
            </a:schemeClr>
          </a:solidFill>
          <a:ln w="12700" cap="flat" cmpd="sng">
            <a:solidFill>
              <a:srgbClr val="009900"/>
            </a:solidFill>
            <a:prstDash val="solid"/>
            <a:miter/>
            <a:headEnd type="none" w="sm" len="sm"/>
            <a:tailEnd type="none" w="sm" len="sm"/>
          </a:ln>
        </p:spPr>
        <p:txBody>
          <a:bodyPr lIns="91431" tIns="45716" rIns="91431" bIns="45716" anchor="t" anchorCtr="0">
            <a:spAutoFit/>
          </a:bodyPr>
          <a:p>
            <a:pPr defTabSz="914400">
              <a:spcBef>
                <a:spcPct val="20000"/>
              </a:spcBef>
              <a:tabLst>
                <a:tab pos="1437005" algn="l"/>
                <a:tab pos="3225800" algn="l"/>
              </a:tabLst>
            </a:pPr>
            <a:r>
              <a:rPr lang="en-US" altLang="zh-CN" sz="2800" b="1">
                <a:latin typeface="黑体" panose="02010609060101010101" pitchFamily="49" charset="-122"/>
                <a:cs typeface="黑体" panose="02010609060101010101" pitchFamily="49" charset="-122"/>
              </a:rPr>
              <a:t>;</a:t>
            </a:r>
            <a:r>
              <a:rPr lang="zh-CN" altLang="en-US" sz="2800" b="1" dirty="0">
                <a:latin typeface="黑体" panose="02010609060101010101" pitchFamily="49" charset="-122"/>
                <a:cs typeface="黑体" panose="02010609060101010101" pitchFamily="49" charset="-122"/>
              </a:rPr>
              <a:t>思考如下代码片段的功能</a:t>
            </a:r>
            <a:endParaRPr lang="zh-CN" altLang="en-US" sz="2800" b="1" dirty="0">
              <a:latin typeface="黑体" panose="02010609060101010101" pitchFamily="49" charset="-122"/>
              <a:cs typeface="黑体" panose="02010609060101010101" pitchFamily="49" charset="-122"/>
            </a:endParaRPr>
          </a:p>
          <a:p>
            <a:pPr defTabSz="914400">
              <a:spcBef>
                <a:spcPct val="20000"/>
              </a:spcBef>
              <a:tabLst>
                <a:tab pos="1437005" algn="l"/>
                <a:tab pos="3225800" algn="l"/>
              </a:tabLst>
            </a:pPr>
            <a:r>
              <a:rPr lang="en-US" altLang="zh-CN" sz="2800" b="1">
                <a:solidFill>
                  <a:srgbClr val="663300"/>
                </a:solidFill>
                <a:latin typeface="黑体" panose="02010609060101010101" pitchFamily="49" charset="-122"/>
                <a:cs typeface="黑体" panose="02010609060101010101" pitchFamily="49" charset="-122"/>
              </a:rPr>
              <a:t>	call next</a:t>
            </a:r>
            <a:endParaRPr lang="en-US" altLang="zh-CN" sz="2800" b="1">
              <a:solidFill>
                <a:srgbClr val="663300"/>
              </a:solidFill>
              <a:latin typeface="黑体" panose="02010609060101010101" pitchFamily="49" charset="-122"/>
              <a:cs typeface="黑体" panose="02010609060101010101" pitchFamily="49" charset="-122"/>
            </a:endParaRPr>
          </a:p>
          <a:p>
            <a:pPr defTabSz="914400">
              <a:spcBef>
                <a:spcPct val="20000"/>
              </a:spcBef>
              <a:tabLst>
                <a:tab pos="1437005" algn="l"/>
                <a:tab pos="3225800" algn="l"/>
              </a:tabLst>
            </a:pPr>
            <a:r>
              <a:rPr lang="en-US" altLang="zh-CN" sz="2800" b="1">
                <a:solidFill>
                  <a:srgbClr val="663300"/>
                </a:solidFill>
                <a:latin typeface="黑体" panose="02010609060101010101" pitchFamily="49" charset="-122"/>
                <a:cs typeface="黑体" panose="02010609060101010101" pitchFamily="49" charset="-122"/>
              </a:rPr>
              <a:t>next:	pop </a:t>
            </a:r>
            <a:r>
              <a:rPr lang="en-US" altLang="zh-CN" sz="2800" b="1" err="1">
                <a:solidFill>
                  <a:srgbClr val="663300"/>
                </a:solidFill>
                <a:latin typeface="黑体" panose="02010609060101010101" pitchFamily="49" charset="-122"/>
                <a:cs typeface="黑体" panose="02010609060101010101" pitchFamily="49" charset="-122"/>
              </a:rPr>
              <a:t>eax</a:t>
            </a:r>
            <a:r>
              <a:rPr lang="en-US" altLang="zh-CN" sz="2800" b="1">
                <a:solidFill>
                  <a:srgbClr val="193C7D"/>
                </a:solidFill>
                <a:latin typeface="黑体" panose="02010609060101010101" pitchFamily="49" charset="-122"/>
                <a:cs typeface="黑体" panose="02010609060101010101" pitchFamily="49" charset="-122"/>
              </a:rPr>
              <a:t>	</a:t>
            </a:r>
            <a:r>
              <a:rPr lang="en-US" altLang="zh-CN" sz="2800" b="1">
                <a:latin typeface="黑体" panose="02010609060101010101" pitchFamily="49" charset="-122"/>
                <a:cs typeface="黑体" panose="02010609060101010101" pitchFamily="49" charset="-122"/>
              </a:rPr>
              <a:t>;EAX</a:t>
            </a:r>
            <a:r>
              <a:rPr lang="zh-CN" altLang="en-US" sz="2800" b="1" dirty="0">
                <a:latin typeface="黑体" panose="02010609060101010101" pitchFamily="49" charset="-122"/>
                <a:cs typeface="黑体" panose="02010609060101010101" pitchFamily="49" charset="-122"/>
              </a:rPr>
              <a:t>＝？</a:t>
            </a:r>
            <a:endParaRPr lang="en-US" altLang="zh-CN" sz="2800" b="1">
              <a:latin typeface="黑体" panose="02010609060101010101" pitchFamily="49" charset="-122"/>
              <a:cs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1000"/>
                                        <p:tgtEl>
                                          <p:spTgt spid="257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049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467544" y="726604"/>
            <a:ext cx="8136904" cy="6048672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600" dirty="0">
                <a:solidFill>
                  <a:schemeClr val="tx1"/>
                </a:solidFill>
                <a:latin typeface="+mn-lt"/>
              </a:rPr>
              <a:t>MASM</a:t>
            </a:r>
            <a:r>
              <a:rPr lang="zh-CN" altLang="en-US" sz="2600" dirty="0">
                <a:solidFill>
                  <a:schemeClr val="tx1"/>
                </a:solidFill>
                <a:latin typeface="+mn-lt"/>
              </a:rPr>
              <a:t>利用</a:t>
            </a:r>
            <a:r>
              <a:rPr lang="zh-CN" altLang="en-US" sz="2600" dirty="0">
                <a:latin typeface="+mn-lt"/>
              </a:rPr>
              <a:t>过程定义伪指令（由</a:t>
            </a:r>
            <a:r>
              <a:rPr lang="en-US" altLang="zh-CN" sz="2600" dirty="0">
                <a:latin typeface="+mn-lt"/>
              </a:rPr>
              <a:t>PROC</a:t>
            </a:r>
            <a:r>
              <a:rPr lang="zh-CN" altLang="en-US" sz="2600" dirty="0">
                <a:latin typeface="+mn-lt"/>
              </a:rPr>
              <a:t>和</a:t>
            </a:r>
            <a:r>
              <a:rPr lang="en-US" altLang="zh-CN" sz="2600" dirty="0">
                <a:latin typeface="+mn-lt"/>
              </a:rPr>
              <a:t>ENDP</a:t>
            </a:r>
            <a:r>
              <a:rPr lang="zh-CN" altLang="en-US" sz="2600" dirty="0">
                <a:latin typeface="+mn-lt"/>
              </a:rPr>
              <a:t>组成）</a:t>
            </a:r>
            <a:r>
              <a:rPr lang="zh-CN" altLang="en-US" sz="2600" dirty="0">
                <a:solidFill>
                  <a:schemeClr val="tx1"/>
                </a:solidFill>
                <a:latin typeface="+mn-lt"/>
              </a:rPr>
              <a:t>定义子程序</a:t>
            </a:r>
            <a:endParaRPr lang="en-US" altLang="zh-CN" sz="26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2800" dirty="0">
              <a:solidFill>
                <a:srgbClr val="FF0000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400" dirty="0">
              <a:solidFill>
                <a:srgbClr val="FF0000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400" dirty="0">
              <a:solidFill>
                <a:srgbClr val="FF0000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zh-CN" altLang="en-US" sz="2000" dirty="0">
              <a:solidFill>
                <a:srgbClr val="FF0000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solidFill>
                  <a:schemeClr val="tx1"/>
                </a:solidFill>
                <a:latin typeface="+mn-lt"/>
              </a:rPr>
              <a:t>伪指令</a:t>
            </a:r>
            <a:r>
              <a:rPr lang="en-US" altLang="zh-CN" sz="2600" dirty="0">
                <a:solidFill>
                  <a:schemeClr val="tx1"/>
                </a:solidFill>
                <a:latin typeface="+mn-lt"/>
              </a:rPr>
              <a:t>PROC</a:t>
            </a:r>
            <a:r>
              <a:rPr lang="zh-CN" altLang="en-US" sz="2600" dirty="0">
                <a:solidFill>
                  <a:schemeClr val="tx1"/>
                </a:solidFill>
                <a:latin typeface="+mn-lt"/>
              </a:rPr>
              <a:t>后面可加参数：</a:t>
            </a:r>
            <a:r>
              <a:rPr lang="en-US" altLang="zh-CN" sz="2600" dirty="0">
                <a:solidFill>
                  <a:schemeClr val="tx1"/>
                </a:solidFill>
                <a:latin typeface="+mn-lt"/>
              </a:rPr>
              <a:t>NEAR</a:t>
            </a:r>
            <a:r>
              <a:rPr lang="zh-CN" altLang="en-US" sz="2600" dirty="0">
                <a:solidFill>
                  <a:schemeClr val="tx1"/>
                </a:solidFill>
                <a:latin typeface="+mn-lt"/>
              </a:rPr>
              <a:t>或</a:t>
            </a:r>
            <a:r>
              <a:rPr lang="en-US" altLang="zh-CN" sz="2600" dirty="0">
                <a:solidFill>
                  <a:schemeClr val="tx1"/>
                </a:solidFill>
                <a:latin typeface="+mn-lt"/>
              </a:rPr>
              <a:t>FAR</a:t>
            </a:r>
            <a:r>
              <a:rPr lang="zh-CN" altLang="en-US" sz="2600" dirty="0">
                <a:solidFill>
                  <a:schemeClr val="tx1"/>
                </a:solidFill>
                <a:latin typeface="+mn-lt"/>
              </a:rPr>
              <a:t>，即段内调用还是段间调用</a:t>
            </a:r>
            <a:endParaRPr lang="en-US" altLang="zh-CN" sz="26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solidFill>
                  <a:schemeClr val="tx1"/>
                </a:solidFill>
                <a:latin typeface="+mn-lt"/>
              </a:rPr>
              <a:t>简化段定义源程序格式中，通常不需指定</a:t>
            </a:r>
            <a:endParaRPr lang="zh-CN" altLang="en-US" sz="26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3.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过程定义伪指令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78184" y="71174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1024558" y="1922165"/>
            <a:ext cx="7435874" cy="2016224"/>
          </a:xfrm>
          <a:prstGeom prst="rect">
            <a:avLst/>
          </a:prstGeom>
          <a:solidFill>
            <a:srgbClr val="DDEEFF"/>
          </a:solidFill>
          <a:ln w="9525">
            <a:noFill/>
            <a:miter lim="800000"/>
          </a:ln>
        </p:spPr>
        <p:txBody>
          <a:bodyPr/>
          <a:lstStyle>
            <a:lvl1pPr marL="342900" indent="-342900" algn="l" defTabSz="762000" eaLnBrk="0" hangingPunct="0">
              <a:spcBef>
                <a:spcPct val="20000"/>
              </a:spcBef>
              <a:buChar char="•"/>
              <a:defRPr kumimoji="1" sz="44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62100" indent="-22860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812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4384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95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352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10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lvl="1" indent="-457200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zh-CN" altLang="en-US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过程名	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PROC</a:t>
            </a:r>
            <a:endParaRPr lang="en-US" altLang="zh-CN" sz="2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		……	;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过程体</a:t>
            </a:r>
            <a:endParaRPr lang="zh-CN" altLang="en-US" sz="2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过程名	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ENDP</a:t>
            </a:r>
            <a:endParaRPr lang="en-US" altLang="zh-CN" sz="2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	</a:t>
            </a:r>
            <a:r>
              <a:rPr lang="en-US" altLang="zh-CN" sz="2400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r>
              <a:rPr lang="zh-CN" altLang="en-US" sz="2400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过程名为符合语法的标识符</a:t>
            </a:r>
            <a:endParaRPr lang="zh-CN" altLang="en-US" sz="2400" dirty="0">
              <a:solidFill>
                <a:srgbClr val="00B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5-1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子程序调用程序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cs typeface="+mj-cs"/>
              </a:rPr>
              <a:t>-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1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642460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83568" y="753818"/>
            <a:ext cx="7704856" cy="5401479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代码段，主程序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00000000	B8 00000001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mov eax,1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00000005	BD 00000005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mov ebp,5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0000000A	E8 00000016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call </a:t>
            </a:r>
            <a:r>
              <a:rPr lang="en-US" altLang="zh-CN" sz="2000" b="1" dirty="0" err="1">
                <a:solidFill>
                  <a:srgbClr val="FF0000"/>
                </a:solidFill>
                <a:latin typeface="+mn-lt"/>
              </a:rPr>
              <a:t>subp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;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子程序调用</a:t>
            </a:r>
            <a:endParaRPr lang="en-US" altLang="zh-CN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把下一条指令的偏移地址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(retp1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地址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)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作为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EIP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压入堆栈</a:t>
            </a:r>
            <a:endParaRPr lang="zh-CN" altLang="en-US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0000000F	B9 00000003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latin typeface="+mn-lt"/>
              </a:rPr>
              <a:t>retp1:	mov ecx,3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00000014	BA 00000004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latin typeface="+mn-lt"/>
              </a:rPr>
              <a:t>retp2:	mov edx,4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00000019	E8 00000000 E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call </a:t>
            </a:r>
            <a:r>
              <a:rPr lang="en-US" altLang="zh-CN" sz="2000" b="1" dirty="0" err="1">
                <a:latin typeface="+mn-lt"/>
              </a:rPr>
              <a:t>disprd</a:t>
            </a:r>
            <a:endParaRPr lang="en-US" altLang="zh-CN" sz="2000" b="1" dirty="0">
              <a:latin typeface="+mn-lt"/>
            </a:endParaRPr>
          </a:p>
        </p:txBody>
      </p:sp>
      <p:grpSp>
        <p:nvGrpSpPr>
          <p:cNvPr id="2" name="Group 7"/>
          <p:cNvGrpSpPr/>
          <p:nvPr/>
        </p:nvGrpSpPr>
        <p:grpSpPr bwMode="auto">
          <a:xfrm>
            <a:off x="2771181" y="3356992"/>
            <a:ext cx="5031390" cy="1281114"/>
            <a:chOff x="2245" y="2416"/>
            <a:chExt cx="3681" cy="80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3608" y="2785"/>
              <a:ext cx="2318" cy="4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algn="just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tabLst>
                  <a:tab pos="2514600" algn="l"/>
                </a:tabLst>
                <a:defRPr sz="32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830580" indent="-285750" algn="just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Blip>
                  <a:blip r:embed="rId1"/>
                </a:buBlip>
                <a:tabLst>
                  <a:tab pos="2514600" algn="l"/>
                </a:tabLst>
                <a:defRPr sz="2800" b="1">
                  <a:solidFill>
                    <a:srgbClr val="193C7D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238250" indent="-228600" algn="just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Blip>
                  <a:blip r:embed="rId2"/>
                </a:buBlip>
                <a:tabLst>
                  <a:tab pos="2514600" algn="l"/>
                </a:tabLst>
                <a:defRPr sz="2400" b="1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46555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?"/>
                <a:tabLst>
                  <a:tab pos="2514600" algn="l"/>
                </a:tabLst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tabLst>
                  <a:tab pos="2514600" algn="l"/>
                </a:tabLst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tabLst>
                  <a:tab pos="2514600" algn="l"/>
                </a:tabLst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tabLst>
                  <a:tab pos="2514600" algn="l"/>
                </a:tabLst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tabLst>
                  <a:tab pos="2514600" algn="l"/>
                </a:tabLst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tabLst>
                  <a:tab pos="2514600" algn="l"/>
                </a:tabLst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ts val="0"/>
                </a:spcBef>
                <a:buFont typeface="Wingdings" panose="05000000000000000000" pitchFamily="2" charset="2"/>
                <a:buNone/>
              </a:pPr>
              <a:r>
                <a:rPr lang="zh-CN" altLang="en-US" sz="2000" b="0" dirty="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等价于</a:t>
              </a:r>
              <a:r>
                <a:rPr lang="en-US" altLang="zh-CN" sz="2000" b="0" dirty="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: </a:t>
              </a:r>
              <a:r>
                <a:rPr lang="en-US" altLang="zh-CN" sz="2000" b="0" dirty="0">
                  <a:solidFill>
                    <a:schemeClr val="tx2"/>
                  </a:solidFill>
                  <a:latin typeface="+mj-lt"/>
                  <a:ea typeface="黑体" panose="02010609060101010101" pitchFamily="49" charset="-122"/>
                </a:rPr>
                <a:t>push offset retp1</a:t>
              </a:r>
              <a:endParaRPr lang="en-US" altLang="zh-CN" sz="2000" b="0" dirty="0">
                <a:solidFill>
                  <a:schemeClr val="tx2"/>
                </a:solidFill>
                <a:latin typeface="+mj-lt"/>
                <a:ea typeface="黑体" panose="02010609060101010101" pitchFamily="49" charset="-122"/>
              </a:endParaRPr>
            </a:p>
            <a:p>
              <a:pPr algn="l" eaLnBrk="1" hangingPunct="1">
                <a:spcBef>
                  <a:spcPts val="0"/>
                </a:spcBef>
                <a:buFont typeface="Wingdings" panose="05000000000000000000" pitchFamily="2" charset="2"/>
                <a:buNone/>
              </a:pPr>
              <a:r>
                <a:rPr lang="en-US" altLang="zh-CN" sz="2000" b="0" dirty="0">
                  <a:solidFill>
                    <a:schemeClr val="tx2"/>
                  </a:solidFill>
                  <a:latin typeface="+mj-lt"/>
                  <a:ea typeface="黑体" panose="02010609060101010101" pitchFamily="49" charset="-122"/>
                </a:rPr>
                <a:t>                </a:t>
              </a:r>
              <a:r>
                <a:rPr lang="en-US" altLang="zh-CN" sz="2000" b="0" dirty="0" err="1">
                  <a:solidFill>
                    <a:schemeClr val="tx2"/>
                  </a:solidFill>
                  <a:latin typeface="+mj-lt"/>
                  <a:ea typeface="黑体" panose="02010609060101010101" pitchFamily="49" charset="-122"/>
                </a:rPr>
                <a:t>jmp</a:t>
              </a:r>
              <a:r>
                <a:rPr lang="en-US" altLang="zh-CN" sz="2000" b="0" dirty="0">
                  <a:solidFill>
                    <a:schemeClr val="tx2"/>
                  </a:solidFill>
                  <a:latin typeface="+mj-lt"/>
                  <a:ea typeface="黑体" panose="02010609060101010101" pitchFamily="49" charset="-122"/>
                </a:rPr>
                <a:t> </a:t>
              </a:r>
              <a:r>
                <a:rPr lang="en-US" altLang="zh-CN" sz="2000" b="0" dirty="0" err="1">
                  <a:solidFill>
                    <a:schemeClr val="tx2"/>
                  </a:solidFill>
                  <a:latin typeface="+mj-lt"/>
                  <a:ea typeface="黑体" panose="02010609060101010101" pitchFamily="49" charset="-122"/>
                </a:rPr>
                <a:t>subp</a:t>
              </a:r>
              <a:endParaRPr lang="zh-CN" altLang="en-US" sz="2000" b="0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5" name="Line 5"/>
            <p:cNvSpPr>
              <a:spLocks noChangeShapeType="1"/>
            </p:cNvSpPr>
            <p:nvPr/>
          </p:nvSpPr>
          <p:spPr bwMode="auto">
            <a:xfrm flipH="1" flipV="1">
              <a:off x="2245" y="2416"/>
              <a:ext cx="1363" cy="5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301716" y="5459971"/>
            <a:ext cx="4464496" cy="10653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tabLst>
                <a:tab pos="2514600" algn="l"/>
              </a:tabLst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83058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tabLst>
                <a:tab pos="2514600" algn="l"/>
              </a:tabLst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23825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tabLst>
                <a:tab pos="2514600" algn="l"/>
              </a:tabLst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46555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chemeClr val="tx2"/>
                </a:solidFill>
                <a:latin typeface="+mj-lt"/>
                <a:ea typeface="黑体" panose="02010609060101010101" pitchFamily="49" charset="-122"/>
              </a:rPr>
              <a:t>EAX/EBX/ECX/EDX/EBP</a:t>
            </a:r>
            <a:r>
              <a:rPr lang="zh-CN" altLang="en-US" sz="2000" b="0" dirty="0">
                <a:solidFill>
                  <a:schemeClr val="tx2"/>
                </a:solidFill>
                <a:latin typeface="+mj-lt"/>
                <a:ea typeface="黑体" panose="02010609060101010101" pitchFamily="49" charset="-122"/>
              </a:rPr>
              <a:t>依次等于</a:t>
            </a:r>
            <a:r>
              <a:rPr lang="en-US" altLang="zh-CN" sz="2000" b="0" dirty="0">
                <a:solidFill>
                  <a:schemeClr val="tx2"/>
                </a:solidFill>
                <a:latin typeface="+mj-lt"/>
                <a:ea typeface="黑体" panose="02010609060101010101" pitchFamily="49" charset="-122"/>
              </a:rPr>
              <a:t>1~5</a:t>
            </a:r>
            <a:endParaRPr lang="en-US" altLang="zh-CN" sz="2000" b="0" dirty="0">
              <a:solidFill>
                <a:schemeClr val="tx2"/>
              </a:solidFill>
              <a:latin typeface="+mj-lt"/>
              <a:ea typeface="黑体" panose="02010609060101010101" pitchFamily="49" charset="-122"/>
            </a:endParaRPr>
          </a:p>
          <a:p>
            <a:pPr algn="l" eaLnBrk="1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chemeClr val="tx2"/>
                </a:solidFill>
                <a:latin typeface="+mj-lt"/>
                <a:ea typeface="黑体" panose="02010609060101010101" pitchFamily="49" charset="-122"/>
              </a:rPr>
              <a:t>ESI</a:t>
            </a:r>
            <a:r>
              <a:rPr lang="zh-CN" altLang="en-US" sz="2000" b="0" dirty="0">
                <a:solidFill>
                  <a:schemeClr val="tx2"/>
                </a:solidFill>
                <a:latin typeface="+mj-lt"/>
                <a:ea typeface="黑体" panose="02010609060101010101" pitchFamily="49" charset="-122"/>
              </a:rPr>
              <a:t>为</a:t>
            </a:r>
            <a:r>
              <a:rPr lang="en-US" altLang="zh-CN" sz="2000" b="0" dirty="0">
                <a:solidFill>
                  <a:schemeClr val="tx2"/>
                </a:solidFill>
                <a:latin typeface="+mj-lt"/>
                <a:ea typeface="黑体" panose="02010609060101010101" pitchFamily="49" charset="-122"/>
              </a:rPr>
              <a:t>retp1</a:t>
            </a:r>
            <a:r>
              <a:rPr lang="zh-CN" altLang="en-US" sz="2000" b="0" dirty="0">
                <a:solidFill>
                  <a:schemeClr val="tx2"/>
                </a:solidFill>
                <a:latin typeface="+mj-lt"/>
                <a:ea typeface="黑体" panose="02010609060101010101" pitchFamily="49" charset="-122"/>
              </a:rPr>
              <a:t>标号的地址</a:t>
            </a:r>
            <a:endParaRPr lang="en-US" altLang="zh-CN" sz="2000" b="0" dirty="0">
              <a:solidFill>
                <a:schemeClr val="tx2"/>
              </a:solidFill>
              <a:latin typeface="+mj-lt"/>
              <a:ea typeface="黑体" panose="02010609060101010101" pitchFamily="49" charset="-122"/>
            </a:endParaRPr>
          </a:p>
          <a:p>
            <a:pPr algn="l" eaLnBrk="1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chemeClr val="tx2"/>
                </a:solidFill>
                <a:latin typeface="+mj-lt"/>
                <a:ea typeface="黑体" panose="02010609060101010101" pitchFamily="49" charset="-122"/>
              </a:rPr>
              <a:t>EDI</a:t>
            </a:r>
            <a:r>
              <a:rPr lang="zh-CN" altLang="en-US" sz="2000" b="0" dirty="0">
                <a:solidFill>
                  <a:schemeClr val="tx2"/>
                </a:solidFill>
                <a:latin typeface="+mj-lt"/>
                <a:ea typeface="黑体" panose="02010609060101010101" pitchFamily="49" charset="-122"/>
              </a:rPr>
              <a:t>为</a:t>
            </a:r>
            <a:r>
              <a:rPr lang="en-US" altLang="zh-CN" sz="2000" b="0" dirty="0">
                <a:solidFill>
                  <a:schemeClr val="tx2"/>
                </a:solidFill>
                <a:latin typeface="+mj-lt"/>
                <a:ea typeface="黑体" panose="02010609060101010101" pitchFamily="49" charset="-122"/>
              </a:rPr>
              <a:t>rept2</a:t>
            </a:r>
            <a:r>
              <a:rPr lang="zh-CN" altLang="en-US" sz="2000" b="0" dirty="0">
                <a:solidFill>
                  <a:schemeClr val="tx2"/>
                </a:solidFill>
                <a:latin typeface="+mj-lt"/>
                <a:ea typeface="黑体" panose="02010609060101010101" pitchFamily="49" charset="-122"/>
              </a:rPr>
              <a:t>标号的地址</a:t>
            </a:r>
            <a:endParaRPr lang="zh-CN" altLang="en-US" sz="2000" b="0" dirty="0">
              <a:solidFill>
                <a:srgbClr val="FF0000"/>
              </a:solidFill>
              <a:latin typeface="+mj-lt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5-1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子程序调用程序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cs typeface="+mj-cs"/>
              </a:rPr>
              <a:t>-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2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68700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827584" y="848925"/>
            <a:ext cx="7632848" cy="5697009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子程序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b="1" dirty="0" err="1">
                <a:latin typeface="+mn-lt"/>
              </a:rPr>
              <a:t>subp</a:t>
            </a:r>
            <a:r>
              <a:rPr lang="en-US" altLang="zh-CN" sz="2000" b="1" dirty="0">
                <a:latin typeface="+mn-lt"/>
              </a:rPr>
              <a:t>	proc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过程定义，过程名为</a:t>
            </a:r>
            <a:r>
              <a:rPr lang="en-US" altLang="zh-CN" sz="2000" b="1" dirty="0" err="1">
                <a:solidFill>
                  <a:srgbClr val="00B050"/>
                </a:solidFill>
                <a:latin typeface="+mn-lt"/>
              </a:rPr>
              <a:t>subp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push </a:t>
            </a:r>
            <a:r>
              <a:rPr lang="en-US" altLang="zh-CN" sz="2000" b="1" dirty="0" err="1">
                <a:solidFill>
                  <a:srgbClr val="FF0000"/>
                </a:solidFill>
                <a:latin typeface="+mn-lt"/>
              </a:rPr>
              <a:t>ebp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;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 保护</a:t>
            </a:r>
            <a:r>
              <a:rPr lang="en-US" altLang="zh-CN" sz="2000" b="1" dirty="0" err="1">
                <a:solidFill>
                  <a:srgbClr val="FF0000"/>
                </a:solidFill>
                <a:latin typeface="+mn-lt"/>
              </a:rPr>
              <a:t>ebp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内容，把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5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压入堆栈，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esp-4</a:t>
            </a:r>
            <a:endParaRPr lang="en-US" altLang="zh-CN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b="1" dirty="0">
                <a:latin typeface="+mn-lt"/>
              </a:rPr>
              <a:t>	mov </a:t>
            </a:r>
            <a:r>
              <a:rPr lang="en-US" altLang="zh-CN" sz="2000" b="1" dirty="0" err="1">
                <a:latin typeface="+mn-lt"/>
              </a:rPr>
              <a:t>ebp,esp</a:t>
            </a:r>
            <a:r>
              <a:rPr lang="en-US" altLang="zh-CN" sz="2000" b="1" dirty="0">
                <a:latin typeface="+mn-lt"/>
              </a:rPr>
              <a:t>	; </a:t>
            </a:r>
            <a:r>
              <a:rPr lang="zh-CN" altLang="en-US" sz="2000" b="1" dirty="0">
                <a:latin typeface="+mn-lt"/>
              </a:rPr>
              <a:t>堆栈随机访问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b="1" dirty="0">
                <a:latin typeface="+mn-lt"/>
              </a:rPr>
              <a:t>	mov </a:t>
            </a:r>
            <a:r>
              <a:rPr lang="en-US" altLang="zh-CN" sz="2000" b="1" dirty="0" err="1">
                <a:latin typeface="+mn-lt"/>
              </a:rPr>
              <a:t>esi</a:t>
            </a:r>
            <a:r>
              <a:rPr lang="en-US" altLang="zh-CN" sz="2000" b="1" dirty="0">
                <a:latin typeface="+mn-lt"/>
              </a:rPr>
              <a:t>,[ebp+4]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ESI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＝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CALL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下条指令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(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标号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retp1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)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偏移地址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b="1" dirty="0"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mov </a:t>
            </a:r>
            <a:r>
              <a:rPr lang="en-US" altLang="zh-CN" sz="2000" b="1" dirty="0" err="1">
                <a:latin typeface="+mn-lt"/>
              </a:rPr>
              <a:t>edi,offset</a:t>
            </a:r>
            <a:r>
              <a:rPr lang="en-US" altLang="zh-CN" sz="2000" b="1" dirty="0">
                <a:latin typeface="+mn-lt"/>
              </a:rPr>
              <a:t> retp2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EDI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＝标号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retp2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的偏移地址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mov ebx,2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pop </a:t>
            </a:r>
            <a:r>
              <a:rPr lang="en-US" altLang="zh-CN" sz="2000" b="1" dirty="0" err="1">
                <a:latin typeface="+mn-lt"/>
              </a:rPr>
              <a:t>ebp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弹出堆栈，保持堆栈平衡，</a:t>
            </a:r>
            <a:r>
              <a:rPr lang="en-US" altLang="zh-CN" sz="2000" b="1" dirty="0" err="1">
                <a:solidFill>
                  <a:srgbClr val="FF0000"/>
                </a:solidFill>
                <a:latin typeface="+mn-lt"/>
              </a:rPr>
              <a:t>ebp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=5</a:t>
            </a:r>
            <a:endParaRPr lang="zh-CN" altLang="en-US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ret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子程序返回，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返回到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retp1</a:t>
            </a:r>
            <a:endParaRPr lang="zh-CN" altLang="en-US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b="1" dirty="0" err="1">
                <a:latin typeface="+mn-lt"/>
              </a:rPr>
              <a:t>subp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endp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过程结束</a:t>
            </a:r>
            <a:endParaRPr lang="en-US" altLang="zh-CN" sz="2000" b="1" dirty="0">
              <a:latin typeface="+mn-lt"/>
            </a:endParaRPr>
          </a:p>
        </p:txBody>
      </p:sp>
      <p:grpSp>
        <p:nvGrpSpPr>
          <p:cNvPr id="4" name="Group 7"/>
          <p:cNvGrpSpPr/>
          <p:nvPr/>
        </p:nvGrpSpPr>
        <p:grpSpPr bwMode="auto">
          <a:xfrm>
            <a:off x="2699792" y="4149086"/>
            <a:ext cx="5761291" cy="1077914"/>
            <a:chOff x="1824" y="2544"/>
            <a:chExt cx="4215" cy="679"/>
          </a:xfrm>
        </p:grpSpPr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3299" y="2785"/>
              <a:ext cx="2740" cy="4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algn="just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tabLst>
                  <a:tab pos="2514600" algn="l"/>
                </a:tabLst>
                <a:defRPr sz="32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830580" indent="-285750" algn="just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Blip>
                  <a:blip r:embed="rId1"/>
                </a:buBlip>
                <a:tabLst>
                  <a:tab pos="2514600" algn="l"/>
                </a:tabLst>
                <a:defRPr sz="2800" b="1">
                  <a:solidFill>
                    <a:srgbClr val="193C7D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238250" indent="-228600" algn="just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Blip>
                  <a:blip r:embed="rId2"/>
                </a:buBlip>
                <a:tabLst>
                  <a:tab pos="2514600" algn="l"/>
                </a:tabLst>
                <a:defRPr sz="2400" b="1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46555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?"/>
                <a:tabLst>
                  <a:tab pos="2514600" algn="l"/>
                </a:tabLst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tabLst>
                  <a:tab pos="2514600" algn="l"/>
                </a:tabLst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tabLst>
                  <a:tab pos="2514600" algn="l"/>
                </a:tabLst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tabLst>
                  <a:tab pos="2514600" algn="l"/>
                </a:tabLst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tabLst>
                  <a:tab pos="2514600" algn="l"/>
                </a:tabLst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tabLst>
                  <a:tab pos="2514600" algn="l"/>
                </a:tabLst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ts val="0"/>
                </a:spcBef>
                <a:buFont typeface="Wingdings" panose="05000000000000000000" pitchFamily="2" charset="2"/>
                <a:buNone/>
              </a:pPr>
              <a:r>
                <a:rPr lang="zh-CN" altLang="en-US" sz="2000" b="0" dirty="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如果增加 </a:t>
              </a:r>
              <a:r>
                <a:rPr lang="en-US" altLang="zh-CN" sz="2000" b="0" dirty="0">
                  <a:solidFill>
                    <a:schemeClr val="tx2"/>
                  </a:solidFill>
                  <a:latin typeface="+mj-lt"/>
                  <a:ea typeface="黑体" panose="02010609060101010101" pitchFamily="49" charset="-122"/>
                </a:rPr>
                <a:t>MOV [EBP+4],EDI</a:t>
              </a:r>
              <a:endParaRPr lang="en-US" altLang="zh-CN" sz="2000" b="0" dirty="0">
                <a:solidFill>
                  <a:schemeClr val="tx2"/>
                </a:solidFill>
                <a:latin typeface="+mj-lt"/>
                <a:ea typeface="黑体" panose="02010609060101010101" pitchFamily="49" charset="-122"/>
              </a:endParaRPr>
            </a:p>
            <a:p>
              <a:pPr algn="l" eaLnBrk="1" hangingPunct="1">
                <a:spcBef>
                  <a:spcPts val="0"/>
                </a:spcBef>
                <a:buFont typeface="Wingdings" panose="05000000000000000000" pitchFamily="2" charset="2"/>
                <a:buNone/>
              </a:pPr>
              <a:r>
                <a:rPr lang="zh-CN" altLang="en-US" sz="2000" b="0" dirty="0">
                  <a:solidFill>
                    <a:schemeClr val="tx2"/>
                  </a:solidFill>
                  <a:latin typeface="+mj-lt"/>
                  <a:ea typeface="黑体" panose="02010609060101010101" pitchFamily="49" charset="-122"/>
                </a:rPr>
                <a:t>会</a:t>
              </a:r>
              <a:r>
                <a:rPr lang="zh-CN" altLang="en-US" sz="2000" b="0" dirty="0">
                  <a:solidFill>
                    <a:srgbClr val="FF0000"/>
                  </a:solidFill>
                  <a:latin typeface="+mj-lt"/>
                  <a:ea typeface="黑体" panose="02010609060101010101" pitchFamily="49" charset="-122"/>
                </a:rPr>
                <a:t>返回到</a:t>
              </a:r>
              <a:r>
                <a:rPr lang="en-US" altLang="zh-CN" sz="2000" b="0" dirty="0">
                  <a:solidFill>
                    <a:srgbClr val="FF0000"/>
                  </a:solidFill>
                  <a:latin typeface="+mj-lt"/>
                  <a:ea typeface="黑体" panose="02010609060101010101" pitchFamily="49" charset="-122"/>
                </a:rPr>
                <a:t>retp2</a:t>
              </a:r>
              <a:endParaRPr lang="zh-CN" altLang="en-US" sz="2000" b="0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7" name="Line 5"/>
            <p:cNvSpPr>
              <a:spLocks noChangeShapeType="1"/>
            </p:cNvSpPr>
            <p:nvPr/>
          </p:nvSpPr>
          <p:spPr bwMode="auto">
            <a:xfrm flipH="1" flipV="1">
              <a:off x="1824" y="2832"/>
              <a:ext cx="1475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WordArt 6"/>
            <p:cNvSpPr>
              <a:spLocks noChangeArrowheads="1" noChangeShapeType="1" noTextEdit="1"/>
            </p:cNvSpPr>
            <p:nvPr/>
          </p:nvSpPr>
          <p:spPr bwMode="auto">
            <a:xfrm>
              <a:off x="5232" y="2544"/>
              <a:ext cx="384" cy="28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12700">
                    <a:solidFill>
                      <a:srgbClr val="EAEAEA"/>
                    </a:solidFill>
                    <a:round/>
                  </a:ln>
                  <a:gradFill rotWithShape="1">
                    <a:gsLst>
                      <a:gs pos="0">
                        <a:srgbClr val="A603AB"/>
                      </a:gs>
                      <a:gs pos="12000">
                        <a:srgbClr val="E81766"/>
                      </a:gs>
                      <a:gs pos="27000">
                        <a:srgbClr val="EE3F17"/>
                      </a:gs>
                      <a:gs pos="48000">
                        <a:srgbClr val="FFFF00"/>
                      </a:gs>
                      <a:gs pos="64999">
                        <a:srgbClr val="1A8D48"/>
                      </a:gs>
                      <a:gs pos="78999">
                        <a:srgbClr val="0819FB"/>
                      </a:gs>
                      <a:gs pos="100000">
                        <a:srgbClr val="A603AB"/>
                      </a:gs>
                    </a:gsLst>
                    <a:lin ang="0" scaled="1"/>
                  </a:gradFill>
                  <a:effectLst>
                    <a:outerShdw dist="35921" dir="2700000" sy="50000" kx="2115830" algn="bl" rotWithShape="0">
                      <a:srgbClr val="C0C0C0">
                        <a:alpha val="79999"/>
                      </a:srgbClr>
                    </a:outerShdw>
                  </a:effectLst>
                  <a:latin typeface="宋体" panose="02010600030101010101" pitchFamily="2" charset="-122"/>
                </a:rPr>
                <a:t>？</a:t>
              </a:r>
              <a:endParaRPr lang="zh-CN" altLang="en-US" sz="3600" kern="10">
                <a:ln w="12700">
                  <a:solidFill>
                    <a:srgbClr val="EAEAEA"/>
                  </a:solidFill>
                  <a:rou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323528" y="581447"/>
            <a:ext cx="8424936" cy="6048672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子程序的调用和返回都要利用堆栈</a:t>
            </a: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+mn-lt"/>
              </a:rPr>
              <a:t>调用时：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CALL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先把下一条指令的偏移地址作为返回地址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EIP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保存到堆栈，然后跳转到子程序</a:t>
            </a:r>
            <a:endParaRPr lang="en-US" altLang="zh-CN" sz="2400" dirty="0">
              <a:solidFill>
                <a:srgbClr val="FF0000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+mn-lt"/>
              </a:rPr>
              <a:t>子程序中：</a:t>
            </a:r>
            <a:endParaRPr lang="zh-CN" altLang="en-US" sz="2400" dirty="0">
              <a:latin typeface="+mn-lt"/>
            </a:endParaRPr>
          </a:p>
          <a:p>
            <a:pPr marL="144018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push </a:t>
            </a:r>
            <a:r>
              <a:rPr lang="en-US" altLang="zh-CN" sz="2400" dirty="0" err="1">
                <a:solidFill>
                  <a:srgbClr val="00B050"/>
                </a:solidFill>
                <a:latin typeface="+mn-lt"/>
              </a:rPr>
              <a:t>ebp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将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EBP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内容保存到堆栈顶部，并使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ESP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减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4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144018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pop </a:t>
            </a:r>
            <a:r>
              <a:rPr lang="en-US" altLang="zh-CN" sz="2400" dirty="0" err="1">
                <a:solidFill>
                  <a:srgbClr val="00B050"/>
                </a:solidFill>
                <a:latin typeface="+mn-lt"/>
              </a:rPr>
              <a:t>ebp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将栈顶数据传送给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EBP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，同时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ESP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加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4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+mn-lt"/>
              </a:rPr>
              <a:t>子程序返回时：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RET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使当前栈顶弹出返回地址到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EIP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子程序调用的堆栈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78184" y="648055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" name="Picture 4" descr="fig040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558" y="4036365"/>
            <a:ext cx="6311868" cy="2738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内容占位符 2"/>
          <p:cNvSpPr txBox="1"/>
          <p:nvPr/>
        </p:nvSpPr>
        <p:spPr>
          <a:xfrm>
            <a:off x="1269157" y="5249402"/>
            <a:ext cx="2088232" cy="427136"/>
          </a:xfrm>
          <a:prstGeom prst="rect">
            <a:avLst/>
          </a:prstGeom>
        </p:spPr>
        <p:txBody>
          <a:bodyPr/>
          <a:lstStyle/>
          <a:p>
            <a:pPr algn="just">
              <a:lnSpc>
                <a:spcPct val="120000"/>
              </a:lnSpc>
              <a:spcBef>
                <a:spcPts val="0"/>
              </a:spcBef>
              <a:buClr>
                <a:srgbClr val="0000FF"/>
              </a:buClr>
              <a:buSzPct val="100000"/>
              <a:defRPr/>
            </a:pPr>
            <a:r>
              <a:rPr lang="en-US" altLang="zh-CN" sz="1800" dirty="0">
                <a:solidFill>
                  <a:srgbClr val="00B050"/>
                </a:solidFill>
                <a:latin typeface="+mn-lt"/>
              </a:rPr>
              <a:t>retp1</a:t>
            </a:r>
            <a:r>
              <a:rPr lang="zh-CN" altLang="en-US" sz="1800" dirty="0">
                <a:solidFill>
                  <a:srgbClr val="00B050"/>
                </a:solidFill>
                <a:latin typeface="+mn-lt"/>
              </a:rPr>
              <a:t>标号的地址</a:t>
            </a:r>
            <a:endParaRPr lang="zh-CN" altLang="en-US" sz="1800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9" name="内容占位符 2"/>
          <p:cNvSpPr txBox="1"/>
          <p:nvPr/>
        </p:nvSpPr>
        <p:spPr>
          <a:xfrm>
            <a:off x="2718841" y="5687190"/>
            <a:ext cx="432049" cy="427136"/>
          </a:xfrm>
          <a:prstGeom prst="rect">
            <a:avLst/>
          </a:prstGeom>
        </p:spPr>
        <p:txBody>
          <a:bodyPr/>
          <a:lstStyle/>
          <a:p>
            <a:pPr algn="just">
              <a:lnSpc>
                <a:spcPct val="120000"/>
              </a:lnSpc>
              <a:spcBef>
                <a:spcPts val="0"/>
              </a:spcBef>
              <a:buClr>
                <a:srgbClr val="0000FF"/>
              </a:buClr>
              <a:buSzPct val="100000"/>
              <a:defRPr/>
            </a:pPr>
            <a:r>
              <a:rPr lang="en-US" altLang="zh-CN" sz="2000" dirty="0">
                <a:solidFill>
                  <a:srgbClr val="00B050"/>
                </a:solidFill>
                <a:latin typeface="+mn-lt"/>
              </a:rPr>
              <a:t>5</a:t>
            </a:r>
            <a:endParaRPr lang="zh-CN" altLang="en-US" sz="2000" dirty="0">
              <a:solidFill>
                <a:srgbClr val="00B050"/>
              </a:solidFill>
              <a:latin typeface="+mn-lt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467544" y="698029"/>
            <a:ext cx="8064896" cy="5646713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2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子程序的编写方法与主程序一样</a:t>
            </a:r>
            <a:endParaRPr lang="en-US" altLang="zh-CN" sz="28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2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需要留意几个问题：</a:t>
            </a: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2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利用过程定义，获得子程序名和调用属性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2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RET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指令返回主程序，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CALL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指令调用子程序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2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压入和弹出操作要成对使用，保持堆栈平衡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2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子程序开始时要保护用到的寄存器内容，返回前进行恢复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2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子程序应安排在代码段的主程序之外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2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子程序允许嵌套和递归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2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处理好子程序与主程序之间的参数传递问题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5.1.2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子程序设计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78184" y="707554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AutoShape 4"/>
          <p:cNvSpPr>
            <a:spLocks noChangeArrowheads="1"/>
          </p:cNvSpPr>
          <p:nvPr/>
        </p:nvSpPr>
        <p:spPr bwMode="auto">
          <a:xfrm>
            <a:off x="1078948" y="5948921"/>
            <a:ext cx="7309476" cy="576423"/>
          </a:xfrm>
          <a:prstGeom prst="roundRect">
            <a:avLst>
              <a:gd name="adj" fmla="val 16667"/>
            </a:avLst>
          </a:prstGeom>
          <a:solidFill>
            <a:schemeClr val="accent3">
              <a:lumMod val="75000"/>
            </a:schemeClr>
          </a:solidFill>
          <a:ln w="12700">
            <a:solidFill>
              <a:schemeClr val="accent1"/>
            </a:solidFill>
            <a:rou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提供适当的注释，难点是参数传递</a:t>
            </a:r>
            <a:endParaRPr lang="en-US" altLang="zh-CN" sz="2600" b="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lang="zh-CN" altLang="en-US" kern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  <a:sym typeface="+mn-ea"/>
              </a:rPr>
              <a:t>例</a:t>
            </a:r>
            <a:r>
              <a:rPr lang="en-US" altLang="zh-CN" kern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  <a:sym typeface="+mn-ea"/>
              </a:rPr>
              <a:t>5-2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回车换行子程序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+mj-cs"/>
              </a:rPr>
              <a:t>DPCRLF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70605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83568" y="1896378"/>
            <a:ext cx="7776864" cy="4268926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b="1" dirty="0" err="1">
                <a:solidFill>
                  <a:srgbClr val="FF0000"/>
                </a:solidFill>
                <a:latin typeface="+mn-lt"/>
              </a:rPr>
              <a:t>dpcrlf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proc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;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回车换行子程序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push </a:t>
            </a:r>
            <a:r>
              <a:rPr lang="en-US" altLang="zh-CN" sz="2000" b="1" dirty="0" err="1">
                <a:latin typeface="+mn-lt"/>
              </a:rPr>
              <a:t>eax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保护寄存器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mov al,0dh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输出回车字符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13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call </a:t>
            </a:r>
            <a:r>
              <a:rPr lang="en-US" altLang="zh-CN" sz="2000" b="1" dirty="0" err="1">
                <a:solidFill>
                  <a:schemeClr val="tx1"/>
                </a:solidFill>
                <a:latin typeface="+mn-lt"/>
              </a:rPr>
              <a:t>dispc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子程序中调用子程序，实现子程序嵌套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mov al,0ah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输出换行字符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10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call </a:t>
            </a:r>
            <a:r>
              <a:rPr lang="en-US" altLang="zh-CN" sz="2000" b="1" dirty="0" err="1">
                <a:solidFill>
                  <a:schemeClr val="tx1"/>
                </a:solidFill>
                <a:latin typeface="+mn-lt"/>
              </a:rPr>
              <a:t>dispc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子程序中调用子程序，实现</a:t>
            </a:r>
            <a:r>
              <a:rPr lang="zh-CN" altLang="en-US" sz="2000" b="1" dirty="0">
                <a:latin typeface="+mn-lt"/>
              </a:rPr>
              <a:t>子程序嵌套</a:t>
            </a:r>
            <a:endParaRPr lang="zh-CN" altLang="en-US" sz="2000" b="1" dirty="0"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pop </a:t>
            </a:r>
            <a:r>
              <a:rPr lang="en-US" altLang="zh-CN" sz="2000" b="1" dirty="0" err="1">
                <a:latin typeface="+mn-lt"/>
              </a:rPr>
              <a:t>eax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恢复寄存器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ret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;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子程序返回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b="1" dirty="0" err="1">
                <a:solidFill>
                  <a:srgbClr val="FF0000"/>
                </a:solidFill>
                <a:latin typeface="+mn-lt"/>
              </a:rPr>
              <a:t>dpcrlf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</a:t>
            </a:r>
            <a:r>
              <a:rPr lang="en-US" altLang="zh-CN" sz="2000" b="1" dirty="0" err="1">
                <a:solidFill>
                  <a:srgbClr val="FF0000"/>
                </a:solidFill>
                <a:latin typeface="+mn-lt"/>
              </a:rPr>
              <a:t>endp</a:t>
            </a:r>
            <a:endParaRPr lang="en-US" altLang="zh-CN" sz="20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2" name="内容占位符 2"/>
          <p:cNvSpPr txBox="1"/>
          <p:nvPr/>
        </p:nvSpPr>
        <p:spPr>
          <a:xfrm>
            <a:off x="602035" y="764704"/>
            <a:ext cx="8136904" cy="5646713"/>
          </a:xfrm>
          <a:prstGeom prst="rect">
            <a:avLst/>
          </a:prstGeom>
        </p:spPr>
        <p:txBody>
          <a:bodyPr/>
          <a:lstStyle/>
          <a:p>
            <a:pPr algn="just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SzPct val="100000"/>
              <a:defRPr/>
            </a:pPr>
            <a:r>
              <a:rPr lang="zh-CN" altLang="en-US" sz="2400" dirty="0">
                <a:latin typeface="+mn-lt"/>
              </a:rPr>
              <a:t>如果子程序和主程序之间无需传递参数</a:t>
            </a:r>
            <a:r>
              <a:rPr lang="en-US" altLang="zh-CN" sz="2400" dirty="0">
                <a:latin typeface="+mn-lt"/>
              </a:rPr>
              <a:t>(</a:t>
            </a:r>
            <a:r>
              <a:rPr lang="zh-CN" altLang="en-US" sz="2400" dirty="0">
                <a:latin typeface="+mn-lt"/>
              </a:rPr>
              <a:t>和返回值</a:t>
            </a:r>
            <a:r>
              <a:rPr lang="en-US" altLang="zh-CN" sz="2400" dirty="0">
                <a:latin typeface="+mn-lt"/>
              </a:rPr>
              <a:t>)</a:t>
            </a:r>
            <a:r>
              <a:rPr lang="zh-CN" altLang="en-US" sz="2400" dirty="0">
                <a:latin typeface="+mn-lt"/>
              </a:rPr>
              <a:t>，如下列回车换行子程序没有参数和返回值：</a:t>
            </a:r>
            <a:endParaRPr lang="en-US" altLang="zh-CN" sz="2400" dirty="0">
              <a:latin typeface="+mn-lt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467544" y="755179"/>
            <a:ext cx="8424936" cy="6048672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主程序与子程序间通过参数传递建立联系</a:t>
            </a: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入口参数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(</a:t>
            </a: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参数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)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：主程序→子程序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出口参数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(</a:t>
            </a: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返回值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)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：子程序→主程序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参数的具体内容</a:t>
            </a: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数据本身（传递数值，传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值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引用，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By Value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）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数据的存储地址（传递地址，传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址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引用，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By Location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）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参数传递方法</a:t>
            </a: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寄存器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传递参数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共享变量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传递参数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堆栈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传递参数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5.2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参数传递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78184" y="726604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534219" y="611669"/>
            <a:ext cx="8064896" cy="6048672"/>
          </a:xfrm>
          <a:prstGeom prst="rect">
            <a:avLst/>
          </a:prstGeom>
        </p:spPr>
        <p:txBody>
          <a:bodyPr/>
          <a:lstStyle/>
          <a:p>
            <a:pPr marL="457200" indent="-457200" algn="just" latinLnBrk="0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最简单和常用的参数传递方法</a:t>
            </a:r>
            <a:endParaRPr lang="zh-CN" altLang="en-US" sz="2800" dirty="0">
              <a:latin typeface="+mn-lt"/>
            </a:endParaRPr>
          </a:p>
          <a:p>
            <a:pPr marL="457200" indent="-457200" algn="just" latinLnBrk="0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把参数存于约定的寄存器</a:t>
            </a:r>
            <a:endParaRPr lang="zh-CN" altLang="en-US" sz="2800" dirty="0">
              <a:latin typeface="+mn-lt"/>
            </a:endParaRPr>
          </a:p>
          <a:p>
            <a:pPr marL="914400" lvl="1" indent="-457200" algn="just" latinLnBrk="0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少量数据直接传递数值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 latinLnBrk="0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大量数据只能传递地址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457200" indent="-457200" algn="just" latinLnBrk="0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带有入口参数的寄存器可以保护、也可以不保护，但最好能够保持一致</a:t>
            </a:r>
            <a:endParaRPr lang="zh-CN" altLang="en-US" sz="2800" dirty="0">
              <a:latin typeface="+mn-lt"/>
            </a:endParaRPr>
          </a:p>
          <a:p>
            <a:pPr marL="914400" lvl="1" indent="-457200" algn="just" latinLnBrk="0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假如</a:t>
            </a:r>
            <a:r>
              <a:rPr lang="en-US" altLang="zh-CN" sz="2400" dirty="0" err="1">
                <a:solidFill>
                  <a:schemeClr val="tx1"/>
                </a:solidFill>
                <a:latin typeface="+mn-lt"/>
              </a:rPr>
              <a:t>eax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中保存入口参数，则会将参数直接送子程序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457200" indent="-457200" algn="just" latinLnBrk="0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带有出口参数</a:t>
            </a:r>
            <a:r>
              <a:rPr lang="en-US" altLang="zh-CN" sz="2800" dirty="0">
                <a:latin typeface="+mn-lt"/>
              </a:rPr>
              <a:t>(</a:t>
            </a:r>
            <a:r>
              <a:rPr lang="zh-CN" altLang="en-US" sz="2800" dirty="0">
                <a:latin typeface="+mn-lt"/>
              </a:rPr>
              <a:t>返回值</a:t>
            </a:r>
            <a:r>
              <a:rPr lang="en-US" altLang="zh-CN" sz="2800" dirty="0">
                <a:latin typeface="+mn-lt"/>
              </a:rPr>
              <a:t>)</a:t>
            </a:r>
            <a:r>
              <a:rPr lang="zh-CN" altLang="en-US" sz="2800" dirty="0">
                <a:latin typeface="+mn-lt"/>
              </a:rPr>
              <a:t>的寄存器不能保护和恢复</a:t>
            </a:r>
            <a:endParaRPr lang="zh-CN" altLang="en-US" sz="2800" dirty="0">
              <a:latin typeface="+mn-lt"/>
            </a:endParaRPr>
          </a:p>
          <a:p>
            <a:pPr marL="914400" lvl="1" indent="-457200" algn="just" latinLnBrk="0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假如子程序开头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 push eax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，结尾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 pop eax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，即使子程序计算出了正确结果并存到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 eax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，最后的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 pop eax 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也会把之前保存的旧值写回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 eax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，导致返回值被覆盖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。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5.2.1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寄存器传递参数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78184" y="654849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5-3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十六进制显示程序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-1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677481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701502" y="1609750"/>
            <a:ext cx="7830938" cy="5227650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2000" b="1" dirty="0" err="1">
                <a:solidFill>
                  <a:srgbClr val="00B050"/>
                </a:solidFill>
                <a:latin typeface="+mn-lt"/>
              </a:rPr>
              <a:t>regd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byte ‘EAX=’, 8 dup (0), ‘H’, 0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mov </a:t>
            </a:r>
            <a:r>
              <a:rPr lang="en-US" altLang="zh-CN" sz="2000" b="1" dirty="0" err="1">
                <a:latin typeface="+mn-lt"/>
              </a:rPr>
              <a:t>eax</a:t>
            </a:r>
            <a:r>
              <a:rPr lang="en-US" altLang="zh-CN" sz="2000" b="1" dirty="0">
                <a:latin typeface="+mn-lt"/>
              </a:rPr>
              <a:t>, 1234abcdh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代码段，假设一个数据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xor</a:t>
            </a:r>
            <a:r>
              <a:rPr lang="en-US" altLang="zh-CN" sz="2000" b="1" dirty="0">
                <a:latin typeface="+mn-lt"/>
              </a:rPr>
              <a:t> </a:t>
            </a:r>
            <a:r>
              <a:rPr lang="en-US" altLang="zh-CN" sz="2000" b="1" dirty="0" err="1">
                <a:latin typeface="+mn-lt"/>
              </a:rPr>
              <a:t>ebx,ebx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mov ecx,8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; 8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位十六进制数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again: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rol</a:t>
            </a:r>
            <a:r>
              <a:rPr lang="en-US" altLang="zh-CN" sz="2000" b="1" dirty="0">
                <a:latin typeface="+mn-lt"/>
              </a:rPr>
              <a:t> eax,4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高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4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位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二进制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循环移位进入低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4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位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push </a:t>
            </a:r>
            <a:r>
              <a:rPr lang="en-US" altLang="zh-CN" sz="2000" b="1" dirty="0" err="1">
                <a:latin typeface="+mn-lt"/>
              </a:rPr>
              <a:t>eax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; mov </a:t>
            </a:r>
            <a:r>
              <a:rPr lang="en-US" altLang="zh-CN" sz="2000" b="1" dirty="0" err="1">
                <a:solidFill>
                  <a:srgbClr val="00B050"/>
                </a:solidFill>
                <a:latin typeface="+mn-lt"/>
              </a:rPr>
              <a:t>edx,eax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call </a:t>
            </a:r>
            <a:r>
              <a:rPr lang="en-US" altLang="zh-CN" sz="2000" b="1" dirty="0" err="1">
                <a:latin typeface="+mn-lt"/>
              </a:rPr>
              <a:t>htoasc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调用子程序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mov 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regd+4</a:t>
            </a:r>
            <a:r>
              <a:rPr lang="en-US" altLang="zh-CN" sz="2000" b="1" dirty="0">
                <a:latin typeface="+mn-lt"/>
              </a:rPr>
              <a:t>[</a:t>
            </a:r>
            <a:r>
              <a:rPr lang="en-US" altLang="zh-CN" sz="2000" b="1" dirty="0" err="1">
                <a:latin typeface="+mn-lt"/>
              </a:rPr>
              <a:t>ebx</a:t>
            </a:r>
            <a:r>
              <a:rPr lang="en-US" altLang="zh-CN" sz="2000" b="1" dirty="0">
                <a:latin typeface="+mn-lt"/>
              </a:rPr>
              <a:t>],al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转换后的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ASCII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码：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8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位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pop </a:t>
            </a:r>
            <a:r>
              <a:rPr lang="en-US" altLang="zh-CN" sz="2000" b="1" dirty="0" err="1">
                <a:latin typeface="+mn-lt"/>
              </a:rPr>
              <a:t>eax</a:t>
            </a:r>
            <a:r>
              <a:rPr lang="en-US" altLang="zh-CN" sz="2000" b="1" dirty="0">
                <a:latin typeface="+mn-lt"/>
              </a:rPr>
              <a:t>	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mov </a:t>
            </a:r>
            <a:r>
              <a:rPr lang="en-US" altLang="zh-CN" sz="2000" b="1" dirty="0" err="1">
                <a:solidFill>
                  <a:srgbClr val="00B050"/>
                </a:solidFill>
                <a:latin typeface="+mn-lt"/>
              </a:rPr>
              <a:t>eax,edx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inc</a:t>
            </a:r>
            <a:r>
              <a:rPr lang="en-US" altLang="zh-CN" sz="2000" b="1" dirty="0">
                <a:latin typeface="+mn-lt"/>
              </a:rPr>
              <a:t> </a:t>
            </a:r>
            <a:r>
              <a:rPr lang="en-US" altLang="zh-CN" sz="2000" b="1" dirty="0" err="1">
                <a:latin typeface="+mn-lt"/>
              </a:rPr>
              <a:t>ebx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dec </a:t>
            </a:r>
            <a:r>
              <a:rPr lang="en-US" altLang="zh-CN" sz="2000" b="1" dirty="0" err="1">
                <a:solidFill>
                  <a:srgbClr val="FF0000"/>
                </a:solidFill>
                <a:latin typeface="+mn-lt"/>
              </a:rPr>
              <a:t>ecx</a:t>
            </a:r>
            <a:endParaRPr lang="en-US" altLang="zh-CN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</a:t>
            </a:r>
            <a:r>
              <a:rPr lang="en-US" altLang="zh-CN" sz="2000" b="1" dirty="0" err="1">
                <a:solidFill>
                  <a:srgbClr val="FF0000"/>
                </a:solidFill>
                <a:latin typeface="+mn-lt"/>
              </a:rPr>
              <a:t>jnz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 again</a:t>
            </a:r>
            <a:endParaRPr lang="en-US" altLang="zh-CN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	mov </a:t>
            </a:r>
            <a:r>
              <a:rPr lang="en-US" altLang="zh-CN" sz="2000" b="1" dirty="0" err="1">
                <a:latin typeface="+mn-lt"/>
              </a:rPr>
              <a:t>eax,offset</a:t>
            </a:r>
            <a:r>
              <a:rPr lang="en-US" altLang="zh-CN" sz="2000" b="1" dirty="0">
                <a:latin typeface="+mn-lt"/>
              </a:rPr>
              <a:t> </a:t>
            </a:r>
            <a:r>
              <a:rPr lang="en-US" altLang="zh-CN" sz="2000" b="1" dirty="0" err="1">
                <a:latin typeface="+mn-lt"/>
              </a:rPr>
              <a:t>regd</a:t>
            </a:r>
            <a:endParaRPr lang="en-US" altLang="zh-CN" sz="2000" b="1" dirty="0">
              <a:latin typeface="+mn-lt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call </a:t>
            </a:r>
            <a:r>
              <a:rPr lang="en-US" altLang="zh-CN" sz="2000" b="1" dirty="0" err="1">
                <a:latin typeface="+mn-lt"/>
              </a:rPr>
              <a:t>dispmsg</a:t>
            </a:r>
            <a:r>
              <a:rPr lang="en-US" altLang="zh-CN" sz="2000" b="1" dirty="0">
                <a:latin typeface="+mn-lt"/>
              </a:rPr>
              <a:t>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显示</a:t>
            </a:r>
            <a:endParaRPr lang="en-US" altLang="zh-CN" sz="2000" b="1" dirty="0">
              <a:latin typeface="+mn-lt"/>
            </a:endParaRPr>
          </a:p>
        </p:txBody>
      </p:sp>
      <p:sp>
        <p:nvSpPr>
          <p:cNvPr id="2" name="内容占位符 2"/>
          <p:cNvSpPr txBox="1"/>
          <p:nvPr/>
        </p:nvSpPr>
        <p:spPr>
          <a:xfrm>
            <a:off x="611560" y="664121"/>
            <a:ext cx="7992888" cy="960862"/>
          </a:xfrm>
          <a:prstGeom prst="rect">
            <a:avLst/>
          </a:prstGeom>
          <a:ln w="19050">
            <a:noFill/>
            <a:prstDash val="dash"/>
          </a:ln>
        </p:spPr>
        <p:txBody>
          <a:bodyPr/>
          <a:lstStyle/>
          <a:p>
            <a:pPr algn="just">
              <a:lnSpc>
                <a:spcPct val="120000"/>
              </a:lnSpc>
              <a:spcBef>
                <a:spcPts val="0"/>
              </a:spcBef>
              <a:buClr>
                <a:srgbClr val="0000FF"/>
              </a:buClr>
              <a:buSzPct val="100000"/>
              <a:defRPr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例：实现十六进制显示。将每个十六进制数位转换为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ASCII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码（数字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0~9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加上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30H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，字母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A~F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加上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37H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）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699792" y="5083338"/>
            <a:ext cx="2569934" cy="400110"/>
          </a:xfrm>
          <a:prstGeom prst="rect">
            <a:avLst/>
          </a:prstGeom>
          <a:noFill/>
          <a:ln w="12700">
            <a:solidFill>
              <a:srgbClr val="0099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0" dirty="0">
                <a:solidFill>
                  <a:srgbClr val="193C7D"/>
                </a:solidFill>
                <a:latin typeface="+mj-lt"/>
                <a:ea typeface="黑体" panose="02010609060101010101" pitchFamily="49" charset="-122"/>
              </a:rPr>
              <a:t>+4</a:t>
            </a:r>
            <a:r>
              <a:rPr lang="zh-CN" altLang="en-US" sz="2000" b="0" dirty="0">
                <a:solidFill>
                  <a:srgbClr val="193C7D"/>
                </a:solidFill>
                <a:latin typeface="+mj-lt"/>
                <a:ea typeface="黑体" panose="02010609060101010101" pitchFamily="49" charset="-122"/>
              </a:rPr>
              <a:t>意味着跳过</a:t>
            </a:r>
            <a:r>
              <a:rPr lang="en-US" altLang="zh-CN" sz="2000" b="0" dirty="0">
                <a:solidFill>
                  <a:srgbClr val="193C7D"/>
                </a:solidFill>
                <a:latin typeface="+mj-lt"/>
                <a:ea typeface="黑体" panose="02010609060101010101" pitchFamily="49" charset="-122"/>
              </a:rPr>
              <a:t>'EAX='</a:t>
            </a:r>
            <a:endParaRPr lang="en-US" altLang="zh-CN" sz="2000" b="0" dirty="0">
              <a:solidFill>
                <a:srgbClr val="193C7D"/>
              </a:solidFill>
              <a:latin typeface="+mj-lt"/>
              <a:ea typeface="黑体" panose="02010609060101010101" pitchFamily="49" charset="-122"/>
            </a:endParaRPr>
          </a:p>
        </p:txBody>
      </p:sp>
      <p:cxnSp>
        <p:nvCxnSpPr>
          <p:cNvPr id="5" name="直接箭头连接符 4"/>
          <p:cNvCxnSpPr/>
          <p:nvPr/>
        </p:nvCxnSpPr>
        <p:spPr bwMode="auto">
          <a:xfrm>
            <a:off x="2843808" y="4509120"/>
            <a:ext cx="288032" cy="542280"/>
          </a:xfrm>
          <a:prstGeom prst="straightConnector1">
            <a:avLst/>
          </a:prstGeom>
          <a:ln w="28575">
            <a:headEnd type="none" w="sm" len="sm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" name="Group 7"/>
          <p:cNvGrpSpPr/>
          <p:nvPr/>
        </p:nvGrpSpPr>
        <p:grpSpPr bwMode="auto">
          <a:xfrm>
            <a:off x="2916248" y="4077072"/>
            <a:ext cx="5601056" cy="2255442"/>
            <a:chOff x="2292" y="2416"/>
            <a:chExt cx="3634" cy="807"/>
          </a:xfrm>
        </p:grpSpPr>
        <p:sp>
          <p:nvSpPr>
            <p:cNvPr id="9" name="Rectangle 4"/>
            <p:cNvSpPr>
              <a:spLocks noChangeArrowheads="1"/>
            </p:cNvSpPr>
            <p:nvPr/>
          </p:nvSpPr>
          <p:spPr bwMode="auto">
            <a:xfrm>
              <a:off x="3877" y="2725"/>
              <a:ext cx="2049" cy="4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algn="just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tabLst>
                  <a:tab pos="2514600" algn="l"/>
                </a:tabLst>
                <a:defRPr sz="32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830580" indent="-285750" algn="just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Blip>
                  <a:blip r:embed="rId1"/>
                </a:buBlip>
                <a:tabLst>
                  <a:tab pos="2514600" algn="l"/>
                </a:tabLst>
                <a:defRPr sz="2800" b="1">
                  <a:solidFill>
                    <a:srgbClr val="193C7D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238250" indent="-228600" algn="just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Blip>
                  <a:blip r:embed="rId2"/>
                </a:buBlip>
                <a:tabLst>
                  <a:tab pos="2514600" algn="l"/>
                </a:tabLst>
                <a:defRPr sz="2400" b="1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46555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?"/>
                <a:tabLst>
                  <a:tab pos="2514600" algn="l"/>
                </a:tabLst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tabLst>
                  <a:tab pos="2514600" algn="l"/>
                </a:tabLst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tabLst>
                  <a:tab pos="2514600" algn="l"/>
                </a:tabLst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tabLst>
                  <a:tab pos="2514600" algn="l"/>
                </a:tabLst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tabLst>
                  <a:tab pos="2514600" algn="l"/>
                </a:tabLst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tabLst>
                  <a:tab pos="2514600" algn="l"/>
                </a:tabLst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ts val="0"/>
                </a:spcBef>
                <a:buFont typeface="Wingdings" panose="05000000000000000000" pitchFamily="2" charset="2"/>
                <a:buNone/>
              </a:pPr>
              <a:r>
                <a:rPr lang="zh-CN" altLang="en-US" sz="2000" b="0" dirty="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调用</a:t>
              </a:r>
              <a:r>
                <a:rPr lang="en-US" altLang="zh-CN" sz="2000" b="0" dirty="0" err="1">
                  <a:solidFill>
                    <a:schemeClr val="tx2"/>
                  </a:solidFill>
                  <a:latin typeface="+mj-lt"/>
                  <a:ea typeface="黑体" panose="02010609060101010101" pitchFamily="49" charset="-122"/>
                </a:rPr>
                <a:t>htoasc</a:t>
              </a:r>
              <a:r>
                <a:rPr lang="zh-CN" altLang="en-US" sz="2000" b="0" dirty="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时用</a:t>
              </a:r>
              <a:r>
                <a:rPr lang="en-US" altLang="zh-CN" sz="2000" b="0" dirty="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AL</a:t>
              </a:r>
              <a:r>
                <a:rPr lang="zh-CN" altLang="en-US" sz="2000" b="0" dirty="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寄存器传递参数，返回值也在</a:t>
              </a:r>
              <a:r>
                <a:rPr lang="en-US" altLang="zh-CN" sz="2000" b="0" dirty="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AL</a:t>
              </a:r>
              <a:r>
                <a:rPr lang="zh-CN" altLang="en-US" sz="2000" b="0" dirty="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里，而</a:t>
              </a:r>
              <a:r>
                <a:rPr lang="en-US" altLang="zh-CN" sz="2000" b="0" dirty="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EAX</a:t>
              </a:r>
              <a:r>
                <a:rPr lang="zh-CN" altLang="en-US" sz="2000" b="0" dirty="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存储原十六进制信息，需通过堆栈进行保护。</a:t>
              </a:r>
              <a:endParaRPr lang="zh-CN" altLang="en-US" sz="2000" b="0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10" name="Line 5"/>
            <p:cNvSpPr>
              <a:spLocks noChangeShapeType="1"/>
            </p:cNvSpPr>
            <p:nvPr/>
          </p:nvSpPr>
          <p:spPr bwMode="auto">
            <a:xfrm flipH="1" flipV="1">
              <a:off x="2292" y="2416"/>
              <a:ext cx="1585" cy="3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5-3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十六进制显示程序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-2</a:t>
            </a:r>
            <a:endParaRPr kumimoji="1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695170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83568" y="2543870"/>
            <a:ext cx="7776864" cy="4053482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子程序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 err="1">
                <a:latin typeface="+mn-lt"/>
              </a:rPr>
              <a:t>htoasc</a:t>
            </a:r>
            <a:r>
              <a:rPr lang="en-US" altLang="zh-CN" sz="2000" b="1" dirty="0">
                <a:latin typeface="+mn-lt"/>
              </a:rPr>
              <a:t>	proc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将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AL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低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4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位表达的一位十六进制数转换为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ASCII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码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and al,0fh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只取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AL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的低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4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位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二进制，高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4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位均为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0</a:t>
            </a:r>
            <a:endParaRPr lang="zh-CN" altLang="en-US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or al,30h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AL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高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4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位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二进制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0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变成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3 (0011)</a:t>
            </a:r>
            <a:endParaRPr lang="en-US" altLang="zh-CN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cmp</a:t>
            </a:r>
            <a:r>
              <a:rPr lang="en-US" altLang="zh-CN" sz="2000" b="1" dirty="0">
                <a:latin typeface="+mn-lt"/>
              </a:rPr>
              <a:t> al,39h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是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～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9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，还是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A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～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F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 err="1">
                <a:solidFill>
                  <a:srgbClr val="FF0000"/>
                </a:solidFill>
                <a:latin typeface="+mn-lt"/>
              </a:rPr>
              <a:t>jbe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zh-CN" sz="2000" b="1" dirty="0" err="1">
                <a:solidFill>
                  <a:srgbClr val="FF0000"/>
                </a:solidFill>
                <a:latin typeface="+mn-lt"/>
              </a:rPr>
              <a:t>htoend</a:t>
            </a:r>
            <a:endParaRPr lang="en-US" altLang="zh-CN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latin typeface="+mn-lt"/>
              </a:rPr>
              <a:t>	add al,7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是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A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～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F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，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ASCII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码再加上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7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 err="1">
                <a:solidFill>
                  <a:srgbClr val="FF0000"/>
                </a:solidFill>
                <a:latin typeface="+mn-lt"/>
              </a:rPr>
              <a:t>htoend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:</a:t>
            </a:r>
            <a:r>
              <a:rPr lang="en-US" altLang="zh-CN" sz="2000" b="1" dirty="0">
                <a:latin typeface="+mn-lt"/>
              </a:rPr>
              <a:t>	ret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子程序返回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 err="1">
                <a:latin typeface="+mn-lt"/>
              </a:rPr>
              <a:t>htoasc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endp</a:t>
            </a:r>
            <a:endParaRPr lang="en-US" altLang="zh-CN" sz="2000" b="1" dirty="0">
              <a:latin typeface="+mn-lt"/>
            </a:endParaRPr>
          </a:p>
        </p:txBody>
      </p:sp>
      <p:sp>
        <p:nvSpPr>
          <p:cNvPr id="4" name="内容占位符 2"/>
          <p:cNvSpPr txBox="1"/>
          <p:nvPr/>
        </p:nvSpPr>
        <p:spPr>
          <a:xfrm>
            <a:off x="575556" y="709874"/>
            <a:ext cx="7992888" cy="1758167"/>
          </a:xfrm>
          <a:prstGeom prst="rect">
            <a:avLst/>
          </a:prstGeom>
          <a:ln w="19050">
            <a:noFill/>
            <a:prstDash val="dash"/>
          </a:ln>
        </p:spPr>
        <p:txBody>
          <a:bodyPr/>
          <a:lstStyle/>
          <a:p>
            <a:pPr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defRPr/>
            </a:pPr>
            <a:r>
              <a:rPr lang="zh-CN" altLang="en-US" sz="2200" dirty="0">
                <a:solidFill>
                  <a:srgbClr val="FF0000"/>
                </a:solidFill>
                <a:latin typeface="+mn-lt"/>
              </a:rPr>
              <a:t>子程序的功能：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程序中需要多次进行十六进制数码转换为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ASCII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，所以将转换过程编写成一个子程序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HTOASC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。</a:t>
            </a:r>
            <a:endParaRPr lang="en-US" altLang="zh-CN" sz="2200" dirty="0">
              <a:solidFill>
                <a:schemeClr val="tx1"/>
              </a:solidFill>
              <a:latin typeface="+mn-lt"/>
            </a:endParaRPr>
          </a:p>
          <a:p>
            <a:pPr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defRPr/>
            </a:pPr>
            <a:r>
              <a:rPr lang="zh-CN" altLang="en-US" sz="2200" dirty="0">
                <a:solidFill>
                  <a:srgbClr val="FF0000"/>
                </a:solidFill>
                <a:latin typeface="+mn-lt"/>
              </a:rPr>
              <a:t>入口参数：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采用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AL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传递（低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4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位即需要转换的十六进制数码）</a:t>
            </a:r>
            <a:endParaRPr lang="en-US" altLang="zh-CN" sz="2200" dirty="0">
              <a:solidFill>
                <a:schemeClr val="tx1"/>
              </a:solidFill>
              <a:latin typeface="+mn-lt"/>
            </a:endParaRPr>
          </a:p>
          <a:p>
            <a:pPr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defRPr/>
            </a:pPr>
            <a:r>
              <a:rPr lang="zh-CN" altLang="en-US" sz="2200" dirty="0">
                <a:solidFill>
                  <a:srgbClr val="FF0000"/>
                </a:solidFill>
                <a:latin typeface="+mn-lt"/>
              </a:rPr>
              <a:t>出口参数：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AL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作为返回值，存放的是转换后的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ASCII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码</a:t>
            </a:r>
            <a:endParaRPr lang="en-US" altLang="zh-CN" sz="2200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534219" y="808137"/>
            <a:ext cx="8064896" cy="4257997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latin typeface="+mn-lt"/>
              </a:rPr>
              <a:t>子程序和主程序使用同一个变量名存取数据，就是利用共享变量进行参数传递</a:t>
            </a:r>
            <a:endParaRPr lang="zh-CN" altLang="en-US" sz="26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solidFill>
                  <a:schemeClr val="tx1"/>
                </a:solidFill>
                <a:latin typeface="+mn-lt"/>
              </a:rPr>
              <a:t>如果变量定义和使用不在同一个程序模块中，需要利用</a:t>
            </a:r>
            <a:r>
              <a:rPr lang="en-US" altLang="zh-CN" sz="2600" dirty="0">
                <a:solidFill>
                  <a:schemeClr val="tx1"/>
                </a:solidFill>
                <a:latin typeface="+mn-lt"/>
              </a:rPr>
              <a:t>PUBLIC</a:t>
            </a:r>
            <a:r>
              <a:rPr lang="zh-CN" altLang="en-US" sz="2600" dirty="0">
                <a:solidFill>
                  <a:schemeClr val="tx1"/>
                </a:solidFill>
                <a:latin typeface="+mn-lt"/>
              </a:rPr>
              <a:t>、</a:t>
            </a:r>
            <a:r>
              <a:rPr lang="en-US" altLang="zh-CN" sz="2600" dirty="0">
                <a:solidFill>
                  <a:schemeClr val="tx1"/>
                </a:solidFill>
                <a:latin typeface="+mn-lt"/>
              </a:rPr>
              <a:t>EXTREN</a:t>
            </a:r>
            <a:r>
              <a:rPr lang="zh-CN" altLang="en-US" sz="2600" dirty="0">
                <a:solidFill>
                  <a:schemeClr val="tx1"/>
                </a:solidFill>
                <a:latin typeface="+mn-lt"/>
              </a:rPr>
              <a:t>声明</a:t>
            </a:r>
            <a:endParaRPr lang="zh-CN" altLang="en-US" sz="26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solidFill>
                  <a:schemeClr val="tx1"/>
                </a:solidFill>
                <a:latin typeface="+mn-lt"/>
              </a:rPr>
              <a:t>共享变量传递参数，子程序的通用性较差</a:t>
            </a:r>
            <a:endParaRPr lang="zh-CN" altLang="en-US" sz="26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solidFill>
                  <a:schemeClr val="tx1"/>
                </a:solidFill>
                <a:latin typeface="+mn-lt"/>
              </a:rPr>
              <a:t>特别适合在多个程序段间、尤其在不同的程序模块间传递数据</a:t>
            </a:r>
            <a:endParaRPr lang="zh-CN" altLang="en-US" sz="26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5.2.2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共享变量传递参数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78184" y="736129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AutoShape 4"/>
          <p:cNvSpPr>
            <a:spLocks noChangeArrowheads="1"/>
          </p:cNvSpPr>
          <p:nvPr/>
        </p:nvSpPr>
        <p:spPr bwMode="auto">
          <a:xfrm>
            <a:off x="1043608" y="4821535"/>
            <a:ext cx="7488832" cy="576064"/>
          </a:xfrm>
          <a:prstGeom prst="roundRect">
            <a:avLst>
              <a:gd name="adj" fmla="val 16667"/>
            </a:avLst>
          </a:prstGeom>
          <a:solidFill>
            <a:srgbClr val="7276BB"/>
          </a:solidFill>
          <a:ln w="12700">
            <a:solidFill>
              <a:schemeClr val="accent1"/>
            </a:solidFill>
            <a:rou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对应高级语言的全局变量</a:t>
            </a:r>
            <a:endParaRPr lang="en-US" altLang="zh-CN" sz="2400" b="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5-5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二进制数输入程序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-1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677481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内容占位符 2"/>
          <p:cNvSpPr txBox="1"/>
          <p:nvPr/>
        </p:nvSpPr>
        <p:spPr>
          <a:xfrm>
            <a:off x="683568" y="736127"/>
            <a:ext cx="7992888" cy="5785397"/>
          </a:xfrm>
          <a:prstGeom prst="rect">
            <a:avLst/>
          </a:prstGeom>
          <a:ln w="19050">
            <a:noFill/>
            <a:prstDash val="dash"/>
          </a:ln>
        </p:spPr>
        <p:txBody>
          <a:bodyPr/>
          <a:lstStyle/>
          <a:p>
            <a:pPr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defRPr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例：把输入的字符序列转换为相应的二进制数据，并处理输入错误的情况：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输入一个字符，判断是否合法</a:t>
            </a:r>
            <a:endParaRPr lang="zh-CN" altLang="en-US" sz="2400" dirty="0">
              <a:solidFill>
                <a:srgbClr val="00B050"/>
              </a:solidFill>
              <a:latin typeface="+mn-lt"/>
            </a:endParaRPr>
          </a:p>
          <a:p>
            <a:pPr marL="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是字符“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0”</a:t>
            </a: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或“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1”</a:t>
            </a: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合法</a:t>
            </a:r>
            <a:endParaRPr lang="zh-CN" altLang="en-US" sz="2400" dirty="0">
              <a:solidFill>
                <a:srgbClr val="00B050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减去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30H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转换成数值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0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或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1</a:t>
            </a:r>
            <a:endParaRPr lang="en-US" altLang="zh-CN" sz="2200" dirty="0">
              <a:solidFill>
                <a:schemeClr val="tx1"/>
              </a:solidFill>
              <a:latin typeface="+mn-lt"/>
            </a:endParaRPr>
          </a:p>
          <a:p>
            <a:pPr marL="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重复转换每个字符</a:t>
            </a:r>
            <a:endParaRPr lang="zh-CN" altLang="en-US" sz="2800" dirty="0">
              <a:solidFill>
                <a:srgbClr val="00B050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将前一次的数值左移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1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位</a:t>
            </a:r>
            <a:endParaRPr lang="zh-CN" altLang="en-US" sz="22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并与新数值进行组合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输入非法字符，或超过数据位数</a:t>
            </a:r>
            <a:endParaRPr lang="en-US" altLang="zh-CN" sz="2400" dirty="0">
              <a:solidFill>
                <a:srgbClr val="00B050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提示错误</a:t>
            </a:r>
            <a:endParaRPr lang="zh-CN" altLang="en-US" sz="22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重新输入</a:t>
            </a:r>
            <a:endParaRPr lang="zh-CN" altLang="en-US" sz="2200" dirty="0">
              <a:solidFill>
                <a:schemeClr val="tx1"/>
              </a:solidFill>
              <a:latin typeface="+mn-lt"/>
            </a:endParaRPr>
          </a:p>
          <a:p>
            <a:pPr marL="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zh-CN" altLang="en-US" sz="2400" dirty="0">
              <a:latin typeface="+mn-lt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5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-5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二进制数输入程序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-2</a:t>
            </a:r>
            <a:endParaRPr kumimoji="1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70605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808534" y="899195"/>
            <a:ext cx="7776864" cy="5315585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数据段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en-US" altLang="zh-CN" sz="2000" b="1" dirty="0">
                <a:latin typeface="+mn-lt"/>
              </a:rPr>
              <a:t>count	= 5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en-US" altLang="zh-CN" sz="2000" b="1" dirty="0">
                <a:latin typeface="+mn-lt"/>
              </a:rPr>
              <a:t>array	</a:t>
            </a:r>
            <a:r>
              <a:rPr lang="en-US" altLang="zh-CN" sz="2000" b="1" dirty="0" err="1">
                <a:latin typeface="+mn-lt"/>
              </a:rPr>
              <a:t>dword</a:t>
            </a:r>
            <a:r>
              <a:rPr lang="en-US" altLang="zh-CN" sz="2000" b="1" dirty="0">
                <a:latin typeface="+mn-lt"/>
              </a:rPr>
              <a:t> count dup(0)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en-US" altLang="zh-CN" sz="2000" b="1" dirty="0">
                <a:latin typeface="+mn-lt"/>
              </a:rPr>
              <a:t>temp	</a:t>
            </a:r>
            <a:r>
              <a:rPr lang="en-US" altLang="zh-CN" sz="2000" b="1" dirty="0" err="1">
                <a:latin typeface="+mn-lt"/>
              </a:rPr>
              <a:t>dword</a:t>
            </a:r>
            <a:r>
              <a:rPr lang="en-US" altLang="zh-CN" sz="2000" b="1" dirty="0">
                <a:latin typeface="+mn-lt"/>
              </a:rPr>
              <a:t> ?                             </a:t>
            </a:r>
            <a:r>
              <a:rPr lang="en-US" altLang="zh-CN" sz="2000" b="1" dirty="0">
                <a:highlight>
                  <a:srgbClr val="FFFF00"/>
                </a:highlight>
                <a:latin typeface="+mn-lt"/>
              </a:rPr>
              <a:t>; </a:t>
            </a:r>
            <a:r>
              <a:rPr lang="zh-CN" altLang="en-US" sz="2000" b="1" dirty="0">
                <a:highlight>
                  <a:srgbClr val="FFFF00"/>
                </a:highlight>
                <a:latin typeface="+mn-lt"/>
              </a:rPr>
              <a:t>共享变量</a:t>
            </a:r>
            <a:endParaRPr lang="en-US" altLang="zh-CN" sz="2000" b="1" dirty="0">
              <a:highlight>
                <a:srgbClr val="FFFF00"/>
              </a:highlight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代码段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zh-CN" altLang="en-US" sz="2000" b="1" dirty="0"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mov </a:t>
            </a:r>
            <a:r>
              <a:rPr lang="en-US" altLang="zh-CN" sz="2000" b="1" dirty="0" err="1">
                <a:latin typeface="+mn-lt"/>
              </a:rPr>
              <a:t>ecx,count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en-US" altLang="zh-CN" sz="2000" b="1" dirty="0">
                <a:latin typeface="+mn-lt"/>
              </a:rPr>
              <a:t>	mov </a:t>
            </a:r>
            <a:r>
              <a:rPr lang="en-US" altLang="zh-CN" sz="2000" b="1" dirty="0" err="1">
                <a:latin typeface="+mn-lt"/>
              </a:rPr>
              <a:t>ebx,offset</a:t>
            </a:r>
            <a:r>
              <a:rPr lang="en-US" altLang="zh-CN" sz="2000" b="1" dirty="0">
                <a:latin typeface="+mn-lt"/>
              </a:rPr>
              <a:t> array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en-US" altLang="zh-CN" sz="2000" b="1" dirty="0">
                <a:latin typeface="+mn-lt"/>
              </a:rPr>
              <a:t>again:	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call </a:t>
            </a:r>
            <a:r>
              <a:rPr lang="en-US" altLang="zh-CN" sz="2000" b="1" dirty="0" err="1">
                <a:solidFill>
                  <a:srgbClr val="FF0000"/>
                </a:solidFill>
                <a:latin typeface="+mn-lt"/>
              </a:rPr>
              <a:t>rdbd</a:t>
            </a:r>
            <a:r>
              <a:rPr lang="en-US" altLang="zh-CN" sz="2000" b="1" dirty="0">
                <a:latin typeface="+mn-lt"/>
              </a:rPr>
              <a:t>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调用子程序，输入一个数据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zh-CN" altLang="en-US" sz="2000" b="1" dirty="0"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mov </a:t>
            </a:r>
            <a:r>
              <a:rPr lang="en-US" altLang="zh-CN" sz="2000" b="1" dirty="0" err="1">
                <a:latin typeface="+mn-lt"/>
              </a:rPr>
              <a:t>eax, [temp]</a:t>
            </a:r>
            <a:r>
              <a:rPr lang="en-US" altLang="zh-CN" sz="2000" b="1" dirty="0">
                <a:latin typeface="+mn-lt"/>
              </a:rPr>
              <a:t>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获得出口参数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(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返回值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)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zh-CN" altLang="en-US" sz="2000" b="1" dirty="0"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mov [</a:t>
            </a:r>
            <a:r>
              <a:rPr lang="en-US" altLang="zh-CN" sz="2000" b="1" dirty="0" err="1">
                <a:latin typeface="+mn-lt"/>
              </a:rPr>
              <a:t>ebx</a:t>
            </a:r>
            <a:r>
              <a:rPr lang="en-US" altLang="zh-CN" sz="2000" b="1" dirty="0">
                <a:latin typeface="+mn-lt"/>
              </a:rPr>
              <a:t>],</a:t>
            </a:r>
            <a:r>
              <a:rPr lang="en-US" altLang="zh-CN" sz="2000" b="1" dirty="0" err="1">
                <a:latin typeface="+mn-lt"/>
              </a:rPr>
              <a:t>eax</a:t>
            </a:r>
            <a:r>
              <a:rPr lang="en-US" altLang="zh-CN" sz="2000" b="1" dirty="0">
                <a:latin typeface="+mn-lt"/>
              </a:rPr>
              <a:t>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存放到数据缓冲区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array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中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zh-CN" altLang="en-US" sz="2000" b="1" dirty="0"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add ebx,4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en-US" altLang="zh-CN" sz="2000" b="1" dirty="0">
                <a:latin typeface="+mn-lt"/>
              </a:rPr>
              <a:t>	loop again</a:t>
            </a:r>
            <a:endParaRPr lang="en-US" altLang="zh-CN" sz="2000" b="1" dirty="0">
              <a:latin typeface="+mn-lt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5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-5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二进制数输入程序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-3</a:t>
            </a:r>
            <a:endParaRPr kumimoji="1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70605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808534" y="836712"/>
            <a:ext cx="7776864" cy="5754370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输入二进制数的子程序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en-US" altLang="zh-CN" sz="2000" b="1" dirty="0" err="1">
                <a:solidFill>
                  <a:srgbClr val="FF0000"/>
                </a:solidFill>
                <a:latin typeface="+mn-lt"/>
              </a:rPr>
              <a:t>rdbd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proc</a:t>
            </a:r>
            <a:endParaRPr lang="en-US" altLang="zh-CN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出口参数：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共享变量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TEMP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＝补码表示的二进制数值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push </a:t>
            </a:r>
            <a:r>
              <a:rPr lang="en-US" altLang="zh-CN" sz="2000" b="1" dirty="0" err="1">
                <a:latin typeface="+mn-lt"/>
              </a:rPr>
              <a:t>eax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子程序开始时保护用到的寄存器</a:t>
            </a:r>
            <a:endParaRPr lang="zh-CN" altLang="en-US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push </a:t>
            </a:r>
            <a:r>
              <a:rPr lang="en-US" altLang="zh-CN" sz="2000" b="1" dirty="0" err="1">
                <a:latin typeface="+mn-lt"/>
              </a:rPr>
              <a:t>ebx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en-US" altLang="zh-CN" sz="2000" b="1" dirty="0">
                <a:latin typeface="+mn-lt"/>
              </a:rPr>
              <a:t>	push </a:t>
            </a:r>
            <a:r>
              <a:rPr lang="en-US" altLang="zh-CN" sz="2000" b="1" dirty="0" err="1">
                <a:latin typeface="+mn-lt"/>
              </a:rPr>
              <a:t>ecx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en-US" altLang="zh-CN" sz="2000" b="1" dirty="0">
                <a:latin typeface="+mn-lt"/>
              </a:rPr>
              <a:t>rdbd1:	</a:t>
            </a:r>
            <a:r>
              <a:rPr lang="en-US" altLang="zh-CN" sz="2000" b="1" dirty="0" err="1">
                <a:latin typeface="+mn-lt"/>
              </a:rPr>
              <a:t>xor</a:t>
            </a:r>
            <a:r>
              <a:rPr lang="en-US" altLang="zh-CN" sz="2000" b="1" dirty="0">
                <a:latin typeface="+mn-lt"/>
              </a:rPr>
              <a:t> </a:t>
            </a:r>
            <a:r>
              <a:rPr lang="en-US" altLang="zh-CN" sz="2000" b="1" dirty="0" err="1">
                <a:latin typeface="+mn-lt"/>
              </a:rPr>
              <a:t>ebx,ebx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EBX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用于存放二进制结果，最多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32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位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mov ecx,32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限制输入字符的个数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en-US" altLang="zh-CN" sz="2000" b="1" dirty="0">
                <a:latin typeface="+mn-lt"/>
              </a:rPr>
              <a:t>rdbd2:	call </a:t>
            </a:r>
            <a:r>
              <a:rPr lang="en-US" altLang="zh-CN" sz="2000" b="1" dirty="0" err="1">
                <a:latin typeface="+mn-lt"/>
              </a:rPr>
              <a:t>readc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输入一个字符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cmp</a:t>
            </a:r>
            <a:r>
              <a:rPr lang="en-US" altLang="zh-CN" sz="2000" b="1" dirty="0">
                <a:latin typeface="+mn-lt"/>
              </a:rPr>
              <a:t> al,'0’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检测键入字符是否合法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jb</a:t>
            </a:r>
            <a:r>
              <a:rPr lang="en-US" altLang="zh-CN" sz="2000" b="1" dirty="0">
                <a:latin typeface="+mn-lt"/>
              </a:rPr>
              <a:t> </a:t>
            </a:r>
            <a:r>
              <a:rPr lang="en-US" altLang="zh-CN" sz="2000" b="1" dirty="0" err="1">
                <a:latin typeface="+mn-lt"/>
              </a:rPr>
              <a:t>rderr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不合法则返回重新输入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cmp</a:t>
            </a:r>
            <a:r>
              <a:rPr lang="en-US" altLang="zh-CN" sz="2000" b="1" dirty="0">
                <a:latin typeface="+mn-lt"/>
              </a:rPr>
              <a:t> al,'1'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en-US" altLang="zh-CN" sz="2000" b="1" dirty="0">
                <a:latin typeface="+mn-lt"/>
              </a:rPr>
              <a:t>	ja </a:t>
            </a:r>
            <a:r>
              <a:rPr lang="en-US" altLang="zh-CN" sz="2000" b="1" dirty="0" err="1">
                <a:latin typeface="+mn-lt"/>
              </a:rPr>
              <a:t>rderr</a:t>
            </a:r>
            <a:endParaRPr lang="en-US" altLang="zh-CN" sz="2000" b="1" dirty="0">
              <a:latin typeface="+mn-lt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5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-5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二进制数输入程序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-4</a:t>
            </a:r>
            <a:endParaRPr kumimoji="1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70605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808534" y="836712"/>
            <a:ext cx="7776864" cy="5219955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sub al,‘0’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对输入的字符进行转化，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sub al, 30h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shl</a:t>
            </a:r>
            <a:r>
              <a:rPr lang="en-US" altLang="zh-CN" sz="2000" b="1" dirty="0">
                <a:latin typeface="+mn-lt"/>
              </a:rPr>
              <a:t> ebx,1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;EBX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的值乘以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2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or </a:t>
            </a:r>
            <a:r>
              <a:rPr lang="en-US" altLang="zh-CN" sz="2000" b="1" dirty="0" err="1">
                <a:latin typeface="+mn-lt"/>
              </a:rPr>
              <a:t>bl,al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;BL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和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AL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相加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loop rdbd2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循环键入字符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mov </a:t>
            </a:r>
            <a:r>
              <a:rPr lang="en-US" altLang="zh-CN" sz="2000" b="1" dirty="0" err="1">
                <a:latin typeface="+mn-lt"/>
              </a:rPr>
              <a:t>temp,ebx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;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 共享变量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temp</a:t>
            </a:r>
            <a:endParaRPr lang="en-US" altLang="zh-CN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;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把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EBX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的二进制结果存放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TEMP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返回</a:t>
            </a:r>
            <a:endParaRPr lang="zh-CN" altLang="en-US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call </a:t>
            </a:r>
            <a:r>
              <a:rPr lang="en-US" altLang="zh-CN" sz="2000" b="1" dirty="0" err="1">
                <a:latin typeface="+mn-lt"/>
              </a:rPr>
              <a:t>dispcrlf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分行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pop </a:t>
            </a:r>
            <a:r>
              <a:rPr lang="en-US" altLang="zh-CN" sz="2000" b="1" dirty="0" err="1">
                <a:latin typeface="+mn-lt"/>
              </a:rPr>
              <a:t>ecx</a:t>
            </a:r>
            <a:r>
              <a:rPr lang="en-US" altLang="zh-CN" sz="2000" b="1" dirty="0">
                <a:latin typeface="+mn-lt"/>
              </a:rPr>
              <a:t>		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子程序返回时恢复寄存器</a:t>
            </a:r>
            <a:endParaRPr lang="zh-CN" altLang="en-US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b="1" dirty="0">
                <a:latin typeface="+mn-lt"/>
              </a:rPr>
              <a:t>	pop </a:t>
            </a:r>
            <a:r>
              <a:rPr lang="en-US" altLang="zh-CN" sz="2000" b="1" dirty="0" err="1">
                <a:latin typeface="+mn-lt"/>
              </a:rPr>
              <a:t>ebx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b="1" dirty="0">
                <a:latin typeface="+mn-lt"/>
              </a:rPr>
              <a:t>	pop </a:t>
            </a:r>
            <a:r>
              <a:rPr lang="en-US" altLang="zh-CN" sz="2000" b="1" dirty="0" err="1">
                <a:latin typeface="+mn-lt"/>
              </a:rPr>
              <a:t>eax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b="1" dirty="0">
                <a:latin typeface="+mn-lt"/>
              </a:rPr>
              <a:t>	ret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;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子程序返回，得到一个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32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位的二进制数</a:t>
            </a:r>
            <a:endParaRPr lang="en-US" altLang="zh-CN" sz="2000" b="1" dirty="0">
              <a:latin typeface="+mn-lt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5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-5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二进制数输入程序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-5</a:t>
            </a:r>
            <a:endParaRPr kumimoji="1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70605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808534" y="836712"/>
            <a:ext cx="7776864" cy="2360711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b="1" dirty="0" err="1">
                <a:latin typeface="+mn-lt"/>
              </a:rPr>
              <a:t>rderr</a:t>
            </a:r>
            <a:r>
              <a:rPr lang="en-US" altLang="zh-CN" sz="2000" b="1" dirty="0">
                <a:latin typeface="+mn-lt"/>
              </a:rPr>
              <a:t>:	mov </a:t>
            </a:r>
            <a:r>
              <a:rPr lang="en-US" altLang="zh-CN" sz="2000" b="1" dirty="0" err="1">
                <a:latin typeface="+mn-lt"/>
              </a:rPr>
              <a:t>eax,offset</a:t>
            </a:r>
            <a:r>
              <a:rPr lang="en-US" altLang="zh-CN" sz="2000" b="1" dirty="0">
                <a:latin typeface="+mn-lt"/>
              </a:rPr>
              <a:t> </a:t>
            </a:r>
            <a:r>
              <a:rPr lang="en-US" altLang="zh-CN" sz="2000" b="1" dirty="0" err="1">
                <a:latin typeface="+mn-lt"/>
              </a:rPr>
              <a:t>errmsg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显示错误信息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b="1" dirty="0"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call </a:t>
            </a:r>
            <a:r>
              <a:rPr lang="en-US" altLang="zh-CN" sz="2000" b="1" dirty="0" err="1">
                <a:latin typeface="+mn-lt"/>
              </a:rPr>
              <a:t>dispmsg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jmp</a:t>
            </a:r>
            <a:r>
              <a:rPr lang="en-US" altLang="zh-CN" sz="2000" b="1" dirty="0">
                <a:latin typeface="+mn-lt"/>
              </a:rPr>
              <a:t> rdbd1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b="1" dirty="0" err="1">
                <a:latin typeface="+mn-lt"/>
              </a:rPr>
              <a:t>errmsg</a:t>
            </a:r>
            <a:r>
              <a:rPr lang="en-US" altLang="zh-CN" sz="2000" b="1" dirty="0">
                <a:latin typeface="+mn-lt"/>
              </a:rPr>
              <a:t>	byte 0dh,0ah,'Input error, enter again: ',0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b="1" dirty="0" err="1">
                <a:latin typeface="+mn-lt"/>
              </a:rPr>
              <a:t>rdbd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endp</a:t>
            </a:r>
            <a:endParaRPr lang="en-US" altLang="zh-CN" sz="2000" b="1" dirty="0">
              <a:latin typeface="+mn-lt"/>
            </a:endParaRPr>
          </a:p>
        </p:txBody>
      </p:sp>
      <p:sp>
        <p:nvSpPr>
          <p:cNvPr id="2" name="filecab3"/>
          <p:cNvSpPr>
            <a:spLocks noEditPoints="1" noChangeArrowheads="1"/>
          </p:cNvSpPr>
          <p:nvPr/>
        </p:nvSpPr>
        <p:spPr bwMode="auto">
          <a:xfrm flipV="1">
            <a:off x="5580112" y="1484784"/>
            <a:ext cx="2923753" cy="570731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0 h 21600"/>
              <a:gd name="T4" fmla="*/ 0 w 21600"/>
              <a:gd name="T5" fmla="*/ 2147483646 h 21600"/>
              <a:gd name="T6" fmla="*/ 0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2147483646 w 21600"/>
              <a:gd name="T13" fmla="*/ 2147483646 h 21600"/>
              <a:gd name="T14" fmla="*/ 2147483646 w 21600"/>
              <a:gd name="T15" fmla="*/ 0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1004 w 21600"/>
              <a:gd name="T25" fmla="*/ 511 h 21600"/>
              <a:gd name="T26" fmla="*/ 20542 w 21600"/>
              <a:gd name="T27" fmla="*/ 18765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 extrusionOk="0">
                <a:moveTo>
                  <a:pt x="10788" y="0"/>
                </a:moveTo>
                <a:lnTo>
                  <a:pt x="0" y="0"/>
                </a:lnTo>
                <a:lnTo>
                  <a:pt x="0" y="10800"/>
                </a:lnTo>
                <a:lnTo>
                  <a:pt x="0" y="19099"/>
                </a:lnTo>
                <a:lnTo>
                  <a:pt x="8466" y="19099"/>
                </a:lnTo>
                <a:lnTo>
                  <a:pt x="8490" y="19440"/>
                </a:lnTo>
                <a:lnTo>
                  <a:pt x="8537" y="20008"/>
                </a:lnTo>
                <a:lnTo>
                  <a:pt x="8607" y="20349"/>
                </a:lnTo>
                <a:lnTo>
                  <a:pt x="8701" y="20691"/>
                </a:lnTo>
                <a:lnTo>
                  <a:pt x="8842" y="21145"/>
                </a:lnTo>
                <a:lnTo>
                  <a:pt x="9053" y="21373"/>
                </a:lnTo>
                <a:lnTo>
                  <a:pt x="9264" y="21600"/>
                </a:lnTo>
                <a:lnTo>
                  <a:pt x="9545" y="21600"/>
                </a:lnTo>
                <a:lnTo>
                  <a:pt x="10718" y="21600"/>
                </a:lnTo>
                <a:lnTo>
                  <a:pt x="11891" y="21600"/>
                </a:lnTo>
                <a:lnTo>
                  <a:pt x="12266" y="21600"/>
                </a:lnTo>
                <a:lnTo>
                  <a:pt x="12477" y="21429"/>
                </a:lnTo>
                <a:lnTo>
                  <a:pt x="12618" y="21202"/>
                </a:lnTo>
                <a:lnTo>
                  <a:pt x="12758" y="20861"/>
                </a:lnTo>
                <a:lnTo>
                  <a:pt x="12922" y="20349"/>
                </a:lnTo>
                <a:lnTo>
                  <a:pt x="12993" y="19952"/>
                </a:lnTo>
                <a:lnTo>
                  <a:pt x="13016" y="19440"/>
                </a:lnTo>
                <a:lnTo>
                  <a:pt x="13063" y="19099"/>
                </a:lnTo>
                <a:lnTo>
                  <a:pt x="21600" y="19099"/>
                </a:lnTo>
                <a:lnTo>
                  <a:pt x="21600" y="10800"/>
                </a:lnTo>
                <a:lnTo>
                  <a:pt x="21600" y="0"/>
                </a:lnTo>
                <a:lnTo>
                  <a:pt x="10788" y="0"/>
                </a:lnTo>
                <a:close/>
                <a:moveTo>
                  <a:pt x="9053" y="19099"/>
                </a:moveTo>
                <a:lnTo>
                  <a:pt x="9053" y="19440"/>
                </a:lnTo>
                <a:lnTo>
                  <a:pt x="9076" y="19611"/>
                </a:lnTo>
                <a:lnTo>
                  <a:pt x="9123" y="19781"/>
                </a:lnTo>
                <a:lnTo>
                  <a:pt x="9193" y="20008"/>
                </a:lnTo>
                <a:lnTo>
                  <a:pt x="9264" y="20179"/>
                </a:lnTo>
                <a:lnTo>
                  <a:pt x="9334" y="20293"/>
                </a:lnTo>
                <a:lnTo>
                  <a:pt x="9405" y="20349"/>
                </a:lnTo>
                <a:lnTo>
                  <a:pt x="9545" y="20349"/>
                </a:lnTo>
                <a:lnTo>
                  <a:pt x="11891" y="20349"/>
                </a:lnTo>
                <a:lnTo>
                  <a:pt x="12031" y="20349"/>
                </a:lnTo>
                <a:lnTo>
                  <a:pt x="12172" y="20236"/>
                </a:lnTo>
                <a:lnTo>
                  <a:pt x="12266" y="20179"/>
                </a:lnTo>
                <a:lnTo>
                  <a:pt x="12336" y="20008"/>
                </a:lnTo>
                <a:lnTo>
                  <a:pt x="12383" y="19838"/>
                </a:lnTo>
                <a:lnTo>
                  <a:pt x="12430" y="19611"/>
                </a:lnTo>
                <a:lnTo>
                  <a:pt x="12477" y="19440"/>
                </a:lnTo>
                <a:lnTo>
                  <a:pt x="12477" y="19099"/>
                </a:lnTo>
                <a:lnTo>
                  <a:pt x="9053" y="19099"/>
                </a:lnTo>
                <a:close/>
              </a:path>
              <a:path w="21600" h="21600" extrusionOk="0">
                <a:moveTo>
                  <a:pt x="9053" y="19099"/>
                </a:moveTo>
                <a:lnTo>
                  <a:pt x="0" y="19099"/>
                </a:lnTo>
                <a:lnTo>
                  <a:pt x="21600" y="19099"/>
                </a:lnTo>
              </a:path>
            </a:pathLst>
          </a:custGeom>
          <a:solidFill>
            <a:srgbClr val="7276BB"/>
          </a:solidFill>
          <a:ln w="9525" cap="rnd">
            <a:solidFill>
              <a:srgbClr val="000000"/>
            </a:solidFill>
            <a:prstDash val="sysDot"/>
            <a:miter lim="800000"/>
          </a:ln>
          <a:effectLst>
            <a:outerShdw dist="107763" dir="2700000" algn="ctr" rotWithShape="0">
              <a:srgbClr val="808080"/>
            </a:outerShdw>
          </a:effectLst>
        </p:spPr>
        <p:txBody>
          <a:bodyPr rot="10800000"/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zh-CN" altLang="en-US" sz="2400" b="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共享变量传递参数</a:t>
            </a:r>
            <a:endParaRPr lang="zh-CN" altLang="en-US" sz="2400" b="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534219" y="764704"/>
            <a:ext cx="8064896" cy="5933231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solidFill>
                  <a:schemeClr val="tx1"/>
                </a:solidFill>
                <a:latin typeface="+mn-lt"/>
              </a:rPr>
              <a:t>主程序将入口参数压入堆栈，子程序从堆栈中取出参数</a:t>
            </a:r>
            <a:endParaRPr lang="zh-CN" altLang="en-US" sz="26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solidFill>
                  <a:schemeClr val="tx1"/>
                </a:solidFill>
                <a:latin typeface="+mn-lt"/>
              </a:rPr>
              <a:t>出口参数通常不使用堆栈传递，寄存器传递</a:t>
            </a:r>
            <a:endParaRPr lang="zh-CN" altLang="en-US" sz="26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solidFill>
                  <a:schemeClr val="tx1"/>
                </a:solidFill>
                <a:latin typeface="+mn-lt"/>
              </a:rPr>
              <a:t>高级语言进行函数调用时提供的参数，实质也利用堆栈传递</a:t>
            </a:r>
            <a:endParaRPr lang="zh-CN" altLang="en-US" sz="26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solidFill>
                  <a:schemeClr val="tx1"/>
                </a:solidFill>
                <a:latin typeface="+mn-lt"/>
              </a:rPr>
              <a:t>要注意保持堆栈平衡，</a:t>
            </a:r>
            <a:r>
              <a:rPr lang="zh-CN" altLang="en-US" sz="2600" dirty="0">
                <a:latin typeface="+mn-lt"/>
              </a:rPr>
              <a:t>确保函数返回时，</a:t>
            </a:r>
            <a:r>
              <a:rPr lang="en-US" altLang="zh-CN" sz="2600" dirty="0">
                <a:latin typeface="+mn-lt"/>
              </a:rPr>
              <a:t>ESP </a:t>
            </a:r>
            <a:r>
              <a:rPr lang="zh-CN" altLang="en-US" sz="2600" dirty="0">
                <a:latin typeface="+mn-lt"/>
              </a:rPr>
              <a:t>与调用前一致。高级语言（</a:t>
            </a:r>
            <a:r>
              <a:rPr lang="en-US" altLang="zh-CN" sz="2600" dirty="0">
                <a:latin typeface="+mn-lt"/>
              </a:rPr>
              <a:t>C/C++）</a:t>
            </a:r>
            <a:r>
              <a:rPr lang="zh-CN" altLang="en-US" sz="2600" dirty="0">
                <a:latin typeface="+mn-lt"/>
              </a:rPr>
              <a:t>和大多数汇编编程规范要求栈</a:t>
            </a:r>
            <a:r>
              <a:rPr lang="zh-CN" altLang="en-US" sz="2600" dirty="0">
                <a:latin typeface="+mn-lt"/>
              </a:rPr>
              <a:t>顶指针在函数调用前后保持不变</a:t>
            </a:r>
            <a:endParaRPr lang="zh-CN" altLang="en-US" sz="26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add </a:t>
            </a:r>
            <a:r>
              <a:rPr lang="en-US" altLang="zh-CN" sz="2400" dirty="0" err="1">
                <a:solidFill>
                  <a:schemeClr val="tx1"/>
                </a:solidFill>
                <a:latin typeface="+mn-lt"/>
              </a:rPr>
              <a:t>esp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，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4/8/12   ;ESP 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上移，丢弃已使用的参数空间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zh-CN" altLang="en-US" sz="2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5.2.3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堆栈传递参数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78184" y="736129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5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-7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计算有符号数平均值程序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-1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696531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755576" y="2204864"/>
            <a:ext cx="7920880" cy="4265848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 marL="0" lvl="1"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数据段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 marL="0" lvl="1"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b="1" dirty="0">
                <a:latin typeface="+mn-lt"/>
              </a:rPr>
              <a:t>array	</a:t>
            </a:r>
            <a:r>
              <a:rPr lang="en-US" altLang="zh-CN" sz="2000" b="1" dirty="0" err="1">
                <a:latin typeface="+mn-lt"/>
              </a:rPr>
              <a:t>dword</a:t>
            </a:r>
            <a:r>
              <a:rPr lang="en-US" altLang="zh-CN" sz="2000" b="1" dirty="0">
                <a:latin typeface="+mn-lt"/>
              </a:rPr>
              <a:t> 675,354,-34, ...</a:t>
            </a:r>
            <a:endParaRPr lang="en-US" altLang="zh-CN" sz="2000" b="1" dirty="0">
              <a:latin typeface="+mn-lt"/>
            </a:endParaRPr>
          </a:p>
          <a:p>
            <a:pPr marL="0" lvl="1"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代码段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 marL="0" lvl="1"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	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push </a:t>
            </a:r>
            <a:r>
              <a:rPr lang="en-US" altLang="zh-CN" sz="2000" b="1" dirty="0" err="1">
                <a:solidFill>
                  <a:srgbClr val="FF0000"/>
                </a:solidFill>
                <a:latin typeface="+mn-lt"/>
              </a:rPr>
              <a:t>lengthof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 array	; 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压入数据个数</a:t>
            </a:r>
            <a:endParaRPr lang="zh-CN" altLang="en-US" sz="2000" b="1" dirty="0">
              <a:solidFill>
                <a:srgbClr val="FF0000"/>
              </a:solidFill>
              <a:latin typeface="+mn-lt"/>
            </a:endParaRPr>
          </a:p>
          <a:p>
            <a:pPr marL="0" lvl="1"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	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push offset array	; 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压数组的偏移地址</a:t>
            </a:r>
            <a:endParaRPr lang="zh-CN" altLang="en-US" sz="2000" b="1" dirty="0">
              <a:solidFill>
                <a:srgbClr val="FF0000"/>
              </a:solidFill>
              <a:latin typeface="+mn-lt"/>
            </a:endParaRPr>
          </a:p>
          <a:p>
            <a:pPr marL="0" lvl="1"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b="1" dirty="0"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call mean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push EIP/pop EIP	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 marL="0" lvl="1"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调用子程序，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返回值：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EAX</a:t>
            </a:r>
            <a:r>
              <a:rPr lang="zh-CN" altLang="en-US" sz="2000" b="1">
                <a:solidFill>
                  <a:srgbClr val="FF0000"/>
                </a:solidFill>
                <a:latin typeface="+mn-lt"/>
              </a:rPr>
              <a:t>＝平均值，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寄存器传递</a:t>
            </a:r>
            <a:endParaRPr lang="en-US" altLang="zh-CN" sz="2000" b="1" dirty="0">
              <a:solidFill>
                <a:srgbClr val="FF0000"/>
              </a:solidFill>
              <a:latin typeface="+mn-lt"/>
            </a:endParaRPr>
          </a:p>
          <a:p>
            <a:pPr marL="0" lvl="1"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b="1" dirty="0">
                <a:latin typeface="+mn-lt"/>
              </a:rPr>
              <a:t>	add esp,8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平衡堆栈（压入了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8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个字节数据）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 marL="0" lvl="1"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b="1" dirty="0"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call </a:t>
            </a:r>
            <a:r>
              <a:rPr lang="en-US" altLang="zh-CN" sz="2000" b="1" dirty="0" err="1">
                <a:latin typeface="+mn-lt"/>
              </a:rPr>
              <a:t>dispsid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显示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2" name="内容占位符 2"/>
          <p:cNvSpPr txBox="1"/>
          <p:nvPr/>
        </p:nvSpPr>
        <p:spPr>
          <a:xfrm>
            <a:off x="611560" y="724718"/>
            <a:ext cx="8136904" cy="1408137"/>
          </a:xfrm>
          <a:prstGeom prst="rect">
            <a:avLst/>
          </a:prstGeom>
          <a:ln w="19050">
            <a:noFill/>
            <a:prstDash val="dash"/>
          </a:ln>
        </p:spPr>
        <p:txBody>
          <a:bodyPr/>
          <a:lstStyle/>
          <a:p>
            <a:pPr algn="just">
              <a:lnSpc>
                <a:spcPct val="120000"/>
              </a:lnSpc>
              <a:spcBef>
                <a:spcPts val="0"/>
              </a:spcBef>
              <a:buClr>
                <a:srgbClr val="0000FF"/>
              </a:buClr>
              <a:buSzPct val="100000"/>
              <a:defRPr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例：假设有一个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32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位有符号整型数组，主程序调用子程序求平均值，并输出结果。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子程序需要两个参数：数组指针和元素个数，通过堆栈传递。</a:t>
            </a:r>
            <a:endParaRPr lang="en-US" altLang="zh-CN" sz="24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5" name="filecab3"/>
          <p:cNvSpPr>
            <a:spLocks noEditPoints="1" noChangeArrowheads="1"/>
          </p:cNvSpPr>
          <p:nvPr/>
        </p:nvSpPr>
        <p:spPr bwMode="auto">
          <a:xfrm flipV="1">
            <a:off x="6256759" y="2138187"/>
            <a:ext cx="2347689" cy="570731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0 h 21600"/>
              <a:gd name="T4" fmla="*/ 0 w 21600"/>
              <a:gd name="T5" fmla="*/ 2147483646 h 21600"/>
              <a:gd name="T6" fmla="*/ 0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2147483646 w 21600"/>
              <a:gd name="T13" fmla="*/ 2147483646 h 21600"/>
              <a:gd name="T14" fmla="*/ 2147483646 w 21600"/>
              <a:gd name="T15" fmla="*/ 0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1004 w 21600"/>
              <a:gd name="T25" fmla="*/ 511 h 21600"/>
              <a:gd name="T26" fmla="*/ 20542 w 21600"/>
              <a:gd name="T27" fmla="*/ 18765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 extrusionOk="0">
                <a:moveTo>
                  <a:pt x="10788" y="0"/>
                </a:moveTo>
                <a:lnTo>
                  <a:pt x="0" y="0"/>
                </a:lnTo>
                <a:lnTo>
                  <a:pt x="0" y="10800"/>
                </a:lnTo>
                <a:lnTo>
                  <a:pt x="0" y="19099"/>
                </a:lnTo>
                <a:lnTo>
                  <a:pt x="8466" y="19099"/>
                </a:lnTo>
                <a:lnTo>
                  <a:pt x="8490" y="19440"/>
                </a:lnTo>
                <a:lnTo>
                  <a:pt x="8537" y="20008"/>
                </a:lnTo>
                <a:lnTo>
                  <a:pt x="8607" y="20349"/>
                </a:lnTo>
                <a:lnTo>
                  <a:pt x="8701" y="20691"/>
                </a:lnTo>
                <a:lnTo>
                  <a:pt x="8842" y="21145"/>
                </a:lnTo>
                <a:lnTo>
                  <a:pt x="9053" y="21373"/>
                </a:lnTo>
                <a:lnTo>
                  <a:pt x="9264" y="21600"/>
                </a:lnTo>
                <a:lnTo>
                  <a:pt x="9545" y="21600"/>
                </a:lnTo>
                <a:lnTo>
                  <a:pt x="10718" y="21600"/>
                </a:lnTo>
                <a:lnTo>
                  <a:pt x="11891" y="21600"/>
                </a:lnTo>
                <a:lnTo>
                  <a:pt x="12266" y="21600"/>
                </a:lnTo>
                <a:lnTo>
                  <a:pt x="12477" y="21429"/>
                </a:lnTo>
                <a:lnTo>
                  <a:pt x="12618" y="21202"/>
                </a:lnTo>
                <a:lnTo>
                  <a:pt x="12758" y="20861"/>
                </a:lnTo>
                <a:lnTo>
                  <a:pt x="12922" y="20349"/>
                </a:lnTo>
                <a:lnTo>
                  <a:pt x="12993" y="19952"/>
                </a:lnTo>
                <a:lnTo>
                  <a:pt x="13016" y="19440"/>
                </a:lnTo>
                <a:lnTo>
                  <a:pt x="13063" y="19099"/>
                </a:lnTo>
                <a:lnTo>
                  <a:pt x="21600" y="19099"/>
                </a:lnTo>
                <a:lnTo>
                  <a:pt x="21600" y="10800"/>
                </a:lnTo>
                <a:lnTo>
                  <a:pt x="21600" y="0"/>
                </a:lnTo>
                <a:lnTo>
                  <a:pt x="10788" y="0"/>
                </a:lnTo>
                <a:close/>
                <a:moveTo>
                  <a:pt x="9053" y="19099"/>
                </a:moveTo>
                <a:lnTo>
                  <a:pt x="9053" y="19440"/>
                </a:lnTo>
                <a:lnTo>
                  <a:pt x="9076" y="19611"/>
                </a:lnTo>
                <a:lnTo>
                  <a:pt x="9123" y="19781"/>
                </a:lnTo>
                <a:lnTo>
                  <a:pt x="9193" y="20008"/>
                </a:lnTo>
                <a:lnTo>
                  <a:pt x="9264" y="20179"/>
                </a:lnTo>
                <a:lnTo>
                  <a:pt x="9334" y="20293"/>
                </a:lnTo>
                <a:lnTo>
                  <a:pt x="9405" y="20349"/>
                </a:lnTo>
                <a:lnTo>
                  <a:pt x="9545" y="20349"/>
                </a:lnTo>
                <a:lnTo>
                  <a:pt x="11891" y="20349"/>
                </a:lnTo>
                <a:lnTo>
                  <a:pt x="12031" y="20349"/>
                </a:lnTo>
                <a:lnTo>
                  <a:pt x="12172" y="20236"/>
                </a:lnTo>
                <a:lnTo>
                  <a:pt x="12266" y="20179"/>
                </a:lnTo>
                <a:lnTo>
                  <a:pt x="12336" y="20008"/>
                </a:lnTo>
                <a:lnTo>
                  <a:pt x="12383" y="19838"/>
                </a:lnTo>
                <a:lnTo>
                  <a:pt x="12430" y="19611"/>
                </a:lnTo>
                <a:lnTo>
                  <a:pt x="12477" y="19440"/>
                </a:lnTo>
                <a:lnTo>
                  <a:pt x="12477" y="19099"/>
                </a:lnTo>
                <a:lnTo>
                  <a:pt x="9053" y="19099"/>
                </a:lnTo>
                <a:close/>
              </a:path>
              <a:path w="21600" h="21600" extrusionOk="0">
                <a:moveTo>
                  <a:pt x="9053" y="19099"/>
                </a:moveTo>
                <a:lnTo>
                  <a:pt x="0" y="19099"/>
                </a:lnTo>
                <a:lnTo>
                  <a:pt x="21600" y="19099"/>
                </a:lnTo>
              </a:path>
            </a:pathLst>
          </a:custGeom>
          <a:solidFill>
            <a:srgbClr val="7276BB"/>
          </a:solidFill>
          <a:ln w="9525" cap="rnd">
            <a:solidFill>
              <a:srgbClr val="000000"/>
            </a:solidFill>
            <a:prstDash val="sysDot"/>
            <a:miter lim="800000"/>
          </a:ln>
          <a:effectLst>
            <a:outerShdw dist="107763" dir="2700000" algn="ctr" rotWithShape="0">
              <a:srgbClr val="808080"/>
            </a:outerShdw>
          </a:effectLst>
        </p:spPr>
        <p:txBody>
          <a:bodyPr rot="10800000"/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zh-CN" altLang="en-US" sz="2400" b="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堆栈传递参数</a:t>
            </a:r>
            <a:endParaRPr lang="zh-CN" altLang="en-US" sz="2400" b="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5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-7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计算有符号数平均值程序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-2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696531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内容占位符 2"/>
          <p:cNvSpPr txBox="1"/>
          <p:nvPr/>
        </p:nvSpPr>
        <p:spPr>
          <a:xfrm>
            <a:off x="611560" y="787202"/>
            <a:ext cx="8136904" cy="1480945"/>
          </a:xfrm>
          <a:prstGeom prst="rect">
            <a:avLst/>
          </a:prstGeom>
          <a:ln w="19050">
            <a:solidFill>
              <a:schemeClr val="accent1"/>
            </a:solidFill>
            <a:prstDash val="dash"/>
          </a:ln>
        </p:spPr>
        <p:txBody>
          <a:bodyPr/>
          <a:lstStyle/>
          <a:p>
            <a:pPr algn="just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SzPct val="100000"/>
              <a:defRPr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主程序依次压入</a:t>
            </a: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数据个数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(length of array)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和</a:t>
            </a: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数组偏移地址（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offset array</a:t>
            </a: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），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子程序调用时压入</a:t>
            </a: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返回地址（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EIP</a:t>
            </a: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）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。进入子程序后，</a:t>
            </a: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压入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EBP</a:t>
            </a: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寄存器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保护，并设置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EBP=ESP</a:t>
            </a:r>
            <a:endParaRPr lang="en-US" altLang="zh-CN" sz="2400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4" name="Picture 4" descr="fig040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803" y="2420888"/>
            <a:ext cx="8129661" cy="3738638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内容占位符 2"/>
          <p:cNvSpPr txBox="1"/>
          <p:nvPr/>
        </p:nvSpPr>
        <p:spPr>
          <a:xfrm>
            <a:off x="5241844" y="4765602"/>
            <a:ext cx="1443456" cy="447823"/>
          </a:xfrm>
          <a:prstGeom prst="rect">
            <a:avLst/>
          </a:prstGeom>
          <a:solidFill>
            <a:schemeClr val="bg1"/>
          </a:solidFill>
          <a:ln w="19050">
            <a:noFill/>
            <a:prstDash val="dash"/>
          </a:ln>
        </p:spPr>
        <p:txBody>
          <a:bodyPr/>
          <a:lstStyle/>
          <a:p>
            <a:pPr algn="ctr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defRPr/>
            </a:pPr>
            <a:r>
              <a:rPr lang="en-US" altLang="zh-CN" sz="2000" dirty="0">
                <a:solidFill>
                  <a:schemeClr val="tx1"/>
                </a:solidFill>
                <a:latin typeface="+mn-lt"/>
              </a:rPr>
              <a:t>push </a:t>
            </a:r>
            <a:r>
              <a:rPr lang="en-US" altLang="zh-CN" sz="2000" dirty="0" err="1">
                <a:solidFill>
                  <a:schemeClr val="tx1"/>
                </a:solidFill>
                <a:latin typeface="+mn-lt"/>
              </a:rPr>
              <a:t>ebp</a:t>
            </a:r>
            <a:endParaRPr lang="zh-CN" altLang="en-US" sz="2000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5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-7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计算有符号数平均值程序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-2</a:t>
            </a:r>
            <a:endParaRPr kumimoji="1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70605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83568" y="831379"/>
            <a:ext cx="7939930" cy="5697009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计算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32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位有符号数平均值子程序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b="1" dirty="0">
                <a:latin typeface="+mn-lt"/>
              </a:rPr>
              <a:t>mean	proc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入口参数：顺序压入数据个数和数组偏移地址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push </a:t>
            </a:r>
            <a:r>
              <a:rPr lang="en-US" altLang="zh-CN" sz="2000" b="1" dirty="0" err="1">
                <a:latin typeface="+mn-lt"/>
              </a:rPr>
              <a:t>ebp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mov </a:t>
            </a:r>
            <a:r>
              <a:rPr lang="en-US" altLang="zh-CN" sz="2000" b="1" dirty="0" err="1">
                <a:solidFill>
                  <a:srgbClr val="FF0000"/>
                </a:solidFill>
                <a:latin typeface="+mn-lt"/>
              </a:rPr>
              <a:t>ebp,esp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	; 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随机访问堆栈</a:t>
            </a:r>
            <a:endParaRPr lang="en-US" altLang="zh-CN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b="1" dirty="0">
                <a:latin typeface="+mn-lt"/>
              </a:rPr>
              <a:t>	push </a:t>
            </a:r>
            <a:r>
              <a:rPr lang="en-US" altLang="zh-CN" sz="2000" b="1" dirty="0" err="1">
                <a:latin typeface="+mn-lt"/>
              </a:rPr>
              <a:t>ebx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保护寄存器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push </a:t>
            </a:r>
            <a:r>
              <a:rPr lang="en-US" altLang="zh-CN" sz="2000" b="1" dirty="0" err="1">
                <a:latin typeface="+mn-lt"/>
              </a:rPr>
              <a:t>ecx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b="1" dirty="0">
                <a:latin typeface="+mn-lt"/>
              </a:rPr>
              <a:t>	push </a:t>
            </a:r>
            <a:r>
              <a:rPr lang="en-US" altLang="zh-CN" sz="2000" b="1" dirty="0" err="1">
                <a:latin typeface="+mn-lt"/>
              </a:rPr>
              <a:t>edx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mov </a:t>
            </a:r>
            <a:r>
              <a:rPr lang="en-US" altLang="zh-CN" sz="2000" b="1" dirty="0" err="1">
                <a:solidFill>
                  <a:srgbClr val="FF0000"/>
                </a:solidFill>
                <a:latin typeface="+mn-lt"/>
              </a:rPr>
              <a:t>ebx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,[ebp+8]		; EBX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＝取出的偏移地址</a:t>
            </a:r>
            <a:endParaRPr lang="zh-CN" altLang="en-US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	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mov </a:t>
            </a:r>
            <a:r>
              <a:rPr lang="en-US" altLang="zh-CN" sz="2000" b="1" dirty="0" err="1">
                <a:solidFill>
                  <a:srgbClr val="FF0000"/>
                </a:solidFill>
                <a:latin typeface="+mn-lt"/>
              </a:rPr>
              <a:t>ecx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,[ebp+12]	; ECX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＝取出的数据个数</a:t>
            </a:r>
            <a:endParaRPr lang="zh-CN" altLang="en-US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xor</a:t>
            </a:r>
            <a:r>
              <a:rPr lang="en-US" altLang="zh-CN" sz="2000" b="1" dirty="0">
                <a:latin typeface="+mn-lt"/>
              </a:rPr>
              <a:t> </a:t>
            </a:r>
            <a:r>
              <a:rPr lang="en-US" altLang="zh-CN" sz="2000" b="1" dirty="0" err="1">
                <a:latin typeface="+mn-lt"/>
              </a:rPr>
              <a:t>eax,eax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; EAX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保存和值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xor</a:t>
            </a:r>
            <a:r>
              <a:rPr lang="en-US" altLang="zh-CN" sz="2000" b="1" dirty="0">
                <a:latin typeface="+mn-lt"/>
              </a:rPr>
              <a:t> </a:t>
            </a:r>
            <a:r>
              <a:rPr lang="en-US" altLang="zh-CN" sz="2000" b="1" dirty="0" err="1">
                <a:latin typeface="+mn-lt"/>
              </a:rPr>
              <a:t>edx,edx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EDX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＝指向数组元素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2" name="filecab3"/>
          <p:cNvSpPr>
            <a:spLocks noEditPoints="1" noChangeArrowheads="1"/>
          </p:cNvSpPr>
          <p:nvPr/>
        </p:nvSpPr>
        <p:spPr bwMode="auto">
          <a:xfrm flipV="1">
            <a:off x="6184751" y="2642245"/>
            <a:ext cx="2347689" cy="570731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0 h 21600"/>
              <a:gd name="T4" fmla="*/ 0 w 21600"/>
              <a:gd name="T5" fmla="*/ 2147483646 h 21600"/>
              <a:gd name="T6" fmla="*/ 0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2147483646 w 21600"/>
              <a:gd name="T13" fmla="*/ 2147483646 h 21600"/>
              <a:gd name="T14" fmla="*/ 2147483646 w 21600"/>
              <a:gd name="T15" fmla="*/ 0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1004 w 21600"/>
              <a:gd name="T25" fmla="*/ 511 h 21600"/>
              <a:gd name="T26" fmla="*/ 20542 w 21600"/>
              <a:gd name="T27" fmla="*/ 18765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 extrusionOk="0">
                <a:moveTo>
                  <a:pt x="10788" y="0"/>
                </a:moveTo>
                <a:lnTo>
                  <a:pt x="0" y="0"/>
                </a:lnTo>
                <a:lnTo>
                  <a:pt x="0" y="10800"/>
                </a:lnTo>
                <a:lnTo>
                  <a:pt x="0" y="19099"/>
                </a:lnTo>
                <a:lnTo>
                  <a:pt x="8466" y="19099"/>
                </a:lnTo>
                <a:lnTo>
                  <a:pt x="8490" y="19440"/>
                </a:lnTo>
                <a:lnTo>
                  <a:pt x="8537" y="20008"/>
                </a:lnTo>
                <a:lnTo>
                  <a:pt x="8607" y="20349"/>
                </a:lnTo>
                <a:lnTo>
                  <a:pt x="8701" y="20691"/>
                </a:lnTo>
                <a:lnTo>
                  <a:pt x="8842" y="21145"/>
                </a:lnTo>
                <a:lnTo>
                  <a:pt x="9053" y="21373"/>
                </a:lnTo>
                <a:lnTo>
                  <a:pt x="9264" y="21600"/>
                </a:lnTo>
                <a:lnTo>
                  <a:pt x="9545" y="21600"/>
                </a:lnTo>
                <a:lnTo>
                  <a:pt x="10718" y="21600"/>
                </a:lnTo>
                <a:lnTo>
                  <a:pt x="11891" y="21600"/>
                </a:lnTo>
                <a:lnTo>
                  <a:pt x="12266" y="21600"/>
                </a:lnTo>
                <a:lnTo>
                  <a:pt x="12477" y="21429"/>
                </a:lnTo>
                <a:lnTo>
                  <a:pt x="12618" y="21202"/>
                </a:lnTo>
                <a:lnTo>
                  <a:pt x="12758" y="20861"/>
                </a:lnTo>
                <a:lnTo>
                  <a:pt x="12922" y="20349"/>
                </a:lnTo>
                <a:lnTo>
                  <a:pt x="12993" y="19952"/>
                </a:lnTo>
                <a:lnTo>
                  <a:pt x="13016" y="19440"/>
                </a:lnTo>
                <a:lnTo>
                  <a:pt x="13063" y="19099"/>
                </a:lnTo>
                <a:lnTo>
                  <a:pt x="21600" y="19099"/>
                </a:lnTo>
                <a:lnTo>
                  <a:pt x="21600" y="10800"/>
                </a:lnTo>
                <a:lnTo>
                  <a:pt x="21600" y="0"/>
                </a:lnTo>
                <a:lnTo>
                  <a:pt x="10788" y="0"/>
                </a:lnTo>
                <a:close/>
                <a:moveTo>
                  <a:pt x="9053" y="19099"/>
                </a:moveTo>
                <a:lnTo>
                  <a:pt x="9053" y="19440"/>
                </a:lnTo>
                <a:lnTo>
                  <a:pt x="9076" y="19611"/>
                </a:lnTo>
                <a:lnTo>
                  <a:pt x="9123" y="19781"/>
                </a:lnTo>
                <a:lnTo>
                  <a:pt x="9193" y="20008"/>
                </a:lnTo>
                <a:lnTo>
                  <a:pt x="9264" y="20179"/>
                </a:lnTo>
                <a:lnTo>
                  <a:pt x="9334" y="20293"/>
                </a:lnTo>
                <a:lnTo>
                  <a:pt x="9405" y="20349"/>
                </a:lnTo>
                <a:lnTo>
                  <a:pt x="9545" y="20349"/>
                </a:lnTo>
                <a:lnTo>
                  <a:pt x="11891" y="20349"/>
                </a:lnTo>
                <a:lnTo>
                  <a:pt x="12031" y="20349"/>
                </a:lnTo>
                <a:lnTo>
                  <a:pt x="12172" y="20236"/>
                </a:lnTo>
                <a:lnTo>
                  <a:pt x="12266" y="20179"/>
                </a:lnTo>
                <a:lnTo>
                  <a:pt x="12336" y="20008"/>
                </a:lnTo>
                <a:lnTo>
                  <a:pt x="12383" y="19838"/>
                </a:lnTo>
                <a:lnTo>
                  <a:pt x="12430" y="19611"/>
                </a:lnTo>
                <a:lnTo>
                  <a:pt x="12477" y="19440"/>
                </a:lnTo>
                <a:lnTo>
                  <a:pt x="12477" y="19099"/>
                </a:lnTo>
                <a:lnTo>
                  <a:pt x="9053" y="19099"/>
                </a:lnTo>
                <a:close/>
              </a:path>
              <a:path w="21600" h="21600" extrusionOk="0">
                <a:moveTo>
                  <a:pt x="9053" y="19099"/>
                </a:moveTo>
                <a:lnTo>
                  <a:pt x="0" y="19099"/>
                </a:lnTo>
                <a:lnTo>
                  <a:pt x="21600" y="19099"/>
                </a:lnTo>
              </a:path>
            </a:pathLst>
          </a:custGeom>
          <a:solidFill>
            <a:srgbClr val="7276BB"/>
          </a:solidFill>
          <a:ln w="9525" cap="rnd">
            <a:solidFill>
              <a:srgbClr val="000000"/>
            </a:solidFill>
            <a:prstDash val="sysDot"/>
            <a:miter lim="800000"/>
          </a:ln>
          <a:effectLst>
            <a:outerShdw dist="107763" dir="2700000" algn="ctr" rotWithShape="0">
              <a:srgbClr val="808080"/>
            </a:outerShdw>
          </a:effectLst>
        </p:spPr>
        <p:txBody>
          <a:bodyPr rot="10800000"/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zh-CN" altLang="en-US" sz="2400" b="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堆栈传递参数</a:t>
            </a:r>
            <a:endParaRPr lang="zh-CN" altLang="en-US" sz="2400" b="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5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-7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计算有符号数平均值程序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-3</a:t>
            </a:r>
            <a:endParaRPr kumimoji="1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70605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83568" y="831379"/>
            <a:ext cx="7939930" cy="5700087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b="1">
                <a:latin typeface="+mn-lt"/>
              </a:rPr>
              <a:t>mean1:	add eax,[ebx+edx*4]</a:t>
            </a:r>
            <a:r>
              <a:rPr lang="en-US" altLang="zh-CN" sz="2000" b="1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>
                <a:solidFill>
                  <a:srgbClr val="00B050"/>
                </a:solidFill>
                <a:latin typeface="+mn-lt"/>
              </a:rPr>
              <a:t>求和</a:t>
            </a:r>
            <a:endParaRPr lang="zh-CN" altLang="en-US" sz="2000" b="1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b="1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>
                <a:latin typeface="+mn-lt"/>
              </a:rPr>
              <a:t>add edx,1</a:t>
            </a:r>
            <a:r>
              <a:rPr lang="en-US" altLang="zh-CN" sz="2000" b="1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>
                <a:solidFill>
                  <a:srgbClr val="00B050"/>
                </a:solidFill>
                <a:latin typeface="+mn-lt"/>
              </a:rPr>
              <a:t>指向下一个数据，</a:t>
            </a:r>
            <a:r>
              <a:rPr lang="zh-CN" altLang="en-US" sz="2000" b="1">
                <a:solidFill>
                  <a:srgbClr val="FF0000"/>
                </a:solidFill>
                <a:latin typeface="+mn-lt"/>
              </a:rPr>
              <a:t>通过</a:t>
            </a:r>
            <a:r>
              <a:rPr lang="en-US" altLang="zh-CN" sz="2000" b="1">
                <a:solidFill>
                  <a:srgbClr val="FF0000"/>
                </a:solidFill>
                <a:latin typeface="+mn-lt"/>
              </a:rPr>
              <a:t>edx</a:t>
            </a:r>
            <a:r>
              <a:rPr lang="zh-CN" altLang="en-US" sz="2000" b="1">
                <a:solidFill>
                  <a:srgbClr val="FF0000"/>
                </a:solidFill>
                <a:latin typeface="+mn-lt"/>
              </a:rPr>
              <a:t>进行增量循环</a:t>
            </a:r>
            <a:endParaRPr lang="zh-CN" altLang="en-US" sz="2000" b="1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b="1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>
                <a:latin typeface="+mn-lt"/>
              </a:rPr>
              <a:t>cmp edx,ecx</a:t>
            </a:r>
            <a:r>
              <a:rPr lang="en-US" altLang="zh-CN" sz="2000" b="1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>
                <a:solidFill>
                  <a:srgbClr val="00B050"/>
                </a:solidFill>
                <a:latin typeface="+mn-lt"/>
              </a:rPr>
              <a:t>比较个数</a:t>
            </a:r>
            <a:endParaRPr lang="zh-CN" altLang="en-US" sz="2000" b="1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b="1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>
                <a:latin typeface="+mn-lt"/>
              </a:rPr>
              <a:t>jb mean1</a:t>
            </a:r>
            <a:r>
              <a:rPr lang="en-US" altLang="zh-CN" sz="2000" b="1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>
                <a:solidFill>
                  <a:srgbClr val="FF0000"/>
                </a:solidFill>
                <a:latin typeface="+mn-lt"/>
              </a:rPr>
              <a:t>; mean1</a:t>
            </a:r>
            <a:r>
              <a:rPr lang="zh-CN" altLang="en-US" sz="2000" b="1">
                <a:solidFill>
                  <a:srgbClr val="FF0000"/>
                </a:solidFill>
                <a:latin typeface="+mn-lt"/>
              </a:rPr>
              <a:t>循环进行累加求和</a:t>
            </a:r>
            <a:endParaRPr lang="zh-CN" altLang="en-US" sz="2000" b="1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b="1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>
                <a:latin typeface="+mn-lt"/>
              </a:rPr>
              <a:t>cdq</a:t>
            </a:r>
            <a:r>
              <a:rPr lang="en-US" altLang="zh-CN" sz="2000" b="1">
                <a:solidFill>
                  <a:srgbClr val="00B050"/>
                </a:solidFill>
                <a:latin typeface="+mn-lt"/>
              </a:rPr>
              <a:t>		; </a:t>
            </a:r>
            <a:r>
              <a:rPr lang="zh-CN" altLang="en-US" sz="2000" b="1">
                <a:solidFill>
                  <a:srgbClr val="00B050"/>
                </a:solidFill>
                <a:latin typeface="+mn-lt"/>
              </a:rPr>
              <a:t>将</a:t>
            </a:r>
            <a:r>
              <a:rPr lang="en-US" altLang="zh-CN" sz="2000" b="1">
                <a:solidFill>
                  <a:srgbClr val="00B050"/>
                </a:solidFill>
                <a:latin typeface="+mn-lt"/>
              </a:rPr>
              <a:t>EAX</a:t>
            </a:r>
            <a:r>
              <a:rPr lang="zh-CN" altLang="en-US" sz="2000" b="1">
                <a:solidFill>
                  <a:srgbClr val="00B050"/>
                </a:solidFill>
                <a:latin typeface="+mn-lt"/>
              </a:rPr>
              <a:t>符号扩展到</a:t>
            </a:r>
            <a:r>
              <a:rPr lang="en-US" altLang="zh-CN" sz="2000" b="1">
                <a:solidFill>
                  <a:srgbClr val="00B050"/>
                </a:solidFill>
                <a:latin typeface="+mn-lt"/>
              </a:rPr>
              <a:t>EDX.EAX</a:t>
            </a:r>
            <a:r>
              <a:rPr lang="zh-CN" altLang="en-US" sz="2000" b="1">
                <a:solidFill>
                  <a:srgbClr val="00B050"/>
                </a:solidFill>
                <a:latin typeface="+mn-lt"/>
              </a:rPr>
              <a:t>，</a:t>
            </a:r>
            <a:r>
              <a:rPr lang="en-US" altLang="zh-CN" sz="2000" b="1">
                <a:solidFill>
                  <a:srgbClr val="00B050"/>
                </a:solidFill>
                <a:latin typeface="+mn-lt"/>
              </a:rPr>
              <a:t>P86</a:t>
            </a:r>
            <a:endParaRPr lang="en-US" altLang="zh-CN" sz="2000" b="1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b="1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>
                <a:latin typeface="+mn-lt"/>
              </a:rPr>
              <a:t>idiv ecx</a:t>
            </a:r>
            <a:r>
              <a:rPr lang="en-US" altLang="zh-CN" sz="2000" b="1">
                <a:solidFill>
                  <a:srgbClr val="00B050"/>
                </a:solidFill>
                <a:latin typeface="+mn-lt"/>
              </a:rPr>
              <a:t>	       </a:t>
            </a:r>
            <a:r>
              <a:rPr lang="en-US" altLang="zh-CN" sz="2000" b="1">
                <a:solidFill>
                  <a:srgbClr val="FF0000"/>
                </a:solidFill>
                <a:latin typeface="+mn-lt"/>
              </a:rPr>
              <a:t>; </a:t>
            </a:r>
            <a:r>
              <a:rPr lang="zh-CN" altLang="en-US" sz="2000" b="1">
                <a:solidFill>
                  <a:srgbClr val="FF0000"/>
                </a:solidFill>
                <a:latin typeface="+mn-lt"/>
              </a:rPr>
              <a:t>有符号数除法，</a:t>
            </a:r>
            <a:r>
              <a:rPr lang="en-US" altLang="zh-CN" sz="2000" b="1">
                <a:solidFill>
                  <a:srgbClr val="FF0000"/>
                </a:solidFill>
                <a:latin typeface="+mn-lt"/>
              </a:rPr>
              <a:t>EAX</a:t>
            </a:r>
            <a:r>
              <a:rPr lang="zh-CN" altLang="en-US" sz="2000" b="1">
                <a:solidFill>
                  <a:srgbClr val="FF0000"/>
                </a:solidFill>
                <a:latin typeface="+mn-lt"/>
              </a:rPr>
              <a:t>＝平均值</a:t>
            </a:r>
            <a:r>
              <a:rPr lang="en-US" altLang="zh-CN" sz="2000" b="1">
                <a:solidFill>
                  <a:srgbClr val="FF0000"/>
                </a:solidFill>
                <a:latin typeface="+mn-lt"/>
              </a:rPr>
              <a:t>(</a:t>
            </a:r>
            <a:r>
              <a:rPr lang="zh-CN" altLang="en-US" sz="2000" b="1">
                <a:solidFill>
                  <a:srgbClr val="FF0000"/>
                </a:solidFill>
                <a:latin typeface="+mn-lt"/>
              </a:rPr>
              <a:t>商</a:t>
            </a:r>
            <a:r>
              <a:rPr lang="en-US" altLang="zh-CN" sz="2000" b="1">
                <a:solidFill>
                  <a:srgbClr val="FF0000"/>
                </a:solidFill>
                <a:latin typeface="+mn-lt"/>
              </a:rPr>
              <a:t>)</a:t>
            </a:r>
            <a:r>
              <a:rPr lang="zh-CN" altLang="en-US" sz="2000" b="1">
                <a:solidFill>
                  <a:srgbClr val="FF0000"/>
                </a:solidFill>
                <a:latin typeface="+mn-lt"/>
              </a:rPr>
              <a:t>，余数在</a:t>
            </a:r>
            <a:r>
              <a:rPr lang="en-US" altLang="zh-CN" sz="2000" b="1">
                <a:solidFill>
                  <a:srgbClr val="FF0000"/>
                </a:solidFill>
                <a:latin typeface="+mn-lt"/>
              </a:rPr>
              <a:t>EDX</a:t>
            </a:r>
            <a:endParaRPr lang="zh-CN" altLang="en-US" sz="2000" b="1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b="1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>
                <a:latin typeface="+mn-lt"/>
              </a:rPr>
              <a:t>pop edx	</a:t>
            </a:r>
            <a:r>
              <a:rPr lang="en-US" altLang="zh-CN" sz="2000" b="1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>
                <a:solidFill>
                  <a:srgbClr val="00B050"/>
                </a:solidFill>
                <a:latin typeface="+mn-lt"/>
              </a:rPr>
              <a:t>恢复寄存器</a:t>
            </a:r>
            <a:endParaRPr lang="zh-CN" altLang="en-US" sz="2000" b="1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b="1">
                <a:latin typeface="+mn-lt"/>
              </a:rPr>
              <a:t>	</a:t>
            </a:r>
            <a:r>
              <a:rPr lang="en-US" altLang="zh-CN" sz="2000" b="1">
                <a:latin typeface="+mn-lt"/>
              </a:rPr>
              <a:t>pop ecx</a:t>
            </a:r>
            <a:endParaRPr lang="en-US" altLang="zh-CN" sz="2000" b="1"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b="1">
                <a:latin typeface="+mn-lt"/>
              </a:rPr>
              <a:t>	pop ebx</a:t>
            </a:r>
            <a:endParaRPr lang="en-US" altLang="zh-CN" sz="2000" b="1"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b="1">
                <a:latin typeface="+mn-lt"/>
              </a:rPr>
              <a:t>	pop ebp</a:t>
            </a:r>
            <a:endParaRPr lang="en-US" altLang="zh-CN" sz="2000" b="1"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b="1">
                <a:latin typeface="+mn-lt"/>
              </a:rPr>
              <a:t>	ret</a:t>
            </a:r>
            <a:endParaRPr lang="en-US" altLang="zh-CN" sz="2000" b="1"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b="1">
                <a:latin typeface="+mn-lt"/>
              </a:rPr>
              <a:t>mean	endp</a:t>
            </a:r>
            <a:endParaRPr lang="en-US" altLang="zh-CN" sz="2000" b="1" dirty="0">
              <a:latin typeface="+mn-lt"/>
            </a:endParaRPr>
          </a:p>
        </p:txBody>
      </p:sp>
      <p:grpSp>
        <p:nvGrpSpPr>
          <p:cNvPr id="4" name="Group 9"/>
          <p:cNvGrpSpPr/>
          <p:nvPr/>
        </p:nvGrpSpPr>
        <p:grpSpPr bwMode="auto">
          <a:xfrm>
            <a:off x="4356621" y="4581128"/>
            <a:ext cx="4241800" cy="781050"/>
            <a:chOff x="2944" y="2880"/>
            <a:chExt cx="2672" cy="492"/>
          </a:xfrm>
        </p:grpSpPr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2944" y="3084"/>
              <a:ext cx="2432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algn="just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tabLst>
                  <a:tab pos="2514600" algn="l"/>
                </a:tabLst>
                <a:defRPr sz="32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830580" indent="-285750" algn="just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Blip>
                  <a:blip r:embed="rId1"/>
                </a:buBlip>
                <a:tabLst>
                  <a:tab pos="2514600" algn="l"/>
                </a:tabLst>
                <a:defRPr sz="2800" b="1">
                  <a:solidFill>
                    <a:srgbClr val="193C7D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238250" indent="-228600" algn="just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Blip>
                  <a:blip r:embed="rId2"/>
                </a:buBlip>
                <a:tabLst>
                  <a:tab pos="2514600" algn="l"/>
                </a:tabLst>
                <a:defRPr sz="2400" b="1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46555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?"/>
                <a:tabLst>
                  <a:tab pos="2514600" algn="l"/>
                </a:tabLst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tabLst>
                  <a:tab pos="2514600" algn="l"/>
                </a:tabLst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tabLst>
                  <a:tab pos="2514600" algn="l"/>
                </a:tabLst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tabLst>
                  <a:tab pos="2514600" algn="l"/>
                </a:tabLst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tabLst>
                  <a:tab pos="2514600" algn="l"/>
                </a:tabLst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tabLst>
                  <a:tab pos="2514600" algn="l"/>
                </a:tabLst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 typeface="Wingdings" panose="05000000000000000000" pitchFamily="2" charset="2"/>
                <a:buNone/>
              </a:pPr>
              <a:endParaRPr lang="en-US" altLang="zh-CN" sz="100" b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 eaLnBrk="1" hangingPunct="1">
                <a:spcBef>
                  <a:spcPts val="0"/>
                </a:spcBef>
                <a:buFont typeface="Wingdings" panose="05000000000000000000" pitchFamily="2" charset="2"/>
                <a:buNone/>
              </a:pPr>
              <a:r>
                <a:rPr lang="zh-CN" altLang="en-US" sz="2400" b="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求和溢出</a:t>
              </a:r>
              <a:r>
                <a:rPr lang="zh-CN" altLang="en-US" sz="2400" b="0" dirty="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与</a:t>
              </a:r>
              <a:r>
                <a:rPr lang="zh-CN" altLang="en-US" sz="2400" b="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个数为</a:t>
              </a:r>
              <a:r>
                <a:rPr lang="en-US" altLang="zh-CN" sz="2400" b="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zh-CN" altLang="en-US" sz="2400" b="0" dirty="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的问题</a:t>
              </a:r>
              <a:endParaRPr lang="zh-CN" altLang="en-US" sz="2400" b="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" name="WordArt 8"/>
            <p:cNvSpPr>
              <a:spLocks noChangeArrowheads="1" noChangeShapeType="1" noTextEdit="1"/>
            </p:cNvSpPr>
            <p:nvPr/>
          </p:nvSpPr>
          <p:spPr bwMode="auto">
            <a:xfrm>
              <a:off x="5232" y="2880"/>
              <a:ext cx="384" cy="28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12700">
                    <a:solidFill>
                      <a:srgbClr val="EAEAEA"/>
                    </a:solidFill>
                    <a:round/>
                  </a:ln>
                  <a:gradFill rotWithShape="1">
                    <a:gsLst>
                      <a:gs pos="0">
                        <a:srgbClr val="A603AB"/>
                      </a:gs>
                      <a:gs pos="12000">
                        <a:srgbClr val="E81766"/>
                      </a:gs>
                      <a:gs pos="27000">
                        <a:srgbClr val="EE3F17"/>
                      </a:gs>
                      <a:gs pos="48000">
                        <a:srgbClr val="FFFF00"/>
                      </a:gs>
                      <a:gs pos="64999">
                        <a:srgbClr val="1A8D48"/>
                      </a:gs>
                      <a:gs pos="78999">
                        <a:srgbClr val="0819FB"/>
                      </a:gs>
                      <a:gs pos="100000">
                        <a:srgbClr val="A603AB"/>
                      </a:gs>
                    </a:gsLst>
                    <a:lin ang="0" scaled="1"/>
                  </a:gradFill>
                  <a:effectLst>
                    <a:outerShdw dist="35921" dir="2700000" sy="50000" kx="2115830" algn="bl" rotWithShape="0">
                      <a:srgbClr val="C0C0C0">
                        <a:alpha val="79999"/>
                      </a:srgbClr>
                    </a:outerShdw>
                  </a:effectLst>
                  <a:latin typeface="宋体" panose="02010600030101010101" pitchFamily="2" charset="-122"/>
                </a:rPr>
                <a:t>？</a:t>
              </a:r>
              <a:endParaRPr lang="zh-CN" altLang="en-US" sz="3600" kern="10">
                <a:ln w="12700">
                  <a:solidFill>
                    <a:srgbClr val="EAEAEA"/>
                  </a:solidFill>
                  <a:rou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宋体" panose="02010600030101010101" pitchFamily="2" charset="-122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3060317" y="5921111"/>
            <a:ext cx="5823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宋体" panose="02010600030101010101" pitchFamily="2" charset="-122"/>
              </a:rPr>
              <a:t>EDX.EAX÷ECX=EAX(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宋体" panose="02010600030101010101" pitchFamily="2" charset="-122"/>
              </a:rPr>
              <a:t>商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宋体" panose="02010600030101010101" pitchFamily="2" charset="-122"/>
              </a:rPr>
              <a:t>)…EDX</a:t>
            </a:r>
            <a:r>
              <a:rPr kumimoji="0" lang="en-US" altLang="zh-CN" sz="2400" b="1" dirty="0">
                <a:solidFill>
                  <a:schemeClr val="tx1"/>
                </a:solidFill>
                <a:latin typeface="+mj-lt"/>
                <a:ea typeface="宋体" panose="02010600030101010101" pitchFamily="2" charset="-122"/>
              </a:rPr>
              <a:t>(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宋体" panose="02010600030101010101" pitchFamily="2" charset="-122"/>
              </a:rPr>
              <a:t>余数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宋体" panose="02010600030101010101" pitchFamily="2" charset="-122"/>
              </a:rPr>
              <a:t>)</a:t>
            </a:r>
            <a:endParaRPr lang="zh-CN" altLang="en-US" sz="2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466216" y="692696"/>
            <a:ext cx="8210240" cy="6048672"/>
          </a:xfrm>
          <a:prstGeom prst="rect">
            <a:avLst/>
          </a:prstGeom>
        </p:spPr>
        <p:txBody>
          <a:bodyPr/>
          <a:lstStyle/>
          <a:p>
            <a:pPr marL="457200" indent="-457200" algn="just" latinLnBrk="0">
              <a:lnSpc>
                <a:spcPct val="15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latin typeface="+mn-lt"/>
              </a:rPr>
              <a:t>掌握控制转移指令</a:t>
            </a:r>
            <a:endParaRPr lang="zh-CN" altLang="en-US" sz="2400" dirty="0">
              <a:latin typeface="+mn-lt"/>
            </a:endParaRPr>
          </a:p>
          <a:p>
            <a:pPr marL="914400" lvl="1" indent="-457200" algn="just" latinLnBrk="0">
              <a:lnSpc>
                <a:spcPct val="15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处理器指令：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CALL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RET</a:t>
            </a:r>
            <a:endParaRPr lang="en-US" altLang="zh-CN" sz="22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 latinLnBrk="0">
              <a:lnSpc>
                <a:spcPct val="15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伪指令：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PROC/ENDP</a:t>
            </a:r>
            <a:endParaRPr lang="en-US" altLang="zh-CN" sz="2200" dirty="0">
              <a:solidFill>
                <a:schemeClr val="tx1"/>
              </a:solidFill>
              <a:latin typeface="+mn-lt"/>
            </a:endParaRPr>
          </a:p>
          <a:p>
            <a:pPr marL="457200" indent="-457200" algn="just" latinLnBrk="0">
              <a:lnSpc>
                <a:spcPct val="15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latin typeface="+mn-lt"/>
              </a:rPr>
              <a:t>掌握子程序结构及其程序</a:t>
            </a:r>
            <a:r>
              <a:rPr lang="zh-CN" altLang="en-US" sz="2400" dirty="0">
                <a:latin typeface="+mn-lt"/>
              </a:rPr>
              <a:t>设计方法</a:t>
            </a:r>
            <a:endParaRPr lang="zh-CN" altLang="en-US" sz="2400" dirty="0">
              <a:latin typeface="+mn-lt"/>
            </a:endParaRPr>
          </a:p>
          <a:p>
            <a:pPr marL="914400" lvl="1" indent="-457200" algn="just" latinLnBrk="0">
              <a:lnSpc>
                <a:spcPct val="15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子程序设计及参数传递方法</a:t>
            </a:r>
            <a:endParaRPr lang="en-US" altLang="zh-CN" sz="2200" dirty="0">
              <a:solidFill>
                <a:schemeClr val="tx1"/>
              </a:solidFill>
              <a:latin typeface="+mn-lt"/>
            </a:endParaRPr>
          </a:p>
          <a:p>
            <a:pPr marL="457200" indent="-457200" algn="just" latinLnBrk="0">
              <a:lnSpc>
                <a:spcPct val="15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latin typeface="+mn-lt"/>
              </a:rPr>
              <a:t>熟悉常见编程问题</a:t>
            </a:r>
            <a:endParaRPr lang="zh-CN" altLang="en-US" sz="2400" dirty="0">
              <a:latin typeface="+mn-lt"/>
            </a:endParaRPr>
          </a:p>
          <a:p>
            <a:pPr marL="914400" lvl="1" indent="-457200" algn="just" latinLnBrk="0">
              <a:lnSpc>
                <a:spcPct val="15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数组运算，大小写转换，奇偶校验</a:t>
            </a:r>
            <a:endParaRPr lang="zh-CN" altLang="en-US" sz="22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 latinLnBrk="0">
              <a:lnSpc>
                <a:spcPct val="15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字符或数据个数统计，求最小值、最大值，字符删除</a:t>
            </a:r>
            <a:endParaRPr lang="zh-CN" altLang="en-US" sz="22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 latinLnBrk="0">
              <a:lnSpc>
                <a:spcPct val="15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二进制、十进制、十六进制数据相互转换</a:t>
            </a:r>
            <a:endParaRPr lang="zh-CN" altLang="en-US" sz="22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 latinLnBrk="0">
              <a:lnSpc>
                <a:spcPct val="15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二进制、十进制、十六进制数据的键盘输入和显示输出</a:t>
            </a:r>
            <a:endParaRPr lang="zh-CN" altLang="en-US" sz="22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小结</a:t>
            </a:r>
            <a:endParaRPr kumimoji="1" lang="zh-CN" altLang="en-US" sz="3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78184" y="69269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人与信息系统交互的信任机理及其电子税务系统实证研究&amp;quot;&quot;/&gt;&lt;property id=&quot;20307&quot; value=&quot;982&quot;/&gt;&lt;/object&gt;&lt;object type=&quot;3&quot; unique_id=&quot;10005&quot;&gt;&lt;property id=&quot;20148&quot; value=&quot;5&quot;/&gt;&lt;property id=&quot;20300&quot; value=&quot;Slide 2 - &amp;quot;汇 报 提 纲&amp;quot;&quot;/&gt;&lt;property id=&quot;20307&quot; value=&quot;983&quot;/&gt;&lt;/object&gt;&lt;object type=&quot;3&quot; unique_id=&quot;10006&quot;&gt;&lt;property id=&quot;20148&quot; value=&quot;5&quot;/&gt;&lt;property id=&quot;20300&quot; value=&quot;Slide 3&quot;/&gt;&lt;property id=&quot;20307&quot; value=&quot;1114&quot;/&gt;&lt;/object&gt;&lt;object type=&quot;3&quot; unique_id=&quot;10007&quot;&gt;&lt;property id=&quot;20148&quot; value=&quot;5&quot;/&gt;&lt;property id=&quot;20300&quot; value=&quot;Slide 4&quot;/&gt;&lt;property id=&quot;20307&quot; value=&quot;1115&quot;/&gt;&lt;/object&gt;&lt;object type=&quot;3&quot; unique_id=&quot;10008&quot;&gt;&lt;property id=&quot;20148&quot; value=&quot;5&quot;/&gt;&lt;property id=&quot;20300&quot; value=&quot;Slide 5&quot;/&gt;&lt;property id=&quot;20307&quot; value=&quot;1116&quot;/&gt;&lt;/object&gt;&lt;object type=&quot;3&quot; unique_id=&quot;10009&quot;&gt;&lt;property id=&quot;20148&quot; value=&quot;5&quot;/&gt;&lt;property id=&quot;20300&quot; value=&quot;Slide 6&quot;/&gt;&lt;property id=&quot;20307&quot; value=&quot;1112&quot;/&gt;&lt;/object&gt;&lt;object type=&quot;3&quot; unique_id=&quot;10010&quot;&gt;&lt;property id=&quot;20148&quot; value=&quot;5&quot;/&gt;&lt;property id=&quot;20300&quot; value=&quot;Slide 7&quot;/&gt;&lt;property id=&quot;20307&quot; value=&quot;1113&quot;/&gt;&lt;/object&gt;&lt;object type=&quot;3&quot; unique_id=&quot;10011&quot;&gt;&lt;property id=&quot;20148&quot; value=&quot;5&quot;/&gt;&lt;property id=&quot;20300&quot; value=&quot;Slide 8&quot;/&gt;&lt;property id=&quot;20307&quot; value=&quot;1123&quot;/&gt;&lt;/object&gt;&lt;object type=&quot;3&quot; unique_id=&quot;10013&quot;&gt;&lt;property id=&quot;20148&quot; value=&quot;5&quot;/&gt;&lt;property id=&quot;20300&quot; value=&quot;Slide 9&quot;/&gt;&lt;property id=&quot;20307&quot; value=&quot;1085&quot;/&gt;&lt;/object&gt;&lt;object type=&quot;3&quot; unique_id=&quot;10014&quot;&gt;&lt;property id=&quot;20148&quot; value=&quot;5&quot;/&gt;&lt;property id=&quot;20300&quot; value=&quot;Slide 10&quot;/&gt;&lt;property id=&quot;20307&quot; value=&quot;1086&quot;/&gt;&lt;/object&gt;&lt;object type=&quot;3&quot; unique_id=&quot;10015&quot;&gt;&lt;property id=&quot;20148&quot; value=&quot;5&quot;/&gt;&lt;property id=&quot;20300&quot; value=&quot;Slide 11&quot;/&gt;&lt;property id=&quot;20307&quot; value=&quot;1119&quot;/&gt;&lt;/object&gt;&lt;object type=&quot;3&quot; unique_id=&quot;10017&quot;&gt;&lt;property id=&quot;20148&quot; value=&quot;5&quot;/&gt;&lt;property id=&quot;20300&quot; value=&quot;Slide 13&quot;/&gt;&lt;property id=&quot;20307&quot; value=&quot;1120&quot;/&gt;&lt;/object&gt;&lt;object type=&quot;3&quot; unique_id=&quot;10018&quot;&gt;&lt;property id=&quot;20148&quot; value=&quot;5&quot;/&gt;&lt;property id=&quot;20300&quot; value=&quot;Slide 14&quot;/&gt;&lt;property id=&quot;20307&quot; value=&quot;1117&quot;/&gt;&lt;/object&gt;&lt;object type=&quot;3&quot; unique_id=&quot;10019&quot;&gt;&lt;property id=&quot;20148&quot; value=&quot;5&quot;/&gt;&lt;property id=&quot;20300&quot; value=&quot;Slide 15&quot;/&gt;&lt;property id=&quot;20307&quot; value=&quot;1118&quot;/&gt;&lt;/object&gt;&lt;object type=&quot;3&quot; unique_id=&quot;10236&quot;&gt;&lt;property id=&quot;20148&quot; value=&quot;5&quot;/&gt;&lt;property id=&quot;20300&quot; value=&quot;Slide 12&quot;/&gt;&lt;property id=&quot;20307&quot; value=&quot;1124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Ricepaper">
  <a:themeElements>
    <a:clrScheme name="">
      <a:dk1>
        <a:srgbClr val="333333"/>
      </a:dk1>
      <a:lt1>
        <a:srgbClr val="FBFDFF"/>
      </a:lt1>
      <a:dk2>
        <a:srgbClr val="5E65C0"/>
      </a:dk2>
      <a:lt2>
        <a:srgbClr val="333333"/>
      </a:lt2>
      <a:accent1>
        <a:srgbClr val="78C0B2"/>
      </a:accent1>
      <a:accent2>
        <a:srgbClr val="262D4C"/>
      </a:accent2>
      <a:accent3>
        <a:srgbClr val="B6B8DC"/>
      </a:accent3>
      <a:accent4>
        <a:srgbClr val="D6D8DA"/>
      </a:accent4>
      <a:accent5>
        <a:srgbClr val="BEDCD5"/>
      </a:accent5>
      <a:accent6>
        <a:srgbClr val="212844"/>
      </a:accent6>
      <a:hlink>
        <a:srgbClr val="598BBD"/>
      </a:hlink>
      <a:folHlink>
        <a:srgbClr val="4D4D4D"/>
      </a:folHlink>
    </a:clrScheme>
    <a:fontScheme name="Ricepaper">
      <a:majorFont>
        <a:latin typeface="Times New Roman"/>
        <a:ea typeface="隶书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600" b="0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600" b="0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lnDef>
  </a:objectDefaults>
  <a:extraClrSchemeLst>
    <a:extraClrScheme>
      <a:clrScheme name="Ricepaper 1">
        <a:dk1>
          <a:srgbClr val="9D9475"/>
        </a:dk1>
        <a:lt1>
          <a:srgbClr val="333333"/>
        </a:lt1>
        <a:dk2>
          <a:srgbClr val="333300"/>
        </a:dk2>
        <a:lt2>
          <a:srgbClr val="333333"/>
        </a:lt2>
        <a:accent1>
          <a:srgbClr val="B3C39F"/>
        </a:accent1>
        <a:accent2>
          <a:srgbClr val="DCD9CE"/>
        </a:accent2>
        <a:accent3>
          <a:srgbClr val="ADADAA"/>
        </a:accent3>
        <a:accent4>
          <a:srgbClr val="2A2A2A"/>
        </a:accent4>
        <a:accent5>
          <a:srgbClr val="D6DECD"/>
        </a:accent5>
        <a:accent6>
          <a:srgbClr val="C7C4BA"/>
        </a:accent6>
        <a:hlink>
          <a:srgbClr val="CC9900"/>
        </a:hlink>
        <a:folHlink>
          <a:srgbClr val="ADA68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cepaper 2">
        <a:dk1>
          <a:srgbClr val="00264C"/>
        </a:dk1>
        <a:lt1>
          <a:srgbClr val="FFFFE9"/>
        </a:lt1>
        <a:dk2>
          <a:srgbClr val="333333"/>
        </a:dk2>
        <a:lt2>
          <a:srgbClr val="333333"/>
        </a:lt2>
        <a:accent1>
          <a:srgbClr val="78C0B2"/>
        </a:accent1>
        <a:accent2>
          <a:srgbClr val="262D4C"/>
        </a:accent2>
        <a:accent3>
          <a:srgbClr val="FFFFF2"/>
        </a:accent3>
        <a:accent4>
          <a:srgbClr val="001F40"/>
        </a:accent4>
        <a:accent5>
          <a:srgbClr val="BEDCD5"/>
        </a:accent5>
        <a:accent6>
          <a:srgbClr val="212844"/>
        </a:accent6>
        <a:hlink>
          <a:srgbClr val="598BBD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3">
        <a:dk1>
          <a:srgbClr val="000000"/>
        </a:dk1>
        <a:lt1>
          <a:srgbClr val="F8F8F8"/>
        </a:lt1>
        <a:dk2>
          <a:srgbClr val="333333"/>
        </a:dk2>
        <a:lt2>
          <a:srgbClr val="5F5F5F"/>
        </a:lt2>
        <a:accent1>
          <a:srgbClr val="DDDDDD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4">
        <a:dk1>
          <a:srgbClr val="00264C"/>
        </a:dk1>
        <a:lt1>
          <a:srgbClr val="FFFFFF"/>
        </a:lt1>
        <a:dk2>
          <a:srgbClr val="333333"/>
        </a:dk2>
        <a:lt2>
          <a:srgbClr val="2E697E"/>
        </a:lt2>
        <a:accent1>
          <a:srgbClr val="BAC8AA"/>
        </a:accent1>
        <a:accent2>
          <a:srgbClr val="6E9883"/>
        </a:accent2>
        <a:accent3>
          <a:srgbClr val="FFFFFF"/>
        </a:accent3>
        <a:accent4>
          <a:srgbClr val="001F40"/>
        </a:accent4>
        <a:accent5>
          <a:srgbClr val="D9E0D2"/>
        </a:accent5>
        <a:accent6>
          <a:srgbClr val="638976"/>
        </a:accent6>
        <a:hlink>
          <a:srgbClr val="CC9900"/>
        </a:hlink>
        <a:folHlink>
          <a:srgbClr val="7DAEC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5">
        <a:dk1>
          <a:srgbClr val="20374E"/>
        </a:dk1>
        <a:lt1>
          <a:srgbClr val="DCE4D2"/>
        </a:lt1>
        <a:dk2>
          <a:srgbClr val="333333"/>
        </a:dk2>
        <a:lt2>
          <a:srgbClr val="524C46"/>
        </a:lt2>
        <a:accent1>
          <a:srgbClr val="C9C491"/>
        </a:accent1>
        <a:accent2>
          <a:srgbClr val="8A776A"/>
        </a:accent2>
        <a:accent3>
          <a:srgbClr val="EBEFE5"/>
        </a:accent3>
        <a:accent4>
          <a:srgbClr val="1A2D41"/>
        </a:accent4>
        <a:accent5>
          <a:srgbClr val="E1DEC7"/>
        </a:accent5>
        <a:accent6>
          <a:srgbClr val="7D6B5F"/>
        </a:accent6>
        <a:hlink>
          <a:srgbClr val="67895F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Ricepaper">
  <a:themeElements>
    <a:clrScheme name="">
      <a:dk1>
        <a:srgbClr val="333333"/>
      </a:dk1>
      <a:lt1>
        <a:srgbClr val="FBFDFF"/>
      </a:lt1>
      <a:dk2>
        <a:srgbClr val="5E65C0"/>
      </a:dk2>
      <a:lt2>
        <a:srgbClr val="333333"/>
      </a:lt2>
      <a:accent1>
        <a:srgbClr val="78C0B2"/>
      </a:accent1>
      <a:accent2>
        <a:srgbClr val="262D4C"/>
      </a:accent2>
      <a:accent3>
        <a:srgbClr val="B6B8DC"/>
      </a:accent3>
      <a:accent4>
        <a:srgbClr val="D6D8DA"/>
      </a:accent4>
      <a:accent5>
        <a:srgbClr val="BEDCD5"/>
      </a:accent5>
      <a:accent6>
        <a:srgbClr val="212844"/>
      </a:accent6>
      <a:hlink>
        <a:srgbClr val="598BBD"/>
      </a:hlink>
      <a:folHlink>
        <a:srgbClr val="4D4D4D"/>
      </a:folHlink>
    </a:clrScheme>
    <a:fontScheme name="Ricepaper">
      <a:majorFont>
        <a:latin typeface="Times New Roman"/>
        <a:ea typeface="隶书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600" b="0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600" b="0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lnDef>
  </a:objectDefaults>
  <a:extraClrSchemeLst>
    <a:extraClrScheme>
      <a:clrScheme name="Ricepaper 1">
        <a:dk1>
          <a:srgbClr val="9D9475"/>
        </a:dk1>
        <a:lt1>
          <a:srgbClr val="333333"/>
        </a:lt1>
        <a:dk2>
          <a:srgbClr val="333300"/>
        </a:dk2>
        <a:lt2>
          <a:srgbClr val="333333"/>
        </a:lt2>
        <a:accent1>
          <a:srgbClr val="B3C39F"/>
        </a:accent1>
        <a:accent2>
          <a:srgbClr val="DCD9CE"/>
        </a:accent2>
        <a:accent3>
          <a:srgbClr val="ADADAA"/>
        </a:accent3>
        <a:accent4>
          <a:srgbClr val="2A2A2A"/>
        </a:accent4>
        <a:accent5>
          <a:srgbClr val="D6DECD"/>
        </a:accent5>
        <a:accent6>
          <a:srgbClr val="C7C4BA"/>
        </a:accent6>
        <a:hlink>
          <a:srgbClr val="CC9900"/>
        </a:hlink>
        <a:folHlink>
          <a:srgbClr val="ADA68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cepaper 2">
        <a:dk1>
          <a:srgbClr val="00264C"/>
        </a:dk1>
        <a:lt1>
          <a:srgbClr val="FFFFE9"/>
        </a:lt1>
        <a:dk2>
          <a:srgbClr val="333333"/>
        </a:dk2>
        <a:lt2>
          <a:srgbClr val="333333"/>
        </a:lt2>
        <a:accent1>
          <a:srgbClr val="78C0B2"/>
        </a:accent1>
        <a:accent2>
          <a:srgbClr val="262D4C"/>
        </a:accent2>
        <a:accent3>
          <a:srgbClr val="FFFFF2"/>
        </a:accent3>
        <a:accent4>
          <a:srgbClr val="001F40"/>
        </a:accent4>
        <a:accent5>
          <a:srgbClr val="BEDCD5"/>
        </a:accent5>
        <a:accent6>
          <a:srgbClr val="212844"/>
        </a:accent6>
        <a:hlink>
          <a:srgbClr val="598BBD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3">
        <a:dk1>
          <a:srgbClr val="000000"/>
        </a:dk1>
        <a:lt1>
          <a:srgbClr val="F8F8F8"/>
        </a:lt1>
        <a:dk2>
          <a:srgbClr val="333333"/>
        </a:dk2>
        <a:lt2>
          <a:srgbClr val="5F5F5F"/>
        </a:lt2>
        <a:accent1>
          <a:srgbClr val="DDDDDD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4">
        <a:dk1>
          <a:srgbClr val="00264C"/>
        </a:dk1>
        <a:lt1>
          <a:srgbClr val="FFFFFF"/>
        </a:lt1>
        <a:dk2>
          <a:srgbClr val="333333"/>
        </a:dk2>
        <a:lt2>
          <a:srgbClr val="2E697E"/>
        </a:lt2>
        <a:accent1>
          <a:srgbClr val="BAC8AA"/>
        </a:accent1>
        <a:accent2>
          <a:srgbClr val="6E9883"/>
        </a:accent2>
        <a:accent3>
          <a:srgbClr val="FFFFFF"/>
        </a:accent3>
        <a:accent4>
          <a:srgbClr val="001F40"/>
        </a:accent4>
        <a:accent5>
          <a:srgbClr val="D9E0D2"/>
        </a:accent5>
        <a:accent6>
          <a:srgbClr val="638976"/>
        </a:accent6>
        <a:hlink>
          <a:srgbClr val="CC9900"/>
        </a:hlink>
        <a:folHlink>
          <a:srgbClr val="7DAEC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5">
        <a:dk1>
          <a:srgbClr val="20374E"/>
        </a:dk1>
        <a:lt1>
          <a:srgbClr val="DCE4D2"/>
        </a:lt1>
        <a:dk2>
          <a:srgbClr val="333333"/>
        </a:dk2>
        <a:lt2>
          <a:srgbClr val="524C46"/>
        </a:lt2>
        <a:accent1>
          <a:srgbClr val="C9C491"/>
        </a:accent1>
        <a:accent2>
          <a:srgbClr val="8A776A"/>
        </a:accent2>
        <a:accent3>
          <a:srgbClr val="EBEFE5"/>
        </a:accent3>
        <a:accent4>
          <a:srgbClr val="1A2D41"/>
        </a:accent4>
        <a:accent5>
          <a:srgbClr val="E1DEC7"/>
        </a:accent5>
        <a:accent6>
          <a:srgbClr val="7D6B5F"/>
        </a:accent6>
        <a:hlink>
          <a:srgbClr val="67895F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5903</Words>
  <Application>WPS 演示</Application>
  <PresentationFormat>全屏显示(4:3)</PresentationFormat>
  <Paragraphs>440</Paragraphs>
  <Slides>29</Slides>
  <Notes>56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40" baseType="lpstr">
      <vt:lpstr>Arial</vt:lpstr>
      <vt:lpstr>宋体</vt:lpstr>
      <vt:lpstr>Wingdings</vt:lpstr>
      <vt:lpstr>Times New Roman</vt:lpstr>
      <vt:lpstr>黑体</vt:lpstr>
      <vt:lpstr>隶书</vt:lpstr>
      <vt:lpstr>Verdana</vt:lpstr>
      <vt:lpstr>微软雅黑</vt:lpstr>
      <vt:lpstr>Arial Unicode MS</vt:lpstr>
      <vt:lpstr>Ricepaper</vt:lpstr>
      <vt:lpstr>1_Ricepaper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汇编原理与接口</dc:title>
  <dc:creator>刘兆丽</dc:creator>
  <cp:lastModifiedBy>甲烷</cp:lastModifiedBy>
  <cp:revision>10868</cp:revision>
  <cp:lastPrinted>1998-10-16T09:27:00Z</cp:lastPrinted>
  <dcterms:created xsi:type="dcterms:W3CDTF">1997-07-11T08:05:00Z</dcterms:created>
  <dcterms:modified xsi:type="dcterms:W3CDTF">2026-04-20T13:22:14Z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DC4EB05CAD584E74A735134F9F855FF2_12</vt:lpwstr>
  </property>
  <property fmtid="{D5CDD505-2E9C-101B-9397-08002B2CF9AE}" pid="3" name="KSOProductBuildVer">
    <vt:lpwstr>2052-12.1.0.25865</vt:lpwstr>
  </property>
</Properties>
</file>