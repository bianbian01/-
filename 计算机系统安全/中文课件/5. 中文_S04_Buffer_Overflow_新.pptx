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9" r:id="rId17"/>
    <p:sldId id="271" r:id="rId18"/>
    <p:sldId id="272" r:id="rId19"/>
    <p:sldId id="273" r:id="rId20"/>
    <p:sldId id="290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91" r:id="rId35"/>
    <p:sldId id="287" r:id="rId36"/>
    <p:sldId id="288" r:id="rId3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20" autoAdjust="0"/>
    <p:restoredTop sz="85782" autoAdjust="0"/>
  </p:normalViewPr>
  <p:slideViewPr>
    <p:cSldViewPr snapToGrid="0">
      <p:cViewPr varScale="1">
        <p:scale>
          <a:sx n="78" d="100"/>
          <a:sy n="78" d="100"/>
        </p:scale>
        <p:origin x="5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100"/>
              <a:buChar char="●"/>
              <a:defRPr sz="1100"/>
            </a:lvl1pPr>
            <a:lvl2pPr lvl="1">
              <a:spcBef>
                <a:spcPts val="0"/>
              </a:spcBef>
              <a:buSzPts val="1100"/>
              <a:buChar char="○"/>
              <a:defRPr sz="1100"/>
            </a:lvl2pPr>
            <a:lvl3pPr lvl="2">
              <a:spcBef>
                <a:spcPts val="0"/>
              </a:spcBef>
              <a:buSzPts val="1100"/>
              <a:buChar char="■"/>
              <a:defRPr sz="1100"/>
            </a:lvl3pPr>
            <a:lvl4pPr lvl="3">
              <a:spcBef>
                <a:spcPts val="0"/>
              </a:spcBef>
              <a:buSzPts val="1100"/>
              <a:buChar char="●"/>
              <a:defRPr sz="1100"/>
            </a:lvl4pPr>
            <a:lvl5pPr lvl="4">
              <a:spcBef>
                <a:spcPts val="0"/>
              </a:spcBef>
              <a:buSzPts val="1100"/>
              <a:buChar char="○"/>
              <a:defRPr sz="1100"/>
            </a:lvl5pPr>
            <a:lvl6pPr lvl="5">
              <a:spcBef>
                <a:spcPts val="0"/>
              </a:spcBef>
              <a:buSzPts val="1100"/>
              <a:buChar char="■"/>
              <a:defRPr sz="1100"/>
            </a:lvl6pPr>
            <a:lvl7pPr lvl="6">
              <a:spcBef>
                <a:spcPts val="0"/>
              </a:spcBef>
              <a:buSzPts val="1100"/>
              <a:buChar char="●"/>
              <a:defRPr sz="1100"/>
            </a:lvl7pPr>
            <a:lvl8pPr lvl="7">
              <a:spcBef>
                <a:spcPts val="0"/>
              </a:spcBef>
              <a:buSzPts val="1100"/>
              <a:buChar char="○"/>
              <a:defRPr sz="1100"/>
            </a:lvl8pPr>
            <a:lvl9pPr lvl="8">
              <a:spcBef>
                <a:spcPts val="0"/>
              </a:spcBef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68403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82" name="Shape 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3050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5498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100" dirty="0"/>
              <a:t>全局变量存储在数据段中。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sz="1100" dirty="0"/>
              <a:t>未初始化的静态变量存储在 BSS 中。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sz="1100" dirty="0"/>
              <a:t>动态内存分配在堆中。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sz="1100" dirty="0"/>
              <a:t>局部变量存储在栈中。</a:t>
            </a:r>
          </a:p>
          <a:p>
            <a:pPr marL="0" lvl="0" indent="0">
              <a:spcBef>
                <a:spcPts val="0"/>
              </a:spcBef>
              <a:buNone/>
            </a:pPr>
            <a:endParaRPr sz="1100" dirty="0"/>
          </a:p>
        </p:txBody>
      </p:sp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6045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Shape 1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局部变量和函数参数都存储在栈中，并以 ebp 为引用。参数 'b' 的地址更高，因此会先被压入栈中。函数参数按相反的顺序压入栈中。</a:t>
            </a:r>
          </a:p>
        </p:txBody>
      </p:sp>
    </p:spTree>
    <p:extLst>
      <p:ext uri="{BB962C8B-B14F-4D97-AF65-F5344CB8AC3E}">
        <p14:creationId xmlns:p14="http://schemas.microsoft.com/office/powerpoint/2010/main" val="1811846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主函数调用函数 f()，并传入参数 a 和 b。函数 f 的栈帧创建在主函数栈的下方。f() 栈帧中的返回地址指向函数执行并返回后的下一条指令地址。在这里，它指向</a:t>
            </a:r>
            <a:r>
              <a:rPr lang="zh-CN" dirty="0" err="1"/>
              <a:t>printf </a:t>
            </a:r>
            <a:r>
              <a:rPr lang="zh-CN" dirty="0"/>
              <a:t>() 指令。</a:t>
            </a:r>
          </a:p>
        </p:txBody>
      </p:sp>
    </p:spTree>
    <p:extLst>
      <p:ext uri="{BB962C8B-B14F-4D97-AF65-F5344CB8AC3E}">
        <p14:creationId xmlns:p14="http://schemas.microsoft.com/office/powerpoint/2010/main" val="3097084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该图展示了函数如何被压入堆栈。每个函数堆栈中的返回地址指向返回后将要执行的下一条指令。调用</a:t>
            </a:r>
            <a:r>
              <a:rPr lang="zh-CN" baseline="0" dirty="0"/>
              <a:t>函数的帧</a:t>
            </a:r>
            <a:r>
              <a:rPr lang="zh-CN" dirty="0"/>
              <a:t>指针（ </a:t>
            </a:r>
            <a:r>
              <a:rPr lang="zh-CN" dirty="0" err="1"/>
              <a:t>ebp </a:t>
            </a:r>
            <a:r>
              <a:rPr lang="zh-CN" dirty="0"/>
              <a:t>）存储在堆栈中。</a:t>
            </a:r>
            <a:r>
              <a:rPr lang="zh-CN" baseline="0" dirty="0"/>
              <a:t> </a:t>
            </a:r>
            <a:r>
              <a:rPr lang="zh-CN" baseline="0" dirty="0" err="1"/>
              <a:t>被叫人的</a:t>
            </a:r>
            <a:r>
              <a:rPr lang="zh-CN" dirty="0"/>
              <a:t> 函数栈，</a:t>
            </a:r>
            <a:r>
              <a:rPr lang="zh-CN" baseline="0" dirty="0"/>
              <a:t>因此当</a:t>
            </a:r>
            <a:r>
              <a:rPr lang="zh-CN" baseline="0" dirty="0" err="1"/>
              <a:t>被调用者</a:t>
            </a:r>
            <a:r>
              <a:rPr lang="zh-CN" baseline="0" dirty="0"/>
              <a:t>返回时， </a:t>
            </a:r>
            <a:r>
              <a:rPr lang="zh-CN" baseline="0" dirty="0" err="1"/>
              <a:t>ebp</a:t>
            </a:r>
            <a:r>
              <a:rPr lang="zh-CN" baseline="0" dirty="0"/>
              <a:t>寄存器可以指向调用者的函数栈。</a:t>
            </a:r>
            <a:r>
              <a:rPr lang="zh-CN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639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5232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这里我们将字符串 str（300 字节的数据）复制到一个大小为 100 字节的缓冲区中。这会导致缓冲区溢出。正如在 foo() 函数的栈帧中看到的，这种溢出导致栈中一些重要内容被覆盖，例如栈指针、返回地址等。</a:t>
            </a:r>
          </a:p>
        </p:txBody>
      </p:sp>
    </p:spTree>
    <p:extLst>
      <p:ext uri="{BB962C8B-B14F-4D97-AF65-F5344CB8AC3E}">
        <p14:creationId xmlns:p14="http://schemas.microsoft.com/office/powerpoint/2010/main" val="3905156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Shape 1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6894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要运行恶意代码，我们需要在函数栈中找到指向我们代码的位置，跳转到该位置并执行它。我们已经知道，当一个函数被执行时，它会跳转到返回地址（调用函数中调用该函数之后的指令），因此我们可以修改返回地址，使其指向恶意代码的地址，从而使程序跳转到该代码并执行它。</a:t>
            </a:r>
          </a:p>
        </p:txBody>
      </p:sp>
    </p:spTree>
    <p:extLst>
      <p:ext uri="{BB962C8B-B14F-4D97-AF65-F5344CB8AC3E}">
        <p14:creationId xmlns:p14="http://schemas.microsoft.com/office/powerpoint/2010/main" val="592138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Shape 1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要执行此攻击，我们需要关闭接下来幻灯片中讨论的反制措施。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/>
              <a:t>地址随机化功能已关闭，因此缓冲区的基地址保持不变。这样可以简化猜测堆栈中返回地址的任务。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/>
              <a:t>我们将栈设置为可执行，因为我们需要在栈上执行我们自己的代码。此外，我们还禁用了栈保护（稍后讨论）。</a:t>
            </a:r>
          </a:p>
        </p:txBody>
      </p:sp>
    </p:spTree>
    <p:extLst>
      <p:ext uri="{BB962C8B-B14F-4D97-AF65-F5344CB8AC3E}">
        <p14:creationId xmlns:p14="http://schemas.microsoft.com/office/powerpoint/2010/main" val="3311323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运行恶意代码时面临的两大挑战是：</a:t>
            </a: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Font typeface="+mj-lt"/>
              <a:buAutoNum type="alphaUcPeriod"/>
            </a:pPr>
            <a:r>
              <a:rPr lang="zh-CN" dirty="0"/>
              <a:t>找到缓冲区基址和返回地址之间的偏移距离，以便我们可以用代码地址修改返回值。</a:t>
            </a:r>
          </a:p>
          <a:p>
            <a:pPr marL="457200" lvl="0" indent="-298450" rtl="0">
              <a:spcBef>
                <a:spcPts val="0"/>
              </a:spcBef>
              <a:buSzPts val="1100"/>
              <a:buAutoNum type="alphaUcPeriod"/>
            </a:pPr>
            <a:r>
              <a:rPr lang="zh-CN" dirty="0"/>
              <a:t>找到恶意代码的地址。如果我们不处理这个问题，恶意代码将被存储在我们无法控制的某个随机内存位置。在这种情况下，我们无法用代码地址修改返回地址。因此，我们将恶意代码放在函数栈中。</a:t>
            </a:r>
          </a:p>
          <a:p>
            <a:pPr marL="0" lvl="0" indent="0" rtl="0">
              <a:spcBef>
                <a:spcPts val="0"/>
              </a:spcBef>
              <a:buNone/>
            </a:pPr>
            <a:endParaRPr dirty="0"/>
          </a:p>
          <a:p>
            <a:pPr marL="0" lvl="0" indent="0" rtl="0">
              <a:spcBef>
                <a:spcPts val="0"/>
              </a:spcBef>
              <a:buNone/>
            </a:pPr>
            <a:r>
              <a:rPr lang="zh-CN" dirty="0" err="1"/>
              <a:t>所以，我们需要对错误文件</a:t>
            </a:r>
            <a:r>
              <a:rPr lang="zh-CN" dirty="0"/>
              <a:t>执行以下操作：</a:t>
            </a:r>
          </a:p>
          <a:p>
            <a:pPr marL="0" lvl="0" indent="0" rtl="0">
              <a:spcBef>
                <a:spcPts val="0"/>
              </a:spcBef>
              <a:buNone/>
            </a:pPr>
            <a:endParaRPr dirty="0"/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zh-CN" dirty="0"/>
              <a:t>编写恶意代码（ </a:t>
            </a:r>
            <a:r>
              <a:rPr lang="zh-CN" dirty="0" err="1"/>
              <a:t>shellcode </a:t>
            </a:r>
            <a:r>
              <a:rPr lang="zh-CN" dirty="0"/>
              <a:t>：将在后续幻灯片中讨论）</a:t>
            </a: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zh-CN" dirty="0"/>
              <a:t>将恶意代码放置在我们的栈中（位于返回地址上方最低地址或缓冲区末尾）。</a:t>
            </a:r>
          </a:p>
          <a:p>
            <a:pPr marL="457200" lvl="0" indent="-298450">
              <a:spcBef>
                <a:spcPts val="0"/>
              </a:spcBef>
              <a:buSzPts val="1100"/>
              <a:buAutoNum type="arabicParenR"/>
            </a:pPr>
            <a:r>
              <a:rPr lang="zh-CN" dirty="0"/>
              <a:t>用 shellcode 的地址修改返回地址</a:t>
            </a:r>
          </a:p>
        </p:txBody>
      </p:sp>
    </p:spTree>
    <p:extLst>
      <p:ext uri="{BB962C8B-B14F-4D97-AF65-F5344CB8AC3E}">
        <p14:creationId xmlns:p14="http://schemas.microsoft.com/office/powerpoint/2010/main" val="1509504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为了找到缓冲区基地址和返回地址之间的距离，我们需要使用 gdb 调试工具。假设我们可以访问存在漏洞的代码，我们可以使用 gdb 来获取缓冲区基地址、帧指针地址 (ebp) 和返回地址 ($ebp + 4)。</a:t>
            </a:r>
          </a:p>
        </p:txBody>
      </p:sp>
    </p:spTree>
    <p:extLst>
      <p:ext uri="{BB962C8B-B14F-4D97-AF65-F5344CB8AC3E}">
        <p14:creationId xmlns:p14="http://schemas.microsoft.com/office/powerpoint/2010/main" val="971645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26453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72671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06579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Shape 2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-</a:t>
            </a:r>
            <a:r>
              <a:rPr lang="zh-CN" baseline="0" dirty="0"/>
              <a:t> 使用 NOP 指令</a:t>
            </a:r>
            <a:r>
              <a:rPr lang="zh-CN" dirty="0"/>
              <a:t>初始化整个缓冲区。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-</a:t>
            </a:r>
            <a:r>
              <a:rPr lang="zh-CN" baseline="0" dirty="0"/>
              <a:t> </a:t>
            </a:r>
            <a:r>
              <a:rPr lang="zh-CN" dirty="0"/>
              <a:t>获取任务 A 和任务 B 的结果，并将恶意代码地址放在返回地址中。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-</a:t>
            </a:r>
            <a:r>
              <a:rPr lang="zh-CN" baseline="0" dirty="0"/>
              <a:t> 将恶意代码</a:t>
            </a:r>
            <a:r>
              <a:rPr lang="zh-CN" dirty="0"/>
              <a:t>放置在缓冲区末尾。</a:t>
            </a:r>
          </a:p>
        </p:txBody>
      </p:sp>
    </p:spTree>
    <p:extLst>
      <p:ext uri="{BB962C8B-B14F-4D97-AF65-F5344CB8AC3E}">
        <p14:creationId xmlns:p14="http://schemas.microsoft.com/office/powerpoint/2010/main" val="23742692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Shape 2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26453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Shape 2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4148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上述 C 代码会弹出 shell 提示符，允许执行更多命令。我们可以将上述 C 代码编译成二进制文件，并将其存储到</a:t>
            </a:r>
            <a:r>
              <a:rPr lang="zh-CN" dirty="0" err="1"/>
              <a:t>badfile中</a:t>
            </a:r>
            <a:r>
              <a:rPr lang="zh-CN" dirty="0"/>
              <a:t>，同时修改返回地址字段，使其指向 main() 函数的地址。但是，这种解决方案存在一些问题：</a:t>
            </a: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zh-CN" dirty="0"/>
              <a:t>加载器问题：操作系统加载器负责设置内存、将程序复制到内存以及调用动态链接器链接库等，从而建立</a:t>
            </a:r>
            <a:r>
              <a:rPr lang="zh-CN" dirty="0" err="1"/>
              <a:t>程序的运行环境</a:t>
            </a:r>
            <a:r>
              <a:rPr lang="zh-CN" dirty="0"/>
              <a:t>。初始化步骤完成后，会调用 `main()` 函数。如果缺少任何步骤，程序将无法加载到内存中。在缓冲区流程序中，我们使用内存复制来复制代码。因此，所有初始化步骤都缺失，从而导致我们的 shellcode 无法执行。</a:t>
            </a:r>
          </a:p>
          <a:p>
            <a:pPr marL="457200" lvl="0" indent="-298450" rtl="0">
              <a:spcBef>
                <a:spcPts val="0"/>
              </a:spcBef>
              <a:buSzPts val="1100"/>
              <a:buAutoNum type="arabicParenR"/>
            </a:pPr>
            <a:r>
              <a:rPr lang="zh-CN" dirty="0"/>
              <a:t>代码中的零： </a:t>
            </a:r>
            <a:r>
              <a:rPr lang="zh-CN" dirty="0" err="1"/>
              <a:t>strcpy </a:t>
            </a:r>
            <a:r>
              <a:rPr lang="zh-CN" dirty="0"/>
              <a:t>() 函数在源字符串中遇到零时会停止复制。当 C 代码编译成</a:t>
            </a:r>
            <a:r>
              <a:rPr lang="zh-CN" dirty="0" err="1"/>
              <a:t>二进制代码时</a:t>
            </a:r>
            <a:r>
              <a:rPr lang="zh-CN" dirty="0"/>
              <a:t>，二进制代码中会包含零，这将阻止</a:t>
            </a:r>
            <a:r>
              <a:rPr lang="zh-CN" dirty="0" err="1"/>
              <a:t>错误文件的</a:t>
            </a:r>
            <a:r>
              <a:rPr lang="zh-CN" dirty="0"/>
              <a:t>进一步复制。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请参阅第 4.6 节。</a:t>
            </a:r>
          </a:p>
        </p:txBody>
      </p:sp>
    </p:spTree>
    <p:extLst>
      <p:ext uri="{BB962C8B-B14F-4D97-AF65-F5344CB8AC3E}">
        <p14:creationId xmlns:p14="http://schemas.microsoft.com/office/powerpoint/2010/main" val="26809587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Shape 2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1620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84425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Shape 2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zh-CN"/>
              <a:t>请参阅第 4.6.2 节和 4.6.3 节。</a:t>
            </a:r>
          </a:p>
        </p:txBody>
      </p:sp>
    </p:spTree>
    <p:extLst>
      <p:ext uri="{BB962C8B-B14F-4D97-AF65-F5344CB8AC3E}">
        <p14:creationId xmlns:p14="http://schemas.microsoft.com/office/powerpoint/2010/main" val="9874287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Shape 2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6420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Shape 2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51356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Shape 2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在Linux系统中启用ASLR后，我们运行上述代码，以检查它如何影响栈和堆上局部变量的地址。ASLR会在每次加载代码时更改其地址。</a:t>
            </a:r>
          </a:p>
        </p:txBody>
      </p:sp>
    </p:spTree>
    <p:extLst>
      <p:ext uri="{BB962C8B-B14F-4D97-AF65-F5344CB8AC3E}">
        <p14:creationId xmlns:p14="http://schemas.microsoft.com/office/powerpoint/2010/main" val="20969679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Shape 2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1：设置为 0 时，地址空间不会随机化。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/>
              <a:t>2：设置为 1 时，仅随机化堆栈内存地址。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/>
              <a:t>3：当设置为 2 时，堆栈和堆内存地址都会随机化。</a:t>
            </a:r>
          </a:p>
        </p:txBody>
      </p:sp>
    </p:spTree>
    <p:extLst>
      <p:ext uri="{BB962C8B-B14F-4D97-AF65-F5344CB8AC3E}">
        <p14:creationId xmlns:p14="http://schemas.microsoft.com/office/powerpoint/2010/main" val="24941820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Shape 3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17192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Shape 3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99493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Shape 3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28050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Stackguard 是一种编译器实现的防止缓冲区溢出的方法。它会生成一个随机的秘密值，并将其存储在内存中的一个位置（不在栈上），然后将该值赋给一个存储在栈上的函数的局部变量。复制函数执行完毕后，会检查该局部变量的值是否发生了变化。如果发生了变化，则说明发生了缓冲区溢出，程序会直接退出，不再返回。</a:t>
            </a:r>
          </a:p>
        </p:txBody>
      </p:sp>
    </p:spTree>
    <p:extLst>
      <p:ext uri="{BB962C8B-B14F-4D97-AF65-F5344CB8AC3E}">
        <p14:creationId xmlns:p14="http://schemas.microsoft.com/office/powerpoint/2010/main" val="30724896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Shape 3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Prog.c 是一个存在漏洞的程序，它从用户获取输入并调用函数 foo()，该函数会将数据复制到缓冲区。当用户传递的变量长度超过缓冲区大小时，程序会改变局部变量（守卫变量）的值，从而导致程序崩溃并抛出堆栈溢出错误信息。</a:t>
            </a:r>
          </a:p>
        </p:txBody>
      </p:sp>
    </p:spTree>
    <p:extLst>
      <p:ext uri="{BB962C8B-B14F-4D97-AF65-F5344CB8AC3E}">
        <p14:creationId xmlns:p14="http://schemas.microsoft.com/office/powerpoint/2010/main" val="7832477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Shape 3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7054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800"/>
            </a:lvl2pPr>
            <a:lvl3pPr lvl="2" indent="0">
              <a:spcBef>
                <a:spcPts val="0"/>
              </a:spcBef>
              <a:buSzPts val="1400"/>
              <a:buNone/>
              <a:defRPr sz="1800"/>
            </a:lvl3pPr>
            <a:lvl4pPr lvl="3" indent="0">
              <a:spcBef>
                <a:spcPts val="0"/>
              </a:spcBef>
              <a:buSzPts val="1400"/>
              <a:buNone/>
              <a:defRPr sz="1800"/>
            </a:lvl4pPr>
            <a:lvl5pPr lvl="4" indent="0">
              <a:spcBef>
                <a:spcPts val="0"/>
              </a:spcBef>
              <a:buSzPts val="1400"/>
              <a:buNone/>
              <a:defRPr sz="1800"/>
            </a:lvl5pPr>
            <a:lvl6pPr lvl="5" indent="0">
              <a:spcBef>
                <a:spcPts val="0"/>
              </a:spcBef>
              <a:buSzPts val="1400"/>
              <a:buNone/>
              <a:defRPr sz="1800"/>
            </a:lvl6pPr>
            <a:lvl7pPr lvl="6" indent="0">
              <a:spcBef>
                <a:spcPts val="0"/>
              </a:spcBef>
              <a:buSzPts val="1400"/>
              <a:buNone/>
              <a:defRPr sz="1800"/>
            </a:lvl7pPr>
            <a:lvl8pPr lvl="7" indent="0">
              <a:spcBef>
                <a:spcPts val="0"/>
              </a:spcBef>
              <a:buSzPts val="1400"/>
              <a:buNone/>
              <a:defRPr sz="1800"/>
            </a:lvl8pPr>
            <a:lvl9pPr lvl="8" indent="0">
              <a:spcBef>
                <a:spcPts val="0"/>
              </a:spcBef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ctr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800"/>
            </a:lvl2pPr>
            <a:lvl3pPr lvl="2" indent="0">
              <a:spcBef>
                <a:spcPts val="0"/>
              </a:spcBef>
              <a:buSzPts val="1400"/>
              <a:buNone/>
              <a:defRPr sz="1800"/>
            </a:lvl3pPr>
            <a:lvl4pPr lvl="3" indent="0">
              <a:spcBef>
                <a:spcPts val="0"/>
              </a:spcBef>
              <a:buSzPts val="1400"/>
              <a:buNone/>
              <a:defRPr sz="1800"/>
            </a:lvl4pPr>
            <a:lvl5pPr lvl="4" indent="0">
              <a:spcBef>
                <a:spcPts val="0"/>
              </a:spcBef>
              <a:buSzPts val="1400"/>
              <a:buNone/>
              <a:defRPr sz="1800"/>
            </a:lvl5pPr>
            <a:lvl6pPr lvl="5" indent="0">
              <a:spcBef>
                <a:spcPts val="0"/>
              </a:spcBef>
              <a:buSzPts val="1400"/>
              <a:buNone/>
              <a:defRPr sz="1800"/>
            </a:lvl6pPr>
            <a:lvl7pPr lvl="6" indent="0">
              <a:spcBef>
                <a:spcPts val="0"/>
              </a:spcBef>
              <a:buSzPts val="1400"/>
              <a:buNone/>
              <a:defRPr sz="1800"/>
            </a:lvl7pPr>
            <a:lvl8pPr lvl="7" indent="0">
              <a:spcBef>
                <a:spcPts val="0"/>
              </a:spcBef>
              <a:buSzPts val="1400"/>
              <a:buNone/>
              <a:defRPr sz="1800"/>
            </a:lvl8pPr>
            <a:lvl9pPr lvl="8" indent="0">
              <a:spcBef>
                <a:spcPts val="0"/>
              </a:spcBef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800"/>
            </a:lvl2pPr>
            <a:lvl3pPr lvl="2" indent="0">
              <a:spcBef>
                <a:spcPts val="0"/>
              </a:spcBef>
              <a:buSzPts val="1400"/>
              <a:buNone/>
              <a:defRPr sz="1800"/>
            </a:lvl3pPr>
            <a:lvl4pPr lvl="3" indent="0">
              <a:spcBef>
                <a:spcPts val="0"/>
              </a:spcBef>
              <a:buSzPts val="1400"/>
              <a:buNone/>
              <a:defRPr sz="1800"/>
            </a:lvl4pPr>
            <a:lvl5pPr lvl="4" indent="0">
              <a:spcBef>
                <a:spcPts val="0"/>
              </a:spcBef>
              <a:buSzPts val="1400"/>
              <a:buNone/>
              <a:defRPr sz="1800"/>
            </a:lvl5pPr>
            <a:lvl6pPr lvl="5" indent="0">
              <a:spcBef>
                <a:spcPts val="0"/>
              </a:spcBef>
              <a:buSzPts val="1400"/>
              <a:buNone/>
              <a:defRPr sz="1800"/>
            </a:lvl6pPr>
            <a:lvl7pPr lvl="6" indent="0">
              <a:spcBef>
                <a:spcPts val="0"/>
              </a:spcBef>
              <a:buSzPts val="1400"/>
              <a:buNone/>
              <a:defRPr sz="1800"/>
            </a:lvl7pPr>
            <a:lvl8pPr lvl="7" indent="0">
              <a:spcBef>
                <a:spcPts val="0"/>
              </a:spcBef>
              <a:buSzPts val="1400"/>
              <a:buNone/>
              <a:defRPr sz="1800"/>
            </a:lvl8pPr>
            <a:lvl9pPr lvl="8" indent="0">
              <a:spcBef>
                <a:spcPts val="0"/>
              </a:spcBef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800"/>
            </a:lvl2pPr>
            <a:lvl3pPr lvl="2" indent="0">
              <a:spcBef>
                <a:spcPts val="0"/>
              </a:spcBef>
              <a:buSzPts val="1400"/>
              <a:buNone/>
              <a:defRPr sz="1800"/>
            </a:lvl3pPr>
            <a:lvl4pPr lvl="3" indent="0">
              <a:spcBef>
                <a:spcPts val="0"/>
              </a:spcBef>
              <a:buSzPts val="1400"/>
              <a:buNone/>
              <a:defRPr sz="1800"/>
            </a:lvl4pPr>
            <a:lvl5pPr lvl="4" indent="0">
              <a:spcBef>
                <a:spcPts val="0"/>
              </a:spcBef>
              <a:buSzPts val="1400"/>
              <a:buNone/>
              <a:defRPr sz="1800"/>
            </a:lvl5pPr>
            <a:lvl6pPr lvl="5" indent="0">
              <a:spcBef>
                <a:spcPts val="0"/>
              </a:spcBef>
              <a:buSzPts val="1400"/>
              <a:buNone/>
              <a:defRPr sz="1800"/>
            </a:lvl6pPr>
            <a:lvl7pPr lvl="6" indent="0">
              <a:spcBef>
                <a:spcPts val="0"/>
              </a:spcBef>
              <a:buSzPts val="1400"/>
              <a:buNone/>
              <a:defRPr sz="1800"/>
            </a:lvl7pPr>
            <a:lvl8pPr lvl="7" indent="0">
              <a:spcBef>
                <a:spcPts val="0"/>
              </a:spcBef>
              <a:buSzPts val="1400"/>
              <a:buNone/>
              <a:defRPr sz="1800"/>
            </a:lvl8pPr>
            <a:lvl9pPr lvl="8" indent="0">
              <a:spcBef>
                <a:spcPts val="0"/>
              </a:spcBef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800"/>
            </a:lvl2pPr>
            <a:lvl3pPr lvl="2" indent="0">
              <a:spcBef>
                <a:spcPts val="0"/>
              </a:spcBef>
              <a:buSzPts val="1400"/>
              <a:buNone/>
              <a:defRPr sz="1800"/>
            </a:lvl3pPr>
            <a:lvl4pPr lvl="3" indent="0">
              <a:spcBef>
                <a:spcPts val="0"/>
              </a:spcBef>
              <a:buSzPts val="1400"/>
              <a:buNone/>
              <a:defRPr sz="1800"/>
            </a:lvl4pPr>
            <a:lvl5pPr lvl="4" indent="0">
              <a:spcBef>
                <a:spcPts val="0"/>
              </a:spcBef>
              <a:buSzPts val="1400"/>
              <a:buNone/>
              <a:defRPr sz="1800"/>
            </a:lvl5pPr>
            <a:lvl6pPr lvl="5" indent="0">
              <a:spcBef>
                <a:spcPts val="0"/>
              </a:spcBef>
              <a:buSzPts val="1400"/>
              <a:buNone/>
              <a:defRPr sz="1800"/>
            </a:lvl6pPr>
            <a:lvl7pPr lvl="6" indent="0">
              <a:spcBef>
                <a:spcPts val="0"/>
              </a:spcBef>
              <a:buSzPts val="1400"/>
              <a:buNone/>
              <a:defRPr sz="1800"/>
            </a:lvl7pPr>
            <a:lvl8pPr lvl="7" indent="0">
              <a:spcBef>
                <a:spcPts val="0"/>
              </a:spcBef>
              <a:buSzPts val="1400"/>
              <a:buNone/>
              <a:defRPr sz="1800"/>
            </a:lvl8pPr>
            <a:lvl9pPr lvl="8" indent="0">
              <a:spcBef>
                <a:spcPts val="0"/>
              </a:spcBef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800"/>
            </a:lvl2pPr>
            <a:lvl3pPr lvl="2" indent="0">
              <a:spcBef>
                <a:spcPts val="0"/>
              </a:spcBef>
              <a:buSzPts val="1400"/>
              <a:buNone/>
              <a:defRPr sz="1800"/>
            </a:lvl3pPr>
            <a:lvl4pPr lvl="3" indent="0">
              <a:spcBef>
                <a:spcPts val="0"/>
              </a:spcBef>
              <a:buSzPts val="1400"/>
              <a:buNone/>
              <a:defRPr sz="1800"/>
            </a:lvl4pPr>
            <a:lvl5pPr lvl="4" indent="0">
              <a:spcBef>
                <a:spcPts val="0"/>
              </a:spcBef>
              <a:buSzPts val="1400"/>
              <a:buNone/>
              <a:defRPr sz="1800"/>
            </a:lvl5pPr>
            <a:lvl6pPr lvl="5" indent="0">
              <a:spcBef>
                <a:spcPts val="0"/>
              </a:spcBef>
              <a:buSzPts val="1400"/>
              <a:buNone/>
              <a:defRPr sz="1800"/>
            </a:lvl6pPr>
            <a:lvl7pPr lvl="6" indent="0">
              <a:spcBef>
                <a:spcPts val="0"/>
              </a:spcBef>
              <a:buSzPts val="1400"/>
              <a:buNone/>
              <a:defRPr sz="1800"/>
            </a:lvl7pPr>
            <a:lvl8pPr lvl="7" indent="0">
              <a:spcBef>
                <a:spcPts val="0"/>
              </a:spcBef>
              <a:buSzPts val="1400"/>
              <a:buNone/>
              <a:defRPr sz="1800"/>
            </a:lvl8pPr>
            <a:lvl9pPr lvl="8" indent="0">
              <a:spcBef>
                <a:spcPts val="0"/>
              </a:spcBef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800"/>
            </a:lvl2pPr>
            <a:lvl3pPr lvl="2" indent="0">
              <a:spcBef>
                <a:spcPts val="0"/>
              </a:spcBef>
              <a:buSzPts val="1400"/>
              <a:buNone/>
              <a:defRPr sz="1800"/>
            </a:lvl3pPr>
            <a:lvl4pPr lvl="3" indent="0">
              <a:spcBef>
                <a:spcPts val="0"/>
              </a:spcBef>
              <a:buSzPts val="1400"/>
              <a:buNone/>
              <a:defRPr sz="1800"/>
            </a:lvl4pPr>
            <a:lvl5pPr lvl="4" indent="0">
              <a:spcBef>
                <a:spcPts val="0"/>
              </a:spcBef>
              <a:buSzPts val="1400"/>
              <a:buNone/>
              <a:defRPr sz="1800"/>
            </a:lvl5pPr>
            <a:lvl6pPr lvl="5" indent="0">
              <a:spcBef>
                <a:spcPts val="0"/>
              </a:spcBef>
              <a:buSzPts val="1400"/>
              <a:buNone/>
              <a:defRPr sz="1800"/>
            </a:lvl6pPr>
            <a:lvl7pPr lvl="6" indent="0">
              <a:spcBef>
                <a:spcPts val="0"/>
              </a:spcBef>
              <a:buSzPts val="1400"/>
              <a:buNone/>
              <a:defRPr sz="1800"/>
            </a:lvl7pPr>
            <a:lvl8pPr lvl="7" indent="0">
              <a:spcBef>
                <a:spcPts val="0"/>
              </a:spcBef>
              <a:buSzPts val="1400"/>
              <a:buNone/>
              <a:defRPr sz="1800"/>
            </a:lvl8pPr>
            <a:lvl9pPr lvl="8" indent="0">
              <a:spcBef>
                <a:spcPts val="0"/>
              </a:spcBef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28600" marR="0" lvl="0" indent="-2540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508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800"/>
            </a:lvl2pPr>
            <a:lvl3pPr lvl="2" indent="0">
              <a:spcBef>
                <a:spcPts val="0"/>
              </a:spcBef>
              <a:buSzPts val="1400"/>
              <a:buNone/>
              <a:defRPr sz="1800"/>
            </a:lvl3pPr>
            <a:lvl4pPr lvl="3" indent="0">
              <a:spcBef>
                <a:spcPts val="0"/>
              </a:spcBef>
              <a:buSzPts val="1400"/>
              <a:buNone/>
              <a:defRPr sz="1800"/>
            </a:lvl4pPr>
            <a:lvl5pPr lvl="4" indent="0">
              <a:spcBef>
                <a:spcPts val="0"/>
              </a:spcBef>
              <a:buSzPts val="1400"/>
              <a:buNone/>
              <a:defRPr sz="1800"/>
            </a:lvl5pPr>
            <a:lvl6pPr lvl="5" indent="0">
              <a:spcBef>
                <a:spcPts val="0"/>
              </a:spcBef>
              <a:buSzPts val="1400"/>
              <a:buNone/>
              <a:defRPr sz="1800"/>
            </a:lvl6pPr>
            <a:lvl7pPr lvl="6" indent="0">
              <a:spcBef>
                <a:spcPts val="0"/>
              </a:spcBef>
              <a:buSzPts val="1400"/>
              <a:buNone/>
              <a:defRPr sz="1800"/>
            </a:lvl7pPr>
            <a:lvl8pPr lvl="7" indent="0">
              <a:spcBef>
                <a:spcPts val="0"/>
              </a:spcBef>
              <a:buSzPts val="1400"/>
              <a:buNone/>
              <a:defRPr sz="1800"/>
            </a:lvl8pPr>
            <a:lvl9pPr lvl="8" indent="0">
              <a:spcBef>
                <a:spcPts val="0"/>
              </a:spcBef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800"/>
            </a:lvl2pPr>
            <a:lvl3pPr lvl="2" indent="0">
              <a:spcBef>
                <a:spcPts val="0"/>
              </a:spcBef>
              <a:buSzPts val="1400"/>
              <a:buNone/>
              <a:defRPr sz="1800"/>
            </a:lvl3pPr>
            <a:lvl4pPr lvl="3" indent="0">
              <a:spcBef>
                <a:spcPts val="0"/>
              </a:spcBef>
              <a:buSzPts val="1400"/>
              <a:buNone/>
              <a:defRPr sz="1800"/>
            </a:lvl4pPr>
            <a:lvl5pPr lvl="4" indent="0">
              <a:spcBef>
                <a:spcPts val="0"/>
              </a:spcBef>
              <a:buSzPts val="1400"/>
              <a:buNone/>
              <a:defRPr sz="1800"/>
            </a:lvl5pPr>
            <a:lvl6pPr lvl="5" indent="0">
              <a:spcBef>
                <a:spcPts val="0"/>
              </a:spcBef>
              <a:buSzPts val="1400"/>
              <a:buNone/>
              <a:defRPr sz="1800"/>
            </a:lvl6pPr>
            <a:lvl7pPr lvl="6" indent="0">
              <a:spcBef>
                <a:spcPts val="0"/>
              </a:spcBef>
              <a:buSzPts val="1400"/>
              <a:buNone/>
              <a:defRPr sz="1800"/>
            </a:lvl7pPr>
            <a:lvl8pPr lvl="7" indent="0">
              <a:spcBef>
                <a:spcPts val="0"/>
              </a:spcBef>
              <a:buSzPts val="1400"/>
              <a:buNone/>
              <a:defRPr sz="1800"/>
            </a:lvl8pPr>
            <a:lvl9pPr lvl="8" indent="0">
              <a:spcBef>
                <a:spcPts val="0"/>
              </a:spcBef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800"/>
            </a:lvl2pPr>
            <a:lvl3pPr lvl="2" indent="0">
              <a:spcBef>
                <a:spcPts val="0"/>
              </a:spcBef>
              <a:buSzPts val="1400"/>
              <a:buNone/>
              <a:defRPr sz="1800"/>
            </a:lvl3pPr>
            <a:lvl4pPr lvl="3" indent="0">
              <a:spcBef>
                <a:spcPts val="0"/>
              </a:spcBef>
              <a:buSzPts val="1400"/>
              <a:buNone/>
              <a:defRPr sz="1800"/>
            </a:lvl4pPr>
            <a:lvl5pPr lvl="4" indent="0">
              <a:spcBef>
                <a:spcPts val="0"/>
              </a:spcBef>
              <a:buSzPts val="1400"/>
              <a:buNone/>
              <a:defRPr sz="1800"/>
            </a:lvl5pPr>
            <a:lvl6pPr lvl="5" indent="0">
              <a:spcBef>
                <a:spcPts val="0"/>
              </a:spcBef>
              <a:buSzPts val="1400"/>
              <a:buNone/>
              <a:defRPr sz="1800"/>
            </a:lvl6pPr>
            <a:lvl7pPr lvl="6" indent="0">
              <a:spcBef>
                <a:spcPts val="0"/>
              </a:spcBef>
              <a:buSzPts val="1400"/>
              <a:buNone/>
              <a:defRPr sz="1800"/>
            </a:lvl7pPr>
            <a:lvl8pPr lvl="7" indent="0">
              <a:spcBef>
                <a:spcPts val="0"/>
              </a:spcBef>
              <a:buSzPts val="1400"/>
              <a:buNone/>
              <a:defRPr sz="1800"/>
            </a:lvl8pPr>
            <a:lvl9pPr lvl="8" indent="0">
              <a:spcBef>
                <a:spcPts val="0"/>
              </a:spcBef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800"/>
            </a:lvl2pPr>
            <a:lvl3pPr lvl="2" indent="0">
              <a:spcBef>
                <a:spcPts val="0"/>
              </a:spcBef>
              <a:buSzPts val="1400"/>
              <a:buNone/>
              <a:defRPr sz="1800"/>
            </a:lvl3pPr>
            <a:lvl4pPr lvl="3" indent="0">
              <a:spcBef>
                <a:spcPts val="0"/>
              </a:spcBef>
              <a:buSzPts val="1400"/>
              <a:buNone/>
              <a:defRPr sz="1800"/>
            </a:lvl4pPr>
            <a:lvl5pPr lvl="4" indent="0">
              <a:spcBef>
                <a:spcPts val="0"/>
              </a:spcBef>
              <a:buSzPts val="1400"/>
              <a:buNone/>
              <a:defRPr sz="1800"/>
            </a:lvl5pPr>
            <a:lvl6pPr lvl="5" indent="0">
              <a:spcBef>
                <a:spcPts val="0"/>
              </a:spcBef>
              <a:buSzPts val="1400"/>
              <a:buNone/>
              <a:defRPr sz="1800"/>
            </a:lvl6pPr>
            <a:lvl7pPr lvl="6" indent="0">
              <a:spcBef>
                <a:spcPts val="0"/>
              </a:spcBef>
              <a:buSzPts val="1400"/>
              <a:buNone/>
              <a:defRPr sz="1800"/>
            </a:lvl7pPr>
            <a:lvl8pPr lvl="7" indent="0">
              <a:spcBef>
                <a:spcPts val="0"/>
              </a:spcBef>
              <a:buSzPts val="1400"/>
              <a:buNone/>
              <a:defRPr sz="1800"/>
            </a:lvl8pPr>
            <a:lvl9pPr lvl="8" indent="0">
              <a:spcBef>
                <a:spcPts val="0"/>
              </a:spcBef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marR="0" lvl="0" indent="-381000" algn="ctr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6000"/>
              <a:buFont typeface="Calibri"/>
              <a:buNone/>
            </a:pPr>
            <a:r>
              <a:rPr lang="zh-CN"/>
              <a:t>缓冲区溢出攻击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ctrTitle"/>
          </p:nvPr>
        </p:nvSpPr>
        <p:spPr>
          <a:xfrm>
            <a:off x="477550" y="225397"/>
            <a:ext cx="9144000" cy="16557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marL="0" lvl="0" indent="-279400" algn="l" rtl="0"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</a:pPr>
            <a:r>
              <a:rPr lang="zh-CN" sz="4400"/>
              <a:t>大纲</a:t>
            </a:r>
          </a:p>
        </p:txBody>
      </p:sp>
      <p:sp>
        <p:nvSpPr>
          <p:cNvPr id="90" name="Shape 90"/>
          <p:cNvSpPr txBox="1">
            <a:spLocks noGrp="1"/>
          </p:cNvSpPr>
          <p:nvPr>
            <p:ph type="subTitle" idx="1"/>
          </p:nvPr>
        </p:nvSpPr>
        <p:spPr>
          <a:xfrm>
            <a:off x="477550" y="1881125"/>
            <a:ext cx="10547700" cy="4459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CN" sz="3000" dirty="0"/>
              <a:t>理解</a:t>
            </a:r>
            <a:r>
              <a:rPr lang="zh-CN" altLang="en-US" sz="3000" dirty="0"/>
              <a:t>进程的内存</a:t>
            </a:r>
            <a:r>
              <a:rPr lang="zh-CN" sz="3000" dirty="0"/>
              <a:t>布局</a:t>
            </a: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CN" sz="3000" dirty="0"/>
              <a:t>存在漏洞的代码</a:t>
            </a:r>
            <a:r>
              <a:rPr lang="zh-CN" altLang="en-US" sz="3000" dirty="0"/>
              <a:t>（</a:t>
            </a:r>
            <a:r>
              <a:rPr lang="en-US" altLang="zh-CN" sz="3000" dirty="0"/>
              <a:t>Vulnerable code</a:t>
            </a:r>
            <a:r>
              <a:rPr lang="zh-CN" altLang="en-US" sz="3000" dirty="0"/>
              <a:t>）</a:t>
            </a:r>
            <a:endParaRPr lang="zh-CN" sz="3000" dirty="0"/>
          </a:p>
          <a:p>
            <a:pPr marL="457200" lvl="0" indent="-419100" algn="l">
              <a:spcBef>
                <a:spcPts val="0"/>
              </a:spcBef>
              <a:buSzPts val="3000"/>
              <a:buChar char="●"/>
            </a:pPr>
            <a:r>
              <a:rPr lang="zh-CN" altLang="en-US" sz="3000" dirty="0"/>
              <a:t>漏洞</a:t>
            </a:r>
            <a:r>
              <a:rPr lang="zh-CN" sz="3000" dirty="0"/>
              <a:t>利用的挑战</a:t>
            </a:r>
            <a:r>
              <a:rPr lang="zh-CN" altLang="en-US" sz="3000" dirty="0"/>
              <a:t>（</a:t>
            </a:r>
            <a:r>
              <a:rPr lang="en-US" altLang="zh-CN" sz="3000" dirty="0"/>
              <a:t>Challenges in exploitation</a:t>
            </a:r>
            <a:r>
              <a:rPr lang="zh-CN" altLang="en-US" sz="3000" dirty="0"/>
              <a:t>）</a:t>
            </a:r>
            <a:endParaRPr lang="zh-CN"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CN" sz="3000" dirty="0"/>
              <a:t>Shellcode</a:t>
            </a:r>
            <a:r>
              <a:rPr lang="zh-CN" altLang="en-US" sz="3000" dirty="0"/>
              <a:t>编写（攻击载荷）</a:t>
            </a:r>
            <a:endParaRPr lang="en-US" sz="3000" dirty="0"/>
          </a:p>
          <a:p>
            <a:pPr marL="457200" lvl="0" indent="-419100" algn="l">
              <a:spcBef>
                <a:spcPts val="0"/>
              </a:spcBef>
              <a:buSzPts val="3000"/>
              <a:buChar char="●"/>
            </a:pPr>
            <a:r>
              <a:rPr lang="zh-CN" altLang="en-US" sz="3000" dirty="0"/>
              <a:t>安全</a:t>
            </a:r>
            <a:r>
              <a:rPr lang="zh-CN" sz="3000" dirty="0"/>
              <a:t>应对措施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Shape 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328" y="1234062"/>
            <a:ext cx="5553417" cy="512915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hape 95"/>
          <p:cNvSpPr txBox="1">
            <a:spLocks noGrp="1"/>
          </p:cNvSpPr>
          <p:nvPr>
            <p:ph type="title"/>
          </p:nvPr>
        </p:nvSpPr>
        <p:spPr>
          <a:xfrm>
            <a:off x="696125" y="0"/>
            <a:ext cx="10515600" cy="102550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-27940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</a:pPr>
            <a:r>
              <a:rPr lang="zh-CN" altLang="en-US" dirty="0"/>
              <a:t>程序（进程）的内存布局</a:t>
            </a:r>
            <a:endParaRPr lang="zh-CN" dirty="0"/>
          </a:p>
        </p:txBody>
      </p:sp>
      <p:pic>
        <p:nvPicPr>
          <p:cNvPr id="96" name="Shape 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027" y="5897665"/>
            <a:ext cx="5316646" cy="96033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Shape 99"/>
          <p:cNvSpPr txBox="1"/>
          <p:nvPr/>
        </p:nvSpPr>
        <p:spPr>
          <a:xfrm>
            <a:off x="6222501" y="3600988"/>
            <a:ext cx="1530366" cy="10098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 tr</a:t>
            </a:r>
            <a:r>
              <a:rPr lang="zh-CN" sz="1800" dirty="0"/>
              <a:t>指向此处的内存。</a:t>
            </a:r>
            <a:endParaRPr lang="en-US" sz="1800" dirty="0"/>
          </a:p>
        </p:txBody>
      </p:sp>
      <p:sp>
        <p:nvSpPr>
          <p:cNvPr id="100" name="Shape 100"/>
          <p:cNvSpPr txBox="1"/>
          <p:nvPr/>
        </p:nvSpPr>
        <p:spPr>
          <a:xfrm>
            <a:off x="6107893" y="2126344"/>
            <a:ext cx="1015711" cy="373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 sz="1800" dirty="0" err="1"/>
              <a:t>a,b </a:t>
            </a:r>
            <a:r>
              <a:rPr lang="zh-CN" sz="1800" dirty="0"/>
              <a:t>, </a:t>
            </a:r>
            <a:r>
              <a:rPr lang="zh-CN" sz="1800" dirty="0" err="1"/>
              <a:t>ptr</a:t>
            </a:r>
            <a:endParaRPr lang="en-US" sz="1800" dirty="0"/>
          </a:p>
        </p:txBody>
      </p:sp>
      <p:sp>
        <p:nvSpPr>
          <p:cNvPr id="101" name="Shape 101"/>
          <p:cNvSpPr txBox="1"/>
          <p:nvPr/>
        </p:nvSpPr>
        <p:spPr>
          <a:xfrm>
            <a:off x="6792647" y="4393649"/>
            <a:ext cx="411000" cy="373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-US" altLang="zh-CN" sz="1800" dirty="0"/>
              <a:t>y</a:t>
            </a:r>
            <a:endParaRPr lang="zh-CN" sz="1800" dirty="0"/>
          </a:p>
        </p:txBody>
      </p:sp>
      <p:cxnSp>
        <p:nvCxnSpPr>
          <p:cNvPr id="103" name="Shape 103"/>
          <p:cNvCxnSpPr>
            <a:cxnSpLocks/>
          </p:cNvCxnSpPr>
          <p:nvPr/>
        </p:nvCxnSpPr>
        <p:spPr>
          <a:xfrm flipV="1">
            <a:off x="7189307" y="2363350"/>
            <a:ext cx="1003500" cy="1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4" name="Shape 104"/>
          <p:cNvCxnSpPr/>
          <p:nvPr/>
        </p:nvCxnSpPr>
        <p:spPr>
          <a:xfrm>
            <a:off x="7814568" y="4011798"/>
            <a:ext cx="426257" cy="1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" name="Shape 105"/>
          <p:cNvCxnSpPr>
            <a:cxnSpLocks/>
          </p:cNvCxnSpPr>
          <p:nvPr/>
        </p:nvCxnSpPr>
        <p:spPr>
          <a:xfrm rot="10800000" flipH="1">
            <a:off x="7192496" y="4649600"/>
            <a:ext cx="1040700" cy="3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6" name="Shape 106"/>
          <p:cNvCxnSpPr/>
          <p:nvPr/>
        </p:nvCxnSpPr>
        <p:spPr>
          <a:xfrm>
            <a:off x="5239367" y="5174838"/>
            <a:ext cx="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7" name="Shape 107"/>
          <p:cNvCxnSpPr/>
          <p:nvPr/>
        </p:nvCxnSpPr>
        <p:spPr>
          <a:xfrm rot="10800000" flipH="1">
            <a:off x="7200125" y="5171856"/>
            <a:ext cx="1040700" cy="3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97" name="Shape 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124" y="1025501"/>
            <a:ext cx="5267549" cy="495355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Shape 101"/>
          <p:cNvSpPr txBox="1"/>
          <p:nvPr/>
        </p:nvSpPr>
        <p:spPr>
          <a:xfrm>
            <a:off x="6792647" y="4964063"/>
            <a:ext cx="411000" cy="373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 sz="1800" dirty="0"/>
              <a:t>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title"/>
          </p:nvPr>
        </p:nvSpPr>
        <p:spPr>
          <a:xfrm>
            <a:off x="838200" y="245657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 dirty="0"/>
              <a:t>函数参数在栈中的顺序</a:t>
            </a:r>
          </a:p>
        </p:txBody>
      </p:sp>
      <p:sp>
        <p:nvSpPr>
          <p:cNvPr id="113" name="Shape 113"/>
          <p:cNvSpPr txBox="1">
            <a:spLocks noGrp="1"/>
          </p:cNvSpPr>
          <p:nvPr>
            <p:ph type="body" idx="1"/>
          </p:nvPr>
        </p:nvSpPr>
        <p:spPr>
          <a:xfrm>
            <a:off x="838200" y="1451900"/>
            <a:ext cx="10515600" cy="6271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17780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rgbClr val="0B5394"/>
              </a:solidFill>
            </a:endParaRPr>
          </a:p>
          <a:p>
            <a:pPr marL="228600" lvl="0" indent="-50800">
              <a:spcBef>
                <a:spcPts val="0"/>
              </a:spcBef>
              <a:buNone/>
            </a:pPr>
            <a:endParaRPr sz="1800"/>
          </a:p>
        </p:txBody>
      </p:sp>
      <p:pic>
        <p:nvPicPr>
          <p:cNvPr id="114" name="Shape 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064" y="1690813"/>
            <a:ext cx="4430187" cy="240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Shape 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75" y="4486258"/>
            <a:ext cx="1048702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/>
        </p:nvSpPr>
        <p:spPr>
          <a:xfrm>
            <a:off x="195492" y="1930950"/>
            <a:ext cx="4251247" cy="394970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21" name="Shape 1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函数调用栈</a:t>
            </a:r>
          </a:p>
        </p:txBody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270649" y="1928772"/>
            <a:ext cx="4251247" cy="3949703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 f(int a, int b)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x;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 main()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f(1,2);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printf("hello world");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pic>
        <p:nvPicPr>
          <p:cNvPr id="123" name="Shape 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7053" y="1202499"/>
            <a:ext cx="7594948" cy="4974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title"/>
          </p:nvPr>
        </p:nvSpPr>
        <p:spPr>
          <a:xfrm>
            <a:off x="288099" y="175225"/>
            <a:ext cx="11996700" cy="1372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函数嵌套调用形成调用链</a:t>
            </a:r>
            <a:endParaRPr lang="en-US" dirty="0"/>
          </a:p>
        </p:txBody>
      </p:sp>
      <p:pic>
        <p:nvPicPr>
          <p:cNvPr id="129" name="Shape 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151" y="1463552"/>
            <a:ext cx="6412961" cy="489342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Shape 130"/>
          <p:cNvSpPr txBox="1"/>
          <p:nvPr/>
        </p:nvSpPr>
        <p:spPr>
          <a:xfrm>
            <a:off x="6839325" y="2183400"/>
            <a:ext cx="4559400" cy="4307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 </a:t>
            </a:r>
            <a:r>
              <a:rPr lang="zh-CN" sz="2400" dirty="0"/>
              <a:t> </a:t>
            </a:r>
            <a:r>
              <a:rPr lang="en-US" altLang="zh-CN" sz="2400" dirty="0"/>
              <a:t>              main</a:t>
            </a:r>
            <a:r>
              <a:rPr lang="zh-CN" sz="2400" dirty="0"/>
              <a:t>（）</a:t>
            </a:r>
          </a:p>
          <a:p>
            <a:pPr marL="0" lvl="0" indent="0">
              <a:spcBef>
                <a:spcPts val="0"/>
              </a:spcBef>
              <a:buNone/>
            </a:pPr>
            <a:endParaRPr sz="2400" dirty="0"/>
          </a:p>
          <a:p>
            <a:pPr marL="0" lvl="0" indent="0">
              <a:spcBef>
                <a:spcPts val="0"/>
              </a:spcBef>
              <a:buNone/>
            </a:pPr>
            <a:r>
              <a:rPr lang="zh-CN" sz="2400" dirty="0"/>
              <a:t> 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sz="2400" dirty="0"/>
              <a:t>     </a:t>
            </a:r>
          </a:p>
          <a:p>
            <a:pPr marL="1371600" lvl="0" indent="0">
              <a:spcBef>
                <a:spcPts val="0"/>
              </a:spcBef>
              <a:buNone/>
            </a:pPr>
            <a:r>
              <a:rPr lang="zh-CN" sz="2400" dirty="0"/>
              <a:t>foo()</a:t>
            </a:r>
          </a:p>
          <a:p>
            <a:pPr marL="0" lvl="0" indent="0">
              <a:spcBef>
                <a:spcPts val="0"/>
              </a:spcBef>
              <a:buNone/>
            </a:pPr>
            <a:endParaRPr sz="2400" dirty="0"/>
          </a:p>
          <a:p>
            <a:pPr marL="0" lvl="0" indent="0">
              <a:spcBef>
                <a:spcPts val="0"/>
              </a:spcBef>
              <a:buNone/>
            </a:pPr>
            <a:r>
              <a:rPr lang="zh-CN" sz="2400" dirty="0"/>
              <a:t>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sz="2400" dirty="0"/>
              <a:t>     </a:t>
            </a:r>
          </a:p>
          <a:p>
            <a:pPr marL="1371600" lvl="0" indent="0" rtl="0">
              <a:spcBef>
                <a:spcPts val="0"/>
              </a:spcBef>
              <a:buNone/>
            </a:pPr>
            <a:r>
              <a:rPr lang="en-US" altLang="zh-CN" sz="2400" dirty="0"/>
              <a:t>bar</a:t>
            </a:r>
            <a:r>
              <a:rPr lang="zh-CN" sz="2400" dirty="0"/>
              <a:t>（）</a:t>
            </a:r>
          </a:p>
          <a:p>
            <a:pPr marL="1371600" lvl="0" indent="0">
              <a:spcBef>
                <a:spcPts val="0"/>
              </a:spcBef>
              <a:buNone/>
            </a:pPr>
            <a:endParaRPr sz="2400" dirty="0"/>
          </a:p>
        </p:txBody>
      </p:sp>
      <p:cxnSp>
        <p:nvCxnSpPr>
          <p:cNvPr id="131" name="Shape 131"/>
          <p:cNvCxnSpPr/>
          <p:nvPr/>
        </p:nvCxnSpPr>
        <p:spPr>
          <a:xfrm>
            <a:off x="8745350" y="2790525"/>
            <a:ext cx="0" cy="78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32" name="Shape 132"/>
          <p:cNvCxnSpPr/>
          <p:nvPr/>
        </p:nvCxnSpPr>
        <p:spPr>
          <a:xfrm>
            <a:off x="8745350" y="4210700"/>
            <a:ext cx="0" cy="82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存在漏洞</a:t>
            </a:r>
            <a:r>
              <a:rPr lang="zh-CN" dirty="0"/>
              <a:t>的程序</a:t>
            </a:r>
            <a:endParaRPr lang="en-US" dirty="0"/>
          </a:p>
        </p:txBody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685800" cy="4351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228600" lvl="0" indent="-50800">
              <a:spcBef>
                <a:spcPts val="0"/>
              </a:spcBef>
              <a:buNone/>
            </a:pPr>
            <a:endParaRPr/>
          </a:p>
        </p:txBody>
      </p:sp>
      <p:pic>
        <p:nvPicPr>
          <p:cNvPr id="139" name="Shape 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25" y="1825625"/>
            <a:ext cx="6685754" cy="4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Shape 140"/>
          <p:cNvSpPr/>
          <p:nvPr/>
        </p:nvSpPr>
        <p:spPr>
          <a:xfrm>
            <a:off x="1428525" y="4463675"/>
            <a:ext cx="1343400" cy="406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141" name="Shape 141"/>
          <p:cNvCxnSpPr/>
          <p:nvPr/>
        </p:nvCxnSpPr>
        <p:spPr>
          <a:xfrm rot="10800000">
            <a:off x="2877850" y="4629225"/>
            <a:ext cx="4489500" cy="21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2" name="Shape 142"/>
          <p:cNvSpPr txBox="1"/>
          <p:nvPr/>
        </p:nvSpPr>
        <p:spPr>
          <a:xfrm>
            <a:off x="7629903" y="1781450"/>
            <a:ext cx="4217497" cy="489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en-US" altLang="zh-CN" sz="1800" dirty="0" err="1"/>
              <a:t>badfile</a:t>
            </a:r>
            <a:r>
              <a:rPr lang="zh-CN" sz="1800" dirty="0"/>
              <a:t>文件中读取 300 字节的数据。</a:t>
            </a:r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sz="1800" dirty="0"/>
              <a:t>将文件内容存储到大小为 400 字节的</a:t>
            </a:r>
            <a:r>
              <a:rPr lang="zh-CN" sz="1800" dirty="0" err="1"/>
              <a:t>str变量中。</a:t>
            </a:r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sz="1800" dirty="0"/>
              <a:t>调用 foo 函数，并将</a:t>
            </a:r>
            <a:r>
              <a:rPr lang="zh-CN" sz="1800" dirty="0" err="1"/>
              <a:t>str</a:t>
            </a:r>
            <a:r>
              <a:rPr lang="zh-CN" sz="1800" dirty="0"/>
              <a:t>作为参数。</a:t>
            </a:r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0" lvl="0" indent="0">
              <a:spcBef>
                <a:spcPts val="0"/>
              </a:spcBef>
              <a:buNone/>
            </a:pPr>
            <a:r>
              <a:rPr lang="zh-CN" sz="1800" dirty="0"/>
              <a:t>注意： </a:t>
            </a:r>
            <a:r>
              <a:rPr lang="en-US" altLang="zh-CN" sz="1800" dirty="0"/>
              <a:t>b</a:t>
            </a:r>
            <a:r>
              <a:rPr lang="zh-CN" sz="1800" dirty="0"/>
              <a:t>adfile 文件由用户创建，因此其内容由用户控制。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>
            <a:spLocks noGrp="1"/>
          </p:cNvSpPr>
          <p:nvPr>
            <p:ph type="title"/>
          </p:nvPr>
        </p:nvSpPr>
        <p:spPr>
          <a:xfrm>
            <a:off x="838200" y="182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存在漏洞</a:t>
            </a:r>
            <a:r>
              <a:rPr lang="zh-CN" dirty="0"/>
              <a:t>的程序</a:t>
            </a:r>
          </a:p>
        </p:txBody>
      </p:sp>
      <p:pic>
        <p:nvPicPr>
          <p:cNvPr id="149" name="Shape 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686725"/>
            <a:ext cx="7198599" cy="50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Shape 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8598" y="2336734"/>
            <a:ext cx="5069700" cy="417901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Shape 151"/>
          <p:cNvSpPr/>
          <p:nvPr/>
        </p:nvSpPr>
        <p:spPr>
          <a:xfrm>
            <a:off x="2889310" y="5485342"/>
            <a:ext cx="895800" cy="123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缓冲区溢出的后果</a:t>
            </a:r>
          </a:p>
        </p:txBody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838200" y="1770392"/>
            <a:ext cx="10515600" cy="4351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228600" lvl="0" indent="-50800">
              <a:spcBef>
                <a:spcPts val="0"/>
              </a:spcBef>
              <a:buNone/>
            </a:pPr>
            <a:r>
              <a:rPr lang="zh-CN" dirty="0"/>
              <a:t>将</a:t>
            </a:r>
            <a:r>
              <a:rPr lang="zh-CN" altLang="en-US" dirty="0"/>
              <a:t>函数的返回</a:t>
            </a:r>
            <a:r>
              <a:rPr lang="zh-CN" dirty="0"/>
              <a:t>地址替换为随机地址可能</a:t>
            </a:r>
            <a:r>
              <a:rPr lang="zh-CN" altLang="en-US" dirty="0"/>
              <a:t>会</a:t>
            </a:r>
            <a:r>
              <a:rPr lang="zh-CN" dirty="0"/>
              <a:t>指向：</a:t>
            </a:r>
          </a:p>
          <a:p>
            <a:pPr marL="228600" lvl="0" indent="-50800">
              <a:spcBef>
                <a:spcPts val="0"/>
              </a:spcBef>
              <a:buNone/>
            </a:pPr>
            <a:endParaRPr dirty="0"/>
          </a:p>
          <a:p>
            <a: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zh-CN" dirty="0"/>
              <a:t>无效指令</a:t>
            </a:r>
          </a:p>
          <a:p>
            <a: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zh-CN" dirty="0"/>
              <a:t>不存在的地址</a:t>
            </a:r>
          </a:p>
          <a:p>
            <a: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zh-CN" dirty="0"/>
              <a:t>访问违规</a:t>
            </a:r>
          </a:p>
          <a:p>
            <a:pPr marL="457200" lvl="0" indent="-406400">
              <a:spcBef>
                <a:spcPts val="0"/>
              </a:spcBef>
              <a:buClr>
                <a:srgbClr val="FF0000"/>
              </a:buClr>
              <a:buSzPts val="2800"/>
              <a:buChar char="•"/>
            </a:pPr>
            <a:r>
              <a:rPr lang="zh-CN" dirty="0">
                <a:solidFill>
                  <a:srgbClr val="FF0000"/>
                </a:solidFill>
              </a:rPr>
              <a:t>攻击者的代码</a:t>
            </a:r>
            <a:r>
              <a:rPr lang="en-US" altLang="zh-CN" dirty="0">
                <a:solidFill>
                  <a:srgbClr val="FF0000"/>
                </a:solidFill>
              </a:rPr>
              <a:t>                  </a:t>
            </a:r>
            <a:r>
              <a:rPr lang="zh-CN" dirty="0">
                <a:solidFill>
                  <a:srgbClr val="FF0000"/>
                </a:solidFill>
              </a:rPr>
              <a:t>用于</a:t>
            </a:r>
            <a:r>
              <a:rPr lang="zh-CN" altLang="en-US" dirty="0">
                <a:solidFill>
                  <a:srgbClr val="FF0000"/>
                </a:solidFill>
              </a:rPr>
              <a:t>提权</a:t>
            </a:r>
            <a:r>
              <a:rPr lang="zh-CN" dirty="0">
                <a:solidFill>
                  <a:srgbClr val="FF0000"/>
                </a:solidFill>
              </a:rPr>
              <a:t>的恶意代码</a:t>
            </a:r>
          </a:p>
          <a:p>
            <a:pPr marL="228600" lvl="0" indent="-50800">
              <a:spcBef>
                <a:spcPts val="0"/>
              </a:spcBef>
              <a:buNone/>
            </a:pPr>
            <a:endParaRPr dirty="0"/>
          </a:p>
          <a:p>
            <a:pPr marL="177800" lvl="0" indent="0" rtl="0">
              <a:spcBef>
                <a:spcPts val="0"/>
              </a:spcBef>
              <a:buNone/>
            </a:pPr>
            <a:endParaRPr dirty="0"/>
          </a:p>
        </p:txBody>
      </p:sp>
      <p:cxnSp>
        <p:nvCxnSpPr>
          <p:cNvPr id="158" name="Shape 158"/>
          <p:cNvCxnSpPr/>
          <p:nvPr/>
        </p:nvCxnSpPr>
        <p:spPr>
          <a:xfrm>
            <a:off x="3626843" y="3945992"/>
            <a:ext cx="13080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838200" y="2156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恶意代码</a:t>
            </a:r>
            <a:r>
              <a:rPr lang="zh-CN" altLang="en-US" dirty="0"/>
              <a:t>如何被执行</a:t>
            </a:r>
            <a:r>
              <a:rPr lang="zh-CN" dirty="0"/>
              <a:t>​​</a:t>
            </a:r>
            <a:endParaRPr lang="en-US" dirty="0"/>
          </a:p>
        </p:txBody>
      </p:sp>
      <p:pic>
        <p:nvPicPr>
          <p:cNvPr id="165" name="Shape 165"/>
          <p:cNvPicPr preferRelativeResize="0"/>
          <p:nvPr/>
        </p:nvPicPr>
        <p:blipFill rotWithShape="1">
          <a:blip r:embed="rId3">
            <a:alphaModFix/>
          </a:blip>
          <a:srcRect l="13855" t="5774" r="1787" b="3699"/>
          <a:stretch>
            <a:fillRect/>
          </a:stretch>
        </p:blipFill>
        <p:spPr>
          <a:xfrm>
            <a:off x="1265129" y="1541325"/>
            <a:ext cx="9457151" cy="5277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48">
            <a:extLst>
              <a:ext uri="{FF2B5EF4-FFF2-40B4-BE49-F238E27FC236}">
                <a16:creationId xmlns:a16="http://schemas.microsoft.com/office/drawing/2014/main" id="{3830EEF5-F90E-6AA2-965E-544C634EC1C5}"/>
              </a:ext>
            </a:extLst>
          </p:cNvPr>
          <p:cNvSpPr txBox="1">
            <a:spLocks noGrp="1"/>
          </p:cNvSpPr>
          <p:nvPr/>
        </p:nvSpPr>
        <p:spPr>
          <a:xfrm>
            <a:off x="462138" y="1690825"/>
            <a:ext cx="10821600" cy="390005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65150" lvl="0" indent="-514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+mj-lt"/>
              <a:buAutoNum type="arabicPeriod"/>
            </a:pPr>
            <a:r>
              <a:rPr lang="zh-CN" altLang="en-US" dirty="0">
                <a:latin typeface="Arial"/>
                <a:ea typeface="Arial"/>
                <a:cs typeface="Arial"/>
                <a:sym typeface="Arial"/>
              </a:rPr>
              <a:t>关闭地址随机化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（</a:t>
            </a:r>
            <a:r>
              <a:rPr lang="zh-CN" altLang="en-US" dirty="0">
                <a:latin typeface="Arial"/>
                <a:ea typeface="Arial"/>
                <a:cs typeface="Arial"/>
                <a:sym typeface="Arial"/>
              </a:rPr>
              <a:t>一种防止缓冲溢出攻击的保护机制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）</a:t>
            </a:r>
            <a:endParaRPr lang="en-US" altLang="zh-CN" dirty="0">
              <a:latin typeface="Arial"/>
              <a:ea typeface="Arial"/>
              <a:cs typeface="Arial"/>
              <a:sym typeface="Arial"/>
            </a:endParaRPr>
          </a:p>
          <a:p>
            <a:pPr marL="565150" lvl="0" indent="-514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+mj-lt"/>
              <a:buAutoNum type="arabicPeriod"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565150" lvl="0" indent="-514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+mj-lt"/>
              <a:buAutoNum type="arabicPeriod"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565150" lvl="0" indent="-514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+mj-lt"/>
              <a:buAutoNum type="arabicPeriod"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565150" lvl="0" indent="-514350">
              <a:spcBef>
                <a:spcPts val="0"/>
              </a:spcBef>
              <a:spcAft>
                <a:spcPts val="0"/>
              </a:spcAft>
              <a:buSzPts val="2800"/>
              <a:buFont typeface="+mj-lt"/>
              <a:buAutoNum type="arabicPeriod"/>
            </a:pPr>
            <a:r>
              <a:rPr lang="zh-CN" altLang="en-US" dirty="0">
                <a:latin typeface="Arial"/>
                <a:ea typeface="Arial"/>
                <a:cs typeface="Arial"/>
                <a:sym typeface="Arial"/>
              </a:rPr>
              <a:t>把</a:t>
            </a:r>
            <a:r>
              <a:rPr lang="en-US" altLang="zh-CN" dirty="0" err="1">
                <a:latin typeface="Arial"/>
                <a:ea typeface="Arial"/>
                <a:cs typeface="Arial"/>
                <a:sym typeface="Arial"/>
              </a:rPr>
              <a:t>stack.c</a:t>
            </a:r>
            <a:r>
              <a:rPr lang="zh-CN" altLang="en-US" dirty="0">
                <a:latin typeface="Arial"/>
                <a:ea typeface="Arial"/>
                <a:cs typeface="Arial"/>
                <a:sym typeface="Arial"/>
              </a:rPr>
              <a:t>程序编译后，转换为一个</a:t>
            </a:r>
            <a:r>
              <a:rPr lang="en-US" altLang="zh-CN" dirty="0">
                <a:latin typeface="Arial"/>
                <a:ea typeface="Arial"/>
                <a:cs typeface="Arial"/>
                <a:sym typeface="Arial"/>
              </a:rPr>
              <a:t>Set-UID</a:t>
            </a:r>
            <a:r>
              <a:rPr lang="zh-CN" altLang="en-US" dirty="0">
                <a:latin typeface="Arial"/>
                <a:ea typeface="Arial"/>
                <a:cs typeface="Arial"/>
                <a:sym typeface="Arial"/>
              </a:rPr>
              <a:t>程序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Shape 1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运行</a:t>
            </a:r>
            <a:r>
              <a:rPr lang="zh-CN" dirty="0"/>
              <a:t>环境设置</a:t>
            </a:r>
          </a:p>
        </p:txBody>
      </p:sp>
      <p:pic>
        <p:nvPicPr>
          <p:cNvPr id="171" name="Shape 171"/>
          <p:cNvPicPr preferRelativeResize="0">
            <a:picLocks/>
          </p:cNvPicPr>
          <p:nvPr/>
        </p:nvPicPr>
        <p:blipFill>
          <a:blip r:embed="rId3">
            <a:alphaModFix/>
          </a:blip>
          <a:srcRect l="5923" t="34600" r="8779" b="43740"/>
          <a:stretch>
            <a:fillRect/>
          </a:stretch>
        </p:blipFill>
        <p:spPr>
          <a:xfrm>
            <a:off x="1159877" y="4148362"/>
            <a:ext cx="9278178" cy="1203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Shape 171">
            <a:extLst>
              <a:ext uri="{FF2B5EF4-FFF2-40B4-BE49-F238E27FC236}">
                <a16:creationId xmlns:a16="http://schemas.microsoft.com/office/drawing/2014/main" id="{1A7C1D42-5CDA-63CC-BDFF-64AA389E6E0A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alphaModFix/>
          </a:blip>
          <a:srcRect l="6146" t="12080" r="26764" b="80616"/>
          <a:stretch>
            <a:fillRect/>
          </a:stretch>
        </p:blipFill>
        <p:spPr>
          <a:xfrm>
            <a:off x="1079263" y="2605350"/>
            <a:ext cx="7721070" cy="421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title"/>
          </p:nvPr>
        </p:nvSpPr>
        <p:spPr>
          <a:xfrm>
            <a:off x="750925" y="73863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创建</a:t>
            </a:r>
            <a:r>
              <a:rPr lang="zh-CN" altLang="en-US" dirty="0"/>
              <a:t>攻击载荷</a:t>
            </a:r>
            <a:r>
              <a:rPr lang="zh-CN" dirty="0"/>
              <a:t>（ badfile ）</a:t>
            </a:r>
            <a:endParaRPr lang="en-US" dirty="0"/>
          </a:p>
        </p:txBody>
      </p:sp>
      <p:sp>
        <p:nvSpPr>
          <p:cNvPr id="177" name="Shape 177"/>
          <p:cNvSpPr txBox="1">
            <a:spLocks noGrp="1"/>
          </p:cNvSpPr>
          <p:nvPr>
            <p:ph type="body" idx="1"/>
          </p:nvPr>
        </p:nvSpPr>
        <p:spPr>
          <a:xfrm>
            <a:off x="261625" y="1370350"/>
            <a:ext cx="11412300" cy="5226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228600" lvl="0" indent="-50800">
              <a:spcBef>
                <a:spcPts val="0"/>
              </a:spcBef>
              <a:buNone/>
            </a:pPr>
            <a:r>
              <a:rPr lang="zh-CN" sz="2400" b="1" dirty="0"/>
              <a:t>任务 A：</a:t>
            </a:r>
            <a:r>
              <a:rPr lang="zh-CN" sz="2400" dirty="0"/>
              <a:t>找出缓冲区基址与返回地址之间的偏移</a:t>
            </a:r>
            <a:r>
              <a:rPr lang="zh-CN" altLang="en-US" sz="2400" dirty="0"/>
              <a:t>量</a:t>
            </a:r>
            <a:r>
              <a:rPr lang="zh-CN" sz="2400" dirty="0"/>
              <a:t>。</a:t>
            </a:r>
          </a:p>
          <a:p>
            <a:pPr marL="228600" lvl="0" indent="-50800">
              <a:spcBef>
                <a:spcPts val="0"/>
              </a:spcBef>
              <a:buNone/>
            </a:pPr>
            <a:r>
              <a:rPr lang="zh-CN" sz="2400" b="1" dirty="0"/>
              <a:t>任务 B：</a:t>
            </a:r>
            <a:r>
              <a:rPr lang="zh-CN" sz="2400" dirty="0"/>
              <a:t>找到放置 shellcode </a:t>
            </a:r>
            <a:r>
              <a:rPr lang="zh-CN" altLang="en-US" sz="2400" dirty="0"/>
              <a:t>攻击载荷</a:t>
            </a:r>
            <a:r>
              <a:rPr lang="zh-CN" sz="2400" dirty="0"/>
              <a:t>的地址。</a:t>
            </a:r>
          </a:p>
          <a:p>
            <a:pPr marL="228600" lvl="0" indent="-50800">
              <a:spcBef>
                <a:spcPts val="0"/>
              </a:spcBef>
              <a:buNone/>
            </a:pPr>
            <a:endParaRPr sz="2400" dirty="0"/>
          </a:p>
          <a:p>
            <a:pPr marL="0" lvl="0" indent="0" rtl="0">
              <a:spcBef>
                <a:spcPts val="0"/>
              </a:spcBef>
              <a:buNone/>
            </a:pPr>
            <a:endParaRPr sz="2400" dirty="0"/>
          </a:p>
          <a:p>
            <a:pPr marL="0" lvl="0" indent="0" rtl="0">
              <a:spcBef>
                <a:spcPts val="0"/>
              </a:spcBef>
              <a:buNone/>
            </a:pPr>
            <a:endParaRPr sz="2400" dirty="0"/>
          </a:p>
          <a:p>
            <a:pPr marL="0" lvl="0" indent="0">
              <a:spcBef>
                <a:spcPts val="0"/>
              </a:spcBef>
              <a:buNone/>
            </a:pPr>
            <a:endParaRPr sz="2400" dirty="0"/>
          </a:p>
          <a:p>
            <a:pPr marL="0" lvl="0" indent="0">
              <a:spcBef>
                <a:spcPts val="0"/>
              </a:spcBef>
              <a:buNone/>
            </a:pPr>
            <a:endParaRPr sz="2400" dirty="0"/>
          </a:p>
        </p:txBody>
      </p:sp>
      <p:pic>
        <p:nvPicPr>
          <p:cNvPr id="178" name="Shape 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450" y="3350000"/>
            <a:ext cx="6092225" cy="2336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Shape 1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1675" y="2070325"/>
            <a:ext cx="4644850" cy="45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Shape 1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84800" y="3452999"/>
            <a:ext cx="1548475" cy="1061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Shape 181"/>
          <p:cNvCxnSpPr/>
          <p:nvPr/>
        </p:nvCxnSpPr>
        <p:spPr>
          <a:xfrm rot="10800000">
            <a:off x="10210400" y="3983663"/>
            <a:ext cx="37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title"/>
          </p:nvPr>
        </p:nvSpPr>
        <p:spPr>
          <a:xfrm>
            <a:off x="764557" y="62707"/>
            <a:ext cx="10515600" cy="101739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228600" lvl="0" indent="-120650" rtl="0">
              <a:spcBef>
                <a:spcPts val="100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任务 A：缓冲区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69" y="1124848"/>
            <a:ext cx="8772354" cy="3091211"/>
          </a:xfrm>
          <a:prstGeom prst="rect">
            <a:avLst/>
          </a:prstGeom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27" y="4531353"/>
            <a:ext cx="4839832" cy="20535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19555" y="5884833"/>
            <a:ext cx="47243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000" dirty="0"/>
              <a:t>因此，距离为 108 + 4 = </a:t>
            </a:r>
            <a:r>
              <a:rPr lang="zh-CN" sz="2000" b="1" dirty="0">
                <a:solidFill>
                  <a:srgbClr val="FF0000"/>
                </a:solidFill>
              </a:rPr>
              <a:t>112</a:t>
            </a:r>
            <a:endParaRPr lang="en-US" sz="200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2756207" y="6084888"/>
            <a:ext cx="3263348" cy="7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任务 B：</a:t>
            </a:r>
            <a:r>
              <a:rPr lang="zh-CN" altLang="en-US" dirty="0">
                <a:latin typeface="Arial"/>
                <a:ea typeface="Arial"/>
                <a:cs typeface="Arial"/>
                <a:sym typeface="Arial"/>
              </a:rPr>
              <a:t>攻击载荷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代码的地址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Shape 19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191900" cy="4669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0"/>
              </a:spcBef>
              <a:buSzPts val="2400"/>
              <a:buChar char="•"/>
            </a:pPr>
            <a:r>
              <a:rPr lang="zh-CN" sz="2400" dirty="0">
                <a:latin typeface="Arial"/>
                <a:ea typeface="Arial"/>
                <a:cs typeface="Arial"/>
                <a:sym typeface="Arial"/>
              </a:rPr>
              <a:t>使用 gdb 进行调查</a:t>
            </a:r>
          </a:p>
          <a:p>
            <a:pPr marL="0" lvl="0" indent="0" rtl="0">
              <a:spcBef>
                <a:spcPts val="0"/>
              </a:spcBef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rtl="0">
              <a:spcBef>
                <a:spcPts val="0"/>
              </a:spcBef>
              <a:buSzPts val="2400"/>
              <a:buChar char="•"/>
            </a:pPr>
            <a:r>
              <a:rPr lang="zh-CN" sz="2400" dirty="0">
                <a:latin typeface="Arial"/>
                <a:ea typeface="Arial"/>
                <a:cs typeface="Arial"/>
                <a:sym typeface="Arial"/>
              </a:rPr>
              <a:t>恶意代码被写入到 badfile 文件中，该文件作为参数传递给存在漏洞的函数。</a:t>
            </a:r>
          </a:p>
          <a:p>
            <a:pPr marL="0" lvl="0" indent="0" rtl="0">
              <a:spcBef>
                <a:spcPts val="0"/>
              </a:spcBef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rtl="0">
              <a:spcBef>
                <a:spcPts val="0"/>
              </a:spcBef>
              <a:buSzPts val="2400"/>
              <a:buChar char="•"/>
            </a:pPr>
            <a:r>
              <a:rPr lang="zh-CN" sz="2400" dirty="0">
                <a:latin typeface="Arial"/>
                <a:ea typeface="Arial"/>
                <a:cs typeface="Arial"/>
                <a:sym typeface="Arial"/>
              </a:rPr>
              <a:t>使用 gdb，我们可以找到函数参数</a:t>
            </a:r>
            <a:r>
              <a:rPr lang="en-US" altLang="zh-CN" sz="2400" dirty="0">
                <a:latin typeface="Arial"/>
                <a:ea typeface="Arial"/>
                <a:cs typeface="Arial"/>
                <a:sym typeface="Arial"/>
              </a:rPr>
              <a:t>al</a:t>
            </a:r>
            <a:r>
              <a:rPr lang="zh-CN" sz="2400" dirty="0">
                <a:latin typeface="Arial"/>
                <a:ea typeface="Arial"/>
                <a:cs typeface="Arial"/>
                <a:sym typeface="Arial"/>
              </a:rPr>
              <a:t>的地址。</a:t>
            </a:r>
          </a:p>
        </p:txBody>
      </p:sp>
      <p:pic>
        <p:nvPicPr>
          <p:cNvPr id="195" name="Shape 1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400" y="1900788"/>
            <a:ext cx="6410325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Shape 1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7400" y="4644425"/>
            <a:ext cx="6410326" cy="185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>
                <a:latin typeface="+mj-lt"/>
              </a:rPr>
              <a:t>任务 B：恶意代码的地址</a:t>
            </a:r>
            <a:endParaRPr lang="en-US" dirty="0">
              <a:latin typeface="+mj-lt"/>
            </a:endParaRPr>
          </a:p>
        </p:txBody>
      </p:sp>
      <p:pic>
        <p:nvPicPr>
          <p:cNvPr id="202" name="Shape 2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3174" y="2131447"/>
            <a:ext cx="7259968" cy="436142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Shape 203"/>
          <p:cNvSpPr txBox="1">
            <a:spLocks noGrp="1"/>
          </p:cNvSpPr>
          <p:nvPr>
            <p:ph type="body" idx="1"/>
          </p:nvPr>
        </p:nvSpPr>
        <p:spPr>
          <a:xfrm>
            <a:off x="355942" y="1864200"/>
            <a:ext cx="4964762" cy="4776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50800" lvl="0" indent="0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20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rtl="0">
              <a:spcBef>
                <a:spcPts val="0"/>
              </a:spcBef>
              <a:buSzPts val="2800"/>
              <a:buChar char="•"/>
            </a:pPr>
            <a:r>
              <a:rPr lang="zh-CN" sz="2000" dirty="0">
                <a:latin typeface="Arial"/>
                <a:ea typeface="Arial"/>
                <a:cs typeface="Arial"/>
                <a:sym typeface="Arial"/>
              </a:rPr>
              <a:t>为了增加跳转到正确地址的几率，我们可以用 NOP 指令填充</a:t>
            </a:r>
            <a:r>
              <a:rPr lang="zh-CN" sz="2000" dirty="0" err="1">
                <a:latin typeface="Arial"/>
                <a:ea typeface="Arial"/>
                <a:cs typeface="Arial"/>
                <a:sym typeface="Arial"/>
              </a:rPr>
              <a:t>恶意文件</a:t>
            </a:r>
            <a:r>
              <a:rPr lang="zh-CN" sz="2000" dirty="0">
                <a:latin typeface="Arial"/>
                <a:ea typeface="Arial"/>
                <a:cs typeface="Arial"/>
                <a:sym typeface="Arial"/>
              </a:rPr>
              <a:t>，并将恶意代码放在缓冲区的末尾。</a:t>
            </a:r>
          </a:p>
          <a:p>
            <a:pPr marL="0" lvl="0" indent="0" rtl="0">
              <a:spcBef>
                <a:spcPts val="0"/>
              </a:spcBef>
              <a:buNone/>
            </a:pPr>
            <a:endParaRPr lang="en-US" sz="2000" i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buNone/>
            </a:pPr>
            <a:r>
              <a:rPr lang="zh-CN" sz="2000" i="1" dirty="0">
                <a:latin typeface="Arial"/>
                <a:ea typeface="Arial"/>
                <a:cs typeface="Arial"/>
                <a:sym typeface="Arial"/>
              </a:rPr>
              <a:t>注意：NOP - 不执行任何操作的</a:t>
            </a:r>
            <a:r>
              <a:rPr lang="en-US" altLang="zh-CN" sz="2000" i="1" dirty="0" err="1">
                <a:latin typeface="Arial"/>
                <a:ea typeface="Arial"/>
                <a:cs typeface="Arial"/>
                <a:sym typeface="Arial"/>
              </a:rPr>
              <a:t>cpu</a:t>
            </a:r>
            <a:r>
              <a:rPr lang="zh-CN" sz="2000" i="1" dirty="0">
                <a:latin typeface="Arial"/>
                <a:ea typeface="Arial"/>
                <a:cs typeface="Arial"/>
                <a:sym typeface="Arial"/>
              </a:rPr>
              <a:t>指令。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dirty="0"/>
              <a:t>adfile</a:t>
            </a:r>
            <a:r>
              <a:rPr lang="zh-CN" altLang="en-US" dirty="0"/>
              <a:t>文件内容</a:t>
            </a:r>
            <a:endParaRPr lang="en-US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130" y="1673914"/>
            <a:ext cx="8064399" cy="473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267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00" y="1440875"/>
            <a:ext cx="9894830" cy="4657024"/>
          </a:xfrm>
          <a:prstGeom prst="rect">
            <a:avLst/>
          </a:prstGeom>
        </p:spPr>
      </p:pic>
      <p:sp>
        <p:nvSpPr>
          <p:cNvPr id="208" name="Shape 208"/>
          <p:cNvSpPr txBox="1">
            <a:spLocks noGrp="1"/>
          </p:cNvSpPr>
          <p:nvPr>
            <p:ph type="title"/>
          </p:nvPr>
        </p:nvSpPr>
        <p:spPr>
          <a:xfrm>
            <a:off x="775700" y="11517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攻击载荷</a:t>
            </a:r>
            <a:r>
              <a:rPr lang="zh-CN" dirty="0"/>
              <a:t>文件构造</a:t>
            </a:r>
            <a:r>
              <a:rPr lang="zh-CN" altLang="en-US" dirty="0"/>
              <a:t>（用</a:t>
            </a:r>
            <a:r>
              <a:rPr lang="en-US" altLang="zh-CN" dirty="0"/>
              <a:t>Python</a:t>
            </a:r>
            <a:r>
              <a:rPr lang="zh-CN" altLang="en-US" dirty="0"/>
              <a:t>编写脚本）</a:t>
            </a:r>
            <a:endParaRPr lang="zh-CN" dirty="0"/>
          </a:p>
        </p:txBody>
      </p:sp>
      <p:cxnSp>
        <p:nvCxnSpPr>
          <p:cNvPr id="210" name="Shape 210"/>
          <p:cNvCxnSpPr>
            <a:stCxn id="211" idx="2"/>
          </p:cNvCxnSpPr>
          <p:nvPr/>
        </p:nvCxnSpPr>
        <p:spPr>
          <a:xfrm>
            <a:off x="3369375" y="432600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2" name="Shape 212"/>
          <p:cNvCxnSpPr>
            <a:stCxn id="211" idx="2"/>
            <a:endCxn id="211" idx="2"/>
          </p:cNvCxnSpPr>
          <p:nvPr/>
        </p:nvCxnSpPr>
        <p:spPr>
          <a:xfrm>
            <a:off x="3369375" y="432600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函数返回</a:t>
            </a:r>
            <a:r>
              <a:rPr lang="zh-CN" dirty="0"/>
              <a:t>地址</a:t>
            </a:r>
            <a:r>
              <a:rPr lang="zh-CN" altLang="en-US" dirty="0"/>
              <a:t>改写为一个</a:t>
            </a:r>
            <a:r>
              <a:rPr lang="zh-CN" dirty="0"/>
              <a:t>新地址</a:t>
            </a:r>
          </a:p>
        </p:txBody>
      </p:sp>
      <p:sp>
        <p:nvSpPr>
          <p:cNvPr id="227" name="Shape 2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228600" lvl="0" indent="-50800">
              <a:spcBef>
                <a:spcPts val="0"/>
              </a:spcBef>
              <a:buNone/>
            </a:pPr>
            <a:r>
              <a:rPr lang="zh-CN" b="1" dirty="0">
                <a:latin typeface="Arial"/>
                <a:ea typeface="Arial"/>
                <a:cs typeface="Arial"/>
                <a:sym typeface="Arial"/>
              </a:rPr>
              <a:t>注意事项：</a:t>
            </a:r>
          </a:p>
          <a:p>
            <a:pPr marL="228600" lvl="0" indent="-50800">
              <a:spcBef>
                <a:spcPts val="0"/>
              </a:spcBef>
              <a:buNone/>
            </a:pPr>
            <a:endParaRPr lang="en-US" b="1" dirty="0">
              <a:latin typeface="Arial"/>
              <a:ea typeface="Arial"/>
              <a:cs typeface="Arial"/>
              <a:sym typeface="Arial"/>
            </a:endParaRPr>
          </a:p>
          <a:p>
            <a:pPr marL="177800" indent="0">
              <a:spcBef>
                <a:spcPts val="0"/>
              </a:spcBef>
              <a:buNone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函数栈返回地址中的新</a:t>
            </a:r>
            <a:r>
              <a:rPr lang="zh-CN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地址 [ 0xbffff188 + nnn ] 的任何字节中都不应包含零，否则</a:t>
            </a:r>
            <a:r>
              <a:rPr lang="en-US" altLang="zh-CN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bad</a:t>
            </a:r>
            <a:r>
              <a:rPr lang="zh-CN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文件将包含零，导致strcpy ()结束复制。</a:t>
            </a: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>
              <a:spcBef>
                <a:spcPts val="0"/>
              </a:spcBef>
            </a:pP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177800" indent="0">
              <a:spcBef>
                <a:spcPts val="0"/>
              </a:spcBef>
              <a:buNone/>
            </a:pPr>
            <a:r>
              <a:rPr lang="zh-CN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例如</a:t>
            </a:r>
            <a:r>
              <a:rPr lang="zh-CN" i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， 0xbffff188 + 0x78 = 0xbffff2</a:t>
            </a:r>
            <a:r>
              <a:rPr 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00</a:t>
            </a:r>
            <a:r>
              <a:rPr lang="zh-CN" i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，</a:t>
            </a:r>
            <a:r>
              <a:rPr lang="zh-CN" alt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这个地址</a:t>
            </a:r>
            <a:r>
              <a:rPr lang="zh-CN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最后一个字节包含零，</a:t>
            </a:r>
            <a:r>
              <a:rPr lang="zh-CN" alt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会</a:t>
            </a:r>
            <a:r>
              <a:rPr lang="zh-CN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导致</a:t>
            </a:r>
            <a:r>
              <a:rPr lang="en-US" altLang="zh-CN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strcpy</a:t>
            </a:r>
            <a:r>
              <a:rPr lang="zh-CN" alt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函数</a:t>
            </a:r>
            <a:r>
              <a:rPr lang="zh-CN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复制</a:t>
            </a:r>
            <a:r>
              <a:rPr lang="zh-CN" alt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提前</a:t>
            </a:r>
            <a:r>
              <a:rPr lang="zh-CN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结束。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执行结果</a:t>
            </a:r>
          </a:p>
        </p:txBody>
      </p:sp>
      <p:sp>
        <p:nvSpPr>
          <p:cNvPr id="233" name="Shape 233"/>
          <p:cNvSpPr txBox="1">
            <a:spLocks noGrp="1"/>
          </p:cNvSpPr>
          <p:nvPr>
            <p:ph type="body" idx="1"/>
          </p:nvPr>
        </p:nvSpPr>
        <p:spPr>
          <a:xfrm>
            <a:off x="353775" y="1825625"/>
            <a:ext cx="11437200" cy="4781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406400" rtl="0">
              <a:spcBef>
                <a:spcPts val="0"/>
              </a:spcBef>
              <a:buSzPts val="2800"/>
              <a:buChar char="•"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在禁用所有防御措施的情况下编译存在漏洞的代码。</a:t>
            </a:r>
          </a:p>
          <a:p>
            <a:pPr marL="0" lvl="0" indent="0" rtl="0">
              <a:spcBef>
                <a:spcPts val="0"/>
              </a:spcBef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buNone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>
              <a:spcBef>
                <a:spcPts val="0"/>
              </a:spcBef>
              <a:buSzPts val="2800"/>
              <a:buFont typeface="Arial"/>
              <a:buChar char="•"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>
              <a:spcBef>
                <a:spcPts val="0"/>
              </a:spcBef>
              <a:buSzPts val="2800"/>
              <a:buFont typeface="Arial"/>
              <a:buChar char="•"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执行漏洞利用代码和栈</a:t>
            </a:r>
            <a:r>
              <a:rPr lang="zh-CN" altLang="en-US" dirty="0">
                <a:latin typeface="Arial"/>
                <a:ea typeface="Arial"/>
                <a:cs typeface="Arial"/>
                <a:sym typeface="Arial"/>
              </a:rPr>
              <a:t>上的</a:t>
            </a:r>
            <a:r>
              <a:rPr lang="en-US" altLang="zh-CN" dirty="0">
                <a:latin typeface="Arial"/>
                <a:ea typeface="Arial"/>
                <a:cs typeface="Arial"/>
                <a:sym typeface="Arial"/>
              </a:rPr>
              <a:t>shellcode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代码。</a:t>
            </a:r>
          </a:p>
          <a:p>
            <a:pPr marL="177800" lvl="0" indent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235" name="Shape 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99" y="2524066"/>
            <a:ext cx="10760565" cy="1121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99" y="4405569"/>
            <a:ext cx="10046608" cy="19461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关于</a:t>
            </a:r>
            <a:r>
              <a:rPr lang="zh-CN" altLang="en-US" dirty="0"/>
              <a:t>现有</a:t>
            </a:r>
            <a:r>
              <a:rPr lang="zh-CN" dirty="0"/>
              <a:t>的</a:t>
            </a:r>
            <a:r>
              <a:rPr lang="zh-CN" altLang="en-US" dirty="0"/>
              <a:t>安全防御措施的</a:t>
            </a:r>
            <a:r>
              <a:rPr lang="zh-CN" dirty="0"/>
              <a:t>说明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96875" indent="-219075"/>
            <a:r>
              <a:rPr lang="zh-CN" dirty="0"/>
              <a:t>在 Ubuntu 16.04 上，/bin/sh指向 /bin/dash，而 /bin/dash 具有一种</a:t>
            </a:r>
            <a:r>
              <a:rPr lang="zh-CN" altLang="en-US" dirty="0"/>
              <a:t>安全防御</a:t>
            </a:r>
            <a:r>
              <a:rPr lang="zh-CN" dirty="0"/>
              <a:t>措施。</a:t>
            </a:r>
          </a:p>
          <a:p>
            <a:pPr lvl="1"/>
            <a:r>
              <a:rPr lang="zh-CN" dirty="0"/>
              <a:t> 当在</a:t>
            </a:r>
            <a:r>
              <a:rPr lang="zh-CN" dirty="0" err="1"/>
              <a:t>setuid</a:t>
            </a:r>
            <a:r>
              <a:rPr lang="zh-CN" dirty="0"/>
              <a:t>进程中执行时，它会降低权限。</a:t>
            </a:r>
          </a:p>
          <a:p>
            <a:pPr marL="396875" indent="-219075"/>
            <a:r>
              <a:rPr lang="zh-CN" dirty="0"/>
              <a:t>将/bin/ </a:t>
            </a:r>
            <a:r>
              <a:rPr lang="zh-CN" dirty="0" err="1"/>
              <a:t>sh</a:t>
            </a:r>
            <a:r>
              <a:rPr lang="zh-CN" dirty="0"/>
              <a:t>指向另一个 shell（简化攻击）</a:t>
            </a:r>
          </a:p>
          <a:p>
            <a:pPr marL="177800" indent="0">
              <a:buNone/>
            </a:pPr>
            <a:endParaRPr lang="en-US" dirty="0"/>
          </a:p>
          <a:p>
            <a:pPr marL="396875" indent="-219075"/>
            <a:r>
              <a:rPr lang="zh-CN" dirty="0"/>
              <a:t>更改shellcode​ （破解此</a:t>
            </a:r>
            <a:r>
              <a:rPr lang="zh-CN" altLang="en-US" dirty="0"/>
              <a:t>防御</a:t>
            </a:r>
            <a:r>
              <a:rPr lang="zh-CN" dirty="0"/>
              <a:t>措施）</a:t>
            </a:r>
          </a:p>
          <a:p>
            <a:pPr marL="177800" indent="0">
              <a:buNone/>
            </a:pPr>
            <a:endParaRPr lang="en-US" dirty="0"/>
          </a:p>
          <a:p>
            <a:pPr marL="396875" indent="-219075"/>
            <a:r>
              <a:rPr lang="zh-CN" dirty="0"/>
              <a:t>稍后将讨论其他应对该</a:t>
            </a:r>
            <a:r>
              <a:rPr lang="zh-CN" altLang="en-US" dirty="0"/>
              <a:t>防御</a:t>
            </a:r>
            <a:r>
              <a:rPr lang="zh-CN" dirty="0"/>
              <a:t>措施的方法。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403" y="3625102"/>
            <a:ext cx="6464446" cy="357481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403" y="4694738"/>
            <a:ext cx="6702762" cy="50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345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title"/>
          </p:nvPr>
        </p:nvSpPr>
        <p:spPr>
          <a:xfrm>
            <a:off x="838200" y="85550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Shellcode</a:t>
            </a:r>
          </a:p>
        </p:txBody>
      </p:sp>
      <p:sp>
        <p:nvSpPr>
          <p:cNvPr id="241" name="Shape 241"/>
          <p:cNvSpPr txBox="1">
            <a:spLocks noGrp="1"/>
          </p:cNvSpPr>
          <p:nvPr>
            <p:ph type="body" idx="1"/>
          </p:nvPr>
        </p:nvSpPr>
        <p:spPr>
          <a:xfrm>
            <a:off x="582000" y="1289875"/>
            <a:ext cx="11232300" cy="54129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228600" lvl="0" indent="-50800">
              <a:spcBef>
                <a:spcPts val="0"/>
              </a:spcBef>
              <a:buNone/>
            </a:pPr>
            <a:r>
              <a:rPr lang="zh-CN" b="1" dirty="0">
                <a:latin typeface="Arial"/>
                <a:ea typeface="Arial"/>
                <a:cs typeface="Arial"/>
                <a:sym typeface="Arial"/>
              </a:rPr>
              <a:t>恶意代码的目的：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允许运行更多命令（</a:t>
            </a:r>
            <a:r>
              <a:rPr lang="zh-CN" dirty="0" err="1">
                <a:latin typeface="Arial"/>
                <a:ea typeface="Arial"/>
                <a:cs typeface="Arial"/>
                <a:sym typeface="Arial"/>
              </a:rPr>
              <a:t>例如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）以获取系统访问权限。</a:t>
            </a:r>
          </a:p>
          <a:p>
            <a:pPr marL="228600" lvl="0" indent="-50800">
              <a:spcBef>
                <a:spcPts val="0"/>
              </a:spcBef>
              <a:buNone/>
            </a:pPr>
            <a:endParaRPr lang="en-US" b="1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50800">
              <a:spcBef>
                <a:spcPts val="0"/>
              </a:spcBef>
              <a:buNone/>
            </a:pPr>
            <a:r>
              <a:rPr lang="zh-CN" b="1" dirty="0">
                <a:latin typeface="Arial"/>
                <a:ea typeface="Arial"/>
                <a:cs typeface="Arial"/>
                <a:sym typeface="Arial"/>
              </a:rPr>
              <a:t>解决方案： 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Shell 程序</a:t>
            </a:r>
          </a:p>
          <a:p>
            <a:pPr marL="228600" lvl="0" indent="-50800">
              <a:spcBef>
                <a:spcPts val="0"/>
              </a:spcBef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50800">
              <a:spcBef>
                <a:spcPts val="0"/>
              </a:spcBef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50800">
              <a:spcBef>
                <a:spcPts val="0"/>
              </a:spcBef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50800">
              <a:spcBef>
                <a:spcPts val="0"/>
              </a:spcBef>
              <a:buNone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50800">
              <a:spcBef>
                <a:spcPts val="0"/>
              </a:spcBef>
              <a:buNone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50800">
              <a:spcBef>
                <a:spcPts val="0"/>
              </a:spcBef>
              <a:buNone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50800">
              <a:spcBef>
                <a:spcPts val="0"/>
              </a:spcBef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50800">
              <a:spcBef>
                <a:spcPts val="0"/>
              </a:spcBef>
              <a:buNone/>
            </a:pPr>
            <a:r>
              <a:rPr lang="zh-CN" b="1" dirty="0">
                <a:latin typeface="Arial"/>
                <a:ea typeface="Arial"/>
                <a:cs typeface="Arial"/>
                <a:sym typeface="Arial"/>
              </a:rPr>
              <a:t>挑战：</a:t>
            </a:r>
          </a:p>
          <a:p>
            <a:pPr marL="914400" lvl="1" indent="-406400">
              <a:spcBef>
                <a:spcPts val="0"/>
              </a:spcBef>
              <a:buSzPts val="2800"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加载器问题</a:t>
            </a:r>
          </a:p>
          <a:p>
            <a:pPr marL="914400" lvl="1" indent="-406400">
              <a:spcBef>
                <a:spcPts val="0"/>
              </a:spcBef>
              <a:buSzPts val="2800"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代码中的零</a:t>
            </a:r>
          </a:p>
        </p:txBody>
      </p:sp>
      <p:pic>
        <p:nvPicPr>
          <p:cNvPr id="242" name="Shape 2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662" y="2615575"/>
            <a:ext cx="11278838" cy="2557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>
            <a:spLocks noGrp="1"/>
          </p:cNvSpPr>
          <p:nvPr>
            <p:ph type="title"/>
          </p:nvPr>
        </p:nvSpPr>
        <p:spPr>
          <a:xfrm>
            <a:off x="838200" y="281250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Shelllcode</a:t>
            </a:r>
          </a:p>
        </p:txBody>
      </p:sp>
      <p:sp>
        <p:nvSpPr>
          <p:cNvPr id="248" name="Shape 248"/>
          <p:cNvSpPr txBox="1">
            <a:spLocks noGrp="1"/>
          </p:cNvSpPr>
          <p:nvPr>
            <p:ph type="body" idx="1"/>
          </p:nvPr>
        </p:nvSpPr>
        <p:spPr>
          <a:xfrm>
            <a:off x="734025" y="1454100"/>
            <a:ext cx="10821600" cy="52011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406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用于</a:t>
            </a:r>
            <a:r>
              <a:rPr lang="zh-CN" altLang="en-US" dirty="0">
                <a:latin typeface="Arial"/>
                <a:ea typeface="Arial"/>
                <a:cs typeface="Arial"/>
                <a:sym typeface="Arial"/>
              </a:rPr>
              <a:t>开启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 shell 的汇编代码（机器指令）。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目标：使用</a:t>
            </a:r>
            <a:r>
              <a:rPr lang="zh-CN" i="1" dirty="0"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rPr>
              <a:t>execve (“/bin/sh ”, argv , 0)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运行shell</a:t>
            </a:r>
          </a:p>
          <a:p>
            <a: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rtl="0">
              <a:spcBef>
                <a:spcPts val="0"/>
              </a:spcBef>
              <a:buSzPts val="2800"/>
              <a:buChar char="•"/>
            </a:pPr>
            <a:r>
              <a:rPr lang="en-US" altLang="zh-CN" dirty="0">
                <a:latin typeface="Arial"/>
                <a:ea typeface="Arial"/>
                <a:cs typeface="Arial"/>
                <a:sym typeface="Arial"/>
              </a:rPr>
              <a:t>Shellcode </a:t>
            </a:r>
            <a:r>
              <a:rPr lang="zh-CN" altLang="en-US" dirty="0">
                <a:latin typeface="Arial"/>
                <a:ea typeface="Arial"/>
                <a:cs typeface="Arial"/>
                <a:sym typeface="Arial"/>
              </a:rPr>
              <a:t>汇编代码用到的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寄存器：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0" lvl="0" indent="457200">
              <a:spcBef>
                <a:spcPts val="0"/>
              </a:spcBef>
              <a:buNone/>
            </a:pPr>
            <a:r>
              <a:rPr lang="en-US" altLang="zh-CN" dirty="0" err="1">
                <a:latin typeface="Arial"/>
                <a:ea typeface="Arial"/>
                <a:cs typeface="Arial"/>
                <a:sym typeface="Arial"/>
              </a:rPr>
              <a:t>eax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 = 0x0000000b (11) : 系统调用execve ()的值</a:t>
            </a:r>
          </a:p>
          <a:p>
            <a:pPr marL="0" lvl="0" indent="457200">
              <a:spcBef>
                <a:spcPts val="0"/>
              </a:spcBef>
              <a:buNone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ebx = “/bin/ sh”的地址</a:t>
            </a:r>
          </a:p>
          <a:p>
            <a:pPr marL="457200" lvl="0" indent="0">
              <a:spcBef>
                <a:spcPts val="0"/>
              </a:spcBef>
              <a:buNone/>
            </a:pPr>
            <a:r>
              <a:rPr lang="zh-CN" dirty="0" err="1">
                <a:latin typeface="Arial"/>
                <a:ea typeface="Arial"/>
                <a:cs typeface="Arial"/>
                <a:sym typeface="Arial"/>
              </a:rPr>
              <a:t>ecx 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= 参数数组的地址。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1371600" lvl="1" indent="-457200">
              <a:spcBef>
                <a:spcPts val="0"/>
              </a:spcBef>
            </a:pPr>
            <a:r>
              <a:rPr lang="en-US" altLang="zh-CN" dirty="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rgv [0] = “/bin/ sh ”的地址</a:t>
            </a:r>
          </a:p>
          <a:p>
            <a:pPr marL="1371600" lvl="1" indent="-457200">
              <a:spcBef>
                <a:spcPts val="0"/>
              </a:spcBef>
            </a:pPr>
            <a:r>
              <a:rPr lang="en-US" altLang="zh-CN" dirty="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rgv [1] = 0（即，没有更多参数）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0" lvl="0" indent="457200">
              <a:spcBef>
                <a:spcPts val="0"/>
              </a:spcBef>
              <a:buNone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edx =</a:t>
            </a:r>
            <a:r>
              <a:rPr lang="en-US" altLang="zh-CN" dirty="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（未传递任何环境变量）。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0" lvl="0" indent="457200">
              <a:spcBef>
                <a:spcPts val="0"/>
              </a:spcBef>
              <a:buNone/>
            </a:pPr>
            <a:r>
              <a:rPr lang="zh-CN" dirty="0" err="1">
                <a:latin typeface="Arial"/>
                <a:ea typeface="Arial"/>
                <a:cs typeface="Arial"/>
                <a:sym typeface="Arial"/>
              </a:rPr>
              <a:t>整数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 0x80:调用</a:t>
            </a:r>
            <a:r>
              <a:rPr lang="zh-CN" dirty="0" err="1">
                <a:latin typeface="Arial"/>
                <a:ea typeface="Arial"/>
                <a:cs typeface="Arial"/>
                <a:sym typeface="Arial"/>
              </a:rPr>
              <a:t>execve 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-US" dirty="0">
                <a:latin typeface="Arial"/>
                <a:ea typeface="Arial"/>
                <a:cs typeface="Arial"/>
                <a:sym typeface="Arial"/>
              </a:rPr>
            </a:b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>
            <a:spLocks noGrp="1"/>
          </p:cNvSpPr>
          <p:nvPr>
            <p:ph type="title"/>
          </p:nvPr>
        </p:nvSpPr>
        <p:spPr>
          <a:xfrm>
            <a:off x="838200" y="624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Shellcode</a:t>
            </a:r>
          </a:p>
        </p:txBody>
      </p:sp>
      <p:pic>
        <p:nvPicPr>
          <p:cNvPr id="254" name="Shape 2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376" y="1388125"/>
            <a:ext cx="11709654" cy="49188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Shape 255"/>
          <p:cNvCxnSpPr/>
          <p:nvPr/>
        </p:nvCxnSpPr>
        <p:spPr>
          <a:xfrm rot="10800000">
            <a:off x="8410125" y="2334925"/>
            <a:ext cx="335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56" name="Shape 256"/>
          <p:cNvSpPr txBox="1"/>
          <p:nvPr/>
        </p:nvSpPr>
        <p:spPr>
          <a:xfrm>
            <a:off x="8745524" y="2062225"/>
            <a:ext cx="3348505" cy="545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b="1" dirty="0"/>
              <a:t>%eax = 0（代码中避免使用 0）</a:t>
            </a:r>
          </a:p>
        </p:txBody>
      </p:sp>
      <p:sp>
        <p:nvSpPr>
          <p:cNvPr id="257" name="Shape 257"/>
          <p:cNvSpPr txBox="1"/>
          <p:nvPr/>
        </p:nvSpPr>
        <p:spPr>
          <a:xfrm>
            <a:off x="8745525" y="2424350"/>
            <a:ext cx="3172360" cy="545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 sz="1800" b="1" dirty="0"/>
              <a:t>设置字符串“/bin/ </a:t>
            </a:r>
            <a:r>
              <a:rPr lang="zh-CN" sz="1800" b="1" dirty="0" err="1"/>
              <a:t>sh </a:t>
            </a:r>
            <a:r>
              <a:rPr lang="zh-CN" sz="1800" b="1" dirty="0"/>
              <a:t>”的结尾</a:t>
            </a:r>
          </a:p>
        </p:txBody>
      </p:sp>
      <p:cxnSp>
        <p:nvCxnSpPr>
          <p:cNvPr id="258" name="Shape 258"/>
          <p:cNvCxnSpPr/>
          <p:nvPr/>
        </p:nvCxnSpPr>
        <p:spPr>
          <a:xfrm rot="10800000">
            <a:off x="8410125" y="2697050"/>
            <a:ext cx="335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Shellcode</a:t>
            </a:r>
          </a:p>
        </p:txBody>
      </p:sp>
      <p:pic>
        <p:nvPicPr>
          <p:cNvPr id="264" name="Shape 2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387" y="1452675"/>
            <a:ext cx="9143237" cy="52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52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应对措施</a:t>
            </a:r>
          </a:p>
        </p:txBody>
      </p:sp>
      <p:sp>
        <p:nvSpPr>
          <p:cNvPr id="270" name="Shape 270"/>
          <p:cNvSpPr txBox="1">
            <a:spLocks noGrp="1"/>
          </p:cNvSpPr>
          <p:nvPr>
            <p:ph type="body" idx="1"/>
          </p:nvPr>
        </p:nvSpPr>
        <p:spPr>
          <a:xfrm>
            <a:off x="838200" y="1341507"/>
            <a:ext cx="10269450" cy="50451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sz="2400" b="1" dirty="0">
                <a:latin typeface="Arial"/>
                <a:ea typeface="Arial"/>
                <a:cs typeface="Arial"/>
                <a:sym typeface="Arial"/>
              </a:rPr>
              <a:t>开发者方法：</a:t>
            </a:r>
            <a:endParaRPr lang="en-US" sz="24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rtl="0">
              <a:lnSpc>
                <a:spcPct val="150000"/>
              </a:lnSpc>
              <a:spcBef>
                <a:spcPts val="0"/>
              </a:spcBef>
              <a:buSzPts val="2400"/>
              <a:buChar char="•"/>
            </a:pPr>
            <a:r>
              <a:rPr lang="zh-CN" sz="2400" dirty="0">
                <a:latin typeface="Arial"/>
                <a:ea typeface="Arial"/>
                <a:cs typeface="Arial"/>
                <a:sym typeface="Arial"/>
              </a:rPr>
              <a:t>使用更安全的函数，如</a:t>
            </a:r>
            <a:r>
              <a:rPr lang="zh-CN" sz="2400" dirty="0" err="1">
                <a:latin typeface="Arial"/>
                <a:ea typeface="Arial"/>
                <a:cs typeface="Arial"/>
                <a:sym typeface="Arial"/>
              </a:rPr>
              <a:t>strncpy </a:t>
            </a:r>
            <a:r>
              <a:rPr lang="zh-CN" sz="2400" dirty="0">
                <a:latin typeface="Arial"/>
                <a:ea typeface="Arial"/>
                <a:cs typeface="Arial"/>
                <a:sym typeface="Arial"/>
              </a:rPr>
              <a:t>()、 </a:t>
            </a:r>
            <a:r>
              <a:rPr lang="zh-CN" sz="2400" dirty="0" err="1">
                <a:latin typeface="Arial"/>
                <a:ea typeface="Arial"/>
                <a:cs typeface="Arial"/>
                <a:sym typeface="Arial"/>
              </a:rPr>
              <a:t>strncat </a:t>
            </a:r>
            <a:r>
              <a:rPr lang="zh-CN" sz="2400" dirty="0">
                <a:latin typeface="Arial"/>
                <a:ea typeface="Arial"/>
                <a:cs typeface="Arial"/>
                <a:sym typeface="Arial"/>
              </a:rPr>
              <a:t>()等，以及更安全的动态链接库，这些库会在复制之前检查数据的长度。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sz="2400" b="1" dirty="0">
                <a:latin typeface="Arial"/>
                <a:ea typeface="Arial"/>
                <a:cs typeface="Arial"/>
                <a:sym typeface="Arial"/>
              </a:rPr>
              <a:t>操作系统方法：</a:t>
            </a:r>
            <a:endParaRPr lang="en-US" sz="24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rtl="0">
              <a:lnSpc>
                <a:spcPct val="150000"/>
              </a:lnSpc>
              <a:spcBef>
                <a:spcPts val="0"/>
              </a:spcBef>
              <a:buSzPts val="2400"/>
              <a:buChar char="•"/>
            </a:pPr>
            <a:r>
              <a:rPr lang="zh-CN" sz="2400" dirty="0">
                <a:latin typeface="Arial"/>
                <a:ea typeface="Arial"/>
                <a:cs typeface="Arial"/>
                <a:sym typeface="Arial"/>
              </a:rPr>
              <a:t>ASLR（地址空间布局随机化）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sz="2400" b="1" dirty="0">
                <a:latin typeface="Arial"/>
                <a:ea typeface="Arial"/>
                <a:cs typeface="Arial"/>
                <a:sym typeface="Arial"/>
              </a:rPr>
              <a:t>编译器方法：</a:t>
            </a:r>
            <a:endParaRPr lang="en-US" sz="24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rtl="0">
              <a:lnSpc>
                <a:spcPct val="150000"/>
              </a:lnSpc>
              <a:spcBef>
                <a:spcPts val="0"/>
              </a:spcBef>
              <a:buSzPts val="2400"/>
              <a:buChar char="•"/>
            </a:pPr>
            <a:r>
              <a:rPr lang="zh-CN" altLang="en-US" sz="2400" dirty="0">
                <a:latin typeface="Arial"/>
                <a:ea typeface="Arial"/>
                <a:cs typeface="Arial"/>
                <a:sym typeface="Arial"/>
              </a:rPr>
              <a:t>栈</a:t>
            </a:r>
            <a:r>
              <a:rPr lang="zh-CN" sz="2400" dirty="0">
                <a:latin typeface="Arial"/>
                <a:ea typeface="Arial"/>
                <a:cs typeface="Arial"/>
                <a:sym typeface="Arial"/>
              </a:rPr>
              <a:t>守卫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sz="2400" b="1" dirty="0">
                <a:latin typeface="Arial"/>
                <a:ea typeface="Arial"/>
                <a:cs typeface="Arial"/>
                <a:sym typeface="Arial"/>
              </a:rPr>
              <a:t>硬件方案：</a:t>
            </a:r>
            <a:endParaRPr lang="en-US" sz="24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rtl="0">
              <a:lnSpc>
                <a:spcPct val="150000"/>
              </a:lnSpc>
              <a:spcBef>
                <a:spcPts val="0"/>
              </a:spcBef>
              <a:buSzPts val="2400"/>
              <a:buChar char="•"/>
            </a:pPr>
            <a:r>
              <a:rPr lang="zh-CN" sz="2400" dirty="0">
                <a:latin typeface="Arial"/>
                <a:ea typeface="Arial"/>
                <a:cs typeface="Arial"/>
                <a:sym typeface="Arial"/>
              </a:rPr>
              <a:t>不可执行栈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ASLR原理</a:t>
            </a:r>
          </a:p>
        </p:txBody>
      </p:sp>
      <p:sp>
        <p:nvSpPr>
          <p:cNvPr id="276" name="Shape 276"/>
          <p:cNvSpPr txBox="1"/>
          <p:nvPr/>
        </p:nvSpPr>
        <p:spPr>
          <a:xfrm>
            <a:off x="1090600" y="5103400"/>
            <a:ext cx="9731100" cy="755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 sz="2400" dirty="0">
                <a:solidFill>
                  <a:schemeClr val="dk1"/>
                </a:solidFill>
              </a:rPr>
              <a:t>难以猜测 %ebp 地址和恶意代码的地址</a:t>
            </a:r>
          </a:p>
        </p:txBody>
      </p:sp>
      <p:sp>
        <p:nvSpPr>
          <p:cNvPr id="277" name="Shape 277"/>
          <p:cNvSpPr txBox="1"/>
          <p:nvPr/>
        </p:nvSpPr>
        <p:spPr>
          <a:xfrm>
            <a:off x="1090600" y="3803000"/>
            <a:ext cx="9731100" cy="755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2400" dirty="0">
                <a:solidFill>
                  <a:schemeClr val="dk1"/>
                </a:solidFill>
              </a:rPr>
              <a:t>很难猜测内存中的堆栈地址。</a:t>
            </a:r>
          </a:p>
        </p:txBody>
      </p:sp>
      <p:sp>
        <p:nvSpPr>
          <p:cNvPr id="278" name="Shape 278"/>
          <p:cNvSpPr txBox="1"/>
          <p:nvPr/>
        </p:nvSpPr>
        <p:spPr>
          <a:xfrm>
            <a:off x="1069600" y="2125200"/>
            <a:ext cx="9773100" cy="113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dirty="0">
                <a:solidFill>
                  <a:schemeClr val="dk1"/>
                </a:solidFill>
              </a:rPr>
              <a:t>为了使堆栈的起始位置随机化，也就是说，每次将代码加载到内存中时，堆栈地址都会改变。</a:t>
            </a:r>
          </a:p>
        </p:txBody>
      </p:sp>
      <p:sp>
        <p:nvSpPr>
          <p:cNvPr id="279" name="Shape 279"/>
          <p:cNvSpPr/>
          <p:nvPr/>
        </p:nvSpPr>
        <p:spPr>
          <a:xfrm>
            <a:off x="5557700" y="3257725"/>
            <a:ext cx="167700" cy="545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280" name="Shape 280"/>
          <p:cNvSpPr/>
          <p:nvPr/>
        </p:nvSpPr>
        <p:spPr>
          <a:xfrm>
            <a:off x="5557700" y="4558100"/>
            <a:ext cx="167700" cy="545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地址空间布局随机化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Shape 2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500" y="1796176"/>
            <a:ext cx="10696300" cy="4078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地址空间布局随机化：工作中</a:t>
            </a:r>
          </a:p>
        </p:txBody>
      </p:sp>
      <p:sp>
        <p:nvSpPr>
          <p:cNvPr id="293" name="Shape 293"/>
          <p:cNvSpPr txBox="1">
            <a:spLocks noGrp="1"/>
          </p:cNvSpPr>
          <p:nvPr>
            <p:ph type="body" idx="1"/>
          </p:nvPr>
        </p:nvSpPr>
        <p:spPr>
          <a:xfrm>
            <a:off x="0" y="1362396"/>
            <a:ext cx="11353800" cy="536366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228600" lvl="0" indent="-5080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294" name="Shape 2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078" y="1405038"/>
            <a:ext cx="5430656" cy="2219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Shape 2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2514" y="1424322"/>
            <a:ext cx="5334000" cy="2257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Shape 2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1775" y="4578503"/>
            <a:ext cx="5334000" cy="198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Shape 2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1775" y="4156351"/>
            <a:ext cx="5334000" cy="394197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Shape 298"/>
          <p:cNvSpPr/>
          <p:nvPr/>
        </p:nvSpPr>
        <p:spPr>
          <a:xfrm>
            <a:off x="935020" y="3729826"/>
            <a:ext cx="337500" cy="314400"/>
          </a:xfrm>
          <a:prstGeom prst="ellipse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1</a:t>
            </a:r>
          </a:p>
        </p:txBody>
      </p:sp>
      <p:sp>
        <p:nvSpPr>
          <p:cNvPr id="299" name="Shape 299"/>
          <p:cNvSpPr/>
          <p:nvPr/>
        </p:nvSpPr>
        <p:spPr>
          <a:xfrm>
            <a:off x="3343600" y="5082400"/>
            <a:ext cx="337500" cy="314400"/>
          </a:xfrm>
          <a:prstGeom prst="ellipse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/>
              <a:t>3</a:t>
            </a:r>
          </a:p>
        </p:txBody>
      </p:sp>
      <p:sp>
        <p:nvSpPr>
          <p:cNvPr id="300" name="Shape 300"/>
          <p:cNvSpPr/>
          <p:nvPr/>
        </p:nvSpPr>
        <p:spPr>
          <a:xfrm>
            <a:off x="10013394" y="3750662"/>
            <a:ext cx="337500" cy="314400"/>
          </a:xfrm>
          <a:prstGeom prst="ellipse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/>
              <a:t>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/>
            <a:r>
              <a:rPr lang="zh-CN" altLang="zh-CN" dirty="0"/>
              <a:t>击败ASLR</a:t>
            </a:r>
            <a:r>
              <a:rPr lang="zh-CN" altLang="en-US" dirty="0"/>
              <a:t>保护措施</a:t>
            </a:r>
            <a:endParaRPr lang="zh-CN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Shape 306"/>
          <p:cNvSpPr txBox="1">
            <a:spLocks noGrp="1"/>
          </p:cNvSpPr>
          <p:nvPr>
            <p:ph type="body" idx="1"/>
          </p:nvPr>
        </p:nvSpPr>
        <p:spPr>
          <a:xfrm>
            <a:off x="448475" y="1825625"/>
            <a:ext cx="11398800" cy="466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81000" rtl="0">
              <a:lnSpc>
                <a:spcPct val="115000"/>
              </a:lnSpc>
              <a:spcBef>
                <a:spcPts val="0"/>
              </a:spcBef>
              <a:buSzPts val="2400"/>
              <a:buAutoNum type="arabicPeriod"/>
            </a:pPr>
            <a:r>
              <a:rPr lang="zh-CN" sz="2400" dirty="0">
                <a:latin typeface="Arial"/>
                <a:ea typeface="Arial"/>
                <a:cs typeface="Arial"/>
                <a:sym typeface="Arial"/>
              </a:rPr>
              <a:t>启用地址随机化（对策）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zh-CN" sz="2400" b="1" dirty="0"/>
              <a:t>   </a:t>
            </a:r>
            <a:r>
              <a:rPr lang="zh-CN" sz="2400" b="1" dirty="0">
                <a:latin typeface="Courier New"/>
                <a:ea typeface="Courier New"/>
                <a:cs typeface="Courier New"/>
                <a:sym typeface="Courier New"/>
              </a:rPr>
              <a:t>% sudo sysctl -w kernel.randomize_va_space=2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dirty="0">
                <a:latin typeface="Arial"/>
                <a:ea typeface="Arial"/>
                <a:cs typeface="Arial"/>
                <a:sym typeface="Arial"/>
              </a:rPr>
              <a:t>2. 编译 set-uid root 版本的 stack.c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b="1" dirty="0">
                <a:latin typeface="Courier New"/>
                <a:ea typeface="Courier New"/>
                <a:cs typeface="Courier New"/>
                <a:sym typeface="Courier New"/>
              </a:rPr>
              <a:t>% gcc -o stack -z execstack -fno-stack-protector stack.c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b="1" dirty="0">
                <a:latin typeface="Courier New"/>
                <a:ea typeface="Courier New"/>
                <a:cs typeface="Courier New"/>
                <a:sym typeface="Courier New"/>
              </a:rPr>
              <a:t>% sudo chown root stack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zh-CN" sz="2400" b="1" dirty="0">
                <a:latin typeface="Courier New"/>
                <a:ea typeface="Courier New"/>
                <a:cs typeface="Courier New"/>
                <a:sym typeface="Courier New"/>
              </a:rPr>
              <a:t>% sudo chmod 4755 stack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228600" lvl="0" indent="-5080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 txBox="1">
            <a:spLocks noGrp="1"/>
          </p:cNvSpPr>
          <p:nvPr>
            <p:ph type="title"/>
          </p:nvPr>
        </p:nvSpPr>
        <p:spPr>
          <a:xfrm>
            <a:off x="838200" y="2156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indent="-69850">
              <a:buSzPts val="1100"/>
            </a:pPr>
            <a:r>
              <a:rPr lang="zh-CN" altLang="zh-CN" dirty="0"/>
              <a:t>击败</a:t>
            </a:r>
            <a:r>
              <a:rPr lang="zh-CN" dirty="0"/>
              <a:t>ASLR</a:t>
            </a:r>
            <a:r>
              <a:rPr lang="zh-CN" altLang="en-US" dirty="0"/>
              <a:t>保护措施</a:t>
            </a:r>
            <a:endParaRPr lang="zh-CN" dirty="0"/>
          </a:p>
        </p:txBody>
      </p:sp>
      <p:sp>
        <p:nvSpPr>
          <p:cNvPr id="312" name="Shape 312"/>
          <p:cNvSpPr txBox="1">
            <a:spLocks noGrp="1"/>
          </p:cNvSpPr>
          <p:nvPr>
            <p:ph type="body" idx="1"/>
          </p:nvPr>
        </p:nvSpPr>
        <p:spPr>
          <a:xfrm>
            <a:off x="415350" y="1363354"/>
            <a:ext cx="11361300" cy="49491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zh-CN" sz="2400" dirty="0">
                <a:latin typeface="Arial"/>
                <a:ea typeface="Arial"/>
                <a:cs typeface="Arial"/>
                <a:sym typeface="Arial"/>
              </a:rPr>
              <a:t>3. 通过让存在漏洞的代码在无限循环中运行来击败它。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2400" dirty="0"/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2400" dirty="0"/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2400" dirty="0"/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2400" dirty="0"/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2400" dirty="0"/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2400" dirty="0"/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2400" dirty="0"/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2400" dirty="0"/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228600" lvl="0" indent="-5080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313" name="Shape 3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543" y="1942040"/>
            <a:ext cx="10134328" cy="4636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3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/>
            <a:r>
              <a:rPr lang="zh-CN" altLang="zh-CN" dirty="0"/>
              <a:t>击败ASLR</a:t>
            </a:r>
            <a:r>
              <a:rPr lang="zh-CN" altLang="en-US" dirty="0"/>
              <a:t>保护措施</a:t>
            </a:r>
            <a:endParaRPr lang="zh-CN" dirty="0"/>
          </a:p>
        </p:txBody>
      </p:sp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177800" lvl="0" indent="0">
              <a:spcBef>
                <a:spcPts val="0"/>
              </a:spcBef>
              <a:buNone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在32 位 Linux 机器上运行脚本约 19 分钟后，我们获得了 shell 访问权限（恶意代码被执行）。</a:t>
            </a:r>
          </a:p>
        </p:txBody>
      </p:sp>
      <p:pic>
        <p:nvPicPr>
          <p:cNvPr id="320" name="Shape 3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153" y="3011284"/>
            <a:ext cx="9387212" cy="286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堆栈保护</a:t>
            </a:r>
          </a:p>
        </p:txBody>
      </p:sp>
      <p:pic>
        <p:nvPicPr>
          <p:cNvPr id="326" name="Shape 3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9327" y="1543326"/>
            <a:ext cx="5254842" cy="4654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Shape 3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3951" y="1709525"/>
            <a:ext cx="4905974" cy="45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Shape 328"/>
          <p:cNvSpPr/>
          <p:nvPr/>
        </p:nvSpPr>
        <p:spPr>
          <a:xfrm>
            <a:off x="1450325" y="2803975"/>
            <a:ext cx="2776200" cy="455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使用 StackGuard 执行</a:t>
            </a:r>
          </a:p>
        </p:txBody>
      </p:sp>
      <p:pic>
        <p:nvPicPr>
          <p:cNvPr id="334" name="Shape 3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164" y="1782781"/>
            <a:ext cx="7756504" cy="1853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Shape 3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4704" y="0"/>
            <a:ext cx="359729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Shape 336"/>
          <p:cNvPicPr preferRelativeResize="0"/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8771525" y="2832047"/>
            <a:ext cx="219075" cy="2541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7" name="Shape 337"/>
          <p:cNvCxnSpPr/>
          <p:nvPr/>
        </p:nvCxnSpPr>
        <p:spPr>
          <a:xfrm rot="10800000" flipH="1">
            <a:off x="6257225" y="4088938"/>
            <a:ext cx="2514300" cy="27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38" name="Shape 338"/>
          <p:cNvSpPr txBox="1"/>
          <p:nvPr/>
        </p:nvSpPr>
        <p:spPr>
          <a:xfrm>
            <a:off x="1367525" y="3891850"/>
            <a:ext cx="4889700" cy="111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2400"/>
              <a:t>编译器已完成金丝雀检查。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402" y="281401"/>
            <a:ext cx="10515600" cy="1325563"/>
          </a:xfrm>
        </p:spPr>
        <p:txBody>
          <a:bodyPr/>
          <a:lstStyle/>
          <a:p>
            <a:r>
              <a:rPr lang="zh-CN" dirty="0"/>
              <a:t>击败</a:t>
            </a:r>
            <a:r>
              <a:rPr lang="en-US" altLang="zh-CN" dirty="0"/>
              <a:t>bash</a:t>
            </a:r>
            <a:r>
              <a:rPr lang="zh-CN" altLang="en-US" dirty="0"/>
              <a:t>和</a:t>
            </a:r>
            <a:r>
              <a:rPr lang="en-US" altLang="zh-CN" dirty="0"/>
              <a:t>dash</a:t>
            </a:r>
            <a:r>
              <a:rPr lang="zh-CN" altLang="en-US" dirty="0"/>
              <a:t>的</a:t>
            </a:r>
            <a:r>
              <a:rPr lang="zh-CN" dirty="0"/>
              <a:t>反制措施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318992"/>
          </a:xfrm>
        </p:spPr>
        <p:txBody>
          <a:bodyPr/>
          <a:lstStyle/>
          <a:p>
            <a:r>
              <a:rPr lang="en-US" altLang="zh-CN" dirty="0"/>
              <a:t>bash</a:t>
            </a:r>
            <a:r>
              <a:rPr lang="zh-CN" altLang="en-US" dirty="0"/>
              <a:t>和</a:t>
            </a:r>
            <a:r>
              <a:rPr lang="en-US" altLang="zh-CN" dirty="0"/>
              <a:t>dash</a:t>
            </a:r>
            <a:r>
              <a:rPr lang="zh-CN" dirty="0"/>
              <a:t>将setuid进程转换为非setuid进程。</a:t>
            </a:r>
          </a:p>
          <a:p>
            <a:pPr lvl="1"/>
            <a:r>
              <a:rPr lang="zh-CN" dirty="0"/>
              <a:t> 他们将有效用户 ID 设置为真实用户 ID，从而</a:t>
            </a:r>
            <a:r>
              <a:rPr lang="zh-CN" altLang="en-US" dirty="0"/>
              <a:t>取消了特权</a:t>
            </a:r>
            <a:r>
              <a:rPr lang="zh-CN" dirty="0"/>
              <a:t>。</a:t>
            </a:r>
          </a:p>
          <a:p>
            <a:r>
              <a:rPr lang="zh-CN" dirty="0"/>
              <a:t> 想法：在运行这些脚本之前，我们将真实用户 ID 设置为 0。</a:t>
            </a:r>
          </a:p>
          <a:p>
            <a:pPr lvl="1"/>
            <a:r>
              <a:rPr lang="zh-CN" dirty="0"/>
              <a:t>调用</a:t>
            </a:r>
            <a:r>
              <a:rPr lang="zh-CN" dirty="0" err="1"/>
              <a:t>setuid </a:t>
            </a:r>
            <a:r>
              <a:rPr lang="zh-CN" dirty="0"/>
              <a:t>(0 )</a:t>
            </a:r>
          </a:p>
          <a:p>
            <a:pPr lvl="1"/>
            <a:r>
              <a:rPr lang="zh-CN" dirty="0"/>
              <a:t> 我们可以在shellcode</a:t>
            </a:r>
            <a:r>
              <a:rPr lang="zh-CN" altLang="en-US" dirty="0"/>
              <a:t>的开头写入如下代码片段</a:t>
            </a:r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566" y="4363278"/>
            <a:ext cx="9008511" cy="145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219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不可执行堆栈</a:t>
            </a:r>
          </a:p>
        </p:txBody>
      </p:sp>
      <p:sp>
        <p:nvSpPr>
          <p:cNvPr id="344" name="Shape 3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406400">
              <a:spcBef>
                <a:spcPts val="0"/>
              </a:spcBef>
              <a:buSzPts val="2800"/>
              <a:buFont typeface="Arial"/>
              <a:buChar char="•"/>
            </a:pPr>
            <a:r>
              <a:rPr lang="zh-CN" dirty="0">
                <a:latin typeface="Arial"/>
                <a:ea typeface="Arial"/>
                <a:cs typeface="Arial"/>
                <a:sym typeface="Arial"/>
              </a:rPr>
              <a:t>NX 位，代表CPU 中的No- </a:t>
            </a:r>
            <a:r>
              <a:rPr lang="zh-CN" dirty="0" err="1">
                <a:latin typeface="Arial"/>
                <a:ea typeface="Arial"/>
                <a:cs typeface="Arial"/>
                <a:sym typeface="Arial"/>
              </a:rPr>
              <a:t>eXecute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功能，将代码与数据分离，并将内存的某些区域标记为不可执行。</a:t>
            </a:r>
          </a:p>
          <a:p>
            <a:pPr marL="0" lvl="0" indent="0">
              <a:spcBef>
                <a:spcPts val="0"/>
              </a:spcBef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>
              <a:spcBef>
                <a:spcPts val="0"/>
              </a:spcBef>
              <a:buSzPts val="2800"/>
              <a:buFont typeface="Arial"/>
              <a:buChar char="•"/>
            </a:pPr>
            <a:r>
              <a:rPr lang="zh-CN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“返回</a:t>
            </a:r>
            <a:r>
              <a:rPr lang="zh-CN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libc”</a:t>
            </a:r>
            <a:r>
              <a:rPr lang="zh-CN" dirty="0">
                <a:latin typeface="Arial"/>
                <a:ea typeface="Arial"/>
                <a:cs typeface="Arial"/>
                <a:sym typeface="Arial"/>
              </a:rPr>
              <a:t>的不同技术来破解。 攻击（关于这次攻击另有一章专门介绍）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概括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03225" indent="-225425"/>
            <a:r>
              <a:rPr lang="zh-CN" dirty="0"/>
              <a:t>缓冲区溢出是一种常见的安全漏洞。</a:t>
            </a:r>
          </a:p>
          <a:p>
            <a:pPr marL="403225" indent="-225425"/>
            <a:r>
              <a:rPr lang="zh-CN" dirty="0"/>
              <a:t>我们只关注基于栈的缓冲区溢出。</a:t>
            </a:r>
          </a:p>
          <a:p>
            <a:pPr marL="860425" lvl="1" indent="-225425"/>
            <a:r>
              <a:rPr lang="zh-CN" dirty="0"/>
              <a:t>基于堆的缓冲区溢出也可能导致代码注入。</a:t>
            </a:r>
          </a:p>
          <a:p>
            <a:pPr marL="403225" indent="-225425"/>
            <a:r>
              <a:rPr lang="zh-CN" dirty="0"/>
              <a:t>利用缓冲区溢出运行注入的代码</a:t>
            </a:r>
          </a:p>
          <a:p>
            <a:pPr marL="403225" indent="-225425"/>
            <a:r>
              <a:rPr lang="zh-CN" dirty="0"/>
              <a:t>抵御</a:t>
            </a:r>
            <a:r>
              <a:rPr lang="zh-CN" altLang="en-US" dirty="0"/>
              <a:t>缓冲溢出</a:t>
            </a:r>
            <a:r>
              <a:rPr lang="zh-CN" dirty="0"/>
              <a:t>攻击</a:t>
            </a:r>
            <a:r>
              <a:rPr lang="zh-CN" altLang="en-US" dirty="0"/>
              <a:t>的安全措施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73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木材纹理</Template>
  <TotalTime>309</TotalTime>
  <Words>2248</Words>
  <Application>Microsoft Office PowerPoint</Application>
  <PresentationFormat>宽屏</PresentationFormat>
  <Paragraphs>226</Paragraphs>
  <Slides>36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1" baseType="lpstr">
      <vt:lpstr>Arial</vt:lpstr>
      <vt:lpstr>Calibri</vt:lpstr>
      <vt:lpstr>Courier New</vt:lpstr>
      <vt:lpstr>Times New Roman</vt:lpstr>
      <vt:lpstr>Office Theme</vt:lpstr>
      <vt:lpstr>缓冲区溢出攻击</vt:lpstr>
      <vt:lpstr>大纲</vt:lpstr>
      <vt:lpstr>程序（进程）的内存布局</vt:lpstr>
      <vt:lpstr>函数参数在栈中的顺序</vt:lpstr>
      <vt:lpstr>函数调用栈</vt:lpstr>
      <vt:lpstr>函数嵌套调用形成调用链</vt:lpstr>
      <vt:lpstr>存在漏洞的程序</vt:lpstr>
      <vt:lpstr>存在漏洞的程序</vt:lpstr>
      <vt:lpstr>缓冲区溢出的后果</vt:lpstr>
      <vt:lpstr>恶意代码如何被执行​​</vt:lpstr>
      <vt:lpstr>运行环境设置</vt:lpstr>
      <vt:lpstr>创建攻击载荷（ badfile ）</vt:lpstr>
      <vt:lpstr>任务 A：缓冲区</vt:lpstr>
      <vt:lpstr>任务 B：攻击载荷代码的地址</vt:lpstr>
      <vt:lpstr>任务 B：恶意代码的地址</vt:lpstr>
      <vt:lpstr>Badfile文件内容</vt:lpstr>
      <vt:lpstr>攻击载荷文件构造（用Python编写脚本）</vt:lpstr>
      <vt:lpstr>函数返回地址改写为一个新地址</vt:lpstr>
      <vt:lpstr>执行结果</vt:lpstr>
      <vt:lpstr>关于现有的安全防御措施的说明</vt:lpstr>
      <vt:lpstr>Shellcode</vt:lpstr>
      <vt:lpstr>Shelllcode</vt:lpstr>
      <vt:lpstr>Shellcode</vt:lpstr>
      <vt:lpstr>Shellcode</vt:lpstr>
      <vt:lpstr>应对措施</vt:lpstr>
      <vt:lpstr>ASLR原理</vt:lpstr>
      <vt:lpstr>地址空间布局随机化</vt:lpstr>
      <vt:lpstr>地址空间布局随机化：工作中</vt:lpstr>
      <vt:lpstr>击败ASLR保护措施</vt:lpstr>
      <vt:lpstr>击败ASLR保护措施</vt:lpstr>
      <vt:lpstr>击败ASLR保护措施</vt:lpstr>
      <vt:lpstr>堆栈保护</vt:lpstr>
      <vt:lpstr>使用 StackGuard 执行</vt:lpstr>
      <vt:lpstr>击败bash和dash的反制措施</vt:lpstr>
      <vt:lpstr>不可执行堆栈</vt:lpstr>
      <vt:lpstr>概括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Buffer Overflow Attack</dc:title>
  <cp:lastModifiedBy>昕 宋</cp:lastModifiedBy>
  <cp:revision>34</cp:revision>
  <dcterms:modified xsi:type="dcterms:W3CDTF">2026-03-18T16:16:22Z</dcterms:modified>
</cp:coreProperties>
</file>