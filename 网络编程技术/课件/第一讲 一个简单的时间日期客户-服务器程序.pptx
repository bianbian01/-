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6"/>
  </p:notesMasterIdLst>
  <p:sldIdLst>
    <p:sldId id="256" r:id="rId2"/>
    <p:sldId id="299" r:id="rId3"/>
    <p:sldId id="257" r:id="rId4"/>
    <p:sldId id="259" r:id="rId5"/>
    <p:sldId id="293" r:id="rId6"/>
    <p:sldId id="294" r:id="rId7"/>
    <p:sldId id="268" r:id="rId8"/>
    <p:sldId id="289" r:id="rId9"/>
    <p:sldId id="287" r:id="rId10"/>
    <p:sldId id="295" r:id="rId11"/>
    <p:sldId id="305" r:id="rId12"/>
    <p:sldId id="296" r:id="rId13"/>
    <p:sldId id="286" r:id="rId14"/>
    <p:sldId id="297" r:id="rId1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3" autoAdjust="0"/>
    <p:restoredTop sz="94660"/>
  </p:normalViewPr>
  <p:slideViewPr>
    <p:cSldViewPr>
      <p:cViewPr varScale="1">
        <p:scale>
          <a:sx n="116" d="100"/>
          <a:sy n="116" d="100"/>
        </p:scale>
        <p:origin x="182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B96F9-C3F8-400D-95D8-7FA136389697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F1DEC-4D63-435A-8A80-B79F9E7278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786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F1DEC-4D63-435A-8A80-B79F9E7278A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409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47392" y="1524000"/>
            <a:ext cx="5790183" cy="1752600"/>
          </a:xfrm>
        </p:spPr>
        <p:txBody>
          <a:bodyPr/>
          <a:lstStyle>
            <a:lvl1pPr>
              <a:defRPr sz="5000" b="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47392" y="3962400"/>
            <a:ext cx="5787008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 b="0"/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2AC38B-E491-4C4E-80F3-FF02AFA51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9351" y="1512093"/>
            <a:ext cx="187642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93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A59697-510E-421B-903D-D1D6508DC4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685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3F7C8D-CEC6-4621-9199-FF01A6E842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685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044694-B7F8-4EFF-8579-70F277267C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2661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29FC3-0368-4BEE-AD1D-3E16D1C6EB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6390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8385E2-1E7A-4FCF-871C-F1C9D7332D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9715B0-52D2-4219-90C4-8EE8F8BCE1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535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7B73FA-FFB3-4ED2-A6B8-287761FE8A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1524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59699-993C-472A-968C-EF6A606CAB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2724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9C4D59-E217-4542-A721-8859D2BED1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052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57002-ECA8-4293-A45B-DBF50685E9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9291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7643813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6883129E-2EC4-4F48-8C50-7BCFF0A0A3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162295" y="60152"/>
            <a:ext cx="969348" cy="9205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b="1">
          <a:solidFill>
            <a:schemeClr val="tx1"/>
          </a:solidFill>
          <a:latin typeface="+mn-lt"/>
          <a:ea typeface="+mn-ea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b="1">
          <a:solidFill>
            <a:schemeClr val="tx1"/>
          </a:solidFill>
          <a:latin typeface="+mn-lt"/>
          <a:ea typeface="+mn-ea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b="1">
          <a:solidFill>
            <a:schemeClr val="tx1"/>
          </a:solidFill>
          <a:latin typeface="+mn-lt"/>
          <a:ea typeface="+mn-ea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47963" y="1524000"/>
            <a:ext cx="5789612" cy="1752600"/>
          </a:xfrm>
        </p:spPr>
        <p:txBody>
          <a:bodyPr anchor="ctr"/>
          <a:lstStyle/>
          <a:p>
            <a:pPr algn="just" eaLnBrk="1" hangingPunct="1"/>
            <a:r>
              <a:rPr lang="zh-CN" altLang="en-US" b="1" dirty="0"/>
              <a:t>网络编程技术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15616" y="4005064"/>
            <a:ext cx="7419001" cy="2274888"/>
          </a:xfrm>
        </p:spPr>
        <p:txBody>
          <a:bodyPr/>
          <a:lstStyle/>
          <a:p>
            <a:pPr eaLnBrk="1" hangingPunct="1"/>
            <a:r>
              <a:rPr lang="zh-CN" altLang="en-US" b="1" dirty="0"/>
              <a:t>第一讲  一个简单的时间</a:t>
            </a:r>
            <a:r>
              <a:rPr lang="en-US" altLang="zh-CN" b="1" dirty="0"/>
              <a:t>/</a:t>
            </a:r>
            <a:r>
              <a:rPr lang="zh-CN" altLang="en-US" b="1" dirty="0"/>
              <a:t>日期客户</a:t>
            </a:r>
            <a:r>
              <a:rPr lang="en-US" altLang="zh-CN" b="1" dirty="0"/>
              <a:t>-</a:t>
            </a:r>
            <a:r>
              <a:rPr lang="zh-CN" altLang="en-US" b="1" dirty="0"/>
              <a:t>服务器程序</a:t>
            </a:r>
            <a:endParaRPr lang="en-US" altLang="zh-CN" b="1" dirty="0"/>
          </a:p>
          <a:p>
            <a:pPr eaLnBrk="1" hangingPunct="1"/>
            <a:r>
              <a:rPr lang="zh-CN" altLang="en-US" b="1" dirty="0"/>
              <a:t>王伟</a:t>
            </a:r>
          </a:p>
          <a:p>
            <a:pPr eaLnBrk="1" hangingPunct="1"/>
            <a:r>
              <a:rPr lang="en-US" altLang="zh-CN" b="1" dirty="0"/>
              <a:t>wellwang@126.com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教材，作者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440" y="1417638"/>
            <a:ext cx="4690864" cy="4530725"/>
          </a:xfrm>
        </p:spPr>
        <p:txBody>
          <a:bodyPr/>
          <a:lstStyle/>
          <a:p>
            <a:r>
              <a:rPr lang="en-US" altLang="zh-CN" dirty="0"/>
              <a:t>UNIX Network Programming, Volume 1, Second Edition: Networking APIs: Sockets and XTI</a:t>
            </a:r>
          </a:p>
          <a:p>
            <a:pPr marL="0" indent="0">
              <a:buNone/>
            </a:pPr>
            <a:r>
              <a:rPr lang="zh-CN" altLang="en-US" sz="2600" dirty="0"/>
              <a:t>（本门课程使用的是第二版）</a:t>
            </a:r>
            <a:endParaRPr lang="en-US" altLang="zh-CN" sz="2600" dirty="0"/>
          </a:p>
          <a:p>
            <a:r>
              <a:rPr lang="en-US" altLang="zh-CN" dirty="0"/>
              <a:t>W. Richard Stevens</a:t>
            </a:r>
            <a:r>
              <a:rPr lang="zh-CN" altLang="en-US" dirty="0"/>
              <a:t>（理查德</a:t>
            </a:r>
            <a:r>
              <a:rPr lang="en-US" altLang="zh-CN" dirty="0"/>
              <a:t>·</a:t>
            </a:r>
            <a:r>
              <a:rPr lang="zh-CN" altLang="en-US" dirty="0"/>
              <a:t>史蒂文斯）</a:t>
            </a:r>
          </a:p>
          <a:p>
            <a:r>
              <a:rPr lang="en-US" altLang="zh-CN" dirty="0"/>
              <a:t>http://www.kohala.com/start/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1417639"/>
            <a:ext cx="3223261" cy="4243610"/>
          </a:xfrm>
        </p:spPr>
      </p:pic>
      <p:sp>
        <p:nvSpPr>
          <p:cNvPr id="6" name="文本框 5"/>
          <p:cNvSpPr txBox="1"/>
          <p:nvPr/>
        </p:nvSpPr>
        <p:spPr>
          <a:xfrm>
            <a:off x="5292080" y="5805264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/>
              <a:t>图片来自</a:t>
            </a:r>
            <a:r>
              <a:rPr lang="en-US" altLang="zh-CN" dirty="0"/>
              <a:t>z.cn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0150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341438"/>
            <a:ext cx="8229600" cy="4530725"/>
          </a:xfrm>
        </p:spPr>
        <p:txBody>
          <a:bodyPr/>
          <a:lstStyle/>
          <a:p>
            <a:pPr eaLnBrk="1" hangingPunct="1"/>
            <a:r>
              <a:rPr lang="zh-CN" altLang="en-US" dirty="0"/>
              <a:t>概述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简单的时间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日期客户程序</a:t>
            </a:r>
          </a:p>
          <a:p>
            <a:pPr eaLnBrk="1" hangingPunct="1"/>
            <a:r>
              <a:rPr lang="zh-CN" altLang="en-US" dirty="0"/>
              <a:t>协议无关性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错误处理：包裹函数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简单的时间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日期服务器程序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/>
              <a:t>小结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200">
                <a:solidFill>
                  <a:schemeClr val="tx2"/>
                </a:solidFill>
                <a:latin typeface="Garamond" panose="02020404030301010803" pitchFamily="18" charset="0"/>
              </a:rPr>
              <a:t>一、概述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71550" y="5516563"/>
            <a:ext cx="7561263" cy="831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主要讲解基于套接口的</a:t>
            </a:r>
            <a:r>
              <a:rPr lang="en-US" altLang="zh-CN" sz="2400" b="1" dirty="0">
                <a:solidFill>
                  <a:srgbClr val="FF0000"/>
                </a:solidFill>
              </a:rPr>
              <a:t>TCP/UDP</a:t>
            </a:r>
            <a:r>
              <a:rPr lang="zh-CN" altLang="en-US" sz="2400" b="1" dirty="0">
                <a:solidFill>
                  <a:srgbClr val="FF0000"/>
                </a:solidFill>
              </a:rPr>
              <a:t>网络应用程序的基本结构、基本函数及其程序设计。</a:t>
            </a:r>
          </a:p>
        </p:txBody>
      </p:sp>
      <p:pic>
        <p:nvPicPr>
          <p:cNvPr id="12" name="图片 11" descr="手机屏幕截图&#10;&#10;描述已自动生成">
            <a:extLst>
              <a:ext uri="{FF2B5EF4-FFF2-40B4-BE49-F238E27FC236}">
                <a16:creationId xmlns:a16="http://schemas.microsoft.com/office/drawing/2014/main" id="{415D3762-0B9C-475F-BB99-FDFF2B5E25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901" y="1417638"/>
            <a:ext cx="5776198" cy="3888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200">
                <a:solidFill>
                  <a:schemeClr val="tx2"/>
                </a:solidFill>
                <a:latin typeface="Garamond" panose="02020404030301010803" pitchFamily="18" charset="0"/>
              </a:rPr>
              <a:t>一、概述</a:t>
            </a:r>
          </a:p>
        </p:txBody>
      </p:sp>
      <p:pic>
        <p:nvPicPr>
          <p:cNvPr id="6147" name="Picture 2" descr="D:\理工大学\教学工作\网络编程2013\第一讲\客户和服务器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" y="2565400"/>
            <a:ext cx="699135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200">
                <a:solidFill>
                  <a:schemeClr val="tx2"/>
                </a:solidFill>
                <a:latin typeface="Garamond" panose="02020404030301010803" pitchFamily="18" charset="0"/>
              </a:rPr>
              <a:t>一、概述</a:t>
            </a:r>
          </a:p>
        </p:txBody>
      </p:sp>
      <p:pic>
        <p:nvPicPr>
          <p:cNvPr id="7171" name="Picture 2" descr="D:\理工大学\教学工作\网络编程2013\第一讲\多客户服务器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5" y="1557338"/>
            <a:ext cx="4667250" cy="420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标注 1"/>
          <p:cNvSpPr/>
          <p:nvPr/>
        </p:nvSpPr>
        <p:spPr>
          <a:xfrm>
            <a:off x="7019925" y="1700213"/>
            <a:ext cx="1512888" cy="865187"/>
          </a:xfrm>
          <a:prstGeom prst="wedgeRoundRectCallout">
            <a:avLst>
              <a:gd name="adj1" fmla="val -55129"/>
              <a:gd name="adj2" fmla="val 103565"/>
              <a:gd name="adj3" fmla="val 1666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并发服务器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二、简单的时间</a:t>
            </a:r>
            <a:r>
              <a:rPr lang="en-US" altLang="zh-CN" dirty="0"/>
              <a:t>/</a:t>
            </a:r>
            <a:r>
              <a:rPr lang="zh-CN" altLang="en-US" dirty="0"/>
              <a:t>日期客户程序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55650" y="1125538"/>
            <a:ext cx="7848600" cy="39322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头文件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定义变量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命令行参数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创建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套接口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变量赋值，指定服务器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地址和端口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建立与服务的连接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读服务器的应答并输出到屏幕上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终止程序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1363" y="5184775"/>
            <a:ext cx="7848600" cy="10025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fr-FR" altLang="zh-CN" sz="2400" b="1" dirty="0">
                <a:solidFill>
                  <a:srgbClr val="FF0000"/>
                </a:solidFill>
              </a:rPr>
              <a:t>./daytimetcpcli 172.20.0.54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s-ES" altLang="zh-CN" sz="2400" b="1" dirty="0">
                <a:solidFill>
                  <a:srgbClr val="FF0000"/>
                </a:solidFill>
              </a:rPr>
              <a:t>Sun Mar  1 18:20:04 2026</a:t>
            </a:r>
            <a:endParaRPr lang="fr-FR" altLang="zh-CN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三、协议无关性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650" y="1992313"/>
            <a:ext cx="7848600" cy="34528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 err="1"/>
              <a:t>struct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sockaddr_in6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servaddr</a:t>
            </a:r>
            <a:r>
              <a:rPr lang="en-US" altLang="zh-CN" sz="2400" b="1" dirty="0"/>
              <a:t>;</a:t>
            </a:r>
            <a:r>
              <a:rPr lang="zh-CN" altLang="en-US" sz="2400" b="1" dirty="0"/>
              <a:t> 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if ( (</a:t>
            </a:r>
            <a:r>
              <a:rPr lang="en-US" altLang="zh-CN" sz="2400" b="1" dirty="0" err="1"/>
              <a:t>sockfd</a:t>
            </a:r>
            <a:r>
              <a:rPr lang="en-US" altLang="zh-CN" sz="2400" b="1" dirty="0"/>
              <a:t> = socket(</a:t>
            </a:r>
            <a:r>
              <a:rPr lang="en-US" altLang="zh-CN" sz="2400" b="1" dirty="0">
                <a:solidFill>
                  <a:srgbClr val="FF0000"/>
                </a:solidFill>
              </a:rPr>
              <a:t>AF_INET6</a:t>
            </a:r>
            <a:r>
              <a:rPr lang="en-US" altLang="zh-CN" sz="2400" b="1" dirty="0"/>
              <a:t>, SOCK_STREAM, 0)) &lt; 0) 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servaddr.</a:t>
            </a:r>
            <a:r>
              <a:rPr lang="en-US" altLang="zh-CN" sz="2400" b="1" dirty="0">
                <a:solidFill>
                  <a:srgbClr val="FF0000"/>
                </a:solidFill>
              </a:rPr>
              <a:t>sin6_family</a:t>
            </a:r>
            <a:r>
              <a:rPr lang="en-US" altLang="zh-CN" sz="2400" b="1" dirty="0"/>
              <a:t> = </a:t>
            </a:r>
            <a:r>
              <a:rPr lang="en-US" altLang="zh-CN" sz="2400" b="1" dirty="0">
                <a:solidFill>
                  <a:srgbClr val="FF0000"/>
                </a:solidFill>
              </a:rPr>
              <a:t>AF_INET6</a:t>
            </a:r>
            <a:r>
              <a:rPr lang="en-US" altLang="zh-CN" sz="2400" b="1" dirty="0"/>
              <a:t>; 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servaddr.</a:t>
            </a:r>
            <a:r>
              <a:rPr lang="en-US" altLang="zh-CN" sz="2400" b="1" dirty="0">
                <a:solidFill>
                  <a:srgbClr val="FF0000"/>
                </a:solidFill>
              </a:rPr>
              <a:t>sin6_port</a:t>
            </a:r>
            <a:r>
              <a:rPr lang="en-US" altLang="zh-CN" sz="2400" b="1" dirty="0"/>
              <a:t> = </a:t>
            </a:r>
            <a:r>
              <a:rPr lang="en-US" altLang="zh-CN" sz="2400" b="1" dirty="0" err="1"/>
              <a:t>htons</a:t>
            </a:r>
            <a:r>
              <a:rPr lang="en-US" altLang="zh-CN" sz="2400" b="1" dirty="0"/>
              <a:t>(13); 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if (</a:t>
            </a:r>
            <a:r>
              <a:rPr lang="en-US" altLang="zh-CN" sz="2400" b="1" dirty="0" err="1"/>
              <a:t>inet_pton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olidFill>
                  <a:srgbClr val="FF0000"/>
                </a:solidFill>
              </a:rPr>
              <a:t>AF_INET6</a:t>
            </a:r>
            <a:r>
              <a:rPr lang="en-US" altLang="zh-CN" sz="2400" b="1" dirty="0"/>
              <a:t>, </a:t>
            </a:r>
            <a:r>
              <a:rPr lang="en-US" altLang="zh-CN" sz="2400" b="1" dirty="0" err="1"/>
              <a:t>argv</a:t>
            </a:r>
            <a:r>
              <a:rPr lang="en-US" altLang="zh-CN" sz="2400" b="1" dirty="0"/>
              <a:t>[1], &amp;servaddr.</a:t>
            </a:r>
            <a:r>
              <a:rPr lang="en-US" altLang="zh-CN" sz="2400" b="1" dirty="0">
                <a:solidFill>
                  <a:srgbClr val="FF0000"/>
                </a:solidFill>
              </a:rPr>
              <a:t>sin6_addr</a:t>
            </a:r>
            <a:r>
              <a:rPr lang="en-US" altLang="zh-CN" sz="2400" b="1" dirty="0"/>
              <a:t>) &lt;= 0)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650" y="1052513"/>
            <a:ext cx="7848600" cy="5222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修改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行代码</a:t>
            </a:r>
            <a:endParaRPr lang="en-US" altLang="zh-CN" sz="2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四、错误处理：包裹函数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650" y="1125538"/>
            <a:ext cx="8064500" cy="9985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任何现实世界的程序都必须检查每个函数调用是否返回错误。</a:t>
            </a:r>
            <a:endParaRPr lang="en-US" altLang="zh-CN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55650" y="2430463"/>
            <a:ext cx="8064500" cy="9985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if ( (</a:t>
            </a:r>
            <a:r>
              <a:rPr lang="en-US" altLang="zh-CN" sz="2400" b="1" dirty="0" err="1"/>
              <a:t>sockfd</a:t>
            </a:r>
            <a:r>
              <a:rPr lang="en-US" altLang="zh-CN" sz="2400" b="1" dirty="0"/>
              <a:t> = socket(AF_INET, SOCK_STREAM, 0)) &lt; 0)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	</a:t>
            </a:r>
            <a:r>
              <a:rPr lang="en-US" altLang="zh-CN" sz="2400" b="1" dirty="0" err="1"/>
              <a:t>err_sys</a:t>
            </a:r>
            <a:r>
              <a:rPr lang="en-US" altLang="zh-CN" sz="2400" b="1" dirty="0"/>
              <a:t>("socket error");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650" y="3716338"/>
            <a:ext cx="8064500" cy="14795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因为多数情况下程序终止于一个错误，我们可以定义包裹函数来简化我们的程序。</a:t>
            </a:r>
            <a:r>
              <a:rPr lang="zh-CN" altLang="en-US" sz="2400" b="1" dirty="0">
                <a:solidFill>
                  <a:srgbClr val="FF0000"/>
                </a:solidFill>
              </a:rPr>
              <a:t>包裹函数调用实际函数，检查返回值，发生错误时终止进程。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四、错误处理：包裹函数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650" y="1125538"/>
            <a:ext cx="8064500" cy="44132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 err="1"/>
              <a:t>int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Socket(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family,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type,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protocol)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{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    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    n;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     if ( (n = socket(family, type, protocol)) &lt; 0)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         </a:t>
            </a:r>
            <a:r>
              <a:rPr lang="en-US" altLang="zh-CN" sz="2400" b="1" dirty="0" err="1"/>
              <a:t>err_sys</a:t>
            </a:r>
            <a:r>
              <a:rPr lang="en-US" altLang="zh-CN" sz="2400" b="1" dirty="0"/>
              <a:t>("socket error");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    return (n);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650" y="5715000"/>
            <a:ext cx="8064500" cy="5222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 err="1">
                <a:solidFill>
                  <a:srgbClr val="FF0000"/>
                </a:solidFill>
              </a:rPr>
              <a:t>sockfd</a:t>
            </a:r>
            <a:r>
              <a:rPr lang="en-US" altLang="zh-CN" sz="2400" b="1" dirty="0">
                <a:solidFill>
                  <a:srgbClr val="FF0000"/>
                </a:solidFill>
              </a:rPr>
              <a:t> = Socket(AF_INET, SOCK_STREAM, 0);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四、错误处理：包裹函数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560" y="1484784"/>
            <a:ext cx="8064500" cy="440043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选择题：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下面关于包裹函数的叙述正确的是（ ）。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A. </a:t>
            </a:r>
            <a:r>
              <a:rPr lang="zh-CN" altLang="en-US" sz="2400" b="1" dirty="0"/>
              <a:t>包裹函数和实际函数的函数名一致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r>
              <a:rPr lang="en-US" altLang="zh-CN" sz="2400" b="1" dirty="0"/>
              <a:t>. </a:t>
            </a:r>
            <a:r>
              <a:rPr lang="zh-CN" altLang="en-US" sz="2400" b="1" dirty="0"/>
              <a:t>包裹函数检查实际函数是否返回错误，发生错误时终止进程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C</a:t>
            </a:r>
            <a:r>
              <a:rPr lang="en-US" altLang="zh-CN" sz="2400" b="1" dirty="0"/>
              <a:t>. </a:t>
            </a:r>
            <a:r>
              <a:rPr lang="zh-CN" altLang="en-US" sz="2400" b="1" dirty="0"/>
              <a:t>包裹函数可以简化程序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400" b="1" dirty="0"/>
              <a:t>D. </a:t>
            </a:r>
            <a:r>
              <a:rPr lang="zh-CN" altLang="en-US" sz="2400" b="1" dirty="0"/>
              <a:t>包裹函数是通用的，并不是</a:t>
            </a:r>
            <a:r>
              <a:rPr lang="en-US" altLang="zh-CN" sz="2400" b="1" dirty="0"/>
              <a:t>Stevens W. R.</a:t>
            </a:r>
            <a:r>
              <a:rPr lang="zh-CN" altLang="en-US" sz="2400" b="1" dirty="0"/>
              <a:t>一人使用的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1685730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Unix errno</a:t>
            </a:r>
            <a:r>
              <a:rPr lang="zh-CN" altLang="en-US"/>
              <a:t>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188" y="1125538"/>
            <a:ext cx="8064500" cy="14779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每当在一个 </a:t>
            </a:r>
            <a:r>
              <a:rPr lang="en-US" altLang="zh-CN" sz="2400" b="1" dirty="0"/>
              <a:t>Unix </a:t>
            </a:r>
            <a:r>
              <a:rPr lang="zh-CN" altLang="en-US" sz="2400" b="1" dirty="0"/>
              <a:t>函数（如</a:t>
            </a:r>
            <a:r>
              <a:rPr lang="en-US" altLang="zh-CN" sz="2400" b="1" dirty="0"/>
              <a:t>socket </a:t>
            </a:r>
            <a:r>
              <a:rPr lang="zh-CN" altLang="en-US" sz="2400" b="1" dirty="0"/>
              <a:t>函数）中发生错误时，全局变量 </a:t>
            </a:r>
            <a:r>
              <a:rPr lang="en-US" altLang="zh-CN" sz="2400" b="1" dirty="0" err="1"/>
              <a:t>errno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将被置成一个指示错误类型的正数，函数本身则通常返回</a:t>
            </a:r>
            <a:r>
              <a:rPr lang="en-US" altLang="zh-CN" sz="2400" b="1" dirty="0"/>
              <a:t>-1 </a:t>
            </a:r>
            <a:r>
              <a:rPr lang="zh-CN" altLang="en-US" sz="2400" b="1" dirty="0"/>
              <a:t>。</a:t>
            </a:r>
            <a:endParaRPr lang="en-US" altLang="zh-CN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11188" y="2813050"/>
            <a:ext cx="8064500" cy="5222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 err="1"/>
              <a:t>errno</a:t>
            </a:r>
            <a:r>
              <a:rPr lang="zh-CN" altLang="en-US" sz="2400" b="1" dirty="0"/>
              <a:t>的值只在函数发生错误时设置。</a:t>
            </a:r>
            <a:endParaRPr lang="en-US" altLang="zh-CN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11188" y="3554413"/>
            <a:ext cx="8064500" cy="14795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在 </a:t>
            </a:r>
            <a:r>
              <a:rPr lang="en-US" altLang="zh-CN" sz="2400" b="1" dirty="0"/>
              <a:t>Unix </a:t>
            </a:r>
            <a:r>
              <a:rPr lang="zh-CN" altLang="en-US" sz="2400" b="1" dirty="0"/>
              <a:t>中，所有的错误值都是常值，具有以 </a:t>
            </a:r>
            <a:r>
              <a:rPr lang="en-US" altLang="zh-CN" sz="2400" b="1" dirty="0"/>
              <a:t>E </a:t>
            </a:r>
            <a:r>
              <a:rPr lang="zh-CN" altLang="en-US" sz="2400" b="1" dirty="0"/>
              <a:t>打头的全大写字母名字，在头文件（ </a:t>
            </a:r>
            <a:r>
              <a:rPr lang="en-US" altLang="zh-CN" sz="2400" b="1" dirty="0"/>
              <a:t>sys/</a:t>
            </a:r>
            <a:r>
              <a:rPr lang="en-US" altLang="zh-CN" sz="2400" b="1" dirty="0" err="1"/>
              <a:t>errno.h</a:t>
            </a:r>
            <a:r>
              <a:rPr lang="en-US" altLang="zh-CN" sz="2400" b="1" dirty="0"/>
              <a:t> ) </a:t>
            </a:r>
            <a:r>
              <a:rPr lang="zh-CN" altLang="en-US" sz="2400" b="1" dirty="0"/>
              <a:t>中定义。值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不表示任何错误。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五、简单的时间</a:t>
            </a:r>
            <a:r>
              <a:rPr lang="en-US" altLang="zh-CN"/>
              <a:t>/</a:t>
            </a:r>
            <a:r>
              <a:rPr lang="zh-CN" altLang="en-US"/>
              <a:t>日期服务器程   </a:t>
            </a:r>
            <a:br>
              <a:rPr lang="en-US" altLang="zh-CN"/>
            </a:br>
            <a:r>
              <a:rPr lang="en-US" altLang="zh-CN"/>
              <a:t>        </a:t>
            </a:r>
            <a:r>
              <a:rPr lang="zh-CN" altLang="en-US"/>
              <a:t>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650" y="1847850"/>
            <a:ext cx="7848600" cy="34528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头文件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定义变量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创建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套接口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变量赋值，捆绑服务器的众所周知端口到套接口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把套接口变换成监听套接口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接受客户连接，发送应答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关闭连接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1363" y="5521325"/>
            <a:ext cx="7848600" cy="5715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b="1" dirty="0" err="1">
                <a:solidFill>
                  <a:srgbClr val="FF0000"/>
                </a:solidFill>
              </a:rPr>
              <a:t>sudo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fr-FR" altLang="zh-CN" sz="2400" b="1" dirty="0">
                <a:solidFill>
                  <a:srgbClr val="FF0000"/>
                </a:solidFill>
              </a:rPr>
              <a:t>./daytimetcpsrv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六、小结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650" y="1125538"/>
            <a:ext cx="7848600" cy="19589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本章的时间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日期客户程序虽然简单，但它说明了一个完整的 </a:t>
            </a:r>
            <a:r>
              <a:rPr lang="en-US" altLang="zh-CN" sz="2400" b="1" dirty="0"/>
              <a:t>TCP </a:t>
            </a:r>
            <a:r>
              <a:rPr lang="zh-CN" altLang="en-US" sz="2400" b="1" dirty="0"/>
              <a:t>客户程序，它从一指定的服务器读取当前的时间和日期；服务器程序也是一个相对完整的版本。这两个例子引入了许多本书其他部分将要扩展的概念和术语。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650" y="3284538"/>
            <a:ext cx="7848600" cy="14795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2400" b="1" dirty="0"/>
              <a:t>纵贯本书，我们将使用包裹函数以减少代码的长度，同时又保证测试每个函数调用，检查是否返回错误。我们的包裹函数都以一个大写字母开头。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cel2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1496</TotalTime>
  <Words>742</Words>
  <Application>Microsoft Office PowerPoint</Application>
  <PresentationFormat>全屏显示(4:3)</PresentationFormat>
  <Paragraphs>80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Arial</vt:lpstr>
      <vt:lpstr>Garamond</vt:lpstr>
      <vt:lpstr>Wingdings</vt:lpstr>
      <vt:lpstr>excel2</vt:lpstr>
      <vt:lpstr>网络编程技术</vt:lpstr>
      <vt:lpstr>教材，作者</vt:lpstr>
      <vt:lpstr>主要内容</vt:lpstr>
      <vt:lpstr>PowerPoint 演示文稿</vt:lpstr>
      <vt:lpstr>PowerPoint 演示文稿</vt:lpstr>
      <vt:lpstr>PowerPoint 演示文稿</vt:lpstr>
      <vt:lpstr>二、简单的时间/日期客户程序</vt:lpstr>
      <vt:lpstr>三、协议无关性</vt:lpstr>
      <vt:lpstr>四、错误处理：包裹函数</vt:lpstr>
      <vt:lpstr>四、错误处理：包裹函数</vt:lpstr>
      <vt:lpstr>四、错误处理：包裹函数</vt:lpstr>
      <vt:lpstr>Unix errno值</vt:lpstr>
      <vt:lpstr>五、简单的时间/日期服务器程            序</vt:lpstr>
      <vt:lpstr>六、小结</vt:lpstr>
    </vt:vector>
  </TitlesOfParts>
  <Company>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网络编程</dc:title>
  <dc:creator>q</dc:creator>
  <cp:lastModifiedBy>Wei Wang</cp:lastModifiedBy>
  <cp:revision>226</cp:revision>
  <dcterms:created xsi:type="dcterms:W3CDTF">2013-03-13T16:12:15Z</dcterms:created>
  <dcterms:modified xsi:type="dcterms:W3CDTF">2026-03-09T07:44:00Z</dcterms:modified>
</cp:coreProperties>
</file>