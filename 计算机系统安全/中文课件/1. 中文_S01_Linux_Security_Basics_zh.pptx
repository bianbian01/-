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notesMasterIdLst>
    <p:notesMasterId r:id="rId34"/>
  </p:notesMasterIdLst>
  <p:sldIdLst>
    <p:sldId id="256" r:id="rId2"/>
    <p:sldId id="265" r:id="rId3"/>
    <p:sldId id="270" r:id="rId4"/>
    <p:sldId id="266" r:id="rId5"/>
    <p:sldId id="269" r:id="rId6"/>
    <p:sldId id="267" r:id="rId7"/>
    <p:sldId id="268" r:id="rId8"/>
    <p:sldId id="271" r:id="rId9"/>
    <p:sldId id="276" r:id="rId10"/>
    <p:sldId id="272" r:id="rId11"/>
    <p:sldId id="273" r:id="rId12"/>
    <p:sldId id="274" r:id="rId13"/>
    <p:sldId id="275" r:id="rId14"/>
    <p:sldId id="277" r:id="rId15"/>
    <p:sldId id="278" r:id="rId16"/>
    <p:sldId id="283" r:id="rId17"/>
    <p:sldId id="279" r:id="rId18"/>
    <p:sldId id="280" r:id="rId19"/>
    <p:sldId id="281" r:id="rId20"/>
    <p:sldId id="282" r:id="rId21"/>
    <p:sldId id="284" r:id="rId22"/>
    <p:sldId id="285" r:id="rId23"/>
    <p:sldId id="289" r:id="rId24"/>
    <p:sldId id="286" r:id="rId25"/>
    <p:sldId id="287" r:id="rId26"/>
    <p:sldId id="290" r:id="rId27"/>
    <p:sldId id="288" r:id="rId28"/>
    <p:sldId id="291" r:id="rId29"/>
    <p:sldId id="292" r:id="rId30"/>
    <p:sldId id="294" r:id="rId31"/>
    <p:sldId id="293" r:id="rId32"/>
    <p:sldId id="29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3" autoAdjust="0"/>
    <p:restoredTop sz="85927" autoAdjust="0"/>
  </p:normalViewPr>
  <p:slideViewPr>
    <p:cSldViewPr>
      <p:cViewPr varScale="1">
        <p:scale>
          <a:sx n="105" d="100"/>
          <a:sy n="105" d="100"/>
        </p:scale>
        <p:origin x="148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10E91-F366-4DC1-B7B7-7C1E8DAC99BF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CCEEA-212A-445A-B5B9-3AEB50B92E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387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CCEEA-212A-445A-B5B9-3AEB50B92E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86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谈谈root用户的特殊ID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CCEEA-212A-445A-B5B9-3AEB50B92E9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58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使用此图显示权限的八进制表示，以及如何更改权限。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CCEEA-212A-445A-B5B9-3AEB50B92E9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428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该运算不是 XOR 或 AND（很多学生感到困惑，因为他们认为该运算要么是 XOR，要么是 AND）。</a:t>
            </a:r>
          </a:p>
          <a:p>
            <a:r>
              <a:rPr lang="zh-CN" dirty="0"/>
              <a:t>实际操作是 Initial AND NOT( </a:t>
            </a:r>
            <a:r>
              <a:rPr lang="zh-CN" dirty="0" err="1"/>
              <a:t>umask </a:t>
            </a:r>
            <a:r>
              <a:rPr lang="zh-CN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CCEEA-212A-445A-B5B9-3AEB50B92E9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09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在讲座期间，使用</a:t>
            </a:r>
            <a:r>
              <a:rPr lang="zh-CN" dirty="0" err="1"/>
              <a:t>umask</a:t>
            </a:r>
            <a:r>
              <a:rPr lang="zh-CN" dirty="0"/>
              <a:t>值推导出最终权限，并将其与最终结果进行比较。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CCEEA-212A-445A-B5B9-3AEB50B92E9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905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特殊命令：/ </a:t>
            </a:r>
            <a:r>
              <a:rPr lang="zh-CN" dirty="0" err="1"/>
              <a:t>usr </a:t>
            </a:r>
            <a:r>
              <a:rPr lang="zh-CN" dirty="0"/>
              <a:t>/ </a:t>
            </a:r>
            <a:r>
              <a:rPr lang="zh-CN" dirty="0" err="1"/>
              <a:t>sbin </a:t>
            </a:r>
            <a:r>
              <a:rPr lang="zh-CN" dirty="0"/>
              <a:t>/ </a:t>
            </a:r>
            <a:r>
              <a:rPr lang="zh-CN" dirty="0" err="1"/>
              <a:t>nologin </a:t>
            </a:r>
            <a:r>
              <a:rPr lang="zh-CN" dirty="0"/>
              <a:t>，/bin/false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CCEEA-212A-445A-B5B9-3AEB50B92E92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824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解释影子文件的必要性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CCEEA-212A-445A-B5B9-3AEB50B92E92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274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CCEEA-212A-445A-B5B9-3AEB50B92E92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832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9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6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14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3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3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04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00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80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877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05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40F1021-B266-43B3-BDEC-DFA811CAEF20}" type="datetimeFigureOut">
              <a:rPr lang="en-US" smtClean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E3903F50-6C8B-4DF5-9707-78408FB2F5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6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m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tm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tmp"/><Relationship Id="rId4" Type="http://schemas.openxmlformats.org/officeDocument/2006/relationships/image" Target="../media/image20.tm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2743200"/>
            <a:ext cx="8915400" cy="1470025"/>
          </a:xfrm>
        </p:spPr>
        <p:txBody>
          <a:bodyPr>
            <a:noAutofit/>
          </a:bodyPr>
          <a:lstStyle/>
          <a:p>
            <a:r>
              <a:rPr lang="zh-CN" sz="5400" dirty="0"/>
              <a:t>Linux 安全基础知识</a:t>
            </a:r>
          </a:p>
        </p:txBody>
      </p:sp>
    </p:spTree>
    <p:extLst>
      <p:ext uri="{BB962C8B-B14F-4D97-AF65-F5344CB8AC3E}">
        <p14:creationId xmlns:p14="http://schemas.microsoft.com/office/powerpoint/2010/main" val="5288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754" y="304800"/>
            <a:ext cx="9549245" cy="914400"/>
          </a:xfrm>
        </p:spPr>
        <p:txBody>
          <a:bodyPr>
            <a:noAutofit/>
          </a:bodyPr>
          <a:lstStyle/>
          <a:p>
            <a:pPr algn="l"/>
            <a:r>
              <a:rPr lang="zh-CN" dirty="0"/>
              <a:t>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10972800" cy="4038600"/>
          </a:xfrm>
        </p:spPr>
        <p:txBody>
          <a:bodyPr>
            <a:normAutofit/>
          </a:bodyPr>
          <a:lstStyle/>
          <a:p>
            <a:r>
              <a:rPr lang="zh-CN" sz="2800" dirty="0"/>
              <a:t>用户和组</a:t>
            </a:r>
            <a:r>
              <a:rPr lang="zh-CN" altLang="en-US" sz="2800" dirty="0"/>
              <a:t>（</a:t>
            </a:r>
            <a:r>
              <a:rPr lang="en-US" altLang="zh-CN" sz="2800" dirty="0"/>
              <a:t>Users</a:t>
            </a:r>
            <a:r>
              <a:rPr lang="zh-CN" altLang="en-US" sz="2800" dirty="0"/>
              <a:t> </a:t>
            </a:r>
            <a:r>
              <a:rPr lang="en-US" altLang="zh-CN" sz="2800" dirty="0"/>
              <a:t>&amp;</a:t>
            </a:r>
            <a:r>
              <a:rPr lang="zh-CN" altLang="en-US" sz="2800" dirty="0"/>
              <a:t> </a:t>
            </a:r>
            <a:r>
              <a:rPr lang="en-US" altLang="zh-CN" sz="2800" dirty="0"/>
              <a:t>Groups</a:t>
            </a:r>
            <a:r>
              <a:rPr lang="zh-CN" altLang="en-US" sz="2800" dirty="0"/>
              <a:t>）</a:t>
            </a:r>
            <a:endParaRPr lang="zh-CN" sz="2800" dirty="0"/>
          </a:p>
          <a:p>
            <a:r>
              <a:rPr lang="zh-CN" sz="2800" dirty="0"/>
              <a:t>权限和访问控制</a:t>
            </a:r>
            <a:r>
              <a:rPr lang="zh-CN" altLang="en-US" sz="2800" dirty="0"/>
              <a:t>（</a:t>
            </a:r>
            <a:r>
              <a:rPr lang="en-US" altLang="zh-CN" sz="2800" dirty="0"/>
              <a:t>Permissions</a:t>
            </a:r>
            <a:r>
              <a:rPr lang="zh-CN" altLang="en-US" sz="2800" dirty="0"/>
              <a:t> </a:t>
            </a:r>
            <a:r>
              <a:rPr lang="en-US" altLang="zh-CN" sz="2800" dirty="0"/>
              <a:t>&amp;</a:t>
            </a:r>
            <a:r>
              <a:rPr lang="zh-CN" altLang="en-US" sz="2800" dirty="0"/>
              <a:t> </a:t>
            </a:r>
            <a:r>
              <a:rPr lang="en-US" altLang="zh-CN" sz="2800" dirty="0"/>
              <a:t>Access</a:t>
            </a:r>
            <a:r>
              <a:rPr lang="zh-CN" altLang="en-US" sz="2800" dirty="0"/>
              <a:t> </a:t>
            </a:r>
            <a:r>
              <a:rPr lang="en-US" altLang="zh-CN" sz="2800" dirty="0"/>
              <a:t>Control</a:t>
            </a:r>
            <a:r>
              <a:rPr lang="zh-CN" altLang="en-US" sz="2800" dirty="0"/>
              <a:t>）</a:t>
            </a:r>
            <a:endParaRPr lang="zh-CN" sz="2800" dirty="0"/>
          </a:p>
          <a:p>
            <a:r>
              <a:rPr lang="zh-CN" sz="2800" dirty="0"/>
              <a:t>以特权运行命令</a:t>
            </a:r>
            <a:r>
              <a:rPr lang="zh-CN" altLang="en-US" sz="2800" dirty="0"/>
              <a:t>（</a:t>
            </a:r>
            <a:r>
              <a:rPr lang="en-US" altLang="zh-CN" sz="2800" dirty="0"/>
              <a:t>Running</a:t>
            </a:r>
            <a:r>
              <a:rPr lang="zh-CN" altLang="en-US" sz="2800" dirty="0"/>
              <a:t> </a:t>
            </a:r>
            <a:r>
              <a:rPr lang="en-US" altLang="zh-CN" sz="2800" dirty="0"/>
              <a:t>commands</a:t>
            </a:r>
            <a:r>
              <a:rPr lang="zh-CN" altLang="en-US" sz="2800" dirty="0"/>
              <a:t> </a:t>
            </a:r>
            <a:r>
              <a:rPr lang="en-US" altLang="zh-CN" sz="2800" dirty="0"/>
              <a:t>with</a:t>
            </a:r>
            <a:r>
              <a:rPr lang="zh-CN" altLang="en-US" sz="2800" dirty="0"/>
              <a:t> </a:t>
            </a:r>
            <a:r>
              <a:rPr lang="en-US" altLang="zh-CN" sz="2800" dirty="0"/>
              <a:t>privilege</a:t>
            </a:r>
            <a:r>
              <a:rPr lang="zh-CN" altLang="en-US" sz="2800" dirty="0"/>
              <a:t>）</a:t>
            </a:r>
            <a:endParaRPr lang="zh-CN" sz="2800" dirty="0"/>
          </a:p>
          <a:p>
            <a:r>
              <a:rPr lang="zh-CN" altLang="en-US" sz="2800" dirty="0"/>
              <a:t>认证（</a:t>
            </a:r>
            <a:r>
              <a:rPr lang="en-US" altLang="zh-CN" sz="2800" dirty="0"/>
              <a:t>Authentication</a:t>
            </a:r>
            <a:r>
              <a:rPr lang="zh-CN" altLang="en-US" sz="2800" dirty="0"/>
              <a:t>）</a:t>
            </a:r>
            <a:endParaRPr lang="zh-CN" sz="2800" dirty="0"/>
          </a:p>
          <a:p>
            <a:pPr marL="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0159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9DC0-32E2-C7CA-D49A-26C340EB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用户和组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E220D-EDE6-0EE6-3F8C-D9C692807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73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D327-FC1E-846A-D424-D17E5CE41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361"/>
            <a:ext cx="10058400" cy="1609344"/>
          </a:xfrm>
        </p:spPr>
        <p:txBody>
          <a:bodyPr/>
          <a:lstStyle/>
          <a:p>
            <a:r>
              <a:rPr lang="zh-CN" dirty="0"/>
              <a:t>用户</a:t>
            </a:r>
            <a:r>
              <a:rPr lang="zh-CN" altLang="en-US" dirty="0"/>
              <a:t>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zh-CN" altLang="en-US" dirty="0"/>
              <a:t>）</a:t>
            </a:r>
            <a:endParaRPr 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6F33A-B16F-FAAE-0C34-90DD6CC23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69656"/>
            <a:ext cx="10058400" cy="4050792"/>
          </a:xfrm>
        </p:spPr>
        <p:txBody>
          <a:bodyPr/>
          <a:lstStyle/>
          <a:p>
            <a:r>
              <a:rPr lang="zh-CN" sz="2400" dirty="0"/>
              <a:t>在Linux系统中，每个用户都会被分配一个唯一的用户ID。</a:t>
            </a:r>
          </a:p>
          <a:p>
            <a:r>
              <a:rPr lang="zh-CN" sz="2400" dirty="0"/>
              <a:t>用户 ID 存储在 / </a:t>
            </a:r>
            <a:r>
              <a:rPr lang="zh-CN" sz="2400" dirty="0" err="1"/>
              <a:t>etc </a:t>
            </a:r>
            <a:r>
              <a:rPr lang="zh-CN" sz="2400" dirty="0"/>
              <a:t>/password中</a:t>
            </a:r>
          </a:p>
          <a:p>
            <a:endParaRPr lang="en-US" dirty="0"/>
          </a:p>
          <a:p>
            <a:endParaRPr lang="en-US" dirty="0"/>
          </a:p>
          <a:p>
            <a:r>
              <a:rPr lang="zh-CN" sz="2400" dirty="0"/>
              <a:t>查找用户 ID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1C3D3-A20F-BDFD-4492-53E96C3F8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16" y="2741388"/>
            <a:ext cx="7744906" cy="676369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1026E5A-7806-AFD5-D3B9-417B5C7B6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16" y="4023355"/>
            <a:ext cx="7973538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21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8042-0F19-4C68-4275-80428216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添加用户并切换到其他用户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CF5E-4B50-920A-6487-0DD27D6C7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添加用户</a:t>
            </a:r>
          </a:p>
          <a:p>
            <a:pPr lvl="1"/>
            <a:r>
              <a:rPr lang="zh-CN" sz="2400" dirty="0"/>
              <a:t>直接添加到 / </a:t>
            </a:r>
            <a:r>
              <a:rPr lang="zh-CN" sz="2400" dirty="0" err="1"/>
              <a:t>etc </a:t>
            </a:r>
            <a:r>
              <a:rPr lang="zh-CN" sz="2400" dirty="0"/>
              <a:t>/password</a:t>
            </a:r>
          </a:p>
          <a:p>
            <a:pPr lvl="1"/>
            <a:r>
              <a:rPr lang="zh-CN" sz="2400" dirty="0"/>
              <a:t>使用“ </a:t>
            </a:r>
            <a:r>
              <a:rPr lang="zh-CN" sz="2400" dirty="0" err="1"/>
              <a:t>adduser </a:t>
            </a:r>
            <a:r>
              <a:rPr lang="zh-CN" sz="2400" dirty="0"/>
              <a:t>”命令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zh-CN" sz="2800" dirty="0"/>
              <a:t>切换到其他用户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Picture 6" descr="Text&#10;&#10;Description automatically generated with low confidence">
            <a:extLst>
              <a:ext uri="{FF2B5EF4-FFF2-40B4-BE49-F238E27FC236}">
                <a16:creationId xmlns:a16="http://schemas.microsoft.com/office/drawing/2014/main" id="{128BBC67-A2D4-B990-0E4E-5C94719F4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648200"/>
            <a:ext cx="3181794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72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DEB6-0008-DC66-C955-497E70AD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组（</a:t>
            </a:r>
            <a:r>
              <a:rPr lang="en-US" altLang="zh-CN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Groups</a:t>
            </a:r>
            <a:r>
              <a:rPr lang="zh-CN" altLang="en-US" dirty="0"/>
              <a:t>）</a:t>
            </a:r>
            <a:endParaRPr 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CA1FE-6E3B-8745-9912-2265C9DAD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z="2800" dirty="0"/>
              <a:t>代表一组用户</a:t>
            </a:r>
          </a:p>
          <a:p>
            <a:r>
              <a:rPr lang="zh-CN" sz="2800" dirty="0"/>
              <a:t>基于组分配权限</a:t>
            </a:r>
          </a:p>
          <a:p>
            <a:r>
              <a:rPr lang="zh-CN" sz="2800" dirty="0"/>
              <a:t>一个用户可以属于多个组</a:t>
            </a:r>
          </a:p>
          <a:p>
            <a:r>
              <a:rPr lang="zh-CN" sz="2800" dirty="0"/>
              <a:t>用户的主组位于 / </a:t>
            </a:r>
            <a:r>
              <a:rPr lang="zh-CN" sz="2800" dirty="0" err="1"/>
              <a:t>etc </a:t>
            </a:r>
            <a:r>
              <a:rPr lang="zh-CN" sz="2800" dirty="0"/>
              <a:t>/password中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827AEBB-68B1-07BE-054E-A382BCAA8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52" y="4572000"/>
            <a:ext cx="8183117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94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A45-0CAF-903F-DB32-E0E1FED3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016" y="0"/>
            <a:ext cx="10058400" cy="1609344"/>
          </a:xfrm>
        </p:spPr>
        <p:txBody>
          <a:bodyPr/>
          <a:lstStyle/>
          <a:p>
            <a:r>
              <a:rPr lang="zh-CN" dirty="0"/>
              <a:t>用户属于哪</a:t>
            </a:r>
            <a:r>
              <a:rPr lang="zh-CN" altLang="en-US" dirty="0"/>
              <a:t>些</a:t>
            </a:r>
            <a:r>
              <a:rPr lang="zh-CN" dirty="0"/>
              <a:t>组？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FE3EDE-80E0-3E22-48E8-E8462689E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293429"/>
            <a:ext cx="6858957" cy="828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DFF8E6-E319-1D0B-CC3D-0D6350F34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68" y="5228110"/>
            <a:ext cx="10707594" cy="1057423"/>
          </a:xfrm>
          <a:prstGeom prst="rect">
            <a:avLst/>
          </a:prstGeom>
        </p:spPr>
      </p:pic>
      <p:pic>
        <p:nvPicPr>
          <p:cNvPr id="17" name="Picture 16" descr="Text, letter&#10;&#10;Description automatically generated">
            <a:extLst>
              <a:ext uri="{FF2B5EF4-FFF2-40B4-BE49-F238E27FC236}">
                <a16:creationId xmlns:a16="http://schemas.microsoft.com/office/drawing/2014/main" id="{C7101EED-76AF-C9F1-6164-18BA9A8A5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70" y="1510640"/>
            <a:ext cx="5239481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881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48D1-AA9B-3E92-A0FA-479A6F19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4631"/>
            <a:ext cx="10058400" cy="1609344"/>
          </a:xfrm>
        </p:spPr>
        <p:txBody>
          <a:bodyPr/>
          <a:lstStyle/>
          <a:p>
            <a:r>
              <a:rPr lang="zh-CN" altLang="en-US" dirty="0"/>
              <a:t>群</a:t>
            </a:r>
            <a:r>
              <a:rPr lang="zh-CN" dirty="0"/>
              <a:t>管理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289A14-386B-C3E2-8FDE-8E88569B4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48000"/>
            <a:ext cx="9497750" cy="105742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593C7A-EC5E-31A5-6469-02F745009C6C}"/>
              </a:ext>
            </a:extLst>
          </p:cNvPr>
          <p:cNvSpPr txBox="1"/>
          <p:nvPr/>
        </p:nvSpPr>
        <p:spPr>
          <a:xfrm>
            <a:off x="762000" y="2133600"/>
            <a:ext cx="30846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3200" dirty="0"/>
              <a:t>如何添加用户</a:t>
            </a:r>
          </a:p>
        </p:txBody>
      </p:sp>
    </p:spTree>
    <p:extLst>
      <p:ext uri="{BB962C8B-B14F-4D97-AF65-F5344CB8AC3E}">
        <p14:creationId xmlns:p14="http://schemas.microsoft.com/office/powerpoint/2010/main" val="340867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763D-FE01-0B89-D20D-18011E64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权限和访问控制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A07B8-7AB6-F751-357C-FAA7AE61D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B68C4-930F-19FB-8EEE-513B1543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传统</a:t>
            </a:r>
            <a:r>
              <a:rPr lang="zh-CN" altLang="en-US" dirty="0"/>
              <a:t>权限</a:t>
            </a:r>
            <a:r>
              <a:rPr lang="zh-CN" dirty="0"/>
              <a:t>模式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82178-D5A3-0544-C46D-786AFDD7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400" dirty="0"/>
              <a:t>文件访问类型</a:t>
            </a:r>
          </a:p>
          <a:p>
            <a:pPr lvl="1"/>
            <a:r>
              <a:rPr lang="zh-CN" sz="2000" b="1" dirty="0"/>
              <a:t>读取 (r) </a:t>
            </a:r>
            <a:r>
              <a:rPr lang="zh-CN" sz="2000" dirty="0"/>
              <a:t>：用户可以查看文件的内容</a:t>
            </a:r>
          </a:p>
          <a:p>
            <a:pPr lvl="1"/>
            <a:r>
              <a:rPr lang="zh-CN" sz="2000" b="1" dirty="0"/>
              <a:t>写入（w） </a:t>
            </a:r>
            <a:r>
              <a:rPr lang="zh-CN" sz="2000" dirty="0"/>
              <a:t>：用户可以更改文件的内容</a:t>
            </a:r>
          </a:p>
          <a:p>
            <a:pPr lvl="1"/>
            <a:r>
              <a:rPr lang="zh-CN" sz="2000" b="1" dirty="0"/>
              <a:t>执行 (x) </a:t>
            </a:r>
            <a:r>
              <a:rPr lang="zh-CN" sz="2000" dirty="0"/>
              <a:t>：如果文件是程序或脚本，用户可以执行或运行该文件。</a:t>
            </a:r>
          </a:p>
          <a:p>
            <a:r>
              <a:rPr lang="zh-CN" sz="2400" dirty="0"/>
              <a:t>目录访问类型</a:t>
            </a:r>
          </a:p>
          <a:p>
            <a:pPr lvl="1"/>
            <a:r>
              <a:rPr lang="zh-CN" sz="2000" b="1" dirty="0"/>
              <a:t>读取（r） </a:t>
            </a:r>
            <a:r>
              <a:rPr lang="zh-CN" sz="2000" dirty="0"/>
              <a:t>：用户可以列出目录的内容（例如，使用 ls 命令）。</a:t>
            </a:r>
          </a:p>
          <a:p>
            <a:pPr lvl="1"/>
            <a:r>
              <a:rPr lang="zh-CN" sz="2000" b="1" dirty="0"/>
              <a:t>写入 (w) </a:t>
            </a:r>
            <a:r>
              <a:rPr lang="zh-CN" sz="2000" dirty="0"/>
              <a:t>：用户可以在目录中创建文件和子目录。</a:t>
            </a:r>
          </a:p>
          <a:p>
            <a:pPr lvl="1"/>
            <a:r>
              <a:rPr lang="zh-CN" sz="2000" b="1" dirty="0"/>
              <a:t>执行 (x) </a:t>
            </a:r>
            <a:r>
              <a:rPr lang="zh-CN" sz="2000" dirty="0"/>
              <a:t>：用户可以进入该目录（例如，使用 cd 命令）</a:t>
            </a:r>
          </a:p>
        </p:txBody>
      </p:sp>
    </p:spTree>
    <p:extLst>
      <p:ext uri="{BB962C8B-B14F-4D97-AF65-F5344CB8AC3E}">
        <p14:creationId xmlns:p14="http://schemas.microsoft.com/office/powerpoint/2010/main" val="3125543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DB14-EFEE-519B-8232-ECDDF971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3256"/>
            <a:ext cx="10058400" cy="1609344"/>
          </a:xfrm>
        </p:spPr>
        <p:txBody>
          <a:bodyPr/>
          <a:lstStyle/>
          <a:p>
            <a:r>
              <a:rPr lang="zh-CN" dirty="0"/>
              <a:t>文件权限</a:t>
            </a:r>
          </a:p>
        </p:txBody>
      </p:sp>
      <p:pic>
        <p:nvPicPr>
          <p:cNvPr id="5" name="Content Placeholder 4" descr="Table&#10;&#10;Description automatically generated with low confidence">
            <a:extLst>
              <a:ext uri="{FF2B5EF4-FFF2-40B4-BE49-F238E27FC236}">
                <a16:creationId xmlns:a16="http://schemas.microsoft.com/office/drawing/2014/main" id="{18486352-5769-ED6C-08B6-87CF30D5D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52600"/>
            <a:ext cx="9669224" cy="2972215"/>
          </a:xfrm>
        </p:spPr>
      </p:pic>
    </p:spTree>
    <p:extLst>
      <p:ext uri="{BB962C8B-B14F-4D97-AF65-F5344CB8AC3E}">
        <p14:creationId xmlns:p14="http://schemas.microsoft.com/office/powerpoint/2010/main" val="1051212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EAD2A-FBF2-CBAB-F15C-F2A41A0B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默认文件权限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A1306-E970-F0F5-20D2-B17D1AA3A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z="2400" dirty="0" err="1"/>
              <a:t>umask</a:t>
            </a:r>
            <a:r>
              <a:rPr lang="zh-CN" sz="2400" dirty="0"/>
              <a:t>值：决定新文件的默认权限</a:t>
            </a:r>
          </a:p>
          <a:p>
            <a:r>
              <a:rPr lang="zh-CN" sz="2400" dirty="0"/>
              <a:t>例子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D4E37ACE-1AA1-0D50-4A72-4E7B2FE3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52" y="3276600"/>
            <a:ext cx="5763429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2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F334-C217-1B5D-64E0-21485A2E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示例（ </a:t>
            </a:r>
            <a:r>
              <a:rPr lang="zh-CN" dirty="0" err="1"/>
              <a:t>umask </a:t>
            </a:r>
            <a:r>
              <a:rPr lang="zh-CN" dirty="0"/>
              <a:t>）</a:t>
            </a:r>
          </a:p>
        </p:txBody>
      </p:sp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1EFFCE17-DFF3-F098-2766-1EE215B09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91777"/>
            <a:ext cx="6925642" cy="2372056"/>
          </a:xfrm>
          <a:prstGeom prst="rect">
            <a:avLst/>
          </a:prstGeom>
        </p:spPr>
      </p:pic>
      <p:pic>
        <p:nvPicPr>
          <p:cNvPr id="13" name="Picture 12" descr="A picture containing shape&#10;&#10;Description automatically generated">
            <a:extLst>
              <a:ext uri="{FF2B5EF4-FFF2-40B4-BE49-F238E27FC236}">
                <a16:creationId xmlns:a16="http://schemas.microsoft.com/office/drawing/2014/main" id="{7D76288F-B0E6-2017-8508-904DF981D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86458"/>
            <a:ext cx="6925642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47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11FC9-8D4A-B60D-3109-5D693BD06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1711"/>
            <a:ext cx="11963400" cy="1609344"/>
          </a:xfrm>
        </p:spPr>
        <p:txBody>
          <a:bodyPr/>
          <a:lstStyle/>
          <a:p>
            <a:r>
              <a:rPr lang="zh-CN" dirty="0"/>
              <a:t>访问控制列表</a:t>
            </a:r>
            <a:r>
              <a:rPr lang="zh-CN" altLang="en-US" dirty="0"/>
              <a:t>（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AccessControl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ACL</a:t>
            </a:r>
            <a:r>
              <a:rPr lang="zh-CN" altLang="en-US" dirty="0"/>
              <a:t>）</a:t>
            </a:r>
            <a:endParaRPr 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28F67-565E-89C8-02C1-9EBAD9166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072" y="1771055"/>
            <a:ext cx="10058400" cy="4050792"/>
          </a:xfrm>
        </p:spPr>
        <p:txBody>
          <a:bodyPr/>
          <a:lstStyle/>
          <a:p>
            <a:r>
              <a:rPr lang="zh-CN" altLang="en-US" sz="2800" dirty="0"/>
              <a:t>细粒度</a:t>
            </a:r>
            <a:r>
              <a:rPr lang="en-US" altLang="zh-CN" sz="2800" dirty="0"/>
              <a:t>ACL</a:t>
            </a:r>
            <a:endParaRPr lang="zh-CN" sz="2800" dirty="0"/>
          </a:p>
          <a:p>
            <a:r>
              <a:rPr lang="zh-CN" sz="2800" dirty="0"/>
              <a:t>为单个用户/用户组分配权限。</a:t>
            </a:r>
          </a:p>
          <a:p>
            <a:r>
              <a:rPr lang="zh-CN" sz="2800" dirty="0"/>
              <a:t>与传统许可模式共存</a:t>
            </a:r>
          </a:p>
          <a:p>
            <a:r>
              <a:rPr lang="zh-CN" sz="2800" dirty="0"/>
              <a:t>例子</a:t>
            </a:r>
          </a:p>
          <a:p>
            <a:endParaRPr lang="en-US" dirty="0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7E7F0D29-FF5C-A875-ED02-1AA2B083E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784" y="3796451"/>
            <a:ext cx="3515216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633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44A6-0ED1-967C-F8AF-548FBC5BE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854" y="159379"/>
            <a:ext cx="10058400" cy="1609344"/>
          </a:xfrm>
        </p:spPr>
        <p:txBody>
          <a:bodyPr/>
          <a:lstStyle/>
          <a:p>
            <a:r>
              <a:rPr lang="zh-CN" dirty="0"/>
              <a:t>ACL 命令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3A2975-7C96-77D1-BD0F-4511047C4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47" y="1608317"/>
            <a:ext cx="9955014" cy="352474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0955842-EC74-6F67-C41A-B35650DF0846}"/>
              </a:ext>
            </a:extLst>
          </p:cNvPr>
          <p:cNvGrpSpPr/>
          <p:nvPr/>
        </p:nvGrpSpPr>
        <p:grpSpPr>
          <a:xfrm>
            <a:off x="702547" y="2151470"/>
            <a:ext cx="5105400" cy="3505200"/>
            <a:chOff x="685800" y="2438400"/>
            <a:chExt cx="5830114" cy="4020111"/>
          </a:xfrm>
        </p:grpSpPr>
        <p:pic>
          <p:nvPicPr>
            <p:cNvPr id="7" name="Picture 6" descr="Text&#10;&#10;Description automatically generated">
              <a:extLst>
                <a:ext uri="{FF2B5EF4-FFF2-40B4-BE49-F238E27FC236}">
                  <a16:creationId xmlns:a16="http://schemas.microsoft.com/office/drawing/2014/main" id="{5ED0AEF1-256A-DB8B-3D0D-14D132ABF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800" y="2438400"/>
              <a:ext cx="5830114" cy="335326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4728F50-6221-133A-A855-398EA8192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800" y="5791668"/>
              <a:ext cx="5830114" cy="66684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F8440A8-02B8-BD18-9055-6335E225D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69" y="5840733"/>
            <a:ext cx="8821381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78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5B23-EAAA-DF0C-C124-61F5D2F4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以特权运行命令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2D1B3-D129-F13E-3168-22BFF15F9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06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19C4-4055-91D4-8716-67CD4F21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为什么</a:t>
            </a:r>
            <a:r>
              <a:rPr lang="zh-CN" altLang="en-US" dirty="0"/>
              <a:t>？</a:t>
            </a:r>
            <a:endParaRPr 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9E96-D2F6-3066-CBFE-AEAB06548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r>
              <a:rPr lang="zh-CN" sz="2800" dirty="0"/>
              <a:t>三种指挥机制</a:t>
            </a:r>
          </a:p>
          <a:p>
            <a:pPr lvl="1"/>
            <a:r>
              <a:rPr lang="zh-CN" sz="2400" dirty="0" err="1"/>
              <a:t>sudo</a:t>
            </a:r>
            <a:endParaRPr lang="en-US" sz="2400" dirty="0"/>
          </a:p>
          <a:p>
            <a:pPr lvl="1"/>
            <a:r>
              <a:rPr lang="en-US" altLang="zh-CN" sz="2400" dirty="0"/>
              <a:t>Set-</a:t>
            </a:r>
            <a:r>
              <a:rPr lang="en-US" altLang="zh-CN" sz="2400" dirty="0" err="1"/>
              <a:t>uid</a:t>
            </a:r>
            <a:r>
              <a:rPr lang="en-US" altLang="zh-CN" sz="2400" dirty="0"/>
              <a:t> </a:t>
            </a:r>
            <a:r>
              <a:rPr lang="zh-CN" altLang="en-US" sz="2400" dirty="0"/>
              <a:t>一类的</a:t>
            </a:r>
            <a:r>
              <a:rPr lang="zh-CN" sz="2400" dirty="0"/>
              <a:t>程序（将在单独的章节中介绍）</a:t>
            </a:r>
          </a:p>
          <a:p>
            <a:pPr lvl="1"/>
            <a:r>
              <a:rPr lang="zh-CN" sz="2400" dirty="0"/>
              <a:t>POSIX 功能</a:t>
            </a:r>
          </a:p>
        </p:txBody>
      </p:sp>
    </p:spTree>
    <p:extLst>
      <p:ext uri="{BB962C8B-B14F-4D97-AF65-F5344CB8AC3E}">
        <p14:creationId xmlns:p14="http://schemas.microsoft.com/office/powerpoint/2010/main" val="2960933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E2CF-0F68-9DD0-6CCA-D6CDD1D56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使用</a:t>
            </a:r>
            <a:r>
              <a:rPr lang="zh-CN" dirty="0" err="1"/>
              <a:t>sudo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8412F-06CE-4EA4-91FB-34B5AB395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584192"/>
          </a:xfrm>
        </p:spPr>
        <p:txBody>
          <a:bodyPr/>
          <a:lstStyle/>
          <a:p>
            <a:r>
              <a:rPr lang="zh-CN" sz="2800" dirty="0" err="1"/>
              <a:t>sudo </a:t>
            </a:r>
            <a:r>
              <a:rPr lang="zh-CN" sz="2800" dirty="0"/>
              <a:t>：超级用户执行</a:t>
            </a:r>
          </a:p>
          <a:p>
            <a:r>
              <a:rPr lang="zh-CN" sz="2800" dirty="0"/>
              <a:t>以超级用户身份运行命令</a:t>
            </a:r>
          </a:p>
          <a:p>
            <a:r>
              <a:rPr lang="zh-CN" sz="2800" dirty="0"/>
              <a:t>用户必须获得授权（/ etc / sudoers ）</a:t>
            </a:r>
          </a:p>
          <a:p>
            <a:r>
              <a:rPr lang="zh-CN" sz="2800" dirty="0"/>
              <a:t>以下是如何允许</a:t>
            </a:r>
            <a:r>
              <a:rPr lang="zh-CN" altLang="en-US" sz="2800" dirty="0"/>
              <a:t>根</a:t>
            </a:r>
            <a:r>
              <a:rPr lang="zh-CN" sz="2800" dirty="0"/>
              <a:t>用户运行sudo 的方法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17244DC-10CC-9849-6033-4A96FC636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435989"/>
            <a:ext cx="6115904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08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A726-2846-27FD-84BD-7DE0AE98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获取 Root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68C69-FEE7-2B51-980C-A443DC88A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z="2800" dirty="0"/>
              <a:t>在 Ubuntu 20.04 中，root 用户帐户被锁定。</a:t>
            </a:r>
          </a:p>
          <a:p>
            <a:r>
              <a:rPr lang="zh-CN" sz="2800" dirty="0"/>
              <a:t>无法登录根帐户</a:t>
            </a:r>
          </a:p>
          <a:p>
            <a:r>
              <a:rPr lang="zh-CN" sz="2800" dirty="0"/>
              <a:t>获取 root shell 的方法有很多种。</a:t>
            </a:r>
          </a:p>
          <a:p>
            <a:pPr lvl="1"/>
            <a:r>
              <a:rPr lang="zh-CN" sz="2400" dirty="0" err="1"/>
              <a:t>sudo </a:t>
            </a:r>
            <a:r>
              <a:rPr lang="zh-CN" sz="2400" dirty="0"/>
              <a:t>-s</a:t>
            </a:r>
          </a:p>
          <a:p>
            <a:pPr lvl="1"/>
            <a:r>
              <a:rPr lang="zh-CN" sz="2400" dirty="0" err="1"/>
              <a:t>sudo </a:t>
            </a:r>
            <a:r>
              <a:rPr lang="zh-CN" sz="2400" dirty="0"/>
              <a:t>bash</a:t>
            </a:r>
          </a:p>
          <a:p>
            <a:pPr lvl="1"/>
            <a:r>
              <a:rPr lang="zh-CN" sz="2400" dirty="0"/>
              <a:t>sudo </a:t>
            </a:r>
            <a:r>
              <a:rPr lang="en-US" altLang="zh-CN" sz="2400" dirty="0" err="1"/>
              <a:t>su</a:t>
            </a:r>
            <a:endParaRPr lang="en-US" sz="2400" dirty="0"/>
          </a:p>
          <a:p>
            <a:r>
              <a:rPr lang="zh-CN" sz="2800" dirty="0">
                <a:solidFill>
                  <a:srgbClr val="FF0000"/>
                </a:solidFill>
              </a:rPr>
              <a:t>不建议使用 root shell 运行命令。请改用</a:t>
            </a:r>
            <a:r>
              <a:rPr lang="zh-CN" sz="2800" dirty="0" err="1">
                <a:solidFill>
                  <a:srgbClr val="FF0000"/>
                </a:solidFill>
              </a:rPr>
              <a:t>sudo</a:t>
            </a:r>
            <a:r>
              <a:rPr lang="zh-CN" sz="2800" dirty="0">
                <a:solidFill>
                  <a:srgbClr val="FF0000"/>
                </a:solidFill>
              </a:rPr>
              <a:t>来运行单个命令。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279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7794-050E-C16E-2838-BB52DC93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使用其他用户运行命令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DA708-D17C-9CD7-D2DF-40FA05643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dirty="0"/>
              <a:t>使用其他用户（而不是默认的 root 用户）运行命令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B42E9-5FD5-601D-0691-B3E97961F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971800"/>
            <a:ext cx="9469171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26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6005-600A-048F-8427-8589D9DD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POSIX 功能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AD5A3-63D8-0C79-D905-56355D39E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dirty="0"/>
              <a:t>将根权限划分为更小的权限单元</a:t>
            </a:r>
          </a:p>
          <a:p>
            <a:r>
              <a:rPr lang="zh-CN" dirty="0"/>
              <a:t>被称为能力</a:t>
            </a:r>
          </a:p>
          <a:p>
            <a:r>
              <a:rPr lang="zh-CN" dirty="0"/>
              <a:t>使用“man capabilities”查找所有</a:t>
            </a:r>
            <a:r>
              <a:rPr lang="zh-CN" altLang="en-US" dirty="0"/>
              <a:t>的</a:t>
            </a:r>
            <a:r>
              <a:rPr lang="zh-CN" dirty="0"/>
              <a:t>功能</a:t>
            </a:r>
          </a:p>
          <a:p>
            <a:r>
              <a:rPr lang="zh-CN" dirty="0"/>
              <a:t>示例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31536-B63D-B64B-D489-0C830869D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29" y="4191000"/>
            <a:ext cx="10683603" cy="129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90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38DF-C63A-3114-D089-40E56F50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设置文件功能（1）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B12F8-FA7C-6840-F23D-42B7CD4F2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设置功能之</a:t>
            </a:r>
            <a:r>
              <a:rPr lang="zh-CN" sz="2800" dirty="0"/>
              <a:t>前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zh-CN" sz="2800" dirty="0"/>
              <a:t>设置功能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40403-9A6B-FD84-ABE9-5023D411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70" y="5017816"/>
            <a:ext cx="11098174" cy="1371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6086E2-B261-4295-5A68-298BFC23D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21" y="2747867"/>
            <a:ext cx="11012437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54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38DF-C63A-3114-D089-40E56F50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设置文件功能（2）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B12F8-FA7C-6840-F23D-42B7CD4F2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设置之</a:t>
            </a:r>
            <a:r>
              <a:rPr lang="zh-CN" sz="2800" dirty="0"/>
              <a:t>后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227C988B-65DD-A8D8-F1E5-527EAE444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3733800"/>
            <a:ext cx="10439400" cy="30052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0085E9-63FD-3521-4EE7-982DD1D52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2838739"/>
            <a:ext cx="10439400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20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60D7-E8C5-1A03-6203-BB93EE0E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案例研究 1：Wireshark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198D0-0F4D-CC79-1C92-D2DE40B0E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Wireshark</a:t>
            </a:r>
          </a:p>
          <a:p>
            <a:pPr lvl="1"/>
            <a:r>
              <a:rPr lang="zh-CN" sz="2400" dirty="0"/>
              <a:t>嗅探工具，需要权限</a:t>
            </a:r>
          </a:p>
          <a:p>
            <a:pPr lvl="1"/>
            <a:r>
              <a:rPr lang="zh-CN" sz="2400" dirty="0"/>
              <a:t>图形部分不享有特权。</a:t>
            </a:r>
          </a:p>
          <a:p>
            <a:pPr lvl="1"/>
            <a:r>
              <a:rPr lang="zh-CN" sz="2400" dirty="0" err="1"/>
              <a:t>dumpcap</a:t>
            </a:r>
            <a:r>
              <a:rPr lang="zh-CN" sz="2400" dirty="0"/>
              <a:t>完成，具有特权。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B1B79-4835-3F0B-6B30-2E6C8BF54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146804"/>
            <a:ext cx="9250066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36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FCBC4-A3C7-D8EE-928A-6BAE8E0C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案例研究 2：ping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6CD83-C692-E4A8-B01A-BBF12E102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ping程序</a:t>
            </a:r>
          </a:p>
          <a:p>
            <a:pPr lvl="1"/>
            <a:r>
              <a:rPr lang="zh-CN" sz="2400" dirty="0"/>
              <a:t>使用原始套接字</a:t>
            </a:r>
          </a:p>
          <a:p>
            <a:pPr lvl="1"/>
            <a:r>
              <a:rPr lang="zh-CN" sz="2400" dirty="0"/>
              <a:t>具备 CAP_NET_RAW 功能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 descr="A picture containing text, watch, gauge&#10;&#10;Description automatically generated">
            <a:extLst>
              <a:ext uri="{FF2B5EF4-FFF2-40B4-BE49-F238E27FC236}">
                <a16:creationId xmlns:a16="http://schemas.microsoft.com/office/drawing/2014/main" id="{4593B851-01B3-6D64-5259-CC766C161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733800"/>
            <a:ext cx="5420481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9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50C2-ADED-65AB-4933-19F374E4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认证</a:t>
            </a:r>
            <a:endParaRPr 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FBB30-115A-3467-7C8E-93DFCDE6E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06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B3FF-7C46-C240-A246-CD5EA8DA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身份</a:t>
            </a:r>
            <a:r>
              <a:rPr lang="zh-CN" altLang="en-US" dirty="0"/>
              <a:t>认证</a:t>
            </a:r>
            <a:r>
              <a:rPr lang="zh-CN" dirty="0"/>
              <a:t>方法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FFF84-FF32-3636-0961-F91E807C9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验证用户身份的过程</a:t>
            </a:r>
          </a:p>
          <a:p>
            <a:r>
              <a:rPr lang="zh-CN" sz="2800" dirty="0"/>
              <a:t>典型的身份验证方法</a:t>
            </a:r>
          </a:p>
          <a:p>
            <a:pPr lvl="1"/>
            <a:r>
              <a:rPr lang="zh-CN" sz="2400" dirty="0"/>
              <a:t>基于</a:t>
            </a:r>
            <a:r>
              <a:rPr lang="zh-CN" sz="2400" b="1" dirty="0"/>
              <a:t>用户已知的信息</a:t>
            </a:r>
            <a:r>
              <a:rPr lang="zh-CN" sz="2400" dirty="0"/>
              <a:t>：密码</a:t>
            </a:r>
          </a:p>
          <a:p>
            <a:pPr lvl="1"/>
            <a:r>
              <a:rPr lang="zh-CN" sz="2400" dirty="0"/>
              <a:t>基于</a:t>
            </a:r>
            <a:r>
              <a:rPr lang="zh-CN" sz="2400" b="1" dirty="0"/>
              <a:t>用户拥有的某种信息</a:t>
            </a:r>
            <a:r>
              <a:rPr lang="zh-CN" sz="2400" dirty="0"/>
              <a:t>：身份证</a:t>
            </a:r>
          </a:p>
          <a:p>
            <a:pPr lvl="1"/>
            <a:r>
              <a:rPr lang="zh-CN" sz="2400" dirty="0"/>
              <a:t>基于</a:t>
            </a:r>
            <a:r>
              <a:rPr lang="zh-CN" sz="2400" b="1" dirty="0"/>
              <a:t>用户的身份或行为</a:t>
            </a:r>
            <a:r>
              <a:rPr lang="zh-CN" sz="2400" dirty="0"/>
              <a:t>：指纹</a:t>
            </a:r>
          </a:p>
          <a:p>
            <a:r>
              <a:rPr lang="zh-CN" sz="2800" dirty="0"/>
              <a:t>多因素身份验证</a:t>
            </a:r>
          </a:p>
        </p:txBody>
      </p:sp>
    </p:spTree>
    <p:extLst>
      <p:ext uri="{BB962C8B-B14F-4D97-AF65-F5344CB8AC3E}">
        <p14:creationId xmlns:p14="http://schemas.microsoft.com/office/powerpoint/2010/main" val="3688703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F0A7-BE40-32E1-CFD5-D164CC56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密码文件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165A7-E92F-7535-A009-92745B1FD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每个条目都包含用户帐户信息</a:t>
            </a:r>
          </a:p>
          <a:p>
            <a:r>
              <a:rPr lang="zh-CN" sz="2800" dirty="0"/>
              <a:t>密码现在不存储在这里（以前</a:t>
            </a:r>
            <a:r>
              <a:rPr lang="zh-CN" altLang="en-US" sz="2800" dirty="0"/>
              <a:t>的</a:t>
            </a:r>
            <a:r>
              <a:rPr lang="en-US" altLang="zh-CN" sz="2800" dirty="0"/>
              <a:t>Linux</a:t>
            </a:r>
            <a:r>
              <a:rPr lang="zh-CN" altLang="en-US" sz="2800" dirty="0"/>
              <a:t>版本</a:t>
            </a:r>
            <a:r>
              <a:rPr lang="zh-CN" sz="2800" dirty="0"/>
              <a:t>存储过）</a:t>
            </a:r>
            <a:endParaRPr lang="en-US" sz="2800" dirty="0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80BF5838-2C04-1168-6650-35D282B0C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733800"/>
            <a:ext cx="8716591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15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3FB5F-7DC7-DEE3-2421-9EE753FE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032" y="149310"/>
            <a:ext cx="10058400" cy="1609344"/>
          </a:xfrm>
        </p:spPr>
        <p:txBody>
          <a:bodyPr/>
          <a:lstStyle/>
          <a:p>
            <a:r>
              <a:rPr lang="zh-CN" dirty="0"/>
              <a:t>登录后的第一个命令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FE9B1-2047-F29A-BC93-174A541C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168" y="1656551"/>
            <a:ext cx="10058400" cy="4050792"/>
          </a:xfrm>
        </p:spPr>
        <p:txBody>
          <a:bodyPr>
            <a:normAutofit/>
          </a:bodyPr>
          <a:lstStyle/>
          <a:p>
            <a:r>
              <a:rPr lang="zh-CN" sz="2800" dirty="0"/>
              <a:t>每个条目的最后一个字段</a:t>
            </a:r>
          </a:p>
          <a:p>
            <a:endParaRPr lang="en-US" sz="2800" dirty="0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08B80A8-8B77-C148-95B7-4F9A058EB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32" y="2263926"/>
            <a:ext cx="10013443" cy="2937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4EE44E-A50C-358E-90BF-DF22AC9E7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07" y="5842872"/>
            <a:ext cx="6819316" cy="63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02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2DE1-316F-5F42-CA26-9C52D6CA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影子</a:t>
            </a:r>
            <a:r>
              <a:rPr lang="zh-CN" altLang="en-US" dirty="0"/>
              <a:t>文件</a:t>
            </a:r>
            <a:endParaRPr 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14530-94DC-6AA5-DBC5-3AA24FB39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存储密码，为什么不再使用 / </a:t>
            </a:r>
            <a:r>
              <a:rPr lang="zh-CN" sz="2800" dirty="0" err="1"/>
              <a:t>etc </a:t>
            </a:r>
            <a:r>
              <a:rPr lang="zh-CN" sz="2800" dirty="0"/>
              <a:t>/password 了？</a:t>
            </a:r>
          </a:p>
          <a:p>
            <a:r>
              <a:rPr lang="zh-CN" sz="2800" dirty="0"/>
              <a:t>每个条目的结构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CBBA190-C4A6-C9FD-1E75-547C2B0A7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66" y="3124200"/>
            <a:ext cx="10517068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82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B860-E229-63FC-8004-0471FB477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盐的用途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F7BC9-C1B0-AE34-600D-8021CF2C5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击败蛮力攻击</a:t>
            </a:r>
          </a:p>
          <a:p>
            <a:pPr lvl="1"/>
            <a:r>
              <a:rPr lang="zh-CN" sz="2400" dirty="0"/>
              <a:t>字典攻击、彩虹表攻击</a:t>
            </a:r>
          </a:p>
          <a:p>
            <a:r>
              <a:rPr lang="zh-CN" sz="2800" dirty="0"/>
              <a:t>这三个账户的密码相同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6E103-5D7B-7857-B1B7-F3B763ED6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3810000"/>
            <a:ext cx="10059804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0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B134-3847-3651-C6A5-2819C7B5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锁定账户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5C75D-13F3-B12E-E763-01EDBB584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在密码字段中输入无效值</a:t>
            </a:r>
          </a:p>
          <a:p>
            <a:r>
              <a:rPr lang="zh-CN" sz="2800" dirty="0"/>
              <a:t>root账户已锁定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19935-A1D0-2E05-2683-0F6D06E85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429000"/>
            <a:ext cx="4686954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41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木材纹理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木材纹理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木材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1130</TotalTime>
  <Words>736</Words>
  <Application>Microsoft Macintosh PowerPoint</Application>
  <PresentationFormat>宽屏</PresentationFormat>
  <Paragraphs>132</Paragraphs>
  <Slides>32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Arial</vt:lpstr>
      <vt:lpstr>Arial Black</vt:lpstr>
      <vt:lpstr>Calibri</vt:lpstr>
      <vt:lpstr>Rockwell Extra Bold</vt:lpstr>
      <vt:lpstr>Times New Roman</vt:lpstr>
      <vt:lpstr>Wingdings</vt:lpstr>
      <vt:lpstr>木材纹理</vt:lpstr>
      <vt:lpstr>Linux 安全基础知识</vt:lpstr>
      <vt:lpstr>大纲</vt:lpstr>
      <vt:lpstr>用户和组</vt:lpstr>
      <vt:lpstr>用户（Users）</vt:lpstr>
      <vt:lpstr>添加用户并切换到其他用户</vt:lpstr>
      <vt:lpstr>组（Groups）</vt:lpstr>
      <vt:lpstr>用户属于哪些组？</vt:lpstr>
      <vt:lpstr>群管理</vt:lpstr>
      <vt:lpstr>权限和访问控制</vt:lpstr>
      <vt:lpstr>传统权限模式</vt:lpstr>
      <vt:lpstr>文件权限</vt:lpstr>
      <vt:lpstr>默认文件权限</vt:lpstr>
      <vt:lpstr>示例（ umask ）</vt:lpstr>
      <vt:lpstr>访问控制列表（AccessControl List，ACL）</vt:lpstr>
      <vt:lpstr>ACL 命令</vt:lpstr>
      <vt:lpstr>以特权运行命令</vt:lpstr>
      <vt:lpstr>为什么？</vt:lpstr>
      <vt:lpstr>使用sudo</vt:lpstr>
      <vt:lpstr>获取 Root Shell</vt:lpstr>
      <vt:lpstr>使用其他用户运行命令</vt:lpstr>
      <vt:lpstr>POSIX 功能</vt:lpstr>
      <vt:lpstr>设置文件功能（1）</vt:lpstr>
      <vt:lpstr>设置文件功能（2）</vt:lpstr>
      <vt:lpstr>案例研究 1：Wireshark</vt:lpstr>
      <vt:lpstr>案例研究 2：ping</vt:lpstr>
      <vt:lpstr>认证</vt:lpstr>
      <vt:lpstr>身份认证方法</vt:lpstr>
      <vt:lpstr>密码文件</vt:lpstr>
      <vt:lpstr>登录后的第一个命令</vt:lpstr>
      <vt:lpstr>影子文件</vt:lpstr>
      <vt:lpstr>盐的用途</vt:lpstr>
      <vt:lpstr>锁定账户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Heartbleed Bug and Attack</dc:title>
  <dc:creator>3shna</dc:creator>
  <cp:lastModifiedBy>Microsoft Office User</cp:lastModifiedBy>
  <cp:revision>58</cp:revision>
  <cp:lastPrinted>2026-02-26T15:26:28Z</cp:lastPrinted>
  <dcterms:created xsi:type="dcterms:W3CDTF">2017-11-22T15:54:43Z</dcterms:created>
  <dcterms:modified xsi:type="dcterms:W3CDTF">2026-02-27T01:19:15Z</dcterms:modified>
</cp:coreProperties>
</file>