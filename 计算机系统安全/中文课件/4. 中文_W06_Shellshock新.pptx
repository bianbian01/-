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9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7" r:id="rId10"/>
    <p:sldId id="338" r:id="rId11"/>
    <p:sldId id="339" r:id="rId12"/>
    <p:sldId id="340" r:id="rId13"/>
    <p:sldId id="341" r:id="rId14"/>
    <p:sldId id="342" r:id="rId15"/>
    <p:sldId id="356" r:id="rId16"/>
    <p:sldId id="343" r:id="rId17"/>
    <p:sldId id="344" r:id="rId18"/>
    <p:sldId id="345" r:id="rId19"/>
    <p:sldId id="346" r:id="rId20"/>
    <p:sldId id="348" r:id="rId21"/>
    <p:sldId id="349" r:id="rId22"/>
    <p:sldId id="350" r:id="rId23"/>
    <p:sldId id="351" r:id="rId24"/>
    <p:sldId id="352" r:id="rId25"/>
    <p:sldId id="35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9" autoAdjust="0"/>
    <p:restoredTop sz="78444" autoAdjust="0"/>
  </p:normalViewPr>
  <p:slideViewPr>
    <p:cSldViewPr snapToGrid="0">
      <p:cViewPr varScale="1">
        <p:scale>
          <a:sx n="66" d="100"/>
          <a:sy n="66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9C19D-B05D-4886-AC51-201CAE13C1B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4F06F-1185-4038-BF21-B45636E4F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declare</a:t>
            </a:r>
            <a:r>
              <a:rPr lang="zh-CN" dirty="0"/>
              <a:t>函数——用于打印 shell 函数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Unset</a:t>
            </a:r>
            <a:r>
              <a:rPr lang="zh-CN" altLang="en-US" dirty="0"/>
              <a:t>可</a:t>
            </a:r>
            <a:r>
              <a:rPr lang="zh-CN" dirty="0"/>
              <a:t>以移除 shell 函数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25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export 命令与一个特殊标志一起使用，用于将 shell 函数导出给子进程。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这意味着，当父 shell 进程 fork 出一个子进程并在子进程中运行 shell 命令时，函数定义将被传递给子进程。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63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Foo 以一对圆括号开头，后面跟着两个花括号内的一系列命令。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对于当前流程而言，圆括号和花括号并没有什么特殊之处。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这就是为什么当我们使用 `declare -f foo` 时，什么都没显示出来。这是因为 `foo` 不被视为一个函数。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当我们导出这个变量并运行</a:t>
            </a:r>
            <a:r>
              <a:rPr lang="zh-CN" altLang="en-US" dirty="0"/>
              <a:t>子进程的</a:t>
            </a:r>
            <a:r>
              <a:rPr lang="zh-CN" dirty="0"/>
              <a:t>bash 脚本时，foo 就变成了一个 shell 函数。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注意</a:t>
            </a:r>
            <a:r>
              <a:rPr lang="zh-CN" dirty="0"/>
              <a:t>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foo 声明中括号 { 之间的空格很重要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当使用 export 命令标记一个 shell 变量时，它将作为环境变量传递下去。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如果子进程中执行的程序是 bash shell 程序，它会将环境变量转换为 shell 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43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9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77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我们定义一个 shell 变量 foo，并在括号后附加一个命令。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当创建子进程时，子进程的 shell 会解析环境变量。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解析过程中，由于这个漏洞，bash 会执行花括号后面的命令。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02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61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0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6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33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本节将探讨攻击者如何为本地计算机上的特权 bash 进程设置环境，以利用 shellshock 漏洞并以目标进程的权限运行命令。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需要注意的是，上述程序调用了</a:t>
            </a:r>
            <a:r>
              <a:rPr lang="zh-CN" dirty="0" err="1"/>
              <a:t>setuid </a:t>
            </a:r>
            <a:r>
              <a:rPr lang="zh-CN" dirty="0"/>
              <a:t>（ </a:t>
            </a:r>
            <a:r>
              <a:rPr lang="zh-CN" dirty="0" err="1"/>
              <a:t>getuid </a:t>
            </a:r>
            <a:r>
              <a:rPr lang="zh-CN" dirty="0"/>
              <a:t>()）函数，将实际用户 ID 赋值给有效用户 ID。虽然这种做法并不常见，但确实存在。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还需注意的是，在我们当前的 Ubuntu 虚拟机中，/bin/ </a:t>
            </a:r>
            <a:r>
              <a:rPr lang="zh-CN" dirty="0" err="1"/>
              <a:t>sh</a:t>
            </a:r>
            <a:r>
              <a:rPr lang="zh-CN" dirty="0"/>
              <a:t>是指向 /bin/dash 的符号链接。为了演示这种攻击，我们需要将该符号链接更改为 /bin/bash，方法是：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 err="1"/>
              <a:t>sudo </a:t>
            </a:r>
            <a:r>
              <a:rPr lang="zh-CN" dirty="0"/>
              <a:t>ln –sf /bin/bash /bin/ </a:t>
            </a:r>
            <a:r>
              <a:rPr lang="zh-CN" dirty="0" err="1"/>
              <a:t>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CN" dirty="0"/>
              <a:t>攻击的定义：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我们的攻击本质上</a:t>
            </a:r>
            <a:r>
              <a:rPr lang="zh-CN" dirty="0" err="1"/>
              <a:t>定义了</a:t>
            </a:r>
            <a:r>
              <a:rPr lang="zh-CN" dirty="0"/>
              <a:t>一个 shell 变量 foo。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我们将这个 shell 变量导出，这样当我们运行 Set-UID 程序（ </a:t>
            </a:r>
            <a:r>
              <a:rPr lang="zh-CN" dirty="0" err="1"/>
              <a:t>vul </a:t>
            </a:r>
            <a:r>
              <a:rPr lang="zh-CN" dirty="0"/>
              <a:t>）时，该 shell 变量就会成为子进程的环境变量。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因为 system() 会调用 bash，所以它会检测到环境变量是一个函数声明。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由于解析逻辑中的错误，最终执行了命令“/bin/ </a:t>
            </a:r>
            <a:r>
              <a:rPr lang="zh-CN" dirty="0" err="1"/>
              <a:t>sh </a:t>
            </a:r>
            <a:r>
              <a:rPr lang="zh-CN" dirty="0"/>
              <a:t>”。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因此，我们得到了根 shell。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5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10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curl  </a:t>
            </a:r>
            <a:r>
              <a:rPr lang="zh-CN" altLang="en-US" dirty="0"/>
              <a:t>是 </a:t>
            </a:r>
            <a:r>
              <a:rPr lang="en-US" altLang="zh-CN" dirty="0"/>
              <a:t>client </a:t>
            </a:r>
            <a:r>
              <a:rPr lang="en-US" altLang="zh-CN" dirty="0" err="1"/>
              <a:t>url</a:t>
            </a:r>
            <a:r>
              <a:rPr lang="en-US" altLang="zh-CN" dirty="0"/>
              <a:t> </a:t>
            </a:r>
            <a:r>
              <a:rPr lang="zh-CN" altLang="en-US" dirty="0"/>
              <a:t>的意思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我们在最后一行添加一行“strings /proc/$$/environ”，以打印出进程的所有环境变量。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$$ 被替换为 bash 和当前进程的 ID。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什么是用户代理？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此字段的目的是向服务器提供有关客户端的一些信息，以帮助服务器针对不同浏览器类型的客户端定制其内容。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这里我们看到的是，因为我们使用的是 curl，如果使用 Firefox，User-Agent 字段就会有所不同。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69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用</a:t>
            </a:r>
            <a:r>
              <a:rPr lang="zh-CN" dirty="0"/>
              <a:t>换浏览器来实现我们的目标</a:t>
            </a:r>
            <a:r>
              <a:rPr lang="zh-CN" altLang="en-US" dirty="0"/>
              <a:t>有些繁琐</a:t>
            </a:r>
            <a:r>
              <a:rPr lang="zh-CN" dirty="0"/>
              <a:t>，所以</a:t>
            </a:r>
            <a:r>
              <a:rPr lang="zh-CN" altLang="en-US" dirty="0"/>
              <a:t>现阶段</a:t>
            </a:r>
            <a:r>
              <a:rPr lang="zh-CN" dirty="0"/>
              <a:t>我们使用命令行工具 curl。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02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CGI程序输出的所有内容都会发送到Apache服务器，然后Apache服务器再将数据发送回客户端。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Apache 需要知道内容的类型：文本、多媒体或其他类型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43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我们可以运行一个命令，将网络服务器上的整个文件夹压缩并发送回给我们，以此窃取文件。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77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38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攻击者常用的程序之一是</a:t>
            </a:r>
            <a:r>
              <a:rPr lang="zh-CN" dirty="0" err="1"/>
              <a:t>netcat </a:t>
            </a:r>
            <a:r>
              <a:rPr lang="zh-CN" dirty="0"/>
              <a:t>，如果使用“-l”选项运行，它会变成一个 TCP 服务器，监听指定端口上的连接。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服务器程序基本上会打印出客户端发送的所有内容，并将运行服务器的用户输入的内容发送给客户端。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21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总而言之，该命令会在服务器上启动一个 bash shell，其输入来自 TCP 连接，输出也返回到同一个 TCP 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44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5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9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3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1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2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1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2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5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9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0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9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3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7789" y="2140526"/>
            <a:ext cx="9144000" cy="2322961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ShellShock</a:t>
            </a:r>
            <a:r>
              <a:rPr lang="zh-CN" dirty="0"/>
              <a:t>攻击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4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背景：Shell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043403"/>
            <a:ext cx="10948555" cy="5070764"/>
          </a:xfrm>
        </p:spPr>
        <p:txBody>
          <a:bodyPr>
            <a:normAutofit/>
          </a:bodyPr>
          <a:lstStyle/>
          <a:p>
            <a:r>
              <a:rPr lang="zh-CN" dirty="0"/>
              <a:t>Shell 是操作系统中的命令行解释器。</a:t>
            </a:r>
          </a:p>
          <a:p>
            <a:pPr lvl="1"/>
            <a:r>
              <a:rPr lang="zh-CN" dirty="0"/>
              <a:t>提供用户与操作系统之间的接口</a:t>
            </a:r>
          </a:p>
          <a:p>
            <a:pPr lvl="1"/>
            <a:r>
              <a:rPr lang="zh-CN" dirty="0"/>
              <a:t>不同类型的 shell： sh 、bash、 csh 、 zsh 、Windows PowerShell </a:t>
            </a:r>
            <a:r>
              <a:rPr lang="zh-CN" altLang="en-US" dirty="0"/>
              <a:t>等等</a:t>
            </a:r>
            <a:endParaRPr lang="en-US" sz="2800" dirty="0"/>
          </a:p>
          <a:p>
            <a:r>
              <a:rPr lang="zh-CN" dirty="0"/>
              <a:t>Bash shell 是 Linux 操作系统中最流行的 shell 程序之一。</a:t>
            </a:r>
          </a:p>
          <a:p>
            <a:r>
              <a:rPr lang="zh-CN" dirty="0"/>
              <a:t>shellshock漏洞与shell</a:t>
            </a:r>
            <a:r>
              <a:rPr lang="zh-CN" altLang="en-US" dirty="0"/>
              <a:t>内的自定义</a:t>
            </a:r>
            <a:r>
              <a:rPr lang="zh-CN" dirty="0"/>
              <a:t>函数有关。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EDA4B-A506-4BA7-963F-8AE24DBD88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909" t="28837" r="18056" b="47132"/>
          <a:stretch/>
        </p:blipFill>
        <p:spPr>
          <a:xfrm>
            <a:off x="473360" y="3365671"/>
            <a:ext cx="11437273" cy="330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53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将 Shell </a:t>
            </a:r>
            <a:r>
              <a:rPr lang="zh-CN" altLang="en-US" dirty="0"/>
              <a:t>内的自定义</a:t>
            </a:r>
            <a:r>
              <a:rPr lang="zh-CN" dirty="0"/>
              <a:t>函数传递给子进程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132114"/>
            <a:ext cx="10948555" cy="953631"/>
          </a:xfrm>
        </p:spPr>
        <p:txBody>
          <a:bodyPr/>
          <a:lstStyle/>
          <a:p>
            <a:pPr marL="0" indent="0">
              <a:buNone/>
            </a:pPr>
            <a:r>
              <a:rPr lang="zh-CN" sz="2600" dirty="0"/>
              <a:t>方法一：在父进程 shell 中定义一个函数并</a:t>
            </a:r>
            <a:r>
              <a:rPr lang="zh-CN" altLang="en-US" sz="2600" dirty="0"/>
              <a:t>用</a:t>
            </a:r>
            <a:r>
              <a:rPr lang="en-US" altLang="zh-CN" sz="2600" dirty="0"/>
              <a:t>export</a:t>
            </a:r>
            <a:r>
              <a:rPr lang="zh-CN" sz="2600" dirty="0"/>
              <a:t>导出，这样</a:t>
            </a:r>
            <a:r>
              <a:rPr lang="zh-CN" altLang="en-US" sz="2600" dirty="0"/>
              <a:t>子</a:t>
            </a:r>
            <a:r>
              <a:rPr lang="zh-CN" sz="2600" dirty="0"/>
              <a:t>进程就能使用该函数。例如：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291AF-EBED-4A3E-920B-F2B9D6799754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9910" t="28372" r="39199" b="30542"/>
          <a:stretch>
            <a:fillRect/>
          </a:stretch>
        </p:blipFill>
        <p:spPr>
          <a:xfrm>
            <a:off x="3503591" y="1608929"/>
            <a:ext cx="6582105" cy="52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5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将 Shell 函数传递给子进程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132114"/>
            <a:ext cx="10948555" cy="5070764"/>
          </a:xfrm>
        </p:spPr>
        <p:txBody>
          <a:bodyPr/>
          <a:lstStyle/>
          <a:p>
            <a:pPr marL="0" indent="0">
              <a:buNone/>
            </a:pPr>
            <a:r>
              <a:rPr lang="zh-CN" sz="2600" dirty="0"/>
              <a:t>方法二：定义一个环境变量。它将在子 bash 进程中成为一个函数定义。</a:t>
            </a:r>
            <a:endParaRPr lang="en-US" sz="2600" dirty="0"/>
          </a:p>
        </p:txBody>
      </p:sp>
      <p:grpSp>
        <p:nvGrpSpPr>
          <p:cNvPr id="5" name="Group 4"/>
          <p:cNvGrpSpPr/>
          <p:nvPr/>
        </p:nvGrpSpPr>
        <p:grpSpPr>
          <a:xfrm>
            <a:off x="1550399" y="1843858"/>
            <a:ext cx="8658245" cy="4741846"/>
            <a:chOff x="1204191" y="2610824"/>
            <a:chExt cx="7005374" cy="41112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B1D8632-A280-483E-87A9-662CA15CD4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812" t="26061" r="31315" b="62170"/>
            <a:stretch/>
          </p:blipFill>
          <p:spPr>
            <a:xfrm>
              <a:off x="1204191" y="2610824"/>
              <a:ext cx="7005374" cy="132556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39E768-24A2-4EEE-9EBA-6B608E6885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925" t="60155" r="44203" b="15113"/>
            <a:stretch/>
          </p:blipFill>
          <p:spPr>
            <a:xfrm>
              <a:off x="1204191" y="3936387"/>
              <a:ext cx="7005374" cy="2785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201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Shell </a:t>
            </a:r>
            <a:r>
              <a:rPr lang="zh-CN" altLang="en-US" dirty="0"/>
              <a:t>内自定义</a:t>
            </a:r>
            <a:r>
              <a:rPr lang="zh-CN" dirty="0"/>
              <a:t>函数传递给子进程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350086"/>
            <a:ext cx="10948555" cy="5070764"/>
          </a:xfrm>
        </p:spPr>
        <p:txBody>
          <a:bodyPr/>
          <a:lstStyle/>
          <a:p>
            <a:r>
              <a:rPr lang="zh-CN" dirty="0"/>
              <a:t>两种方法类似，都使用了环境变量。</a:t>
            </a:r>
          </a:p>
          <a:p>
            <a:r>
              <a:rPr lang="zh-CN" altLang="en-US" dirty="0"/>
              <a:t>不同之处</a:t>
            </a:r>
            <a:r>
              <a:rPr lang="zh-CN" dirty="0"/>
              <a:t>：</a:t>
            </a:r>
          </a:p>
          <a:p>
            <a:pPr lvl="1"/>
            <a:r>
              <a:rPr lang="zh-CN" dirty="0"/>
              <a:t>第一种方法是，当父 shell 创建一个新进程时，它会将每个导出的函数定义作为环境变量传递。</a:t>
            </a:r>
            <a:endParaRPr lang="en-US" dirty="0"/>
          </a:p>
          <a:p>
            <a:pPr lvl="1"/>
            <a:r>
              <a:rPr lang="zh-CN" dirty="0"/>
              <a:t>如果子进程运行 bash，则 bash 程序会将环境变量转换回函数定义，就像第二个方法中定义的那样。</a:t>
            </a:r>
          </a:p>
          <a:p>
            <a:r>
              <a:rPr lang="zh-CN" dirty="0"/>
              <a:t>第二种方法不要求父进程是 shell进程。</a:t>
            </a:r>
            <a:endParaRPr lang="en-US" dirty="0"/>
          </a:p>
          <a:p>
            <a:r>
              <a:rPr lang="zh-CN" dirty="0"/>
              <a:t>任何需要将函数定义传递给子 bash 进程的进程都可以简单地使用环境变量。</a:t>
            </a: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87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en-US" altLang="zh-CN" dirty="0" err="1"/>
              <a:t>ShellShock</a:t>
            </a:r>
            <a:r>
              <a:rPr lang="en-US" altLang="zh-CN" dirty="0"/>
              <a:t> </a:t>
            </a:r>
            <a:r>
              <a:rPr lang="zh-CN" altLang="en-US" dirty="0"/>
              <a:t>漏洞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624483"/>
            <a:ext cx="10948555" cy="5070764"/>
          </a:xfrm>
        </p:spPr>
        <p:txBody>
          <a:bodyPr/>
          <a:lstStyle/>
          <a:p>
            <a:r>
              <a:rPr lang="zh-CN" dirty="0"/>
              <a:t>名为Shellshock 或</a:t>
            </a:r>
            <a:r>
              <a:rPr lang="zh-CN" dirty="0" err="1"/>
              <a:t>bashdoor 的</a:t>
            </a:r>
            <a:r>
              <a:rPr lang="zh-CN" dirty="0"/>
              <a:t>漏洞于 2014 年 9 月 24 日公开披露。该漏洞的编号为CVE-2014-6271。</a:t>
            </a:r>
            <a:endParaRPr lang="en-US" dirty="0"/>
          </a:p>
          <a:p>
            <a:r>
              <a:rPr lang="zh-CN" dirty="0"/>
              <a:t>此漏洞利用了 bash 在将环境变量转换为函数定义</a:t>
            </a:r>
            <a:r>
              <a:rPr lang="zh-CN" altLang="en-US" dirty="0"/>
              <a:t>。</a:t>
            </a:r>
            <a:endParaRPr lang="en-US" dirty="0"/>
          </a:p>
          <a:p>
            <a:r>
              <a:rPr lang="zh-CN" dirty="0"/>
              <a:t>这个漏洞自 1989 年 8 月 5 日起就存在于 GNU bash 源代码中。</a:t>
            </a:r>
          </a:p>
          <a:p>
            <a:r>
              <a:rPr lang="zh-CN" dirty="0"/>
              <a:t>在发现这个漏洞之后，人们又在广泛使用的 bash shell 中发现了其他漏洞。</a:t>
            </a:r>
          </a:p>
          <a:p>
            <a:r>
              <a:rPr lang="en-US" altLang="zh-CN" dirty="0" err="1"/>
              <a:t>ShellShock</a:t>
            </a:r>
            <a:r>
              <a:rPr lang="zh-CN" altLang="en-US" dirty="0"/>
              <a:t>后来泛指在</a:t>
            </a:r>
            <a:r>
              <a:rPr lang="en-US" altLang="zh-CN" dirty="0"/>
              <a:t>bash</a:t>
            </a:r>
            <a:r>
              <a:rPr lang="zh-CN" altLang="en-US" dirty="0"/>
              <a:t>中发现的漏洞</a:t>
            </a: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555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en-US" altLang="zh-CN" dirty="0" err="1"/>
              <a:t>ShellShock</a:t>
            </a:r>
            <a:r>
              <a:rPr lang="zh-CN" altLang="en-US" dirty="0"/>
              <a:t>漏洞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132114"/>
            <a:ext cx="10948555" cy="5070764"/>
          </a:xfrm>
        </p:spPr>
        <p:txBody>
          <a:bodyPr/>
          <a:lstStyle/>
          <a:p>
            <a:r>
              <a:rPr lang="zh-CN" sz="2400" dirty="0"/>
              <a:t>父进程可以通过环境变量将函数定义传递给子 shell 进程。</a:t>
            </a:r>
          </a:p>
          <a:p>
            <a:r>
              <a:rPr lang="zh-CN" sz="2400" dirty="0"/>
              <a:t>变量</a:t>
            </a:r>
            <a:endParaRPr lang="en-US" sz="2400" dirty="0"/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405245" y="2061029"/>
            <a:ext cx="12875326" cy="4674141"/>
            <a:chOff x="591850" y="3176317"/>
            <a:chExt cx="10369228" cy="3412052"/>
          </a:xfrm>
        </p:grpSpPr>
        <p:pic>
          <p:nvPicPr>
            <p:cNvPr id="6" name="Picture 5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850" y="3251627"/>
              <a:ext cx="7775974" cy="33367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7907EB-9393-420E-B12A-9214676105BE}"/>
                </a:ext>
              </a:extLst>
            </p:cNvPr>
            <p:cNvSpPr txBox="1"/>
            <p:nvPr/>
          </p:nvSpPr>
          <p:spPr>
            <a:xfrm>
              <a:off x="9113648" y="3176317"/>
              <a:ext cx="1847430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额外命令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 rot="10800000">
              <a:off x="8513591" y="3291999"/>
              <a:ext cx="414669" cy="16874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611815" y="3576427"/>
              <a:ext cx="1570893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62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Bash 源代码中的错误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4" y="1157435"/>
            <a:ext cx="10948555" cy="5070764"/>
          </a:xfrm>
        </p:spPr>
        <p:txBody>
          <a:bodyPr>
            <a:normAutofit/>
          </a:bodyPr>
          <a:lstStyle/>
          <a:p>
            <a:r>
              <a:rPr lang="zh-CN" sz="3200" dirty="0"/>
              <a:t>shellshock漏洞始于bash 源代码中的</a:t>
            </a:r>
            <a:r>
              <a:rPr lang="zh-CN" sz="3200" dirty="0" err="1"/>
              <a:t>variables.c文件。</a:t>
            </a:r>
          </a:p>
          <a:p>
            <a:r>
              <a:rPr lang="zh-CN" sz="3200" dirty="0"/>
              <a:t>与错误相关的代码片段：</a:t>
            </a:r>
            <a:endParaRPr lang="en-US" sz="3200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5E918-A737-4B87-95D5-0C05480CE76F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16829" t="28372" r="31041" b="34959"/>
          <a:stretch>
            <a:fillRect/>
          </a:stretch>
        </p:blipFill>
        <p:spPr>
          <a:xfrm>
            <a:off x="698322" y="2267749"/>
            <a:ext cx="10254005" cy="456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Bash 源代码中的错误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190730"/>
            <a:ext cx="11161233" cy="507076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dirty="0"/>
              <a:t>在这段代码中，第</a:t>
            </a:r>
            <a:r>
              <a:rPr 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①</a:t>
            </a:r>
            <a:r>
              <a:rPr lang="zh-CN" dirty="0"/>
              <a:t>行， bash 通过检查环境变量的值是否以“ </a:t>
            </a:r>
            <a:r>
              <a:rPr lang="zh-CN" b="1" dirty="0"/>
              <a:t>() { </a:t>
            </a:r>
            <a:r>
              <a:rPr lang="zh-CN" dirty="0"/>
              <a:t>”开头来判断是否存在导出的函数。</a:t>
            </a:r>
            <a:r>
              <a:rPr lang="zh-CN" b="1" dirty="0"/>
              <a:t> </a:t>
            </a:r>
            <a:r>
              <a:rPr lang="zh-CN" dirty="0"/>
              <a:t>也可能不找到。一旦找到，bash 会将“ </a:t>
            </a:r>
            <a:r>
              <a:rPr lang="zh-CN" b="1" dirty="0"/>
              <a:t>= </a:t>
            </a:r>
            <a:r>
              <a:rPr lang="zh-CN" dirty="0"/>
              <a:t>”替换为空格。</a:t>
            </a:r>
          </a:p>
          <a:p>
            <a:pPr>
              <a:spcAft>
                <a:spcPts val="600"/>
              </a:spcAft>
            </a:pPr>
            <a:r>
              <a:rPr lang="zh-CN" dirty="0"/>
              <a:t>然后 Bash 调用函数</a:t>
            </a:r>
            <a:r>
              <a:rPr 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parse_and_execute 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dirty="0">
                <a:cs typeface="Courier New" panose="02070309020205020404" pitchFamily="49" charset="0"/>
              </a:rPr>
              <a:t> </a:t>
            </a:r>
            <a:r>
              <a:rPr lang="zh-CN" dirty="0"/>
              <a:t>（第</a:t>
            </a:r>
            <a:r>
              <a:rPr 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②</a:t>
            </a:r>
            <a:r>
              <a:rPr lang="zh-CN" dirty="0"/>
              <a:t>行）用于解析函数定义。遗憾的是，此函数不仅可以解析函数定义，还可以解析其他 shell 命令。</a:t>
            </a:r>
          </a:p>
          <a:p>
            <a:pPr>
              <a:spcAft>
                <a:spcPts val="600"/>
              </a:spcAft>
            </a:pPr>
            <a:r>
              <a:rPr lang="zh-CN" dirty="0"/>
              <a:t>如果字符串是函数定义，则该函数只会解析它，而不会执行它。</a:t>
            </a:r>
          </a:p>
          <a:p>
            <a:pPr>
              <a:spcAft>
                <a:spcPts val="600"/>
              </a:spcAft>
            </a:pPr>
            <a:r>
              <a:rPr lang="zh-CN" dirty="0"/>
              <a:t>如果字符串包含 shell 命令，则该函数将执行该命令。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7366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Bash 源代码中的错误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2516551"/>
            <a:ext cx="10948555" cy="3470062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zh-CN" sz="3000" dirty="0"/>
              <a:t>对于A 行，bash 将其识别为函数，因为它以“() {”开头，并将其转换为 B 行。</a:t>
            </a:r>
          </a:p>
          <a:p>
            <a:pPr>
              <a:spcAft>
                <a:spcPts val="600"/>
              </a:spcAft>
            </a:pPr>
            <a:r>
              <a:rPr lang="zh-CN" sz="3000" dirty="0"/>
              <a:t>我们看到，该字符串现在变成了两个命令。</a:t>
            </a:r>
          </a:p>
          <a:p>
            <a:pPr>
              <a:spcAft>
                <a:spcPts val="600"/>
              </a:spcAft>
            </a:pPr>
            <a:r>
              <a:rPr lang="zh-CN" sz="3000" dirty="0"/>
              <a:t>现在， </a:t>
            </a:r>
            <a:r>
              <a:rPr lang="zh-CN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parse_and_execute </a:t>
            </a:r>
            <a:r>
              <a:rPr lang="zh-CN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sz="3000" dirty="0">
                <a:cs typeface="Courier New" panose="02070309020205020404" pitchFamily="49" charset="0"/>
              </a:rPr>
              <a:t> </a:t>
            </a:r>
            <a:r>
              <a:rPr lang="zh-CN" sz="3000" dirty="0"/>
              <a:t>将执行这两个命令</a:t>
            </a:r>
          </a:p>
          <a:p>
            <a:pPr>
              <a:spcAft>
                <a:spcPts val="600"/>
              </a:spcAft>
            </a:pPr>
            <a:r>
              <a:rPr lang="zh-CN" sz="3000" b="1" dirty="0"/>
              <a:t>结果：</a:t>
            </a:r>
          </a:p>
          <a:p>
            <a:pPr lvl="1"/>
            <a:r>
              <a:rPr lang="zh-CN" sz="2800" dirty="0"/>
              <a:t>攻击者可以</a:t>
            </a:r>
            <a:r>
              <a:rPr lang="zh-CN" altLang="en-US" sz="2800" dirty="0"/>
              <a:t>让</a:t>
            </a:r>
            <a:r>
              <a:rPr lang="en-US" altLang="zh-CN" sz="2800" dirty="0"/>
              <a:t>bash</a:t>
            </a:r>
            <a:r>
              <a:rPr lang="zh-CN" sz="2800" dirty="0"/>
              <a:t>进程来运行他们的命令</a:t>
            </a:r>
          </a:p>
          <a:p>
            <a:pPr lvl="1"/>
            <a:r>
              <a:rPr lang="zh-CN" sz="2800" dirty="0"/>
              <a:t>如果目标进程是服务器进程或以特权运行，则可能发生安全漏洞。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D0F75-AB41-4700-9285-4A4DE391DB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94" t="54419" r="39334" b="40620"/>
          <a:stretch/>
        </p:blipFill>
        <p:spPr>
          <a:xfrm>
            <a:off x="499029" y="1296538"/>
            <a:ext cx="11177714" cy="8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87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利用</a:t>
            </a:r>
            <a:r>
              <a:rPr lang="en-US" altLang="zh-CN" dirty="0" err="1"/>
              <a:t>ShellShock</a:t>
            </a:r>
            <a:r>
              <a:rPr lang="zh-CN" dirty="0"/>
              <a:t>漏洞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417" y="4607169"/>
            <a:ext cx="10492154" cy="146538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zh-CN" dirty="0"/>
              <a:t>利用此漏洞需要满足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zh-CN" dirty="0"/>
              <a:t>目标进程应该运行 bash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CN" altLang="en-US" dirty="0"/>
              <a:t>恶意用户直接或间接修改环境变量，并且环境变量传递给</a:t>
            </a:r>
            <a:r>
              <a:rPr lang="en-US" altLang="zh-CN" dirty="0"/>
              <a:t>bash</a:t>
            </a:r>
            <a:r>
              <a:rPr lang="zh-CN" altLang="en-US" dirty="0"/>
              <a:t>进程</a:t>
            </a: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45" y="1414563"/>
            <a:ext cx="10746498" cy="278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14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zh-CN" dirty="0"/>
              <a:t>对 Set-UID 程序的 Shellshock 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132113"/>
            <a:ext cx="10948555" cy="5507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dirty="0"/>
              <a:t>在以下示例中，使用 Set-UID 获取 root 权限的程序会启动一个 bash 进程，并通过 system() 函数执行 /bin/ls 程序。攻击者设置的环境将导致执行未经授权的命令。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zh-CN" b="1" dirty="0"/>
              <a:t>设置易受攻击的程序</a:t>
            </a:r>
            <a:endParaRPr lang="en-US" sz="2400" b="1" dirty="0"/>
          </a:p>
          <a:p>
            <a:r>
              <a:rPr lang="zh-CN" sz="2400" dirty="0"/>
              <a:t>程序使用 system() 函数运行 /bin/ls 命令</a:t>
            </a:r>
          </a:p>
          <a:p>
            <a:r>
              <a:rPr lang="zh-CN" sz="2400" dirty="0"/>
              <a:t>此程序是一个 Set-UID root 程序</a:t>
            </a:r>
          </a:p>
          <a:p>
            <a:r>
              <a:rPr lang="zh-CN" sz="2400" dirty="0"/>
              <a:t>系统函数实际上使用 fork() 创建一个子进程，然后使用execl () 执行 /bin/sh程序。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685C1-8ECD-492D-8548-8C9AF940E8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5" t="20776" r="30846" b="69767"/>
          <a:stretch/>
        </p:blipFill>
        <p:spPr>
          <a:xfrm>
            <a:off x="727360" y="4933666"/>
            <a:ext cx="10821524" cy="1229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0C6B82-4022-44FC-A50C-8E796FDCF5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13" t="83492" r="17959" b="12248"/>
          <a:stretch/>
        </p:blipFill>
        <p:spPr>
          <a:xfrm>
            <a:off x="727360" y="6169668"/>
            <a:ext cx="10880061" cy="55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98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6707" y="3996604"/>
            <a:ext cx="2589575" cy="2255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sz="2400" dirty="0"/>
              <a:t>该程序将调用存在漏洞的 bash 程序。基于 Shellshock 漏洞，我们可以简单地构造一个函数声明。</a:t>
            </a:r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" y="143301"/>
            <a:ext cx="9806706" cy="6714699"/>
            <a:chOff x="405245" y="1480410"/>
            <a:chExt cx="8259775" cy="50258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2FBD86A-3FC2-46C8-98E2-9E07349062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715" t="21705" r="17959" b="27287"/>
            <a:stretch/>
          </p:blipFill>
          <p:spPr>
            <a:xfrm>
              <a:off x="405245" y="1480410"/>
              <a:ext cx="8249193" cy="5025897"/>
            </a:xfrm>
            <a:prstGeom prst="rect">
              <a:avLst/>
            </a:prstGeom>
          </p:spPr>
        </p:pic>
        <p:sp>
          <p:nvSpPr>
            <p:cNvPr id="5" name="Right Arrow 4"/>
            <p:cNvSpPr/>
            <p:nvPr/>
          </p:nvSpPr>
          <p:spPr>
            <a:xfrm rot="9246101">
              <a:off x="7020144" y="5332759"/>
              <a:ext cx="1644876" cy="3773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4529841" y="6053357"/>
              <a:ext cx="1155851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799" y="572968"/>
            <a:ext cx="2848881" cy="1322604"/>
          </a:xfrm>
        </p:spPr>
        <p:txBody>
          <a:bodyPr>
            <a:noAutofit/>
          </a:bodyPr>
          <a:lstStyle/>
          <a:p>
            <a:r>
              <a:rPr lang="zh-CN" sz="3200" dirty="0"/>
              <a:t>对 Set-UID 程序的 Shellshock 攻击</a:t>
            </a:r>
          </a:p>
        </p:txBody>
      </p:sp>
    </p:spTree>
    <p:extLst>
      <p:ext uri="{BB962C8B-B14F-4D97-AF65-F5344CB8AC3E}">
        <p14:creationId xmlns:p14="http://schemas.microsoft.com/office/powerpoint/2010/main" val="267892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307" y="434831"/>
            <a:ext cx="10948555" cy="827532"/>
          </a:xfrm>
        </p:spPr>
        <p:txBody>
          <a:bodyPr/>
          <a:lstStyle/>
          <a:p>
            <a:r>
              <a:rPr lang="zh-CN" dirty="0"/>
              <a:t>对 CGI 程序的</a:t>
            </a:r>
            <a:r>
              <a:rPr lang="zh-CN" altLang="en-US" dirty="0"/>
              <a:t>攻击</a:t>
            </a:r>
            <a:endParaRPr 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4" y="1649226"/>
            <a:ext cx="10948555" cy="450539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zh-CN" dirty="0"/>
              <a:t>通用网关接口 (CGI) 被 Web 服务器用于运行可执行程序，这些程序可以动态生成网页。</a:t>
            </a:r>
          </a:p>
          <a:p>
            <a:pPr>
              <a:spcAft>
                <a:spcPts val="1200"/>
              </a:spcAft>
            </a:pPr>
            <a:r>
              <a:rPr lang="zh-CN" dirty="0"/>
              <a:t>许多 CGI 程序使用 shell 脚本，如果使用 bash，则可能会受到 Shellshock攻击。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13807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dirty="0"/>
              <a:t>Shellshock 攻击 CGI程序：设置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58" y="1325563"/>
            <a:ext cx="11281012" cy="5032375"/>
          </a:xfrm>
        </p:spPr>
        <p:txBody>
          <a:bodyPr>
            <a:normAutofit/>
          </a:bodyPr>
          <a:lstStyle/>
          <a:p>
            <a:r>
              <a:rPr lang="zh-CN" sz="2600" dirty="0"/>
              <a:t>我们为本次实验搭建了两台虚拟机，并编写了一个非常简单的 CGI 程序（ test.cgi ）。一台用于攻击者（10.0.2.6），另一台用于受害者（10.0.2.5）。该程序使用 bash shell脚本编写。</a:t>
            </a:r>
            <a:endParaRPr lang="en-US" altLang="zh-CN" sz="2600" dirty="0"/>
          </a:p>
          <a:p>
            <a:endParaRPr lang="en-US" altLang="zh-CN" sz="24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zh-CN" sz="2600" dirty="0"/>
              <a:t>我们需要将这个 CGI程序放置在受害者服务器的 / </a:t>
            </a:r>
            <a:r>
              <a:rPr lang="zh-CN" sz="2600" dirty="0" err="1"/>
              <a:t>usr </a:t>
            </a:r>
            <a:r>
              <a:rPr lang="zh-CN" sz="2600" dirty="0"/>
              <a:t>/bin/ </a:t>
            </a:r>
            <a:r>
              <a:rPr lang="zh-CN" sz="2600" dirty="0" err="1"/>
              <a:t>cgi </a:t>
            </a:r>
            <a:r>
              <a:rPr lang="zh-CN" sz="2600" dirty="0"/>
              <a:t>-bin 目录下，并使其可执行。我们可以使用 curl 来与之交互。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7E027-08B3-4B63-BA89-4BAC1B416353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29716" t="51318" r="21924" b="34419"/>
          <a:stretch>
            <a:fillRect/>
          </a:stretch>
        </p:blipFill>
        <p:spPr>
          <a:xfrm>
            <a:off x="849975" y="2508801"/>
            <a:ext cx="11044259" cy="2035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1DA4C-DE49-44E0-9ACC-F9C071DC2D38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9248" t="31318" r="21964" b="61240"/>
          <a:stretch>
            <a:fillRect/>
          </a:stretch>
        </p:blipFill>
        <p:spPr>
          <a:xfrm>
            <a:off x="757674" y="5727941"/>
            <a:ext cx="11281012" cy="10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11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85116"/>
            <a:ext cx="10948555" cy="827532"/>
          </a:xfrm>
        </p:spPr>
        <p:txBody>
          <a:bodyPr/>
          <a:lstStyle/>
          <a:p>
            <a:r>
              <a:rPr lang="zh-CN" dirty="0"/>
              <a:t>Web服务器如何调用CGI程序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4899615"/>
            <a:ext cx="10948555" cy="1958385"/>
          </a:xfrm>
        </p:spPr>
        <p:txBody>
          <a:bodyPr>
            <a:normAutofit lnSpcReduction="10000"/>
          </a:bodyPr>
          <a:lstStyle/>
          <a:p>
            <a:r>
              <a:rPr lang="zh-CN" sz="2400" dirty="0"/>
              <a:t>当用户向 Apache Web 服务器发送 CGI URL 时，Apache 将检查该请求。</a:t>
            </a:r>
          </a:p>
          <a:p>
            <a:r>
              <a:rPr lang="zh-CN" sz="2400" dirty="0"/>
              <a:t>如果是 CGI 请求，Apache 将使用 fork() 函数启动一个新进程，然后使用exec () 函数执行 CGI 程序。</a:t>
            </a:r>
          </a:p>
          <a:p>
            <a:r>
              <a:rPr lang="zh-CN" sz="2400" dirty="0"/>
              <a:t>因为我们的 CGI 程序以“#! /bin/bash”开头，所以 exec() 实际上会执行 /bin/bash，然后运行 shell 脚本。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15" y="1254667"/>
            <a:ext cx="9421754" cy="327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64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87" y="40379"/>
            <a:ext cx="10948555" cy="827532"/>
          </a:xfrm>
        </p:spPr>
        <p:txBody>
          <a:bodyPr/>
          <a:lstStyle/>
          <a:p>
            <a:r>
              <a:rPr lang="zh-CN" dirty="0"/>
              <a:t>如何</a:t>
            </a:r>
            <a:r>
              <a:rPr lang="zh-CN" altLang="en-US" dirty="0"/>
              <a:t>使攻击载荷</a:t>
            </a:r>
            <a:r>
              <a:rPr lang="zh-CN" dirty="0"/>
              <a:t>进入CGI 程序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787" y="862365"/>
            <a:ext cx="10948555" cy="4890389"/>
          </a:xfrm>
        </p:spPr>
        <p:txBody>
          <a:bodyPr>
            <a:normAutofit/>
          </a:bodyPr>
          <a:lstStyle/>
          <a:p>
            <a:r>
              <a:rPr lang="zh-CN" dirty="0"/>
              <a:t>当Apache 创建子进程时，它会为 bash 程序提供所有环境变量。</a:t>
            </a:r>
            <a:endParaRPr lang="en-US" sz="22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8E07D-3AEB-4CD0-93AE-D7274AD157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25" t="31937" r="30846" b="15660"/>
          <a:stretch/>
        </p:blipFill>
        <p:spPr>
          <a:xfrm>
            <a:off x="366787" y="1357953"/>
            <a:ext cx="8770786" cy="550004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FB06F1-5BEF-40CF-B4BC-50131D8015BA}"/>
              </a:ext>
            </a:extLst>
          </p:cNvPr>
          <p:cNvCxnSpPr>
            <a:cxnSpLocks/>
          </p:cNvCxnSpPr>
          <p:nvPr/>
        </p:nvCxnSpPr>
        <p:spPr>
          <a:xfrm flipH="1">
            <a:off x="5841064" y="2326943"/>
            <a:ext cx="3027707" cy="1081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033504-BB6A-4C75-AD09-32988470776F}"/>
              </a:ext>
            </a:extLst>
          </p:cNvPr>
          <p:cNvSpPr txBox="1"/>
          <p:nvPr/>
        </p:nvSpPr>
        <p:spPr>
          <a:xfrm>
            <a:off x="9178657" y="2013762"/>
            <a:ext cx="2762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/>
              <a:t>使用 curl 获取 HTTP 请求和响应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C2F3D0-0D40-433E-9678-506E6EADC4CB}"/>
              </a:ext>
            </a:extLst>
          </p:cNvPr>
          <p:cNvSpPr txBox="1"/>
          <p:nvPr/>
        </p:nvSpPr>
        <p:spPr>
          <a:xfrm>
            <a:off x="9137573" y="4611580"/>
            <a:ext cx="31840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dirty="0"/>
              <a:t>请注意这两点：它们是相同的：</a:t>
            </a:r>
            <a:r>
              <a:rPr lang="zh-CN" sz="2400" dirty="0">
                <a:solidFill>
                  <a:srgbClr val="FF0000"/>
                </a:solidFill>
              </a:rPr>
              <a:t>来自客户端的数据会进入 CGI 程序的环境变量！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855D5B-245D-4ECA-9632-DCA3393056BA}"/>
              </a:ext>
            </a:extLst>
          </p:cNvPr>
          <p:cNvCxnSpPr>
            <a:cxnSpLocks/>
          </p:cNvCxnSpPr>
          <p:nvPr/>
        </p:nvCxnSpPr>
        <p:spPr>
          <a:xfrm flipH="1" flipV="1">
            <a:off x="5759355" y="4377554"/>
            <a:ext cx="3419302" cy="4332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51F1D9-70FD-4316-83B5-2CD827C3F8E8}"/>
              </a:ext>
            </a:extLst>
          </p:cNvPr>
          <p:cNvCxnSpPr>
            <a:cxnSpLocks/>
          </p:cNvCxnSpPr>
          <p:nvPr/>
        </p:nvCxnSpPr>
        <p:spPr>
          <a:xfrm flipH="1">
            <a:off x="6196084" y="4941359"/>
            <a:ext cx="2879677" cy="595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36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9422"/>
            <a:ext cx="10948555" cy="827532"/>
          </a:xfrm>
        </p:spPr>
        <p:txBody>
          <a:bodyPr/>
          <a:lstStyle/>
          <a:p>
            <a:r>
              <a:rPr lang="zh-CN" dirty="0"/>
              <a:t>如何利用数据进入 CGI 程序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254368"/>
            <a:ext cx="10948555" cy="5406205"/>
          </a:xfrm>
        </p:spPr>
        <p:txBody>
          <a:bodyPr>
            <a:normAutofit/>
          </a:bodyPr>
          <a:lstStyle/>
          <a:p>
            <a:r>
              <a:rPr lang="zh-CN" dirty="0"/>
              <a:t>我们可以使用命令行工具“curl”的“-A”选项将用户代理字段更改为我们想要的任何内容。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46D28-FACB-4CCD-B466-B4565B81E7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28" t="40465" r="30943" b="28217"/>
          <a:stretch/>
        </p:blipFill>
        <p:spPr>
          <a:xfrm>
            <a:off x="664750" y="2445429"/>
            <a:ext cx="11108606" cy="416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01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3" y="341913"/>
            <a:ext cx="10948555" cy="827532"/>
          </a:xfrm>
        </p:spPr>
        <p:txBody>
          <a:bodyPr>
            <a:normAutofit/>
          </a:bodyPr>
          <a:lstStyle/>
          <a:p>
            <a:r>
              <a:rPr lang="zh-CN" dirty="0"/>
              <a:t>发动</a:t>
            </a:r>
            <a:r>
              <a:rPr lang="zh-CN" altLang="en-US" dirty="0"/>
              <a:t>攻击</a:t>
            </a:r>
            <a:r>
              <a:rPr lang="zh-CN" dirty="0"/>
              <a:t>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4" y="3903785"/>
            <a:ext cx="10948555" cy="2168770"/>
          </a:xfrm>
        </p:spPr>
        <p:txBody>
          <a:bodyPr>
            <a:normAutofit/>
          </a:bodyPr>
          <a:lstStyle/>
          <a:p>
            <a:r>
              <a:rPr lang="zh-CN" dirty="0"/>
              <a:t>我们的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/bin/ls </a:t>
            </a:r>
            <a:r>
              <a:rPr lang="zh-CN" dirty="0"/>
              <a:t>命令被执行。</a:t>
            </a:r>
          </a:p>
          <a:p>
            <a:r>
              <a:rPr lang="zh-CN" dirty="0"/>
              <a:t>默认使用www-data用户ID运行。虽然我们无法利用此权限完全控制服务器，但我们可以进行一些破坏性操作。</a:t>
            </a:r>
            <a:endParaRPr lang="en-US" dirty="0"/>
          </a:p>
          <a:p>
            <a:endParaRPr lang="en-US" sz="2200" dirty="0"/>
          </a:p>
          <a:p>
            <a:endParaRPr lang="en-US" sz="2200" dirty="0"/>
          </a:p>
          <a:p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DF6A7-4876-49CC-A73F-0D6F3FDC80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16" t="29923" r="18056" b="52713"/>
          <a:stretch/>
        </p:blipFill>
        <p:spPr>
          <a:xfrm>
            <a:off x="274300" y="1480457"/>
            <a:ext cx="10913768" cy="2267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57064" y="1480457"/>
            <a:ext cx="5036021" cy="62859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89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70709"/>
            <a:ext cx="10948555" cy="827532"/>
          </a:xfrm>
        </p:spPr>
        <p:txBody>
          <a:bodyPr/>
          <a:lstStyle/>
          <a:p>
            <a:r>
              <a:rPr lang="zh-CN" dirty="0"/>
              <a:t>Shellshock攻击：窃取密码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1324708"/>
            <a:ext cx="10948555" cy="5335866"/>
          </a:xfrm>
        </p:spPr>
        <p:txBody>
          <a:bodyPr>
            <a:normAutofit/>
          </a:bodyPr>
          <a:lstStyle/>
          <a:p>
            <a:r>
              <a:rPr lang="zh-CN" sz="2400" dirty="0"/>
              <a:t>当Web应用程序连接到其后端数据库时，需要提供登录密码。这些密码通常硬编码在程序中或存储在配置文件中。我们Ubuntu虚拟机中的Web服务器托管着多个Web应用程序，其中大多数都使用数据库。</a:t>
            </a:r>
          </a:p>
          <a:p>
            <a:r>
              <a:rPr lang="zh-CN" sz="2400" dirty="0"/>
              <a:t>例如，我们可以从以下两个文件中获取密码：</a:t>
            </a:r>
          </a:p>
          <a:p>
            <a:pPr lvl="1"/>
            <a:r>
              <a:rPr lang="zh-CN" dirty="0"/>
              <a:t>/var/www/SQL/collabtive/config/standard/config.php</a:t>
            </a:r>
            <a:r>
              <a:rPr lang="zh-CN" dirty="0" err="1"/>
              <a:t>​</a:t>
            </a:r>
            <a:r>
              <a:rPr lang="zh-CN" dirty="0"/>
              <a:t>​</a:t>
            </a:r>
            <a:r>
              <a:rPr lang="zh-CN" dirty="0" err="1"/>
              <a:t>​</a:t>
            </a:r>
            <a:r>
              <a:rPr lang="zh-CN" dirty="0"/>
              <a:t>​</a:t>
            </a:r>
            <a:r>
              <a:rPr lang="zh-CN" dirty="0" err="1"/>
              <a:t>​</a:t>
            </a:r>
            <a:endParaRPr lang="en-US" dirty="0"/>
          </a:p>
          <a:p>
            <a:pPr lvl="1"/>
            <a:r>
              <a:rPr lang="zh-CN" dirty="0"/>
              <a:t>/var/www/SeedElgg/engine/settings.php</a:t>
            </a:r>
            <a:r>
              <a:rPr lang="zh-CN" dirty="0" err="1"/>
              <a:t>​</a:t>
            </a:r>
            <a:r>
              <a:rPr lang="zh-CN" dirty="0"/>
              <a:t>​</a:t>
            </a:r>
            <a:r>
              <a:rPr lang="zh-CN" dirty="0" err="1"/>
              <a:t>​</a:t>
            </a:r>
            <a:r>
              <a:rPr lang="zh-CN" dirty="0"/>
              <a:t>​</a:t>
            </a:r>
            <a:r>
              <a:rPr lang="zh-CN" dirty="0" err="1"/>
              <a:t>​</a:t>
            </a:r>
            <a:endParaRPr lang="en-US" dirty="0"/>
          </a:p>
          <a:p>
            <a:r>
              <a:rPr lang="zh-CN" sz="2400" dirty="0"/>
              <a:t>我们</a:t>
            </a:r>
            <a:r>
              <a:rPr lang="zh-CN" altLang="en-US" sz="2400" dirty="0"/>
              <a:t>可以进行如下测试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CC592-6DF5-4B4A-BE51-2B702AAE3A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20" t="31628" r="18055" b="46202"/>
          <a:stretch/>
        </p:blipFill>
        <p:spPr>
          <a:xfrm>
            <a:off x="705593" y="4063816"/>
            <a:ext cx="10222604" cy="270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8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4" y="352770"/>
            <a:ext cx="10948555" cy="827532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ShellShock</a:t>
            </a:r>
            <a:r>
              <a:rPr lang="zh-CN" altLang="en-US" dirty="0"/>
              <a:t>攻击</a:t>
            </a:r>
            <a:r>
              <a:rPr lang="zh-CN" dirty="0"/>
              <a:t>：反向</a:t>
            </a:r>
            <a:r>
              <a:rPr lang="en-US" altLang="zh-CN" dirty="0"/>
              <a:t>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4" y="1578887"/>
            <a:ext cx="10948555" cy="4622621"/>
          </a:xfrm>
        </p:spPr>
        <p:txBody>
          <a:bodyPr>
            <a:normAutofit fontScale="92500"/>
          </a:bodyPr>
          <a:lstStyle/>
          <a:p>
            <a:r>
              <a:rPr lang="zh-CN" dirty="0"/>
              <a:t>攻击者喜欢利用 ShellShock 漏洞运行 shell 程序，因为这让他们可以执行任何他们想要的命令。</a:t>
            </a:r>
          </a:p>
          <a:p>
            <a:r>
              <a:rPr lang="zh-CN" dirty="0"/>
              <a:t>我们可以运行 /bin/bash 而不是 /bin/ls。但是，/bin/bash 命令是交互式的。</a:t>
            </a:r>
          </a:p>
          <a:p>
            <a:r>
              <a:rPr lang="zh-CN" dirty="0"/>
              <a:t>如果我们直接在漏洞利用程序中输入 /bin/bash，bash 脚本会在服务器端执行，但我们无法控制它。因此，我们需要使用反向 shell。</a:t>
            </a:r>
          </a:p>
          <a:p>
            <a:r>
              <a:rPr lang="zh-CN" dirty="0"/>
              <a:t>反向 shell 的核心思想是将标准输入、输出和错误设备重定向到网络连接。</a:t>
            </a:r>
            <a:endParaRPr lang="en-US" dirty="0"/>
          </a:p>
          <a:p>
            <a:r>
              <a:rPr lang="zh-CN" dirty="0"/>
              <a:t>这样，shell 就能从连接中获取输入，并将输出发送到连接。攻击者现在可以运行任何他们想要的命令，并在他们的机器上获取输出结果。</a:t>
            </a:r>
          </a:p>
          <a:p>
            <a:r>
              <a:rPr lang="zh-CN" dirty="0"/>
              <a:t>反向 shell 是一种非常常见的黑客技术，被许多攻击所采用。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5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0560"/>
            <a:ext cx="10948555" cy="827532"/>
          </a:xfrm>
        </p:spPr>
        <p:txBody>
          <a:bodyPr/>
          <a:lstStyle/>
          <a:p>
            <a:r>
              <a:rPr lang="zh-CN" b="1" dirty="0"/>
              <a:t>创建反向</a:t>
            </a:r>
            <a:r>
              <a:rPr lang="en-US" altLang="zh-CN" b="1" dirty="0"/>
              <a:t>Shell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245" y="3972350"/>
            <a:ext cx="10948555" cy="26882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在</a:t>
            </a:r>
            <a:r>
              <a:rPr lang="zh-CN" altLang="zh-CN" dirty="0"/>
              <a:t>攻击者机器（10.0.2.6）</a:t>
            </a:r>
            <a:r>
              <a:rPr lang="zh-CN" altLang="en-US" dirty="0"/>
              <a:t>上开启</a:t>
            </a:r>
            <a:r>
              <a:rPr lang="zh-CN" dirty="0"/>
              <a:t>一个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netcat</a:t>
            </a:r>
            <a:r>
              <a:rPr lang="zh-CN" dirty="0"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dirty="0"/>
              <a:t> 监听器</a:t>
            </a:r>
            <a:r>
              <a:rPr lang="zh-CN" altLang="en-US" dirty="0"/>
              <a:t>服务器</a:t>
            </a:r>
            <a:endParaRPr lang="zh-CN" dirty="0"/>
          </a:p>
          <a:p>
            <a:r>
              <a:rPr lang="zh-CN" dirty="0"/>
              <a:t>在包含反向 shell 命令（将在下一张幻灯片中讨论）的</a:t>
            </a:r>
            <a:r>
              <a:rPr lang="en-US" altLang="zh-CN" dirty="0"/>
              <a:t>Web</a:t>
            </a:r>
            <a:r>
              <a:rPr lang="zh-CN" dirty="0"/>
              <a:t>服务器上运行漏洞利用程序。</a:t>
            </a:r>
          </a:p>
          <a:p>
            <a:r>
              <a:rPr lang="zh-CN" dirty="0"/>
              <a:t>命令执行完毕后，看到来自</a:t>
            </a:r>
            <a:r>
              <a:rPr lang="en-US" altLang="zh-CN" dirty="0"/>
              <a:t>Web</a:t>
            </a:r>
            <a:r>
              <a:rPr lang="zh-CN" dirty="0"/>
              <a:t>服务器 (10.0.2.5) 的连接。</a:t>
            </a:r>
          </a:p>
          <a:p>
            <a:r>
              <a:rPr lang="zh-CN" altLang="en-US" dirty="0"/>
              <a:t>现在</a:t>
            </a:r>
            <a:r>
              <a:rPr lang="zh-CN" dirty="0"/>
              <a:t>执行“ ifconfig ”命令来检查此连接。</a:t>
            </a:r>
          </a:p>
          <a:p>
            <a:r>
              <a:rPr lang="zh-CN" dirty="0"/>
              <a:t>可以</a:t>
            </a:r>
            <a:r>
              <a:rPr lang="zh-CN" altLang="en-US" dirty="0"/>
              <a:t>验证</a:t>
            </a:r>
            <a:r>
              <a:rPr lang="zh-CN" dirty="0"/>
              <a:t>在</a:t>
            </a:r>
            <a:r>
              <a:rPr lang="zh-CN" altLang="en-US" dirty="0"/>
              <a:t>我们能让</a:t>
            </a:r>
            <a:r>
              <a:rPr lang="en-US" altLang="zh-CN" dirty="0"/>
              <a:t>Web</a:t>
            </a:r>
            <a:r>
              <a:rPr lang="zh-CN" dirty="0"/>
              <a:t>服务器机器运行任何我们想要的命令。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730D2-41BF-4ABC-961D-F73F9A536B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46" t="56482" r="16354" b="17593"/>
          <a:stretch/>
        </p:blipFill>
        <p:spPr>
          <a:xfrm>
            <a:off x="501410" y="1002777"/>
            <a:ext cx="10641984" cy="28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602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81849"/>
            <a:ext cx="10948555" cy="827532"/>
          </a:xfrm>
        </p:spPr>
        <p:txBody>
          <a:bodyPr/>
          <a:lstStyle/>
          <a:p>
            <a:r>
              <a:rPr lang="zh-CN" dirty="0"/>
              <a:t>创建反向Shell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405245" y="1370228"/>
            <a:ext cx="11373759" cy="5114370"/>
            <a:chOff x="405245" y="1141628"/>
            <a:chExt cx="11373759" cy="51143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287C361-D1CE-43D5-8CFD-41508E708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896" t="60370" r="17791" b="36852"/>
            <a:stretch/>
          </p:blipFill>
          <p:spPr>
            <a:xfrm>
              <a:off x="405245" y="1141628"/>
              <a:ext cx="11373759" cy="339712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50985" y="2062972"/>
              <a:ext cx="3297684" cy="12003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400" dirty="0"/>
                <a:t>选项</a:t>
              </a:r>
              <a:r>
                <a:rPr lang="zh-CN" sz="2400" dirty="0" err="1"/>
                <a:t>i</a:t>
              </a:r>
              <a:r>
                <a:rPr lang="zh-CN" sz="2400" dirty="0"/>
                <a:t> 代表 interactive，意味着 shell 应该是交互式的。</a:t>
              </a:r>
              <a:endParaRPr lang="en-US" sz="2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332683" y="2132098"/>
              <a:ext cx="4665050" cy="12003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400" dirty="0"/>
                <a:t>这会导致 shell 的输出设备（ </a:t>
              </a:r>
              <a:r>
                <a:rPr lang="zh-CN" sz="2400" dirty="0" err="1"/>
                <a:t>stdout </a:t>
              </a:r>
              <a:r>
                <a:rPr lang="zh-CN" sz="2400" dirty="0"/>
                <a:t>）重定向到与 10.0.2.6 的9090 端口的 TCP 连接。</a:t>
              </a:r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87880" y="3947674"/>
              <a:ext cx="5970270" cy="23083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400" dirty="0"/>
                <a:t>文件描述符 0 代表标准输入设备 ( </a:t>
              </a:r>
              <a:r>
                <a:rPr lang="zh-CN" sz="2400" dirty="0" err="1"/>
                <a:t>stdin </a:t>
              </a:r>
              <a:r>
                <a:rPr lang="zh-CN" sz="2400" dirty="0"/>
                <a:t>)，1 代表标准输出设备 ( </a:t>
              </a:r>
              <a:r>
                <a:rPr lang="zh-CN" sz="2400" dirty="0" err="1"/>
                <a:t>stdout </a:t>
              </a:r>
              <a:r>
                <a:rPr lang="zh-CN" sz="2400" dirty="0"/>
                <a:t>)。此命令指示系统使用</a:t>
              </a:r>
              <a:r>
                <a:rPr lang="zh-CN" sz="2400" dirty="0" err="1"/>
                <a:t>stdout</a:t>
              </a:r>
              <a:r>
                <a:rPr lang="zh-CN" sz="2400" dirty="0"/>
                <a:t>设备作为</a:t>
              </a:r>
              <a:r>
                <a:rPr lang="zh-CN" sz="2400" dirty="0" err="1"/>
                <a:t>stdin</a:t>
              </a:r>
              <a:r>
                <a:rPr lang="zh-CN" sz="2400" dirty="0"/>
                <a:t>设备。由于</a:t>
              </a:r>
              <a:r>
                <a:rPr lang="zh-CN" sz="2400" dirty="0" err="1"/>
                <a:t>stdout</a:t>
              </a:r>
              <a:r>
                <a:rPr lang="zh-CN" sz="2400" dirty="0"/>
                <a:t>已重定向到 TCP 连接，因此该选项实际上表明 shell 程序将从同一 TCP 连接获取输入。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339797" y="3975406"/>
              <a:ext cx="3294184" cy="19389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400" dirty="0"/>
                <a:t>文件描述符 2 代表标准错误（ </a:t>
              </a:r>
              <a:r>
                <a:rPr lang="zh-CN" sz="2400" dirty="0" err="1"/>
                <a:t>stderr </a:t>
              </a:r>
              <a:r>
                <a:rPr lang="zh-CN" sz="2400" dirty="0"/>
                <a:t>）。这会导致错误输出重定向到</a:t>
              </a:r>
              <a:r>
                <a:rPr lang="zh-CN" sz="2400" dirty="0" err="1"/>
                <a:t>标准输出（stdout </a:t>
              </a:r>
              <a:r>
                <a:rPr lang="zh-CN" sz="2400" dirty="0"/>
                <a:t>），也就是 TCP连接。</a:t>
              </a:r>
              <a:endParaRPr lang="en-US" sz="2400" dirty="0"/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3751385" y="1609344"/>
              <a:ext cx="2052007" cy="2016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ight Arrow 12"/>
            <p:cNvSpPr/>
            <p:nvPr/>
          </p:nvSpPr>
          <p:spPr>
            <a:xfrm rot="19462446">
              <a:off x="3339346" y="1815106"/>
              <a:ext cx="606034" cy="2129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5958840" y="1609345"/>
              <a:ext cx="4198620" cy="2016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Arrow 17"/>
            <p:cNvSpPr/>
            <p:nvPr/>
          </p:nvSpPr>
          <p:spPr>
            <a:xfrm rot="19462446">
              <a:off x="7142071" y="1815106"/>
              <a:ext cx="606034" cy="212924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 flipV="1">
              <a:off x="10312908" y="1609344"/>
              <a:ext cx="611124" cy="916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1079480" y="1609076"/>
              <a:ext cx="699524" cy="268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ight Arrow 22"/>
            <p:cNvSpPr/>
            <p:nvPr/>
          </p:nvSpPr>
          <p:spPr>
            <a:xfrm rot="19462446">
              <a:off x="7498994" y="2608045"/>
              <a:ext cx="3381284" cy="212924"/>
            </a:xfrm>
            <a:prstGeom prst="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Arrow 23"/>
            <p:cNvSpPr/>
            <p:nvPr/>
          </p:nvSpPr>
          <p:spPr>
            <a:xfrm rot="17582531">
              <a:off x="9847165" y="2684544"/>
              <a:ext cx="2329733" cy="191606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9042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3" y="392430"/>
            <a:ext cx="10948555" cy="827532"/>
          </a:xfrm>
        </p:spPr>
        <p:txBody>
          <a:bodyPr/>
          <a:lstStyle/>
          <a:p>
            <a:r>
              <a:rPr lang="zh-CN" dirty="0"/>
              <a:t>对 CGI 的 Shellshock 攻击：获得反向</a:t>
            </a:r>
            <a:r>
              <a:rPr lang="en-US" altLang="zh-CN" dirty="0"/>
              <a:t>Shell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7FF63-6851-4587-BDB8-6420BAE907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50" t="41667" r="16354" b="50000"/>
          <a:stretch/>
        </p:blipFill>
        <p:spPr>
          <a:xfrm>
            <a:off x="405243" y="1776365"/>
            <a:ext cx="11154833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F8190-6C26-4C83-9945-AB06CA188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46" t="54630" r="16562" b="25741"/>
          <a:stretch/>
        </p:blipFill>
        <p:spPr>
          <a:xfrm>
            <a:off x="664264" y="4129136"/>
            <a:ext cx="10493773" cy="2114715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5013960" y="2910388"/>
            <a:ext cx="609600" cy="1021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6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3248"/>
            <a:ext cx="10515600" cy="4351338"/>
          </a:xfrm>
        </p:spPr>
        <p:txBody>
          <a:bodyPr/>
          <a:lstStyle/>
          <a:p>
            <a:r>
              <a:rPr lang="zh-CN" dirty="0"/>
              <a:t>Bash 中的</a:t>
            </a:r>
            <a:r>
              <a:rPr lang="zh-CN" altLang="en-US" dirty="0"/>
              <a:t>自定义</a:t>
            </a:r>
            <a:r>
              <a:rPr lang="zh-CN" dirty="0"/>
              <a:t>函数</a:t>
            </a:r>
          </a:p>
          <a:p>
            <a:r>
              <a:rPr lang="en-US" altLang="zh-CN" dirty="0"/>
              <a:t>Bash</a:t>
            </a:r>
            <a:r>
              <a:rPr lang="zh-CN" altLang="en-US" dirty="0"/>
              <a:t>源代码中的</a:t>
            </a:r>
            <a:r>
              <a:rPr lang="zh-CN" dirty="0"/>
              <a:t>解析逻辑错误</a:t>
            </a:r>
          </a:p>
          <a:p>
            <a:r>
              <a:rPr lang="en-US" altLang="zh-CN" dirty="0" err="1"/>
              <a:t>ShellShock</a:t>
            </a:r>
            <a:r>
              <a:rPr lang="zh-CN" altLang="en-US" dirty="0"/>
              <a:t>漏洞</a:t>
            </a:r>
            <a:endParaRPr lang="zh-CN" dirty="0"/>
          </a:p>
          <a:p>
            <a:r>
              <a:rPr lang="zh-CN" dirty="0"/>
              <a:t>如何利用该漏洞</a:t>
            </a:r>
          </a:p>
          <a:p>
            <a:r>
              <a:rPr lang="zh-CN" dirty="0"/>
              <a:t>如何使用 Shellshock 攻击创建反向 shell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3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3901</TotalTime>
  <Words>2370</Words>
  <Application>Microsoft Office PowerPoint</Application>
  <PresentationFormat>宽屏</PresentationFormat>
  <Paragraphs>335</Paragraphs>
  <Slides>25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Arial Unicode MS</vt:lpstr>
      <vt:lpstr>Arial</vt:lpstr>
      <vt:lpstr>Calibri</vt:lpstr>
      <vt:lpstr>Calibri Light</vt:lpstr>
      <vt:lpstr>Courier New</vt:lpstr>
      <vt:lpstr>Office Theme</vt:lpstr>
      <vt:lpstr>ShellShock攻击 </vt:lpstr>
      <vt:lpstr>背景：Shell </vt:lpstr>
      <vt:lpstr>将 Shell 内的自定义函数传递给子进程</vt:lpstr>
      <vt:lpstr>将 Shell 函数传递给子进程</vt:lpstr>
      <vt:lpstr>Shell 内自定义函数传递给子进程</vt:lpstr>
      <vt:lpstr>ShellShock 漏洞</vt:lpstr>
      <vt:lpstr>ShellShock漏洞</vt:lpstr>
      <vt:lpstr>Bash 源代码中的错误</vt:lpstr>
      <vt:lpstr>Bash 源代码中的错误</vt:lpstr>
      <vt:lpstr>Bash 源代码中的错误</vt:lpstr>
      <vt:lpstr>利用ShellShock漏洞</vt:lpstr>
      <vt:lpstr>对 Set-UID 程序的 Shellshock 攻击</vt:lpstr>
      <vt:lpstr>对 Set-UID 程序的 Shellshock 攻击</vt:lpstr>
      <vt:lpstr>对 CGI 程序的攻击</vt:lpstr>
      <vt:lpstr>Shellshock 攻击 CGI程序：设置</vt:lpstr>
      <vt:lpstr>Web服务器如何调用CGI程序</vt:lpstr>
      <vt:lpstr>如何使攻击载荷进入CGI 程序</vt:lpstr>
      <vt:lpstr>如何利用数据进入 CGI 程序</vt:lpstr>
      <vt:lpstr>发动攻击​</vt:lpstr>
      <vt:lpstr>Shellshock攻击：窃取密码</vt:lpstr>
      <vt:lpstr>ShellShock攻击：反向Shell</vt:lpstr>
      <vt:lpstr>创建反向Shell</vt:lpstr>
      <vt:lpstr>创建反向Shell</vt:lpstr>
      <vt:lpstr>对 CGI 的 Shellshock 攻击：获得反向Shell</vt:lpstr>
      <vt:lpstr>概括</vt:lpstr>
    </vt:vector>
  </TitlesOfParts>
  <Company>Syracuse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昕 宋</cp:lastModifiedBy>
  <cp:revision>287</cp:revision>
  <dcterms:created xsi:type="dcterms:W3CDTF">2017-10-29T00:53:57Z</dcterms:created>
  <dcterms:modified xsi:type="dcterms:W3CDTF">2026-03-15T14:52:29Z</dcterms:modified>
</cp:coreProperties>
</file>