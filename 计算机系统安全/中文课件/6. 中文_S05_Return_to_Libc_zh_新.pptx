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22"/>
    <p:sldId id="276" r:id="rId23"/>
    <p:sldId id="278" r:id="rId24"/>
    <p:sldId id="279" r:id="rId25"/>
    <p:sldId id="280" r:id="rId26"/>
    <p:sldId id="281" r:id="rId27"/>
    <p:sldId id="283" r:id="rId28"/>
    <p:sldId id="277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67"/>
    <p:restoredTop sz="81758" autoAdjust="0"/>
  </p:normalViewPr>
  <p:slideViewPr>
    <p:cSldViewPr snapToGrid="0">
      <p:cViewPr varScale="1">
        <p:scale>
          <a:sx n="135" d="100"/>
          <a:sy n="135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527365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7017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850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考虑上面的代码，它将 shellcode 放置在栈上的缓冲区中，将缓冲区强制转换为函数并调用该函数。</a:t>
            </a:r>
          </a:p>
        </p:txBody>
      </p:sp>
    </p:spTree>
    <p:extLst>
      <p:ext uri="{BB962C8B-B14F-4D97-AF65-F5344CB8AC3E}">
        <p14:creationId xmlns:p14="http://schemas.microsoft.com/office/powerpoint/2010/main" val="352996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GB" altLang="zh-CN" dirty="0" err="1"/>
              <a:t>注意编译时使用</a:t>
            </a:r>
            <a:r>
              <a:rPr lang="zh-CN" altLang="en-US" dirty="0"/>
              <a:t> </a:t>
            </a:r>
            <a:r>
              <a:rPr lang="en-US" altLang="zh-CN" dirty="0"/>
              <a:t>–m32</a:t>
            </a:r>
            <a:r>
              <a:rPr lang="zh-CN" altLang="en-US" dirty="0"/>
              <a:t> 选项，因为提供的</a:t>
            </a:r>
            <a:r>
              <a:rPr lang="en-US" altLang="zh-CN" dirty="0"/>
              <a:t>shellcode</a:t>
            </a:r>
            <a:r>
              <a:rPr lang="zh-CN" altLang="en-US" dirty="0"/>
              <a:t>是</a:t>
            </a:r>
            <a:r>
              <a:rPr lang="en-US" altLang="zh-CN" dirty="0"/>
              <a:t>32</a:t>
            </a:r>
            <a:r>
              <a:rPr lang="zh-CN" altLang="en-US" dirty="0"/>
              <a:t>位的，所以用如下命令进行编译，可以得到和课件一致的执行效果：</a:t>
            </a:r>
            <a:endParaRPr lang="en-US" altLang="zh-CN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altLang="zh-CN" dirty="0" err="1"/>
              <a:t>gcc</a:t>
            </a:r>
            <a:r>
              <a:rPr lang="en-US" altLang="zh-CN" dirty="0"/>
              <a:t> –m32 –z </a:t>
            </a:r>
            <a:r>
              <a:rPr lang="en-US" altLang="zh-CN" dirty="0" err="1"/>
              <a:t>execstack</a:t>
            </a:r>
            <a:r>
              <a:rPr lang="en-US" altLang="zh-CN" dirty="0"/>
              <a:t> </a:t>
            </a:r>
            <a:r>
              <a:rPr lang="en-US" altLang="zh-CN" dirty="0" err="1"/>
              <a:t>shellcode.c</a:t>
            </a:r>
            <a:r>
              <a:rPr lang="en-GB" altLang="zh-CN" dirty="0"/>
              <a:t>  </a:t>
            </a:r>
            <a:r>
              <a:rPr lang="en-GB" altLang="zh-CN" dirty="0" err="1"/>
              <a:t>和</a:t>
            </a:r>
            <a:endParaRPr lang="en-GB" altLang="zh-CN" dirty="0"/>
          </a:p>
          <a:p>
            <a:pPr marL="0" lvl="0" indent="0">
              <a:spcBef>
                <a:spcPts val="0"/>
              </a:spcBef>
              <a:buNone/>
            </a:pPr>
            <a:r>
              <a:rPr lang="en-GB" altLang="zh-CN" dirty="0" err="1"/>
              <a:t>gcc</a:t>
            </a:r>
            <a:r>
              <a:rPr lang="en-GB" altLang="zh-CN" dirty="0"/>
              <a:t> –m32 –z </a:t>
            </a:r>
            <a:r>
              <a:rPr lang="en-GB" altLang="zh-CN" dirty="0" err="1"/>
              <a:t>noexecstack</a:t>
            </a:r>
            <a:r>
              <a:rPr lang="en-GB" altLang="zh-CN" dirty="0"/>
              <a:t> </a:t>
            </a:r>
            <a:r>
              <a:rPr lang="en-GB" altLang="zh-CN" dirty="0" err="1"/>
              <a:t>shellcode.c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1089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088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7080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340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7620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libc 库在程序运行时加载到内存中。对于同一个程序，库会被加载到相同的位置。因此，我们可以使用 gdb 来查找库函数的位置。</a:t>
            </a:r>
          </a:p>
        </p:txBody>
      </p:sp>
    </p:spTree>
    <p:extLst>
      <p:ext uri="{BB962C8B-B14F-4D97-AF65-F5344CB8AC3E}">
        <p14:creationId xmlns:p14="http://schemas.microsoft.com/office/powerpoint/2010/main" val="3198329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400"/>
              <a:t>shell 进程中导出的环境变量总是会传递给子进程。因此，当导出新的环境变量并运行易受攻击的程序时，该环境变量会被传递给易受攻击的代码，从而进入其内存中。</a:t>
            </a:r>
          </a:p>
        </p:txBody>
      </p:sp>
    </p:spTree>
    <p:extLst>
      <p:ext uri="{BB962C8B-B14F-4D97-AF65-F5344CB8AC3E}">
        <p14:creationId xmlns:p14="http://schemas.microsoft.com/office/powerpoint/2010/main" val="2468132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996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环境变量存储在进程的栈区域，但在压入环境变量之前，程序名称会先被压入，这会影响环境变量的内存位置。</a:t>
            </a:r>
            <a:r>
              <a:rPr lang="zh-CN" baseline="0" dirty="0"/>
              <a:t>我们花了很长时间才弄明白为什么仅仅更改文件名就能使攻击失败。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28639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3817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如前所述，函数调用的开头包含 3 条指令。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zh-CN" dirty="0"/>
              <a:t>当函数被调用时，返回地址（RA）会被压入栈中。这是函数执行前的起始点，在函数序言执行之前。栈指针（ </a:t>
            </a:r>
            <a:r>
              <a:rPr lang="zh-CN" dirty="0" err="1"/>
              <a:t>esp</a:t>
            </a:r>
            <a:r>
              <a:rPr lang="zh-CN" dirty="0"/>
              <a:t>寄存器）指向RA所在的位置。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zh-CN" dirty="0"/>
              <a:t>前一个帧指针被压入堆栈，因此当函数返回时，调用者的帧指针将被恢复。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zh-CN" dirty="0"/>
              <a:t>栈指针现在指向前一个帧指针。帧指针（ </a:t>
            </a:r>
            <a:r>
              <a:rPr lang="zh-CN" dirty="0" err="1"/>
              <a:t>ebp </a:t>
            </a:r>
            <a:r>
              <a:rPr lang="zh-CN" dirty="0"/>
              <a:t>）现在指向当前栈指针，这样帧指针就始终指向之前的帧指针。</a:t>
            </a:r>
          </a:p>
          <a:p>
            <a:pPr marL="457200" lvl="0" indent="-298450" rtl="0">
              <a:spcBef>
                <a:spcPts val="0"/>
              </a:spcBef>
              <a:buSzPts val="1100"/>
              <a:buAutoNum type="arabicParenR"/>
            </a:pPr>
            <a:r>
              <a:rPr lang="zh-CN" dirty="0"/>
              <a:t>现在，栈指针移动 N 个字节，为函数的局部变量腾出空间。</a:t>
            </a:r>
          </a:p>
        </p:txBody>
      </p:sp>
    </p:spTree>
    <p:extLst>
      <p:ext uri="{BB962C8B-B14F-4D97-AF65-F5344CB8AC3E}">
        <p14:creationId xmlns:p14="http://schemas.microsoft.com/office/powerpoint/2010/main" val="805094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zh-CN"/>
              <a:t>现在栈指针指向帧指针所指向的位置，以便释放为局部变量分配的栈空间。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zh-CN"/>
              <a:t>将前一个帧指针赋值给 %ebp，以恢复调用者函数的帧指针。</a:t>
            </a:r>
          </a:p>
          <a:p>
            <a:pPr marL="457200" lvl="0" indent="-298450">
              <a:spcBef>
                <a:spcPts val="0"/>
              </a:spcBef>
              <a:buSzPts val="1100"/>
              <a:buAutoNum type="arabicParenR"/>
            </a:pPr>
            <a:r>
              <a:rPr lang="zh-CN"/>
              <a:t>返回地址从堆栈中弹出，程序跳转到该地址。这条指令移动堆栈指针。</a:t>
            </a:r>
          </a:p>
        </p:txBody>
      </p:sp>
    </p:spTree>
    <p:extLst>
      <p:ext uri="{BB962C8B-B14F-4D97-AF65-F5344CB8AC3E}">
        <p14:creationId xmlns:p14="http://schemas.microsoft.com/office/powerpoint/2010/main" val="261867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可以使用 gcc -s 将代码编译成汇编代码。</a:t>
            </a:r>
          </a:p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107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5627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996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Shape 2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59896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我们</a:t>
            </a:r>
            <a:r>
              <a:rPr lang="zh-CN" baseline="0" dirty="0"/>
              <a:t>位于易受攻击的函数内部（在返回之前），因此</a:t>
            </a:r>
            <a:r>
              <a:rPr lang="zh-CN" baseline="0" dirty="0" err="1"/>
              <a:t>ebp</a:t>
            </a:r>
            <a:r>
              <a:rPr lang="zh-CN" baseline="0" dirty="0"/>
              <a:t>目前指向易受攻击的函数的堆栈帧。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32666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4C7D0B5F-9088-8DD4-515A-11F53DB9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>
            <a:extLst>
              <a:ext uri="{FF2B5EF4-FFF2-40B4-BE49-F238E27FC236}">
                <a16:creationId xmlns:a16="http://schemas.microsoft.com/office/drawing/2014/main" id="{8C297594-7D51-347E-68C0-4B6F5FCB0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Shape 236">
            <a:extLst>
              <a:ext uri="{FF2B5EF4-FFF2-40B4-BE49-F238E27FC236}">
                <a16:creationId xmlns:a16="http://schemas.microsoft.com/office/drawing/2014/main" id="{F694005D-5CBE-4DC0-4E46-45BD65079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我们</a:t>
            </a:r>
            <a:r>
              <a:rPr lang="zh-CN" baseline="0" dirty="0"/>
              <a:t>位于易受攻击的函数内部（在返回之前），因此</a:t>
            </a:r>
            <a:r>
              <a:rPr lang="zh-CN" baseline="0" dirty="0" err="1"/>
              <a:t>ebp</a:t>
            </a:r>
            <a:r>
              <a:rPr lang="zh-CN" baseline="0" dirty="0"/>
              <a:t>目前指向易受攻击的函数的堆栈帧。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0385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665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5200"/>
              <a:buNone/>
              <a:defRPr sz="5200"/>
            </a:lvl1pPr>
            <a:lvl2pPr lvl="1" algn="ctr">
              <a:spcBef>
                <a:spcPts val="0"/>
              </a:spcBef>
              <a:buSzPts val="5200"/>
              <a:buNone/>
              <a:defRPr sz="5200"/>
            </a:lvl2pPr>
            <a:lvl3pPr lvl="2" algn="ctr">
              <a:spcBef>
                <a:spcPts val="0"/>
              </a:spcBef>
              <a:buSzPts val="5200"/>
              <a:buNone/>
              <a:defRPr sz="5200"/>
            </a:lvl3pPr>
            <a:lvl4pPr lvl="3" algn="ctr">
              <a:spcBef>
                <a:spcPts val="0"/>
              </a:spcBef>
              <a:buSzPts val="5200"/>
              <a:buNone/>
              <a:defRPr sz="5200"/>
            </a:lvl4pPr>
            <a:lvl5pPr lvl="4" algn="ctr">
              <a:spcBef>
                <a:spcPts val="0"/>
              </a:spcBef>
              <a:buSzPts val="5200"/>
              <a:buNone/>
              <a:defRPr sz="5200"/>
            </a:lvl5pPr>
            <a:lvl6pPr lvl="5" algn="ctr">
              <a:spcBef>
                <a:spcPts val="0"/>
              </a:spcBef>
              <a:buSzPts val="5200"/>
              <a:buNone/>
              <a:defRPr sz="5200"/>
            </a:lvl6pPr>
            <a:lvl7pPr lvl="6" algn="ctr">
              <a:spcBef>
                <a:spcPts val="0"/>
              </a:spcBef>
              <a:buSzPts val="5200"/>
              <a:buNone/>
              <a:defRPr sz="5200"/>
            </a:lvl7pPr>
            <a:lvl8pPr lvl="7" algn="ctr">
              <a:spcBef>
                <a:spcPts val="0"/>
              </a:spcBef>
              <a:buSzPts val="5200"/>
              <a:buNone/>
              <a:defRPr sz="5200"/>
            </a:lvl8pPr>
            <a:lvl9pPr lvl="8" algn="ctr">
              <a:spcBef>
                <a:spcPts val="0"/>
              </a:spcBef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ts val="3600"/>
              <a:buNone/>
              <a:defRPr sz="3600"/>
            </a:lvl1pPr>
            <a:lvl2pPr lvl="1" algn="ctr">
              <a:spcBef>
                <a:spcPts val="0"/>
              </a:spcBef>
              <a:buSzPts val="3600"/>
              <a:buNone/>
              <a:defRPr sz="3600"/>
            </a:lvl2pPr>
            <a:lvl3pPr lvl="2" algn="ctr">
              <a:spcBef>
                <a:spcPts val="0"/>
              </a:spcBef>
              <a:buSzPts val="3600"/>
              <a:buNone/>
              <a:defRPr sz="3600"/>
            </a:lvl3pPr>
            <a:lvl4pPr lvl="3" algn="ctr">
              <a:spcBef>
                <a:spcPts val="0"/>
              </a:spcBef>
              <a:buSzPts val="3600"/>
              <a:buNone/>
              <a:defRPr sz="3600"/>
            </a:lvl4pPr>
            <a:lvl5pPr lvl="4" algn="ctr">
              <a:spcBef>
                <a:spcPts val="0"/>
              </a:spcBef>
              <a:buSzPts val="3600"/>
              <a:buNone/>
              <a:defRPr sz="3600"/>
            </a:lvl5pPr>
            <a:lvl6pPr lvl="5" algn="ctr">
              <a:spcBef>
                <a:spcPts val="0"/>
              </a:spcBef>
              <a:buSzPts val="3600"/>
              <a:buNone/>
              <a:defRPr sz="3600"/>
            </a:lvl6pPr>
            <a:lvl7pPr lvl="6" algn="ctr">
              <a:spcBef>
                <a:spcPts val="0"/>
              </a:spcBef>
              <a:buSzPts val="3600"/>
              <a:buNone/>
              <a:defRPr sz="3600"/>
            </a:lvl7pPr>
            <a:lvl8pPr lvl="7" algn="ctr">
              <a:spcBef>
                <a:spcPts val="0"/>
              </a:spcBef>
              <a:buSzPts val="3600"/>
              <a:buNone/>
              <a:defRPr sz="3600"/>
            </a:lvl8pPr>
            <a:lvl9pPr lvl="8" algn="ctr">
              <a:spcBef>
                <a:spcPts val="0"/>
              </a:spcBef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200"/>
              <a:buChar char="●"/>
              <a:defRPr sz="12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4800"/>
              <a:buNone/>
              <a:defRPr sz="4800"/>
            </a:lvl1pPr>
            <a:lvl2pPr lvl="1">
              <a:spcBef>
                <a:spcPts val="0"/>
              </a:spcBef>
              <a:buSzPts val="4800"/>
              <a:buNone/>
              <a:defRPr sz="4800"/>
            </a:lvl2pPr>
            <a:lvl3pPr lvl="2">
              <a:spcBef>
                <a:spcPts val="0"/>
              </a:spcBef>
              <a:buSzPts val="4800"/>
              <a:buNone/>
              <a:defRPr sz="4800"/>
            </a:lvl3pPr>
            <a:lvl4pPr lvl="3">
              <a:spcBef>
                <a:spcPts val="0"/>
              </a:spcBef>
              <a:buSzPts val="4800"/>
              <a:buNone/>
              <a:defRPr sz="4800"/>
            </a:lvl4pPr>
            <a:lvl5pPr lvl="4">
              <a:spcBef>
                <a:spcPts val="0"/>
              </a:spcBef>
              <a:buSzPts val="4800"/>
              <a:buNone/>
              <a:defRPr sz="4800"/>
            </a:lvl5pPr>
            <a:lvl6pPr lvl="5">
              <a:spcBef>
                <a:spcPts val="0"/>
              </a:spcBef>
              <a:buSzPts val="4800"/>
              <a:buNone/>
              <a:defRPr sz="4800"/>
            </a:lvl6pPr>
            <a:lvl7pPr lvl="6">
              <a:spcBef>
                <a:spcPts val="0"/>
              </a:spcBef>
              <a:buSzPts val="4800"/>
              <a:buNone/>
              <a:defRPr sz="4800"/>
            </a:lvl7pPr>
            <a:lvl8pPr lvl="7">
              <a:spcBef>
                <a:spcPts val="0"/>
              </a:spcBef>
              <a:buSzPts val="4800"/>
              <a:buNone/>
              <a:defRPr sz="4800"/>
            </a:lvl8pPr>
            <a:lvl9pPr lvl="8">
              <a:spcBef>
                <a:spcPts val="0"/>
              </a:spcBef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4200"/>
              <a:buNone/>
              <a:defRPr sz="4200"/>
            </a:lvl1pPr>
            <a:lvl2pPr lvl="1" algn="ctr">
              <a:spcBef>
                <a:spcPts val="0"/>
              </a:spcBef>
              <a:buSzPts val="4200"/>
              <a:buNone/>
              <a:defRPr sz="4200"/>
            </a:lvl2pPr>
            <a:lvl3pPr lvl="2" algn="ctr">
              <a:spcBef>
                <a:spcPts val="0"/>
              </a:spcBef>
              <a:buSzPts val="4200"/>
              <a:buNone/>
              <a:defRPr sz="4200"/>
            </a:lvl3pPr>
            <a:lvl4pPr lvl="3" algn="ctr">
              <a:spcBef>
                <a:spcPts val="0"/>
              </a:spcBef>
              <a:buSzPts val="4200"/>
              <a:buNone/>
              <a:defRPr sz="4200"/>
            </a:lvl4pPr>
            <a:lvl5pPr lvl="4" algn="ctr">
              <a:spcBef>
                <a:spcPts val="0"/>
              </a:spcBef>
              <a:buSzPts val="4200"/>
              <a:buNone/>
              <a:defRPr sz="4200"/>
            </a:lvl5pPr>
            <a:lvl6pPr lvl="5" algn="ctr">
              <a:spcBef>
                <a:spcPts val="0"/>
              </a:spcBef>
              <a:buSzPts val="4200"/>
              <a:buNone/>
              <a:defRPr sz="4200"/>
            </a:lvl6pPr>
            <a:lvl7pPr lvl="6" algn="ctr">
              <a:spcBef>
                <a:spcPts val="0"/>
              </a:spcBef>
              <a:buSzPts val="4200"/>
              <a:buNone/>
              <a:defRPr sz="4200"/>
            </a:lvl7pPr>
            <a:lvl8pPr lvl="7" algn="ctr">
              <a:spcBef>
                <a:spcPts val="0"/>
              </a:spcBef>
              <a:buSzPts val="4200"/>
              <a:buNone/>
              <a:defRPr sz="4200"/>
            </a:lvl8pPr>
            <a:lvl9pPr lvl="8" algn="ctr">
              <a:spcBef>
                <a:spcPts val="0"/>
              </a:spcBef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ts val="12000"/>
              <a:buNone/>
              <a:defRPr sz="12000"/>
            </a:lvl1pPr>
            <a:lvl2pPr lvl="1" algn="ctr">
              <a:spcBef>
                <a:spcPts val="0"/>
              </a:spcBef>
              <a:buSzPts val="12000"/>
              <a:buNone/>
              <a:defRPr sz="12000"/>
            </a:lvl2pPr>
            <a:lvl3pPr lvl="2" algn="ctr">
              <a:spcBef>
                <a:spcPts val="0"/>
              </a:spcBef>
              <a:buSzPts val="12000"/>
              <a:buNone/>
              <a:defRPr sz="12000"/>
            </a:lvl3pPr>
            <a:lvl4pPr lvl="3" algn="ctr">
              <a:spcBef>
                <a:spcPts val="0"/>
              </a:spcBef>
              <a:buSzPts val="12000"/>
              <a:buNone/>
              <a:defRPr sz="12000"/>
            </a:lvl4pPr>
            <a:lvl5pPr lvl="4" algn="ctr">
              <a:spcBef>
                <a:spcPts val="0"/>
              </a:spcBef>
              <a:buSzPts val="12000"/>
              <a:buNone/>
              <a:defRPr sz="12000"/>
            </a:lvl5pPr>
            <a:lvl6pPr lvl="5" algn="ctr">
              <a:spcBef>
                <a:spcPts val="0"/>
              </a:spcBef>
              <a:buSzPts val="12000"/>
              <a:buNone/>
              <a:defRPr sz="12000"/>
            </a:lvl6pPr>
            <a:lvl7pPr lvl="6" algn="ctr">
              <a:spcBef>
                <a:spcPts val="0"/>
              </a:spcBef>
              <a:buSzPts val="12000"/>
              <a:buNone/>
              <a:defRPr sz="12000"/>
            </a:lvl7pPr>
            <a:lvl8pPr lvl="7" algn="ctr">
              <a:spcBef>
                <a:spcPts val="0"/>
              </a:spcBef>
              <a:buSzPts val="12000"/>
              <a:buNone/>
              <a:defRPr sz="12000"/>
            </a:lvl8pPr>
            <a:lvl9pPr lvl="8" algn="ctr">
              <a:spcBef>
                <a:spcPts val="0"/>
              </a:spcBef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SzPts val="1800"/>
              <a:buChar char="●"/>
              <a:defRPr/>
            </a:lvl1pPr>
            <a:lvl2pPr lvl="1" algn="ctr">
              <a:spcBef>
                <a:spcPts val="0"/>
              </a:spcBef>
              <a:buSzPts val="1400"/>
              <a:buChar char="○"/>
              <a:defRPr/>
            </a:lvl2pPr>
            <a:lvl3pPr lvl="2" algn="ctr">
              <a:spcBef>
                <a:spcPts val="0"/>
              </a:spcBef>
              <a:buSzPts val="1400"/>
              <a:buChar char="■"/>
              <a:defRPr/>
            </a:lvl3pPr>
            <a:lvl4pPr lvl="3" algn="ctr">
              <a:spcBef>
                <a:spcPts val="0"/>
              </a:spcBef>
              <a:buSzPts val="1400"/>
              <a:buChar char="●"/>
              <a:defRPr/>
            </a:lvl4pPr>
            <a:lvl5pPr lvl="4" algn="ctr">
              <a:spcBef>
                <a:spcPts val="0"/>
              </a:spcBef>
              <a:buSzPts val="1400"/>
              <a:buChar char="○"/>
              <a:defRPr/>
            </a:lvl5pPr>
            <a:lvl6pPr lvl="5" algn="ctr">
              <a:spcBef>
                <a:spcPts val="0"/>
              </a:spcBef>
              <a:buSzPts val="1400"/>
              <a:buChar char="■"/>
              <a:defRPr/>
            </a:lvl6pPr>
            <a:lvl7pPr lvl="6" algn="ctr">
              <a:spcBef>
                <a:spcPts val="0"/>
              </a:spcBef>
              <a:buSzPts val="1400"/>
              <a:buChar char="●"/>
              <a:defRPr/>
            </a:lvl7pPr>
            <a:lvl8pPr lvl="7" algn="ctr">
              <a:spcBef>
                <a:spcPts val="0"/>
              </a:spcBef>
              <a:buSzPts val="1400"/>
              <a:buChar char="○"/>
              <a:defRPr/>
            </a:lvl8pPr>
            <a:lvl9pPr lvl="8" algn="ctr">
              <a:spcBef>
                <a:spcPts val="0"/>
              </a:spcBef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buNone/>
            </a:pPr>
            <a:fld id="{00000000-1234-1234-1234-123412341234}" type="slidenum">
              <a:rPr lang="en-GB" sz="1000">
                <a:solidFill>
                  <a:schemeClr val="dk2"/>
                </a:solidFill>
              </a:rPr>
              <a:t>‹#›</a:t>
            </a:fld>
            <a:endParaRPr lang="en-GB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mp"/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altLang="zh-CN" dirty="0"/>
              <a:t>Return-to-</a:t>
            </a:r>
            <a:r>
              <a:rPr lang="zh-CN" dirty="0"/>
              <a:t>libc</a:t>
            </a:r>
            <a:r>
              <a:rPr lang="en-US" altLang="zh-CN" dirty="0"/>
              <a:t> </a:t>
            </a:r>
            <a:r>
              <a:rPr lang="zh-CN" dirty="0"/>
              <a:t>攻击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大纲</a:t>
            </a:r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4191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zh-CN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非可执行堆栈反制措施</a:t>
            </a:r>
          </a:p>
          <a:p>
            <a:pPr marL="457200" lvl="0" indent="-4191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zh-CN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如何破解反制措施</a:t>
            </a:r>
          </a:p>
          <a:p>
            <a:pPr marL="457200" lvl="0" indent="-4191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zh-CN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攻击中涉及的任务</a:t>
            </a:r>
          </a:p>
          <a:p>
            <a:pPr marL="457200" lvl="0" indent="-4191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zh-CN" altLang="en-US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函数</a:t>
            </a:r>
            <a:r>
              <a:rPr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序言和</a:t>
            </a:r>
            <a:r>
              <a:rPr lang="zh-CN" alt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后记</a:t>
            </a:r>
            <a:endParaRPr lang="zh-CN"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191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zh-CN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发起攻击</a:t>
            </a:r>
            <a:endParaRPr lang="en-GB"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不可执行堆栈</a:t>
            </a:r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311700" y="1051075"/>
            <a:ext cx="42258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/>
              <a:t>在 C 程序中运行 shellcode</a:t>
            </a:r>
          </a:p>
        </p:txBody>
      </p:sp>
      <p:pic>
        <p:nvPicPr>
          <p:cNvPr id="67" name="Shape 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23650"/>
            <a:ext cx="5227226" cy="3101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Shape 68"/>
          <p:cNvCxnSpPr/>
          <p:nvPr/>
        </p:nvCxnSpPr>
        <p:spPr>
          <a:xfrm rot="10800000">
            <a:off x="3591450" y="4399550"/>
            <a:ext cx="21876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9" name="Shape 69"/>
          <p:cNvSpPr txBox="1"/>
          <p:nvPr/>
        </p:nvSpPr>
        <p:spPr>
          <a:xfrm>
            <a:off x="5867725" y="4192650"/>
            <a:ext cx="3074400" cy="443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/>
              <a:t>调用 shellcode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221700" y="1152475"/>
            <a:ext cx="8610600" cy="3720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ts val="1800"/>
              <a:buChar char="●"/>
            </a:pPr>
            <a:r>
              <a:rPr lang="zh-CN"/>
              <a:t>可执行堆栈</a:t>
            </a:r>
          </a:p>
          <a:p>
            <a:pPr marL="0" lvl="0" indent="0" rtl="0">
              <a:spcBef>
                <a:spcPts val="0"/>
              </a:spcBef>
              <a:buNone/>
            </a:pPr>
            <a:endParaRPr/>
          </a:p>
          <a:p>
            <a:pPr marL="0" lvl="0" indent="0" rtl="0">
              <a:spcBef>
                <a:spcPts val="0"/>
              </a:spcBef>
              <a:buNone/>
            </a:pPr>
            <a:endParaRPr/>
          </a:p>
          <a:p>
            <a:pPr marL="457200" lvl="0" indent="-342900" rtl="0">
              <a:spcBef>
                <a:spcPts val="0"/>
              </a:spcBef>
              <a:buSzPts val="1800"/>
              <a:buChar char="●"/>
            </a:pPr>
            <a:r>
              <a:rPr lang="zh-CN"/>
              <a:t>使用不可执行堆栈</a:t>
            </a:r>
          </a:p>
          <a:p>
            <a:pPr marL="0" lvl="0" indent="0" rtl="0">
              <a:spcBef>
                <a:spcPts val="0"/>
              </a:spcBef>
              <a:buNone/>
            </a:pPr>
            <a:endParaRPr/>
          </a:p>
        </p:txBody>
      </p:sp>
      <p:pic>
        <p:nvPicPr>
          <p:cNvPr id="75" name="Shape 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599688"/>
            <a:ext cx="79152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Shape 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650" y="3238938"/>
            <a:ext cx="77533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hape 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不可执行堆栈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311700" y="106697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如何破解这种反制措施</a:t>
            </a:r>
            <a:endParaRPr lang="en-GB" dirty="0"/>
          </a:p>
        </p:txBody>
      </p:sp>
      <p:sp>
        <p:nvSpPr>
          <p:cNvPr id="82" name="Shape 82"/>
          <p:cNvSpPr txBox="1"/>
          <p:nvPr/>
        </p:nvSpPr>
        <p:spPr>
          <a:xfrm>
            <a:off x="311700" y="679397"/>
            <a:ext cx="8336100" cy="138518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b="1" dirty="0">
                <a:latin typeface="+mj-lt"/>
                <a:cs typeface="Courier New" panose="02070309020205020404" pitchFamily="49" charset="0"/>
              </a:rPr>
              <a:t>跳转到现有代码：</a:t>
            </a:r>
            <a:r>
              <a:rPr lang="zh-CN" sz="1800" dirty="0">
                <a:latin typeface="+mj-lt"/>
                <a:cs typeface="Courier New" panose="02070309020205020404" pitchFamily="49" charset="0"/>
              </a:rPr>
              <a:t>例如</a:t>
            </a:r>
            <a:r>
              <a:rPr lang="zh-CN" altLang="en-US" sz="18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libc</a:t>
            </a:r>
            <a:r>
              <a:rPr lang="zh-CN" sz="1800" b="1" dirty="0"/>
              <a:t> </a:t>
            </a:r>
            <a:r>
              <a:rPr lang="zh-CN" altLang="en-US" sz="1800" b="1" dirty="0"/>
              <a:t>库</a:t>
            </a:r>
            <a:r>
              <a:rPr lang="zh-CN" sz="1800" dirty="0"/>
              <a:t>。</a:t>
            </a:r>
            <a:endParaRPr lang="en-GB" sz="1800" dirty="0"/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r>
              <a:rPr lang="zh-CN" sz="1800" b="1" dirty="0"/>
              <a:t>功能：</a:t>
            </a:r>
            <a:r>
              <a:rPr lang="zh-CN" sz="1800" dirty="0"/>
              <a:t> 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system( </a:t>
            </a:r>
            <a:r>
              <a:rPr 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 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zh-CN" sz="1800" dirty="0"/>
              <a:t>: </a:t>
            </a:r>
            <a:r>
              <a:rPr 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cmd</a:t>
            </a:r>
            <a:r>
              <a:rPr lang="zh-CN" sz="1800" dirty="0"/>
              <a:t>参数是一个要执行的命令。</a:t>
            </a:r>
            <a:endParaRPr lang="en-GB" sz="1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6638D9-4290-8D01-2775-FCE7873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746" y="1739900"/>
            <a:ext cx="46355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223000" y="14940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准备执行</a:t>
            </a:r>
            <a:r>
              <a:rPr lang="zh-CN" dirty="0"/>
              <a:t>环境</a:t>
            </a:r>
          </a:p>
        </p:txBody>
      </p:sp>
      <p:pic>
        <p:nvPicPr>
          <p:cNvPr id="89" name="Shape 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54450"/>
            <a:ext cx="4133476" cy="33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Shape 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975900"/>
            <a:ext cx="4133474" cy="77854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Shape 91"/>
          <p:cNvSpPr txBox="1"/>
          <p:nvPr/>
        </p:nvSpPr>
        <p:spPr>
          <a:xfrm>
            <a:off x="2721363" y="1874029"/>
            <a:ext cx="18291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>
                <a:solidFill>
                  <a:srgbClr val="FF0000"/>
                </a:solidFill>
              </a:rPr>
              <a:t>缓冲区溢出</a:t>
            </a:r>
            <a:r>
              <a:rPr lang="zh-CN" altLang="en-US" dirty="0">
                <a:solidFill>
                  <a:srgbClr val="FF0000"/>
                </a:solidFill>
              </a:rPr>
              <a:t>漏洞</a:t>
            </a:r>
            <a:endParaRPr lang="zh-CN" dirty="0">
              <a:solidFill>
                <a:srgbClr val="FF0000"/>
              </a:solidFill>
            </a:endParaRPr>
          </a:p>
        </p:txBody>
      </p:sp>
      <p:sp>
        <p:nvSpPr>
          <p:cNvPr id="92" name="Shape 92"/>
          <p:cNvSpPr txBox="1"/>
          <p:nvPr/>
        </p:nvSpPr>
        <p:spPr>
          <a:xfrm>
            <a:off x="4735184" y="1381879"/>
            <a:ext cx="4008416" cy="778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dirty="0"/>
              <a:t>这段代码在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()函数中存在潜在的缓冲区溢出问题。</a:t>
            </a:r>
            <a:endParaRPr lang="en-GB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E70C26-359F-634A-6CBD-005F2D81F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77" y="973306"/>
            <a:ext cx="846414" cy="4318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293FADB-66A8-A486-DCBF-4259A47BF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24" y="4076375"/>
            <a:ext cx="846414" cy="4318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4E11055-DC67-B354-9556-799C47882B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147" y="991381"/>
            <a:ext cx="402345" cy="2468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0413294-0FAC-3F9B-926C-E3207F9A67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393" y="4076368"/>
            <a:ext cx="402345" cy="2468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准备执行</a:t>
            </a:r>
            <a:r>
              <a:rPr lang="zh-CN" dirty="0"/>
              <a:t>环境</a:t>
            </a:r>
          </a:p>
        </p:txBody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打开</a:t>
            </a:r>
            <a:r>
              <a:rPr lang="zh-CN" dirty="0"/>
              <a:t>“不可执行栈”</a:t>
            </a:r>
            <a:r>
              <a:rPr lang="zh-CN" altLang="en-US" dirty="0"/>
              <a:t>选项</a:t>
            </a:r>
            <a:r>
              <a:rPr lang="zh-CN" dirty="0"/>
              <a:t>，</a:t>
            </a:r>
            <a:r>
              <a:rPr lang="zh-CN" dirty="0">
                <a:solidFill>
                  <a:srgbClr val="FF0000"/>
                </a:solidFill>
              </a:rPr>
              <a:t>关闭</a:t>
            </a:r>
            <a:r>
              <a:rPr lang="zh-CN" dirty="0"/>
              <a:t>StackGuard保护</a:t>
            </a:r>
            <a:r>
              <a:rPr lang="zh-CN" b="1" i="1" dirty="0"/>
              <a:t>，</a:t>
            </a:r>
            <a:r>
              <a:rPr lang="zh-CN" dirty="0">
                <a:solidFill>
                  <a:srgbClr val="FF0000"/>
                </a:solidFill>
              </a:rPr>
              <a:t>关闭</a:t>
            </a:r>
            <a:r>
              <a:rPr lang="zh-CN" dirty="0"/>
              <a:t>地址随机化。</a:t>
            </a:r>
            <a:endParaRPr lang="en-GB" dirty="0"/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altLang="zh-CN" dirty="0"/>
              <a:t>r</a:t>
            </a:r>
            <a:r>
              <a:rPr lang="zh-CN" dirty="0"/>
              <a:t>oot </a:t>
            </a:r>
            <a:r>
              <a:rPr lang="zh-CN" altLang="en-US" dirty="0"/>
              <a:t>用户</a:t>
            </a:r>
            <a:r>
              <a:rPr lang="zh-CN" dirty="0"/>
              <a:t>的 Set-UID 程序。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99" name="Shape 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25" y="2033893"/>
            <a:ext cx="8520600" cy="610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Shape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825" y="3525701"/>
            <a:ext cx="849435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攻击概述</a:t>
            </a:r>
            <a:endParaRPr lang="en-GB" dirty="0"/>
          </a:p>
        </p:txBody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b="1" dirty="0"/>
              <a:t>任务 A：查找</a:t>
            </a:r>
            <a:r>
              <a:rPr 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system()</a:t>
            </a:r>
            <a:r>
              <a:rPr lang="zh-CN" b="1" dirty="0"/>
              <a:t>的地址。</a:t>
            </a:r>
            <a:endParaRPr lang="en-GB" b="1" dirty="0"/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i="1" dirty="0"/>
              <a:t>将返回地址替换为 system () 的地址。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b="1" dirty="0"/>
              <a:t>任务 B：查找</a:t>
            </a:r>
            <a:r>
              <a:rPr lang="zh-CN" b="1" dirty="0">
                <a:latin typeface="+mn-lt"/>
                <a:cs typeface="Courier New" panose="02070309020205020404" pitchFamily="49" charset="0"/>
              </a:rPr>
              <a:t>“/ bin/ sh”字符串</a:t>
            </a:r>
            <a:r>
              <a:rPr lang="zh-CN" b="1" dirty="0"/>
              <a:t>的地址。</a:t>
            </a:r>
            <a:endParaRPr lang="en-GB" b="1" dirty="0"/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i="1" dirty="0"/>
              <a:t>要从 system()运行命令“/bin/ sh”。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b="1" dirty="0"/>
              <a:t>任务 C：为</a:t>
            </a:r>
            <a:r>
              <a:rPr 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system()</a:t>
            </a:r>
            <a:r>
              <a:rPr lang="zh-CN" b="1" dirty="0"/>
              <a:t>构造参数</a:t>
            </a:r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i="1" dirty="0"/>
              <a:t>要查找栈中放置“/bin/ sh”地址（system() 的参数）的位置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任务 A：查找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函数</a:t>
            </a:r>
            <a:r>
              <a:rPr lang="zh-CN" dirty="0"/>
              <a:t>的</a:t>
            </a:r>
            <a:r>
              <a:rPr lang="zh-CN" altLang="en-US" dirty="0"/>
              <a:t>内存加载</a:t>
            </a:r>
            <a:r>
              <a:rPr lang="zh-CN" dirty="0"/>
              <a:t>地址。</a:t>
            </a:r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dirty="0">
                <a:latin typeface="+mn-lt"/>
              </a:rPr>
              <a:t>使用</a:t>
            </a:r>
            <a:r>
              <a:rPr lang="zh-CN" altLang="en-US" dirty="0">
                <a:latin typeface="+mn-lt"/>
              </a:rPr>
              <a:t> </a:t>
            </a:r>
            <a:r>
              <a:rPr lang="zh-CN" dirty="0">
                <a:latin typeface="+mn-lt"/>
                <a:cs typeface="Courier New" panose="02070309020205020404" pitchFamily="49" charset="0"/>
              </a:rPr>
              <a:t>gdb</a:t>
            </a:r>
            <a:r>
              <a:rPr lang="zh-CN" altLang="en-US" dirty="0">
                <a:latin typeface="+mn-lt"/>
                <a:cs typeface="Courier New" panose="02070309020205020404" pitchFamily="49" charset="0"/>
              </a:rPr>
              <a:t> 调试有漏洞的程序 </a:t>
            </a:r>
            <a:r>
              <a:rPr lang="en-US" altLang="zh-CN" dirty="0">
                <a:latin typeface="+mn-lt"/>
                <a:cs typeface="Courier New" panose="02070309020205020404" pitchFamily="49" charset="0"/>
              </a:rPr>
              <a:t>stack</a:t>
            </a:r>
            <a:endParaRPr lang="en-GB" dirty="0">
              <a:latin typeface="+mn-lt"/>
              <a:cs typeface="Courier New" panose="02070309020205020404" pitchFamily="49" charset="0"/>
            </a:endParaRPr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dirty="0">
                <a:latin typeface="+mn-lt"/>
              </a:rPr>
              <a:t>使用</a:t>
            </a:r>
            <a:r>
              <a:rPr lang="zh-CN" altLang="en-US" dirty="0">
                <a:latin typeface="+mn-lt"/>
              </a:rPr>
              <a:t> </a:t>
            </a:r>
            <a:r>
              <a:rPr lang="zh-CN" dirty="0">
                <a:latin typeface="+mn-lt"/>
                <a:cs typeface="Courier New" panose="02070309020205020404" pitchFamily="49" charset="0"/>
              </a:rPr>
              <a:t>p</a:t>
            </a:r>
            <a:r>
              <a:rPr lang="zh-CN" dirty="0">
                <a:latin typeface="+mn-lt"/>
              </a:rPr>
              <a:t>（</a:t>
            </a:r>
            <a:r>
              <a:rPr lang="en-US" altLang="zh-CN" dirty="0">
                <a:latin typeface="+mn-lt"/>
              </a:rPr>
              <a:t>print</a:t>
            </a:r>
            <a:r>
              <a:rPr lang="zh-CN" dirty="0">
                <a:latin typeface="+mn-lt"/>
              </a:rPr>
              <a:t>）命令，打印</a:t>
            </a:r>
            <a:r>
              <a:rPr lang="zh-CN" dirty="0">
                <a:latin typeface="+mn-lt"/>
                <a:cs typeface="Courier New" panose="02070309020205020404" pitchFamily="49" charset="0"/>
              </a:rPr>
              <a:t>system()</a:t>
            </a:r>
            <a:r>
              <a:rPr lang="zh-CN" altLang="en-US" dirty="0">
                <a:latin typeface="+mn-lt"/>
                <a:cs typeface="Courier New" panose="02070309020205020404" pitchFamily="49" charset="0"/>
              </a:rPr>
              <a:t>函数</a:t>
            </a:r>
            <a:r>
              <a:rPr lang="zh-CN" dirty="0">
                <a:latin typeface="+mn-lt"/>
              </a:rPr>
              <a:t>和</a:t>
            </a:r>
            <a:r>
              <a:rPr lang="zh-CN" dirty="0">
                <a:latin typeface="+mn-lt"/>
                <a:cs typeface="Courier New" panose="02070309020205020404" pitchFamily="49" charset="0"/>
              </a:rPr>
              <a:t>exit() </a:t>
            </a:r>
            <a:r>
              <a:rPr lang="zh-CN" altLang="en-US" dirty="0">
                <a:latin typeface="+mn-lt"/>
                <a:cs typeface="Courier New" panose="02070309020205020404" pitchFamily="49" charset="0"/>
              </a:rPr>
              <a:t>函数</a:t>
            </a:r>
            <a:r>
              <a:rPr lang="zh-CN" dirty="0">
                <a:latin typeface="+mn-lt"/>
                <a:cs typeface="Courier New" panose="02070309020205020404" pitchFamily="49" charset="0"/>
              </a:rPr>
              <a:t>的</a:t>
            </a:r>
            <a:r>
              <a:rPr lang="zh-CN" altLang="en-US" dirty="0">
                <a:latin typeface="+mn-lt"/>
                <a:cs typeface="Courier New" panose="02070309020205020404" pitchFamily="49" charset="0"/>
              </a:rPr>
              <a:t>内存加载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地址。</a:t>
            </a:r>
          </a:p>
        </p:txBody>
      </p:sp>
      <p:pic>
        <p:nvPicPr>
          <p:cNvPr id="113" name="Shape 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839" y="2247720"/>
            <a:ext cx="6820626" cy="172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xfrm>
            <a:off x="501200" y="472100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任务 B：查找</a:t>
            </a:r>
            <a:r>
              <a:rPr lang="en-US" altLang="zh-CN" dirty="0"/>
              <a:t>”</a:t>
            </a:r>
            <a:r>
              <a:rPr lang="zh-CN" dirty="0"/>
              <a:t>/bin/ </a:t>
            </a:r>
            <a:r>
              <a:rPr lang="en-US" altLang="zh-CN" dirty="0" err="1"/>
              <a:t>sh</a:t>
            </a:r>
            <a:r>
              <a:rPr lang="en-US" altLang="zh-CN" dirty="0"/>
              <a:t>”</a:t>
            </a:r>
            <a:r>
              <a:rPr lang="zh-CN" altLang="en-US" dirty="0"/>
              <a:t>字符串在内存的地址</a:t>
            </a:r>
            <a:endParaRPr lang="en-GB" dirty="0"/>
          </a:p>
        </p:txBody>
      </p:sp>
      <p:cxnSp>
        <p:nvCxnSpPr>
          <p:cNvPr id="119" name="Shape 119"/>
          <p:cNvCxnSpPr/>
          <p:nvPr/>
        </p:nvCxnSpPr>
        <p:spPr>
          <a:xfrm>
            <a:off x="4390176" y="2037029"/>
            <a:ext cx="0" cy="54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1" name="Shape 121"/>
          <p:cNvSpPr txBox="1"/>
          <p:nvPr/>
        </p:nvSpPr>
        <p:spPr>
          <a:xfrm>
            <a:off x="571500" y="2581228"/>
            <a:ext cx="7620000" cy="74139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457200" algn="ctr">
              <a:spcBef>
                <a:spcPts val="0"/>
              </a:spcBef>
              <a:buNone/>
            </a:pP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MYSHELL</a:t>
            </a:r>
            <a:r>
              <a:rPr lang="zh-C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以</a:t>
            </a:r>
            <a:r>
              <a:rPr lang="zh-CN" sz="1800" dirty="0"/>
              <a:t>环境变量的形式</a:t>
            </a:r>
            <a:r>
              <a:rPr lang="zh-CN" altLang="en-US" sz="1800" dirty="0"/>
              <a:t>从</a:t>
            </a:r>
            <a:r>
              <a:rPr lang="en-US" altLang="zh-CN" sz="1800" dirty="0"/>
              <a:t>shell</a:t>
            </a:r>
            <a:r>
              <a:rPr lang="zh-CN" altLang="en-US" sz="1800" dirty="0"/>
              <a:t>（命令行）</a:t>
            </a:r>
            <a:r>
              <a:rPr lang="zh-CN" sz="1800" dirty="0"/>
              <a:t>传递给</a:t>
            </a:r>
            <a:r>
              <a:rPr lang="en-US" altLang="zh-CN" sz="1800" dirty="0"/>
              <a:t>stack</a:t>
            </a:r>
            <a:r>
              <a:rPr lang="zh-CN" altLang="en-US" sz="1800" dirty="0"/>
              <a:t>进程</a:t>
            </a:r>
            <a:r>
              <a:rPr lang="zh-CN" sz="1800" dirty="0"/>
              <a:t>，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MYSHELL</a:t>
            </a:r>
            <a:r>
              <a:rPr lang="zh-CN" sz="1800" dirty="0"/>
              <a:t>环境变量存储在</a:t>
            </a:r>
            <a:r>
              <a:rPr lang="en-US" altLang="zh-CN" sz="1800" dirty="0"/>
              <a:t>stack</a:t>
            </a:r>
            <a:r>
              <a:rPr lang="zh-CN" altLang="en-US" sz="1800" dirty="0"/>
              <a:t>进程的</a:t>
            </a:r>
            <a:r>
              <a:rPr lang="zh-CN" sz="1800" dirty="0"/>
              <a:t>栈上。</a:t>
            </a:r>
            <a:endParaRPr lang="en-GB" sz="1800" dirty="0"/>
          </a:p>
        </p:txBody>
      </p:sp>
      <p:sp>
        <p:nvSpPr>
          <p:cNvPr id="122" name="Shape 122"/>
          <p:cNvSpPr txBox="1"/>
          <p:nvPr/>
        </p:nvSpPr>
        <p:spPr>
          <a:xfrm>
            <a:off x="571500" y="1247324"/>
            <a:ext cx="7620000" cy="78970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38735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 dirty="0"/>
              <a:t>导出名为“ 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MYSHELL”</a:t>
            </a:r>
            <a:r>
              <a:rPr lang="zh-CN" sz="1800" dirty="0"/>
              <a:t>的环境变量，其值为“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/bin/sh</a:t>
            </a:r>
            <a:r>
              <a:rPr lang="zh-CN" sz="1800" dirty="0"/>
              <a:t>”。</a:t>
            </a:r>
            <a:endParaRPr lang="en-GB" sz="1800" dirty="0"/>
          </a:p>
        </p:txBody>
      </p:sp>
      <p:cxnSp>
        <p:nvCxnSpPr>
          <p:cNvPr id="123" name="Shape 123"/>
          <p:cNvCxnSpPr>
            <a:endCxn id="124" idx="0"/>
          </p:cNvCxnSpPr>
          <p:nvPr/>
        </p:nvCxnSpPr>
        <p:spPr>
          <a:xfrm>
            <a:off x="4390176" y="3322622"/>
            <a:ext cx="0" cy="50064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4" name="Shape 124"/>
          <p:cNvSpPr txBox="1"/>
          <p:nvPr/>
        </p:nvSpPr>
        <p:spPr>
          <a:xfrm>
            <a:off x="580176" y="3823271"/>
            <a:ext cx="7620000" cy="54148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indent="457200" algn="ctr"/>
            <a:r>
              <a:rPr lang="zh-CN" sz="1800" dirty="0"/>
              <a:t>我们可以找到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MYSHELL</a:t>
            </a:r>
            <a:r>
              <a:rPr lang="zh-CN" altLang="zh-CN" sz="1800" dirty="0"/>
              <a:t>环境变量</a:t>
            </a:r>
            <a:r>
              <a:rPr lang="zh-CN" sz="1800" dirty="0"/>
              <a:t>的地址。</a:t>
            </a:r>
            <a:endParaRPr lang="en-GB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311700" y="44497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/>
            <a:r>
              <a:rPr lang="zh-CN" dirty="0"/>
              <a:t>任务 B：</a:t>
            </a:r>
            <a:r>
              <a:rPr lang="zh-CN" altLang="zh-CN" dirty="0"/>
              <a:t>查找</a:t>
            </a:r>
            <a:r>
              <a:rPr lang="en-US" altLang="zh-CN" dirty="0"/>
              <a:t>”</a:t>
            </a:r>
            <a:r>
              <a:rPr lang="zh-CN" altLang="zh-CN" dirty="0"/>
              <a:t>/bin/ </a:t>
            </a:r>
            <a:r>
              <a:rPr lang="en-US" altLang="zh-CN" dirty="0" err="1"/>
              <a:t>sh</a:t>
            </a:r>
            <a:r>
              <a:rPr lang="en-US" altLang="zh-CN" dirty="0"/>
              <a:t>”</a:t>
            </a:r>
            <a:r>
              <a:rPr lang="zh-CN" altLang="en-US" dirty="0"/>
              <a:t>字符串在内存的地址</a:t>
            </a:r>
            <a:endParaRPr lang="en-GB" dirty="0"/>
          </a:p>
        </p:txBody>
      </p:sp>
      <p:pic>
        <p:nvPicPr>
          <p:cNvPr id="130" name="Shape 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075"/>
            <a:ext cx="5661071" cy="296831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Shape 131"/>
          <p:cNvSpPr txBox="1"/>
          <p:nvPr/>
        </p:nvSpPr>
        <p:spPr>
          <a:xfrm>
            <a:off x="311700" y="4138387"/>
            <a:ext cx="5076087" cy="352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dirty="0"/>
              <a:t>显示环境变量地址的代码</a:t>
            </a:r>
          </a:p>
        </p:txBody>
      </p:sp>
      <p:pic>
        <p:nvPicPr>
          <p:cNvPr id="132" name="Shape 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1071" y="1454227"/>
            <a:ext cx="3171229" cy="111752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Shape 133"/>
          <p:cNvSpPr txBox="1"/>
          <p:nvPr/>
        </p:nvSpPr>
        <p:spPr>
          <a:xfrm>
            <a:off x="5753495" y="2700897"/>
            <a:ext cx="2813448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dirty="0"/>
              <a:t>导出“ 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MYSHELL</a:t>
            </a:r>
            <a:r>
              <a:rPr lang="zh-CN" sz="1800" dirty="0"/>
              <a:t>”环境变量并执行代码。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任务B：一些注意事项</a:t>
            </a:r>
            <a:endParaRPr lang="en-GB" dirty="0"/>
          </a:p>
        </p:txBody>
      </p:sp>
      <p:pic>
        <p:nvPicPr>
          <p:cNvPr id="139" name="Shape 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332" y="1198217"/>
            <a:ext cx="2718325" cy="9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Shape 140"/>
          <p:cNvSpPr txBox="1"/>
          <p:nvPr/>
        </p:nvSpPr>
        <p:spPr>
          <a:xfrm>
            <a:off x="3291658" y="1079075"/>
            <a:ext cx="5540642" cy="1699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 dirty="0"/>
              <a:t>“MYSHELL”环境变量的地址对程序名称的长度很敏感。</a:t>
            </a:r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如果将程序名称从 env55 改为env77，我们会得到不同的地址。</a:t>
            </a:r>
          </a:p>
        </p:txBody>
      </p:sp>
      <p:pic>
        <p:nvPicPr>
          <p:cNvPr id="141" name="Shape 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233" y="2290010"/>
            <a:ext cx="6296488" cy="285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>
                <a:solidFill>
                  <a:srgbClr val="000000"/>
                </a:solidFill>
              </a:rPr>
              <a:t>任务 C： 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system()的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输入</a:t>
            </a:r>
            <a:r>
              <a:rPr 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参数</a:t>
            </a:r>
          </a:p>
        </p:txBody>
      </p:sp>
      <p:sp>
        <p:nvSpPr>
          <p:cNvPr id="147" name="Shape 147"/>
          <p:cNvSpPr txBox="1"/>
          <p:nvPr/>
        </p:nvSpPr>
        <p:spPr>
          <a:xfrm>
            <a:off x="485772" y="1215240"/>
            <a:ext cx="8213700" cy="78462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buSzPts val="1800"/>
              <a:buChar char="●"/>
            </a:pPr>
            <a:r>
              <a:rPr lang="zh-CN" altLang="en-US" sz="1800" dirty="0"/>
              <a:t>输入参数</a:t>
            </a:r>
            <a:r>
              <a:rPr lang="zh-CN" sz="1800" dirty="0"/>
              <a:t>是</a:t>
            </a:r>
            <a:r>
              <a:rPr lang="zh-CN" altLang="en-US" sz="1800" dirty="0"/>
              <a:t>通过</a:t>
            </a: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ebp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+offset</a:t>
            </a:r>
            <a:r>
              <a:rPr lang="zh-C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的方式进行访问的</a:t>
            </a:r>
            <a:r>
              <a:rPr lang="zh-CN" sz="1800" dirty="0"/>
              <a:t>。</a:t>
            </a:r>
            <a:endParaRPr sz="1800" dirty="0"/>
          </a:p>
          <a:p>
            <a:pPr marL="457200" lvl="0" indent="-342900" rtl="0">
              <a:spcBef>
                <a:spcPts val="0"/>
              </a:spcBef>
              <a:buSzPts val="1800"/>
              <a:buChar char="●"/>
            </a:pPr>
            <a:r>
              <a:rPr 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system()</a:t>
            </a:r>
            <a:r>
              <a:rPr lang="zh-CN" sz="1800" dirty="0"/>
              <a:t>的参数必须位于栈上。</a:t>
            </a: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51" name="Shape 151"/>
          <p:cNvSpPr txBox="1"/>
          <p:nvPr/>
        </p:nvSpPr>
        <p:spPr>
          <a:xfrm>
            <a:off x="1061764" y="2974349"/>
            <a:ext cx="3361919" cy="106858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600" dirty="0">
                <a:solidFill>
                  <a:srgbClr val="FF0000"/>
                </a:solidFill>
              </a:rPr>
              <a:t>需要知道在“返回”到</a:t>
            </a:r>
            <a:r>
              <a:rPr 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system()之后</a:t>
            </a:r>
            <a:r>
              <a:rPr lang="zh-CN" sz="1600" dirty="0" err="1">
                <a:solidFill>
                  <a:srgbClr val="FF0000"/>
                </a:solidFill>
              </a:rPr>
              <a:t>ebp 的确切位置，</a:t>
            </a:r>
            <a:r>
              <a:rPr lang="zh-CN" sz="1600" dirty="0">
                <a:solidFill>
                  <a:srgbClr val="FF0000"/>
                </a:solidFill>
              </a:rPr>
              <a:t>以便我们可以将参数放在</a:t>
            </a:r>
            <a:r>
              <a:rPr lang="zh-CN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ebp </a:t>
            </a:r>
            <a:r>
              <a:rPr lang="zh-CN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+ 8处</a:t>
            </a:r>
            <a:r>
              <a:rPr lang="zh-CN" sz="1600" dirty="0">
                <a:solidFill>
                  <a:srgbClr val="FF0000"/>
                </a:solidFill>
              </a:rPr>
              <a:t>。</a:t>
            </a:r>
            <a:endParaRPr lang="en-GB" sz="1600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EA412C-B05D-0728-DABE-E0CE684C2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622" y="1999864"/>
            <a:ext cx="41529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311700" y="12498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任务 C： 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system()的参数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sz="1800" b="1" dirty="0"/>
              <a:t>函数序言</a:t>
            </a:r>
          </a:p>
        </p:txBody>
      </p:sp>
      <p:pic>
        <p:nvPicPr>
          <p:cNvPr id="160" name="Shape 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39" y="1359225"/>
            <a:ext cx="27241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Shape 161"/>
          <p:cNvSpPr txBox="1"/>
          <p:nvPr/>
        </p:nvSpPr>
        <p:spPr>
          <a:xfrm>
            <a:off x="3587380" y="1359225"/>
            <a:ext cx="327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 i="1" dirty="0"/>
              <a:t>esp：栈指针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zh-CN" sz="1800" i="1" dirty="0"/>
              <a:t>ebp：帧指针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FE3BE1-7662-B88F-23EA-8AEC54850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12" y="2336800"/>
            <a:ext cx="73025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/>
              <a:t>任务 C： 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system()的参数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390050" y="900856"/>
            <a:ext cx="3972300" cy="373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-69850" rtl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 b="1" dirty="0">
                <a:solidFill>
                  <a:schemeClr val="dk1"/>
                </a:solidFill>
              </a:rPr>
              <a:t>功能结语</a:t>
            </a:r>
          </a:p>
        </p:txBody>
      </p:sp>
      <p:pic>
        <p:nvPicPr>
          <p:cNvPr id="168" name="Shape 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85" y="1443837"/>
            <a:ext cx="3362325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Shape 170"/>
          <p:cNvSpPr txBox="1"/>
          <p:nvPr/>
        </p:nvSpPr>
        <p:spPr>
          <a:xfrm>
            <a:off x="4362350" y="1337068"/>
            <a:ext cx="327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sz="1800" i="1" dirty="0"/>
              <a:t>esp：栈指针</a:t>
            </a:r>
          </a:p>
          <a:p>
            <a:pPr marL="0" lvl="0" indent="0" rtl="0">
              <a:spcBef>
                <a:spcPts val="0"/>
              </a:spcBef>
              <a:buNone/>
            </a:pPr>
            <a:r>
              <a:rPr lang="zh-CN" sz="1800" i="1" dirty="0"/>
              <a:t>ebp：帧指针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636CE9-8273-31BF-DC52-5757E9264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20" y="2368625"/>
            <a:ext cx="8082160" cy="2774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函数序言和</a:t>
            </a:r>
            <a:r>
              <a:rPr lang="zh-CN" altLang="en-US" dirty="0"/>
              <a:t>后记的</a:t>
            </a:r>
            <a:r>
              <a:rPr lang="zh-CN" dirty="0"/>
              <a:t>示例</a:t>
            </a:r>
          </a:p>
        </p:txBody>
      </p:sp>
      <p:pic>
        <p:nvPicPr>
          <p:cNvPr id="176" name="Shape 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350" y="1278000"/>
            <a:ext cx="3736375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Shape 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350" y="1547825"/>
            <a:ext cx="373637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Shape 1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3875" y="1278000"/>
            <a:ext cx="38671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Shape 179"/>
          <p:cNvSpPr/>
          <p:nvPr/>
        </p:nvSpPr>
        <p:spPr>
          <a:xfrm>
            <a:off x="4712100" y="2562375"/>
            <a:ext cx="331800" cy="269700"/>
          </a:xfrm>
          <a:prstGeom prst="flowChartConnector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80" name="Shape 180"/>
          <p:cNvSpPr/>
          <p:nvPr/>
        </p:nvSpPr>
        <p:spPr>
          <a:xfrm>
            <a:off x="4712100" y="3677125"/>
            <a:ext cx="331800" cy="269700"/>
          </a:xfrm>
          <a:prstGeom prst="flowChartConnector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1" name="Shape 181"/>
          <p:cNvSpPr/>
          <p:nvPr/>
        </p:nvSpPr>
        <p:spPr>
          <a:xfrm>
            <a:off x="570250" y="3846750"/>
            <a:ext cx="331800" cy="2697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82" name="Shape 182"/>
          <p:cNvSpPr/>
          <p:nvPr/>
        </p:nvSpPr>
        <p:spPr>
          <a:xfrm>
            <a:off x="570250" y="4446500"/>
            <a:ext cx="331800" cy="269700"/>
          </a:xfrm>
          <a:prstGeom prst="flowChartConnector">
            <a:avLst/>
          </a:prstGeom>
          <a:solidFill>
            <a:schemeClr val="lt2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3" name="Shape 183"/>
          <p:cNvSpPr txBox="1"/>
          <p:nvPr/>
        </p:nvSpPr>
        <p:spPr>
          <a:xfrm>
            <a:off x="1194625" y="3777425"/>
            <a:ext cx="2953500" cy="1194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altLang="zh-CN" sz="1800" dirty="0"/>
              <a:t>foo</a:t>
            </a:r>
            <a:r>
              <a:rPr lang="zh-CN" altLang="en-US" sz="1800" dirty="0"/>
              <a:t>函数的</a:t>
            </a:r>
            <a:r>
              <a:rPr lang="zh-CN" sz="1800" dirty="0"/>
              <a:t>序言</a:t>
            </a:r>
            <a:r>
              <a:rPr lang="zh-CN" altLang="en-US" sz="1800" dirty="0"/>
              <a:t>部分</a:t>
            </a:r>
            <a:endParaRPr lang="zh-CN" sz="1800" dirty="0"/>
          </a:p>
          <a:p>
            <a:pPr marL="0" lvl="0" indent="0">
              <a:spcBef>
                <a:spcPts val="0"/>
              </a:spcBef>
              <a:buNone/>
            </a:pPr>
            <a:endParaRPr sz="1800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altLang="zh-CN" sz="1800" dirty="0"/>
              <a:t>foo</a:t>
            </a:r>
            <a:r>
              <a:rPr lang="zh-CN" altLang="en-US" sz="1800" dirty="0"/>
              <a:t>函数的后记部分</a:t>
            </a:r>
            <a:endParaRPr lang="zh-CN" sz="1800" dirty="0"/>
          </a:p>
        </p:txBody>
      </p:sp>
      <p:cxnSp>
        <p:nvCxnSpPr>
          <p:cNvPr id="184" name="Shape 184"/>
          <p:cNvCxnSpPr/>
          <p:nvPr/>
        </p:nvCxnSpPr>
        <p:spPr>
          <a:xfrm>
            <a:off x="8163225" y="3180125"/>
            <a:ext cx="4977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5" name="Shape 185"/>
          <p:cNvCxnSpPr/>
          <p:nvPr/>
        </p:nvCxnSpPr>
        <p:spPr>
          <a:xfrm>
            <a:off x="8694175" y="3180125"/>
            <a:ext cx="33300" cy="1460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6" name="Shape 186"/>
          <p:cNvCxnSpPr/>
          <p:nvPr/>
        </p:nvCxnSpPr>
        <p:spPr>
          <a:xfrm rot="10800000">
            <a:off x="7599050" y="4673400"/>
            <a:ext cx="11283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87" name="Shape 187"/>
          <p:cNvSpPr txBox="1"/>
          <p:nvPr/>
        </p:nvSpPr>
        <p:spPr>
          <a:xfrm>
            <a:off x="5209950" y="4474350"/>
            <a:ext cx="2886900" cy="398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800"/>
              <a:t>8(%ebp) ⇒ %ebp + 8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title"/>
          </p:nvPr>
        </p:nvSpPr>
        <p:spPr>
          <a:xfrm>
            <a:off x="247800" y="28527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如何查找system() 的参数A地址？</a:t>
            </a:r>
          </a:p>
        </p:txBody>
      </p:sp>
      <p:sp>
        <p:nvSpPr>
          <p:cNvPr id="193" name="Shape 193"/>
          <p:cNvSpPr/>
          <p:nvPr/>
        </p:nvSpPr>
        <p:spPr>
          <a:xfrm>
            <a:off x="607000" y="1783700"/>
            <a:ext cx="1565400" cy="1341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600" dirty="0"/>
              <a:t>修改</a:t>
            </a:r>
            <a:r>
              <a:rPr lang="zh-CN" altLang="en-US" sz="1600" dirty="0"/>
              <a:t>过的</a:t>
            </a:r>
            <a:r>
              <a:rPr lang="zh-CN" sz="1600" dirty="0"/>
              <a:t>的</a:t>
            </a:r>
            <a:r>
              <a:rPr lang="zh-CN" altLang="en-US" sz="1600" dirty="0"/>
              <a:t>函数返回</a:t>
            </a:r>
            <a:r>
              <a:rPr lang="zh-CN" sz="1600" dirty="0"/>
              <a:t>地址</a:t>
            </a:r>
          </a:p>
        </p:txBody>
      </p:sp>
      <p:sp>
        <p:nvSpPr>
          <p:cNvPr id="194" name="Shape 194"/>
          <p:cNvSpPr/>
          <p:nvPr/>
        </p:nvSpPr>
        <p:spPr>
          <a:xfrm>
            <a:off x="2676250" y="1783700"/>
            <a:ext cx="1565400" cy="13419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foo</a:t>
            </a:r>
            <a:r>
              <a:rPr lang="zh-CN" sz="1600" dirty="0">
                <a:solidFill>
                  <a:schemeClr val="bg1"/>
                </a:solidFill>
              </a:rPr>
              <a:t> () </a:t>
            </a:r>
            <a:r>
              <a:rPr lang="zh-CN" altLang="en-US" sz="1600" dirty="0">
                <a:solidFill>
                  <a:schemeClr val="bg1"/>
                </a:solidFill>
              </a:rPr>
              <a:t>函数后记</a:t>
            </a:r>
            <a:endParaRPr lang="zh-CN" sz="1600" dirty="0">
              <a:solidFill>
                <a:schemeClr val="bg1"/>
              </a:solidFill>
            </a:endParaRPr>
          </a:p>
        </p:txBody>
      </p:sp>
      <p:sp>
        <p:nvSpPr>
          <p:cNvPr id="195" name="Shape 195"/>
          <p:cNvSpPr/>
          <p:nvPr/>
        </p:nvSpPr>
        <p:spPr>
          <a:xfrm>
            <a:off x="4825363" y="1783700"/>
            <a:ext cx="1565400" cy="13419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system</a:t>
            </a:r>
            <a:r>
              <a:rPr lang="zh-CN" sz="1600" dirty="0">
                <a:solidFill>
                  <a:schemeClr val="bg1"/>
                </a:solidFill>
              </a:rPr>
              <a:t>( ) </a:t>
            </a:r>
            <a:r>
              <a:rPr lang="zh-CN" altLang="en-US" sz="1600" dirty="0">
                <a:solidFill>
                  <a:schemeClr val="bg1"/>
                </a:solidFill>
              </a:rPr>
              <a:t>函数</a:t>
            </a:r>
            <a:r>
              <a:rPr lang="zh-CN" sz="1600" dirty="0">
                <a:solidFill>
                  <a:schemeClr val="bg1"/>
                </a:solidFill>
              </a:rPr>
              <a:t>序言</a:t>
            </a:r>
          </a:p>
        </p:txBody>
      </p:sp>
      <p:sp>
        <p:nvSpPr>
          <p:cNvPr id="196" name="Shape 196"/>
          <p:cNvSpPr/>
          <p:nvPr/>
        </p:nvSpPr>
        <p:spPr>
          <a:xfrm>
            <a:off x="6974500" y="1783700"/>
            <a:ext cx="1590078" cy="1341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600" dirty="0"/>
              <a:t>使用 system() 的参数</a:t>
            </a:r>
          </a:p>
        </p:txBody>
      </p:sp>
      <p:cxnSp>
        <p:nvCxnSpPr>
          <p:cNvPr id="197" name="Shape 197"/>
          <p:cNvCxnSpPr>
            <a:stCxn id="193" idx="6"/>
            <a:endCxn id="194" idx="2"/>
          </p:cNvCxnSpPr>
          <p:nvPr/>
        </p:nvCxnSpPr>
        <p:spPr>
          <a:xfrm>
            <a:off x="2172400" y="2454650"/>
            <a:ext cx="50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98" name="Shape 198"/>
          <p:cNvCxnSpPr>
            <a:stCxn id="194" idx="6"/>
            <a:endCxn id="195" idx="2"/>
          </p:cNvCxnSpPr>
          <p:nvPr/>
        </p:nvCxnSpPr>
        <p:spPr>
          <a:xfrm>
            <a:off x="4241650" y="2454650"/>
            <a:ext cx="58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99" name="Shape 199"/>
          <p:cNvCxnSpPr>
            <a:stCxn id="195" idx="6"/>
            <a:endCxn id="196" idx="2"/>
          </p:cNvCxnSpPr>
          <p:nvPr/>
        </p:nvCxnSpPr>
        <p:spPr>
          <a:xfrm>
            <a:off x="6390763" y="2454650"/>
            <a:ext cx="58373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0" name="Shape 200"/>
          <p:cNvSpPr txBox="1"/>
          <p:nvPr/>
        </p:nvSpPr>
        <p:spPr>
          <a:xfrm>
            <a:off x="546600" y="3540775"/>
            <a:ext cx="8050800" cy="1341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800" dirty="0"/>
              <a:t>为了找到 system() 参数，我们需要了解</a:t>
            </a:r>
            <a:r>
              <a:rPr lang="zh-CN" sz="1800" dirty="0" err="1"/>
              <a:t>ebp</a:t>
            </a:r>
            <a:r>
              <a:rPr lang="zh-CN" sz="1800" dirty="0"/>
              <a:t>和</a:t>
            </a:r>
            <a:r>
              <a:rPr lang="zh-CN" sz="1800" dirty="0" err="1"/>
              <a:t>esp</a:t>
            </a:r>
            <a:r>
              <a:rPr lang="zh-CN" sz="1800" dirty="0"/>
              <a:t>寄存器如何随函数调用而变化。</a:t>
            </a:r>
          </a:p>
          <a:p>
            <a:pPr marL="457200" lvl="0" indent="-342900">
              <a:spcBef>
                <a:spcPts val="0"/>
              </a:spcBef>
              <a:buSzPts val="1800"/>
              <a:buChar char="●"/>
            </a:pPr>
            <a:r>
              <a:rPr lang="zh-CN" sz="1800" dirty="0"/>
              <a:t>在返回地址被修改和系统参数被使用之间， </a:t>
            </a:r>
            <a:r>
              <a:rPr lang="en-US" altLang="zh-CN" sz="1800" dirty="0"/>
              <a:t>foo</a:t>
            </a:r>
            <a:r>
              <a:rPr lang="zh-CN" sz="1800" dirty="0"/>
              <a:t> ()返回，system() 序言开始。</a:t>
            </a:r>
          </a:p>
        </p:txBody>
      </p:sp>
      <p:sp>
        <p:nvSpPr>
          <p:cNvPr id="201" name="Shape 201"/>
          <p:cNvSpPr/>
          <p:nvPr/>
        </p:nvSpPr>
        <p:spPr>
          <a:xfrm rot="5397714">
            <a:off x="4347849" y="-230875"/>
            <a:ext cx="451200" cy="4038900"/>
          </a:xfrm>
          <a:prstGeom prst="leftBracket">
            <a:avLst>
              <a:gd name="adj" fmla="val 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202" name="Shape 202"/>
          <p:cNvSpPr txBox="1"/>
          <p:nvPr/>
        </p:nvSpPr>
        <p:spPr>
          <a:xfrm>
            <a:off x="2643431" y="1047550"/>
            <a:ext cx="4039200" cy="45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dirty="0"/>
              <a:t>           </a:t>
            </a:r>
            <a:r>
              <a:rPr lang="zh-CN" sz="1800" i="1" dirty="0"/>
              <a:t>  </a:t>
            </a:r>
            <a:r>
              <a:rPr lang="zh-CN" altLang="en-US" sz="1800" dirty="0"/>
              <a:t>注意 </a:t>
            </a:r>
            <a:r>
              <a:rPr lang="zh-CN" sz="1800" dirty="0">
                <a:latin typeface="+mn-lt"/>
                <a:cs typeface="Courier New" panose="02070309020205020404" pitchFamily="49" charset="0"/>
              </a:rPr>
              <a:t>ebp</a:t>
            </a:r>
            <a:r>
              <a:rPr lang="zh-CN" sz="1800" dirty="0">
                <a:latin typeface="+mn-lt"/>
              </a:rPr>
              <a:t> </a:t>
            </a:r>
            <a:r>
              <a:rPr lang="zh-CN" altLang="en-US" sz="1800" dirty="0">
                <a:latin typeface="+mn-lt"/>
              </a:rPr>
              <a:t>和 </a:t>
            </a:r>
            <a:r>
              <a:rPr lang="en-US" altLang="zh-CN" sz="1800" dirty="0" err="1">
                <a:latin typeface="+mn-lt"/>
              </a:rPr>
              <a:t>esp</a:t>
            </a:r>
            <a:r>
              <a:rPr lang="zh-CN" altLang="en-US" sz="1800" dirty="0">
                <a:latin typeface="+mn-lt"/>
              </a:rPr>
              <a:t> 的变化</a:t>
            </a:r>
            <a:endParaRPr lang="en-GB" sz="1800" dirty="0">
              <a:latin typeface="+mn-lt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>
            <a:spLocks noGrp="1"/>
          </p:cNvSpPr>
          <p:nvPr>
            <p:ph type="title"/>
          </p:nvPr>
        </p:nvSpPr>
        <p:spPr>
          <a:xfrm>
            <a:off x="311700" y="246721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从</a:t>
            </a:r>
            <a:r>
              <a:rPr lang="en-US" altLang="zh-CN" dirty="0"/>
              <a:t>foo()</a:t>
            </a:r>
            <a:r>
              <a:rPr lang="zh-CN" altLang="en-US" dirty="0"/>
              <a:t>函数“</a:t>
            </a:r>
            <a:r>
              <a:rPr lang="zh-CN" altLang="en-US" b="1" dirty="0">
                <a:solidFill>
                  <a:srgbClr val="FF0000"/>
                </a:solidFill>
              </a:rPr>
              <a:t>返回</a:t>
            </a:r>
            <a:r>
              <a:rPr lang="zh-CN" altLang="en-US" dirty="0"/>
              <a:t>”到</a:t>
            </a:r>
            <a:r>
              <a:rPr lang="en-US" altLang="zh-CN" dirty="0"/>
              <a:t>system()</a:t>
            </a:r>
            <a:r>
              <a:rPr lang="zh-CN" altLang="en-US" dirty="0"/>
              <a:t>函数的过程</a:t>
            </a:r>
            <a:endParaRPr lang="en-GB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B91B883-8023-2B4E-1F69-F1F30E811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47" y="1222336"/>
            <a:ext cx="8182305" cy="34258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/>
          <p:nvPr/>
        </p:nvSpPr>
        <p:spPr>
          <a:xfrm>
            <a:off x="658900" y="1737275"/>
            <a:ext cx="2241900" cy="725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-6985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zh-CN" dirty="0">
                <a:solidFill>
                  <a:schemeClr val="dk1"/>
                </a:solidFill>
              </a:rPr>
              <a:t>返回地址更改为</a:t>
            </a:r>
            <a:r>
              <a:rPr lang="en-US" altLang="zh-CN" dirty="0">
                <a:solidFill>
                  <a:schemeClr val="dk1"/>
                </a:solidFill>
              </a:rPr>
              <a:t>system()</a:t>
            </a:r>
            <a:r>
              <a:rPr lang="zh-CN" altLang="en-US" dirty="0">
                <a:solidFill>
                  <a:schemeClr val="dk1"/>
                </a:solidFill>
              </a:rPr>
              <a:t>函数开始</a:t>
            </a:r>
            <a:r>
              <a:rPr lang="zh-CN" dirty="0">
                <a:solidFill>
                  <a:schemeClr val="dk1"/>
                </a:solidFill>
              </a:rPr>
              <a:t>地址。</a:t>
            </a:r>
          </a:p>
        </p:txBody>
      </p:sp>
      <p:sp>
        <p:nvSpPr>
          <p:cNvPr id="215" name="Shape 215"/>
          <p:cNvSpPr/>
          <p:nvPr/>
        </p:nvSpPr>
        <p:spPr>
          <a:xfrm>
            <a:off x="3483500" y="1737275"/>
            <a:ext cx="2241900" cy="725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dk1"/>
                </a:solidFill>
              </a:rPr>
              <a:t>foo()</a:t>
            </a:r>
            <a:r>
              <a:rPr lang="zh-CN" altLang="en-US" dirty="0">
                <a:solidFill>
                  <a:schemeClr val="dk1"/>
                </a:solidFill>
              </a:rPr>
              <a:t>函数的后记部分执行</a:t>
            </a:r>
            <a:endParaRPr lang="zh-CN" dirty="0">
              <a:solidFill>
                <a:schemeClr val="dk1"/>
              </a:solidFill>
            </a:endParaRPr>
          </a:p>
        </p:txBody>
      </p:sp>
      <p:sp>
        <p:nvSpPr>
          <p:cNvPr id="216" name="Shape 216"/>
          <p:cNvSpPr/>
          <p:nvPr/>
        </p:nvSpPr>
        <p:spPr>
          <a:xfrm>
            <a:off x="6405475" y="1737275"/>
            <a:ext cx="2241900" cy="725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altLang="en-US" dirty="0">
                <a:solidFill>
                  <a:schemeClr val="dk1"/>
                </a:solidFill>
              </a:rPr>
              <a:t>直接跳转</a:t>
            </a:r>
            <a:r>
              <a:rPr lang="zh-CN" dirty="0">
                <a:solidFill>
                  <a:schemeClr val="dk1"/>
                </a:solidFill>
              </a:rPr>
              <a:t>跳转到 system()</a:t>
            </a:r>
          </a:p>
        </p:txBody>
      </p:sp>
      <p:sp>
        <p:nvSpPr>
          <p:cNvPr id="217" name="Shape 217"/>
          <p:cNvSpPr/>
          <p:nvPr/>
        </p:nvSpPr>
        <p:spPr>
          <a:xfrm>
            <a:off x="6405475" y="2890175"/>
            <a:ext cx="2241900" cy="725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dk1"/>
                </a:solidFill>
              </a:rPr>
              <a:t>system</a:t>
            </a:r>
            <a:r>
              <a:rPr lang="zh-CN" dirty="0">
                <a:solidFill>
                  <a:schemeClr val="dk1"/>
                </a:solidFill>
              </a:rPr>
              <a:t>()序言执行</a:t>
            </a:r>
          </a:p>
        </p:txBody>
      </p:sp>
      <p:sp>
        <p:nvSpPr>
          <p:cNvPr id="218" name="Shape 218"/>
          <p:cNvSpPr/>
          <p:nvPr/>
        </p:nvSpPr>
        <p:spPr>
          <a:xfrm>
            <a:off x="3483500" y="2890175"/>
            <a:ext cx="2241900" cy="725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-US" altLang="zh-CN" dirty="0" err="1">
                <a:solidFill>
                  <a:schemeClr val="dk1"/>
                </a:solidFill>
              </a:rPr>
              <a:t>ebp</a:t>
            </a:r>
            <a:r>
              <a:rPr lang="zh-CN" altLang="en-US" dirty="0">
                <a:solidFill>
                  <a:schemeClr val="dk1"/>
                </a:solidFill>
              </a:rPr>
              <a:t>被</a:t>
            </a:r>
            <a:r>
              <a:rPr lang="zh-CN" dirty="0">
                <a:solidFill>
                  <a:schemeClr val="dk1"/>
                </a:solidFill>
              </a:rPr>
              <a:t>设置为esp的当前值</a:t>
            </a:r>
            <a:endParaRPr lang="en-GB" dirty="0">
              <a:solidFill>
                <a:schemeClr val="dk1"/>
              </a:solidFill>
            </a:endParaRPr>
          </a:p>
        </p:txBody>
      </p:sp>
      <p:pic>
        <p:nvPicPr>
          <p:cNvPr id="219" name="Shape 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4350" y="4201350"/>
            <a:ext cx="2724150" cy="762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20" name="Shape 220"/>
          <p:cNvSpPr/>
          <p:nvPr/>
        </p:nvSpPr>
        <p:spPr>
          <a:xfrm>
            <a:off x="658900" y="2890175"/>
            <a:ext cx="2241900" cy="725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zh-CN" dirty="0">
                <a:solidFill>
                  <a:schemeClr val="dk1"/>
                </a:solidFill>
              </a:rPr>
              <a:t>“/bin/ sh ”</a:t>
            </a:r>
            <a:r>
              <a:rPr lang="zh-CN" altLang="en-US" dirty="0">
                <a:solidFill>
                  <a:schemeClr val="dk1"/>
                </a:solidFill>
              </a:rPr>
              <a:t>应该</a:t>
            </a:r>
            <a:r>
              <a:rPr lang="zh-CN" dirty="0">
                <a:solidFill>
                  <a:schemeClr val="dk1"/>
                </a:solidFill>
              </a:rPr>
              <a:t>存储在ebp+8中</a:t>
            </a:r>
            <a:endParaRPr lang="en-GB" dirty="0">
              <a:solidFill>
                <a:schemeClr val="dk1"/>
              </a:solidFill>
            </a:endParaRPr>
          </a:p>
        </p:txBody>
      </p:sp>
      <p:cxnSp>
        <p:nvCxnSpPr>
          <p:cNvPr id="221" name="Shape 221"/>
          <p:cNvCxnSpPr>
            <a:stCxn id="214" idx="3"/>
            <a:endCxn id="215" idx="1"/>
          </p:cNvCxnSpPr>
          <p:nvPr/>
        </p:nvCxnSpPr>
        <p:spPr>
          <a:xfrm>
            <a:off x="2900800" y="2099975"/>
            <a:ext cx="582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22" name="Shape 222"/>
          <p:cNvCxnSpPr/>
          <p:nvPr/>
        </p:nvCxnSpPr>
        <p:spPr>
          <a:xfrm>
            <a:off x="5774138" y="2099975"/>
            <a:ext cx="582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23" name="Shape 223"/>
          <p:cNvCxnSpPr>
            <a:stCxn id="216" idx="2"/>
            <a:endCxn id="217" idx="0"/>
          </p:cNvCxnSpPr>
          <p:nvPr/>
        </p:nvCxnSpPr>
        <p:spPr>
          <a:xfrm>
            <a:off x="7526425" y="2462675"/>
            <a:ext cx="0" cy="427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24" name="Shape 224"/>
          <p:cNvCxnSpPr>
            <a:stCxn id="217" idx="1"/>
            <a:endCxn id="218" idx="3"/>
          </p:cNvCxnSpPr>
          <p:nvPr/>
        </p:nvCxnSpPr>
        <p:spPr>
          <a:xfrm rot="10800000">
            <a:off x="5725375" y="3252875"/>
            <a:ext cx="680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25" name="Shape 225"/>
          <p:cNvCxnSpPr>
            <a:stCxn id="218" idx="1"/>
            <a:endCxn id="220" idx="3"/>
          </p:cNvCxnSpPr>
          <p:nvPr/>
        </p:nvCxnSpPr>
        <p:spPr>
          <a:xfrm rot="10800000">
            <a:off x="2900900" y="3252875"/>
            <a:ext cx="582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26" name="Shape 226"/>
          <p:cNvCxnSpPr>
            <a:stCxn id="217" idx="2"/>
            <a:endCxn id="219" idx="0"/>
          </p:cNvCxnSpPr>
          <p:nvPr/>
        </p:nvCxnSpPr>
        <p:spPr>
          <a:xfrm>
            <a:off x="7526425" y="3615575"/>
            <a:ext cx="0" cy="58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triangle" w="lg" len="lg"/>
          </a:ln>
        </p:spPr>
      </p:cxnSp>
      <p:cxnSp>
        <p:nvCxnSpPr>
          <p:cNvPr id="227" name="Shape 227"/>
          <p:cNvCxnSpPr>
            <a:stCxn id="218" idx="2"/>
            <a:endCxn id="219" idx="1"/>
          </p:cNvCxnSpPr>
          <p:nvPr/>
        </p:nvCxnSpPr>
        <p:spPr>
          <a:xfrm>
            <a:off x="4604450" y="3615575"/>
            <a:ext cx="1560000" cy="96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triangle" w="lg" len="lg"/>
          </a:ln>
        </p:spPr>
      </p:cxnSp>
      <p:cxnSp>
        <p:nvCxnSpPr>
          <p:cNvPr id="228" name="Shape 228"/>
          <p:cNvCxnSpPr>
            <a:stCxn id="215" idx="0"/>
            <a:endCxn id="229" idx="1"/>
          </p:cNvCxnSpPr>
          <p:nvPr/>
        </p:nvCxnSpPr>
        <p:spPr>
          <a:xfrm rot="10800000" flipH="1">
            <a:off x="4604450" y="928775"/>
            <a:ext cx="1494900" cy="8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lg" len="lg"/>
            <a:tailEnd type="triangle" w="lg" len="lg"/>
          </a:ln>
        </p:spPr>
      </p:cxnSp>
      <p:pic>
        <p:nvPicPr>
          <p:cNvPr id="230" name="Shape 2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9350" y="638384"/>
            <a:ext cx="2724150" cy="67139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31" name="Shape 231"/>
          <p:cNvSpPr txBox="1"/>
          <p:nvPr/>
        </p:nvSpPr>
        <p:spPr>
          <a:xfrm>
            <a:off x="730600" y="3735575"/>
            <a:ext cx="2098500" cy="34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检查内存映射</a:t>
            </a:r>
          </a:p>
        </p:txBody>
      </p:sp>
      <p:sp>
        <p:nvSpPr>
          <p:cNvPr id="232" name="Shape 232"/>
          <p:cNvSpPr txBox="1">
            <a:spLocks noGrp="1"/>
          </p:cNvSpPr>
          <p:nvPr>
            <p:ph type="title"/>
          </p:nvPr>
        </p:nvSpPr>
        <p:spPr>
          <a:xfrm>
            <a:off x="339000" y="154934"/>
            <a:ext cx="4233000" cy="9669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流程图理解</a:t>
            </a:r>
          </a:p>
          <a:p>
            <a:pPr marL="0" lvl="0" indent="0" rtl="0">
              <a:spcBef>
                <a:spcPts val="0"/>
              </a:spcBef>
              <a:buNone/>
            </a:pP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system()</a:t>
            </a:r>
            <a:r>
              <a:rPr lang="zh-CN" dirty="0"/>
              <a:t>参数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32974" y="4201475"/>
            <a:ext cx="5453425" cy="966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altLang="zh-CN" sz="1600" dirty="0" err="1"/>
              <a:t>ebp</a:t>
            </a:r>
            <a:r>
              <a:rPr lang="zh-CN" sz="1600" dirty="0"/>
              <a:t>+4 被视为 system() 函数的返回地址。我们可以</a:t>
            </a:r>
            <a:r>
              <a:rPr lang="zh-CN" altLang="en-US" sz="1600" dirty="0"/>
              <a:t>将其</a:t>
            </a:r>
            <a:r>
              <a:rPr lang="zh-CN" sz="1600" dirty="0"/>
              <a:t>设置</a:t>
            </a:r>
            <a:r>
              <a:rPr lang="zh-CN" altLang="en-US" sz="1600" dirty="0"/>
              <a:t>为</a:t>
            </a:r>
            <a:r>
              <a:rPr lang="zh-CN" sz="1600" dirty="0"/>
              <a:t> exit() 函数的地址，这样当 system() 函数返回时，就会调用 exit() 函数，</a:t>
            </a:r>
            <a:r>
              <a:rPr lang="zh-CN" altLang="en-US" sz="1600" dirty="0"/>
              <a:t>优雅的退出程序，</a:t>
            </a:r>
            <a:r>
              <a:rPr lang="zh-CN" sz="1600" dirty="0"/>
              <a:t>从而避免程序崩溃。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title"/>
          </p:nvPr>
        </p:nvSpPr>
        <p:spPr>
          <a:xfrm>
            <a:off x="311700" y="90016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altLang="zh-CN" dirty="0"/>
              <a:t>①②③④</a:t>
            </a:r>
            <a:r>
              <a:rPr lang="zh-CN" altLang="en-US" dirty="0"/>
              <a:t>位置确定</a:t>
            </a:r>
            <a:endParaRPr 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ABCCA4-176A-9105-A49D-9B188B9B1B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556"/>
          <a:stretch>
            <a:fillRect/>
          </a:stretch>
        </p:blipFill>
        <p:spPr>
          <a:xfrm>
            <a:off x="311699" y="1392947"/>
            <a:ext cx="7300378" cy="25192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1F9C1C9-B7D3-C7EE-086D-9D03659D74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021"/>
          <a:stretch>
            <a:fillRect/>
          </a:stretch>
        </p:blipFill>
        <p:spPr>
          <a:xfrm>
            <a:off x="225729" y="1516565"/>
            <a:ext cx="7472318" cy="2841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87338A0F-6C1B-1836-4941-34761BB2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>
            <a:extLst>
              <a:ext uri="{FF2B5EF4-FFF2-40B4-BE49-F238E27FC236}">
                <a16:creationId xmlns:a16="http://schemas.microsoft.com/office/drawing/2014/main" id="{75EB0D00-80BC-7347-2116-CDDAFCACC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35343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altLang="en-US" dirty="0"/>
              <a:t>攻击载荷 </a:t>
            </a:r>
            <a:r>
              <a:rPr lang="en-US" altLang="zh-CN" dirty="0" err="1"/>
              <a:t>badfile</a:t>
            </a:r>
            <a:endParaRPr 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71D0B2-4739-D9FC-0524-98257DB82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18374"/>
            <a:ext cx="7772400" cy="33148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33415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CN" dirty="0"/>
              <a:t>发动攻击</a:t>
            </a:r>
          </a:p>
        </p:txBody>
      </p:sp>
      <p:pic>
        <p:nvPicPr>
          <p:cNvPr id="252" name="Shape 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925" y="1774825"/>
            <a:ext cx="8378325" cy="150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Shape 253"/>
          <p:cNvSpPr txBox="1"/>
          <p:nvPr/>
        </p:nvSpPr>
        <p:spPr>
          <a:xfrm>
            <a:off x="316750" y="1141325"/>
            <a:ext cx="6335100" cy="433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17500">
              <a:spcBef>
                <a:spcPts val="0"/>
              </a:spcBef>
              <a:buSzPts val="1400"/>
              <a:buChar char="●"/>
            </a:pPr>
            <a:r>
              <a:rPr lang="zh-CN" sz="1800" dirty="0"/>
              <a:t>执行漏洞利用代码，然后执行易受攻击的代码。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Return-Oriented-Programming(ROP)</a:t>
            </a:r>
            <a:r>
              <a:rPr lang="zh-CN" dirty="0"/>
              <a:t>编程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spcAft>
                <a:spcPts val="600"/>
              </a:spcAft>
            </a:pPr>
            <a:r>
              <a:rPr lang="zh-CN" sz="2000" dirty="0"/>
              <a:t>在</a:t>
            </a:r>
            <a:r>
              <a:rPr lang="en-US" altLang="zh-CN" sz="2000" dirty="0"/>
              <a:t>Return-to-</a:t>
            </a:r>
            <a:r>
              <a:rPr lang="zh-CN" sz="2000" dirty="0"/>
              <a:t>libc攻击中，我们只能将两个函数链接在一起。</a:t>
            </a:r>
          </a:p>
          <a:p>
            <a:pPr marL="228600" indent="-228600">
              <a:spcAft>
                <a:spcPts val="600"/>
              </a:spcAft>
            </a:pPr>
            <a:r>
              <a:rPr lang="zh-CN" sz="2000" dirty="0"/>
              <a:t>该技术可以推广应用：</a:t>
            </a:r>
          </a:p>
          <a:p>
            <a:pPr marL="512763" lvl="1" indent="-228600">
              <a:spcAft>
                <a:spcPts val="600"/>
              </a:spcAft>
            </a:pPr>
            <a:r>
              <a:rPr lang="zh-CN" sz="1600" dirty="0"/>
              <a:t>多个函数串联在一起</a:t>
            </a:r>
          </a:p>
          <a:p>
            <a:pPr marL="512763" lvl="1" indent="-228600">
              <a:spcAft>
                <a:spcPts val="600"/>
              </a:spcAft>
            </a:pPr>
            <a:r>
              <a:rPr lang="zh-CN" sz="1600" dirty="0"/>
              <a:t>将代码块串联起来</a:t>
            </a:r>
          </a:p>
          <a:p>
            <a:pPr marL="228600" indent="-228600">
              <a:spcAft>
                <a:spcPts val="600"/>
              </a:spcAft>
            </a:pPr>
            <a:r>
              <a:rPr lang="zh-CN" sz="2000" dirty="0"/>
              <a:t>这种通用技术被称为面向返回的编程（ROP）。</a:t>
            </a:r>
            <a:endParaRPr lang="en-US" sz="2000" dirty="0"/>
          </a:p>
          <a:p>
            <a:pPr lvl="1">
              <a:spcAft>
                <a:spcPts val="6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750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链式函数调用（不带参数）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90" y="1642063"/>
            <a:ext cx="5868219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27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链式调用带参数的函数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967" y="1217091"/>
            <a:ext cx="4534141" cy="3643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9317" y="2392580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思路</a:t>
            </a:r>
            <a:r>
              <a:rPr lang="zh-CN" sz="1800" dirty="0"/>
              <a:t>：</a:t>
            </a:r>
          </a:p>
          <a:p>
            <a:r>
              <a:rPr lang="zh-CN" altLang="en-US" sz="1800" dirty="0">
                <a:solidFill>
                  <a:srgbClr val="FF0000"/>
                </a:solidFill>
              </a:rPr>
              <a:t>跳过</a:t>
            </a:r>
            <a:r>
              <a:rPr lang="zh-CN" sz="1800" dirty="0">
                <a:solidFill>
                  <a:srgbClr val="FF0000"/>
                </a:solidFill>
              </a:rPr>
              <a:t> 函数序言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088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20378"/>
            <a:ext cx="8520600" cy="572700"/>
          </a:xfrm>
        </p:spPr>
        <p:txBody>
          <a:bodyPr/>
          <a:lstStyle/>
          <a:p>
            <a:r>
              <a:rPr lang="zh-CN" dirty="0"/>
              <a:t>链式调用带参数的函数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4540"/>
            <a:ext cx="5384228" cy="3878960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551" y="1672684"/>
            <a:ext cx="3741833" cy="27172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517" y="844143"/>
            <a:ext cx="448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思路</a:t>
            </a:r>
            <a:r>
              <a:rPr lang="zh-CN" sz="1800" dirty="0"/>
              <a:t>：</a:t>
            </a:r>
            <a:r>
              <a:rPr lang="zh-CN" sz="1800" dirty="0">
                <a:solidFill>
                  <a:srgbClr val="FF0000"/>
                </a:solidFill>
              </a:rPr>
              <a:t>使用 leave 和 ret 语句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428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链式函数调用，</a:t>
            </a:r>
            <a:r>
              <a:rPr lang="zh-CN" altLang="en-US" dirty="0"/>
              <a:t>有含零参数的特殊处理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25668" y="1141132"/>
            <a:ext cx="8261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800" dirty="0"/>
              <a:t>思路：</a:t>
            </a:r>
            <a:r>
              <a:rPr lang="zh-CN" sz="1800" dirty="0">
                <a:solidFill>
                  <a:srgbClr val="FF0000"/>
                </a:solidFill>
              </a:rPr>
              <a:t>利用函数调用动态地将栈上的参数值改为零。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45" y="1715546"/>
            <a:ext cx="8040414" cy="715559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45" y="3289275"/>
            <a:ext cx="8040414" cy="7466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1434" y="2622561"/>
            <a:ext cx="826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800" dirty="0"/>
              <a:t>函数调用序列（T 是零的地址）：在</a:t>
            </a:r>
            <a:r>
              <a:rPr lang="zh-CN" sz="1800" dirty="0" err="1"/>
              <a:t>setuid () 之前，使用 4 个 sprint() 将setuid </a:t>
            </a:r>
            <a:r>
              <a:rPr lang="zh-CN" sz="1800" dirty="0"/>
              <a:t>() 的参数更改为零。 函数被调用。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2965" y="4227397"/>
            <a:ext cx="826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800" dirty="0"/>
              <a:t>在调用 system(“/bin/ </a:t>
            </a:r>
            <a:r>
              <a:rPr lang="zh-CN" sz="1800" dirty="0" err="1"/>
              <a:t>sh ”) 之前</a:t>
            </a:r>
            <a:r>
              <a:rPr lang="zh-CN" sz="1800" dirty="0"/>
              <a:t>调用</a:t>
            </a:r>
            <a:r>
              <a:rPr lang="zh-CN" sz="1800" dirty="0" err="1"/>
              <a:t>setuid (0)</a:t>
            </a:r>
            <a:r>
              <a:rPr lang="zh-CN" sz="1800" dirty="0"/>
              <a:t>可以绕过 shell 程序实现的权限降低反制措施。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3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概括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8925" indent="-288925"/>
            <a:r>
              <a:rPr lang="zh-CN" dirty="0"/>
              <a:t>不可执行堆栈机制可以被绕过。</a:t>
            </a:r>
          </a:p>
          <a:p>
            <a:pPr marL="288925" indent="-288925"/>
            <a:r>
              <a:rPr lang="zh-CN" dirty="0"/>
              <a:t>为了实施攻击，我们需要了解函数调用的底层细节。</a:t>
            </a:r>
          </a:p>
          <a:p>
            <a:pPr marL="288925" indent="-288925"/>
            <a:r>
              <a:rPr lang="zh-CN" dirty="0"/>
              <a:t>该技术可以进一步推广到面向返回的规划（ROP）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98237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1454</Words>
  <Application>Microsoft Macintosh PowerPoint</Application>
  <PresentationFormat>全屏显示(16:9)</PresentationFormat>
  <Paragraphs>129</Paragraphs>
  <Slides>28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Simple Light</vt:lpstr>
      <vt:lpstr>Return-to-libc 攻击</vt:lpstr>
      <vt:lpstr>大纲</vt:lpstr>
      <vt:lpstr>不可执行堆栈</vt:lpstr>
      <vt:lpstr>不可执行堆栈</vt:lpstr>
      <vt:lpstr>如何破解这种反制措施</vt:lpstr>
      <vt:lpstr>准备执行环境</vt:lpstr>
      <vt:lpstr>准备执行环境</vt:lpstr>
      <vt:lpstr>攻击概述</vt:lpstr>
      <vt:lpstr>任务 A：查找system()函数的内存加载地址。 </vt:lpstr>
      <vt:lpstr>任务 B：查找”/bin/ sh”字符串在内存的地址</vt:lpstr>
      <vt:lpstr>任务 B：查找”/bin/ sh”字符串在内存的地址</vt:lpstr>
      <vt:lpstr>任务B：一些注意事项</vt:lpstr>
      <vt:lpstr>任务 C： system()的输入参数</vt:lpstr>
      <vt:lpstr>任务 C： system()的参数 函数序言</vt:lpstr>
      <vt:lpstr>任务 C： system()的参数</vt:lpstr>
      <vt:lpstr>函数序言和后记的示例</vt:lpstr>
      <vt:lpstr>如何查找system() 的参数A地址？</vt:lpstr>
      <vt:lpstr>从foo()函数“返回”到system()函数的过程</vt:lpstr>
      <vt:lpstr>流程图理解 system()参数</vt:lpstr>
      <vt:lpstr>①②③④位置确定</vt:lpstr>
      <vt:lpstr>攻击载荷 badfile</vt:lpstr>
      <vt:lpstr>发动攻击</vt:lpstr>
      <vt:lpstr>Return-Oriented-Programming(ROP)编程</vt:lpstr>
      <vt:lpstr>链式函数调用（不带参数）</vt:lpstr>
      <vt:lpstr>链式调用带参数的函数</vt:lpstr>
      <vt:lpstr>链式调用带参数的函数</vt:lpstr>
      <vt:lpstr>链式函数调用，有含零参数的特殊处理</vt:lpstr>
      <vt:lpstr>概括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Return-to-libc Attacks</dc:title>
  <cp:lastModifiedBy>Microsoft Office User</cp:lastModifiedBy>
  <cp:revision>23</cp:revision>
  <dcterms:modified xsi:type="dcterms:W3CDTF">2026-04-02T00:38:14Z</dcterms:modified>
</cp:coreProperties>
</file>