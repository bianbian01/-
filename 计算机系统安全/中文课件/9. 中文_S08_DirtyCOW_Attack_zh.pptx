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5782" autoAdjust="0"/>
  </p:normalViewPr>
  <p:slideViewPr>
    <p:cSldViewPr snapToGrid="0">
      <p:cViewPr varScale="1">
        <p:scale>
          <a:sx n="121" d="100"/>
          <a:sy n="121" d="100"/>
        </p:scale>
        <p:origin x="18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100"/>
              <a:buChar char="●"/>
              <a:defRPr sz="1100"/>
            </a:lvl1pPr>
            <a:lvl2pPr lvl="1">
              <a:spcBef>
                <a:spcPts val="0"/>
              </a:spcBef>
              <a:buSzPts val="1100"/>
              <a:buChar char="○"/>
              <a:defRPr sz="1100"/>
            </a:lvl2pPr>
            <a:lvl3pPr lvl="2">
              <a:spcBef>
                <a:spcPts val="0"/>
              </a:spcBef>
              <a:buSzPts val="1100"/>
              <a:buChar char="■"/>
              <a:defRPr sz="1100"/>
            </a:lvl3pPr>
            <a:lvl4pPr lvl="3">
              <a:spcBef>
                <a:spcPts val="0"/>
              </a:spcBef>
              <a:buSzPts val="1100"/>
              <a:buChar char="●"/>
              <a:defRPr sz="1100"/>
            </a:lvl4pPr>
            <a:lvl5pPr lvl="4">
              <a:spcBef>
                <a:spcPts val="0"/>
              </a:spcBef>
              <a:buSzPts val="1100"/>
              <a:buChar char="○"/>
              <a:defRPr sz="1100"/>
            </a:lvl5pPr>
            <a:lvl6pPr lvl="5">
              <a:spcBef>
                <a:spcPts val="0"/>
              </a:spcBef>
              <a:buSzPts val="1100"/>
              <a:buChar char="■"/>
              <a:defRPr sz="1100"/>
            </a:lvl6pPr>
            <a:lvl7pPr lvl="6">
              <a:spcBef>
                <a:spcPts val="0"/>
              </a:spcBef>
              <a:buSzPts val="1100"/>
              <a:buChar char="●"/>
              <a:defRPr sz="1100"/>
            </a:lvl7pPr>
            <a:lvl8pPr lvl="7">
              <a:spcBef>
                <a:spcPts val="0"/>
              </a:spcBef>
              <a:buSzPts val="1100"/>
              <a:buChar char="○"/>
              <a:defRPr sz="1100"/>
            </a:lvl8pPr>
            <a:lvl9pPr lvl="8">
              <a:spcBef>
                <a:spcPts val="0"/>
              </a:spcBef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63670798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1070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Shape 5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0788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Shape 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40144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Shape 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6849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Shape 7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28943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8717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Shape 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32214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36469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Shape 10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04090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Shape 1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13051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Shape 11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79342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Shape 1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43198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Shape 13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-6985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 sz="1400">
                <a:solidFill>
                  <a:schemeClr val="dk1"/>
                </a:solidFill>
              </a:rPr>
              <a:t>进程文件系统：类Unix操作系统中的文件系统，以类似文件的分层结构呈现进程信息和其他系统信息。它提供了一种便捷且标准化的方法来动态访问进程数据。</a:t>
            </a:r>
          </a:p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53310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Shape 1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09475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Shape 14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56449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Shape 15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32277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Shape 16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sz="1100" dirty="0"/>
              <a:t>在步骤 (B) 中，进程的页表被修改，因此虚拟内存现在指向标记为 2 的物理内存。然后步骤 (C) 成功写入内存。如果我们在这两个步骤之间运行一些其他命令，例如：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zh-CN" sz="1100" dirty="0"/>
              <a:t> </a:t>
            </a:r>
            <a:r>
              <a:rPr lang="zh-CN" sz="1100" dirty="0" err="1"/>
              <a:t>i </a:t>
            </a:r>
            <a:r>
              <a:rPr lang="zh-CN" sz="1100" dirty="0"/>
              <a:t>) 更改虚拟内存的页面条目。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zh-CN" sz="1100" dirty="0" err="1"/>
              <a:t>madvise ()</a:t>
            </a:r>
            <a:r>
              <a:rPr lang="zh-CN" sz="1100" dirty="0"/>
              <a:t>函数丢弃映射内存的私有副本，使页表指向原始映射内存。（标记为 1）</a:t>
            </a:r>
          </a:p>
          <a:p>
            <a:pPr marL="0" lvl="0" indent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7852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Shape 1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4178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Shape 1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87542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Shape 18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36425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Shape 1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76029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Shape 1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37235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Shape 2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1100" dirty="0"/>
              <a:t>在无限循环中无限运行所述系统调用一段时间后，我们可以看到 /etc/ </a:t>
            </a:r>
            <a:r>
              <a:rPr lang="zh-CN" sz="1100" dirty="0" err="1"/>
              <a:t>passwd</a:t>
            </a:r>
            <a:r>
              <a:rPr lang="zh-CN" sz="1100" dirty="0"/>
              <a:t>已被修改。</a:t>
            </a:r>
          </a:p>
          <a:p>
            <a:pPr marL="457200" lvl="0" indent="-342900">
              <a:spcBef>
                <a:spcPts val="0"/>
              </a:spcBef>
              <a:buSzPts val="1800"/>
              <a:buChar char="●"/>
            </a:pPr>
            <a:r>
              <a:rPr lang="zh-CN" sz="1100" dirty="0"/>
              <a:t>攻击代码运行</a:t>
            </a:r>
            <a:r>
              <a:rPr lang="zh-CN" sz="1100" dirty="0" err="1"/>
              <a:t>一段时间后，我们停止了它。切换到testcow</a:t>
            </a:r>
            <a:r>
              <a:rPr lang="zh-CN" sz="1100" dirty="0"/>
              <a:t>用户后，我们获得了 root shell。</a:t>
            </a:r>
          </a:p>
          <a:p>
            <a:pPr marL="0" lvl="0" indent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1791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>
              <a:spcBef>
                <a:spcPts val="0"/>
              </a:spcBef>
              <a:buSzPts val="5200"/>
              <a:buNone/>
              <a:defRPr sz="5200"/>
            </a:lvl1pPr>
            <a:lvl2pPr lvl="1" algn="ctr">
              <a:spcBef>
                <a:spcPts val="0"/>
              </a:spcBef>
              <a:buSzPts val="5200"/>
              <a:buNone/>
              <a:defRPr sz="5200"/>
            </a:lvl2pPr>
            <a:lvl3pPr lvl="2" algn="ctr">
              <a:spcBef>
                <a:spcPts val="0"/>
              </a:spcBef>
              <a:buSzPts val="5200"/>
              <a:buNone/>
              <a:defRPr sz="5200"/>
            </a:lvl3pPr>
            <a:lvl4pPr lvl="3" algn="ctr">
              <a:spcBef>
                <a:spcPts val="0"/>
              </a:spcBef>
              <a:buSzPts val="5200"/>
              <a:buNone/>
              <a:defRPr sz="5200"/>
            </a:lvl4pPr>
            <a:lvl5pPr lvl="4" algn="ctr">
              <a:spcBef>
                <a:spcPts val="0"/>
              </a:spcBef>
              <a:buSzPts val="5200"/>
              <a:buNone/>
              <a:defRPr sz="5200"/>
            </a:lvl5pPr>
            <a:lvl6pPr lvl="5" algn="ctr">
              <a:spcBef>
                <a:spcPts val="0"/>
              </a:spcBef>
              <a:buSzPts val="5200"/>
              <a:buNone/>
              <a:defRPr sz="5200"/>
            </a:lvl6pPr>
            <a:lvl7pPr lvl="6" algn="ctr">
              <a:spcBef>
                <a:spcPts val="0"/>
              </a:spcBef>
              <a:buSzPts val="5200"/>
              <a:buNone/>
              <a:defRPr sz="5200"/>
            </a:lvl7pPr>
            <a:lvl8pPr lvl="7" algn="ctr">
              <a:spcBef>
                <a:spcPts val="0"/>
              </a:spcBef>
              <a:buSzPts val="5200"/>
              <a:buNone/>
              <a:defRPr sz="5200"/>
            </a:lvl8pPr>
            <a:lvl9pPr lvl="8" algn="ctr">
              <a:spcBef>
                <a:spcPts val="0"/>
              </a:spcBef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algn="ctr">
              <a:spcBef>
                <a:spcPts val="0"/>
              </a:spcBef>
              <a:buSzPts val="3600"/>
              <a:buNone/>
              <a:defRPr sz="3600"/>
            </a:lvl1pPr>
            <a:lvl2pPr lvl="1" algn="ctr">
              <a:spcBef>
                <a:spcPts val="0"/>
              </a:spcBef>
              <a:buSzPts val="3600"/>
              <a:buNone/>
              <a:defRPr sz="3600"/>
            </a:lvl2pPr>
            <a:lvl3pPr lvl="2" algn="ctr">
              <a:spcBef>
                <a:spcPts val="0"/>
              </a:spcBef>
              <a:buSzPts val="3600"/>
              <a:buNone/>
              <a:defRPr sz="3600"/>
            </a:lvl3pPr>
            <a:lvl4pPr lvl="3" algn="ctr">
              <a:spcBef>
                <a:spcPts val="0"/>
              </a:spcBef>
              <a:buSzPts val="3600"/>
              <a:buNone/>
              <a:defRPr sz="3600"/>
            </a:lvl4pPr>
            <a:lvl5pPr lvl="4" algn="ctr">
              <a:spcBef>
                <a:spcPts val="0"/>
              </a:spcBef>
              <a:buSzPts val="3600"/>
              <a:buNone/>
              <a:defRPr sz="3600"/>
            </a:lvl5pPr>
            <a:lvl6pPr lvl="5" algn="ctr">
              <a:spcBef>
                <a:spcPts val="0"/>
              </a:spcBef>
              <a:buSzPts val="3600"/>
              <a:buNone/>
              <a:defRPr sz="3600"/>
            </a:lvl6pPr>
            <a:lvl7pPr lvl="6" algn="ctr">
              <a:spcBef>
                <a:spcPts val="0"/>
              </a:spcBef>
              <a:buSzPts val="3600"/>
              <a:buNone/>
              <a:defRPr sz="3600"/>
            </a:lvl7pPr>
            <a:lvl8pPr lvl="7" algn="ctr">
              <a:spcBef>
                <a:spcPts val="0"/>
              </a:spcBef>
              <a:buSzPts val="3600"/>
              <a:buNone/>
              <a:defRPr sz="3600"/>
            </a:lvl8pPr>
            <a:lvl9pPr lvl="8" algn="ctr">
              <a:spcBef>
                <a:spcPts val="0"/>
              </a:spcBef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2800"/>
              <a:buNone/>
              <a:defRPr/>
            </a:lvl1pPr>
            <a:lvl2pPr lvl="1">
              <a:spcBef>
                <a:spcPts val="0"/>
              </a:spcBef>
              <a:buSzPts val="2800"/>
              <a:buNone/>
              <a:defRPr/>
            </a:lvl2pPr>
            <a:lvl3pPr lvl="2">
              <a:spcBef>
                <a:spcPts val="0"/>
              </a:spcBef>
              <a:buSzPts val="2800"/>
              <a:buNone/>
              <a:defRPr/>
            </a:lvl3pPr>
            <a:lvl4pPr lvl="3">
              <a:spcBef>
                <a:spcPts val="0"/>
              </a:spcBef>
              <a:buSzPts val="2800"/>
              <a:buNone/>
              <a:defRPr/>
            </a:lvl4pPr>
            <a:lvl5pPr lvl="4">
              <a:spcBef>
                <a:spcPts val="0"/>
              </a:spcBef>
              <a:buSzPts val="2800"/>
              <a:buNone/>
              <a:defRPr/>
            </a:lvl5pPr>
            <a:lvl6pPr lvl="5">
              <a:spcBef>
                <a:spcPts val="0"/>
              </a:spcBef>
              <a:buSzPts val="2800"/>
              <a:buNone/>
              <a:defRPr/>
            </a:lvl6pPr>
            <a:lvl7pPr lvl="6">
              <a:spcBef>
                <a:spcPts val="0"/>
              </a:spcBef>
              <a:buSzPts val="2800"/>
              <a:buNone/>
              <a:defRPr/>
            </a:lvl7pPr>
            <a:lvl8pPr lvl="7">
              <a:spcBef>
                <a:spcPts val="0"/>
              </a:spcBef>
              <a:buSzPts val="2800"/>
              <a:buNone/>
              <a:defRPr/>
            </a:lvl8pPr>
            <a:lvl9pPr lvl="8">
              <a:spcBef>
                <a:spcPts val="0"/>
              </a:spcBef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800"/>
              <a:buChar char="●"/>
              <a:defRPr/>
            </a:lvl1pPr>
            <a:lvl2pPr lvl="1">
              <a:spcBef>
                <a:spcPts val="0"/>
              </a:spcBef>
              <a:buSzPts val="1400"/>
              <a:buChar char="○"/>
              <a:defRPr/>
            </a:lvl2pPr>
            <a:lvl3pPr lvl="2">
              <a:spcBef>
                <a:spcPts val="0"/>
              </a:spcBef>
              <a:buSzPts val="1400"/>
              <a:buChar char="■"/>
              <a:defRPr/>
            </a:lvl3pPr>
            <a:lvl4pPr lvl="3">
              <a:spcBef>
                <a:spcPts val="0"/>
              </a:spcBef>
              <a:buSzPts val="1400"/>
              <a:buChar char="●"/>
              <a:defRPr/>
            </a:lvl4pPr>
            <a:lvl5pPr lvl="4">
              <a:spcBef>
                <a:spcPts val="0"/>
              </a:spcBef>
              <a:buSzPts val="1400"/>
              <a:buChar char="○"/>
              <a:defRPr/>
            </a:lvl5pPr>
            <a:lvl6pPr lvl="5">
              <a:spcBef>
                <a:spcPts val="0"/>
              </a:spcBef>
              <a:buSzPts val="1400"/>
              <a:buChar char="■"/>
              <a:defRPr/>
            </a:lvl6pPr>
            <a:lvl7pPr lvl="6">
              <a:spcBef>
                <a:spcPts val="0"/>
              </a:spcBef>
              <a:buSzPts val="1400"/>
              <a:buChar char="●"/>
              <a:defRPr/>
            </a:lvl7pPr>
            <a:lvl8pPr lvl="7">
              <a:spcBef>
                <a:spcPts val="0"/>
              </a:spcBef>
              <a:buSzPts val="1400"/>
              <a:buChar char="○"/>
              <a:defRPr/>
            </a:lvl8pPr>
            <a:lvl9pPr lvl="8">
              <a:spcBef>
                <a:spcPts val="0"/>
              </a:spcBef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2800"/>
              <a:buNone/>
              <a:defRPr/>
            </a:lvl1pPr>
            <a:lvl2pPr lvl="1">
              <a:spcBef>
                <a:spcPts val="0"/>
              </a:spcBef>
              <a:buSzPts val="2800"/>
              <a:buNone/>
              <a:defRPr/>
            </a:lvl2pPr>
            <a:lvl3pPr lvl="2">
              <a:spcBef>
                <a:spcPts val="0"/>
              </a:spcBef>
              <a:buSzPts val="2800"/>
              <a:buNone/>
              <a:defRPr/>
            </a:lvl3pPr>
            <a:lvl4pPr lvl="3">
              <a:spcBef>
                <a:spcPts val="0"/>
              </a:spcBef>
              <a:buSzPts val="2800"/>
              <a:buNone/>
              <a:defRPr/>
            </a:lvl4pPr>
            <a:lvl5pPr lvl="4">
              <a:spcBef>
                <a:spcPts val="0"/>
              </a:spcBef>
              <a:buSzPts val="2800"/>
              <a:buNone/>
              <a:defRPr/>
            </a:lvl5pPr>
            <a:lvl6pPr lvl="5">
              <a:spcBef>
                <a:spcPts val="0"/>
              </a:spcBef>
              <a:buSzPts val="2800"/>
              <a:buNone/>
              <a:defRPr/>
            </a:lvl6pPr>
            <a:lvl7pPr lvl="6">
              <a:spcBef>
                <a:spcPts val="0"/>
              </a:spcBef>
              <a:buSzPts val="2800"/>
              <a:buNone/>
              <a:defRPr/>
            </a:lvl7pPr>
            <a:lvl8pPr lvl="7">
              <a:spcBef>
                <a:spcPts val="0"/>
              </a:spcBef>
              <a:buSzPts val="2800"/>
              <a:buNone/>
              <a:defRPr/>
            </a:lvl8pPr>
            <a:lvl9pPr lvl="8">
              <a:spcBef>
                <a:spcPts val="0"/>
              </a:spcBef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400"/>
              <a:buChar char="●"/>
              <a:defRPr sz="1400"/>
            </a:lvl1pPr>
            <a:lvl2pPr lvl="1">
              <a:spcBef>
                <a:spcPts val="0"/>
              </a:spcBef>
              <a:buSzPts val="1200"/>
              <a:buChar char="○"/>
              <a:defRPr sz="1200"/>
            </a:lvl2pPr>
            <a:lvl3pPr lvl="2">
              <a:spcBef>
                <a:spcPts val="0"/>
              </a:spcBef>
              <a:buSzPts val="1200"/>
              <a:buChar char="■"/>
              <a:defRPr sz="1200"/>
            </a:lvl3pPr>
            <a:lvl4pPr lvl="3">
              <a:spcBef>
                <a:spcPts val="0"/>
              </a:spcBef>
              <a:buSzPts val="1200"/>
              <a:buChar char="●"/>
              <a:defRPr sz="1200"/>
            </a:lvl4pPr>
            <a:lvl5pPr lvl="4">
              <a:spcBef>
                <a:spcPts val="0"/>
              </a:spcBef>
              <a:buSzPts val="1200"/>
              <a:buChar char="○"/>
              <a:defRPr sz="1200"/>
            </a:lvl5pPr>
            <a:lvl6pPr lvl="5">
              <a:spcBef>
                <a:spcPts val="0"/>
              </a:spcBef>
              <a:buSzPts val="1200"/>
              <a:buChar char="■"/>
              <a:defRPr sz="1200"/>
            </a:lvl6pPr>
            <a:lvl7pPr lvl="6">
              <a:spcBef>
                <a:spcPts val="0"/>
              </a:spcBef>
              <a:buSzPts val="1200"/>
              <a:buChar char="●"/>
              <a:defRPr sz="1200"/>
            </a:lvl7pPr>
            <a:lvl8pPr lvl="7">
              <a:spcBef>
                <a:spcPts val="0"/>
              </a:spcBef>
              <a:buSzPts val="1200"/>
              <a:buChar char="○"/>
              <a:defRPr sz="1200"/>
            </a:lvl8pPr>
            <a:lvl9pPr lvl="8">
              <a:spcBef>
                <a:spcPts val="0"/>
              </a:spcBef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400"/>
              <a:buChar char="●"/>
              <a:defRPr sz="1400"/>
            </a:lvl1pPr>
            <a:lvl2pPr lvl="1">
              <a:spcBef>
                <a:spcPts val="0"/>
              </a:spcBef>
              <a:buSzPts val="1200"/>
              <a:buChar char="○"/>
              <a:defRPr sz="1200"/>
            </a:lvl2pPr>
            <a:lvl3pPr lvl="2">
              <a:spcBef>
                <a:spcPts val="0"/>
              </a:spcBef>
              <a:buSzPts val="1200"/>
              <a:buChar char="■"/>
              <a:defRPr sz="1200"/>
            </a:lvl3pPr>
            <a:lvl4pPr lvl="3">
              <a:spcBef>
                <a:spcPts val="0"/>
              </a:spcBef>
              <a:buSzPts val="1200"/>
              <a:buChar char="●"/>
              <a:defRPr sz="1200"/>
            </a:lvl4pPr>
            <a:lvl5pPr lvl="4">
              <a:spcBef>
                <a:spcPts val="0"/>
              </a:spcBef>
              <a:buSzPts val="1200"/>
              <a:buChar char="○"/>
              <a:defRPr sz="1200"/>
            </a:lvl5pPr>
            <a:lvl6pPr lvl="5">
              <a:spcBef>
                <a:spcPts val="0"/>
              </a:spcBef>
              <a:buSzPts val="1200"/>
              <a:buChar char="■"/>
              <a:defRPr sz="1200"/>
            </a:lvl6pPr>
            <a:lvl7pPr lvl="6">
              <a:spcBef>
                <a:spcPts val="0"/>
              </a:spcBef>
              <a:buSzPts val="1200"/>
              <a:buChar char="●"/>
              <a:defRPr sz="1200"/>
            </a:lvl7pPr>
            <a:lvl8pPr lvl="7">
              <a:spcBef>
                <a:spcPts val="0"/>
              </a:spcBef>
              <a:buSzPts val="1200"/>
              <a:buChar char="○"/>
              <a:defRPr sz="1200"/>
            </a:lvl8pPr>
            <a:lvl9pPr lvl="8">
              <a:spcBef>
                <a:spcPts val="0"/>
              </a:spcBef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2800"/>
              <a:buNone/>
              <a:defRPr/>
            </a:lvl1pPr>
            <a:lvl2pPr lvl="1">
              <a:spcBef>
                <a:spcPts val="0"/>
              </a:spcBef>
              <a:buSzPts val="2800"/>
              <a:buNone/>
              <a:defRPr/>
            </a:lvl2pPr>
            <a:lvl3pPr lvl="2">
              <a:spcBef>
                <a:spcPts val="0"/>
              </a:spcBef>
              <a:buSzPts val="2800"/>
              <a:buNone/>
              <a:defRPr/>
            </a:lvl3pPr>
            <a:lvl4pPr lvl="3">
              <a:spcBef>
                <a:spcPts val="0"/>
              </a:spcBef>
              <a:buSzPts val="2800"/>
              <a:buNone/>
              <a:defRPr/>
            </a:lvl4pPr>
            <a:lvl5pPr lvl="4">
              <a:spcBef>
                <a:spcPts val="0"/>
              </a:spcBef>
              <a:buSzPts val="2800"/>
              <a:buNone/>
              <a:defRPr/>
            </a:lvl5pPr>
            <a:lvl6pPr lvl="5">
              <a:spcBef>
                <a:spcPts val="0"/>
              </a:spcBef>
              <a:buSzPts val="2800"/>
              <a:buNone/>
              <a:defRPr/>
            </a:lvl6pPr>
            <a:lvl7pPr lvl="6">
              <a:spcBef>
                <a:spcPts val="0"/>
              </a:spcBef>
              <a:buSzPts val="2800"/>
              <a:buNone/>
              <a:defRPr/>
            </a:lvl7pPr>
            <a:lvl8pPr lvl="7">
              <a:spcBef>
                <a:spcPts val="0"/>
              </a:spcBef>
              <a:buSzPts val="2800"/>
              <a:buNone/>
              <a:defRPr/>
            </a:lvl8pPr>
            <a:lvl9pPr lvl="8">
              <a:spcBef>
                <a:spcPts val="0"/>
              </a:spcBef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buSzPts val="2400"/>
              <a:buNone/>
              <a:defRPr sz="2400"/>
            </a:lvl1pPr>
            <a:lvl2pPr lvl="1">
              <a:spcBef>
                <a:spcPts val="0"/>
              </a:spcBef>
              <a:buSzPts val="2400"/>
              <a:buNone/>
              <a:defRPr sz="2400"/>
            </a:lvl2pPr>
            <a:lvl3pPr lvl="2">
              <a:spcBef>
                <a:spcPts val="0"/>
              </a:spcBef>
              <a:buSzPts val="2400"/>
              <a:buNone/>
              <a:defRPr sz="2400"/>
            </a:lvl3pPr>
            <a:lvl4pPr lvl="3">
              <a:spcBef>
                <a:spcPts val="0"/>
              </a:spcBef>
              <a:buSzPts val="2400"/>
              <a:buNone/>
              <a:defRPr sz="2400"/>
            </a:lvl4pPr>
            <a:lvl5pPr lvl="4">
              <a:spcBef>
                <a:spcPts val="0"/>
              </a:spcBef>
              <a:buSzPts val="2400"/>
              <a:buNone/>
              <a:defRPr sz="2400"/>
            </a:lvl5pPr>
            <a:lvl6pPr lvl="5">
              <a:spcBef>
                <a:spcPts val="0"/>
              </a:spcBef>
              <a:buSzPts val="2400"/>
              <a:buNone/>
              <a:defRPr sz="2400"/>
            </a:lvl6pPr>
            <a:lvl7pPr lvl="6">
              <a:spcBef>
                <a:spcPts val="0"/>
              </a:spcBef>
              <a:buSzPts val="2400"/>
              <a:buNone/>
              <a:defRPr sz="2400"/>
            </a:lvl7pPr>
            <a:lvl8pPr lvl="7">
              <a:spcBef>
                <a:spcPts val="0"/>
              </a:spcBef>
              <a:buSzPts val="2400"/>
              <a:buNone/>
              <a:defRPr sz="2400"/>
            </a:lvl8pPr>
            <a:lvl9pPr lvl="8">
              <a:spcBef>
                <a:spcPts val="0"/>
              </a:spcBef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200"/>
              <a:buChar char="●"/>
              <a:defRPr sz="1200"/>
            </a:lvl1pPr>
            <a:lvl2pPr lvl="1">
              <a:spcBef>
                <a:spcPts val="0"/>
              </a:spcBef>
              <a:buSzPts val="1200"/>
              <a:buChar char="○"/>
              <a:defRPr sz="1200"/>
            </a:lvl2pPr>
            <a:lvl3pPr lvl="2">
              <a:spcBef>
                <a:spcPts val="0"/>
              </a:spcBef>
              <a:buSzPts val="1200"/>
              <a:buChar char="■"/>
              <a:defRPr sz="1200"/>
            </a:lvl3pPr>
            <a:lvl4pPr lvl="3">
              <a:spcBef>
                <a:spcPts val="0"/>
              </a:spcBef>
              <a:buSzPts val="1200"/>
              <a:buChar char="●"/>
              <a:defRPr sz="1200"/>
            </a:lvl4pPr>
            <a:lvl5pPr lvl="4">
              <a:spcBef>
                <a:spcPts val="0"/>
              </a:spcBef>
              <a:buSzPts val="1200"/>
              <a:buChar char="○"/>
              <a:defRPr sz="1200"/>
            </a:lvl5pPr>
            <a:lvl6pPr lvl="5">
              <a:spcBef>
                <a:spcPts val="0"/>
              </a:spcBef>
              <a:buSzPts val="1200"/>
              <a:buChar char="■"/>
              <a:defRPr sz="1200"/>
            </a:lvl6pPr>
            <a:lvl7pPr lvl="6">
              <a:spcBef>
                <a:spcPts val="0"/>
              </a:spcBef>
              <a:buSzPts val="1200"/>
              <a:buChar char="●"/>
              <a:defRPr sz="1200"/>
            </a:lvl7pPr>
            <a:lvl8pPr lvl="7">
              <a:spcBef>
                <a:spcPts val="0"/>
              </a:spcBef>
              <a:buSzPts val="1200"/>
              <a:buChar char="○"/>
              <a:defRPr sz="1200"/>
            </a:lvl8pPr>
            <a:lvl9pPr lvl="8">
              <a:spcBef>
                <a:spcPts val="0"/>
              </a:spcBef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spcBef>
                <a:spcPts val="0"/>
              </a:spcBef>
              <a:buSzPts val="4800"/>
              <a:buNone/>
              <a:defRPr sz="4800"/>
            </a:lvl1pPr>
            <a:lvl2pPr lvl="1">
              <a:spcBef>
                <a:spcPts val="0"/>
              </a:spcBef>
              <a:buSzPts val="4800"/>
              <a:buNone/>
              <a:defRPr sz="4800"/>
            </a:lvl2pPr>
            <a:lvl3pPr lvl="2">
              <a:spcBef>
                <a:spcPts val="0"/>
              </a:spcBef>
              <a:buSzPts val="4800"/>
              <a:buNone/>
              <a:defRPr sz="4800"/>
            </a:lvl3pPr>
            <a:lvl4pPr lvl="3">
              <a:spcBef>
                <a:spcPts val="0"/>
              </a:spcBef>
              <a:buSzPts val="4800"/>
              <a:buNone/>
              <a:defRPr sz="4800"/>
            </a:lvl4pPr>
            <a:lvl5pPr lvl="4">
              <a:spcBef>
                <a:spcPts val="0"/>
              </a:spcBef>
              <a:buSzPts val="4800"/>
              <a:buNone/>
              <a:defRPr sz="4800"/>
            </a:lvl5pPr>
            <a:lvl6pPr lvl="5">
              <a:spcBef>
                <a:spcPts val="0"/>
              </a:spcBef>
              <a:buSzPts val="4800"/>
              <a:buNone/>
              <a:defRPr sz="4800"/>
            </a:lvl6pPr>
            <a:lvl7pPr lvl="6">
              <a:spcBef>
                <a:spcPts val="0"/>
              </a:spcBef>
              <a:buSzPts val="4800"/>
              <a:buNone/>
              <a:defRPr sz="4800"/>
            </a:lvl7pPr>
            <a:lvl8pPr lvl="7">
              <a:spcBef>
                <a:spcPts val="0"/>
              </a:spcBef>
              <a:buSzPts val="4800"/>
              <a:buNone/>
              <a:defRPr sz="4800"/>
            </a:lvl8pPr>
            <a:lvl9pPr lvl="8">
              <a:spcBef>
                <a:spcPts val="0"/>
              </a:spcBef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>
              <a:spcBef>
                <a:spcPts val="0"/>
              </a:spcBef>
              <a:buSzPts val="4200"/>
              <a:buNone/>
              <a:defRPr sz="4200"/>
            </a:lvl1pPr>
            <a:lvl2pPr lvl="1" algn="ctr">
              <a:spcBef>
                <a:spcPts val="0"/>
              </a:spcBef>
              <a:buSzPts val="4200"/>
              <a:buNone/>
              <a:defRPr sz="4200"/>
            </a:lvl2pPr>
            <a:lvl3pPr lvl="2" algn="ctr">
              <a:spcBef>
                <a:spcPts val="0"/>
              </a:spcBef>
              <a:buSzPts val="4200"/>
              <a:buNone/>
              <a:defRPr sz="4200"/>
            </a:lvl3pPr>
            <a:lvl4pPr lvl="3" algn="ctr">
              <a:spcBef>
                <a:spcPts val="0"/>
              </a:spcBef>
              <a:buSzPts val="4200"/>
              <a:buNone/>
              <a:defRPr sz="4200"/>
            </a:lvl4pPr>
            <a:lvl5pPr lvl="4" algn="ctr">
              <a:spcBef>
                <a:spcPts val="0"/>
              </a:spcBef>
              <a:buSzPts val="4200"/>
              <a:buNone/>
              <a:defRPr sz="4200"/>
            </a:lvl5pPr>
            <a:lvl6pPr lvl="5" algn="ctr">
              <a:spcBef>
                <a:spcPts val="0"/>
              </a:spcBef>
              <a:buSzPts val="4200"/>
              <a:buNone/>
              <a:defRPr sz="4200"/>
            </a:lvl6pPr>
            <a:lvl7pPr lvl="6" algn="ctr">
              <a:spcBef>
                <a:spcPts val="0"/>
              </a:spcBef>
              <a:buSzPts val="4200"/>
              <a:buNone/>
              <a:defRPr sz="4200"/>
            </a:lvl7pPr>
            <a:lvl8pPr lvl="7" algn="ctr">
              <a:spcBef>
                <a:spcPts val="0"/>
              </a:spcBef>
              <a:buSzPts val="4200"/>
              <a:buNone/>
              <a:defRPr sz="4200"/>
            </a:lvl8pPr>
            <a:lvl9pPr lvl="8" algn="ctr">
              <a:spcBef>
                <a:spcPts val="0"/>
              </a:spcBef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spcBef>
                <a:spcPts val="0"/>
              </a:spcBef>
              <a:buSzPts val="1800"/>
              <a:buChar char="●"/>
              <a:defRPr/>
            </a:lvl1pPr>
            <a:lvl2pPr lvl="1">
              <a:spcBef>
                <a:spcPts val="0"/>
              </a:spcBef>
              <a:buSzPts val="1400"/>
              <a:buChar char="○"/>
              <a:defRPr/>
            </a:lvl2pPr>
            <a:lvl3pPr lvl="2">
              <a:spcBef>
                <a:spcPts val="0"/>
              </a:spcBef>
              <a:buSzPts val="1400"/>
              <a:buChar char="■"/>
              <a:defRPr/>
            </a:lvl3pPr>
            <a:lvl4pPr lvl="3">
              <a:spcBef>
                <a:spcPts val="0"/>
              </a:spcBef>
              <a:buSzPts val="1400"/>
              <a:buChar char="●"/>
              <a:defRPr/>
            </a:lvl4pPr>
            <a:lvl5pPr lvl="4">
              <a:spcBef>
                <a:spcPts val="0"/>
              </a:spcBef>
              <a:buSzPts val="1400"/>
              <a:buChar char="○"/>
              <a:defRPr/>
            </a:lvl5pPr>
            <a:lvl6pPr lvl="5">
              <a:spcBef>
                <a:spcPts val="0"/>
              </a:spcBef>
              <a:buSzPts val="1400"/>
              <a:buChar char="■"/>
              <a:defRPr/>
            </a:lvl6pPr>
            <a:lvl7pPr lvl="6">
              <a:spcBef>
                <a:spcPts val="0"/>
              </a:spcBef>
              <a:buSzPts val="1400"/>
              <a:buChar char="●"/>
              <a:defRPr/>
            </a:lvl7pPr>
            <a:lvl8pPr lvl="7">
              <a:spcBef>
                <a:spcPts val="0"/>
              </a:spcBef>
              <a:buSzPts val="1400"/>
              <a:buChar char="○"/>
              <a:defRPr/>
            </a:lvl8pPr>
            <a:lvl9pPr lvl="8">
              <a:spcBef>
                <a:spcPts val="0"/>
              </a:spcBef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>
              <a:spcBef>
                <a:spcPts val="0"/>
              </a:spcBef>
              <a:buSzPts val="12000"/>
              <a:buNone/>
              <a:defRPr sz="12000"/>
            </a:lvl1pPr>
            <a:lvl2pPr lvl="1" algn="ctr">
              <a:spcBef>
                <a:spcPts val="0"/>
              </a:spcBef>
              <a:buSzPts val="12000"/>
              <a:buNone/>
              <a:defRPr sz="12000"/>
            </a:lvl2pPr>
            <a:lvl3pPr lvl="2" algn="ctr">
              <a:spcBef>
                <a:spcPts val="0"/>
              </a:spcBef>
              <a:buSzPts val="12000"/>
              <a:buNone/>
              <a:defRPr sz="12000"/>
            </a:lvl3pPr>
            <a:lvl4pPr lvl="3" algn="ctr">
              <a:spcBef>
                <a:spcPts val="0"/>
              </a:spcBef>
              <a:buSzPts val="12000"/>
              <a:buNone/>
              <a:defRPr sz="12000"/>
            </a:lvl4pPr>
            <a:lvl5pPr lvl="4" algn="ctr">
              <a:spcBef>
                <a:spcPts val="0"/>
              </a:spcBef>
              <a:buSzPts val="12000"/>
              <a:buNone/>
              <a:defRPr sz="12000"/>
            </a:lvl5pPr>
            <a:lvl6pPr lvl="5" algn="ctr">
              <a:spcBef>
                <a:spcPts val="0"/>
              </a:spcBef>
              <a:buSzPts val="12000"/>
              <a:buNone/>
              <a:defRPr sz="12000"/>
            </a:lvl6pPr>
            <a:lvl7pPr lvl="6" algn="ctr">
              <a:spcBef>
                <a:spcPts val="0"/>
              </a:spcBef>
              <a:buSzPts val="12000"/>
              <a:buNone/>
              <a:defRPr sz="12000"/>
            </a:lvl7pPr>
            <a:lvl8pPr lvl="7" algn="ctr">
              <a:spcBef>
                <a:spcPts val="0"/>
              </a:spcBef>
              <a:buSzPts val="12000"/>
              <a:buNone/>
              <a:defRPr sz="12000"/>
            </a:lvl8pPr>
            <a:lvl9pPr lvl="8" algn="ctr">
              <a:spcBef>
                <a:spcPts val="0"/>
              </a:spcBef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>
              <a:spcBef>
                <a:spcPts val="0"/>
              </a:spcBef>
              <a:buSzPts val="1800"/>
              <a:buChar char="●"/>
              <a:defRPr/>
            </a:lvl1pPr>
            <a:lvl2pPr lvl="1" algn="ctr">
              <a:spcBef>
                <a:spcPts val="0"/>
              </a:spcBef>
              <a:buSzPts val="1400"/>
              <a:buChar char="○"/>
              <a:defRPr/>
            </a:lvl2pPr>
            <a:lvl3pPr lvl="2" algn="ctr">
              <a:spcBef>
                <a:spcPts val="0"/>
              </a:spcBef>
              <a:buSzPts val="1400"/>
              <a:buChar char="■"/>
              <a:defRPr/>
            </a:lvl3pPr>
            <a:lvl4pPr lvl="3" algn="ctr">
              <a:spcBef>
                <a:spcPts val="0"/>
              </a:spcBef>
              <a:buSzPts val="1400"/>
              <a:buChar char="●"/>
              <a:defRPr/>
            </a:lvl4pPr>
            <a:lvl5pPr lvl="4" algn="ctr">
              <a:spcBef>
                <a:spcPts val="0"/>
              </a:spcBef>
              <a:buSzPts val="1400"/>
              <a:buChar char="○"/>
              <a:defRPr/>
            </a:lvl5pPr>
            <a:lvl6pPr lvl="5" algn="ctr">
              <a:spcBef>
                <a:spcPts val="0"/>
              </a:spcBef>
              <a:buSzPts val="1400"/>
              <a:buChar char="■"/>
              <a:defRPr/>
            </a:lvl6pPr>
            <a:lvl7pPr lvl="6" algn="ctr">
              <a:spcBef>
                <a:spcPts val="0"/>
              </a:spcBef>
              <a:buSzPts val="1400"/>
              <a:buChar char="●"/>
              <a:defRPr/>
            </a:lvl7pPr>
            <a:lvl8pPr lvl="7" algn="ctr">
              <a:spcBef>
                <a:spcPts val="0"/>
              </a:spcBef>
              <a:buSzPts val="1400"/>
              <a:buChar char="○"/>
              <a:defRPr/>
            </a:lvl8pPr>
            <a:lvl9pPr lvl="8" algn="ctr">
              <a:spcBef>
                <a:spcPts val="0"/>
              </a:spcBef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buNone/>
            </a:pPr>
            <a:fld id="{00000000-1234-1234-1234-123412341234}" type="slidenum">
              <a:rPr lang="en-GB" sz="1000">
                <a:solidFill>
                  <a:schemeClr val="dk2"/>
                </a:solidFill>
              </a:rPr>
              <a:t>‹#›</a:t>
            </a:fld>
            <a:endParaRPr lang="en-GB" sz="1000"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ctrTitle"/>
          </p:nvPr>
        </p:nvSpPr>
        <p:spPr>
          <a:xfrm>
            <a:off x="351465" y="1291228"/>
            <a:ext cx="8520600" cy="2052600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脏牛</a:t>
            </a:r>
            <a:r>
              <a:rPr lang="zh-CN" altLang="en-US" dirty="0"/>
              <a:t>竞态</a:t>
            </a:r>
            <a:r>
              <a:rPr lang="zh-CN" dirty="0"/>
              <a:t>条件攻击</a:t>
            </a:r>
            <a:br>
              <a:rPr lang="en-US" altLang="zh-CN" dirty="0"/>
            </a:br>
            <a:r>
              <a:rPr lang="en-US" altLang="zh-CN" dirty="0"/>
              <a:t>Dirty</a:t>
            </a:r>
            <a:r>
              <a:rPr lang="zh-CN" altLang="en-US" dirty="0"/>
              <a:t> </a:t>
            </a:r>
            <a:r>
              <a:rPr lang="en-US" altLang="zh-CN" dirty="0"/>
              <a:t>COW</a:t>
            </a:r>
            <a:r>
              <a:rPr lang="zh-CN" altLang="en-US" dirty="0"/>
              <a:t> </a:t>
            </a:r>
            <a:r>
              <a:rPr lang="en-US" altLang="zh-CN" dirty="0"/>
              <a:t>Race</a:t>
            </a:r>
            <a:r>
              <a:rPr lang="zh-CN" altLang="en-US" dirty="0"/>
              <a:t> </a:t>
            </a:r>
            <a:r>
              <a:rPr lang="en-US" altLang="zh-CN" dirty="0"/>
              <a:t>Condition Attack</a:t>
            </a:r>
            <a:endParaRPr 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/>
              <a:t>大纲</a:t>
            </a:r>
          </a:p>
        </p:txBody>
      </p:sp>
      <p:sp>
        <p:nvSpPr>
          <p:cNvPr id="60" name="Shape 6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sz="2400" dirty="0">
                <a:solidFill>
                  <a:srgbClr val="000000"/>
                </a:solidFill>
              </a:rPr>
              <a:t>脏牛漏洞</a:t>
            </a:r>
            <a:r>
              <a:rPr lang="zh-CN" altLang="en-US" sz="2400" dirty="0">
                <a:solidFill>
                  <a:srgbClr val="000000"/>
                </a:solidFill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</a:rPr>
              <a:t>Dirty</a:t>
            </a:r>
            <a:r>
              <a:rPr lang="zh-CN" altLang="en-US" sz="2400" dirty="0">
                <a:solidFill>
                  <a:srgbClr val="000000"/>
                </a:solidFill>
              </a:rPr>
              <a:t> </a:t>
            </a:r>
            <a:r>
              <a:rPr lang="en-US" altLang="zh-CN" sz="2400" dirty="0">
                <a:solidFill>
                  <a:srgbClr val="000000"/>
                </a:solidFill>
              </a:rPr>
              <a:t>COW</a:t>
            </a:r>
            <a:r>
              <a:rPr lang="zh-CN" altLang="en-US" sz="2400" dirty="0">
                <a:solidFill>
                  <a:srgbClr val="000000"/>
                </a:solidFill>
              </a:rPr>
              <a:t> </a:t>
            </a:r>
            <a:r>
              <a:rPr lang="en-US" altLang="zh-CN" sz="2400" dirty="0">
                <a:solidFill>
                  <a:srgbClr val="000000"/>
                </a:solidFill>
              </a:rPr>
              <a:t>Vulnerability</a:t>
            </a:r>
            <a:r>
              <a:rPr lang="zh-CN" altLang="en-US" sz="2400" dirty="0">
                <a:solidFill>
                  <a:srgbClr val="000000"/>
                </a:solidFill>
              </a:rPr>
              <a:t>）</a:t>
            </a:r>
            <a:endParaRPr lang="zh-CN" sz="2400" dirty="0">
              <a:solidFill>
                <a:srgbClr val="000000"/>
              </a:solidFill>
            </a:endParaRP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sz="2400" dirty="0" err="1">
                <a:solidFill>
                  <a:srgbClr val="000000"/>
                </a:solidFill>
              </a:rPr>
              <a:t>mmap </a:t>
            </a:r>
            <a:r>
              <a:rPr lang="zh-CN" sz="2400" dirty="0">
                <a:solidFill>
                  <a:srgbClr val="000000"/>
                </a:solidFill>
              </a:rPr>
              <a:t>()进行内存映射</a:t>
            </a: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altLang="en-US" sz="2400" dirty="0">
                <a:solidFill>
                  <a:srgbClr val="000000"/>
                </a:solidFill>
              </a:rPr>
              <a:t>内存</a:t>
            </a:r>
            <a:r>
              <a:rPr lang="zh-CN" sz="2400" dirty="0">
                <a:solidFill>
                  <a:srgbClr val="000000"/>
                </a:solidFill>
              </a:rPr>
              <a:t>共享</a:t>
            </a:r>
            <a:r>
              <a:rPr lang="zh-CN" altLang="en-US" sz="2400" dirty="0">
                <a:solidFill>
                  <a:srgbClr val="000000"/>
                </a:solidFill>
              </a:rPr>
              <a:t>映射</a:t>
            </a:r>
            <a:r>
              <a:rPr lang="zh-CN" sz="2400" dirty="0">
                <a:solidFill>
                  <a:srgbClr val="000000"/>
                </a:solidFill>
              </a:rPr>
              <a:t>，</a:t>
            </a:r>
            <a:r>
              <a:rPr lang="zh-CN" altLang="en-US" sz="2400" dirty="0">
                <a:solidFill>
                  <a:srgbClr val="000000"/>
                </a:solidFill>
              </a:rPr>
              <a:t>内存</a:t>
            </a:r>
            <a:r>
              <a:rPr lang="zh-CN" sz="2400" dirty="0">
                <a:solidFill>
                  <a:srgbClr val="000000"/>
                </a:solidFill>
              </a:rPr>
              <a:t>私有</a:t>
            </a:r>
            <a:r>
              <a:rPr lang="zh-CN" altLang="en-US" sz="2400" dirty="0">
                <a:solidFill>
                  <a:srgbClr val="000000"/>
                </a:solidFill>
              </a:rPr>
              <a:t>映射</a:t>
            </a:r>
            <a:endParaRPr lang="en-GB" sz="2400" dirty="0">
              <a:solidFill>
                <a:srgbClr val="000000"/>
              </a:solidFill>
            </a:endParaRP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sz="2400" dirty="0">
                <a:solidFill>
                  <a:srgbClr val="000000"/>
                </a:solidFill>
              </a:rPr>
              <a:t>映射只读文件</a:t>
            </a: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sz="2400" dirty="0">
                <a:solidFill>
                  <a:srgbClr val="000000"/>
                </a:solidFill>
              </a:rPr>
              <a:t>如何利用漏洞？</a:t>
            </a:r>
            <a:endParaRPr lang="en-GB"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脏牛漏洞</a:t>
            </a:r>
            <a:r>
              <a:rPr lang="en-US" altLang="zh-CN" dirty="0"/>
              <a:t>(Dirty COW(</a:t>
            </a:r>
            <a:r>
              <a:rPr lang="en-US" altLang="zh-CN" dirty="0">
                <a:solidFill>
                  <a:srgbClr val="FF0000"/>
                </a:solidFill>
              </a:rPr>
              <a:t>C</a:t>
            </a:r>
            <a:r>
              <a:rPr lang="en-US" altLang="zh-CN" dirty="0"/>
              <a:t>opy-</a:t>
            </a:r>
            <a:r>
              <a:rPr lang="en-US" altLang="zh-CN" dirty="0">
                <a:solidFill>
                  <a:srgbClr val="FF0000"/>
                </a:solidFill>
              </a:rPr>
              <a:t>O</a:t>
            </a:r>
            <a:r>
              <a:rPr lang="en-US" altLang="zh-CN" dirty="0"/>
              <a:t>n-</a:t>
            </a:r>
            <a:r>
              <a:rPr lang="en-US" altLang="zh-CN" dirty="0">
                <a:solidFill>
                  <a:srgbClr val="FF0000"/>
                </a:solidFill>
              </a:rPr>
              <a:t>W</a:t>
            </a:r>
            <a:r>
              <a:rPr lang="en-US" altLang="zh-CN" dirty="0"/>
              <a:t>rite))</a:t>
            </a:r>
            <a:endParaRPr lang="zh-CN" dirty="0"/>
          </a:p>
        </p:txBody>
      </p:sp>
      <p:sp>
        <p:nvSpPr>
          <p:cNvPr id="66" name="Shape 6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这是一个很有意思的竞态条件漏洞案例。</a:t>
            </a: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该漏洞自 2007 年 9 月起存在于 Linux 内核中，于 2016 年 10 月被发现并遭到攻击。</a:t>
            </a:r>
          </a:p>
          <a:p>
            <a:pPr marL="457200" lvl="0" indent="-342900" rtl="0">
              <a:spcBef>
                <a:spcPts val="0"/>
              </a:spcBef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影响所有基于 Linux 的操作系统，包括 Android。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zh-CN" altLang="en-US" b="1" dirty="0">
                <a:solidFill>
                  <a:srgbClr val="000000"/>
                </a:solidFill>
              </a:rPr>
              <a:t>攻击后果</a:t>
            </a:r>
            <a:r>
              <a:rPr lang="zh-CN" b="1" dirty="0">
                <a:solidFill>
                  <a:srgbClr val="000000"/>
                </a:solidFill>
              </a:rPr>
              <a:t> ：</a:t>
            </a: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修改受保护的文件，例如 /etc/passwd。</a:t>
            </a:r>
          </a:p>
          <a:p>
            <a:pPr marL="457200" lvl="0" indent="-342900">
              <a:spcBef>
                <a:spcPts val="0"/>
              </a:spcBef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利用漏洞获取root权限。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/>
              <a:t>使用 mmap() 进行内存映射</a:t>
            </a:r>
          </a:p>
        </p:txBody>
      </p:sp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0863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b="1" dirty="0">
                <a:solidFill>
                  <a:srgbClr val="000000"/>
                </a:solidFill>
              </a:rPr>
              <a:t>mmap() </a:t>
            </a:r>
            <a:r>
              <a:rPr lang="zh-CN" dirty="0">
                <a:solidFill>
                  <a:srgbClr val="000000"/>
                </a:solidFill>
              </a:rPr>
              <a:t>是一个系统调用，用于将文件或设备映射到内存中。默认映射类型</a:t>
            </a:r>
            <a:r>
              <a:rPr lang="zh-CN" altLang="en-US" dirty="0">
                <a:solidFill>
                  <a:srgbClr val="000000"/>
                </a:solidFill>
              </a:rPr>
              <a:t>是</a:t>
            </a:r>
            <a:r>
              <a:rPr lang="zh-CN" altLang="en-US" dirty="0">
                <a:solidFill>
                  <a:srgbClr val="FF0000"/>
                </a:solidFill>
              </a:rPr>
              <a:t>基于文件的</a:t>
            </a:r>
            <a:r>
              <a:rPr lang="zh-CN" dirty="0">
                <a:solidFill>
                  <a:srgbClr val="FF0000"/>
                </a:solidFill>
              </a:rPr>
              <a:t>映射</a:t>
            </a:r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file-backed mapping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zh-CN" dirty="0">
                <a:solidFill>
                  <a:srgbClr val="000000"/>
                </a:solidFill>
              </a:rPr>
              <a:t>，它将进程虚拟内存的某个区域映射到文件；从映射区域读取数据会</a:t>
            </a:r>
            <a:r>
              <a:rPr lang="zh-CN" altLang="en-US" dirty="0">
                <a:solidFill>
                  <a:srgbClr val="000000"/>
                </a:solidFill>
              </a:rPr>
              <a:t>触发从文件中</a:t>
            </a:r>
            <a:r>
              <a:rPr lang="zh-CN" dirty="0">
                <a:solidFill>
                  <a:srgbClr val="000000"/>
                </a:solidFill>
              </a:rPr>
              <a:t>读取</a:t>
            </a:r>
            <a:r>
              <a:rPr lang="zh-CN" altLang="en-US" dirty="0">
                <a:solidFill>
                  <a:srgbClr val="000000"/>
                </a:solidFill>
              </a:rPr>
              <a:t>数据</a:t>
            </a:r>
            <a:r>
              <a:rPr lang="zh-CN" dirty="0">
                <a:solidFill>
                  <a:srgbClr val="000000"/>
                </a:solidFill>
              </a:rPr>
              <a:t>。</a:t>
            </a:r>
          </a:p>
        </p:txBody>
      </p:sp>
      <p:pic>
        <p:nvPicPr>
          <p:cNvPr id="73" name="Shape 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373525"/>
            <a:ext cx="6429375" cy="21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Shape 74"/>
          <p:cNvSpPr txBox="1"/>
          <p:nvPr/>
        </p:nvSpPr>
        <p:spPr>
          <a:xfrm>
            <a:off x="6810665" y="3146828"/>
            <a:ext cx="2021635" cy="75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sz="1800" dirty="0"/>
              <a:t>第</a:t>
            </a:r>
            <a:r>
              <a:rPr lang="zh-CN" sz="1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①</a:t>
            </a:r>
            <a:r>
              <a:rPr lang="zh-CN" sz="1800" dirty="0"/>
              <a:t>行以</a:t>
            </a:r>
            <a:r>
              <a:rPr lang="zh-CN" sz="1800" dirty="0">
                <a:solidFill>
                  <a:srgbClr val="FF0000"/>
                </a:solidFill>
              </a:rPr>
              <a:t>读写</a:t>
            </a:r>
            <a:r>
              <a:rPr lang="zh-CN" sz="1800" dirty="0"/>
              <a:t>模式打开文件。</a:t>
            </a:r>
          </a:p>
        </p:txBody>
      </p:sp>
      <p:cxnSp>
        <p:nvCxnSpPr>
          <p:cNvPr id="3" name="Straight Arrow Connector 2"/>
          <p:cNvCxnSpPr>
            <a:stCxn id="74" idx="1"/>
          </p:cNvCxnSpPr>
          <p:nvPr/>
        </p:nvCxnSpPr>
        <p:spPr>
          <a:xfrm flipH="1">
            <a:off x="4850969" y="3525428"/>
            <a:ext cx="1959696" cy="62811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>
            <a:spLocks noGrp="1"/>
          </p:cNvSpPr>
          <p:nvPr>
            <p:ph type="title"/>
          </p:nvPr>
        </p:nvSpPr>
        <p:spPr>
          <a:xfrm>
            <a:off x="311700" y="205520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-6985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 dirty="0"/>
              <a:t>使用 mmap() 进行内存映射</a:t>
            </a:r>
          </a:p>
        </p:txBody>
      </p:sp>
      <p:pic>
        <p:nvPicPr>
          <p:cNvPr id="80" name="Shape 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225" y="1033700"/>
            <a:ext cx="6334125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Shape 81"/>
          <p:cNvSpPr txBox="1"/>
          <p:nvPr/>
        </p:nvSpPr>
        <p:spPr>
          <a:xfrm>
            <a:off x="450225" y="1969725"/>
            <a:ext cx="8382000" cy="3173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sz="1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第二</a:t>
            </a:r>
            <a:r>
              <a:rPr lang="zh-CN" sz="1800" dirty="0"/>
              <a:t>行调用</a:t>
            </a:r>
            <a:r>
              <a:rPr lang="zh-CN" sz="1800" dirty="0" err="1"/>
              <a:t>mmap </a:t>
            </a:r>
            <a:r>
              <a:rPr lang="zh-CN" sz="1800" dirty="0"/>
              <a:t>() 来创建映射内存</a:t>
            </a:r>
          </a:p>
          <a:p>
            <a:pPr marL="0" lvl="0" indent="0">
              <a:spcBef>
                <a:spcPts val="0"/>
              </a:spcBef>
              <a:buNone/>
            </a:pPr>
            <a:endParaRPr sz="1800" dirty="0"/>
          </a:p>
          <a:p>
            <a:pPr marL="0" lvl="0" indent="0">
              <a:spcBef>
                <a:spcPts val="0"/>
              </a:spcBef>
              <a:buNone/>
            </a:pPr>
            <a:r>
              <a:rPr lang="zh-CN" sz="1800" u="sng" dirty="0"/>
              <a:t>第</a:t>
            </a:r>
            <a:r>
              <a:rPr lang="zh-CN" altLang="en-US" sz="1800" u="sng" dirty="0"/>
              <a:t> </a:t>
            </a:r>
            <a:r>
              <a:rPr lang="en-US" altLang="zh-CN" sz="1800" u="sng" dirty="0"/>
              <a:t>1</a:t>
            </a:r>
            <a:r>
              <a:rPr lang="zh-CN" altLang="en-US" sz="1800" u="sng" dirty="0"/>
              <a:t> </a:t>
            </a:r>
            <a:r>
              <a:rPr lang="zh-CN" sz="1800" u="sng" dirty="0"/>
              <a:t>个参数</a:t>
            </a:r>
            <a:r>
              <a:rPr lang="zh-CN" sz="1800" dirty="0"/>
              <a:t>：映射内存的</a:t>
            </a:r>
            <a:r>
              <a:rPr lang="zh-CN" sz="1800" dirty="0">
                <a:solidFill>
                  <a:srgbClr val="FF0000"/>
                </a:solidFill>
              </a:rPr>
              <a:t>起始地址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zh-CN" sz="1800" u="sng" dirty="0"/>
              <a:t>第</a:t>
            </a:r>
            <a:r>
              <a:rPr lang="zh-CN" altLang="en-US" sz="1800" u="sng" dirty="0"/>
              <a:t> </a:t>
            </a:r>
            <a:r>
              <a:rPr lang="en-US" altLang="zh-CN" sz="1800" u="sng" dirty="0"/>
              <a:t>2</a:t>
            </a:r>
            <a:r>
              <a:rPr lang="zh-CN" altLang="en-US" sz="1800" u="sng" dirty="0"/>
              <a:t> </a:t>
            </a:r>
            <a:r>
              <a:rPr lang="zh-CN" sz="1800" u="sng" dirty="0"/>
              <a:t>个参数</a:t>
            </a:r>
            <a:r>
              <a:rPr lang="zh-CN" sz="1800" dirty="0"/>
              <a:t>：映射内存的</a:t>
            </a:r>
            <a:r>
              <a:rPr lang="zh-CN" sz="1800" dirty="0">
                <a:solidFill>
                  <a:srgbClr val="FF0000"/>
                </a:solidFill>
              </a:rPr>
              <a:t>大小</a:t>
            </a:r>
          </a:p>
          <a:p>
            <a:pPr lvl="0"/>
            <a:r>
              <a:rPr lang="zh-CN" sz="1800" u="sng" dirty="0"/>
              <a:t>第</a:t>
            </a:r>
            <a:r>
              <a:rPr lang="zh-CN" altLang="en-US" sz="1800" u="sng" dirty="0"/>
              <a:t> </a:t>
            </a:r>
            <a:r>
              <a:rPr lang="en-US" altLang="zh-CN" sz="1800" u="sng" dirty="0"/>
              <a:t>3</a:t>
            </a:r>
            <a:r>
              <a:rPr lang="zh-CN" altLang="en-US" sz="1800" u="sng" dirty="0"/>
              <a:t> </a:t>
            </a:r>
            <a:r>
              <a:rPr lang="zh-CN" sz="1800" u="sng" dirty="0"/>
              <a:t>个参数</a:t>
            </a:r>
            <a:r>
              <a:rPr lang="zh-CN" sz="1800" dirty="0"/>
              <a:t>：内存是否</a:t>
            </a:r>
            <a:r>
              <a:rPr lang="zh-CN" sz="1800" dirty="0">
                <a:solidFill>
                  <a:srgbClr val="FF0000"/>
                </a:solidFill>
              </a:rPr>
              <a:t>可读或可写</a:t>
            </a:r>
            <a:r>
              <a:rPr lang="zh-CN" sz="1800" dirty="0"/>
              <a:t>。应与第一行中的访问类型匹配。</a:t>
            </a:r>
            <a:endParaRPr lang="en-GB" sz="1800" dirty="0"/>
          </a:p>
          <a:p>
            <a:pPr lvl="0"/>
            <a:r>
              <a:rPr lang="zh-CN" sz="1800" u="sng" dirty="0"/>
              <a:t>第 4 个参数</a:t>
            </a:r>
            <a:r>
              <a:rPr lang="zh-CN" sz="1800" dirty="0"/>
              <a:t>：</a:t>
            </a:r>
            <a:r>
              <a:rPr lang="zh-CN" altLang="en-US" sz="1800" dirty="0"/>
              <a:t>内存</a:t>
            </a:r>
            <a:r>
              <a:rPr lang="zh-CN" sz="1800" dirty="0"/>
              <a:t>的更新是否对映射同一区域的其他进程可见，以及更新是否会传递到底层文件。</a:t>
            </a:r>
            <a:r>
              <a:rPr lang="zh-CN" altLang="en-US" sz="1800" dirty="0"/>
              <a:t>用于指定对映射内存的修改，是否会对映射同一段内存的其他进程可见，以及这些修改是否会写回到底层文件中。</a:t>
            </a:r>
            <a:endParaRPr lang="zh-CN" sz="1800" dirty="0"/>
          </a:p>
          <a:p>
            <a:pPr marL="0" lvl="0" indent="0">
              <a:spcBef>
                <a:spcPts val="0"/>
              </a:spcBef>
              <a:buNone/>
            </a:pPr>
            <a:r>
              <a:rPr lang="zh-CN" sz="1800" u="sng" dirty="0"/>
              <a:t>第</a:t>
            </a:r>
            <a:r>
              <a:rPr lang="zh-CN" altLang="en-US" sz="1800" u="sng" dirty="0"/>
              <a:t> </a:t>
            </a:r>
            <a:r>
              <a:rPr lang="en-US" altLang="zh-CN" sz="1800" u="sng" dirty="0"/>
              <a:t>5</a:t>
            </a:r>
            <a:r>
              <a:rPr lang="zh-CN" altLang="en-US" sz="1800" u="sng" dirty="0"/>
              <a:t> </a:t>
            </a:r>
            <a:r>
              <a:rPr lang="zh-CN" sz="1800" u="sng" dirty="0"/>
              <a:t>个参数</a:t>
            </a:r>
            <a:r>
              <a:rPr lang="zh-CN" sz="1800" dirty="0"/>
              <a:t>：需要映射的</a:t>
            </a:r>
            <a:r>
              <a:rPr lang="zh-CN" sz="1800" dirty="0">
                <a:solidFill>
                  <a:srgbClr val="FF0000"/>
                </a:solidFill>
              </a:rPr>
              <a:t>文件</a:t>
            </a:r>
            <a:r>
              <a:rPr lang="zh-CN" altLang="en-US" sz="1800" dirty="0">
                <a:solidFill>
                  <a:srgbClr val="FF0000"/>
                </a:solidFill>
              </a:rPr>
              <a:t>描述符</a:t>
            </a:r>
            <a:endParaRPr lang="zh-CN" sz="1800" dirty="0">
              <a:solidFill>
                <a:srgbClr val="FF0000"/>
              </a:solidFill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zh-CN" sz="1800" u="sng" dirty="0"/>
              <a:t>第 6 个</a:t>
            </a:r>
            <a:r>
              <a:rPr lang="zh-CN" sz="1800" u="sng" dirty="0" err="1"/>
              <a:t>参数</a:t>
            </a:r>
            <a:r>
              <a:rPr lang="zh-CN" sz="1800" dirty="0"/>
              <a:t>：偏移量，指示映射应该从文件中的哪个位置开始。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-6985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/>
              <a:t>使用 mmap() 进行内存映射</a:t>
            </a:r>
          </a:p>
        </p:txBody>
      </p:sp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451616" y="1807885"/>
            <a:ext cx="2848703" cy="1204441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zh-CN" dirty="0">
                <a:solidFill>
                  <a:srgbClr val="000000"/>
                </a:solidFill>
              </a:rPr>
              <a:t>使用</a:t>
            </a:r>
            <a:r>
              <a:rPr lang="zh-CN" dirty="0" err="1">
                <a:solidFill>
                  <a:srgbClr val="000000"/>
                </a:solidFill>
              </a:rPr>
              <a:t>memcpy ()</a:t>
            </a:r>
            <a:r>
              <a:rPr lang="zh-CN" dirty="0">
                <a:solidFill>
                  <a:srgbClr val="000000"/>
                </a:solidFill>
              </a:rPr>
              <a:t>访问文件以进行简单的读取和写入。</a:t>
            </a:r>
            <a:endParaRPr lang="en-GB" dirty="0">
              <a:solidFill>
                <a:srgbClr val="000000"/>
              </a:solidFill>
            </a:endParaRPr>
          </a:p>
        </p:txBody>
      </p:sp>
      <p:pic>
        <p:nvPicPr>
          <p:cNvPr id="88" name="Shape 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66800"/>
            <a:ext cx="5595114" cy="27535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Straight Arrow Connector 2"/>
          <p:cNvCxnSpPr/>
          <p:nvPr/>
        </p:nvCxnSpPr>
        <p:spPr>
          <a:xfrm flipH="1" flipV="1">
            <a:off x="5963207" y="1613424"/>
            <a:ext cx="559530" cy="4726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>
            <a:cxnSpLocks/>
          </p:cNvCxnSpPr>
          <p:nvPr/>
        </p:nvCxnSpPr>
        <p:spPr>
          <a:xfrm flipH="1">
            <a:off x="5953110" y="2289737"/>
            <a:ext cx="548608" cy="24073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/>
              <a:t>MAP_SHARED 和 MAP_PRIVATE</a:t>
            </a:r>
          </a:p>
        </p:txBody>
      </p:sp>
      <p:pic>
        <p:nvPicPr>
          <p:cNvPr id="94" name="Shape 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274" y="1774636"/>
            <a:ext cx="5413226" cy="19747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Shape 95"/>
          <p:cNvSpPr txBox="1"/>
          <p:nvPr/>
        </p:nvSpPr>
        <p:spPr>
          <a:xfrm>
            <a:off x="5899500" y="1075500"/>
            <a:ext cx="3159000" cy="3807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MAP_SHARED </a:t>
            </a:r>
            <a:r>
              <a:rPr lang="zh-CN" sz="1800" b="1" dirty="0"/>
              <a:t>：</a:t>
            </a:r>
            <a:r>
              <a:rPr lang="zh-CN" sz="1800" dirty="0"/>
              <a:t>映射内存的行为就像两个进程之间的共享内存。</a:t>
            </a:r>
          </a:p>
          <a:p>
            <a:pPr marL="0" lvl="0" indent="0">
              <a:spcBef>
                <a:spcPts val="0"/>
              </a:spcBef>
              <a:buNone/>
            </a:pPr>
            <a:endParaRPr sz="1800" dirty="0"/>
          </a:p>
          <a:p>
            <a:pPr marL="0" lvl="0" indent="0">
              <a:spcBef>
                <a:spcPts val="0"/>
              </a:spcBef>
              <a:buNone/>
            </a:pPr>
            <a:r>
              <a:rPr lang="zh-CN" sz="1800" dirty="0"/>
              <a:t>当多个进程将同一个文件映射到内存时，它们可以将该文件映射到不同的虚拟内存地址，但文件内容所在的物理地址是相同的。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-6985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/>
              <a:t>MAP_SHARED 和 MAP_PRIVATE</a:t>
            </a:r>
          </a:p>
        </p:txBody>
      </p:sp>
      <p:pic>
        <p:nvPicPr>
          <p:cNvPr id="101" name="Shape 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70124"/>
            <a:ext cx="5595114" cy="206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Shape 102"/>
          <p:cNvSpPr txBox="1"/>
          <p:nvPr/>
        </p:nvSpPr>
        <p:spPr>
          <a:xfrm>
            <a:off x="5847000" y="1170124"/>
            <a:ext cx="3297000" cy="213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MAP_PRIVATE </a:t>
            </a:r>
            <a:r>
              <a:rPr lang="zh-CN" sz="1800" b="1" dirty="0"/>
              <a:t>：</a:t>
            </a:r>
            <a:r>
              <a:rPr lang="zh-CN" sz="1800" dirty="0"/>
              <a:t>该文件映射到调用进程的私有内存。</a:t>
            </a:r>
          </a:p>
          <a:p>
            <a:pPr marL="0" lvl="0" indent="0">
              <a:spcBef>
                <a:spcPts val="0"/>
              </a:spcBef>
              <a:buNone/>
            </a:pPr>
            <a:endParaRPr sz="1800" dirty="0"/>
          </a:p>
          <a:p>
            <a:pPr marL="457200" lvl="0" indent="-342900" rtl="0">
              <a:spcBef>
                <a:spcPts val="0"/>
              </a:spcBef>
              <a:buSzPts val="1800"/>
              <a:buChar char="●"/>
            </a:pPr>
            <a:r>
              <a:rPr lang="zh-CN" sz="1800" dirty="0"/>
              <a:t>对内存所做的更改对其他进程是不可见的。</a:t>
            </a:r>
          </a:p>
          <a:p>
            <a:pPr marL="0" lvl="0" indent="0" rtl="0">
              <a:spcBef>
                <a:spcPts val="0"/>
              </a:spcBef>
              <a:buNone/>
            </a:pPr>
            <a:endParaRPr sz="1800" dirty="0"/>
          </a:p>
        </p:txBody>
      </p:sp>
      <p:sp>
        <p:nvSpPr>
          <p:cNvPr id="103" name="Shape 103"/>
          <p:cNvSpPr txBox="1"/>
          <p:nvPr/>
        </p:nvSpPr>
        <p:spPr>
          <a:xfrm>
            <a:off x="311700" y="3349300"/>
            <a:ext cx="8520600" cy="1696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CN" sz="1800" dirty="0">
                <a:solidFill>
                  <a:schemeClr val="dk1"/>
                </a:solidFill>
              </a:rPr>
              <a:t>需要将原内存中的内容复制到私有内存中。</a:t>
            </a: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CN" sz="1800" dirty="0">
                <a:solidFill>
                  <a:schemeClr val="dk1"/>
                </a:solidFill>
              </a:rPr>
              <a:t>如果该进程尝试写入内存，操作系统将分配一块新的物理内存，并将内容从</a:t>
            </a:r>
            <a:r>
              <a:rPr lang="zh-CN" sz="1800" dirty="0">
                <a:solidFill>
                  <a:srgbClr val="FF0000"/>
                </a:solidFill>
              </a:rPr>
              <a:t>主副本</a:t>
            </a:r>
            <a:r>
              <a:rPr lang="zh-CN" sz="1800" dirty="0">
                <a:solidFill>
                  <a:schemeClr val="dk1"/>
                </a:solidFill>
              </a:rPr>
              <a:t>复制到新内存。</a:t>
            </a:r>
          </a:p>
          <a:p>
            <a:pPr marL="457200" lvl="0" indent="-342900">
              <a:spcBef>
                <a:spcPts val="0"/>
              </a:spcBef>
              <a:buClr>
                <a:schemeClr val="dk1"/>
              </a:buClr>
              <a:buSzPts val="1800"/>
              <a:buChar char="●"/>
            </a:pPr>
            <a:r>
              <a:rPr lang="zh-CN" sz="1800" dirty="0">
                <a:solidFill>
                  <a:schemeClr val="dk1"/>
                </a:solidFill>
              </a:rPr>
              <a:t>映射后的虚拟内存现在将指向新的物理内存。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写</a:t>
            </a:r>
            <a:r>
              <a:rPr lang="zh-CN" altLang="en-US" dirty="0"/>
              <a:t>时</a:t>
            </a:r>
            <a:r>
              <a:rPr lang="zh-CN" dirty="0"/>
              <a:t>复制</a:t>
            </a:r>
            <a:r>
              <a:rPr lang="zh-CN" altLang="en-US" dirty="0"/>
              <a:t>（</a:t>
            </a:r>
            <a:r>
              <a:rPr lang="en-US" altLang="zh-CN" dirty="0">
                <a:solidFill>
                  <a:srgbClr val="FF0000"/>
                </a:solidFill>
              </a:rPr>
              <a:t>C</a:t>
            </a:r>
            <a:r>
              <a:rPr lang="en-US" altLang="zh-CN" dirty="0"/>
              <a:t>opy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O</a:t>
            </a:r>
            <a:r>
              <a:rPr lang="en-US" altLang="zh-CN" dirty="0"/>
              <a:t>n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W</a:t>
            </a:r>
            <a:r>
              <a:rPr lang="en-US" altLang="zh-CN" dirty="0"/>
              <a:t>rite, </a:t>
            </a:r>
            <a:r>
              <a:rPr lang="en-US" altLang="zh-CN" dirty="0">
                <a:solidFill>
                  <a:srgbClr val="FF0000"/>
                </a:solidFill>
              </a:rPr>
              <a:t>COW</a:t>
            </a:r>
            <a:r>
              <a:rPr lang="zh-CN" altLang="en-US" dirty="0"/>
              <a:t>）</a:t>
            </a:r>
            <a:endParaRPr lang="zh-CN" dirty="0"/>
          </a:p>
        </p:txBody>
      </p:sp>
      <p:sp>
        <p:nvSpPr>
          <p:cNvPr id="109" name="Shape 10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43114" cy="39909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zh-CN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写时复制：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</a:rPr>
              <a:t>当进程尝试修改共享内存时，系统不会直接修改原数据，而是为该进程复制一份独立的数据，并让它只修改自己的那一份。</a:t>
            </a:r>
            <a:endParaRPr lang="zh-CN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zh-CN" dirty="0">
                <a:solidFill>
                  <a:srgbClr val="000000"/>
                </a:solidFill>
              </a:rPr>
              <a:t>使用 fork() 系统调用创建子进程时：</a:t>
            </a:r>
          </a:p>
          <a:p>
            <a:pPr marL="407988" indent="-314325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</a:rPr>
              <a:t>操作系统通过让页表项指向同一块物理内存，使子进程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可以与父进程共享内存。</a:t>
            </a:r>
            <a:endParaRPr lang="zh-CN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07988" indent="-314325">
              <a:spcAft>
                <a:spcPts val="0"/>
              </a:spcAft>
              <a:buClr>
                <a:srgbClr val="000000"/>
              </a:buClr>
            </a:pPr>
            <a:r>
              <a:rPr lang="zh-CN" dirty="0">
                <a:solidFill>
                  <a:srgbClr val="000000"/>
                </a:solidFill>
              </a:rPr>
              <a:t>如果只是读取内存，则不需要内存复制。</a:t>
            </a:r>
          </a:p>
          <a:p>
            <a:pPr marL="407988" indent="-314325">
              <a:buClr>
                <a:srgbClr val="000000"/>
              </a:buClr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当发生写操作时，操作系统触发写时复制（COW），为写入方分配新的物理页，并更新页表，使其指向私有副本。</a:t>
            </a:r>
            <a:endParaRPr lang="zh-CN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丢弃复制的内存</a:t>
            </a:r>
          </a:p>
        </p:txBody>
      </p:sp>
      <p:pic>
        <p:nvPicPr>
          <p:cNvPr id="115" name="Shape 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725" y="1328800"/>
            <a:ext cx="7318441" cy="321324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Shape 116"/>
          <p:cNvSpPr txBox="1"/>
          <p:nvPr/>
        </p:nvSpPr>
        <p:spPr>
          <a:xfrm>
            <a:off x="502450" y="1846725"/>
            <a:ext cx="8329800" cy="3147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madvise </a:t>
            </a:r>
            <a:r>
              <a:rPr 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zh-CN" sz="1800" b="1" dirty="0"/>
              <a:t>：</a:t>
            </a:r>
            <a:r>
              <a:rPr lang="zh-CN" sz="1800" dirty="0"/>
              <a:t>向内核提供有关从</a:t>
            </a:r>
            <a:r>
              <a:rPr lang="zh-CN" sz="18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地址</a:t>
            </a:r>
            <a:r>
              <a:rPr lang="zh-CN" sz="1800" dirty="0"/>
              <a:t>到</a:t>
            </a:r>
            <a:r>
              <a:rPr lang="zh-CN" sz="18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地址</a:t>
            </a:r>
            <a:r>
              <a:rPr lang="zh-CN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+长度</a:t>
            </a:r>
            <a:r>
              <a:rPr 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的内存使用情况的建议或指示</a:t>
            </a:r>
          </a:p>
          <a:p>
            <a:pPr marL="0" lvl="0" indent="457200">
              <a:spcBef>
                <a:spcPts val="0"/>
              </a:spcBef>
              <a:buNone/>
            </a:pPr>
            <a:endParaRPr lang="en-GB" sz="1800" dirty="0"/>
          </a:p>
          <a:p>
            <a:pPr lvl="0">
              <a:spcBef>
                <a:spcPts val="0"/>
              </a:spcBef>
              <a:buNone/>
            </a:pPr>
            <a:r>
              <a:rPr lang="zh-CN" sz="1800" dirty="0"/>
              <a:t>建议（第三个参数）： </a:t>
            </a:r>
            <a:r>
              <a:rPr lang="zh-CN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MADV_DONOTNEED</a:t>
            </a:r>
          </a:p>
          <a:p>
            <a:pPr marL="0" lvl="0" indent="0">
              <a:spcBef>
                <a:spcPts val="0"/>
              </a:spcBef>
              <a:buNone/>
            </a:pPr>
            <a:endParaRPr sz="1800" dirty="0"/>
          </a:p>
          <a:p>
            <a:pPr marL="457200" lvl="0" indent="-342900">
              <a:spcBef>
                <a:spcPts val="0"/>
              </a:spcBef>
              <a:buSzPts val="1800"/>
              <a:buChar char="●"/>
            </a:pPr>
            <a:r>
              <a:rPr lang="zh-CN" sz="1800" dirty="0"/>
              <a:t>我们告知内核，我们不再需要已声明的地址部分。内核将释放已声明地址的资源，进程的页表将指向原来的物理内存。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映射只读文件：首先创建文件</a:t>
            </a:r>
            <a:endParaRPr lang="en-GB" dirty="0"/>
          </a:p>
        </p:txBody>
      </p:sp>
      <p:sp>
        <p:nvSpPr>
          <p:cNvPr id="122" name="Shape 1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4085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u="sng" dirty="0">
                <a:solidFill>
                  <a:srgbClr val="000000"/>
                </a:solidFill>
              </a:rPr>
              <a:t>实验 ：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zh-CN" dirty="0">
                <a:solidFill>
                  <a:srgbClr val="000000"/>
                </a:solidFill>
              </a:rPr>
              <a:t>在根目录下创建一个名为 zzz 的文件。将</a:t>
            </a:r>
            <a:r>
              <a:rPr lang="en-US" altLang="zh-CN" dirty="0">
                <a:solidFill>
                  <a:srgbClr val="000000"/>
                </a:solidFill>
              </a:rPr>
              <a:t>owner</a:t>
            </a:r>
            <a:r>
              <a:rPr lang="zh-CN" dirty="0">
                <a:solidFill>
                  <a:srgbClr val="000000"/>
                </a:solidFill>
              </a:rPr>
              <a:t>/</a:t>
            </a:r>
            <a:r>
              <a:rPr lang="en-US" altLang="zh-CN" dirty="0">
                <a:solidFill>
                  <a:srgbClr val="000000"/>
                </a:solidFill>
              </a:rPr>
              <a:t>group</a:t>
            </a:r>
            <a:r>
              <a:rPr lang="zh-CN" dirty="0">
                <a:solidFill>
                  <a:srgbClr val="000000"/>
                </a:solidFill>
              </a:rPr>
              <a:t>设置为 root，并允许其他用户</a:t>
            </a:r>
            <a:r>
              <a:rPr lang="zh-CN" dirty="0">
                <a:solidFill>
                  <a:srgbClr val="FF0000"/>
                </a:solidFill>
              </a:rPr>
              <a:t>读取</a:t>
            </a:r>
            <a:r>
              <a:rPr lang="zh-CN" dirty="0">
                <a:solidFill>
                  <a:srgbClr val="000000"/>
                </a:solidFill>
              </a:rPr>
              <a:t>该文件。</a:t>
            </a:r>
          </a:p>
          <a:p>
            <a:pPr marL="0" lvl="0" indent="0">
              <a:spcBef>
                <a:spcPts val="0"/>
              </a:spcBef>
              <a:buNone/>
            </a:pPr>
            <a:endParaRPr dirty="0"/>
          </a:p>
        </p:txBody>
      </p:sp>
      <p:pic>
        <p:nvPicPr>
          <p:cNvPr id="123" name="Shape 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450" y="2560975"/>
            <a:ext cx="5895975" cy="9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Shape 124"/>
          <p:cNvSpPr txBox="1"/>
          <p:nvPr/>
        </p:nvSpPr>
        <p:spPr>
          <a:xfrm>
            <a:off x="366450" y="3660225"/>
            <a:ext cx="8466000" cy="1204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sz="1800" dirty="0"/>
              <a:t>如果我们有一个</a:t>
            </a:r>
            <a:r>
              <a:rPr lang="en-US" altLang="zh-CN" sz="1800" dirty="0">
                <a:solidFill>
                  <a:srgbClr val="FF0000"/>
                </a:solidFill>
              </a:rPr>
              <a:t>seed</a:t>
            </a:r>
            <a:r>
              <a:rPr lang="zh-CN" sz="1800" dirty="0"/>
              <a:t>账户：</a:t>
            </a: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1800" dirty="0"/>
              <a:t>我们只能使用</a:t>
            </a:r>
            <a:r>
              <a:rPr lang="zh-CN" sz="1800" dirty="0" err="1"/>
              <a:t>只读</a:t>
            </a:r>
            <a:r>
              <a:rPr lang="zh-CN" sz="1800" dirty="0"/>
              <a:t>标志（O_RDONLY）打开此文件。</a:t>
            </a:r>
          </a:p>
          <a:p>
            <a:pPr marL="457200" lvl="0" indent="-342900">
              <a:spcBef>
                <a:spcPts val="0"/>
              </a:spcBef>
              <a:buSzPts val="1800"/>
              <a:buChar char="●"/>
            </a:pPr>
            <a:r>
              <a:rPr lang="zh-CN" sz="1800" dirty="0"/>
              <a:t>如果我们将此文件映射到内存，则需要使用 PROT_READ选项，以便将内存设置为只读。</a:t>
            </a:r>
            <a:endParaRPr lang="en-GB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映射只读文件</a:t>
            </a:r>
            <a:endParaRPr lang="en-GB" dirty="0"/>
          </a:p>
        </p:txBody>
      </p:sp>
      <p:sp>
        <p:nvSpPr>
          <p:cNvPr id="130" name="Shape 1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57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通常情况下，我们不能写入只读存储器。</a:t>
            </a:r>
          </a:p>
          <a:p>
            <a:pPr marL="457200" lvl="0" indent="-342900" rtl="0"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但是，如果文件是使用 </a:t>
            </a:r>
            <a:r>
              <a:rPr lang="zh-CN" dirty="0">
                <a:solidFill>
                  <a:srgbClr val="FF0000"/>
                </a:solidFill>
              </a:rPr>
              <a:t>MAP_PRIVATE </a:t>
            </a:r>
            <a:r>
              <a:rPr lang="zh-CN" dirty="0">
                <a:solidFill>
                  <a:srgbClr val="000000"/>
                </a:solidFill>
              </a:rPr>
              <a:t>映射的，操作系统会做出例外，允许我们写入映射的内存，但我们必须使用不同的方法，而不是直接使用内存操作，例如</a:t>
            </a:r>
            <a:r>
              <a:rPr lang="zh-CN" dirty="0" err="1">
                <a:solidFill>
                  <a:srgbClr val="000000"/>
                </a:solidFill>
              </a:rPr>
              <a:t>memcpy </a:t>
            </a:r>
            <a:r>
              <a:rPr lang="zh-CN" dirty="0">
                <a:solidFill>
                  <a:srgbClr val="000000"/>
                </a:solidFill>
              </a:rPr>
              <a:t>()。</a:t>
            </a:r>
          </a:p>
          <a:p>
            <a:pPr marL="457200" lvl="0" indent="-342900" rtl="0"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write () 系统调用 就是这样一条路线。</a:t>
            </a:r>
            <a:endParaRPr lang="en-GB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None/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 txBox="1">
            <a:spLocks noGrp="1"/>
          </p:cNvSpPr>
          <p:nvPr>
            <p:ph type="title"/>
          </p:nvPr>
        </p:nvSpPr>
        <p:spPr>
          <a:xfrm>
            <a:off x="233719" y="98162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-6985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 dirty="0"/>
              <a:t>映射只读文件：代码</a:t>
            </a:r>
            <a:endParaRPr lang="en-GB" dirty="0"/>
          </a:p>
        </p:txBody>
      </p:sp>
      <p:sp>
        <p:nvSpPr>
          <p:cNvPr id="138" name="Shape 138"/>
          <p:cNvSpPr txBox="1"/>
          <p:nvPr/>
        </p:nvSpPr>
        <p:spPr>
          <a:xfrm>
            <a:off x="5887413" y="991081"/>
            <a:ext cx="3140973" cy="279575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sz="1800" u="sng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第一</a:t>
            </a:r>
            <a:r>
              <a:rPr lang="zh-CN" sz="1800" u="sng" dirty="0"/>
              <a:t>行：</a:t>
            </a:r>
            <a:r>
              <a:rPr lang="zh-CN" sz="1800" dirty="0"/>
              <a:t> 将 /zzz映射到只读内存。我们</a:t>
            </a:r>
            <a:r>
              <a:rPr lang="zh-CN" sz="1800" dirty="0">
                <a:solidFill>
                  <a:srgbClr val="FF0000"/>
                </a:solidFill>
              </a:rPr>
              <a:t>不能直接将其写入</a:t>
            </a:r>
            <a:r>
              <a:rPr lang="zh-CN" sz="1800" dirty="0"/>
              <a:t>内存，但可以使用/proc文件系统来实现。</a:t>
            </a:r>
            <a:endParaRPr lang="en-GB" sz="1800" dirty="0"/>
          </a:p>
          <a:p>
            <a:pPr marL="0" lvl="0" indent="0">
              <a:spcBef>
                <a:spcPts val="0"/>
              </a:spcBef>
              <a:buNone/>
            </a:pPr>
            <a:endParaRPr sz="1800" dirty="0"/>
          </a:p>
          <a:p>
            <a:pPr marL="0" lvl="0" indent="0">
              <a:spcBef>
                <a:spcPts val="0"/>
              </a:spcBef>
              <a:buNone/>
            </a:pPr>
            <a:r>
              <a:rPr lang="zh-CN" sz="1800" u="sng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第二</a:t>
            </a:r>
            <a:r>
              <a:rPr lang="zh-CN" sz="1800" u="sng" dirty="0"/>
              <a:t>行：</a:t>
            </a:r>
            <a:r>
              <a:rPr lang="zh-CN" sz="1800" dirty="0"/>
              <a:t> 使用/</a:t>
            </a:r>
            <a:r>
              <a:rPr lang="en-US" altLang="zh-CN" sz="1800" dirty="0"/>
              <a:t>proc</a:t>
            </a:r>
            <a:r>
              <a:rPr lang="zh-CN" sz="1800" dirty="0"/>
              <a:t> 在文件系统中，进程可以使用 read()、write() 和lseek () 函数访问其内存中的数据。</a:t>
            </a:r>
          </a:p>
          <a:p>
            <a:pPr marL="0" lvl="0" indent="0">
              <a:spcBef>
                <a:spcPts val="0"/>
              </a:spcBef>
              <a:buNone/>
            </a:pPr>
            <a:endParaRPr sz="1800" dirty="0"/>
          </a:p>
          <a:p>
            <a:pPr marL="0" lvl="0" indent="0">
              <a:spcBef>
                <a:spcPts val="0"/>
              </a:spcBef>
              <a:buNone/>
            </a:pPr>
            <a:endParaRPr sz="1800" dirty="0"/>
          </a:p>
          <a:p>
            <a:pPr marL="0" lvl="0" indent="0">
              <a:spcBef>
                <a:spcPts val="0"/>
              </a:spcBef>
              <a:buNone/>
            </a:pPr>
            <a:endParaRPr sz="1800" dirty="0"/>
          </a:p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 </a:t>
            </a:r>
          </a:p>
        </p:txBody>
      </p:sp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848037"/>
            <a:ext cx="5890112" cy="31458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2489" y="4281726"/>
            <a:ext cx="85790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1800" u="sng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第三</a:t>
            </a:r>
            <a:r>
              <a:rPr lang="zh-CN" sz="1800" u="sng" dirty="0"/>
              <a:t>行： </a:t>
            </a:r>
            <a:r>
              <a:rPr lang="zh-CN" sz="1800" dirty="0"/>
              <a:t>lseek () 系统调用将文件指针移动到映射内存起始位置的第5个字节。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 txBox="1">
            <a:spLocks noGrp="1"/>
          </p:cNvSpPr>
          <p:nvPr>
            <p:ph type="title"/>
          </p:nvPr>
        </p:nvSpPr>
        <p:spPr>
          <a:xfrm>
            <a:off x="311700" y="171756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-6985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 dirty="0"/>
              <a:t>映射只读文件：代码</a:t>
            </a:r>
            <a:endParaRPr lang="en-GB" dirty="0"/>
          </a:p>
        </p:txBody>
      </p:sp>
      <p:sp>
        <p:nvSpPr>
          <p:cNvPr id="145" name="Shape 145"/>
          <p:cNvSpPr txBox="1">
            <a:spLocks noGrp="1"/>
          </p:cNvSpPr>
          <p:nvPr>
            <p:ph type="body" idx="1"/>
          </p:nvPr>
        </p:nvSpPr>
        <p:spPr>
          <a:xfrm>
            <a:off x="311700" y="3326476"/>
            <a:ext cx="8520600" cy="20403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u="sng" dirty="0">
                <a:solidFill>
                  <a:schemeClr val="dk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第四</a:t>
            </a:r>
            <a:r>
              <a:rPr lang="zh-CN" u="sng" dirty="0">
                <a:solidFill>
                  <a:schemeClr val="dk1"/>
                </a:solidFill>
              </a:rPr>
              <a:t>行：</a:t>
            </a:r>
            <a:r>
              <a:rPr lang="zh-CN" dirty="0">
                <a:solidFill>
                  <a:schemeClr val="dk1"/>
                </a:solidFill>
              </a:rPr>
              <a:t> write () 系统调用将字符串写入内存。它会触发写时复制（ MAP_PRIVATE），也就是说，只能在映射内存的私有副本上进行写入操作。</a:t>
            </a: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-69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u="sng" dirty="0">
                <a:solidFill>
                  <a:schemeClr val="dk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第五</a:t>
            </a:r>
            <a:r>
              <a:rPr lang="zh-CN" u="sng" dirty="0">
                <a:solidFill>
                  <a:schemeClr val="dk1"/>
                </a:solidFill>
              </a:rPr>
              <a:t>行：</a:t>
            </a:r>
            <a:r>
              <a:rPr lang="zh-CN" dirty="0">
                <a:solidFill>
                  <a:schemeClr val="dk1"/>
                </a:solidFill>
              </a:rPr>
              <a:t> 告知内核不再需要私有副本。内核会将页表指向原始映射内存。因此，对私有文件所做的更改将被丢弃。</a:t>
            </a:r>
          </a:p>
        </p:txBody>
      </p:sp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699" y="796874"/>
            <a:ext cx="6806343" cy="252960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-6985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 dirty="0"/>
              <a:t>映射只读文件：结果</a:t>
            </a:r>
            <a:endParaRPr lang="en-GB" dirty="0"/>
          </a:p>
        </p:txBody>
      </p:sp>
      <p:pic>
        <p:nvPicPr>
          <p:cNvPr id="151" name="Shape 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93225"/>
            <a:ext cx="6099610" cy="153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Shape 152"/>
          <p:cNvSpPr txBox="1"/>
          <p:nvPr/>
        </p:nvSpPr>
        <p:spPr>
          <a:xfrm>
            <a:off x="346750" y="2723925"/>
            <a:ext cx="8298900" cy="1378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sz="1800" dirty="0"/>
              <a:t>所见，内存已被修改，内容也发生了变化。但这种变化仅限于映射内存的副本，并未改变底层文件本身。</a:t>
            </a:r>
          </a:p>
          <a:p>
            <a:pPr marL="0" lvl="0" indent="0">
              <a:spcBef>
                <a:spcPts val="0"/>
              </a:spcBef>
              <a:buNone/>
            </a:pPr>
            <a:endParaRPr dirty="0"/>
          </a:p>
          <a:p>
            <a:pPr marL="0" lvl="0" indent="0">
              <a:spcBef>
                <a:spcPts val="0"/>
              </a:spcBef>
              <a:buNone/>
            </a:pP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-6985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 dirty="0"/>
              <a:t>Dirty-COW漏洞</a:t>
            </a:r>
            <a:endParaRPr lang="en-GB" dirty="0"/>
          </a:p>
        </p:txBody>
      </p:sp>
      <p:sp>
        <p:nvSpPr>
          <p:cNvPr id="158" name="Shape 15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613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>
                <a:solidFill>
                  <a:srgbClr val="000000"/>
                </a:solidFill>
              </a:rPr>
              <a:t>对于写时复制技术，需要执行三个重要步骤：</a:t>
            </a:r>
            <a:endParaRPr lang="en-GB" dirty="0">
              <a:solidFill>
                <a:srgbClr val="000000"/>
              </a:solidFill>
            </a:endParaRP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lphaUcParenBoth"/>
            </a:pPr>
            <a:r>
              <a:rPr lang="zh-CN" dirty="0">
                <a:solidFill>
                  <a:srgbClr val="000000"/>
                </a:solidFill>
              </a:rPr>
              <a:t>复制映射内存</a:t>
            </a: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lphaUcParenBoth"/>
            </a:pPr>
            <a:r>
              <a:rPr lang="zh-CN" dirty="0">
                <a:solidFill>
                  <a:srgbClr val="000000"/>
                </a:solidFill>
              </a:rPr>
              <a:t>更新页表，使虚拟内存指向新创建的物理内存。</a:t>
            </a:r>
          </a:p>
          <a:p>
            <a:pPr marL="457200" lvl="0" indent="-342900" rtl="0">
              <a:spcBef>
                <a:spcPts val="0"/>
              </a:spcBef>
              <a:buClr>
                <a:srgbClr val="000000"/>
              </a:buClr>
              <a:buSzPts val="1800"/>
              <a:buAutoNum type="alphaUcParenBoth"/>
            </a:pPr>
            <a:r>
              <a:rPr lang="zh-CN" dirty="0">
                <a:solidFill>
                  <a:srgbClr val="000000"/>
                </a:solidFill>
              </a:rPr>
              <a:t>写入内存。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zh-CN" dirty="0">
                <a:solidFill>
                  <a:srgbClr val="000000"/>
                </a:solidFill>
              </a:rPr>
              <a:t>上述步骤本质上不是原子性的：它们可能会被其他线程中断，从而产生潜在的竞争条件，导致 Dirty Cow 漏洞。</a:t>
            </a:r>
          </a:p>
          <a:p>
            <a:pPr marL="0" lvl="0" indent="0" rtl="0">
              <a:spcBef>
                <a:spcPts val="0"/>
              </a:spcBef>
              <a:buNone/>
            </a:pPr>
            <a:endParaRPr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None/>
            </a:pPr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US" altLang="zh-CN" dirty="0"/>
              <a:t>Dirty</a:t>
            </a:r>
            <a:r>
              <a:rPr lang="zh-CN" altLang="en-US" dirty="0"/>
              <a:t> </a:t>
            </a:r>
            <a:r>
              <a:rPr lang="en-US" altLang="zh-CN" dirty="0"/>
              <a:t>COW</a:t>
            </a:r>
            <a:r>
              <a:rPr lang="zh-CN" dirty="0"/>
              <a:t>漏洞</a:t>
            </a:r>
          </a:p>
        </p:txBody>
      </p:sp>
      <p:pic>
        <p:nvPicPr>
          <p:cNvPr id="164" name="Shape 1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593" y="1291406"/>
            <a:ext cx="9049407" cy="337004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Shape 165"/>
          <p:cNvSpPr txBox="1"/>
          <p:nvPr/>
        </p:nvSpPr>
        <p:spPr>
          <a:xfrm>
            <a:off x="1081625" y="3609275"/>
            <a:ext cx="6627900" cy="773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166" name="Shape 166"/>
          <p:cNvSpPr txBox="1"/>
          <p:nvPr/>
        </p:nvSpPr>
        <p:spPr>
          <a:xfrm>
            <a:off x="365850" y="3304875"/>
            <a:ext cx="8412300" cy="183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 lang="en-GB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US" altLang="zh-CN" dirty="0"/>
              <a:t>Dirty COW</a:t>
            </a:r>
            <a:r>
              <a:rPr lang="zh-CN" dirty="0"/>
              <a:t>漏洞</a:t>
            </a:r>
          </a:p>
        </p:txBody>
      </p:sp>
      <p:sp>
        <p:nvSpPr>
          <p:cNvPr id="172" name="Shape 17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061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>
                <a:solidFill>
                  <a:schemeClr val="dk1"/>
                </a:solidFill>
              </a:rPr>
              <a:t>如果在步骤 B 和 C 之间执行了</a:t>
            </a:r>
            <a:r>
              <a:rPr lang="zh-CN" dirty="0" err="1">
                <a:solidFill>
                  <a:schemeClr val="dk1"/>
                </a:solidFill>
              </a:rPr>
              <a:t>madvise ()：</a:t>
            </a: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CN" dirty="0">
                <a:solidFill>
                  <a:schemeClr val="dk1"/>
                </a:solidFill>
              </a:rPr>
              <a:t>步骤 B 将虚拟内存指向 2。</a:t>
            </a: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CN" dirty="0" err="1">
                <a:solidFill>
                  <a:schemeClr val="dk1"/>
                </a:solidFill>
              </a:rPr>
              <a:t>madvise </a:t>
            </a:r>
            <a:r>
              <a:rPr lang="zh-CN" dirty="0">
                <a:solidFill>
                  <a:schemeClr val="dk1"/>
                </a:solidFill>
              </a:rPr>
              <a:t>() 会将其改回 1（否定步骤 B）。</a:t>
            </a: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CN" dirty="0">
                <a:solidFill>
                  <a:schemeClr val="dk1"/>
                </a:solidFill>
              </a:rPr>
              <a:t>步骤 C 将修改标记为 1 的物理内存，而不是私有副本。</a:t>
            </a:r>
          </a:p>
          <a:p>
            <a:pPr marL="457200" lvl="0" indent="-342900" rtl="0">
              <a:spcBef>
                <a:spcPts val="0"/>
              </a:spcBef>
              <a:buClr>
                <a:schemeClr val="dk1"/>
              </a:buClr>
              <a:buSzPts val="1800"/>
              <a:buChar char="●"/>
            </a:pPr>
            <a:r>
              <a:rPr lang="zh-CN" dirty="0">
                <a:solidFill>
                  <a:schemeClr val="dk1"/>
                </a:solidFill>
              </a:rPr>
              <a:t>内存中标记为 1 的更改将传递到底层文件，导致只读文件被修改。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zh-CN" dirty="0">
                <a:solidFill>
                  <a:schemeClr val="dk1"/>
                </a:solidFill>
              </a:rPr>
              <a:t>当 write() 系统调用开始时，它会检查映射内存的保护机制。如果发现是写时复制 (COW) 内存，则会直接触发 A、B、C 操作，而不会进行二次检查。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/>
              <a:t>利用 Dirty COW 漏洞</a:t>
            </a:r>
          </a:p>
        </p:txBody>
      </p:sp>
      <p:sp>
        <p:nvSpPr>
          <p:cNvPr id="178" name="Shape 17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777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u="sng" dirty="0">
                <a:solidFill>
                  <a:srgbClr val="000000"/>
                </a:solidFill>
              </a:rPr>
              <a:t>基本思路：</a:t>
            </a:r>
            <a:r>
              <a:rPr lang="zh-CN" dirty="0">
                <a:solidFill>
                  <a:srgbClr val="000000"/>
                </a:solidFill>
              </a:rPr>
              <a:t> 需要运行两个线程</a:t>
            </a: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线程 1：使用 write()函数写入</a:t>
            </a:r>
            <a:endParaRPr lang="en-GB" dirty="0">
              <a:solidFill>
                <a:srgbClr val="000000"/>
              </a:solidFill>
            </a:endParaRPr>
          </a:p>
          <a:p>
            <a:pPr marL="457200" lvl="0" indent="-342900">
              <a:spcBef>
                <a:spcPts val="0"/>
              </a:spcBef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线程 2：丢弃映射内存的私有副本</a:t>
            </a:r>
            <a:endParaRPr lang="en-GB" dirty="0">
              <a:solidFill>
                <a:srgbClr val="000000"/>
              </a:solidFill>
            </a:endParaRPr>
          </a:p>
          <a:p>
            <a:pPr marL="114300" lvl="0">
              <a:spcBef>
                <a:spcPts val="0"/>
              </a:spcBef>
              <a:buClr>
                <a:srgbClr val="000000"/>
              </a:buClr>
              <a:buSzPts val="1800"/>
              <a:buNone/>
            </a:pPr>
            <a:r>
              <a:rPr lang="zh-CN" dirty="0">
                <a:solidFill>
                  <a:srgbClr val="000000"/>
                </a:solidFill>
              </a:rPr>
              <a:t>我们需要让这些线程相互竞争，以便它们能够影响输出结果。</a:t>
            </a:r>
            <a:endParaRPr lang="en-GB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-6985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/>
              <a:t>利用 Dirty COW 漏洞</a:t>
            </a:r>
          </a:p>
        </p:txBody>
      </p:sp>
      <p:sp>
        <p:nvSpPr>
          <p:cNvPr id="184" name="Shape 184"/>
          <p:cNvSpPr txBox="1">
            <a:spLocks noGrp="1"/>
          </p:cNvSpPr>
          <p:nvPr>
            <p:ph type="body" idx="1"/>
          </p:nvPr>
        </p:nvSpPr>
        <p:spPr>
          <a:xfrm>
            <a:off x="192430" y="1129045"/>
            <a:ext cx="8196196" cy="79871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114300" lvl="0">
              <a:spcBef>
                <a:spcPts val="0"/>
              </a:spcBef>
              <a:buClr>
                <a:srgbClr val="000000"/>
              </a:buClr>
              <a:buSzPts val="1800"/>
              <a:buNone/>
            </a:pPr>
            <a:r>
              <a:rPr lang="zh-CN" u="sng" dirty="0">
                <a:solidFill>
                  <a:srgbClr val="000000"/>
                </a:solidFill>
              </a:rPr>
              <a:t>选择 /etc/ </a:t>
            </a:r>
            <a:r>
              <a:rPr lang="zh-CN" u="sng" dirty="0" err="1">
                <a:solidFill>
                  <a:srgbClr val="000000"/>
                </a:solidFill>
              </a:rPr>
              <a:t>passwd</a:t>
            </a:r>
            <a:r>
              <a:rPr lang="zh-CN" u="sng" dirty="0">
                <a:solidFill>
                  <a:srgbClr val="000000"/>
                </a:solidFill>
              </a:rPr>
              <a:t>作为目标文件：</a:t>
            </a:r>
            <a:r>
              <a:rPr lang="zh-CN" dirty="0">
                <a:solidFill>
                  <a:srgbClr val="000000"/>
                </a:solidFill>
              </a:rPr>
              <a:t> 该文件为只读文件，因此非root用户无法修改它。</a:t>
            </a:r>
          </a:p>
          <a:p>
            <a:pPr marL="0" lvl="0" indent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86" name="Shape 186"/>
          <p:cNvSpPr txBox="1"/>
          <p:nvPr/>
        </p:nvSpPr>
        <p:spPr>
          <a:xfrm>
            <a:off x="381000" y="3318684"/>
            <a:ext cx="8382000" cy="910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sz="1800" dirty="0"/>
              <a:t>第三个字段表示用户的用户 ID （对于</a:t>
            </a:r>
            <a:r>
              <a:rPr lang="en-US" altLang="zh-CN" sz="1800" dirty="0"/>
              <a:t>r</a:t>
            </a:r>
            <a:r>
              <a:rPr lang="zh-CN" sz="1800" dirty="0"/>
              <a:t>oot 用户，该值为0）。如果我们能将我们自己记录（用户testcow ）的第三个字段更改为 0，我们就能将自己变成 root 用户。</a:t>
            </a:r>
            <a:endParaRPr lang="en-GB" sz="1800" dirty="0"/>
          </a:p>
          <a:p>
            <a:pPr marL="0" lvl="0" indent="0">
              <a:spcBef>
                <a:spcPts val="0"/>
              </a:spcBef>
              <a:buNone/>
            </a:pPr>
            <a:endParaRPr dirty="0"/>
          </a:p>
          <a:p>
            <a:pPr marL="0" lvl="0" indent="0">
              <a:spcBef>
                <a:spcPts val="0"/>
              </a:spcBef>
              <a:buNone/>
            </a:pPr>
            <a:endParaRPr dirty="0"/>
          </a:p>
        </p:txBody>
      </p:sp>
      <p:pic>
        <p:nvPicPr>
          <p:cNvPr id="188" name="Shape 1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024725"/>
            <a:ext cx="7318810" cy="54403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2484783" y="2831620"/>
            <a:ext cx="5455340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lang="zh-CN" sz="1800" dirty="0"/>
              <a:t>利用脏写复制漏洞将其更改为 0000</a:t>
            </a:r>
            <a:endParaRPr lang="en-US" sz="1800" dirty="0"/>
          </a:p>
        </p:txBody>
      </p:sp>
      <p:cxnSp>
        <p:nvCxnSpPr>
          <p:cNvPr id="4" name="Straight Arrow Connector 3"/>
          <p:cNvCxnSpPr/>
          <p:nvPr/>
        </p:nvCxnSpPr>
        <p:spPr>
          <a:xfrm flipH="1" flipV="1">
            <a:off x="1759226" y="2671705"/>
            <a:ext cx="675861" cy="3771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431235" y="2574741"/>
            <a:ext cx="327991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-6985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 dirty="0"/>
              <a:t>攻击：</a:t>
            </a:r>
            <a:r>
              <a:rPr lang="en-US" altLang="zh-CN" dirty="0"/>
              <a:t>main</a:t>
            </a:r>
            <a:r>
              <a:rPr lang="zh-CN" altLang="en-US" dirty="0"/>
              <a:t> 线程</a:t>
            </a:r>
            <a:endParaRPr lang="en-GB" dirty="0"/>
          </a:p>
        </p:txBody>
      </p:sp>
      <p:pic>
        <p:nvPicPr>
          <p:cNvPr id="195" name="Shape 1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20151"/>
            <a:ext cx="4845050" cy="407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Shape 196"/>
          <p:cNvSpPr txBox="1"/>
          <p:nvPr/>
        </p:nvSpPr>
        <p:spPr>
          <a:xfrm>
            <a:off x="5490875" y="1004800"/>
            <a:ext cx="3585900" cy="4078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zh-CN" sz="1800" u="sng" dirty="0"/>
              <a:t>设置内存映射和线程</a:t>
            </a:r>
          </a:p>
          <a:p>
            <a:pPr marL="0" lvl="0" indent="0" rtl="0">
              <a:spcBef>
                <a:spcPts val="0"/>
              </a:spcBef>
              <a:buNone/>
            </a:pPr>
            <a:endParaRPr sz="1800" dirty="0"/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1800" dirty="0"/>
              <a:t>以只读模式打开 /etc/ </a:t>
            </a:r>
            <a:r>
              <a:rPr lang="zh-CN" sz="1800" dirty="0" err="1"/>
              <a:t>passwd文件</a:t>
            </a: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1800" dirty="0"/>
              <a:t>使用 MAP_PRIVATE 映射内存</a:t>
            </a: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1800" dirty="0"/>
              <a:t>找到目标文件中的位置。</a:t>
            </a: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1800" dirty="0"/>
              <a:t>创建一个关于</a:t>
            </a:r>
            <a:r>
              <a:rPr lang="zh-CN" sz="1800" dirty="0" err="1"/>
              <a:t>madvise </a:t>
            </a:r>
            <a:r>
              <a:rPr lang="zh-CN" sz="1800" dirty="0"/>
              <a:t>()的主题帖</a:t>
            </a:r>
          </a:p>
          <a:p>
            <a:pPr marL="457200" lvl="0" indent="-342900" rtl="0">
              <a:spcBef>
                <a:spcPts val="0"/>
              </a:spcBef>
              <a:buSzPts val="1800"/>
              <a:buChar char="●"/>
            </a:pPr>
            <a:r>
              <a:rPr lang="zh-CN" sz="1800" dirty="0"/>
              <a:t>为 write() 创建一个线程</a:t>
            </a:r>
          </a:p>
          <a:p>
            <a:pPr marL="0" lvl="0" indent="0" rtl="0">
              <a:spcBef>
                <a:spcPts val="0"/>
              </a:spcBef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>
            <a:spLocks noGrp="1"/>
          </p:cNvSpPr>
          <p:nvPr>
            <p:ph type="title"/>
          </p:nvPr>
        </p:nvSpPr>
        <p:spPr>
          <a:xfrm>
            <a:off x="311700" y="246278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-6985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 dirty="0"/>
              <a:t>攻击：两</a:t>
            </a:r>
            <a:r>
              <a:rPr lang="zh-CN" altLang="en-US" dirty="0"/>
              <a:t>个其他线程</a:t>
            </a:r>
            <a:endParaRPr lang="en-GB" dirty="0"/>
          </a:p>
        </p:txBody>
      </p:sp>
      <p:pic>
        <p:nvPicPr>
          <p:cNvPr id="202" name="Shape 2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634" y="1017725"/>
            <a:ext cx="5961324" cy="85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Shape 2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126" y="1871200"/>
            <a:ext cx="5961322" cy="148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Shape 204"/>
          <p:cNvSpPr txBox="1"/>
          <p:nvPr/>
        </p:nvSpPr>
        <p:spPr>
          <a:xfrm>
            <a:off x="5947575" y="1327951"/>
            <a:ext cx="2884725" cy="156875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zh-CN" sz="1800" u="sng" dirty="0"/>
              <a:t>写入线程：将</a:t>
            </a:r>
            <a:r>
              <a:rPr lang="zh-CN" sz="1800" dirty="0"/>
              <a:t>内存中的字符串“testcow:x:1001”替换为“testcow:x: </a:t>
            </a:r>
            <a:r>
              <a:rPr lang="zh-CN" sz="1800" dirty="0">
                <a:solidFill>
                  <a:srgbClr val="C00000"/>
                </a:solidFill>
              </a:rPr>
              <a:t>0000 </a:t>
            </a:r>
            <a:r>
              <a:rPr lang="zh-CN" sz="1800" dirty="0"/>
              <a:t>”。</a:t>
            </a:r>
          </a:p>
        </p:txBody>
      </p:sp>
      <p:pic>
        <p:nvPicPr>
          <p:cNvPr id="205" name="Shape 2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124" y="3405677"/>
            <a:ext cx="5947575" cy="1397551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Shape 206"/>
          <p:cNvSpPr txBox="1"/>
          <p:nvPr/>
        </p:nvSpPr>
        <p:spPr>
          <a:xfrm>
            <a:off x="6029700" y="3457378"/>
            <a:ext cx="3114300" cy="1770791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zh-CN" sz="1800" u="sng" dirty="0"/>
              <a:t>madvise线程：</a:t>
            </a:r>
            <a:r>
              <a:rPr lang="zh-CN" sz="1800" dirty="0"/>
              <a:t>丢弃映射内存的私有副本</a:t>
            </a:r>
            <a:r>
              <a:rPr lang="zh-CN" sz="1800" u="sng" dirty="0" err="1"/>
              <a:t>，</a:t>
            </a:r>
            <a:r>
              <a:rPr lang="zh-CN" sz="1800" dirty="0"/>
              <a:t>以便页表指向原始映射内存。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2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/>
              <a:t>攻击结果</a:t>
            </a:r>
          </a:p>
        </p:txBody>
      </p:sp>
      <p:pic>
        <p:nvPicPr>
          <p:cNvPr id="212" name="Shape 2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609" y="1087298"/>
            <a:ext cx="7102891" cy="3762997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Shape 213"/>
          <p:cNvSpPr txBox="1"/>
          <p:nvPr/>
        </p:nvSpPr>
        <p:spPr>
          <a:xfrm>
            <a:off x="6279400" y="1016800"/>
            <a:ext cx="2782200" cy="405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GB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概括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8925" indent="-288925"/>
            <a:r>
              <a:rPr lang="zh-CN" dirty="0" err="1">
                <a:solidFill>
                  <a:schemeClr val="tx1"/>
                </a:solidFill>
              </a:rPr>
              <a:t>DirtyCOW</a:t>
            </a:r>
            <a:r>
              <a:rPr lang="zh-CN" dirty="0">
                <a:solidFill>
                  <a:schemeClr val="tx1"/>
                </a:solidFill>
              </a:rPr>
              <a:t>是一种特殊类型的竞态条件问题</a:t>
            </a:r>
          </a:p>
          <a:p>
            <a:pPr marL="288925" indent="-288925"/>
            <a:r>
              <a:rPr lang="zh-CN" dirty="0">
                <a:solidFill>
                  <a:schemeClr val="tx1"/>
                </a:solidFill>
              </a:rPr>
              <a:t>它与内存映射有关。</a:t>
            </a:r>
          </a:p>
          <a:p>
            <a:pPr marL="288925" indent="-288925"/>
            <a:r>
              <a:rPr lang="zh-CN" dirty="0">
                <a:solidFill>
                  <a:schemeClr val="tx1"/>
                </a:solidFill>
              </a:rPr>
              <a:t>我们了解了如何利用该漏洞。</a:t>
            </a:r>
          </a:p>
          <a:p>
            <a:pPr marL="288925" indent="-288925"/>
            <a:r>
              <a:rPr lang="zh-CN" dirty="0">
                <a:solidFill>
                  <a:schemeClr val="tx1"/>
                </a:solidFill>
              </a:rPr>
              <a:t>这个问题在Linux中已经修复了。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75536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1691</Words>
  <Application>Microsoft Macintosh PowerPoint</Application>
  <PresentationFormat>全屏显示(16:9)</PresentationFormat>
  <Paragraphs>122</Paragraphs>
  <Slides>24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8" baseType="lpstr">
      <vt:lpstr>Arial Unicode MS</vt:lpstr>
      <vt:lpstr>Arial</vt:lpstr>
      <vt:lpstr>Courier New</vt:lpstr>
      <vt:lpstr>Simple Light</vt:lpstr>
      <vt:lpstr>脏牛竞态条件攻击 Dirty COW Race Condition Attack</vt:lpstr>
      <vt:lpstr>大纲</vt:lpstr>
      <vt:lpstr>脏牛漏洞(Dirty COW(Copy-On-Write))</vt:lpstr>
      <vt:lpstr>使用 mmap() 进行内存映射</vt:lpstr>
      <vt:lpstr>使用 mmap() 进行内存映射</vt:lpstr>
      <vt:lpstr>使用 mmap() 进行内存映射</vt:lpstr>
      <vt:lpstr>MAP_SHARED 和 MAP_PRIVATE</vt:lpstr>
      <vt:lpstr>MAP_SHARED 和 MAP_PRIVATE</vt:lpstr>
      <vt:lpstr>写时复制（Copy On Write, COW）</vt:lpstr>
      <vt:lpstr>丢弃复制的内存</vt:lpstr>
      <vt:lpstr>映射只读文件：首先创建文件</vt:lpstr>
      <vt:lpstr>映射只读文件</vt:lpstr>
      <vt:lpstr>映射只读文件：代码</vt:lpstr>
      <vt:lpstr>映射只读文件：代码</vt:lpstr>
      <vt:lpstr>映射只读文件：结果</vt:lpstr>
      <vt:lpstr>Dirty-COW漏洞</vt:lpstr>
      <vt:lpstr>Dirty COW漏洞</vt:lpstr>
      <vt:lpstr>Dirty COW漏洞</vt:lpstr>
      <vt:lpstr>利用 Dirty COW 漏洞</vt:lpstr>
      <vt:lpstr>利用 Dirty COW 漏洞</vt:lpstr>
      <vt:lpstr>攻击：main 线程</vt:lpstr>
      <vt:lpstr>攻击：两个其他线程</vt:lpstr>
      <vt:lpstr>攻击结果</vt:lpstr>
      <vt:lpstr>概括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Dirty COW Race Condition Attack</dc:title>
  <cp:lastModifiedBy>Microsoft Office User</cp:lastModifiedBy>
  <cp:revision>16</cp:revision>
  <dcterms:modified xsi:type="dcterms:W3CDTF">2026-04-12T13:51:31Z</dcterms:modified>
</cp:coreProperties>
</file>