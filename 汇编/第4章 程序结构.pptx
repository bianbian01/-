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  <p:sldMasterId id="2147483656" r:id="rId4"/>
    <p:sldMasterId id="2147483660" r:id="rId5"/>
    <p:sldMasterId id="2147483664" r:id="rId6"/>
    <p:sldMasterId id="2147483668" r:id="rId7"/>
    <p:sldMasterId id="2147483672" r:id="rId8"/>
    <p:sldMasterId id="2147483676" r:id="rId9"/>
  </p:sldMasterIdLst>
  <p:notesMasterIdLst>
    <p:notesMasterId r:id="rId11"/>
  </p:notesMasterIdLst>
  <p:handoutMasterIdLst>
    <p:handoutMasterId r:id="rId68"/>
  </p:handoutMasterIdLst>
  <p:sldIdLst>
    <p:sldId id="1896" r:id="rId10"/>
    <p:sldId id="2349" r:id="rId12"/>
    <p:sldId id="1908" r:id="rId13"/>
    <p:sldId id="2403" r:id="rId14"/>
    <p:sldId id="2404" r:id="rId15"/>
    <p:sldId id="2402" r:id="rId16"/>
    <p:sldId id="2125" r:id="rId17"/>
    <p:sldId id="2406" r:id="rId18"/>
    <p:sldId id="2195" r:id="rId19"/>
    <p:sldId id="2196" r:id="rId20"/>
    <p:sldId id="2315" r:id="rId21"/>
    <p:sldId id="2316" r:id="rId22"/>
    <p:sldId id="2206" r:id="rId23"/>
    <p:sldId id="2319" r:id="rId24"/>
    <p:sldId id="2321" r:id="rId25"/>
    <p:sldId id="2317" r:id="rId26"/>
    <p:sldId id="2322" r:id="rId27"/>
    <p:sldId id="2323" r:id="rId28"/>
    <p:sldId id="2324" r:id="rId29"/>
    <p:sldId id="2325" r:id="rId30"/>
    <p:sldId id="2326" r:id="rId31"/>
    <p:sldId id="2327" r:id="rId32"/>
    <p:sldId id="2407" r:id="rId33"/>
    <p:sldId id="2328" r:id="rId34"/>
    <p:sldId id="2329" r:id="rId35"/>
    <p:sldId id="2318" r:id="rId36"/>
    <p:sldId id="2330" r:id="rId37"/>
    <p:sldId id="2408" r:id="rId38"/>
    <p:sldId id="2331" r:id="rId39"/>
    <p:sldId id="2396" r:id="rId40"/>
    <p:sldId id="2397" r:id="rId41"/>
    <p:sldId id="2398" r:id="rId42"/>
    <p:sldId id="2209" r:id="rId43"/>
    <p:sldId id="2332" r:id="rId44"/>
    <p:sldId id="2333" r:id="rId45"/>
    <p:sldId id="2334" r:id="rId46"/>
    <p:sldId id="2335" r:id="rId47"/>
    <p:sldId id="2336" r:id="rId48"/>
    <p:sldId id="2337" r:id="rId49"/>
    <p:sldId id="2207" r:id="rId50"/>
    <p:sldId id="2338" r:id="rId51"/>
    <p:sldId id="2339" r:id="rId52"/>
    <p:sldId id="2400" r:id="rId53"/>
    <p:sldId id="2210" r:id="rId54"/>
    <p:sldId id="2410" r:id="rId55"/>
    <p:sldId id="2340" r:id="rId56"/>
    <p:sldId id="2409" r:id="rId57"/>
    <p:sldId id="2401" r:id="rId58"/>
    <p:sldId id="2411" r:id="rId59"/>
    <p:sldId id="2341" r:id="rId60"/>
    <p:sldId id="2342" r:id="rId61"/>
    <p:sldId id="2343" r:id="rId62"/>
    <p:sldId id="2344" r:id="rId63"/>
    <p:sldId id="2345" r:id="rId64"/>
    <p:sldId id="2346" r:id="rId65"/>
    <p:sldId id="2347" r:id="rId66"/>
    <p:sldId id="2314" r:id="rId67"/>
  </p:sldIdLst>
  <p:sldSz cx="9144000" cy="6858000" type="screen4x3"/>
  <p:notesSz cx="6797675" cy="9926320"/>
  <p:custDataLst>
    <p:tags r:id="rId72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kumimoji="1" sz="3600" kern="1200">
        <a:solidFill>
          <a:srgbClr val="0000FF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78" userDrawn="1">
          <p15:clr>
            <a:srgbClr val="A4A3A4"/>
          </p15:clr>
        </p15:guide>
        <p15:guide id="2" pos="2895" userDrawn="1">
          <p15:clr>
            <a:srgbClr val="A4A3A4"/>
          </p15:clr>
        </p15:guide>
        <p15:guide id="3" pos="29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7F47B"/>
    <a:srgbClr val="B8B8B9"/>
    <a:srgbClr val="DDEEFF"/>
    <a:srgbClr val="7276BB"/>
    <a:srgbClr val="FF6600"/>
    <a:srgbClr val="FFFF99"/>
    <a:srgbClr val="E6E6E6"/>
    <a:srgbClr val="DD84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1" autoAdjust="0"/>
    <p:restoredTop sz="79597" autoAdjust="0"/>
  </p:normalViewPr>
  <p:slideViewPr>
    <p:cSldViewPr snapToObjects="1" showGuides="1">
      <p:cViewPr varScale="1">
        <p:scale>
          <a:sx n="90" d="100"/>
          <a:sy n="90" d="100"/>
        </p:scale>
        <p:origin x="-2268" y="-108"/>
      </p:cViewPr>
      <p:guideLst>
        <p:guide orient="horz" pos="978"/>
        <p:guide pos="2895"/>
        <p:guide pos="2982"/>
      </p:guideLst>
    </p:cSldViewPr>
  </p:slideViewPr>
  <p:outlineViewPr>
    <p:cViewPr>
      <p:scale>
        <a:sx n="25" d="100"/>
        <a:sy n="25" d="100"/>
      </p:scale>
      <p:origin x="0" y="0"/>
    </p:cViewPr>
    <p:sldLst>
      <p:sld r:id="rId1" collapse="1"/>
    </p:sldLst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9012"/>
    </p:cViewPr>
  </p:sorterViewPr>
  <p:notesViewPr>
    <p:cSldViewPr snapToObjects="1">
      <p:cViewPr>
        <p:scale>
          <a:sx n="75" d="100"/>
          <a:sy n="75" d="100"/>
        </p:scale>
        <p:origin x="-4158" y="-222"/>
      </p:cViewPr>
      <p:guideLst>
        <p:guide orient="horz" pos="2403"/>
        <p:guide pos="285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2" Type="http://schemas.openxmlformats.org/officeDocument/2006/relationships/tags" Target="tags/tag85.xml"/><Relationship Id="rId71" Type="http://schemas.openxmlformats.org/officeDocument/2006/relationships/tableStyles" Target="tableStyles.xml"/><Relationship Id="rId70" Type="http://schemas.openxmlformats.org/officeDocument/2006/relationships/viewProps" Target="viewProps.xml"/><Relationship Id="rId7" Type="http://schemas.openxmlformats.org/officeDocument/2006/relationships/slideMaster" Target="slideMasters/slideMaster6.xml"/><Relationship Id="rId69" Type="http://schemas.openxmlformats.org/officeDocument/2006/relationships/presProps" Target="presProps.xml"/><Relationship Id="rId68" Type="http://schemas.openxmlformats.org/officeDocument/2006/relationships/handoutMaster" Target="handoutMasters/handoutMaster1.xml"/><Relationship Id="rId67" Type="http://schemas.openxmlformats.org/officeDocument/2006/relationships/slide" Target="slides/slide57.xml"/><Relationship Id="rId66" Type="http://schemas.openxmlformats.org/officeDocument/2006/relationships/slide" Target="slides/slide56.xml"/><Relationship Id="rId65" Type="http://schemas.openxmlformats.org/officeDocument/2006/relationships/slide" Target="slides/slide55.xml"/><Relationship Id="rId64" Type="http://schemas.openxmlformats.org/officeDocument/2006/relationships/slide" Target="slides/slide54.xml"/><Relationship Id="rId63" Type="http://schemas.openxmlformats.org/officeDocument/2006/relationships/slide" Target="slides/slide53.xml"/><Relationship Id="rId62" Type="http://schemas.openxmlformats.org/officeDocument/2006/relationships/slide" Target="slides/slide52.xml"/><Relationship Id="rId61" Type="http://schemas.openxmlformats.org/officeDocument/2006/relationships/slide" Target="slides/slide51.xml"/><Relationship Id="rId60" Type="http://schemas.openxmlformats.org/officeDocument/2006/relationships/slide" Target="slides/slide50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49.xml"/><Relationship Id="rId58" Type="http://schemas.openxmlformats.org/officeDocument/2006/relationships/slide" Target="slides/slide48.xml"/><Relationship Id="rId57" Type="http://schemas.openxmlformats.org/officeDocument/2006/relationships/slide" Target="slides/slide47.xml"/><Relationship Id="rId56" Type="http://schemas.openxmlformats.org/officeDocument/2006/relationships/slide" Target="slides/slide46.xml"/><Relationship Id="rId55" Type="http://schemas.openxmlformats.org/officeDocument/2006/relationships/slide" Target="slides/slide45.xml"/><Relationship Id="rId54" Type="http://schemas.openxmlformats.org/officeDocument/2006/relationships/slide" Target="slides/slide44.xml"/><Relationship Id="rId53" Type="http://schemas.openxmlformats.org/officeDocument/2006/relationships/slide" Target="slides/slide43.xml"/><Relationship Id="rId52" Type="http://schemas.openxmlformats.org/officeDocument/2006/relationships/slide" Target="slides/slide42.xml"/><Relationship Id="rId51" Type="http://schemas.openxmlformats.org/officeDocument/2006/relationships/slide" Target="slides/slide41.xml"/><Relationship Id="rId50" Type="http://schemas.openxmlformats.org/officeDocument/2006/relationships/slide" Target="slides/slide40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9.xml"/><Relationship Id="rId48" Type="http://schemas.openxmlformats.org/officeDocument/2006/relationships/slide" Target="slides/slide38.xml"/><Relationship Id="rId47" Type="http://schemas.openxmlformats.org/officeDocument/2006/relationships/slide" Target="slides/slide37.xml"/><Relationship Id="rId46" Type="http://schemas.openxmlformats.org/officeDocument/2006/relationships/slide" Target="slides/slide36.xml"/><Relationship Id="rId45" Type="http://schemas.openxmlformats.org/officeDocument/2006/relationships/slide" Target="slides/slide35.xml"/><Relationship Id="rId44" Type="http://schemas.openxmlformats.org/officeDocument/2006/relationships/slide" Target="slides/slide34.xml"/><Relationship Id="rId43" Type="http://schemas.openxmlformats.org/officeDocument/2006/relationships/slide" Target="slides/slide33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40" Type="http://schemas.openxmlformats.org/officeDocument/2006/relationships/slide" Target="slides/slide30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9.xml"/><Relationship Id="rId38" Type="http://schemas.openxmlformats.org/officeDocument/2006/relationships/slide" Target="slides/slide28.xml"/><Relationship Id="rId37" Type="http://schemas.openxmlformats.org/officeDocument/2006/relationships/slide" Target="slides/slide27.xml"/><Relationship Id="rId36" Type="http://schemas.openxmlformats.org/officeDocument/2006/relationships/slide" Target="slides/slide26.xml"/><Relationship Id="rId35" Type="http://schemas.openxmlformats.org/officeDocument/2006/relationships/slide" Target="slides/slide25.xml"/><Relationship Id="rId34" Type="http://schemas.openxmlformats.org/officeDocument/2006/relationships/slide" Target="slides/slide24.xml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9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0" Type="http://schemas.openxmlformats.org/officeDocument/2006/relationships/slide" Target="slides/slide10.xml"/><Relationship Id="rId2" Type="http://schemas.openxmlformats.org/officeDocument/2006/relationships/theme" Target="theme/theme1.xml"/><Relationship Id="rId19" Type="http://schemas.openxmlformats.org/officeDocument/2006/relationships/slide" Target="slides/slide9.xml"/><Relationship Id="rId18" Type="http://schemas.openxmlformats.org/officeDocument/2006/relationships/slide" Target="slides/slide8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2667" tIns="46333" rIns="92667" bIns="46333" numCol="1" anchor="t" anchorCtr="0" compatLnSpc="1"/>
          <a:lstStyle>
            <a:lvl1pPr defTabSz="927100" eaLnBrk="1" hangingPunct="1">
              <a:defRPr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863" y="0"/>
            <a:ext cx="2944812" cy="495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2667" tIns="46333" rIns="92667" bIns="46333" numCol="1" anchor="t" anchorCtr="0" compatLnSpc="1"/>
          <a:lstStyle>
            <a:lvl1pPr algn="r" defTabSz="927100" eaLnBrk="1" hangingPunct="1">
              <a:defRPr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4813" cy="495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2667" tIns="46333" rIns="92667" bIns="46333" numCol="1" anchor="b" anchorCtr="0" compatLnSpc="1"/>
          <a:lstStyle>
            <a:lvl1pPr defTabSz="927100" eaLnBrk="1" hangingPunct="1">
              <a:defRPr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863" y="9431338"/>
            <a:ext cx="2944812" cy="495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2667" tIns="46333" rIns="92667" bIns="46333" numCol="1" anchor="b" anchorCtr="0" compatLnSpc="1"/>
          <a:lstStyle>
            <a:lvl1pPr algn="r" defTabSz="927100" eaLnBrk="1" hangingPunct="1">
              <a:defRPr sz="13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7134E63-CDBE-4D97-ABFD-7014D49E4694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6238" cy="517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88194" tIns="44097" rIns="88194" bIns="44097" numCol="1" anchor="t" anchorCtr="0" compatLnSpc="1"/>
          <a:lstStyle>
            <a:lvl1pPr defTabSz="882650" eaLnBrk="1" hangingPunct="1"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5563" y="0"/>
            <a:ext cx="2916237" cy="5175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88194" tIns="44097" rIns="88194" bIns="44097" numCol="1" anchor="t" anchorCtr="0" compatLnSpc="1"/>
          <a:lstStyle>
            <a:lvl1pPr algn="r" defTabSz="882650" eaLnBrk="1" hangingPunct="1"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42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3613" y="739775"/>
            <a:ext cx="4929187" cy="36972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768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6300" y="4730750"/>
            <a:ext cx="5030788" cy="4435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88194" tIns="44097" rIns="88194" bIns="44097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63088"/>
            <a:ext cx="2916238" cy="4429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88194" tIns="44097" rIns="88194" bIns="44097" numCol="1" anchor="b" anchorCtr="0" compatLnSpc="1"/>
          <a:lstStyle>
            <a:lvl1pPr defTabSz="882650" eaLnBrk="1" hangingPunct="1"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68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5563" y="9463088"/>
            <a:ext cx="2916237" cy="4429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88194" tIns="44097" rIns="88194" bIns="44097" numCol="1" anchor="b" anchorCtr="0" compatLnSpc="1"/>
          <a:lstStyle>
            <a:lvl1pPr algn="r" defTabSz="882650" eaLnBrk="1" hangingPunct="1">
              <a:defRPr sz="120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A3250A-D96D-4FF1-9A04-805EFEDA6A1B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数制：二进制、十进制、十六进制</a:t>
            </a:r>
            <a:endParaRPr lang="en-US" altLang="zh-CN" dirty="0"/>
          </a:p>
          <a:p>
            <a:r>
              <a:rPr lang="zh-CN" altLang="en-US" dirty="0"/>
              <a:t>数值的编码：原码、反码、补码</a:t>
            </a:r>
            <a:endParaRPr lang="en-US" altLang="zh-CN" dirty="0"/>
          </a:p>
          <a:p>
            <a:r>
              <a:rPr lang="zh-CN" altLang="en-US" dirty="0"/>
              <a:t>字符的编码：</a:t>
            </a:r>
            <a:r>
              <a:rPr lang="en-US" altLang="zh-CN" dirty="0"/>
              <a:t>BCD</a:t>
            </a:r>
            <a:r>
              <a:rPr lang="zh-CN" altLang="en-US" dirty="0"/>
              <a:t>、</a:t>
            </a:r>
            <a:r>
              <a:rPr lang="en-US" altLang="zh-CN" dirty="0"/>
              <a:t>ASCII</a:t>
            </a:r>
            <a:r>
              <a:rPr lang="zh-CN" altLang="en-US" dirty="0"/>
              <a:t>、</a:t>
            </a:r>
            <a:r>
              <a:rPr lang="en-US" altLang="zh-CN" dirty="0"/>
              <a:t>Unicode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随着信息技术的发展，运算器不仅有基本的整数运算器，还有浮点处理单元甚至多媒体数据运算单元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随着信息技术的发展，运算器不仅有基本的整数运算器，还有浮点处理单元甚至多媒体数据运算单元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段内相对寻址：    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JMP </a:t>
            </a:r>
            <a:r>
              <a:rPr lang="en-US" altLang="zh-CN" dirty="0"/>
              <a:t>label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      ;EIP=EIP+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位移量，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其中位移量是指紧接着</a:t>
            </a:r>
            <a:r>
              <a:rPr lang="en-US" altLang="zh-CN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JMP</a:t>
            </a:r>
            <a:r>
              <a:rPr lang="zh-CN" altLang="en-US" b="0" i="0" dirty="0">
                <a:solidFill>
                  <a:srgbClr val="F73131"/>
                </a:solidFill>
                <a:effectLst/>
                <a:latin typeface="Arial" panose="020B0604020202020204" pitchFamily="34" charset="0"/>
              </a:rPr>
              <a:t>指令后的那条指令的偏移地址到目标地址的偏移地址的地址位移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段间直接寻址：    </a:t>
            </a:r>
            <a:r>
              <a:rPr lang="en-US" altLang="zh-CN" dirty="0"/>
              <a:t>JMP label 	       ; EIP = label </a:t>
            </a:r>
            <a:r>
              <a:rPr lang="zh-CN" altLang="en-US" dirty="0"/>
              <a:t>的偏移地址</a:t>
            </a:r>
            <a:r>
              <a:rPr lang="en-US" altLang="zh-CN" dirty="0"/>
              <a:t>,CS= label </a:t>
            </a:r>
            <a:r>
              <a:rPr lang="zh-CN" altLang="en-US" dirty="0"/>
              <a:t>的段选择器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假设第一条</a:t>
            </a:r>
            <a:r>
              <a:rPr lang="en-US" altLang="zh-CN" dirty="0"/>
              <a:t>JMP</a:t>
            </a:r>
            <a:r>
              <a:rPr lang="zh-CN" altLang="en-US" dirty="0"/>
              <a:t>指令（</a:t>
            </a:r>
            <a:r>
              <a:rPr lang="en-US" altLang="zh-CN" dirty="0"/>
              <a:t>JMP NEAR</a:t>
            </a:r>
            <a:r>
              <a:rPr lang="zh-CN" altLang="en-US" dirty="0"/>
              <a:t>）在存储器中的地址是</a:t>
            </a:r>
            <a:r>
              <a:rPr lang="en-US" altLang="zh-CN" dirty="0"/>
              <a:t>23000H</a:t>
            </a:r>
            <a:r>
              <a:rPr lang="zh-CN" altLang="en-US" dirty="0"/>
              <a:t>，位移量是</a:t>
            </a:r>
            <a:r>
              <a:rPr lang="en-US" altLang="zh-CN" dirty="0"/>
              <a:t>4010H</a:t>
            </a:r>
            <a:r>
              <a:rPr lang="zh-CN" altLang="en-US" dirty="0"/>
              <a:t>，则该跳转指令的目标地址为多少？（注意当前</a:t>
            </a:r>
            <a:r>
              <a:rPr lang="en-US" altLang="zh-CN" dirty="0"/>
              <a:t>IP</a:t>
            </a:r>
            <a:r>
              <a:rPr lang="zh-CN" altLang="en-US" dirty="0"/>
              <a:t>值已经指向下一条指令）</a:t>
            </a:r>
            <a:r>
              <a:rPr lang="en-US" altLang="zh-CN" dirty="0"/>
              <a:t>?</a:t>
            </a:r>
            <a:endParaRPr lang="en-US" altLang="zh-CN" dirty="0"/>
          </a:p>
          <a:p>
            <a:r>
              <a:rPr lang="en-US" altLang="zh-CN" dirty="0"/>
              <a:t>23000H + 3 + 4010H = 27013H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cc: condition code</a:t>
            </a:r>
            <a:r>
              <a:rPr lang="zh-CN" altLang="en-US" dirty="0"/>
              <a:t>条件码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单分支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双分支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双分支结构有时可以改变为单分支结构</a:t>
            </a:r>
            <a:endParaRPr lang="zh-CN" altLang="en-US" sz="26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事先执行其中一个分支（选择出现概率较高的分支），当条件满足时就不在需要处理这个分支。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双分支结构有时可以改变为单分支结构</a:t>
            </a:r>
            <a:endParaRPr lang="zh-CN" altLang="en-US" sz="26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事先执行其中一个分支（选择出现概率较高的分支），当条件满足时就不在需要处理这个分支。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JL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当小正数减去大正数得到一个负数结果时，</a:t>
            </a:r>
            <a:r>
              <a:rPr lang="en-US" altLang="zh-CN" dirty="0"/>
              <a:t>SF=1</a:t>
            </a:r>
            <a:r>
              <a:rPr lang="zh-CN" altLang="en-US" dirty="0"/>
              <a:t>且</a:t>
            </a:r>
            <a:r>
              <a:rPr lang="en-US" altLang="zh-CN" dirty="0"/>
              <a:t>OF=0</a:t>
            </a:r>
            <a:endParaRPr lang="en-US" altLang="zh-CN" dirty="0"/>
          </a:p>
          <a:p>
            <a:r>
              <a:rPr lang="zh-CN" altLang="en-US" dirty="0"/>
              <a:t>当负数减去正数得到一个正数结果时，</a:t>
            </a:r>
            <a:r>
              <a:rPr lang="en-US" altLang="zh-CN" dirty="0"/>
              <a:t>OF=1</a:t>
            </a:r>
            <a:r>
              <a:rPr lang="zh-CN" altLang="en-US" dirty="0"/>
              <a:t>且</a:t>
            </a:r>
            <a:r>
              <a:rPr lang="en-US" altLang="zh-CN" dirty="0"/>
              <a:t>SF=0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判断两个数据是否相等，不论是无符号数还是有符号数，都用</a:t>
            </a:r>
            <a:r>
              <a:rPr lang="en-US" altLang="zh-CN" dirty="0"/>
              <a:t>JE/JZ</a:t>
            </a:r>
            <a:r>
              <a:rPr lang="zh-CN" altLang="en-US" dirty="0"/>
              <a:t>和</a:t>
            </a:r>
            <a:r>
              <a:rPr lang="en-US" altLang="zh-CN" dirty="0"/>
              <a:t>JNE/JNZ</a:t>
            </a:r>
            <a:r>
              <a:rPr lang="zh-CN" altLang="en-US" dirty="0"/>
              <a:t>指令。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三要素：初值、变化、终值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LOOPZ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指令：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ECX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减去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，判断当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ECX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不等于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0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而且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ZF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等于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1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时，进行跳转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增量进行：</a:t>
            </a:r>
            <a:endParaRPr lang="en-US" altLang="zh-CN" dirty="0"/>
          </a:p>
          <a:p>
            <a:r>
              <a:rPr lang="en-US" altLang="zh-CN" dirty="0"/>
              <a:t>mov </a:t>
            </a:r>
            <a:r>
              <a:rPr lang="en-US" altLang="zh-CN" dirty="0" err="1"/>
              <a:t>ecx</a:t>
            </a:r>
            <a:r>
              <a:rPr lang="en-US" altLang="zh-CN" dirty="0"/>
              <a:t>, 0</a:t>
            </a:r>
            <a:endParaRPr lang="en-US" altLang="zh-CN" dirty="0"/>
          </a:p>
          <a:p>
            <a:r>
              <a:rPr lang="en-US" altLang="zh-CN" dirty="0"/>
              <a:t>again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/>
              <a:t>    …..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    add </a:t>
            </a:r>
            <a:r>
              <a:rPr lang="en-US" altLang="zh-CN" dirty="0" err="1"/>
              <a:t>ecx</a:t>
            </a:r>
            <a:r>
              <a:rPr lang="en-US" altLang="zh-CN" dirty="0"/>
              <a:t>, 1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cmp</a:t>
            </a:r>
            <a:r>
              <a:rPr lang="en-US" altLang="zh-CN" dirty="0"/>
              <a:t> </a:t>
            </a:r>
            <a:r>
              <a:rPr lang="en-US" altLang="zh-CN" dirty="0" err="1"/>
              <a:t>ecx</a:t>
            </a:r>
            <a:r>
              <a:rPr lang="en-US" altLang="zh-CN" dirty="0"/>
              <a:t>, </a:t>
            </a:r>
            <a:r>
              <a:rPr lang="en-US" altLang="zh-CN" dirty="0" err="1"/>
              <a:t>lengthof</a:t>
            </a:r>
            <a:r>
              <a:rPr lang="en-US" altLang="zh-CN" dirty="0"/>
              <a:t> array -1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jb</a:t>
            </a:r>
            <a:r>
              <a:rPr lang="en-US" altLang="zh-CN" dirty="0"/>
              <a:t> again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增量进行：</a:t>
            </a:r>
            <a:endParaRPr lang="en-US" altLang="zh-CN" dirty="0"/>
          </a:p>
          <a:p>
            <a:r>
              <a:rPr lang="en-US" altLang="zh-CN" dirty="0"/>
              <a:t>mov </a:t>
            </a:r>
            <a:r>
              <a:rPr lang="en-US" altLang="zh-CN" dirty="0" err="1"/>
              <a:t>ecx</a:t>
            </a:r>
            <a:r>
              <a:rPr lang="en-US" altLang="zh-CN" dirty="0"/>
              <a:t>, 0</a:t>
            </a:r>
            <a:endParaRPr lang="en-US" altLang="zh-CN" dirty="0"/>
          </a:p>
          <a:p>
            <a:r>
              <a:rPr lang="en-US" altLang="zh-CN" dirty="0"/>
              <a:t>again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/>
              <a:t>    …..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    add </a:t>
            </a:r>
            <a:r>
              <a:rPr lang="en-US" altLang="zh-CN" dirty="0" err="1"/>
              <a:t>ecx</a:t>
            </a:r>
            <a:r>
              <a:rPr lang="en-US" altLang="zh-CN" dirty="0"/>
              <a:t>, 1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cmp</a:t>
            </a:r>
            <a:r>
              <a:rPr lang="en-US" altLang="zh-CN" dirty="0"/>
              <a:t> </a:t>
            </a:r>
            <a:r>
              <a:rPr lang="en-US" altLang="zh-CN" dirty="0" err="1"/>
              <a:t>ecx</a:t>
            </a:r>
            <a:r>
              <a:rPr lang="en-US" altLang="zh-CN" dirty="0"/>
              <a:t>, </a:t>
            </a:r>
            <a:r>
              <a:rPr lang="en-US" altLang="zh-CN" dirty="0" err="1"/>
              <a:t>lengthof</a:t>
            </a:r>
            <a:r>
              <a:rPr lang="en-US" altLang="zh-CN" dirty="0"/>
              <a:t> array -1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jb</a:t>
            </a:r>
            <a:r>
              <a:rPr lang="en-US" altLang="zh-CN" dirty="0"/>
              <a:t> again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增量进行：</a:t>
            </a:r>
            <a:endParaRPr lang="en-US" altLang="zh-CN" dirty="0"/>
          </a:p>
          <a:p>
            <a:r>
              <a:rPr lang="en-US" altLang="zh-CN" dirty="0"/>
              <a:t>mov </a:t>
            </a:r>
            <a:r>
              <a:rPr lang="en-US" altLang="zh-CN" dirty="0" err="1"/>
              <a:t>ecx</a:t>
            </a:r>
            <a:r>
              <a:rPr lang="en-US" altLang="zh-CN" dirty="0"/>
              <a:t>, 0</a:t>
            </a:r>
            <a:endParaRPr lang="en-US" altLang="zh-CN" dirty="0"/>
          </a:p>
          <a:p>
            <a:r>
              <a:rPr lang="en-US" altLang="zh-CN" dirty="0"/>
              <a:t>again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en-US" altLang="zh-CN" dirty="0"/>
              <a:t>    …..</a:t>
            </a:r>
            <a:endParaRPr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    add </a:t>
            </a:r>
            <a:r>
              <a:rPr lang="en-US" altLang="zh-CN" dirty="0" err="1"/>
              <a:t>ecx</a:t>
            </a:r>
            <a:r>
              <a:rPr lang="en-US" altLang="zh-CN" dirty="0"/>
              <a:t>, 1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cmp</a:t>
            </a:r>
            <a:r>
              <a:rPr lang="en-US" altLang="zh-CN" dirty="0"/>
              <a:t> </a:t>
            </a:r>
            <a:r>
              <a:rPr lang="en-US" altLang="zh-CN" dirty="0" err="1"/>
              <a:t>ecx</a:t>
            </a:r>
            <a:r>
              <a:rPr lang="en-US" altLang="zh-CN" dirty="0"/>
              <a:t>, </a:t>
            </a:r>
            <a:r>
              <a:rPr lang="en-US" altLang="zh-CN" dirty="0" err="1"/>
              <a:t>lengthof</a:t>
            </a:r>
            <a:r>
              <a:rPr lang="en-US" altLang="zh-CN" dirty="0"/>
              <a:t> </a:t>
            </a:r>
            <a:r>
              <a:rPr lang="en-US" altLang="zh-CN" dirty="0" smtClean="0"/>
              <a:t>array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jb</a:t>
            </a:r>
            <a:r>
              <a:rPr lang="en-US" altLang="zh-CN" dirty="0"/>
              <a:t> again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dirty="0">
                <a:latin typeface="+mn-lt"/>
              </a:rPr>
              <a:t>mov </a:t>
            </a:r>
            <a:r>
              <a:rPr lang="en-US" altLang="zh-CN" sz="1200" b="0" dirty="0" err="1">
                <a:latin typeface="+mn-lt"/>
              </a:rPr>
              <a:t>al,key</a:t>
            </a:r>
            <a:r>
              <a:rPr lang="en-US" altLang="zh-CN" sz="1200" b="0" dirty="0">
                <a:latin typeface="+mn-lt"/>
              </a:rPr>
              <a:t>	</a:t>
            </a:r>
            <a:r>
              <a:rPr lang="en-US" altLang="zh-CN" sz="1200" b="0" dirty="0">
                <a:solidFill>
                  <a:srgbClr val="00B050"/>
                </a:solidFill>
                <a:latin typeface="+mn-lt"/>
              </a:rPr>
              <a:t>; AL</a:t>
            </a:r>
            <a:r>
              <a:rPr lang="zh-CN" altLang="en-US" sz="1200" b="0" dirty="0">
                <a:solidFill>
                  <a:srgbClr val="00B050"/>
                </a:solidFill>
                <a:latin typeface="+mn-lt"/>
              </a:rPr>
              <a:t>＝加密关键字，这块可以使用</a:t>
            </a:r>
            <a:r>
              <a:rPr lang="en-US" altLang="zh-CN" sz="1200" b="0" dirty="0">
                <a:solidFill>
                  <a:srgbClr val="00B050"/>
                </a:solidFill>
                <a:latin typeface="+mn-lt"/>
              </a:rPr>
              <a:t>dl</a:t>
            </a:r>
            <a:r>
              <a:rPr lang="zh-CN" altLang="en-US" sz="1200" b="0" dirty="0">
                <a:solidFill>
                  <a:srgbClr val="00B050"/>
                </a:solidFill>
                <a:latin typeface="+mn-lt"/>
              </a:rPr>
              <a:t>，就可以不用</a:t>
            </a:r>
            <a:r>
              <a:rPr lang="en-US" altLang="zh-CN" sz="1200" b="0" dirty="0">
                <a:solidFill>
                  <a:srgbClr val="00B050"/>
                </a:solidFill>
                <a:latin typeface="+mn-lt"/>
              </a:rPr>
              <a:t>push/pop</a:t>
            </a:r>
            <a:r>
              <a:rPr lang="zh-CN" altLang="en-US" sz="1200" b="0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altLang="zh-CN" sz="1200" b="0" dirty="0" err="1">
                <a:solidFill>
                  <a:srgbClr val="00B050"/>
                </a:solidFill>
                <a:latin typeface="+mn-lt"/>
              </a:rPr>
              <a:t>eax</a:t>
            </a:r>
            <a:endParaRPr lang="zh-CN" altLang="en-US" b="0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7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571472" y="6215082"/>
            <a:ext cx="1905000" cy="457200"/>
          </a:xfrm>
        </p:spPr>
        <p:txBody>
          <a:bodyPr/>
          <a:lstStyle/>
          <a:p>
            <a:pPr>
              <a:defRPr/>
            </a:pPr>
            <a:fld id="{A5D3E114-792B-40AC-99AF-9E658BD4CE7F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15082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64ACF5-FE95-4751-B03E-D32A19BA1102}" type="datetime1">
              <a:rPr lang="zh-CN" altLang="en-US" smtClean="0"/>
            </a:fld>
            <a:r>
              <a:rPr lang="en-US" altLang="zh-CN"/>
              <a:t> Technology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0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764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9A00B-03E2-4224-A5BD-9BD234FCB243}" type="datetime1">
              <a:rPr lang="zh-CN" altLang="en-US" smtClean="0"/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EAC332C5-313C-42E8-A3F7-890A1E7064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571472" y="6215082"/>
            <a:ext cx="1905000" cy="457200"/>
          </a:xfrm>
        </p:spPr>
        <p:txBody>
          <a:bodyPr/>
          <a:lstStyle/>
          <a:p>
            <a:pPr>
              <a:defRPr/>
            </a:pPr>
            <a:fld id="{A5D3E114-792B-40AC-99AF-9E658BD4CE7F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15082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64ACF5-FE95-4751-B03E-D32A19BA1102}" type="datetime1">
              <a:rPr lang="zh-CN" altLang="en-US" smtClean="0"/>
            </a:fld>
            <a:r>
              <a:rPr lang="en-US" altLang="zh-CN"/>
              <a:t> Technology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0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764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9A00B-03E2-4224-A5BD-9BD234FCB243}" type="datetime1">
              <a:rPr lang="zh-CN" altLang="en-US" smtClean="0"/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EAC332C5-313C-42E8-A3F7-890A1E7064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571472" y="6215082"/>
            <a:ext cx="1905000" cy="457200"/>
          </a:xfrm>
        </p:spPr>
        <p:txBody>
          <a:bodyPr/>
          <a:lstStyle/>
          <a:p>
            <a:pPr>
              <a:defRPr/>
            </a:pPr>
            <a:fld id="{A5D3E114-792B-40AC-99AF-9E658BD4CE7F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15082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64ACF5-FE95-4751-B03E-D32A19BA1102}" type="datetime1">
              <a:rPr lang="zh-CN" altLang="en-US" smtClean="0"/>
            </a:fld>
            <a:r>
              <a:rPr lang="en-US" altLang="zh-CN"/>
              <a:t> Technology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0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764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9A00B-03E2-4224-A5BD-9BD234FCB243}" type="datetime1">
              <a:rPr lang="zh-CN" altLang="en-US" smtClean="0"/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EAC332C5-313C-42E8-A3F7-890A1E7064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571472" y="6215082"/>
            <a:ext cx="1905000" cy="457200"/>
          </a:xfrm>
        </p:spPr>
        <p:txBody>
          <a:bodyPr/>
          <a:lstStyle/>
          <a:p>
            <a:pPr>
              <a:defRPr/>
            </a:pPr>
            <a:fld id="{A5D3E114-792B-40AC-99AF-9E658BD4CE7F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15082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64ACF5-FE95-4751-B03E-D32A19BA1102}" type="datetime1">
              <a:rPr lang="zh-CN" altLang="en-US" smtClean="0"/>
            </a:fld>
            <a:r>
              <a:rPr lang="en-US" altLang="zh-CN"/>
              <a:t> Technology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0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764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9A00B-03E2-4224-A5BD-9BD234FCB243}" type="datetime1">
              <a:rPr lang="zh-CN" altLang="en-US" smtClean="0"/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EAC332C5-313C-42E8-A3F7-890A1E7064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571472" y="6215082"/>
            <a:ext cx="1905000" cy="457200"/>
          </a:xfrm>
        </p:spPr>
        <p:txBody>
          <a:bodyPr/>
          <a:lstStyle/>
          <a:p>
            <a:pPr>
              <a:defRPr/>
            </a:pPr>
            <a:fld id="{A5D3E114-792B-40AC-99AF-9E658BD4CE7F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15082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64ACF5-FE95-4751-B03E-D32A19BA1102}" type="datetime1">
              <a:rPr lang="zh-CN" altLang="en-US" smtClean="0"/>
            </a:fld>
            <a:r>
              <a:rPr lang="en-US" altLang="zh-CN"/>
              <a:t> Technology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0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764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9A00B-03E2-4224-A5BD-9BD234FCB243}" type="datetime1">
              <a:rPr lang="zh-CN" altLang="en-US" smtClean="0"/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EAC332C5-313C-42E8-A3F7-890A1E7064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571472" y="6215082"/>
            <a:ext cx="1905000" cy="457200"/>
          </a:xfrm>
        </p:spPr>
        <p:txBody>
          <a:bodyPr/>
          <a:lstStyle/>
          <a:p>
            <a:pPr>
              <a:defRPr/>
            </a:pPr>
            <a:fld id="{A5D3E114-792B-40AC-99AF-9E658BD4CE7F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15082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64ACF5-FE95-4751-B03E-D32A19BA1102}" type="datetime1">
              <a:rPr lang="zh-CN" altLang="en-US" smtClean="0"/>
            </a:fld>
            <a:r>
              <a:rPr lang="en-US" altLang="zh-CN"/>
              <a:t> Technology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0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764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9A00B-03E2-4224-A5BD-9BD234FCB243}" type="datetime1">
              <a:rPr lang="zh-CN" altLang="en-US" smtClean="0"/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EAC332C5-313C-42E8-A3F7-890A1E7064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571472" y="6215082"/>
            <a:ext cx="1905000" cy="457200"/>
          </a:xfrm>
        </p:spPr>
        <p:txBody>
          <a:bodyPr/>
          <a:lstStyle/>
          <a:p>
            <a:pPr>
              <a:defRPr/>
            </a:pPr>
            <a:fld id="{A5D3E114-792B-40AC-99AF-9E658BD4CE7F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15082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64ACF5-FE95-4751-B03E-D32A19BA1102}" type="datetime1">
              <a:rPr lang="zh-CN" altLang="en-US" smtClean="0"/>
            </a:fld>
            <a:r>
              <a:rPr lang="en-US" altLang="zh-CN"/>
              <a:t> Technology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0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764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9A00B-03E2-4224-A5BD-9BD234FCB243}" type="datetime1">
              <a:rPr lang="zh-CN" altLang="en-US" smtClean="0"/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EAC332C5-313C-42E8-A3F7-890A1E7064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571472" y="6215082"/>
            <a:ext cx="1905000" cy="457200"/>
          </a:xfrm>
        </p:spPr>
        <p:txBody>
          <a:bodyPr/>
          <a:lstStyle/>
          <a:p>
            <a:pPr>
              <a:defRPr/>
            </a:pPr>
            <a:fld id="{A5D3E114-792B-40AC-99AF-9E658BD4CE7F}" type="datetime1">
              <a:rPr lang="zh-CN" altLang="en-US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215082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64ACF5-FE95-4751-B03E-D32A19BA1102}" type="datetime1">
              <a:rPr lang="zh-CN" altLang="en-US" smtClean="0"/>
            </a:fld>
            <a:r>
              <a:rPr lang="en-US" altLang="zh-CN"/>
              <a:t> Technology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</p:spTree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0" name="Rectangle 10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16764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09A00B-03E2-4224-A5BD-9BD234FCB243}" type="datetime1">
              <a:rPr lang="zh-CN" altLang="en-US" smtClean="0"/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EAC332C5-313C-42E8-A3F7-890A1E7064B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6" Type="http://schemas.openxmlformats.org/officeDocument/2006/relationships/theme" Target="../theme/theme4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6" Type="http://schemas.openxmlformats.org/officeDocument/2006/relationships/theme" Target="../theme/theme5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6.xml.rels><?xml version="1.0" encoding="UTF-8" standalone="yes"?>
<Relationships xmlns="http://schemas.openxmlformats.org/package/2006/relationships"><Relationship Id="rId6" Type="http://schemas.openxmlformats.org/officeDocument/2006/relationships/theme" Target="../theme/theme6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6" Type="http://schemas.openxmlformats.org/officeDocument/2006/relationships/theme" Target="../theme/theme7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8.xml.rels><?xml version="1.0" encoding="UTF-8" standalone="yes"?>
<Relationships xmlns="http://schemas.openxmlformats.org/package/2006/relationships"><Relationship Id="rId6" Type="http://schemas.openxmlformats.org/officeDocument/2006/relationships/theme" Target="../theme/theme8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 descr="Large confetti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0"/>
            <a:ext cx="8713787" cy="766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8825" y="1125538"/>
            <a:ext cx="813435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DA61D4B7-5C77-436D-AE67-CD94D6A7AF5E}" type="datetime1">
              <a:rPr lang="zh-CN" altLang="en-US" smtClean="0"/>
            </a:fld>
            <a:r>
              <a:rPr lang="en-US" altLang="zh-CN"/>
              <a:t> </a:t>
            </a:r>
            <a:r>
              <a:rPr lang="en-US" altLang="zh-CN" dirty="0"/>
              <a:t>Technology</a:t>
            </a:r>
            <a:endParaRPr lang="en-US" altLang="zh-CN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2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072461" y="6296068"/>
            <a:ext cx="820713" cy="3476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5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/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5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 descr="Large confetti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0"/>
            <a:ext cx="8713787" cy="766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8825" y="1125538"/>
            <a:ext cx="813435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DA61D4B7-5C77-436D-AE67-CD94D6A7AF5E}" type="datetime1">
              <a:rPr lang="zh-CN" altLang="en-US" smtClean="0"/>
            </a:fld>
            <a:r>
              <a:rPr lang="en-US" altLang="zh-CN"/>
              <a:t> </a:t>
            </a:r>
            <a:r>
              <a:rPr lang="en-US" altLang="zh-CN" dirty="0"/>
              <a:t>Technology</a:t>
            </a:r>
            <a:endParaRPr lang="en-US" altLang="zh-CN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2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072461" y="6296068"/>
            <a:ext cx="820713" cy="3476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5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/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5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 descr="Large confetti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0"/>
            <a:ext cx="8713787" cy="766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8825" y="1125538"/>
            <a:ext cx="813435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DA61D4B7-5C77-436D-AE67-CD94D6A7AF5E}" type="datetime1">
              <a:rPr lang="zh-CN" altLang="en-US" smtClean="0"/>
            </a:fld>
            <a:r>
              <a:rPr lang="en-US" altLang="zh-CN"/>
              <a:t> </a:t>
            </a:r>
            <a:r>
              <a:rPr lang="en-US" altLang="zh-CN" dirty="0"/>
              <a:t>Technology</a:t>
            </a:r>
            <a:endParaRPr lang="en-US" altLang="zh-CN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2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072461" y="6296068"/>
            <a:ext cx="820713" cy="3476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5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/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5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 descr="Large confetti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0"/>
            <a:ext cx="8713787" cy="766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8825" y="1125538"/>
            <a:ext cx="813435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DA61D4B7-5C77-436D-AE67-CD94D6A7AF5E}" type="datetime1">
              <a:rPr lang="zh-CN" altLang="en-US" smtClean="0"/>
            </a:fld>
            <a:r>
              <a:rPr lang="en-US" altLang="zh-CN"/>
              <a:t> </a:t>
            </a:r>
            <a:r>
              <a:rPr lang="en-US" altLang="zh-CN" dirty="0"/>
              <a:t>Technology</a:t>
            </a:r>
            <a:endParaRPr lang="en-US" altLang="zh-CN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2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072461" y="6296068"/>
            <a:ext cx="820713" cy="3476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5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/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5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 descr="Large confetti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0"/>
            <a:ext cx="8713787" cy="766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8825" y="1125538"/>
            <a:ext cx="813435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DA61D4B7-5C77-436D-AE67-CD94D6A7AF5E}" type="datetime1">
              <a:rPr lang="zh-CN" altLang="en-US" smtClean="0"/>
            </a:fld>
            <a:r>
              <a:rPr lang="en-US" altLang="zh-CN"/>
              <a:t> </a:t>
            </a:r>
            <a:r>
              <a:rPr lang="en-US" altLang="zh-CN" dirty="0"/>
              <a:t>Technology</a:t>
            </a:r>
            <a:endParaRPr lang="en-US" altLang="zh-CN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2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072461" y="6296068"/>
            <a:ext cx="820713" cy="3476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5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/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5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 descr="Large confetti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0"/>
            <a:ext cx="8713787" cy="766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8825" y="1125538"/>
            <a:ext cx="813435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DA61D4B7-5C77-436D-AE67-CD94D6A7AF5E}" type="datetime1">
              <a:rPr lang="zh-CN" altLang="en-US" smtClean="0"/>
            </a:fld>
            <a:r>
              <a:rPr lang="en-US" altLang="zh-CN"/>
              <a:t> </a:t>
            </a:r>
            <a:r>
              <a:rPr lang="en-US" altLang="zh-CN" dirty="0"/>
              <a:t>Technology</a:t>
            </a:r>
            <a:endParaRPr lang="en-US" altLang="zh-CN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2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072461" y="6296068"/>
            <a:ext cx="820713" cy="3476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5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/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5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 descr="Large confetti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0"/>
            <a:ext cx="8713787" cy="766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8825" y="1125538"/>
            <a:ext cx="813435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DA61D4B7-5C77-436D-AE67-CD94D6A7AF5E}" type="datetime1">
              <a:rPr lang="zh-CN" altLang="en-US" smtClean="0"/>
            </a:fld>
            <a:r>
              <a:rPr lang="en-US" altLang="zh-CN"/>
              <a:t> </a:t>
            </a:r>
            <a:r>
              <a:rPr lang="en-US" altLang="zh-CN" dirty="0"/>
              <a:t>Technology</a:t>
            </a:r>
            <a:endParaRPr lang="en-US" altLang="zh-CN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2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072461" y="6296068"/>
            <a:ext cx="820713" cy="3476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5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/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5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 descr="Large confetti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0"/>
            <a:ext cx="8713787" cy="7667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8825" y="1125538"/>
            <a:ext cx="8134350" cy="48958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138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fld id="{DA61D4B7-5C77-436D-AE67-CD94D6A7AF5E}" type="datetime1">
              <a:rPr lang="zh-CN" altLang="en-US" smtClean="0"/>
            </a:fld>
            <a:r>
              <a:rPr lang="en-US" altLang="zh-CN"/>
              <a:t> </a:t>
            </a:r>
            <a:r>
              <a:rPr lang="en-US" altLang="zh-CN" dirty="0"/>
              <a:t>Technology</a:t>
            </a:r>
            <a:endParaRPr lang="en-US" altLang="zh-CN" dirty="0"/>
          </a:p>
        </p:txBody>
      </p:sp>
      <p:sp>
        <p:nvSpPr>
          <p:cNvPr id="10138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kumimoji="0" sz="1200">
                <a:solidFill>
                  <a:schemeClr val="tx1"/>
                </a:solidFill>
                <a:ea typeface="+mn-ea"/>
              </a:defRPr>
            </a:lvl1pPr>
          </a:lstStyle>
          <a:p>
            <a:pPr>
              <a:defRPr/>
            </a:pPr>
            <a:r>
              <a:rPr lang="en-US" altLang="zh-CN"/>
              <a:t>Xi'an Jiaotong  University</a:t>
            </a:r>
            <a:endParaRPr lang="en-US" altLang="zh-CN"/>
          </a:p>
        </p:txBody>
      </p:sp>
      <p:sp>
        <p:nvSpPr>
          <p:cNvPr id="9" name="Rectangle 4"/>
          <p:cNvSpPr txBox="1">
            <a:spLocks noChangeArrowheads="1"/>
          </p:cNvSpPr>
          <p:nvPr userDrawn="1"/>
        </p:nvSpPr>
        <p:spPr bwMode="auto">
          <a:xfrm>
            <a:off x="8072461" y="6296068"/>
            <a:ext cx="820713" cy="34764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40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6" dur="500" fill="hold"/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/>
    </p:bld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rgbClr val="0033CC"/>
          </a:solidFill>
          <a:latin typeface="Times New Roman" panose="02020603050405020304" pitchFamily="18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5000"/>
        <a:buBlip>
          <a:blip r:embed="rId5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0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0" Type="http://schemas.openxmlformats.org/officeDocument/2006/relationships/notesSlide" Target="../notesSlides/notesSlide12.xml"/><Relationship Id="rId1" Type="http://schemas.openxmlformats.org/officeDocument/2006/relationships/tags" Target="../tags/tag8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6.xml"/><Relationship Id="rId4" Type="http://schemas.openxmlformats.org/officeDocument/2006/relationships/image" Target="../media/image8.GIF"/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8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6.xml"/><Relationship Id="rId3" Type="http://schemas.openxmlformats.org/officeDocument/2006/relationships/tags" Target="../tags/tag2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9.xml"/><Relationship Id="rId1" Type="http://schemas.openxmlformats.org/officeDocument/2006/relationships/tags" Target="../tags/tag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8.xml"/><Relationship Id="rId1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45.xml"/><Relationship Id="rId17" Type="http://schemas.openxmlformats.org/officeDocument/2006/relationships/image" Target="../media/image10.png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tags" Target="../tags/tag29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54.xml"/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62.xml"/><Relationship Id="rId17" Type="http://schemas.openxmlformats.org/officeDocument/2006/relationships/image" Target="../media/image10.png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tags" Target="../tags/tag56.xml"/><Relationship Id="rId10" Type="http://schemas.openxmlformats.org/officeDocument/2006/relationships/tags" Target="../tags/tag55.xml"/><Relationship Id="rId1" Type="http://schemas.openxmlformats.org/officeDocument/2006/relationships/tags" Target="../tags/tag4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6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2.pn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7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8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9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0.xml"/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7.xm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78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5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9.xml"/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80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2.xml"/><Relationship Id="rId1" Type="http://schemas.openxmlformats.org/officeDocument/2006/relationships/tags" Target="../tags/tag81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8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9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83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0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84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ChangeArrowheads="1"/>
          </p:cNvSpPr>
          <p:nvPr/>
        </p:nvSpPr>
        <p:spPr bwMode="auto">
          <a:xfrm>
            <a:off x="1357290" y="4500563"/>
            <a:ext cx="6858024" cy="1928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algn="ctr"/>
            <a:r>
              <a:rPr lang="zh-CN" altLang="en-US" sz="3200" dirty="0">
                <a:solidFill>
                  <a:srgbClr val="000000"/>
                </a:solidFill>
                <a:latin typeface="黑体" panose="02010609060101010101" pitchFamily="49" charset="-122"/>
              </a:rPr>
              <a:t>刘兆丽</a:t>
            </a:r>
            <a:endParaRPr lang="en-US" altLang="zh-CN" sz="3200" dirty="0">
              <a:solidFill>
                <a:srgbClr val="000000"/>
              </a:solidFill>
              <a:latin typeface="黑体" panose="02010609060101010101" pitchFamily="49" charset="-122"/>
            </a:endParaRPr>
          </a:p>
          <a:p>
            <a:pPr algn="ctr"/>
            <a:r>
              <a:rPr lang="zh-CN" altLang="en-US" sz="3200" dirty="0">
                <a:solidFill>
                  <a:srgbClr val="000000"/>
                </a:solidFill>
                <a:latin typeface="黑体" panose="02010609060101010101" pitchFamily="49" charset="-122"/>
              </a:rPr>
              <a:t>计算机科学与工程学院</a:t>
            </a:r>
            <a:endParaRPr lang="en-US" altLang="zh-CN" dirty="0">
              <a:solidFill>
                <a:srgbClr val="000000"/>
              </a:solidFill>
              <a:latin typeface="黑体" panose="02010609060101010101" pitchFamily="49" charset="-122"/>
            </a:endParaRPr>
          </a:p>
        </p:txBody>
      </p:sp>
      <p:sp>
        <p:nvSpPr>
          <p:cNvPr id="4" name="Rectangle 2" descr="Large confetti"/>
          <p:cNvSpPr txBox="1">
            <a:spLocks noChangeArrowheads="1"/>
          </p:cNvSpPr>
          <p:nvPr/>
        </p:nvSpPr>
        <p:spPr bwMode="auto">
          <a:xfrm>
            <a:off x="150302" y="1059308"/>
            <a:ext cx="8993698" cy="2153668"/>
          </a:xfrm>
          <a:prstGeom prst="rect">
            <a:avLst/>
          </a:prstGeom>
          <a:noFill/>
          <a:ln w="9525">
            <a:noFill/>
            <a:miter lim="800000"/>
          </a:ln>
          <a:effectLst>
            <a:outerShdw dist="12700" dir="5400000" algn="ctr" rotWithShape="0">
              <a:schemeClr val="bg2"/>
            </a:outerShdw>
          </a:effectLst>
        </p:spPr>
        <p:txBody>
          <a:bodyPr anchor="b"/>
          <a:lstStyle/>
          <a:p>
            <a:pPr lvl="0" algn="ctr">
              <a:lnSpc>
                <a:spcPct val="130000"/>
              </a:lnSpc>
              <a:defRPr/>
            </a:pPr>
            <a:endParaRPr lang="en-US" altLang="zh-CN" sz="7200" b="1" kern="0" dirty="0">
              <a:solidFill>
                <a:srgbClr val="FF3300"/>
              </a:solidFill>
              <a:latin typeface="+mn-ea"/>
              <a:ea typeface="+mn-ea"/>
              <a:cs typeface="+mj-cs"/>
            </a:endParaRPr>
          </a:p>
          <a:p>
            <a:pPr lvl="0" algn="ctr">
              <a:lnSpc>
                <a:spcPct val="110000"/>
              </a:lnSpc>
              <a:defRPr/>
            </a:pPr>
            <a:r>
              <a:rPr lang="zh-CN" altLang="en-US" sz="7200" b="1" kern="0" dirty="0">
                <a:solidFill>
                  <a:srgbClr val="FF3300"/>
                </a:solidFill>
                <a:latin typeface="+mn-ea"/>
                <a:ea typeface="+mn-ea"/>
                <a:cs typeface="+mj-cs"/>
              </a:rPr>
              <a:t>第</a:t>
            </a:r>
            <a:r>
              <a:rPr lang="en-US" altLang="zh-CN" sz="7200" b="1" kern="0" dirty="0">
                <a:solidFill>
                  <a:srgbClr val="FF3300"/>
                </a:solidFill>
                <a:latin typeface="+mn-ea"/>
                <a:ea typeface="+mn-ea"/>
                <a:cs typeface="+mj-cs"/>
              </a:rPr>
              <a:t>4</a:t>
            </a:r>
            <a:r>
              <a:rPr lang="zh-CN" altLang="en-US" sz="7200" b="1" kern="0" dirty="0">
                <a:solidFill>
                  <a:srgbClr val="FF3300"/>
                </a:solidFill>
                <a:latin typeface="+mn-ea"/>
                <a:ea typeface="+mn-ea"/>
                <a:cs typeface="+mj-cs"/>
              </a:rPr>
              <a:t>章 汇编语言</a:t>
            </a:r>
            <a:endParaRPr lang="en-US" altLang="zh-CN" sz="7200" b="1" kern="0" dirty="0">
              <a:solidFill>
                <a:srgbClr val="FF3300"/>
              </a:solidFill>
              <a:latin typeface="+mn-ea"/>
              <a:ea typeface="+mn-ea"/>
              <a:cs typeface="+mj-cs"/>
            </a:endParaRPr>
          </a:p>
          <a:p>
            <a:pPr lvl="0" algn="ctr">
              <a:lnSpc>
                <a:spcPct val="110000"/>
              </a:lnSpc>
              <a:defRPr/>
            </a:pPr>
            <a:r>
              <a:rPr lang="zh-CN" altLang="en-US" sz="7200" b="1" kern="0" dirty="0">
                <a:solidFill>
                  <a:srgbClr val="FF3300"/>
                </a:solidFill>
                <a:latin typeface="+mn-ea"/>
                <a:ea typeface="+mn-ea"/>
                <a:cs typeface="+mj-cs"/>
              </a:rPr>
              <a:t>程序设计</a:t>
            </a:r>
            <a:endParaRPr lang="en-US" altLang="zh-CN" sz="7200" b="1" kern="0" dirty="0">
              <a:solidFill>
                <a:srgbClr val="FF3300"/>
              </a:solidFill>
              <a:latin typeface="+mn-ea"/>
              <a:ea typeface="+mn-ea"/>
              <a:cs typeface="+mj-cs"/>
            </a:endParaRPr>
          </a:p>
        </p:txBody>
      </p:sp>
      <p:pic>
        <p:nvPicPr>
          <p:cNvPr id="6" name="图片 5" descr="logo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0949" y="71414"/>
            <a:ext cx="3419481" cy="968050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C332C5-313C-42E8-A3F7-890A1E7064B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transition advTm="13494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内容占位符 2"/>
          <p:cNvSpPr txBox="1"/>
          <p:nvPr/>
        </p:nvSpPr>
        <p:spPr>
          <a:xfrm>
            <a:off x="741045" y="666115"/>
            <a:ext cx="8079740" cy="4287520"/>
          </a:xfrm>
          <a:prstGeom prst="rect">
            <a:avLst/>
          </a:prstGeom>
        </p:spPr>
        <p:txBody>
          <a:bodyPr/>
          <a:lstStyle/>
          <a:p>
            <a:pPr algn="just" eaLnBrk="1" latinLnBrk="0" hangingPunct="1">
              <a:lnSpc>
                <a:spcPct val="130000"/>
              </a:lnSpc>
              <a:spcBef>
                <a:spcPts val="0"/>
              </a:spcBef>
              <a:buSzPct val="100000"/>
            </a:pPr>
            <a:r>
              <a:rPr lang="en-US" altLang="zh-CN" sz="2800" dirty="0">
                <a:latin typeface="黑体" panose="02010609060101010101" pitchFamily="49" charset="-122"/>
              </a:rPr>
              <a:t>4.1 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</a:rPr>
              <a:t>顺序程序结构</a:t>
            </a:r>
            <a:endParaRPr lang="zh-CN" altLang="en-US" sz="2800" dirty="0">
              <a:solidFill>
                <a:schemeClr val="tx1"/>
              </a:solidFill>
              <a:latin typeface="黑体" panose="02010609060101010101" pitchFamily="49" charset="-122"/>
            </a:endParaRPr>
          </a:p>
          <a:p>
            <a:pPr algn="just" eaLnBrk="1" latinLnBrk="0" hangingPunct="1">
              <a:lnSpc>
                <a:spcPct val="130000"/>
              </a:lnSpc>
              <a:spcBef>
                <a:spcPts val="0"/>
              </a:spcBef>
              <a:buSzPct val="100000"/>
            </a:pPr>
            <a:r>
              <a:rPr lang="en-US" altLang="zh-CN" sz="2800" dirty="0">
                <a:latin typeface="黑体" panose="02010609060101010101" pitchFamily="49" charset="-122"/>
                <a:sym typeface="+mn-ea"/>
              </a:rPr>
              <a:t>4.2 </a:t>
            </a:r>
            <a:r>
              <a:rPr lang="zh-CN" altLang="en-US" sz="2800" dirty="0">
                <a:latin typeface="黑体" panose="02010609060101010101" pitchFamily="49" charset="-122"/>
              </a:rPr>
              <a:t>分支程序结构</a:t>
            </a:r>
            <a:endParaRPr lang="en-US" altLang="zh-CN" sz="2800" dirty="0">
              <a:latin typeface="黑体" panose="02010609060101010101" pitchFamily="49" charset="-122"/>
            </a:endParaRPr>
          </a:p>
          <a:p>
            <a:pPr marL="720090" lvl="1" indent="-45720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无条件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/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条件转移指令</a:t>
            </a:r>
            <a:endParaRPr lang="zh-CN" altLang="en-US" sz="2400" dirty="0">
              <a:solidFill>
                <a:srgbClr val="00B050"/>
              </a:solidFill>
              <a:latin typeface="+mn-lt"/>
            </a:endParaRPr>
          </a:p>
          <a:p>
            <a:pPr marL="720090" lvl="1" indent="-45720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单分支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/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双分支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/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多分支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程序结构</a:t>
            </a:r>
            <a:endParaRPr lang="en-US" altLang="zh-CN" sz="2800" dirty="0">
              <a:solidFill>
                <a:srgbClr val="00B050"/>
              </a:solidFill>
              <a:latin typeface="黑体" panose="02010609060101010101" pitchFamily="49" charset="-122"/>
            </a:endParaRPr>
          </a:p>
          <a:p>
            <a:pPr algn="just" eaLnBrk="1" latinLnBrk="0" hangingPunct="1">
              <a:lnSpc>
                <a:spcPct val="130000"/>
              </a:lnSpc>
              <a:spcBef>
                <a:spcPts val="0"/>
              </a:spcBef>
              <a:buSzPct val="100000"/>
            </a:pPr>
            <a:r>
              <a:rPr lang="en-US" altLang="zh-CN" sz="2800" dirty="0">
                <a:latin typeface="黑体" panose="02010609060101010101" pitchFamily="49" charset="-122"/>
              </a:rPr>
              <a:t>4.3 </a:t>
            </a:r>
            <a:r>
              <a:rPr lang="zh-CN" altLang="en-US" sz="2800" dirty="0">
                <a:latin typeface="黑体" panose="02010609060101010101" pitchFamily="49" charset="-122"/>
              </a:rPr>
              <a:t>循环程序结构</a:t>
            </a:r>
            <a:endParaRPr lang="en-US" altLang="zh-CN" sz="2800" dirty="0">
              <a:latin typeface="黑体" panose="02010609060101010101" pitchFamily="49" charset="-122"/>
            </a:endParaRPr>
          </a:p>
          <a:p>
            <a:pPr marL="720090" lvl="1" indent="-45720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循环指令</a:t>
            </a:r>
            <a:endParaRPr lang="zh-CN" altLang="en-US" sz="2400" dirty="0">
              <a:solidFill>
                <a:srgbClr val="00B050"/>
              </a:solidFill>
              <a:latin typeface="+mn-lt"/>
            </a:endParaRPr>
          </a:p>
          <a:p>
            <a:pPr marL="720090" lvl="1" indent="-45720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计数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/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条件控制循环</a:t>
            </a:r>
            <a:endParaRPr lang="zh-CN" altLang="en-US" sz="2400" dirty="0">
              <a:solidFill>
                <a:srgbClr val="00B050"/>
              </a:solidFill>
              <a:latin typeface="+mn-lt"/>
            </a:endParaRPr>
          </a:p>
          <a:p>
            <a:pPr marL="720090" lvl="1" indent="-45720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多重循环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algn="just" eaLnBrk="1" hangingPunct="1">
              <a:lnSpc>
                <a:spcPct val="130000"/>
              </a:lnSpc>
              <a:spcBef>
                <a:spcPts val="600"/>
              </a:spcBef>
              <a:buSzPct val="100000"/>
            </a:pPr>
            <a:r>
              <a:rPr lang="en-US" altLang="zh-CN" sz="2000" dirty="0"/>
              <a:t>	</a:t>
            </a:r>
            <a:endParaRPr lang="en-US" altLang="zh-CN" sz="2200" dirty="0"/>
          </a:p>
        </p:txBody>
      </p:sp>
      <p:sp>
        <p:nvSpPr>
          <p:cNvPr id="5" name="标题 1"/>
          <p:cNvSpPr txBox="1"/>
          <p:nvPr/>
        </p:nvSpPr>
        <p:spPr>
          <a:xfrm>
            <a:off x="0" y="-27384"/>
            <a:ext cx="9144000" cy="64993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lang="zh-CN" altLang="en-US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章节内容安排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6" name="直接连接符 5"/>
          <p:cNvCxnSpPr/>
          <p:nvPr/>
        </p:nvCxnSpPr>
        <p:spPr bwMode="auto">
          <a:xfrm>
            <a:off x="142844" y="688877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18" name="副标题 29698"/>
          <p:cNvSpPr>
            <a:spLocks noGrp="1"/>
          </p:cNvSpPr>
          <p:nvPr/>
        </p:nvSpPr>
        <p:spPr>
          <a:xfrm>
            <a:off x="817245" y="4941570"/>
            <a:ext cx="7482840" cy="1600835"/>
          </a:xfrm>
          <a:prstGeom prst="rect">
            <a:avLst/>
          </a:prstGeom>
          <a:solidFill>
            <a:schemeClr val="bg1">
              <a:lumMod val="90000"/>
            </a:schemeClr>
          </a:solidFill>
          <a:ln w="9525">
            <a:solidFill>
              <a:schemeClr val="accent1"/>
            </a:solidFill>
          </a:ln>
        </p:spPr>
        <p:txBody>
          <a:bodyPr anchor="t" anchorCtr="0"/>
          <a:lstStyle>
            <a:lvl1pPr marL="0" lvl="0" indent="0" algn="ctr">
              <a:buClr>
                <a:schemeClr val="accent1"/>
              </a:buClr>
              <a:buSzPct val="150000"/>
              <a:buFontTx/>
              <a:defRPr/>
            </a:lvl1pPr>
            <a:lvl2pPr marL="457200" lvl="1" indent="0" algn="ctr">
              <a:buClr>
                <a:schemeClr val="accent1"/>
              </a:buClr>
              <a:buSzPct val="60000"/>
              <a:buFont typeface="Wingdings" panose="05000000000000000000" pitchFamily="2" charset="2"/>
              <a:defRPr/>
            </a:lvl2pPr>
            <a:lvl3pPr marL="914400" lvl="2" indent="0" algn="ctr">
              <a:buClr>
                <a:schemeClr val="accent2"/>
              </a:buClr>
              <a:buSzPct val="60000"/>
              <a:buFont typeface="Wingdings" panose="05000000000000000000" pitchFamily="2" charset="2"/>
              <a:defRPr/>
            </a:lvl3pPr>
            <a:lvl4pPr marL="1371600" lvl="3" indent="0" algn="ctr">
              <a:buClr>
                <a:schemeClr val="hlink"/>
              </a:buClr>
              <a:buSzPct val="60000"/>
              <a:buFont typeface="Wingdings" panose="05000000000000000000" pitchFamily="2" charset="2"/>
              <a:defRPr/>
            </a:lvl4pPr>
            <a:lvl5pPr marL="1828800" lvl="4" indent="0" algn="ctr">
              <a:buClr>
                <a:schemeClr val="hlink"/>
              </a:buClr>
              <a:buSzPct val="60000"/>
              <a:buFont typeface="Wingdings" panose="05000000000000000000" pitchFamily="2" charset="2"/>
              <a:defRPr/>
            </a:lvl5pPr>
          </a:lstStyle>
          <a:p>
            <a:pPr marL="457200" lvl="0" indent="-45720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+mn-lt"/>
              </a:rPr>
              <a:t>以顺序、分支和循环程序结构为主线</a:t>
            </a:r>
            <a:endParaRPr lang="zh-CN" altLang="en-US" sz="2400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+mn-lt"/>
            </a:endParaRPr>
          </a:p>
          <a:p>
            <a:pPr marL="457200" lvl="0" indent="-45720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+mn-lt"/>
              </a:rPr>
              <a:t>结合数值运算、数组处理等示例程序</a:t>
            </a:r>
            <a:endParaRPr lang="zh-CN" altLang="en-US" sz="2400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+mn-lt"/>
            </a:endParaRPr>
          </a:p>
          <a:p>
            <a:pPr marL="457200" lvl="0" indent="-45720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gradFill>
                  <a:gsLst>
                    <a:gs pos="50000">
                      <a:schemeClr val="accent2"/>
                    </a:gs>
                    <a:gs pos="0">
                      <a:schemeClr val="accent2">
                        <a:lumMod val="25000"/>
                        <a:lumOff val="75000"/>
                      </a:schemeClr>
                    </a:gs>
                    <a:gs pos="100000">
                      <a:schemeClr val="accent2">
                        <a:lumMod val="85000"/>
                      </a:schemeClr>
                    </a:gs>
                  </a:gsLst>
                  <a:lin ang="5400000" scaled="1"/>
                </a:gradFill>
                <a:latin typeface="+mn-lt"/>
              </a:rPr>
              <a:t>掌握控制转移指令以及编写基本程序的方法</a:t>
            </a:r>
            <a:endParaRPr lang="zh-CN" altLang="en-US" sz="2400" dirty="0">
              <a:gradFill>
                <a:gsLst>
                  <a:gs pos="50000">
                    <a:schemeClr val="accent2"/>
                  </a:gs>
                  <a:gs pos="0">
                    <a:schemeClr val="accent2">
                      <a:lumMod val="25000"/>
                      <a:lumOff val="75000"/>
                    </a:schemeClr>
                  </a:gs>
                  <a:gs pos="100000">
                    <a:schemeClr val="accent2">
                      <a:lumMod val="85000"/>
                    </a:schemeClr>
                  </a:gs>
                </a:gsLst>
                <a:lin ang="5400000" scaled="1"/>
              </a:gra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360" y="715010"/>
            <a:ext cx="8179435" cy="573849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按照指令书写的前后顺序执行每条指令</a:t>
            </a:r>
            <a:endParaRPr lang="zh-CN" altLang="en-US" sz="26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最基本的程序片段，构成复杂程序的基础，如分支程序的分支体、循环结构的循环体</a:t>
            </a:r>
            <a:endParaRPr lang="zh-CN" altLang="en-US" sz="26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  <a:sym typeface="+mn-ea"/>
              </a:rPr>
              <a:t>示例程序</a:t>
            </a:r>
            <a:endParaRPr lang="zh-CN" altLang="en-US" sz="26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sym typeface="+mn-ea"/>
              </a:rPr>
              <a:t>求</a:t>
            </a:r>
            <a:r>
              <a:rPr lang="en-US" altLang="zh-CN" sz="2400">
                <a:solidFill>
                  <a:srgbClr val="00B050"/>
                </a:solidFill>
                <a:sym typeface="+mn-ea"/>
              </a:rPr>
              <a:t>N</a:t>
            </a:r>
            <a:r>
              <a:rPr lang="zh-CN" altLang="en-US" sz="2400" dirty="0">
                <a:solidFill>
                  <a:srgbClr val="00B050"/>
                </a:solidFill>
                <a:sym typeface="+mn-ea"/>
              </a:rPr>
              <a:t>个自然数之和</a:t>
            </a:r>
            <a:r>
              <a:rPr lang="en-US" altLang="zh-CN" sz="2400">
                <a:solidFill>
                  <a:srgbClr val="00B050"/>
                </a:solidFill>
                <a:sym typeface="+mn-ea"/>
              </a:rPr>
              <a:t>1</a:t>
            </a:r>
            <a:r>
              <a:rPr lang="zh-CN" altLang="en-US" sz="2400" dirty="0">
                <a:solidFill>
                  <a:srgbClr val="00B050"/>
                </a:solidFill>
                <a:sym typeface="+mn-ea"/>
              </a:rPr>
              <a:t>＋</a:t>
            </a:r>
            <a:r>
              <a:rPr lang="en-US" altLang="zh-CN" sz="2400">
                <a:solidFill>
                  <a:srgbClr val="00B050"/>
                </a:solidFill>
                <a:sym typeface="+mn-ea"/>
              </a:rPr>
              <a:t>2</a:t>
            </a:r>
            <a:r>
              <a:rPr lang="zh-CN" altLang="en-US" sz="2400" dirty="0">
                <a:solidFill>
                  <a:srgbClr val="00B050"/>
                </a:solidFill>
                <a:sym typeface="+mn-ea"/>
              </a:rPr>
              <a:t>＋</a:t>
            </a:r>
            <a:r>
              <a:rPr lang="en-US" altLang="zh-CN" sz="2400">
                <a:solidFill>
                  <a:srgbClr val="00B050"/>
                </a:solidFill>
                <a:sym typeface="+mn-ea"/>
              </a:rPr>
              <a:t>3</a:t>
            </a:r>
            <a:r>
              <a:rPr lang="zh-CN" altLang="en-US" sz="2400" dirty="0">
                <a:solidFill>
                  <a:srgbClr val="00B050"/>
                </a:solidFill>
                <a:sym typeface="+mn-ea"/>
              </a:rPr>
              <a:t>＋</a:t>
            </a:r>
            <a:r>
              <a:rPr lang="en-US" altLang="zh-CN" sz="2400">
                <a:solidFill>
                  <a:srgbClr val="00B050"/>
                </a:solidFill>
                <a:sym typeface="+mn-ea"/>
              </a:rPr>
              <a:t>……</a:t>
            </a:r>
            <a:r>
              <a:rPr lang="zh-CN" altLang="en-US" sz="2400" dirty="0">
                <a:solidFill>
                  <a:srgbClr val="00B050"/>
                </a:solidFill>
                <a:sym typeface="+mn-ea"/>
              </a:rPr>
              <a:t>＋</a:t>
            </a:r>
            <a:r>
              <a:rPr lang="en-US" altLang="zh-CN" sz="2400">
                <a:solidFill>
                  <a:srgbClr val="00B050"/>
                </a:solidFill>
                <a:sym typeface="+mn-ea"/>
              </a:rPr>
              <a:t>N</a:t>
            </a:r>
            <a:r>
              <a:rPr lang="zh-CN" altLang="en-US" sz="2400">
                <a:solidFill>
                  <a:schemeClr val="tx1"/>
                </a:solidFill>
                <a:sym typeface="+mn-ea"/>
              </a:rPr>
              <a:t>，可以利用循环结构实现，也可以利用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sym typeface="+mn-ea"/>
              </a:rPr>
              <a:t>等差数列求和公式，借由顺序结构实现。</a:t>
            </a:r>
            <a:endParaRPr lang="en-US" altLang="zh-CN" sz="2400">
              <a:solidFill>
                <a:schemeClr val="tx1"/>
              </a:solidFill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  <a:sym typeface="+mn-ea"/>
              </a:rPr>
              <a:t>知道</a:t>
            </a:r>
            <a:r>
              <a:rPr lang="en-US" altLang="zh-CN" sz="2400" dirty="0">
                <a:solidFill>
                  <a:srgbClr val="00B050"/>
                </a:solidFill>
                <a:latin typeface="+mn-lt"/>
                <a:sym typeface="+mn-ea"/>
              </a:rPr>
              <a:t>Intel</a:t>
            </a:r>
            <a:r>
              <a:rPr lang="zh-CN" altLang="en-US" sz="2400" dirty="0">
                <a:solidFill>
                  <a:srgbClr val="00B050"/>
                </a:solidFill>
                <a:latin typeface="+mn-lt"/>
                <a:sym typeface="+mn-ea"/>
              </a:rPr>
              <a:t>公司为其处理器内置的识别字符串是什么？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Intel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处理器提供了处理器识别指令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CPUID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指令。当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EAX=0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时执行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CPUID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指令，将通过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EBX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EDX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ECX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返回生产厂商的标识串。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4.1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顺序程序结构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17079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4-1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自然数求和程序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5843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3568" y="1689669"/>
            <a:ext cx="7920880" cy="4492625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 marL="0" indent="0" latinLnBrk="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数据段</a:t>
            </a:r>
            <a:endParaRPr lang="zh-CN" altLang="en-US" sz="2000" b="1" dirty="0">
              <a:solidFill>
                <a:schemeClr val="tx1"/>
              </a:solidFill>
              <a:latin typeface="+mn-lt"/>
            </a:endParaRPr>
          </a:p>
          <a:p>
            <a:pPr marL="0" indent="0" latinLnBrk="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num	dd 3456	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假设一个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N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值（小于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232-1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）</a:t>
            </a:r>
            <a:endParaRPr lang="zh-CN" altLang="en-US" sz="2000" b="1" dirty="0">
              <a:latin typeface="+mn-lt"/>
            </a:endParaRPr>
          </a:p>
          <a:p>
            <a:pPr marL="0" indent="0" latinLnBrk="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sum	dq 0</a:t>
            </a:r>
            <a:endParaRPr lang="en-US" altLang="zh-CN" sz="2000" b="1" dirty="0">
              <a:latin typeface="+mn-lt"/>
            </a:endParaRPr>
          </a:p>
          <a:p>
            <a:pPr marL="0" indent="0" latinLnBrk="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代码段</a:t>
            </a:r>
            <a:endParaRPr lang="zh-CN" altLang="en-US" sz="2000" b="1" dirty="0">
              <a:solidFill>
                <a:schemeClr val="tx1"/>
              </a:solidFill>
              <a:latin typeface="+mn-lt"/>
            </a:endParaRPr>
          </a:p>
          <a:p>
            <a:pPr marL="0" indent="457200" latinLnBrk="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mov eax,[num]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;EAX=N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 marL="0" indent="457200" latinLnBrk="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add eax,1	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;EAX=N+1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 marL="0" indent="457200" latinLnBrk="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imul dword ptr [num]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;EDX.EAX=(1+N)</a:t>
            </a:r>
            <a:r>
              <a:rPr lang="en-US" altLang="en-US" sz="2000" b="1" dirty="0">
                <a:solidFill>
                  <a:srgbClr val="00B050"/>
                </a:solidFill>
                <a:latin typeface="+mn-lt"/>
              </a:rPr>
              <a:t>×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N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 marL="0" indent="457200" latinLnBrk="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shr edx,1	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;64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位逻辑右移一位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(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除以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2)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 marL="0" indent="457200" latinLnBrk="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rcr eax,1	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;EDX.EAX= EDX.EAX</a:t>
            </a:r>
            <a:r>
              <a:rPr lang="en-US" altLang="en-US" sz="2000" b="1" dirty="0">
                <a:solidFill>
                  <a:srgbClr val="00B050"/>
                </a:solidFill>
                <a:latin typeface="+mn-lt"/>
              </a:rPr>
              <a:t>÷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2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 marL="0" indent="457200" latinLnBrk="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mov dword ptr [sum],eax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小端方式保存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 marL="0" indent="457200" latinLnBrk="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mov dword ptr [sum+4],edx</a:t>
            </a:r>
            <a:endParaRPr lang="en-US" altLang="zh-CN" sz="2000" b="1" dirty="0">
              <a:latin typeface="+mn-lt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611560" y="664121"/>
            <a:ext cx="7992888" cy="963666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+mn-lt"/>
              </a:rPr>
              <a:t>例：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利用等差数列求和公式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求</a:t>
            </a:r>
            <a:r>
              <a:rPr lang="en-US" altLang="zh-CN" sz="2400">
                <a:solidFill>
                  <a:schemeClr val="tx1"/>
                </a:solidFill>
                <a:sym typeface="+mn-ea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sym typeface="+mn-ea"/>
              </a:rPr>
              <a:t>个自然数之和。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＋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＋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3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＋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……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＋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N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＝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</a:rPr>
              <a:t>(1</a:t>
            </a:r>
            <a:r>
              <a:rPr lang="zh-CN" altLang="en-US" sz="2400" b="1" dirty="0">
                <a:solidFill>
                  <a:srgbClr val="FF0000"/>
                </a:solidFill>
                <a:latin typeface="+mn-lt"/>
              </a:rPr>
              <a:t>＋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</a:rPr>
              <a:t>N)</a:t>
            </a:r>
            <a:r>
              <a:rPr lang="en-US" altLang="en-US" sz="2400" b="1" dirty="0">
                <a:solidFill>
                  <a:srgbClr val="FF0000"/>
                </a:solidFill>
                <a:latin typeface="+mn-lt"/>
              </a:rPr>
              <a:t>×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</a:rPr>
              <a:t>N</a:t>
            </a:r>
            <a:r>
              <a:rPr lang="en-US" altLang="en-US" sz="2400" b="1" dirty="0">
                <a:solidFill>
                  <a:srgbClr val="FF0000"/>
                </a:solidFill>
                <a:latin typeface="+mn-lt"/>
              </a:rPr>
              <a:t>÷</a:t>
            </a:r>
            <a:r>
              <a:rPr lang="en-US" altLang="zh-CN" sz="2400" b="1" dirty="0">
                <a:solidFill>
                  <a:srgbClr val="FF0000"/>
                </a:solidFill>
                <a:latin typeface="+mn-lt"/>
              </a:rPr>
              <a:t>2</a:t>
            </a:r>
            <a:endParaRPr lang="en-US" altLang="zh-CN" sz="2400" b="1" dirty="0">
              <a:solidFill>
                <a:srgbClr val="FF0000"/>
              </a:solidFill>
              <a:latin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endParaRPr lang="en-US" altLang="zh-CN" sz="2400" b="1" dirty="0">
              <a:solidFill>
                <a:srgbClr val="FF0000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4-2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处理器识别程序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5843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3568" y="1689669"/>
            <a:ext cx="7920880" cy="4492625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 marL="0" indent="0" latinLnBrk="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数据段</a:t>
            </a:r>
            <a:endParaRPr lang="zh-CN" altLang="en-US" sz="2000" b="1" dirty="0">
              <a:solidFill>
                <a:schemeClr val="tx1"/>
              </a:solidFill>
              <a:latin typeface="+mn-lt"/>
            </a:endParaRPr>
          </a:p>
          <a:p>
            <a:pPr marL="0" indent="0" latinLnBrk="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buffer	db 'The processor is',12 dup(0),0</a:t>
            </a:r>
            <a:endParaRPr lang="en-US" altLang="zh-CN" sz="2000" b="1" dirty="0">
              <a:latin typeface="+mn-lt"/>
            </a:endParaRPr>
          </a:p>
          <a:p>
            <a:pPr marL="0" indent="0" latinLnBrk="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bufsize	equ $-buffer</a:t>
            </a:r>
            <a:endParaRPr lang="en-US" altLang="zh-CN" sz="2000" b="1" dirty="0">
              <a:latin typeface="+mn-lt"/>
            </a:endParaRPr>
          </a:p>
          <a:p>
            <a:pPr marL="0" indent="0" latinLnBrk="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代码段</a:t>
            </a:r>
            <a:endParaRPr lang="zh-CN" altLang="en-US" sz="2000" b="1" dirty="0">
              <a:solidFill>
                <a:schemeClr val="tx1"/>
              </a:solidFill>
              <a:latin typeface="+mn-lt"/>
            </a:endParaRPr>
          </a:p>
          <a:p>
            <a:pPr marL="0" indent="457200" latinLnBrk="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mov eax,0</a:t>
            </a:r>
            <a:endParaRPr lang="en-US" altLang="zh-CN" sz="2000" b="1" dirty="0">
              <a:latin typeface="+mn-lt"/>
            </a:endParaRPr>
          </a:p>
          <a:p>
            <a:pPr marL="0" indent="457200" latinLnBrk="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cpuid		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执行处理器识别指令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 marL="0" indent="457200" latinLnBrk="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mov dword ptr [buffer+bufsize-13],ebx</a:t>
            </a:r>
            <a:endParaRPr lang="en-US" altLang="zh-CN" sz="2000" b="1" dirty="0">
              <a:latin typeface="+mn-lt"/>
            </a:endParaRPr>
          </a:p>
          <a:p>
            <a:pPr marL="0" indent="457200" latinLnBrk="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mov dword ptr [buffer+bufsize-9],edx</a:t>
            </a:r>
            <a:endParaRPr lang="en-US" altLang="zh-CN" sz="2000" b="1" dirty="0">
              <a:latin typeface="+mn-lt"/>
            </a:endParaRPr>
          </a:p>
          <a:p>
            <a:pPr marL="0" indent="457200" latinLnBrk="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mov dword ptr [buffer+bufsize-5],ecx</a:t>
            </a:r>
            <a:endParaRPr lang="en-US" altLang="zh-CN" sz="2000" b="1" dirty="0">
              <a:latin typeface="+mn-lt"/>
            </a:endParaRPr>
          </a:p>
          <a:p>
            <a:pPr marL="0" indent="457200" latinLnBrk="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mov eax,offset buffer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显示信息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 marL="0" indent="457200" latinLnBrk="0"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call dispmsg</a:t>
            </a:r>
            <a:endParaRPr lang="en-US" altLang="zh-CN" sz="2000" b="1" dirty="0">
              <a:latin typeface="+mn-lt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611560" y="664121"/>
            <a:ext cx="7992888" cy="963666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b="1" dirty="0">
                <a:solidFill>
                  <a:schemeClr val="tx1"/>
                </a:solidFill>
                <a:latin typeface="+mn-lt"/>
              </a:rPr>
              <a:t>例：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当EAX=0时执行CPUID指令，将通过EBX,EDX和ECX返回生产厂商的标识串。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4339" name="filecab3"/>
          <p:cNvSpPr>
            <a:spLocks noEditPoints="1"/>
          </p:cNvSpPr>
          <p:nvPr/>
        </p:nvSpPr>
        <p:spPr>
          <a:xfrm flipV="1">
            <a:off x="6268085" y="1701165"/>
            <a:ext cx="2336165" cy="575945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 cap="rnd" cmpd="sng">
            <a:solidFill>
              <a:srgbClr val="000000"/>
            </a:solidFill>
            <a:prstDash val="sysDot"/>
            <a:round/>
            <a:headEnd type="none" w="med" len="med"/>
            <a:tailEnd type="none" w="med" len="med"/>
          </a:ln>
          <a:effectLst>
            <a:outerShdw dist="107763" dir="2699999" algn="ctr" rotWithShape="0">
              <a:srgbClr val="808080"/>
            </a:outerShdw>
          </a:effectLst>
        </p:spPr>
        <p:txBody>
          <a:bodyPr rot="10800000" anchor="t" anchorCtr="0"/>
          <a:lstStyle/>
          <a:p>
            <a:pPr algn="ctr">
              <a:lnSpc>
                <a:spcPct val="90000"/>
              </a:lnSpc>
            </a:pPr>
            <a:r>
              <a:rPr lang="en-US" altLang="en-US" sz="2600" b="1" err="1">
                <a:solidFill>
                  <a:srgbClr val="FF0000"/>
                </a:solidFill>
                <a:cs typeface="Times New Roman" panose="02020603050405020304" pitchFamily="18" charset="0"/>
              </a:rPr>
              <a:t>Genu</a:t>
            </a:r>
            <a:r>
              <a:rPr lang="en-US" altLang="en-US" sz="2600" b="1" err="1">
                <a:solidFill>
                  <a:srgbClr val="663300"/>
                </a:solidFill>
                <a:cs typeface="Times New Roman" panose="02020603050405020304" pitchFamily="18" charset="0"/>
              </a:rPr>
              <a:t>ineI</a:t>
            </a:r>
            <a:r>
              <a:rPr lang="en-US" altLang="en-US" sz="2600" b="1" err="1">
                <a:solidFill>
                  <a:srgbClr val="FF0000"/>
                </a:solidFill>
                <a:cs typeface="Times New Roman" panose="02020603050405020304" pitchFamily="18" charset="0"/>
              </a:rPr>
              <a:t>ntel</a:t>
            </a:r>
            <a:endParaRPr lang="en-US" altLang="en-US" sz="2600" b="1" err="1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714781"/>
            <a:ext cx="8208912" cy="573855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solidFill>
                  <a:schemeClr val="tx1"/>
                </a:solidFill>
                <a:latin typeface="+mn-lt"/>
              </a:rPr>
              <a:t>改变程序执行顺序、形成分支、循环、调用等程序结构是很常见的程序设计问题</a:t>
            </a:r>
            <a:endParaRPr lang="zh-CN" altLang="en-US" sz="28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solidFill>
                  <a:schemeClr val="tx1"/>
                </a:solidFill>
                <a:latin typeface="+mn-lt"/>
              </a:rPr>
              <a:t>高级语言采用</a:t>
            </a:r>
            <a:r>
              <a:rPr lang="en-US" altLang="zh-CN" sz="2800" dirty="0">
                <a:solidFill>
                  <a:schemeClr val="tx1"/>
                </a:solidFill>
                <a:latin typeface="+mn-lt"/>
              </a:rPr>
              <a:t>IF</a:t>
            </a:r>
            <a:r>
              <a:rPr lang="zh-CN" altLang="en-US" sz="2800" dirty="0">
                <a:solidFill>
                  <a:schemeClr val="tx1"/>
                </a:solidFill>
                <a:latin typeface="+mn-lt"/>
              </a:rPr>
              <a:t>等语句表达条件，并根据条件是否成立转向不同的程序分支</a:t>
            </a:r>
            <a:endParaRPr lang="zh-CN" altLang="en-US" sz="28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solidFill>
                  <a:schemeClr val="tx1"/>
                </a:solidFill>
                <a:latin typeface="+mn-lt"/>
              </a:rPr>
              <a:t>汇编语言需要</a:t>
            </a:r>
            <a:endParaRPr lang="zh-CN" altLang="en-US" sz="2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4.2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分支程序结构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17079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内容占位符 2"/>
          <p:cNvSpPr txBox="1"/>
          <p:nvPr/>
        </p:nvSpPr>
        <p:spPr>
          <a:xfrm>
            <a:off x="467544" y="3573016"/>
            <a:ext cx="6402982" cy="3024336"/>
          </a:xfrm>
          <a:prstGeom prst="rect">
            <a:avLst/>
          </a:prstGeom>
        </p:spPr>
        <p:txBody>
          <a:bodyPr/>
          <a:lstStyle/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+mn-lt"/>
              </a:rPr>
              <a:t>首先利用比较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CMP</a:t>
            </a:r>
            <a:r>
              <a:rPr lang="zh-CN" altLang="en-US" sz="2400" dirty="0">
                <a:latin typeface="+mn-lt"/>
              </a:rPr>
              <a:t>、测试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TEST</a:t>
            </a:r>
            <a:r>
              <a:rPr lang="zh-CN" altLang="en-US" sz="2400" dirty="0">
                <a:latin typeface="+mn-lt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加减</a:t>
            </a:r>
            <a:r>
              <a:rPr lang="zh-CN" altLang="en-US" sz="2400" dirty="0">
                <a:latin typeface="+mn-lt"/>
              </a:rPr>
              <a:t>运算、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逻辑</a:t>
            </a:r>
            <a:r>
              <a:rPr lang="zh-CN" altLang="en-US" sz="2400" dirty="0">
                <a:latin typeface="+mn-lt"/>
              </a:rPr>
              <a:t>运算等影响状态标志的指令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形成条件</a:t>
            </a:r>
            <a:endParaRPr lang="zh-CN" altLang="en-US" sz="24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+mn-lt"/>
              </a:rPr>
              <a:t>然后利用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条件转移指令</a:t>
            </a:r>
            <a:r>
              <a:rPr lang="zh-CN" altLang="en-US" sz="2400" dirty="0">
                <a:latin typeface="+mn-lt"/>
              </a:rPr>
              <a:t>判断由标志表达的条件</a:t>
            </a:r>
            <a:r>
              <a:rPr lang="en-US" altLang="zh-CN" sz="2400" dirty="0">
                <a:latin typeface="+mn-lt"/>
              </a:rPr>
              <a:t>,</a:t>
            </a:r>
            <a:r>
              <a:rPr lang="zh-CN" altLang="en-US" sz="2400" dirty="0">
                <a:latin typeface="+mn-lt"/>
              </a:rPr>
              <a:t>并根据标志状态控制程序转移到不同的程序段</a:t>
            </a:r>
            <a:endParaRPr lang="zh-CN" altLang="en-US" sz="2400" dirty="0">
              <a:latin typeface="+mn-lt"/>
            </a:endParaRPr>
          </a:p>
        </p:txBody>
      </p:sp>
      <p:sp>
        <p:nvSpPr>
          <p:cNvPr id="9" name="Line 4"/>
          <p:cNvSpPr>
            <a:spLocks noChangeShapeType="1"/>
          </p:cNvSpPr>
          <p:nvPr/>
        </p:nvSpPr>
        <p:spPr bwMode="auto">
          <a:xfrm>
            <a:off x="7788746" y="4005064"/>
            <a:ext cx="0" cy="914400"/>
          </a:xfrm>
          <a:prstGeom prst="line">
            <a:avLst/>
          </a:prstGeom>
          <a:noFill/>
          <a:ln w="76200" cmpd="tri">
            <a:solidFill>
              <a:schemeClr val="tx2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5"/>
          <p:cNvSpPr>
            <a:spLocks noChangeShapeType="1"/>
          </p:cNvSpPr>
          <p:nvPr/>
        </p:nvSpPr>
        <p:spPr bwMode="auto">
          <a:xfrm flipH="1">
            <a:off x="7236296" y="4919464"/>
            <a:ext cx="457200" cy="838200"/>
          </a:xfrm>
          <a:prstGeom prst="line">
            <a:avLst/>
          </a:prstGeom>
          <a:noFill/>
          <a:ln w="76200" cmpd="tri">
            <a:solidFill>
              <a:schemeClr val="tx2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6"/>
          <p:cNvSpPr>
            <a:spLocks noChangeShapeType="1"/>
          </p:cNvSpPr>
          <p:nvPr/>
        </p:nvSpPr>
        <p:spPr bwMode="auto">
          <a:xfrm>
            <a:off x="7864946" y="4919464"/>
            <a:ext cx="457200" cy="838200"/>
          </a:xfrm>
          <a:prstGeom prst="line">
            <a:avLst/>
          </a:prstGeom>
          <a:noFill/>
          <a:ln w="76200" cmpd="tri">
            <a:solidFill>
              <a:schemeClr val="tx2"/>
            </a:solidFill>
            <a:rou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799141"/>
            <a:ext cx="8424936" cy="5644670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处理器利用</a:t>
            </a:r>
            <a:r>
              <a:rPr lang="en-US" altLang="zh-CN" sz="2800" dirty="0">
                <a:latin typeface="+mn-lt"/>
              </a:rPr>
              <a:t>CS:EIP</a:t>
            </a:r>
            <a:r>
              <a:rPr lang="zh-CN" altLang="en-US" sz="2800" dirty="0">
                <a:latin typeface="+mn-lt"/>
              </a:rPr>
              <a:t>取得下一条要执行的指令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CS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：指明代码段在主存中的段基地址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EIP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：给出将要执行指令的偏移地址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随着程序代码的执行，</a:t>
            </a:r>
            <a:r>
              <a:rPr lang="en-US" altLang="zh-CN" sz="2800" dirty="0">
                <a:latin typeface="+mn-lt"/>
              </a:rPr>
              <a:t>CS</a:t>
            </a:r>
            <a:r>
              <a:rPr lang="zh-CN" altLang="en-US" sz="2800" dirty="0">
                <a:latin typeface="+mn-lt"/>
              </a:rPr>
              <a:t>和</a:t>
            </a:r>
            <a:r>
              <a:rPr lang="en-US" altLang="zh-CN" sz="2800" dirty="0">
                <a:latin typeface="+mn-lt"/>
              </a:rPr>
              <a:t>EIP</a:t>
            </a:r>
            <a:r>
              <a:rPr lang="zh-CN" altLang="en-US" sz="2800" dirty="0">
                <a:latin typeface="+mn-lt"/>
              </a:rPr>
              <a:t>的内容会相应改变</a:t>
            </a:r>
            <a:endParaRPr lang="en-US" altLang="zh-CN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程序顺序执行，处理器自动增量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EIP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段内转移：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程序控制转移，只改变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EIP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段间转移：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转移到另外的代码段，同时改变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CS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EIP</a:t>
            </a:r>
            <a:endParaRPr lang="zh-CN" altLang="en-US" sz="2400" dirty="0">
              <a:solidFill>
                <a:srgbClr val="00B050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solidFill>
                  <a:srgbClr val="FF0000"/>
                </a:solidFill>
                <a:latin typeface="+mn-lt"/>
              </a:rPr>
              <a:t>控制转移类指令</a:t>
            </a:r>
            <a:r>
              <a:rPr lang="zh-CN" altLang="en-US" sz="2800" dirty="0">
                <a:latin typeface="+mn-lt"/>
              </a:rPr>
              <a:t>：改变程序执行顺序（即改变</a:t>
            </a:r>
            <a:r>
              <a:rPr lang="en-US" altLang="zh-CN" sz="2800" dirty="0">
                <a:latin typeface="+mn-lt"/>
              </a:rPr>
              <a:t>EIP</a:t>
            </a:r>
            <a:r>
              <a:rPr lang="zh-CN" altLang="en-US" sz="2800" dirty="0">
                <a:latin typeface="+mn-lt"/>
              </a:rPr>
              <a:t>或同时改变</a:t>
            </a:r>
            <a:r>
              <a:rPr lang="en-US" altLang="zh-CN" sz="2800" dirty="0">
                <a:latin typeface="+mn-lt"/>
              </a:rPr>
              <a:t>CS</a:t>
            </a:r>
            <a:r>
              <a:rPr lang="zh-CN" altLang="en-US" sz="2800" dirty="0">
                <a:latin typeface="+mn-lt"/>
              </a:rPr>
              <a:t>和</a:t>
            </a:r>
            <a:r>
              <a:rPr lang="en-US" altLang="zh-CN" sz="2800" dirty="0">
                <a:latin typeface="+mn-lt"/>
              </a:rPr>
              <a:t>EIP</a:t>
            </a:r>
            <a:r>
              <a:rPr lang="zh-CN" altLang="en-US" sz="2800" dirty="0">
                <a:latin typeface="+mn-lt"/>
              </a:rPr>
              <a:t>）的指令</a:t>
            </a:r>
            <a:endParaRPr lang="zh-CN" altLang="en-US" sz="28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4.2.1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无条件转移指令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2127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411" name="filecab3"/>
          <p:cNvSpPr>
            <a:spLocks noEditPoints="1"/>
          </p:cNvSpPr>
          <p:nvPr/>
        </p:nvSpPr>
        <p:spPr>
          <a:xfrm flipV="1">
            <a:off x="4139248" y="5805170"/>
            <a:ext cx="4560887" cy="576263"/>
          </a:xfrm>
          <a:custGeom>
            <a:avLst/>
            <a:gdLst>
              <a:gd name="txL" fmla="*/ 1003 w 21600"/>
              <a:gd name="txT" fmla="*/ 510 h 21600"/>
              <a:gd name="txR" fmla="*/ 20541 w 21600"/>
              <a:gd name="txB" fmla="*/ 18764 h 21600"/>
            </a:gdLst>
            <a:ahLst/>
            <a:cxnLst>
              <a:cxn ang="0">
                <a:pos x="10800" y="0"/>
              </a:cxn>
              <a:cxn ang="0">
                <a:pos x="0" y="0"/>
              </a:cxn>
              <a:cxn ang="0">
                <a:pos x="0" y="10800"/>
              </a:cxn>
              <a:cxn ang="0">
                <a:pos x="0" y="20367"/>
              </a:cxn>
              <a:cxn ang="0">
                <a:pos x="10800" y="21600"/>
              </a:cxn>
              <a:cxn ang="0">
                <a:pos x="21600" y="20367"/>
              </a:cxn>
              <a:cxn ang="0">
                <a:pos x="21600" y="10800"/>
              </a:cxn>
              <a:cxn ang="0">
                <a:pos x="21600" y="0"/>
              </a:cxn>
            </a:cxnLst>
            <a:rect l="txL" t="txT" r="txR" b="txB"/>
            <a:pathLst>
              <a:path w="21600" h="21600">
                <a:moveTo>
                  <a:pt x="10788" y="0"/>
                </a:moveTo>
                <a:lnTo>
                  <a:pt x="0" y="0"/>
                </a:lnTo>
                <a:lnTo>
                  <a:pt x="0" y="10800"/>
                </a:lnTo>
                <a:lnTo>
                  <a:pt x="0" y="19099"/>
                </a:lnTo>
                <a:lnTo>
                  <a:pt x="8466" y="19099"/>
                </a:lnTo>
                <a:lnTo>
                  <a:pt x="8490" y="19440"/>
                </a:lnTo>
                <a:lnTo>
                  <a:pt x="8537" y="20008"/>
                </a:lnTo>
                <a:lnTo>
                  <a:pt x="8607" y="20349"/>
                </a:lnTo>
                <a:lnTo>
                  <a:pt x="8701" y="20691"/>
                </a:lnTo>
                <a:lnTo>
                  <a:pt x="8842" y="21145"/>
                </a:lnTo>
                <a:lnTo>
                  <a:pt x="9053" y="21373"/>
                </a:lnTo>
                <a:lnTo>
                  <a:pt x="9264" y="21600"/>
                </a:lnTo>
                <a:lnTo>
                  <a:pt x="9545" y="21600"/>
                </a:lnTo>
                <a:lnTo>
                  <a:pt x="10718" y="21600"/>
                </a:lnTo>
                <a:lnTo>
                  <a:pt x="11891" y="21600"/>
                </a:lnTo>
                <a:lnTo>
                  <a:pt x="12266" y="21600"/>
                </a:lnTo>
                <a:lnTo>
                  <a:pt x="12477" y="21429"/>
                </a:lnTo>
                <a:lnTo>
                  <a:pt x="12618" y="21202"/>
                </a:lnTo>
                <a:lnTo>
                  <a:pt x="12758" y="20861"/>
                </a:lnTo>
                <a:lnTo>
                  <a:pt x="12922" y="20349"/>
                </a:lnTo>
                <a:lnTo>
                  <a:pt x="12993" y="19952"/>
                </a:lnTo>
                <a:lnTo>
                  <a:pt x="13016" y="19440"/>
                </a:lnTo>
                <a:lnTo>
                  <a:pt x="13063" y="19099"/>
                </a:lnTo>
                <a:lnTo>
                  <a:pt x="21600" y="19099"/>
                </a:lnTo>
                <a:lnTo>
                  <a:pt x="21600" y="10800"/>
                </a:lnTo>
                <a:lnTo>
                  <a:pt x="21600" y="0"/>
                </a:lnTo>
                <a:lnTo>
                  <a:pt x="10788" y="0"/>
                </a:lnTo>
                <a:close/>
                <a:moveTo>
                  <a:pt x="9053" y="19099"/>
                </a:moveTo>
                <a:lnTo>
                  <a:pt x="9053" y="19440"/>
                </a:lnTo>
                <a:lnTo>
                  <a:pt x="9076" y="19611"/>
                </a:lnTo>
                <a:lnTo>
                  <a:pt x="9123" y="19781"/>
                </a:lnTo>
                <a:lnTo>
                  <a:pt x="9193" y="20008"/>
                </a:lnTo>
                <a:lnTo>
                  <a:pt x="9264" y="20179"/>
                </a:lnTo>
                <a:lnTo>
                  <a:pt x="9334" y="20293"/>
                </a:lnTo>
                <a:lnTo>
                  <a:pt x="9405" y="20349"/>
                </a:lnTo>
                <a:lnTo>
                  <a:pt x="9545" y="20349"/>
                </a:lnTo>
                <a:lnTo>
                  <a:pt x="11891" y="20349"/>
                </a:lnTo>
                <a:lnTo>
                  <a:pt x="12031" y="20349"/>
                </a:lnTo>
                <a:lnTo>
                  <a:pt x="12172" y="20236"/>
                </a:lnTo>
                <a:lnTo>
                  <a:pt x="12266" y="20179"/>
                </a:lnTo>
                <a:lnTo>
                  <a:pt x="12336" y="20008"/>
                </a:lnTo>
                <a:lnTo>
                  <a:pt x="12383" y="19838"/>
                </a:lnTo>
                <a:lnTo>
                  <a:pt x="12430" y="19611"/>
                </a:lnTo>
                <a:lnTo>
                  <a:pt x="12477" y="19440"/>
                </a:lnTo>
                <a:lnTo>
                  <a:pt x="12477" y="19099"/>
                </a:lnTo>
                <a:lnTo>
                  <a:pt x="9053" y="19099"/>
                </a:lnTo>
                <a:close/>
              </a:path>
              <a:path w="21600" h="21600">
                <a:moveTo>
                  <a:pt x="9053" y="19099"/>
                </a:moveTo>
                <a:lnTo>
                  <a:pt x="0" y="19099"/>
                </a:lnTo>
                <a:lnTo>
                  <a:pt x="21600" y="19099"/>
                </a:lnTo>
              </a:path>
            </a:pathLst>
          </a:custGeom>
          <a:solidFill>
            <a:schemeClr val="bg1">
              <a:lumMod val="90000"/>
            </a:schemeClr>
          </a:solidFill>
          <a:ln w="9525" cap="rnd" cmpd="sng">
            <a:solidFill>
              <a:srgbClr val="000000"/>
            </a:solidFill>
            <a:prstDash val="sysDot"/>
            <a:miter/>
            <a:headEnd type="none" w="med" len="med"/>
            <a:tailEnd type="none" w="med" len="med"/>
          </a:ln>
          <a:effectLst>
            <a:outerShdw dist="107763" dir="2699999" algn="ctr" rotWithShape="0">
              <a:srgbClr val="808080"/>
            </a:outerShdw>
          </a:effectLst>
        </p:spPr>
        <p:txBody>
          <a:bodyPr rot="10800000" anchor="t" anchorCtr="0"/>
          <a:lstStyle/>
          <a:p>
            <a:pPr algn="ctr"/>
            <a:r>
              <a:rPr lang="zh-CN" altLang="en-US" sz="2800" b="1" dirty="0">
                <a:latin typeface="Arial" panose="020B0604020202020204" pitchFamily="34" charset="0"/>
              </a:rPr>
              <a:t>本章学习</a:t>
            </a:r>
            <a:r>
              <a:rPr lang="zh-CN" altLang="en-US" sz="2800" b="1" dirty="0">
                <a:latin typeface="宋体" panose="02010600030101010101" pitchFamily="2" charset="-122"/>
              </a:rPr>
              <a:t>控制转移类指令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311785" y="655320"/>
            <a:ext cx="8509000" cy="5644515"/>
          </a:xfrm>
          <a:prstGeom prst="rect">
            <a:avLst/>
          </a:prstGeom>
        </p:spPr>
        <p:txBody>
          <a:bodyPr/>
          <a:lstStyle/>
          <a:p>
            <a:pPr marL="457200" indent="-45720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段内转移</a:t>
            </a:r>
            <a:endParaRPr lang="zh-CN" altLang="en-US" sz="2800" dirty="0">
              <a:latin typeface="+mn-lt"/>
            </a:endParaRPr>
          </a:p>
          <a:p>
            <a:pPr marL="914400" lvl="1" indent="-45720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在当前代码段范围内的程序转移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不需更改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CS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，只要改变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EIP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（偏移地址）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rgbClr val="00B050"/>
                </a:solidFill>
                <a:latin typeface="+mn-lt"/>
              </a:rPr>
              <a:t>近转移</a:t>
            </a:r>
            <a:r>
              <a:rPr lang="en-US" altLang="zh-CN" sz="2200" dirty="0">
                <a:solidFill>
                  <a:srgbClr val="00B050"/>
                </a:solidFill>
                <a:latin typeface="+mn-lt"/>
              </a:rPr>
              <a:t>(Near)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：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32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位近转移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NEAR32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（平展或段式存储模型）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  <a:p>
            <a:pPr lvl="1" indent="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                                 16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位近转移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NEAR16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（实地址存储模型）</a:t>
            </a:r>
            <a:endParaRPr lang="en-US" altLang="zh-CN" sz="22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rgbClr val="00B050"/>
                </a:solidFill>
                <a:latin typeface="+mn-lt"/>
              </a:rPr>
              <a:t>短转移</a:t>
            </a:r>
            <a:r>
              <a:rPr lang="en-US" altLang="zh-CN" sz="2200" dirty="0">
                <a:solidFill>
                  <a:srgbClr val="00B050"/>
                </a:solidFill>
                <a:latin typeface="+mn-lt"/>
              </a:rPr>
              <a:t>(Short)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：多数程序转移都在同一个代码段中，转移范围在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127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～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-128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字节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  <a:p>
            <a:pPr marL="457200" indent="-45720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段间转移</a:t>
            </a:r>
            <a:endParaRPr lang="en-US" altLang="zh-CN" sz="2800" dirty="0">
              <a:latin typeface="+mn-lt"/>
            </a:endParaRPr>
          </a:p>
          <a:p>
            <a:pPr marL="914400" lvl="1" indent="-45720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从当前代码段跳转到另一个代码段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需要更改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CS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（段地址）和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EIP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（偏移地址）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rgbClr val="00B050"/>
                </a:solidFill>
                <a:latin typeface="+mn-lt"/>
              </a:rPr>
              <a:t>远转移</a:t>
            </a:r>
            <a:r>
              <a:rPr lang="en-US" altLang="zh-CN" sz="2200" dirty="0">
                <a:solidFill>
                  <a:srgbClr val="00B050"/>
                </a:solidFill>
                <a:latin typeface="+mn-lt"/>
              </a:rPr>
              <a:t>(Far)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：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48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位远转移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FAR32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  <a:p>
            <a:pPr lvl="1" indent="0" algn="just" latinLnBrk="0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                               32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位远转移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FAR16</a:t>
            </a:r>
            <a:r>
              <a:rPr lang="zh-CN" altLang="en-US" sz="2200" dirty="0">
                <a:solidFill>
                  <a:schemeClr val="tx1"/>
                </a:solidFill>
                <a:latin typeface="+mn-lt"/>
                <a:sym typeface="+mn-ea"/>
              </a:rPr>
              <a:t>（实地址存储模型）</a:t>
            </a:r>
            <a:endParaRPr lang="en-US" altLang="zh-CN" sz="2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1.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转移范围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64951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539552" y="692696"/>
            <a:ext cx="8208912" cy="6048672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相对寻址方式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提供目标地址相对于当前指令指针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EIP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的位移量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目标地址（转移后的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EIP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）＝当前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EIP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＋位移量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相对寻址都是段内转移，最常用、最灵活</a:t>
            </a:r>
            <a:endParaRPr lang="zh-CN" altLang="en-US" sz="2400" dirty="0">
              <a:solidFill>
                <a:srgbClr val="FF0000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直接寻址方式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直接提供目标地址，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IA-32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只支持段间直接寻址</a:t>
            </a:r>
            <a:endParaRPr lang="zh-CN" altLang="en-US" sz="24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目标地址（转移后的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CS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和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EIP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）＝指令操作数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间接寻址方式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目标地址来自寄存器或存储单元、间接获得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寄存器间接寻址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：用寄存器保存目标地址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存储器间接寻址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：用存储单元保存目标地址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30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指令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寻址方式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679352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804848"/>
            <a:ext cx="8280920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solidFill>
                  <a:schemeClr val="tx1"/>
                </a:solidFill>
                <a:latin typeface="+mn-lt"/>
              </a:rPr>
              <a:t>无条件转移：程序无条件改变执行顺序</a:t>
            </a:r>
            <a:endParaRPr lang="zh-CN" altLang="en-US" sz="28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dirty="0">
                <a:solidFill>
                  <a:schemeClr val="tx1"/>
                </a:solidFill>
                <a:latin typeface="+mn-lt"/>
              </a:rPr>
              <a:t>JMP</a:t>
            </a:r>
            <a:r>
              <a:rPr lang="zh-CN" altLang="en-US" sz="2800" dirty="0">
                <a:solidFill>
                  <a:schemeClr val="tx1"/>
                </a:solidFill>
                <a:latin typeface="+mn-lt"/>
              </a:rPr>
              <a:t>指令相当于高级语言的</a:t>
            </a:r>
            <a:r>
              <a:rPr lang="en-US" altLang="zh-CN" sz="2800" dirty="0" err="1">
                <a:solidFill>
                  <a:schemeClr val="tx1"/>
                </a:solidFill>
                <a:latin typeface="+mn-lt"/>
              </a:rPr>
              <a:t>goto</a:t>
            </a:r>
            <a:r>
              <a:rPr lang="zh-CN" altLang="en-US" sz="2800" dirty="0">
                <a:solidFill>
                  <a:schemeClr val="tx1"/>
                </a:solidFill>
                <a:latin typeface="+mn-lt"/>
              </a:rPr>
              <a:t>语句</a:t>
            </a:r>
            <a:endParaRPr lang="zh-CN" altLang="en-US" sz="28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3. JMP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指令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647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050479" y="2060848"/>
            <a:ext cx="7174879" cy="4392488"/>
          </a:xfrm>
          <a:prstGeom prst="rect">
            <a:avLst/>
          </a:prstGeom>
          <a:solidFill>
            <a:srgbClr val="DDEEFF"/>
          </a:solidFill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en-US" altLang="zh-CN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JMP label</a:t>
            </a:r>
            <a:endParaRPr lang="en-US" altLang="zh-CN" sz="2200" b="1" dirty="0">
              <a:solidFill>
                <a:srgbClr val="FF0000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en-US" altLang="zh-CN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		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;</a:t>
            </a:r>
            <a:r>
              <a:rPr lang="zh-CN" altLang="en-US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程序转向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label</a:t>
            </a:r>
            <a:r>
              <a:rPr lang="zh-CN" altLang="en-US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标号指定的地址</a:t>
            </a:r>
            <a:endParaRPr lang="zh-CN" altLang="en-US" sz="2200" b="1" dirty="0">
              <a:solidFill>
                <a:srgbClr val="00B050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zh-CN" altLang="en-US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	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	;</a:t>
            </a:r>
            <a:r>
              <a:rPr lang="zh-CN" altLang="en-US" sz="2200" b="1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</a:rPr>
              <a:t>段内</a:t>
            </a:r>
            <a:r>
              <a:rPr lang="zh-CN" altLang="en-US" sz="2200" b="1" dirty="0">
                <a:solidFill>
                  <a:srgbClr val="00B050"/>
                </a:solidFill>
                <a:highlight>
                  <a:srgbClr val="FFFF00"/>
                </a:highlight>
                <a:latin typeface="+mj-lt"/>
                <a:ea typeface="黑体" panose="02010609060101010101" pitchFamily="49" charset="-122"/>
              </a:rPr>
              <a:t>相对寻址</a:t>
            </a:r>
            <a:r>
              <a:rPr lang="zh-CN" altLang="en-US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，</a:t>
            </a:r>
            <a:r>
              <a:rPr lang="zh-CN" altLang="en-US" sz="2200" b="1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</a:rPr>
              <a:t>段间</a:t>
            </a:r>
            <a:r>
              <a:rPr lang="zh-CN" altLang="en-US" sz="2200" b="1" dirty="0">
                <a:solidFill>
                  <a:srgbClr val="00B050"/>
                </a:solidFill>
                <a:highlight>
                  <a:srgbClr val="FFFF00"/>
                </a:highlight>
                <a:latin typeface="+mj-lt"/>
                <a:ea typeface="黑体" panose="02010609060101010101" pitchFamily="49" charset="-122"/>
              </a:rPr>
              <a:t>直接寻址</a:t>
            </a:r>
            <a:endParaRPr lang="zh-CN" altLang="en-US" sz="2200" b="1" dirty="0">
              <a:solidFill>
                <a:srgbClr val="00B050"/>
              </a:solidFill>
              <a:highlight>
                <a:srgbClr val="FFFF00"/>
              </a:highlight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en-US" altLang="zh-CN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JMP reg32/reg16</a:t>
            </a:r>
            <a:endParaRPr lang="en-US" altLang="zh-CN" sz="2200" b="1" dirty="0">
              <a:solidFill>
                <a:srgbClr val="FF0000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en-US" altLang="zh-CN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		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;</a:t>
            </a:r>
            <a:r>
              <a:rPr lang="zh-CN" altLang="en-US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程序转向寄存器指定的地址</a:t>
            </a:r>
            <a:endParaRPr lang="zh-CN" altLang="en-US" sz="2200" b="1" dirty="0">
              <a:solidFill>
                <a:srgbClr val="00B050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zh-CN" altLang="en-US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	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	;</a:t>
            </a:r>
            <a:r>
              <a:rPr lang="zh-CN" altLang="en-US" sz="2200" b="1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</a:rPr>
              <a:t>寄存器</a:t>
            </a:r>
            <a:r>
              <a:rPr lang="zh-CN" altLang="en-US" sz="2200" b="1" dirty="0">
                <a:solidFill>
                  <a:srgbClr val="00B050"/>
                </a:solidFill>
                <a:highlight>
                  <a:srgbClr val="FFFF00"/>
                </a:highlight>
                <a:latin typeface="+mj-lt"/>
                <a:ea typeface="黑体" panose="02010609060101010101" pitchFamily="49" charset="-122"/>
              </a:rPr>
              <a:t>间接寻址</a:t>
            </a:r>
            <a:endParaRPr lang="zh-CN" altLang="en-US" sz="2200" b="1" dirty="0">
              <a:solidFill>
                <a:srgbClr val="00B050"/>
              </a:solidFill>
              <a:highlight>
                <a:srgbClr val="FFFF00"/>
              </a:highlight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en-US" altLang="zh-CN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JMP mem48/mem32/mem16</a:t>
            </a:r>
            <a:endParaRPr lang="en-US" altLang="zh-CN" sz="2200" b="1" dirty="0">
              <a:solidFill>
                <a:srgbClr val="FF0000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en-US" altLang="zh-CN" sz="22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		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;</a:t>
            </a:r>
            <a:r>
              <a:rPr lang="zh-CN" altLang="en-US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程序转向存储单元指定的地址</a:t>
            </a:r>
            <a:endParaRPr lang="zh-CN" altLang="en-US" sz="2200" b="1" dirty="0">
              <a:solidFill>
                <a:srgbClr val="00B050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300"/>
              </a:spcBef>
              <a:buFontTx/>
              <a:buNone/>
            </a:pPr>
            <a:r>
              <a:rPr lang="zh-CN" altLang="en-US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	</a:t>
            </a: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	;</a:t>
            </a:r>
            <a:r>
              <a:rPr lang="zh-CN" altLang="en-US" sz="2200" b="1" dirty="0">
                <a:solidFill>
                  <a:srgbClr val="0000FF"/>
                </a:solidFill>
                <a:latin typeface="+mj-lt"/>
                <a:ea typeface="黑体" panose="02010609060101010101" pitchFamily="49" charset="-122"/>
              </a:rPr>
              <a:t>存储器</a:t>
            </a:r>
            <a:r>
              <a:rPr lang="zh-CN" altLang="en-US" sz="2200" b="1" dirty="0">
                <a:solidFill>
                  <a:srgbClr val="00B050"/>
                </a:solidFill>
                <a:highlight>
                  <a:srgbClr val="FFFF00"/>
                </a:highlight>
                <a:latin typeface="+mj-lt"/>
                <a:ea typeface="黑体" panose="02010609060101010101" pitchFamily="49" charset="-122"/>
              </a:rPr>
              <a:t>间接寻址</a:t>
            </a:r>
            <a:endParaRPr lang="zh-CN" altLang="en-US" sz="2200" dirty="0">
              <a:solidFill>
                <a:srgbClr val="00B050"/>
              </a:solidFill>
              <a:highlight>
                <a:srgbClr val="FFFF00"/>
              </a:highlight>
              <a:latin typeface="+mn-lt"/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4-4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无条件转移程序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-1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679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3568" y="721827"/>
            <a:ext cx="8208912" cy="6052491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数据段</a:t>
            </a:r>
            <a:endParaRPr lang="zh-CN" altLang="en-US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08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00000000	00000000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8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nvar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dword</a:t>
            </a:r>
            <a:r>
              <a:rPr lang="en-US" altLang="zh-CN" sz="2000" b="1" dirty="0">
                <a:latin typeface="+mn-lt"/>
              </a:rPr>
              <a:t> ? 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08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代码段</a:t>
            </a:r>
            <a:endParaRPr lang="zh-CN" altLang="en-US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08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00000000	EB </a:t>
            </a:r>
            <a:r>
              <a:rPr lang="en-US" altLang="zh-CN" sz="2000" b="1" dirty="0">
                <a:solidFill>
                  <a:srgbClr val="00B050"/>
                </a:solidFill>
                <a:highlight>
                  <a:srgbClr val="FFFF00"/>
                </a:highlight>
                <a:latin typeface="+mn-lt"/>
              </a:rPr>
              <a:t>01</a:t>
            </a:r>
            <a:endParaRPr lang="en-US" altLang="zh-CN" sz="2000" b="1" dirty="0">
              <a:solidFill>
                <a:srgbClr val="00B050"/>
              </a:solidFill>
              <a:highlight>
                <a:srgbClr val="FFFF00"/>
              </a:highlight>
              <a:latin typeface="+mn-lt"/>
            </a:endParaRPr>
          </a:p>
          <a:p>
            <a:pPr>
              <a:lnSpc>
                <a:spcPct val="108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jmp</a:t>
            </a:r>
            <a:r>
              <a:rPr lang="en-US" altLang="zh-CN" sz="2000" b="1" dirty="0">
                <a:latin typeface="+mn-lt"/>
              </a:rPr>
              <a:t> labl1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       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相对寻址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短转移，位移量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个字节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)</a:t>
            </a:r>
            <a:endParaRPr lang="zh-CN" altLang="en-US" sz="2000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08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00000002	90	       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注意当前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IP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值已经指向下一条指令</a:t>
            </a:r>
            <a:endParaRPr lang="en-US" altLang="zh-CN" sz="2000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08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nop</a:t>
            </a:r>
            <a:r>
              <a:rPr lang="en-US" altLang="zh-CN" sz="2000" b="1" dirty="0">
                <a:latin typeface="+mn-lt"/>
              </a:rPr>
              <a:t> 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                            ; No Operation</a:t>
            </a:r>
            <a:endParaRPr lang="en-US" altLang="zh-CN" sz="2000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08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00000003	E9 </a:t>
            </a:r>
            <a:r>
              <a:rPr lang="en-US" altLang="zh-CN" sz="2000" b="1" dirty="0">
                <a:solidFill>
                  <a:srgbClr val="00B050"/>
                </a:solidFill>
                <a:highlight>
                  <a:srgbClr val="FFFF00"/>
                </a:highlight>
                <a:latin typeface="+mn-lt"/>
              </a:rPr>
              <a:t>00000001</a:t>
            </a:r>
            <a:endParaRPr lang="en-US" altLang="zh-CN" sz="2000" b="1" dirty="0">
              <a:solidFill>
                <a:srgbClr val="00B050"/>
              </a:solidFill>
              <a:highlight>
                <a:srgbClr val="FFFF00"/>
              </a:highlight>
              <a:latin typeface="+mn-lt"/>
            </a:endParaRPr>
          </a:p>
          <a:p>
            <a:pPr>
              <a:lnSpc>
                <a:spcPct val="108000"/>
              </a:lnSpc>
            </a:pPr>
            <a:r>
              <a:rPr lang="en-US" altLang="zh-CN" sz="2000" b="1" dirty="0">
                <a:latin typeface="+mn-lt"/>
              </a:rPr>
              <a:t>labl1:	</a:t>
            </a:r>
            <a:r>
              <a:rPr lang="en-US" altLang="zh-CN" sz="2000" b="1" dirty="0" err="1">
                <a:latin typeface="+mn-lt"/>
              </a:rPr>
              <a:t>jmp</a:t>
            </a:r>
            <a:r>
              <a:rPr lang="en-US" altLang="zh-CN" sz="2000" b="1" dirty="0">
                <a:latin typeface="+mn-lt"/>
              </a:rPr>
              <a:t> near </a:t>
            </a:r>
            <a:r>
              <a:rPr lang="en-US" altLang="zh-CN" sz="2000" b="1" dirty="0" err="1">
                <a:latin typeface="+mn-lt"/>
              </a:rPr>
              <a:t>ptr</a:t>
            </a:r>
            <a:r>
              <a:rPr lang="en-US" altLang="zh-CN" sz="2000" b="1" dirty="0">
                <a:latin typeface="+mn-lt"/>
              </a:rPr>
              <a:t> labl2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    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相对寻址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强制为近转移，位移量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个字节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)</a:t>
            </a:r>
            <a:endParaRPr lang="zh-CN" altLang="en-US" sz="2000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08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00000008	90	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8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nop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08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00000009	B8 00000011 R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8000"/>
              </a:lnSpc>
            </a:pPr>
            <a:r>
              <a:rPr lang="en-US" altLang="zh-CN" sz="2000" b="1" dirty="0">
                <a:latin typeface="+mn-lt"/>
              </a:rPr>
              <a:t>labl2:	mov </a:t>
            </a:r>
            <a:r>
              <a:rPr lang="en-US" altLang="zh-CN" sz="2000" b="1" dirty="0" err="1">
                <a:latin typeface="+mn-lt"/>
              </a:rPr>
              <a:t>eax</a:t>
            </a:r>
            <a:r>
              <a:rPr lang="en-US" altLang="zh-CN" sz="2000" b="1" dirty="0">
                <a:latin typeface="+mn-lt"/>
              </a:rPr>
              <a:t>, offset labl3 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08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0000000E	FF E0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08000"/>
              </a:lnSpc>
            </a:pP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jmp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eax</a:t>
            </a:r>
            <a:r>
              <a:rPr lang="en-US" altLang="zh-CN" sz="2000" b="1" dirty="0">
                <a:latin typeface="+mn-lt"/>
              </a:rPr>
              <a:t>		</a:t>
            </a:r>
            <a:r>
              <a:rPr lang="en-US" altLang="zh-CN" sz="2000" dirty="0">
                <a:latin typeface="+mn-lt"/>
              </a:rPr>
              <a:t>      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寄存器间接寻址</a:t>
            </a:r>
            <a:endParaRPr lang="zh-CN" altLang="en-US" sz="2000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08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00000010	90</a:t>
            </a:r>
            <a:r>
              <a:rPr lang="en-US" altLang="zh-CN" sz="2000" b="1" dirty="0">
                <a:latin typeface="+mn-lt"/>
              </a:rPr>
              <a:t>	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08000"/>
              </a:lnSpc>
            </a:pP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nop</a:t>
            </a:r>
            <a:endParaRPr lang="en-US" altLang="zh-CN" sz="2000" b="1" dirty="0">
              <a:latin typeface="+mn-lt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4-4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无条件转移程序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-2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679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3567" y="836712"/>
            <a:ext cx="7836991" cy="3692525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00000011	B8 00000022 R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latin typeface="+mn-lt"/>
              </a:rPr>
              <a:t>labl3:	mov </a:t>
            </a:r>
            <a:r>
              <a:rPr lang="en-US" altLang="zh-CN" sz="2000" b="1" dirty="0" err="1">
                <a:latin typeface="+mn-lt"/>
              </a:rPr>
              <a:t>eax</a:t>
            </a:r>
            <a:r>
              <a:rPr lang="en-US" altLang="zh-CN" sz="2000" b="1" dirty="0">
                <a:latin typeface="+mn-lt"/>
              </a:rPr>
              <a:t>, offset labl4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00000016	A3 00000000 R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[</a:t>
            </a:r>
            <a:r>
              <a:rPr lang="en-US" altLang="zh-CN" sz="2000" b="1" dirty="0" err="1">
                <a:latin typeface="+mn-lt"/>
              </a:rPr>
              <a:t>nvar]</a:t>
            </a:r>
            <a:r>
              <a:rPr lang="en-US" altLang="zh-CN" sz="2000" b="1" dirty="0">
                <a:latin typeface="+mn-lt"/>
              </a:rPr>
              <a:t>, </a:t>
            </a:r>
            <a:r>
              <a:rPr lang="en-US" altLang="zh-CN" sz="2000" b="1" dirty="0" err="1">
                <a:latin typeface="+mn-lt"/>
              </a:rPr>
              <a:t>eax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0000001B	FF 25 00000000 R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jmp</a:t>
            </a:r>
            <a:r>
              <a:rPr lang="en-US" altLang="zh-CN" sz="2000" b="1" dirty="0">
                <a:latin typeface="+mn-lt"/>
              </a:rPr>
              <a:t> near ptr [</a:t>
            </a:r>
            <a:r>
              <a:rPr lang="en-US" altLang="zh-CN" sz="2000" b="1" dirty="0" err="1">
                <a:latin typeface="+mn-lt"/>
              </a:rPr>
              <a:t>nvar]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	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存储器间接寻址</a:t>
            </a:r>
            <a:endParaRPr lang="zh-CN" altLang="en-US" sz="2000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00000021	90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nop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latin typeface="+mn-lt"/>
              </a:rPr>
              <a:t>labl4: </a:t>
            </a:r>
            <a:endParaRPr lang="en-US" altLang="zh-CN" sz="2000" b="1" dirty="0">
              <a:latin typeface="+mn-lt"/>
            </a:endParaRPr>
          </a:p>
        </p:txBody>
      </p:sp>
      <p:grpSp>
        <p:nvGrpSpPr>
          <p:cNvPr id="9" name="Group 14"/>
          <p:cNvGrpSpPr/>
          <p:nvPr/>
        </p:nvGrpSpPr>
        <p:grpSpPr bwMode="auto">
          <a:xfrm>
            <a:off x="3080991" y="2855268"/>
            <a:ext cx="5184775" cy="974524"/>
            <a:chOff x="1837" y="2068"/>
            <a:chExt cx="3266" cy="537"/>
          </a:xfrm>
        </p:grpSpPr>
        <p:sp>
          <p:nvSpPr>
            <p:cNvPr id="10" name="Oval 9"/>
            <p:cNvSpPr>
              <a:spLocks noChangeArrowheads="1"/>
            </p:cNvSpPr>
            <p:nvPr/>
          </p:nvSpPr>
          <p:spPr bwMode="auto">
            <a:xfrm>
              <a:off x="1837" y="2068"/>
              <a:ext cx="576" cy="288"/>
            </a:xfrm>
            <a:prstGeom prst="ellipse">
              <a:avLst/>
            </a:prstGeom>
            <a:noFill/>
            <a:ln w="19050">
              <a:solidFill>
                <a:srgbClr val="0099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3253" y="2384"/>
              <a:ext cx="1850" cy="221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prstDash val="dash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tabLst>
                  <a:tab pos="2514600" algn="l"/>
                </a:tabLst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83058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tabLst>
                  <a:tab pos="2514600" algn="l"/>
                </a:tabLst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23825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tabLst>
                  <a:tab pos="2514600" algn="l"/>
                </a:tabLst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46555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2514600" algn="l"/>
                </a:tabLst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buFont typeface="Wingdings" panose="05000000000000000000" pitchFamily="2" charset="2"/>
                <a:buNone/>
              </a:pPr>
              <a:r>
                <a:rPr lang="en-US" altLang="zh-CN" sz="2000" b="0" dirty="0">
                  <a:latin typeface="+mn-lt"/>
                  <a:ea typeface="黑体" panose="02010609060101010101" pitchFamily="49" charset="-122"/>
                </a:rPr>
                <a:t>; </a:t>
              </a:r>
              <a:r>
                <a:rPr lang="zh-CN" altLang="en-US" sz="2000" b="0" dirty="0">
                  <a:latin typeface="+mn-lt"/>
                  <a:ea typeface="黑体" panose="02010609060101010101" pitchFamily="49" charset="-122"/>
                </a:rPr>
                <a:t>数据的存储器直接寻址</a:t>
              </a:r>
              <a:endParaRPr lang="zh-CN" altLang="en-US" sz="2000" b="0" dirty="0"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 flipV="1">
              <a:off x="2413" y="2256"/>
              <a:ext cx="830" cy="201"/>
            </a:xfrm>
            <a:prstGeom prst="line">
              <a:avLst/>
            </a:prstGeom>
            <a:noFill/>
            <a:ln w="19050">
              <a:solidFill>
                <a:srgbClr val="009900"/>
              </a:solidFill>
              <a:round/>
              <a:headEnd type="none" w="sm" len="sm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" name="内容占位符 2"/>
          <p:cNvSpPr txBox="1"/>
          <p:nvPr/>
        </p:nvSpPr>
        <p:spPr>
          <a:xfrm>
            <a:off x="683566" y="4797152"/>
            <a:ext cx="7836992" cy="1432869"/>
          </a:xfrm>
          <a:prstGeom prst="rect">
            <a:avLst/>
          </a:prstGeom>
          <a:ln w="19050">
            <a:solidFill>
              <a:srgbClr val="00B050"/>
            </a:solidFill>
            <a:prstDash val="dash"/>
          </a:ln>
        </p:spPr>
        <p:txBody>
          <a:bodyPr/>
          <a:lstStyle/>
          <a:p>
            <a:pPr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en-US" altLang="zh-CN" sz="2200" dirty="0">
                <a:latin typeface="+mn-lt"/>
              </a:rPr>
              <a:t>JMP</a:t>
            </a:r>
            <a:r>
              <a:rPr lang="zh-CN" altLang="en-US" sz="2200" dirty="0">
                <a:latin typeface="+mn-lt"/>
              </a:rPr>
              <a:t>指令既存在</a:t>
            </a:r>
            <a:r>
              <a:rPr lang="zh-CN" altLang="en-US" sz="2200" dirty="0">
                <a:highlight>
                  <a:srgbClr val="FFFF00"/>
                </a:highlight>
                <a:latin typeface="+mn-lt"/>
              </a:rPr>
              <a:t>指令</a:t>
            </a:r>
            <a:r>
              <a:rPr lang="zh-CN" altLang="en-US" sz="2200" dirty="0">
                <a:latin typeface="+mn-lt"/>
              </a:rPr>
              <a:t>的寻址问题，也存在</a:t>
            </a:r>
            <a:r>
              <a:rPr lang="zh-CN" altLang="en-US" sz="2200" dirty="0">
                <a:highlight>
                  <a:srgbClr val="FFFF00"/>
                </a:highlight>
                <a:latin typeface="+mn-lt"/>
              </a:rPr>
              <a:t>数据</a:t>
            </a:r>
            <a:r>
              <a:rPr lang="zh-CN" altLang="en-US" sz="2200" dirty="0">
                <a:latin typeface="+mn-lt"/>
              </a:rPr>
              <a:t>的寻址问题</a:t>
            </a:r>
            <a:endParaRPr lang="en-US" altLang="zh-CN" sz="2200" dirty="0">
              <a:latin typeface="+mn-lt"/>
            </a:endParaRPr>
          </a:p>
          <a:p>
            <a:pPr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指令</a:t>
            </a:r>
            <a:r>
              <a:rPr lang="zh-CN" altLang="en-US" sz="2000" dirty="0">
                <a:solidFill>
                  <a:schemeClr val="tx1"/>
                </a:solidFill>
                <a:latin typeface="+mn-lt"/>
              </a:rPr>
              <a:t>“</a:t>
            </a:r>
            <a:r>
              <a:rPr lang="en-US" altLang="zh-CN" sz="2000" dirty="0" err="1">
                <a:solidFill>
                  <a:schemeClr val="tx1"/>
                </a:solidFill>
                <a:latin typeface="+mn-lt"/>
              </a:rPr>
              <a:t>jmp</a:t>
            </a:r>
            <a:r>
              <a:rPr lang="en-US" altLang="zh-CN" sz="20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CN" sz="2000" dirty="0" err="1">
                <a:solidFill>
                  <a:schemeClr val="tx1"/>
                </a:solidFill>
                <a:latin typeface="+mn-lt"/>
              </a:rPr>
              <a:t>nvar</a:t>
            </a:r>
            <a:r>
              <a:rPr lang="zh-CN" altLang="en-US" sz="2000" dirty="0">
                <a:solidFill>
                  <a:schemeClr val="tx1"/>
                </a:solidFill>
                <a:latin typeface="+mn-lt"/>
              </a:rPr>
              <a:t>”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的指令寻址</a:t>
            </a:r>
            <a:r>
              <a:rPr lang="zh-CN" altLang="en-US" sz="2000" dirty="0">
                <a:solidFill>
                  <a:schemeClr val="tx1"/>
                </a:solidFill>
                <a:latin typeface="+mn-lt"/>
              </a:rPr>
              <a:t>采用存储器间接寻址方式，而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操作数</a:t>
            </a:r>
            <a:r>
              <a:rPr lang="en-US" altLang="zh-CN" sz="2000" dirty="0" err="1">
                <a:solidFill>
                  <a:schemeClr val="tx1"/>
                </a:solidFill>
                <a:latin typeface="+mn-lt"/>
              </a:rPr>
              <a:t>nvar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的数据寻址</a:t>
            </a:r>
            <a:r>
              <a:rPr lang="zh-CN" altLang="en-US" sz="2000" dirty="0">
                <a:solidFill>
                  <a:schemeClr val="tx1"/>
                </a:solidFill>
                <a:latin typeface="+mn-lt"/>
              </a:rPr>
              <a:t>则采用存储器直接寻址方式</a:t>
            </a:r>
            <a:endParaRPr lang="en-US" altLang="zh-CN" sz="3000" dirty="0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785798"/>
            <a:ext cx="8280920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根据指定的条件确定程序是否发生转移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solidFill>
                <a:srgbClr val="FF0000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3200" dirty="0">
              <a:solidFill>
                <a:srgbClr val="FF0000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+mn-lt"/>
              </a:rPr>
              <a:t>label</a:t>
            </a:r>
            <a:r>
              <a:rPr lang="zh-CN" altLang="en-US" sz="2800" dirty="0">
                <a:latin typeface="+mn-lt"/>
              </a:rPr>
              <a:t>表示目标地址，采用段内相对寻址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32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IA-32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处理器：达到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32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位的全偏移量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16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80x86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处理器：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-128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～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+127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间的短转移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条件转移指令不影响标志，但要利用标志</a:t>
            </a:r>
            <a:endParaRPr lang="zh-CN" altLang="en-US" sz="2400" dirty="0">
              <a:solidFill>
                <a:srgbClr val="FF0000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b="1" dirty="0">
                <a:solidFill>
                  <a:srgbClr val="FF0000"/>
                </a:solidFill>
                <a:latin typeface="+mn-lt"/>
              </a:rPr>
              <a:t>cc</a:t>
            </a:r>
            <a:r>
              <a:rPr lang="zh-CN" altLang="en-US" sz="2800" dirty="0">
                <a:latin typeface="+mn-lt"/>
              </a:rPr>
              <a:t>表示利用标志判断的条件</a:t>
            </a:r>
            <a:r>
              <a:rPr lang="en-US" altLang="zh-CN" sz="2800" dirty="0">
                <a:latin typeface="+mn-lt"/>
              </a:rPr>
              <a:t>(Condition Code)</a:t>
            </a:r>
            <a:r>
              <a:rPr lang="zh-CN" altLang="en-US" sz="2800" dirty="0">
                <a:latin typeface="+mn-lt"/>
              </a:rPr>
              <a:t>，可分成两类：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单个标志状态作为条件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两数大小关系作为条件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4.2.2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条件转移指令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647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050544" y="1412776"/>
            <a:ext cx="7193864" cy="1061070"/>
          </a:xfrm>
          <a:prstGeom prst="rect">
            <a:avLst/>
          </a:prstGeom>
          <a:solidFill>
            <a:srgbClr val="DDEEFF"/>
          </a:solidFill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400" b="1" dirty="0" err="1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jcc</a:t>
            </a:r>
            <a:r>
              <a:rPr lang="en-US" altLang="zh-CN" sz="2400" b="1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  label</a:t>
            </a:r>
            <a:endParaRPr lang="en-US" altLang="zh-CN" sz="2400" b="1" dirty="0">
              <a:solidFill>
                <a:srgbClr val="FF0000"/>
              </a:solidFill>
              <a:latin typeface="+mj-lt"/>
              <a:ea typeface="黑体" panose="02010609060101010101" pitchFamily="49" charset="-122"/>
            </a:endParaRPr>
          </a:p>
          <a:p>
            <a:pPr marL="457200" lvl="1" indent="-457200">
              <a:lnSpc>
                <a:spcPct val="130000"/>
              </a:lnSpc>
              <a:spcBef>
                <a:spcPts val="0"/>
              </a:spcBef>
              <a:buFontTx/>
              <a:buNone/>
            </a:pPr>
            <a:r>
              <a:rPr lang="en-US" altLang="zh-CN" sz="24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	;</a:t>
            </a:r>
            <a:r>
              <a:rPr lang="zh-CN" altLang="en-US" sz="2400" dirty="0">
                <a:solidFill>
                  <a:schemeClr val="tx1"/>
                </a:solidFill>
                <a:latin typeface="+mj-lt"/>
                <a:ea typeface="黑体" panose="02010609060101010101" pitchFamily="49" charset="-122"/>
              </a:rPr>
              <a:t>条件满足，发生转移；否则顺序执行下条指令</a:t>
            </a:r>
            <a:endParaRPr lang="en-US" altLang="zh-CN" sz="1400" dirty="0">
              <a:solidFill>
                <a:schemeClr val="tx1"/>
              </a:solidFill>
              <a:latin typeface="+mj-lt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764704"/>
            <a:ext cx="8496944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dirty="0">
                <a:latin typeface="+mn-lt"/>
              </a:rPr>
              <a:t>JZ(JE)</a:t>
            </a:r>
            <a:r>
              <a:rPr lang="zh-CN" altLang="en-US" sz="2800" dirty="0">
                <a:latin typeface="+mn-lt"/>
              </a:rPr>
              <a:t>和</a:t>
            </a:r>
            <a:r>
              <a:rPr lang="en-US" altLang="zh-CN" sz="2800" dirty="0">
                <a:latin typeface="+mn-lt"/>
              </a:rPr>
              <a:t>JNZ(JNE)</a:t>
            </a:r>
            <a:r>
              <a:rPr lang="zh-CN" altLang="en-US" sz="2800" dirty="0">
                <a:latin typeface="+mn-lt"/>
              </a:rPr>
              <a:t>：利用零位标志</a:t>
            </a:r>
            <a:r>
              <a:rPr lang="en-US" altLang="zh-CN" sz="2800" dirty="0">
                <a:solidFill>
                  <a:srgbClr val="FF0000"/>
                </a:solidFill>
                <a:latin typeface="+mn-lt"/>
              </a:rPr>
              <a:t>ZF</a:t>
            </a:r>
            <a:endParaRPr lang="en-US" altLang="zh-CN" sz="28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判断结果是零（相等）还是非零（不等）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6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2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dirty="0">
                <a:latin typeface="+mn-lt"/>
              </a:rPr>
              <a:t>JS</a:t>
            </a:r>
            <a:r>
              <a:rPr lang="zh-CN" altLang="en-US" sz="2800" dirty="0">
                <a:latin typeface="+mn-lt"/>
              </a:rPr>
              <a:t>和</a:t>
            </a:r>
            <a:r>
              <a:rPr lang="en-US" altLang="zh-CN" sz="2800" dirty="0">
                <a:latin typeface="+mn-lt"/>
              </a:rPr>
              <a:t>JNS</a:t>
            </a:r>
            <a:r>
              <a:rPr lang="zh-CN" altLang="en-US" sz="2800" dirty="0">
                <a:latin typeface="+mn-lt"/>
              </a:rPr>
              <a:t>：利用符号标志</a:t>
            </a:r>
            <a:r>
              <a:rPr lang="en-US" altLang="zh-CN" sz="2800" dirty="0">
                <a:solidFill>
                  <a:srgbClr val="FF0000"/>
                </a:solidFill>
                <a:latin typeface="+mn-lt"/>
              </a:rPr>
              <a:t>SF</a:t>
            </a:r>
            <a:endParaRPr lang="en-US" altLang="zh-CN" sz="28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判断结果是负还是正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dirty="0">
                <a:latin typeface="+mn-lt"/>
              </a:rPr>
              <a:t>JO</a:t>
            </a:r>
            <a:r>
              <a:rPr lang="zh-CN" altLang="en-US" sz="2800" dirty="0">
                <a:latin typeface="+mn-lt"/>
              </a:rPr>
              <a:t>和</a:t>
            </a:r>
            <a:r>
              <a:rPr lang="en-US" altLang="zh-CN" sz="2800" dirty="0">
                <a:latin typeface="+mn-lt"/>
              </a:rPr>
              <a:t>JNO</a:t>
            </a:r>
            <a:r>
              <a:rPr lang="zh-CN" altLang="en-US" sz="2800" dirty="0">
                <a:latin typeface="+mn-lt"/>
              </a:rPr>
              <a:t>：利用溢出标志</a:t>
            </a:r>
            <a:r>
              <a:rPr lang="en-US" altLang="zh-CN" sz="2800" dirty="0">
                <a:solidFill>
                  <a:srgbClr val="FF0000"/>
                </a:solidFill>
                <a:latin typeface="+mn-lt"/>
              </a:rPr>
              <a:t>OF</a:t>
            </a:r>
            <a:endParaRPr lang="en-US" altLang="zh-CN" sz="28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判断结果是溢出还是没有溢出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endParaRPr lang="en-US" altLang="zh-CN" sz="40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1.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单个标志状态作为条件的条件转移指令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36129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043608" y="1772816"/>
            <a:ext cx="7200800" cy="852606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JZ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/JE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	ZF=1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Zero/Equal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JNZ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/JNE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ZF=0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Not Zero/Not Equal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43608" y="3781480"/>
            <a:ext cx="7200800" cy="852606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JS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	SF=1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Sign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JNS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	SF=0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Not Sign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029569" y="5800090"/>
            <a:ext cx="7214839" cy="852606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JO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	OF=1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Overflow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JNO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	OF=0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Not Overflow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</p:txBody>
      </p:sp>
    </p:spTree>
    <p:custDataLst>
      <p:tags r:id="rId1"/>
    </p:custData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323528" y="804750"/>
            <a:ext cx="8496944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dirty="0">
                <a:latin typeface="+mn-lt"/>
              </a:rPr>
              <a:t>JP(JPE)</a:t>
            </a:r>
            <a:r>
              <a:rPr lang="zh-CN" altLang="en-US" sz="2800" dirty="0">
                <a:latin typeface="+mn-lt"/>
              </a:rPr>
              <a:t>和</a:t>
            </a:r>
            <a:r>
              <a:rPr lang="en-US" altLang="zh-CN" sz="2800" dirty="0">
                <a:latin typeface="+mn-lt"/>
              </a:rPr>
              <a:t>JNP(JPO)</a:t>
            </a:r>
            <a:r>
              <a:rPr lang="zh-CN" altLang="en-US" sz="2800" dirty="0">
                <a:latin typeface="+mn-lt"/>
              </a:rPr>
              <a:t>：利用奇偶标志</a:t>
            </a:r>
            <a:r>
              <a:rPr lang="en-US" altLang="zh-CN" sz="2800" dirty="0">
                <a:solidFill>
                  <a:srgbClr val="FF0000"/>
                </a:solidFill>
                <a:latin typeface="+mn-lt"/>
              </a:rPr>
              <a:t>PF</a:t>
            </a:r>
            <a:endParaRPr lang="en-US" altLang="zh-CN" sz="28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判断结果低字节“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1”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的个数是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偶数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(Even)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还是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奇数</a:t>
            </a:r>
            <a:r>
              <a:rPr lang="en-US" altLang="zh-CN" sz="2400" dirty="0">
                <a:solidFill>
                  <a:srgbClr val="00B050"/>
                </a:solidFill>
                <a:latin typeface="+mn-lt"/>
              </a:rPr>
              <a:t>(Odd)</a:t>
            </a:r>
            <a:endParaRPr lang="zh-CN" altLang="en-US" sz="2400" dirty="0">
              <a:solidFill>
                <a:srgbClr val="00B050"/>
              </a:solidFill>
              <a:latin typeface="+mn-lt"/>
            </a:endParaRPr>
          </a:p>
          <a:p>
            <a:pPr marL="914400" lvl="1" indent="-457200"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32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8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2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800" dirty="0">
                <a:latin typeface="+mn-lt"/>
              </a:rPr>
              <a:t>JC</a:t>
            </a:r>
            <a:r>
              <a:rPr lang="zh-CN" altLang="en-US" sz="2800" dirty="0">
                <a:latin typeface="+mn-lt"/>
              </a:rPr>
              <a:t>和</a:t>
            </a:r>
            <a:r>
              <a:rPr lang="en-US" altLang="zh-CN" sz="2800" dirty="0">
                <a:latin typeface="+mn-lt"/>
              </a:rPr>
              <a:t>JNC</a:t>
            </a:r>
            <a:r>
              <a:rPr lang="zh-CN" altLang="en-US" sz="2800" dirty="0">
                <a:latin typeface="+mn-lt"/>
              </a:rPr>
              <a:t>：利用进位标志</a:t>
            </a:r>
            <a:r>
              <a:rPr lang="en-US" altLang="zh-CN" sz="2800" dirty="0">
                <a:solidFill>
                  <a:srgbClr val="FF0000"/>
                </a:solidFill>
                <a:latin typeface="+mn-lt"/>
              </a:rPr>
              <a:t>CF</a:t>
            </a:r>
            <a:endParaRPr lang="en-US" altLang="zh-CN" sz="28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判断结果是有进位（为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）还是无进位（为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）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endParaRPr lang="en-US" altLang="zh-CN" sz="40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1.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单个标志状态作为条件的条件转移指令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52839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899592" y="1846835"/>
            <a:ext cx="7776864" cy="960328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JP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/JPE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	PF=1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Parity/Parity Even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JNP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/JPO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PF=0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Not Parity/Parity Odd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99592" y="3970781"/>
            <a:ext cx="7776864" cy="852606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JC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	CF=1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Carry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JNC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	CF=0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Not Carry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11" name="AutoShape 4"/>
          <p:cNvSpPr>
            <a:spLocks noChangeArrowheads="1"/>
          </p:cNvSpPr>
          <p:nvPr/>
        </p:nvSpPr>
        <p:spPr bwMode="auto">
          <a:xfrm>
            <a:off x="899592" y="5157362"/>
            <a:ext cx="7776864" cy="960317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12700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第一类条件转移指令主要以</a:t>
            </a: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5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个常用状态标志是</a:t>
            </a: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或</a:t>
            </a: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作为条件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l" eaLnBrk="1" hangingPunct="1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指令中有字母</a:t>
            </a: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N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的在标志位为</a:t>
            </a: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时进行转移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第一类转移条件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cc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：单个标志状态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679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3568" y="817662"/>
            <a:ext cx="7704856" cy="4653646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JZ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/JE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ZF=1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Zero/Equal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JNZ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/JNE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ZF=0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Not Zero/Not Equal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JS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	SF=1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Sign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JNS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	SF=0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Not Sign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JP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/JPE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	PF=1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Parity/Parity Even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JNP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/JPO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PF=0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Not Parity/Parity Odd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JO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	OF=1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Overflow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JNO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	OF=0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Not Overflow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JC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	CF=1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Carry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JNC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	CF=0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Not Carry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2" name="AutoShape 4"/>
          <p:cNvSpPr>
            <a:spLocks noChangeArrowheads="1"/>
          </p:cNvSpPr>
          <p:nvPr/>
        </p:nvSpPr>
        <p:spPr bwMode="auto">
          <a:xfrm>
            <a:off x="683568" y="5661248"/>
            <a:ext cx="7704856" cy="864096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12700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五种常用状态标志</a:t>
            </a: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ZCOPS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l" eaLnBrk="1" hangingPunct="1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带字母</a:t>
            </a: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N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的转移指令在标志位为</a:t>
            </a: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时进行转移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4-5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个数折半程序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-1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679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755576" y="1837188"/>
            <a:ext cx="7704856" cy="2399665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eax,885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假设一个数据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shr</a:t>
            </a:r>
            <a:r>
              <a:rPr lang="en-US" altLang="zh-CN" sz="2000" b="1" dirty="0">
                <a:latin typeface="+mn-lt"/>
              </a:rPr>
              <a:t> eax,1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右移进行折半，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余数进入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CF</a:t>
            </a:r>
            <a:endParaRPr lang="zh-CN" altLang="en-US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jnc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goeven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余数为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，即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CF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条件成立，转移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add eax,1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否则余数为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，即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CF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，加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err="1">
                <a:latin typeface="+mn-lt"/>
              </a:rPr>
              <a:t>goeven</a:t>
            </a:r>
            <a:r>
              <a:rPr lang="en-US" altLang="zh-CN" sz="2000" b="1" dirty="0">
                <a:latin typeface="+mn-lt"/>
              </a:rPr>
              <a:t>:	call </a:t>
            </a:r>
            <a:r>
              <a:rPr lang="en-US" altLang="zh-CN" sz="2000" b="1" dirty="0" err="1">
                <a:latin typeface="+mn-lt"/>
              </a:rPr>
              <a:t>dispuid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显示结果 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755650" y="4509770"/>
            <a:ext cx="5255260" cy="1883410"/>
          </a:xfrm>
          <a:prstGeom prst="rect">
            <a:avLst/>
          </a:prstGeom>
          <a:ln w="19050">
            <a:solidFill>
              <a:srgbClr val="00B050"/>
            </a:solidFill>
            <a:prstDash val="dash"/>
          </a:ln>
        </p:spPr>
        <p:txBody>
          <a:bodyPr/>
          <a:lstStyle/>
          <a:p>
            <a:pPr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200" dirty="0">
                <a:latin typeface="+mn-lt"/>
              </a:rPr>
              <a:t>无符号除法运算可以使用除法指令</a:t>
            </a:r>
            <a:r>
              <a:rPr lang="en-US" altLang="zh-CN" sz="2200" dirty="0">
                <a:latin typeface="+mn-lt"/>
              </a:rPr>
              <a:t>div</a:t>
            </a:r>
            <a:r>
              <a:rPr lang="zh-CN" altLang="en-US" sz="2200" dirty="0">
                <a:latin typeface="+mn-lt"/>
              </a:rPr>
              <a:t>，但使用逻辑右移指令</a:t>
            </a:r>
            <a:r>
              <a:rPr lang="en-US" altLang="zh-CN" sz="2200" dirty="0" err="1">
                <a:latin typeface="+mn-lt"/>
              </a:rPr>
              <a:t>shr</a:t>
            </a:r>
            <a:r>
              <a:rPr lang="zh-CN" altLang="en-US" sz="2200" dirty="0">
                <a:latin typeface="+mn-lt"/>
              </a:rPr>
              <a:t>更方便，被除数的最低位就是余数，右移后进入</a:t>
            </a:r>
            <a:r>
              <a:rPr lang="en-US" altLang="zh-CN" sz="2200" dirty="0">
                <a:latin typeface="+mn-lt"/>
              </a:rPr>
              <a:t>CF</a:t>
            </a:r>
            <a:r>
              <a:rPr lang="zh-CN" altLang="en-US" sz="2200" dirty="0">
                <a:latin typeface="+mn-lt"/>
              </a:rPr>
              <a:t>标志。</a:t>
            </a:r>
            <a:r>
              <a:rPr lang="zh-CN" altLang="en-US" sz="2200" dirty="0">
                <a:solidFill>
                  <a:srgbClr val="FF0000"/>
                </a:solidFill>
                <a:latin typeface="+mn-lt"/>
              </a:rPr>
              <a:t>判断</a:t>
            </a:r>
            <a:r>
              <a:rPr lang="en-US" altLang="zh-CN" sz="2200" dirty="0">
                <a:solidFill>
                  <a:srgbClr val="FF0000"/>
                </a:solidFill>
                <a:latin typeface="+mn-lt"/>
              </a:rPr>
              <a:t>CF</a:t>
            </a:r>
            <a:r>
              <a:rPr lang="zh-CN" altLang="en-US" sz="2200" dirty="0">
                <a:solidFill>
                  <a:srgbClr val="FF0000"/>
                </a:solidFill>
                <a:latin typeface="+mn-lt"/>
              </a:rPr>
              <a:t>标志的指令是</a:t>
            </a:r>
            <a:r>
              <a:rPr lang="en-US" altLang="zh-CN" sz="2200" dirty="0">
                <a:solidFill>
                  <a:srgbClr val="FF0000"/>
                </a:solidFill>
                <a:latin typeface="+mn-lt"/>
              </a:rPr>
              <a:t>JC</a:t>
            </a:r>
            <a:r>
              <a:rPr lang="zh-CN" altLang="en-US" sz="2200" dirty="0">
                <a:solidFill>
                  <a:srgbClr val="FF0000"/>
                </a:solidFill>
                <a:latin typeface="+mn-lt"/>
              </a:rPr>
              <a:t>或</a:t>
            </a:r>
            <a:r>
              <a:rPr lang="en-US" altLang="zh-CN" sz="2200" dirty="0">
                <a:solidFill>
                  <a:srgbClr val="FF0000"/>
                </a:solidFill>
                <a:latin typeface="+mn-lt"/>
              </a:rPr>
              <a:t>JNC</a:t>
            </a:r>
            <a:r>
              <a:rPr lang="zh-CN" altLang="en-US" sz="2200" dirty="0">
                <a:solidFill>
                  <a:srgbClr val="FF0000"/>
                </a:solidFill>
                <a:latin typeface="+mn-lt"/>
              </a:rPr>
              <a:t>。</a:t>
            </a:r>
            <a:endParaRPr lang="en-US" altLang="zh-CN" sz="3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9" name="内容占位符 2"/>
          <p:cNvSpPr txBox="1"/>
          <p:nvPr/>
        </p:nvSpPr>
        <p:spPr>
          <a:xfrm>
            <a:off x="683568" y="692697"/>
            <a:ext cx="7704856" cy="1000476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例：个数折半就是无符号整数除以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，如果个数是奇数、则商加上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之后才是半数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29709" name="组合 235535"/>
          <p:cNvGrpSpPr/>
          <p:nvPr>
            <p:custDataLst>
              <p:tags r:id="rId1"/>
            </p:custDataLst>
          </p:nvPr>
        </p:nvGrpSpPr>
        <p:grpSpPr>
          <a:xfrm>
            <a:off x="6931025" y="2316480"/>
            <a:ext cx="1813560" cy="4266565"/>
            <a:chOff x="5132" y="652"/>
            <a:chExt cx="1671" cy="3165"/>
          </a:xfrm>
          <a:solidFill>
            <a:schemeClr val="accent1"/>
          </a:solidFill>
        </p:grpSpPr>
        <p:sp>
          <p:nvSpPr>
            <p:cNvPr id="29710" name="矩形 235536"/>
            <p:cNvSpPr/>
            <p:nvPr/>
          </p:nvSpPr>
          <p:spPr>
            <a:xfrm>
              <a:off x="5146" y="652"/>
              <a:ext cx="1474" cy="425"/>
            </a:xfrm>
            <a:prstGeom prst="rect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defTabSz="1152525">
                <a:lnSpc>
                  <a:spcPct val="80000"/>
                </a:lnSpc>
              </a:pPr>
              <a:r>
                <a:rPr lang="zh-CN" altLang="en-US" sz="2000" b="1" dirty="0">
                  <a:solidFill>
                    <a:srgbClr val="663300"/>
                  </a:solidFill>
                  <a:latin typeface="黑体" panose="02010609060101010101" pitchFamily="49" charset="-122"/>
                </a:rPr>
                <a:t>获得整数</a:t>
              </a:r>
              <a:endParaRPr lang="zh-CN" altLang="en-US" sz="2000" b="1" dirty="0">
                <a:solidFill>
                  <a:srgbClr val="6633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29711" name="矩形 235537"/>
            <p:cNvSpPr/>
            <p:nvPr/>
          </p:nvSpPr>
          <p:spPr>
            <a:xfrm>
              <a:off x="5288" y="1342"/>
              <a:ext cx="1190" cy="425"/>
            </a:xfrm>
            <a:prstGeom prst="rect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defTabSz="1152525">
                <a:lnSpc>
                  <a:spcPct val="80000"/>
                </a:lnSpc>
              </a:pPr>
              <a:r>
                <a:rPr lang="zh-CN" altLang="en-US" sz="2000" b="1" dirty="0">
                  <a:solidFill>
                    <a:srgbClr val="663300"/>
                  </a:solidFill>
                  <a:latin typeface="黑体" panose="02010609060101010101" pitchFamily="49" charset="-122"/>
                  <a:cs typeface="黑体" panose="02010609060101010101" pitchFamily="49" charset="-122"/>
                </a:rPr>
                <a:t>右移</a:t>
              </a:r>
              <a:r>
                <a:rPr lang="en-US" altLang="zh-CN" sz="2000" b="1">
                  <a:solidFill>
                    <a:srgbClr val="663300"/>
                  </a:solidFill>
                  <a:latin typeface="黑体" panose="02010609060101010101" pitchFamily="49" charset="-122"/>
                  <a:cs typeface="黑体" panose="02010609060101010101" pitchFamily="49" charset="-122"/>
                </a:rPr>
                <a:t>1</a:t>
              </a:r>
              <a:r>
                <a:rPr lang="zh-CN" altLang="en-US" sz="2000" b="1" dirty="0">
                  <a:solidFill>
                    <a:srgbClr val="663300"/>
                  </a:solidFill>
                  <a:latin typeface="黑体" panose="02010609060101010101" pitchFamily="49" charset="-122"/>
                  <a:cs typeface="黑体" panose="02010609060101010101" pitchFamily="49" charset="-122"/>
                </a:rPr>
                <a:t>位</a:t>
              </a:r>
              <a:endParaRPr lang="zh-CN" altLang="en-US" sz="2000" b="1" dirty="0">
                <a:solidFill>
                  <a:srgbClr val="663300"/>
                </a:solidFill>
                <a:latin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29712" name="菱形 235538"/>
            <p:cNvSpPr/>
            <p:nvPr>
              <p:custDataLst>
                <p:tags r:id="rId2"/>
              </p:custDataLst>
            </p:nvPr>
          </p:nvSpPr>
          <p:spPr>
            <a:xfrm>
              <a:off x="5132" y="2029"/>
              <a:ext cx="1502" cy="425"/>
            </a:xfrm>
            <a:prstGeom prst="diamond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defTabSz="1152525">
                <a:lnSpc>
                  <a:spcPct val="80000"/>
                </a:lnSpc>
              </a:pPr>
              <a:r>
                <a:rPr lang="zh-CN" altLang="en-US" sz="2000" b="1" dirty="0">
                  <a:solidFill>
                    <a:srgbClr val="663300"/>
                  </a:solidFill>
                  <a:latin typeface="黑体" panose="02010609060101010101" pitchFamily="49" charset="-122"/>
                </a:rPr>
                <a:t>偶数？</a:t>
              </a:r>
              <a:endParaRPr lang="zh-CN" altLang="en-US" sz="2000" b="1" dirty="0">
                <a:solidFill>
                  <a:srgbClr val="6633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29713" name="矩形 235539"/>
            <p:cNvSpPr/>
            <p:nvPr>
              <p:custDataLst>
                <p:tags r:id="rId3"/>
              </p:custDataLst>
            </p:nvPr>
          </p:nvSpPr>
          <p:spPr>
            <a:xfrm>
              <a:off x="5501" y="2718"/>
              <a:ext cx="765" cy="425"/>
            </a:xfrm>
            <a:prstGeom prst="rect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defTabSz="1152525">
                <a:lnSpc>
                  <a:spcPct val="80000"/>
                </a:lnSpc>
              </a:pPr>
              <a:r>
                <a:rPr lang="zh-CN" altLang="en-US" sz="2000" b="1" dirty="0">
                  <a:solidFill>
                    <a:srgbClr val="663300"/>
                  </a:solidFill>
                  <a:latin typeface="黑体" panose="02010609060101010101" pitchFamily="49" charset="-122"/>
                  <a:cs typeface="黑体" panose="02010609060101010101" pitchFamily="49" charset="-122"/>
                </a:rPr>
                <a:t>加</a:t>
              </a:r>
              <a:r>
                <a:rPr lang="en-US" altLang="zh-CN" sz="2000" b="1">
                  <a:solidFill>
                    <a:srgbClr val="663300"/>
                  </a:solidFill>
                  <a:latin typeface="黑体" panose="02010609060101010101" pitchFamily="49" charset="-122"/>
                  <a:cs typeface="黑体" panose="02010609060101010101" pitchFamily="49" charset="-122"/>
                </a:rPr>
                <a:t>1</a:t>
              </a:r>
              <a:endParaRPr lang="zh-CN" altLang="en-US" sz="2000" b="1" dirty="0">
                <a:solidFill>
                  <a:srgbClr val="663300"/>
                </a:solidFill>
                <a:latin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29714" name="矩形 235540"/>
            <p:cNvSpPr/>
            <p:nvPr/>
          </p:nvSpPr>
          <p:spPr>
            <a:xfrm>
              <a:off x="5202" y="3392"/>
              <a:ext cx="1361" cy="425"/>
            </a:xfrm>
            <a:prstGeom prst="rect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defTabSz="1152525">
                <a:lnSpc>
                  <a:spcPct val="80000"/>
                </a:lnSpc>
              </a:pPr>
              <a:r>
                <a:rPr lang="zh-CN" altLang="en-US" sz="2000" b="1" dirty="0">
                  <a:solidFill>
                    <a:srgbClr val="663300"/>
                  </a:solidFill>
                  <a:latin typeface="黑体" panose="02010609060101010101" pitchFamily="49" charset="-122"/>
                </a:rPr>
                <a:t>显示结果</a:t>
              </a:r>
              <a:endParaRPr lang="zh-CN" altLang="en-US" sz="2000" b="1" dirty="0">
                <a:solidFill>
                  <a:srgbClr val="6633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29715" name="直接连接符 235541"/>
            <p:cNvSpPr/>
            <p:nvPr/>
          </p:nvSpPr>
          <p:spPr>
            <a:xfrm>
              <a:off x="5883" y="1076"/>
              <a:ext cx="0" cy="255"/>
            </a:xfrm>
            <a:prstGeom prst="line">
              <a:avLst/>
            </a:prstGeom>
            <a:grpFill/>
            <a:ln w="38100" cap="flat" cmpd="dbl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29716" name="直接连接符 235542"/>
            <p:cNvSpPr/>
            <p:nvPr/>
          </p:nvSpPr>
          <p:spPr>
            <a:xfrm>
              <a:off x="5883" y="1767"/>
              <a:ext cx="0" cy="255"/>
            </a:xfrm>
            <a:prstGeom prst="line">
              <a:avLst/>
            </a:prstGeom>
            <a:grpFill/>
            <a:ln w="38100" cap="flat" cmpd="dbl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29717" name="直接连接符 235543"/>
            <p:cNvSpPr/>
            <p:nvPr>
              <p:custDataLst>
                <p:tags r:id="rId4"/>
              </p:custDataLst>
            </p:nvPr>
          </p:nvSpPr>
          <p:spPr>
            <a:xfrm>
              <a:off x="5883" y="2456"/>
              <a:ext cx="0" cy="255"/>
            </a:xfrm>
            <a:prstGeom prst="line">
              <a:avLst/>
            </a:prstGeom>
            <a:grpFill/>
            <a:ln w="38100" cap="flat" cmpd="dbl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29718" name="直接连接符 235544"/>
            <p:cNvSpPr/>
            <p:nvPr/>
          </p:nvSpPr>
          <p:spPr>
            <a:xfrm>
              <a:off x="5883" y="3137"/>
              <a:ext cx="0" cy="255"/>
            </a:xfrm>
            <a:prstGeom prst="line">
              <a:avLst/>
            </a:prstGeom>
            <a:grpFill/>
            <a:ln w="38100" cap="flat" cmpd="dbl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29719" name="任意多边形 235545"/>
            <p:cNvSpPr/>
            <p:nvPr>
              <p:custDataLst>
                <p:tags r:id="rId5"/>
              </p:custDataLst>
            </p:nvPr>
          </p:nvSpPr>
          <p:spPr>
            <a:xfrm>
              <a:off x="5897" y="2239"/>
              <a:ext cx="906" cy="993"/>
            </a:xfrm>
            <a:custGeom>
              <a:avLst/>
              <a:gdLst/>
              <a:ahLst/>
              <a:cxnLst/>
              <a:rect l="0" t="0" r="0" b="0"/>
              <a:pathLst>
                <a:path w="879" h="993">
                  <a:moveTo>
                    <a:pt x="680" y="0"/>
                  </a:moveTo>
                  <a:lnTo>
                    <a:pt x="879" y="0"/>
                  </a:lnTo>
                  <a:lnTo>
                    <a:pt x="879" y="993"/>
                  </a:lnTo>
                  <a:lnTo>
                    <a:pt x="0" y="99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 sz="2000">
                <a:latin typeface="黑体" panose="02010609060101010101" pitchFamily="49" charset="-122"/>
              </a:endParaRPr>
            </a:p>
          </p:txBody>
        </p:sp>
        <p:sp>
          <p:nvSpPr>
            <p:cNvPr id="29720" name="文本框 235546"/>
            <p:cNvSpPr txBox="1"/>
            <p:nvPr>
              <p:custDataLst>
                <p:tags r:id="rId6"/>
              </p:custDataLst>
            </p:nvPr>
          </p:nvSpPr>
          <p:spPr>
            <a:xfrm>
              <a:off x="6478" y="1963"/>
              <a:ext cx="295" cy="236"/>
            </a:xfrm>
            <a:prstGeom prst="rect">
              <a:avLst/>
            </a:prstGeom>
            <a:grpFill/>
            <a:ln w="9525">
              <a:noFill/>
            </a:ln>
          </p:spPr>
          <p:txBody>
            <a:bodyPr wrap="square" anchor="t" anchorCtr="0">
              <a:noAutofit/>
            </a:bodyPr>
            <a:lstStyle/>
            <a:p>
              <a:pPr defTabSz="1152525"/>
              <a:r>
                <a:rPr lang="en-US" altLang="zh-CN" sz="2000" b="1">
                  <a:solidFill>
                    <a:schemeClr val="hlink"/>
                  </a:solidFill>
                  <a:latin typeface="黑体" panose="02010609060101010101" pitchFamily="49" charset="-122"/>
                </a:rPr>
                <a:t>Y</a:t>
              </a:r>
              <a:endParaRPr lang="en-US" altLang="zh-CN" sz="2000" b="1">
                <a:solidFill>
                  <a:schemeClr val="hlink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29721" name="文本框 235547"/>
            <p:cNvSpPr txBox="1"/>
            <p:nvPr>
              <p:custDataLst>
                <p:tags r:id="rId7"/>
              </p:custDataLst>
            </p:nvPr>
          </p:nvSpPr>
          <p:spPr>
            <a:xfrm>
              <a:off x="5906" y="2454"/>
              <a:ext cx="316" cy="227"/>
            </a:xfrm>
            <a:prstGeom prst="rect">
              <a:avLst/>
            </a:prstGeom>
            <a:grpFill/>
            <a:ln w="9525">
              <a:noFill/>
            </a:ln>
          </p:spPr>
          <p:txBody>
            <a:bodyPr wrap="square" anchor="t" anchorCtr="0">
              <a:noAutofit/>
            </a:bodyPr>
            <a:lstStyle/>
            <a:p>
              <a:pPr defTabSz="1152525"/>
              <a:r>
                <a:rPr lang="en-US" altLang="zh-CN" sz="2000" b="1">
                  <a:solidFill>
                    <a:schemeClr val="hlink"/>
                  </a:solidFill>
                  <a:latin typeface="黑体" panose="02010609060101010101" pitchFamily="49" charset="-122"/>
                </a:rPr>
                <a:t>N</a:t>
              </a:r>
              <a:endParaRPr lang="en-US" altLang="zh-CN" sz="2000" b="1">
                <a:solidFill>
                  <a:schemeClr val="hlink"/>
                </a:solidFill>
                <a:latin typeface="黑体" panose="02010609060101010101" pitchFamily="49" charset="-122"/>
              </a:endParaRPr>
            </a:p>
          </p:txBody>
        </p:sp>
      </p:grp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4-5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个数折半程序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-2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679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3568" y="1357945"/>
            <a:ext cx="7920880" cy="3727239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eax,886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假设一个数据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shr</a:t>
            </a:r>
            <a:r>
              <a:rPr lang="en-US" altLang="zh-CN" sz="2000" b="1" dirty="0">
                <a:latin typeface="+mn-lt"/>
              </a:rPr>
              <a:t> eax,1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数据右移进行折半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jc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goodd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余数为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，即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CF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条件成立，转移到分支体，进行加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操作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jmp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goeven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余数为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，即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CF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，不需要处理，转移到显示！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err="1">
                <a:latin typeface="+mn-lt"/>
              </a:rPr>
              <a:t>goodd</a:t>
            </a:r>
            <a:r>
              <a:rPr lang="en-US" altLang="zh-CN" sz="2000" b="1" dirty="0">
                <a:latin typeface="+mn-lt"/>
              </a:rPr>
              <a:t>:	add eax,1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进行加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操作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 err="1">
                <a:latin typeface="+mn-lt"/>
              </a:rPr>
              <a:t>goeven</a:t>
            </a:r>
            <a:r>
              <a:rPr lang="en-US" altLang="zh-CN" sz="2000" b="1" dirty="0">
                <a:latin typeface="+mn-lt"/>
              </a:rPr>
              <a:t>:	call </a:t>
            </a:r>
            <a:r>
              <a:rPr lang="en-US" altLang="zh-CN" sz="2000" b="1" dirty="0" err="1">
                <a:latin typeface="+mn-lt"/>
              </a:rPr>
              <a:t>dispuid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显示结果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683568" y="737142"/>
            <a:ext cx="7704856" cy="647059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上一段程序使用的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JNC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指令，也可使用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JC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指令：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4" name="Group 9"/>
          <p:cNvGrpSpPr/>
          <p:nvPr/>
        </p:nvGrpSpPr>
        <p:grpSpPr bwMode="auto">
          <a:xfrm>
            <a:off x="1042988" y="2417763"/>
            <a:ext cx="5870578" cy="3659188"/>
            <a:chOff x="657" y="1523"/>
            <a:chExt cx="3698" cy="2305"/>
          </a:xfrm>
        </p:grpSpPr>
        <p:sp>
          <p:nvSpPr>
            <p:cNvPr id="5" name="Oval 5"/>
            <p:cNvSpPr>
              <a:spLocks noChangeArrowheads="1"/>
            </p:cNvSpPr>
            <p:nvPr/>
          </p:nvSpPr>
          <p:spPr bwMode="auto">
            <a:xfrm>
              <a:off x="657" y="1523"/>
              <a:ext cx="1497" cy="818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7" name="Line 6"/>
            <p:cNvSpPr>
              <a:spLocks noChangeShapeType="1"/>
            </p:cNvSpPr>
            <p:nvPr/>
          </p:nvSpPr>
          <p:spPr bwMode="auto">
            <a:xfrm>
              <a:off x="1791" y="2251"/>
              <a:ext cx="182" cy="12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1837" y="3528"/>
              <a:ext cx="1271" cy="291"/>
            </a:xfrm>
            <a:prstGeom prst="rect">
              <a:avLst/>
            </a:prstGeom>
            <a:noFill/>
            <a:ln w="19050">
              <a:solidFill>
                <a:srgbClr val="00B050"/>
              </a:solidFill>
              <a:prstDash val="dash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dirty="0" err="1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</a:rPr>
                <a:t>jnc</a:t>
              </a:r>
              <a:r>
                <a:rPr lang="en-US" altLang="zh-CN" sz="2400" dirty="0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</a:rPr>
                <a:t> </a:t>
              </a:r>
              <a:r>
                <a:rPr lang="en-US" altLang="zh-CN" sz="2400" dirty="0" err="1">
                  <a:solidFill>
                    <a:srgbClr val="0000FF"/>
                  </a:solidFill>
                  <a:latin typeface="+mn-lt"/>
                  <a:ea typeface="黑体" panose="02010609060101010101" pitchFamily="49" charset="-122"/>
                </a:rPr>
                <a:t>goeven</a:t>
              </a:r>
              <a:endParaRPr lang="zh-CN" altLang="en-US" sz="2400" dirty="0">
                <a:solidFill>
                  <a:srgbClr val="0000FF"/>
                </a:solidFill>
                <a:latin typeface="+mn-lt"/>
                <a:ea typeface="黑体" panose="02010609060101010101" pitchFamily="49" charset="-122"/>
              </a:endParaRPr>
            </a:p>
          </p:txBody>
        </p:sp>
        <p:sp>
          <p:nvSpPr>
            <p:cNvPr id="10" name="AutoShape 8" descr="花束"/>
            <p:cNvSpPr>
              <a:spLocks noChangeArrowheads="1"/>
            </p:cNvSpPr>
            <p:nvPr/>
          </p:nvSpPr>
          <p:spPr bwMode="auto">
            <a:xfrm>
              <a:off x="3107" y="3510"/>
              <a:ext cx="1248" cy="318"/>
            </a:xfrm>
            <a:prstGeom prst="roundRect">
              <a:avLst>
                <a:gd name="adj" fmla="val 16667"/>
              </a:avLst>
            </a:prstGeom>
            <a:blipFill dpi="0" rotWithShape="0">
              <a:blip r:embed="rId3"/>
              <a:srcRect/>
              <a:tile tx="0" ty="0" sx="100000" sy="100000" flip="none" algn="tl"/>
            </a:blipFill>
            <a:ln w="9525" cap="rnd">
              <a:solidFill>
                <a:schemeClr val="tx1"/>
              </a:solidFill>
              <a:prstDash val="sysDot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Blip>
                  <a:blip r:embed="rId4"/>
                </a:buBlip>
              </a:pPr>
              <a:r>
                <a:rPr kumimoji="1" lang="zh-CN" altLang="en-US" sz="2400" b="0" dirty="0">
                  <a:latin typeface="黑体" panose="02010609060101010101" pitchFamily="49" charset="-122"/>
                  <a:ea typeface="黑体" panose="02010609060101010101" pitchFamily="49" charset="-122"/>
                </a:rPr>
                <a:t>合二为一</a:t>
              </a:r>
              <a:endParaRPr kumimoji="1" lang="zh-CN" altLang="en-US" sz="2400" b="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1" name="AutoShape 4"/>
          <p:cNvSpPr>
            <a:spLocks noChangeArrowheads="1"/>
          </p:cNvSpPr>
          <p:nvPr/>
        </p:nvSpPr>
        <p:spPr bwMode="auto">
          <a:xfrm>
            <a:off x="4427984" y="3272999"/>
            <a:ext cx="3960440" cy="443339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12700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多了一个</a:t>
            </a:r>
            <a:r>
              <a:rPr lang="en-US" altLang="zh-CN" sz="20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jmp</a:t>
            </a:r>
            <a:r>
              <a:rPr lang="zh-CN" altLang="en-US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指令，此处必不可少</a:t>
            </a:r>
            <a:endParaRPr lang="en-US" altLang="zh-CN" sz="2000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4-5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个数折半程序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-3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679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3568" y="1734828"/>
            <a:ext cx="7920880" cy="2342244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eax,887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假设一个数据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shr</a:t>
            </a:r>
            <a:r>
              <a:rPr lang="en-US" altLang="zh-CN" sz="2000" b="1" dirty="0">
                <a:latin typeface="+mn-lt"/>
              </a:rPr>
              <a:t> eax,1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数据右移进行折半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adc</a:t>
            </a:r>
            <a:r>
              <a:rPr lang="en-US" altLang="zh-CN" sz="2000" b="1" dirty="0">
                <a:latin typeface="+mn-lt"/>
              </a:rPr>
              <a:t> eax,0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余数＝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CF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，进行加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操作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；余数＝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CF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，没有加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+mn-lt"/>
              </a:rPr>
              <a:t>	call </a:t>
            </a:r>
            <a:r>
              <a:rPr lang="en-US" altLang="zh-CN" sz="2000" b="1" dirty="0" err="1">
                <a:latin typeface="+mn-lt"/>
              </a:rPr>
              <a:t>dispuid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显示结果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683568" y="692696"/>
            <a:ext cx="7704856" cy="963666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、利用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ADC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指令具有自动加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CF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的特点替代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ADD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指令，从而不使用条件转移指令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2" name="内容占位符 2"/>
          <p:cNvSpPr txBox="1"/>
          <p:nvPr/>
        </p:nvSpPr>
        <p:spPr>
          <a:xfrm>
            <a:off x="683568" y="4110980"/>
            <a:ext cx="7704856" cy="576064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、先将个数增加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，然后除以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2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就是半数，避免分支问题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83568" y="4691236"/>
            <a:ext cx="7920880" cy="1880579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eax,888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假设一个数据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add eax,1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个数加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rcr</a:t>
            </a:r>
            <a:r>
              <a:rPr lang="en-US" altLang="zh-CN" sz="2000" b="1" dirty="0">
                <a:latin typeface="+mn-lt"/>
              </a:rPr>
              <a:t> eax,1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数据右移进行折半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dispuid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显示结果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14" name="filecab3"/>
          <p:cNvSpPr>
            <a:spLocks noEditPoints="1" noChangeArrowheads="1"/>
          </p:cNvSpPr>
          <p:nvPr/>
        </p:nvSpPr>
        <p:spPr bwMode="auto">
          <a:xfrm flipV="1">
            <a:off x="6732240" y="1336874"/>
            <a:ext cx="1800200" cy="933652"/>
          </a:xfrm>
          <a:custGeom>
            <a:avLst/>
            <a:gdLst>
              <a:gd name="T0" fmla="*/ 2147483646 w 21600"/>
              <a:gd name="T1" fmla="*/ 0 h 21600"/>
              <a:gd name="T2" fmla="*/ 0 w 21600"/>
              <a:gd name="T3" fmla="*/ 0 h 21600"/>
              <a:gd name="T4" fmla="*/ 0 w 21600"/>
              <a:gd name="T5" fmla="*/ 2147483646 h 21600"/>
              <a:gd name="T6" fmla="*/ 0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0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1004 w 21600"/>
              <a:gd name="T25" fmla="*/ 511 h 21600"/>
              <a:gd name="T26" fmla="*/ 20542 w 21600"/>
              <a:gd name="T27" fmla="*/ 18765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 extrusionOk="0">
                <a:moveTo>
                  <a:pt x="10788" y="0"/>
                </a:moveTo>
                <a:lnTo>
                  <a:pt x="0" y="0"/>
                </a:lnTo>
                <a:lnTo>
                  <a:pt x="0" y="10800"/>
                </a:lnTo>
                <a:lnTo>
                  <a:pt x="0" y="19099"/>
                </a:lnTo>
                <a:lnTo>
                  <a:pt x="8466" y="19099"/>
                </a:lnTo>
                <a:lnTo>
                  <a:pt x="8490" y="19440"/>
                </a:lnTo>
                <a:lnTo>
                  <a:pt x="8537" y="20008"/>
                </a:lnTo>
                <a:lnTo>
                  <a:pt x="8607" y="20349"/>
                </a:lnTo>
                <a:lnTo>
                  <a:pt x="8701" y="20691"/>
                </a:lnTo>
                <a:lnTo>
                  <a:pt x="8842" y="21145"/>
                </a:lnTo>
                <a:lnTo>
                  <a:pt x="9053" y="21373"/>
                </a:lnTo>
                <a:lnTo>
                  <a:pt x="9264" y="21600"/>
                </a:lnTo>
                <a:lnTo>
                  <a:pt x="9545" y="21600"/>
                </a:lnTo>
                <a:lnTo>
                  <a:pt x="10718" y="21600"/>
                </a:lnTo>
                <a:lnTo>
                  <a:pt x="11891" y="21600"/>
                </a:lnTo>
                <a:lnTo>
                  <a:pt x="12266" y="21600"/>
                </a:lnTo>
                <a:lnTo>
                  <a:pt x="12477" y="21429"/>
                </a:lnTo>
                <a:lnTo>
                  <a:pt x="12618" y="21202"/>
                </a:lnTo>
                <a:lnTo>
                  <a:pt x="12758" y="20861"/>
                </a:lnTo>
                <a:lnTo>
                  <a:pt x="12922" y="20349"/>
                </a:lnTo>
                <a:lnTo>
                  <a:pt x="12993" y="19952"/>
                </a:lnTo>
                <a:lnTo>
                  <a:pt x="13016" y="19440"/>
                </a:lnTo>
                <a:lnTo>
                  <a:pt x="13063" y="19099"/>
                </a:lnTo>
                <a:lnTo>
                  <a:pt x="21600" y="19099"/>
                </a:lnTo>
                <a:lnTo>
                  <a:pt x="21600" y="10800"/>
                </a:lnTo>
                <a:lnTo>
                  <a:pt x="21600" y="0"/>
                </a:lnTo>
                <a:lnTo>
                  <a:pt x="10788" y="0"/>
                </a:lnTo>
                <a:close/>
                <a:moveTo>
                  <a:pt x="9053" y="19099"/>
                </a:moveTo>
                <a:lnTo>
                  <a:pt x="9053" y="19440"/>
                </a:lnTo>
                <a:lnTo>
                  <a:pt x="9076" y="19611"/>
                </a:lnTo>
                <a:lnTo>
                  <a:pt x="9123" y="19781"/>
                </a:lnTo>
                <a:lnTo>
                  <a:pt x="9193" y="20008"/>
                </a:lnTo>
                <a:lnTo>
                  <a:pt x="9264" y="20179"/>
                </a:lnTo>
                <a:lnTo>
                  <a:pt x="9334" y="20293"/>
                </a:lnTo>
                <a:lnTo>
                  <a:pt x="9405" y="20349"/>
                </a:lnTo>
                <a:lnTo>
                  <a:pt x="9545" y="20349"/>
                </a:lnTo>
                <a:lnTo>
                  <a:pt x="11891" y="20349"/>
                </a:lnTo>
                <a:lnTo>
                  <a:pt x="12031" y="20349"/>
                </a:lnTo>
                <a:lnTo>
                  <a:pt x="12172" y="20236"/>
                </a:lnTo>
                <a:lnTo>
                  <a:pt x="12266" y="20179"/>
                </a:lnTo>
                <a:lnTo>
                  <a:pt x="12336" y="20008"/>
                </a:lnTo>
                <a:lnTo>
                  <a:pt x="12383" y="19838"/>
                </a:lnTo>
                <a:lnTo>
                  <a:pt x="12430" y="19611"/>
                </a:lnTo>
                <a:lnTo>
                  <a:pt x="12477" y="19440"/>
                </a:lnTo>
                <a:lnTo>
                  <a:pt x="12477" y="19099"/>
                </a:lnTo>
                <a:lnTo>
                  <a:pt x="9053" y="19099"/>
                </a:lnTo>
                <a:close/>
              </a:path>
              <a:path w="21600" h="21600" extrusionOk="0">
                <a:moveTo>
                  <a:pt x="9053" y="19099"/>
                </a:moveTo>
                <a:lnTo>
                  <a:pt x="0" y="19099"/>
                </a:lnTo>
                <a:lnTo>
                  <a:pt x="21600" y="19099"/>
                </a:lnTo>
              </a:path>
            </a:pathLst>
          </a:custGeom>
          <a:solidFill>
            <a:srgbClr val="DBDAB4"/>
          </a:solidFill>
          <a:ln w="9525" cap="rnd">
            <a:solidFill>
              <a:srgbClr val="000000"/>
            </a:solidFill>
            <a:prstDash val="sysDot"/>
            <a:miter lim="800000"/>
          </a:ln>
          <a:effectLst>
            <a:outerShdw dist="107763" dir="2700000" algn="ctr" rotWithShape="0">
              <a:srgbClr val="808080"/>
            </a:outerShdw>
          </a:effectLst>
        </p:spPr>
        <p:txBody>
          <a:bodyPr rot="10800000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改进算法</a:t>
            </a:r>
            <a:endParaRPr lang="en-US" altLang="zh-CN" sz="2400" b="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消除分支</a:t>
            </a:r>
            <a:endParaRPr lang="zh-CN" altLang="en-US" sz="2400" b="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4-6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位测试程序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-1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679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3568" y="1815272"/>
            <a:ext cx="7920880" cy="4710072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数据段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 err="1">
                <a:latin typeface="+mn-lt"/>
              </a:rPr>
              <a:t>no_msg</a:t>
            </a:r>
            <a:r>
              <a:rPr lang="en-US" altLang="zh-CN" sz="2000" b="1" dirty="0">
                <a:latin typeface="+mn-lt"/>
              </a:rPr>
              <a:t>	  byte  'Not Ready!',0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 err="1">
                <a:latin typeface="+mn-lt"/>
              </a:rPr>
              <a:t>yes_msg</a:t>
            </a:r>
            <a:r>
              <a:rPr lang="en-US" altLang="zh-CN" sz="2000" b="1" dirty="0">
                <a:latin typeface="+mn-lt"/>
              </a:rPr>
              <a:t>  byte  'Ready to Go!',0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代码段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eax,56h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假设一个数据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test</a:t>
            </a:r>
            <a:r>
              <a:rPr lang="en-US" altLang="zh-CN" sz="2000" b="1" dirty="0">
                <a:latin typeface="+mn-lt"/>
              </a:rPr>
              <a:t> eax,02h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测试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D</a:t>
            </a:r>
            <a:r>
              <a:rPr lang="en-US" altLang="zh-CN" sz="2000" b="1" baseline="-25000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位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(D</a:t>
            </a:r>
            <a:r>
              <a:rPr lang="en-US" altLang="zh-CN" sz="2000" b="1" baseline="-25000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，其他位为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0)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jz</a:t>
            </a:r>
            <a:r>
              <a:rPr lang="en-US" altLang="zh-CN" sz="2000" b="1" dirty="0">
                <a:latin typeface="+mn-lt"/>
              </a:rPr>
              <a:t> nom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D</a:t>
            </a:r>
            <a:r>
              <a:rPr lang="en-US" altLang="zh-CN" sz="2000" b="1" baseline="-25000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条件成立，转移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eax,offset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yes_msg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D</a:t>
            </a:r>
            <a:r>
              <a:rPr lang="en-US" altLang="zh-CN" sz="2000" b="1" baseline="-25000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，显示准备好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jmp</a:t>
            </a:r>
            <a:r>
              <a:rPr lang="en-US" altLang="zh-CN" sz="2000" b="1" dirty="0">
                <a:latin typeface="+mn-lt"/>
              </a:rPr>
              <a:t> done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跳转过另一个分支体！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latin typeface="+mn-lt"/>
              </a:rPr>
              <a:t>nom:	mov </a:t>
            </a:r>
            <a:r>
              <a:rPr lang="en-US" altLang="zh-CN" sz="2000" b="1" dirty="0" err="1">
                <a:latin typeface="+mn-lt"/>
              </a:rPr>
              <a:t>eax,offset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no_msg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显示没有准备好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latin typeface="+mn-lt"/>
              </a:rPr>
              <a:t>done:	call </a:t>
            </a:r>
            <a:r>
              <a:rPr lang="en-US" altLang="zh-CN" sz="2000" b="1" dirty="0" err="1">
                <a:latin typeface="+mn-lt"/>
              </a:rPr>
              <a:t>dispmsg</a:t>
            </a:r>
            <a:endParaRPr lang="en-US" altLang="zh-CN" sz="2000" b="1" dirty="0">
              <a:latin typeface="+mn-lt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683568" y="692696"/>
            <a:ext cx="7704856" cy="963666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例：编程测试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EAX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的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D</a:t>
            </a:r>
            <a:r>
              <a:rPr lang="en-US" altLang="zh-CN" sz="2400" baseline="-25000" dirty="0">
                <a:solidFill>
                  <a:schemeClr val="tx1"/>
                </a:solidFill>
                <a:latin typeface="+mn-lt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位，若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D</a:t>
            </a:r>
            <a:r>
              <a:rPr lang="en-US" altLang="zh-CN" sz="2400" baseline="-25000" dirty="0">
                <a:solidFill>
                  <a:schemeClr val="tx1"/>
                </a:solidFill>
                <a:latin typeface="+mn-lt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=0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，显示“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Not Ready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”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若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D</a:t>
            </a:r>
            <a:r>
              <a:rPr lang="en-US" altLang="zh-CN" sz="2400" baseline="-25000" dirty="0">
                <a:solidFill>
                  <a:schemeClr val="tx1"/>
                </a:solidFill>
                <a:latin typeface="+mn-lt"/>
              </a:rPr>
              <a:t>1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=1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，显示“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Ready to Go!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”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4245868" y="1802312"/>
            <a:ext cx="4320480" cy="1709142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12700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test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指令进行隐含</a:t>
            </a: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AND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操作，同时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l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不改变操作数，正适用于位测试。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l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判断运算结果是否为</a:t>
            </a: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0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，使用</a:t>
            </a: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ZF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标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l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志（对应</a:t>
            </a:r>
            <a:r>
              <a:rPr lang="en-US" altLang="zh-CN" sz="22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jz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或</a:t>
            </a:r>
            <a:r>
              <a:rPr lang="en-US" altLang="zh-CN" sz="22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jnz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指令）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4-6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位测试程序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-2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679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3568" y="1423681"/>
            <a:ext cx="7920880" cy="4453591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数据段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 marL="0" lvl="2">
              <a:lnSpc>
                <a:spcPct val="130000"/>
              </a:lnSpc>
            </a:pPr>
            <a:r>
              <a:rPr lang="en-US" altLang="zh-CN" sz="2000" b="1" dirty="0" err="1">
                <a:latin typeface="+mn-lt"/>
              </a:rPr>
              <a:t>no_msg</a:t>
            </a:r>
            <a:r>
              <a:rPr lang="en-US" altLang="zh-CN" sz="2000" b="1" dirty="0">
                <a:latin typeface="+mn-lt"/>
              </a:rPr>
              <a:t>	 byte  ‘Not Ready!',0</a:t>
            </a:r>
            <a:endParaRPr lang="en-US" altLang="zh-CN" sz="2000" b="1" dirty="0">
              <a:latin typeface="+mn-lt"/>
            </a:endParaRPr>
          </a:p>
          <a:p>
            <a:pPr marL="0" lvl="2">
              <a:lnSpc>
                <a:spcPct val="130000"/>
              </a:lnSpc>
            </a:pPr>
            <a:r>
              <a:rPr lang="en-US" altLang="zh-CN" sz="2000" b="1" dirty="0" err="1">
                <a:latin typeface="+mn-lt"/>
              </a:rPr>
              <a:t>yes_msg</a:t>
            </a:r>
            <a:r>
              <a:rPr lang="en-US" altLang="zh-CN" sz="2000" b="1" dirty="0">
                <a:latin typeface="+mn-lt"/>
              </a:rPr>
              <a:t>	 byte  'Ready to Go!',0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代码段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eax,56h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假设一个数据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test</a:t>
            </a:r>
            <a:r>
              <a:rPr lang="en-US" altLang="zh-CN" sz="2000" b="1" dirty="0">
                <a:latin typeface="+mn-lt"/>
              </a:rPr>
              <a:t> eax,02h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测试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D</a:t>
            </a:r>
            <a:r>
              <a:rPr lang="en-US" altLang="zh-CN" sz="2000" b="1" baseline="-25000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位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(D</a:t>
            </a:r>
            <a:r>
              <a:rPr lang="en-US" altLang="zh-CN" sz="2000" b="1" baseline="-25000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，其他位为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0)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jnz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yesm</a:t>
            </a:r>
            <a:r>
              <a:rPr lang="en-US" altLang="zh-CN" sz="2000" b="1" dirty="0">
                <a:latin typeface="+mn-lt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D</a:t>
            </a:r>
            <a:r>
              <a:rPr lang="en-US" altLang="zh-CN" sz="2000" b="1" baseline="-25000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条件成立，转移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eax,offset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no_msg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D</a:t>
            </a:r>
            <a:r>
              <a:rPr lang="en-US" altLang="zh-CN" sz="2000" b="1" baseline="-25000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，显示没有准备好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jmp</a:t>
            </a:r>
            <a:r>
              <a:rPr lang="en-US" altLang="zh-CN" sz="2000" b="1" dirty="0">
                <a:latin typeface="+mn-lt"/>
              </a:rPr>
              <a:t> done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跳转过另一个分支体！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 err="1">
                <a:latin typeface="+mn-lt"/>
              </a:rPr>
              <a:t>yesm</a:t>
            </a:r>
            <a:r>
              <a:rPr lang="en-US" altLang="zh-CN" sz="2000" b="1" dirty="0">
                <a:latin typeface="+mn-lt"/>
              </a:rPr>
              <a:t>:	mov </a:t>
            </a:r>
            <a:r>
              <a:rPr lang="en-US" altLang="zh-CN" sz="2000" b="1" dirty="0" err="1">
                <a:latin typeface="+mn-lt"/>
              </a:rPr>
              <a:t>eax,offset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yes_msg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显示准备好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latin typeface="+mn-lt"/>
              </a:rPr>
              <a:t>done:	call </a:t>
            </a:r>
            <a:r>
              <a:rPr lang="en-US" altLang="zh-CN" sz="2000" b="1" dirty="0" err="1">
                <a:latin typeface="+mn-lt"/>
              </a:rPr>
              <a:t>dispmsg</a:t>
            </a:r>
            <a:endParaRPr lang="en-US" altLang="zh-CN" sz="2000" b="1" dirty="0">
              <a:latin typeface="+mn-lt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683568" y="737142"/>
            <a:ext cx="7704856" cy="963666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上一段程序使用的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JZ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指令，也可使用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JNZ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指令：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4-7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奇校验程序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-1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9512" y="6679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867" name="Rectangle 3"/>
          <p:cNvSpPr>
            <a:spLocks noGrp="1"/>
          </p:cNvSpPr>
          <p:nvPr/>
        </p:nvSpPr>
        <p:spPr>
          <a:xfrm>
            <a:off x="527050" y="699135"/>
            <a:ext cx="8195945" cy="45567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32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800" b="1" i="0" u="none" kern="1200" baseline="0">
                <a:solidFill>
                  <a:srgbClr val="6633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 b="1" i="0" u="none" kern="1200" baseline="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pPr marL="457200" indent="-457200" algn="just" eaLnBrk="0" hangingPunct="0">
              <a:lnSpc>
                <a:spcPct val="130000"/>
              </a:lnSpc>
              <a:spcBef>
                <a:spcPts val="600"/>
              </a:spcBef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600" b="0" dirty="0">
                <a:solidFill>
                  <a:schemeClr val="tx1"/>
                </a:solidFill>
                <a:ea typeface="黑体" panose="02010609060101010101" pitchFamily="49" charset="-122"/>
              </a:rPr>
              <a:t>数据传输、存储等，保证可靠的最常用校验方法</a:t>
            </a:r>
            <a:endParaRPr lang="zh-CN" altLang="en-US" sz="2600" b="0" dirty="0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marL="914400" lvl="1" indent="-457200" algn="just" eaLnBrk="0" hangingPunct="0">
              <a:lnSpc>
                <a:spcPct val="130000"/>
              </a:lnSpc>
              <a:spcBef>
                <a:spcPts val="0"/>
              </a:spcBef>
              <a:buSzTx/>
              <a:buChar char="ü"/>
            </a:pPr>
            <a:r>
              <a:rPr lang="en-US" altLang="zh-CN" sz="2400" b="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ASCII</a:t>
            </a:r>
            <a:r>
              <a:rPr lang="zh-CN" altLang="en-US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+mn-ea"/>
              </a:rPr>
              <a:t>码的最高位可用作传输的校验位</a:t>
            </a:r>
            <a:endParaRPr lang="zh-CN" altLang="en-US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914400" lvl="1" indent="-457200" algn="just" eaLnBrk="0" hangingPunct="0">
              <a:lnSpc>
                <a:spcPct val="130000"/>
              </a:lnSpc>
              <a:spcBef>
                <a:spcPts val="0"/>
              </a:spcBef>
              <a:buSzTx/>
              <a:buChar char="ü"/>
            </a:pPr>
            <a:r>
              <a:rPr lang="zh-CN" altLang="en-US" sz="2400" b="0" dirty="0">
                <a:solidFill>
                  <a:schemeClr val="tx1"/>
                </a:solidFill>
                <a:ea typeface="黑体" panose="02010609060101010101" pitchFamily="49" charset="-122"/>
              </a:rPr>
              <a:t>奇校验</a:t>
            </a:r>
            <a:endParaRPr lang="zh-CN" altLang="en-US" sz="2400" b="0" dirty="0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lvl="1" defTabSz="914400">
              <a:lnSpc>
                <a:spcPct val="130000"/>
              </a:lnSpc>
              <a:buNone/>
              <a:tabLst>
                <a:tab pos="1783080" algn="l"/>
                <a:tab pos="4297680" algn="l"/>
              </a:tabLst>
            </a:pPr>
            <a:r>
              <a:rPr lang="en-US" altLang="zh-CN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</a:t>
            </a:r>
            <a:r>
              <a:rPr lang="zh-CN" altLang="it-IT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使包括校验位在内的数据中“</a:t>
            </a:r>
            <a:r>
              <a:rPr lang="it-IT" altLang="zh-CN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1”</a:t>
            </a:r>
            <a:r>
              <a:rPr lang="zh-CN" altLang="it-IT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的个数为奇数</a:t>
            </a:r>
            <a:endParaRPr lang="zh-CN" altLang="it-IT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914400" lvl="1" indent="-457200" algn="just" defTabSz="914400" eaLnBrk="0" hangingPunct="0">
              <a:lnSpc>
                <a:spcPct val="130000"/>
              </a:lnSpc>
              <a:spcBef>
                <a:spcPts val="0"/>
              </a:spcBef>
              <a:buSzTx/>
              <a:buChar char="ü"/>
            </a:pPr>
            <a:r>
              <a:rPr lang="zh-CN" altLang="en-US" sz="2400" b="0" dirty="0">
                <a:solidFill>
                  <a:schemeClr val="tx1"/>
                </a:solidFill>
                <a:ea typeface="黑体" panose="02010609060101010101" pitchFamily="49" charset="-122"/>
              </a:rPr>
              <a:t>偶校验</a:t>
            </a:r>
            <a:endParaRPr lang="zh-CN" altLang="en-US" sz="2400" b="0" dirty="0">
              <a:solidFill>
                <a:schemeClr val="tx1"/>
              </a:solidFill>
              <a:ea typeface="黑体" panose="02010609060101010101" pitchFamily="49" charset="-122"/>
            </a:endParaRPr>
          </a:p>
          <a:p>
            <a:pPr lvl="1" algn="just" defTabSz="914400">
              <a:lnSpc>
                <a:spcPct val="130000"/>
              </a:lnSpc>
              <a:buNone/>
              <a:tabLst>
                <a:tab pos="1783080" algn="l"/>
                <a:tab pos="4297680" algn="l"/>
              </a:tabLst>
            </a:pPr>
            <a:r>
              <a:rPr lang="en-US" altLang="zh-CN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   </a:t>
            </a:r>
            <a:r>
              <a:rPr lang="zh-CN" altLang="it-IT" sz="2400" b="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rPr>
              <a:t>使包括校验位在内的数据中“1”的个数为偶数</a:t>
            </a:r>
            <a:endParaRPr lang="zh-CN" altLang="it-IT" sz="2400" b="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</a:endParaRPr>
          </a:p>
        </p:txBody>
      </p:sp>
      <p:grpSp>
        <p:nvGrpSpPr>
          <p:cNvPr id="237572" name="组合 237571"/>
          <p:cNvGrpSpPr/>
          <p:nvPr/>
        </p:nvGrpSpPr>
        <p:grpSpPr>
          <a:xfrm>
            <a:off x="1563688" y="4006533"/>
            <a:ext cx="6195032" cy="2010769"/>
            <a:chOff x="1134" y="2660"/>
            <a:chExt cx="4916" cy="1196"/>
          </a:xfrm>
        </p:grpSpPr>
        <p:sp>
          <p:nvSpPr>
            <p:cNvPr id="36869" name="文本框 237572"/>
            <p:cNvSpPr txBox="1"/>
            <p:nvPr/>
          </p:nvSpPr>
          <p:spPr>
            <a:xfrm>
              <a:off x="1134" y="3005"/>
              <a:ext cx="1599" cy="256"/>
            </a:xfrm>
            <a:prstGeom prst="rect">
              <a:avLst/>
            </a:prstGeom>
            <a:solidFill>
              <a:schemeClr val="bg1">
                <a:lumMod val="90000"/>
              </a:schemeClr>
            </a:solidFill>
            <a:ln w="9525" cap="flat" cmpd="sng">
              <a:solidFill>
                <a:srgbClr val="00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lstStyle/>
            <a:p>
              <a:pPr defTabSz="1152525"/>
              <a:r>
                <a:rPr lang="en-US" altLang="zh-CN" sz="2200" b="1">
                  <a:latin typeface="黑体" panose="02010609060101010101" pitchFamily="49" charset="-122"/>
                </a:rPr>
                <a:t>1 1 0 0 0 0 1</a:t>
              </a:r>
              <a:endParaRPr lang="en-US" altLang="zh-CN" sz="2200" b="1">
                <a:latin typeface="黑体" panose="02010609060101010101" pitchFamily="49" charset="-122"/>
              </a:endParaRPr>
            </a:p>
          </p:txBody>
        </p:sp>
        <p:sp>
          <p:nvSpPr>
            <p:cNvPr id="36870" name="文本框 237573"/>
            <p:cNvSpPr txBox="1"/>
            <p:nvPr/>
          </p:nvSpPr>
          <p:spPr>
            <a:xfrm>
              <a:off x="1388" y="2660"/>
              <a:ext cx="925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defTabSz="1152525"/>
              <a:r>
                <a:rPr lang="en-US" altLang="zh-CN" sz="2200" b="1">
                  <a:latin typeface="黑体" panose="02010609060101010101" pitchFamily="49" charset="-122"/>
                  <a:cs typeface="黑体" panose="02010609060101010101" pitchFamily="49" charset="-122"/>
                </a:rPr>
                <a:t>7</a:t>
              </a:r>
              <a:r>
                <a:rPr lang="zh-CN" altLang="en-US" sz="2200" b="1" dirty="0">
                  <a:latin typeface="黑体" panose="02010609060101010101" pitchFamily="49" charset="-122"/>
                  <a:cs typeface="黑体" panose="02010609060101010101" pitchFamily="49" charset="-122"/>
                </a:rPr>
                <a:t>位数据</a:t>
              </a:r>
              <a:endParaRPr lang="zh-CN" altLang="en-US" sz="2200" b="1" dirty="0">
                <a:latin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36871" name="文本框 237574"/>
            <p:cNvSpPr txBox="1"/>
            <p:nvPr/>
          </p:nvSpPr>
          <p:spPr>
            <a:xfrm>
              <a:off x="4227" y="2806"/>
              <a:ext cx="1823" cy="256"/>
            </a:xfrm>
            <a:prstGeom prst="rect">
              <a:avLst/>
            </a:prstGeom>
            <a:solidFill>
              <a:schemeClr val="bg1">
                <a:lumMod val="90000"/>
              </a:schemeClr>
            </a:solidFill>
            <a:ln w="9525" cap="flat" cmpd="sng">
              <a:solidFill>
                <a:srgbClr val="00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lstStyle/>
            <a:p>
              <a:pPr defTabSz="1152525"/>
              <a:r>
                <a:rPr lang="en-US" altLang="zh-CN" sz="2200" b="1">
                  <a:solidFill>
                    <a:srgbClr val="CC3300"/>
                  </a:solidFill>
                  <a:latin typeface="黑体" panose="02010609060101010101" pitchFamily="49" charset="-122"/>
                </a:rPr>
                <a:t>0 </a:t>
              </a:r>
              <a:r>
                <a:rPr lang="en-US" altLang="zh-CN" sz="2200" b="1">
                  <a:latin typeface="黑体" panose="02010609060101010101" pitchFamily="49" charset="-122"/>
                </a:rPr>
                <a:t>1 1 0 0 0 0 1</a:t>
              </a:r>
              <a:endParaRPr lang="en-US" altLang="zh-CN" sz="2200" b="1">
                <a:latin typeface="黑体" panose="02010609060101010101" pitchFamily="49" charset="-122"/>
              </a:endParaRPr>
            </a:p>
          </p:txBody>
        </p:sp>
        <p:sp>
          <p:nvSpPr>
            <p:cNvPr id="36872" name="文本框 237575"/>
            <p:cNvSpPr txBox="1"/>
            <p:nvPr/>
          </p:nvSpPr>
          <p:spPr>
            <a:xfrm>
              <a:off x="4227" y="3260"/>
              <a:ext cx="1823" cy="256"/>
            </a:xfrm>
            <a:prstGeom prst="rect">
              <a:avLst/>
            </a:prstGeom>
            <a:solidFill>
              <a:schemeClr val="bg1">
                <a:lumMod val="90000"/>
              </a:schemeClr>
            </a:solidFill>
            <a:ln w="9525" cap="flat" cmpd="sng">
              <a:solidFill>
                <a:srgbClr val="00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t" anchorCtr="0">
              <a:spAutoFit/>
            </a:bodyPr>
            <a:lstStyle/>
            <a:p>
              <a:pPr defTabSz="1152525"/>
              <a:r>
                <a:rPr lang="en-US" altLang="zh-CN" sz="2200" b="1">
                  <a:solidFill>
                    <a:srgbClr val="CC3300"/>
                  </a:solidFill>
                  <a:latin typeface="黑体" panose="02010609060101010101" pitchFamily="49" charset="-122"/>
                </a:rPr>
                <a:t>1 </a:t>
              </a:r>
              <a:r>
                <a:rPr lang="en-US" altLang="zh-CN" sz="2200" b="1">
                  <a:latin typeface="黑体" panose="02010609060101010101" pitchFamily="49" charset="-122"/>
                </a:rPr>
                <a:t>1 1 0 0 0 0 1</a:t>
              </a:r>
              <a:endParaRPr lang="en-US" altLang="zh-CN" sz="2200" b="1">
                <a:latin typeface="黑体" panose="02010609060101010101" pitchFamily="49" charset="-122"/>
              </a:endParaRPr>
            </a:p>
          </p:txBody>
        </p:sp>
        <p:sp>
          <p:nvSpPr>
            <p:cNvPr id="36873" name="直接连接符 237576"/>
            <p:cNvSpPr/>
            <p:nvPr/>
          </p:nvSpPr>
          <p:spPr>
            <a:xfrm flipV="1">
              <a:off x="2693" y="3005"/>
              <a:ext cx="1531" cy="113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874" name="文本框 237577"/>
            <p:cNvSpPr txBox="1"/>
            <p:nvPr/>
          </p:nvSpPr>
          <p:spPr>
            <a:xfrm>
              <a:off x="2977" y="2665"/>
              <a:ext cx="813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defTabSz="1152525"/>
              <a:r>
                <a:rPr lang="zh-CN" altLang="en-US" sz="2200" b="1" dirty="0">
                  <a:solidFill>
                    <a:schemeClr val="hlink"/>
                  </a:solidFill>
                  <a:latin typeface="黑体" panose="02010609060101010101" pitchFamily="49" charset="-122"/>
                </a:rPr>
                <a:t>奇校验</a:t>
              </a:r>
              <a:endParaRPr lang="zh-CN" altLang="en-US" sz="2200" b="1" dirty="0">
                <a:solidFill>
                  <a:schemeClr val="hlink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36875" name="直接连接符 237578"/>
            <p:cNvSpPr/>
            <p:nvPr/>
          </p:nvSpPr>
          <p:spPr>
            <a:xfrm>
              <a:off x="2693" y="3288"/>
              <a:ext cx="1531" cy="14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36876" name="文本框 237579"/>
            <p:cNvSpPr txBox="1"/>
            <p:nvPr/>
          </p:nvSpPr>
          <p:spPr>
            <a:xfrm>
              <a:off x="2977" y="3317"/>
              <a:ext cx="813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defTabSz="1152525"/>
              <a:r>
                <a:rPr lang="zh-CN" altLang="en-US" sz="2200" b="1" dirty="0">
                  <a:solidFill>
                    <a:schemeClr val="hlink"/>
                  </a:solidFill>
                  <a:latin typeface="黑体" panose="02010609060101010101" pitchFamily="49" charset="-122"/>
                </a:rPr>
                <a:t>偶校验</a:t>
              </a:r>
              <a:endParaRPr lang="zh-CN" altLang="en-US" sz="2200" b="1" dirty="0">
                <a:solidFill>
                  <a:schemeClr val="hlink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36877" name="椭圆 237580"/>
            <p:cNvSpPr/>
            <p:nvPr/>
          </p:nvSpPr>
          <p:spPr>
            <a:xfrm>
              <a:off x="4253" y="2693"/>
              <a:ext cx="226" cy="1049"/>
            </a:xfrm>
            <a:prstGeom prst="ellipse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 anchorCtr="0"/>
            <a:lstStyle/>
            <a:p>
              <a:pPr eaLnBrk="0" hangingPunct="0"/>
              <a:endParaRPr lang="zh-CN" altLang="en-US" sz="2200">
                <a:latin typeface="黑体" panose="02010609060101010101" pitchFamily="49" charset="-122"/>
              </a:endParaRPr>
            </a:p>
          </p:txBody>
        </p:sp>
        <p:sp>
          <p:nvSpPr>
            <p:cNvPr id="36878" name="文本框 237581"/>
            <p:cNvSpPr txBox="1"/>
            <p:nvPr/>
          </p:nvSpPr>
          <p:spPr>
            <a:xfrm>
              <a:off x="4933" y="3600"/>
              <a:ext cx="813" cy="2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 anchorCtr="0">
              <a:spAutoFit/>
            </a:bodyPr>
            <a:lstStyle/>
            <a:p>
              <a:pPr defTabSz="1152525"/>
              <a:r>
                <a:rPr lang="zh-CN" altLang="en-US" sz="2200" b="1" dirty="0">
                  <a:solidFill>
                    <a:srgbClr val="CC3300"/>
                  </a:solidFill>
                  <a:latin typeface="黑体" panose="02010609060101010101" pitchFamily="49" charset="-122"/>
                </a:rPr>
                <a:t>校验位</a:t>
              </a:r>
              <a:endParaRPr lang="zh-CN" altLang="en-US" sz="2200" b="1" dirty="0">
                <a:solidFill>
                  <a:srgbClr val="CC33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36879" name="直接连接符 237582"/>
            <p:cNvSpPr/>
            <p:nvPr/>
          </p:nvSpPr>
          <p:spPr>
            <a:xfrm>
              <a:off x="4366" y="3742"/>
              <a:ext cx="538" cy="28"/>
            </a:xfrm>
            <a:prstGeom prst="line">
              <a:avLst/>
            </a:prstGeom>
            <a:ln w="95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237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4-7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奇校验程序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-2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9512" y="6679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22193" y="1672233"/>
            <a:ext cx="8089603" cy="3650295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readc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键盘输入， 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AL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＝返回值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dispcrlf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回车换行（用于分隔）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dispbb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以二进制形式显示数据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dispcrlf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回车换行（用于分隔）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and al,7fh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假设最高位置“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0”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、其他位不变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同时标志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PF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反映“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1”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的个数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jnp</a:t>
            </a:r>
            <a:r>
              <a:rPr lang="en-US" altLang="zh-CN" sz="2000" b="1" dirty="0">
                <a:latin typeface="+mn-lt"/>
              </a:rPr>
              <a:t> next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个数为奇数，不需处理，转移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or al,80h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个数为偶数，最高位置“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1”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、其他位不变 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</a:pPr>
            <a:r>
              <a:rPr lang="en-US" altLang="zh-CN" sz="2000" b="1" dirty="0">
                <a:latin typeface="+mn-lt"/>
              </a:rPr>
              <a:t>next:	call </a:t>
            </a:r>
            <a:r>
              <a:rPr lang="en-US" altLang="zh-CN" sz="2000" b="1" dirty="0" err="1">
                <a:latin typeface="+mn-lt"/>
              </a:rPr>
              <a:t>dispbb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显示含校验位的数据</a:t>
            </a:r>
            <a:endParaRPr lang="en-US" altLang="zh-CN" sz="2000" b="1" dirty="0">
              <a:latin typeface="+mn-lt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550185" y="664121"/>
            <a:ext cx="7704856" cy="963666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例：采用奇校验，若在字符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ASCII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码中“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”的个数已为奇数，则令其最高位为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，否则令其最高位为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endParaRPr lang="en-US" altLang="zh-CN" sz="2000" b="1" dirty="0">
              <a:latin typeface="+mn-lt"/>
            </a:endParaRPr>
          </a:p>
        </p:txBody>
      </p:sp>
      <p:sp>
        <p:nvSpPr>
          <p:cNvPr id="4" name="内容占位符 2"/>
          <p:cNvSpPr txBox="1"/>
          <p:nvPr/>
        </p:nvSpPr>
        <p:spPr>
          <a:xfrm>
            <a:off x="622193" y="5373217"/>
            <a:ext cx="8078970" cy="1296144"/>
          </a:xfrm>
          <a:prstGeom prst="rect">
            <a:avLst/>
          </a:prstGeom>
          <a:ln w="19050">
            <a:solidFill>
              <a:srgbClr val="00B050"/>
            </a:solidFill>
            <a:prstDash val="dash"/>
          </a:ln>
        </p:spPr>
        <p:txBody>
          <a:bodyPr/>
          <a:lstStyle/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200" dirty="0">
                <a:solidFill>
                  <a:srgbClr val="FF0000"/>
                </a:solidFill>
                <a:latin typeface="+mn-lt"/>
              </a:rPr>
              <a:t>奇偶校验：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ASCII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码的最高位可用作传输的校验位，若使包括校验位在内的数据中“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1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”的个数恒为奇数，则为奇校验；恒为偶数（包括</a:t>
            </a:r>
            <a:r>
              <a:rPr lang="en-US" altLang="zh-CN" sz="2200" dirty="0">
                <a:solidFill>
                  <a:schemeClr val="tx1"/>
                </a:solidFill>
                <a:latin typeface="+mn-lt"/>
              </a:rPr>
              <a:t>0</a:t>
            </a: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），则为偶校验。</a:t>
            </a:r>
            <a:endParaRPr lang="en-US" altLang="zh-CN" sz="2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AutoShape 4"/>
          <p:cNvSpPr>
            <a:spLocks noChangeArrowheads="1"/>
          </p:cNvSpPr>
          <p:nvPr/>
        </p:nvSpPr>
        <p:spPr bwMode="auto">
          <a:xfrm>
            <a:off x="6454841" y="1700808"/>
            <a:ext cx="2520280" cy="1296144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12700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PF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标志正是为奇偶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校验而设计，对应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2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jnp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或</a:t>
            </a:r>
            <a:r>
              <a:rPr lang="en-US" altLang="zh-CN" sz="2200" b="0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jp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指令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764704"/>
            <a:ext cx="8386092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判断两个</a:t>
            </a:r>
            <a:r>
              <a:rPr lang="zh-CN" altLang="en-US" sz="2600" dirty="0">
                <a:solidFill>
                  <a:srgbClr val="FF0000"/>
                </a:solidFill>
                <a:latin typeface="+mn-lt"/>
              </a:rPr>
              <a:t>无符号数</a:t>
            </a:r>
            <a:r>
              <a:rPr lang="zh-CN" altLang="en-US" sz="2600" dirty="0">
                <a:latin typeface="+mn-lt"/>
              </a:rPr>
              <a:t>和判断两个</a:t>
            </a:r>
            <a:r>
              <a:rPr lang="zh-CN" altLang="en-US" sz="2600" dirty="0">
                <a:solidFill>
                  <a:srgbClr val="FF0000"/>
                </a:solidFill>
                <a:latin typeface="+mn-lt"/>
              </a:rPr>
              <a:t>有符号数</a:t>
            </a:r>
            <a:r>
              <a:rPr lang="zh-CN" altLang="en-US" sz="2600" dirty="0">
                <a:latin typeface="+mn-lt"/>
              </a:rPr>
              <a:t>的大小关系要用不同的标志位组合，因此有对应的两组指令</a:t>
            </a:r>
            <a:endParaRPr lang="en-US" altLang="zh-CN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无符号数用高</a:t>
            </a:r>
            <a:r>
              <a:rPr lang="en-US" altLang="zh-CN" sz="2600" dirty="0">
                <a:latin typeface="+mn-lt"/>
              </a:rPr>
              <a:t>(</a:t>
            </a:r>
            <a:r>
              <a:rPr lang="en-US" altLang="zh-CN" sz="2600" dirty="0">
                <a:solidFill>
                  <a:srgbClr val="FF0000"/>
                </a:solidFill>
                <a:latin typeface="+mn-lt"/>
              </a:rPr>
              <a:t>A</a:t>
            </a:r>
            <a:r>
              <a:rPr lang="en-US" altLang="zh-CN" sz="2600" dirty="0">
                <a:latin typeface="+mn-lt"/>
              </a:rPr>
              <a:t>bove)</a:t>
            </a:r>
            <a:r>
              <a:rPr lang="zh-CN" altLang="en-US" sz="2600" dirty="0">
                <a:latin typeface="+mn-lt"/>
              </a:rPr>
              <a:t>、低</a:t>
            </a:r>
            <a:r>
              <a:rPr lang="en-US" altLang="zh-CN" sz="2600" dirty="0">
                <a:latin typeface="+mn-lt"/>
              </a:rPr>
              <a:t>(</a:t>
            </a:r>
            <a:r>
              <a:rPr lang="en-US" altLang="zh-CN" sz="2600" dirty="0">
                <a:solidFill>
                  <a:srgbClr val="FF0000"/>
                </a:solidFill>
                <a:latin typeface="+mn-lt"/>
              </a:rPr>
              <a:t>B</a:t>
            </a:r>
            <a:r>
              <a:rPr lang="en-US" altLang="zh-CN" sz="2600" dirty="0">
                <a:latin typeface="+mn-lt"/>
              </a:rPr>
              <a:t>elow)</a:t>
            </a:r>
            <a:r>
              <a:rPr lang="zh-CN" altLang="en-US" sz="2600" dirty="0">
                <a:latin typeface="+mn-lt"/>
              </a:rPr>
              <a:t>，需要</a:t>
            </a:r>
            <a:r>
              <a:rPr lang="zh-CN" altLang="en-US" sz="2600" dirty="0">
                <a:solidFill>
                  <a:srgbClr val="FF0000"/>
                </a:solidFill>
                <a:latin typeface="+mn-lt"/>
              </a:rPr>
              <a:t>利用</a:t>
            </a:r>
            <a:r>
              <a:rPr lang="en-US" altLang="zh-CN" sz="2600" dirty="0">
                <a:solidFill>
                  <a:srgbClr val="FF0000"/>
                </a:solidFill>
                <a:latin typeface="+mn-lt"/>
              </a:rPr>
              <a:t>CF</a:t>
            </a:r>
            <a:r>
              <a:rPr lang="zh-CN" altLang="en-US" sz="2600" dirty="0">
                <a:solidFill>
                  <a:srgbClr val="FF0000"/>
                </a:solidFill>
                <a:latin typeface="+mn-lt"/>
              </a:rPr>
              <a:t>标志确定高低、利用</a:t>
            </a:r>
            <a:r>
              <a:rPr lang="en-US" altLang="zh-CN" sz="2600" dirty="0">
                <a:solidFill>
                  <a:srgbClr val="FF0000"/>
                </a:solidFill>
                <a:latin typeface="+mn-lt"/>
              </a:rPr>
              <a:t>ZF</a:t>
            </a:r>
            <a:r>
              <a:rPr lang="zh-CN" altLang="en-US" sz="2600" dirty="0">
                <a:solidFill>
                  <a:srgbClr val="FF0000"/>
                </a:solidFill>
                <a:latin typeface="+mn-lt"/>
              </a:rPr>
              <a:t>标志确定相等</a:t>
            </a:r>
            <a:r>
              <a:rPr lang="en-US" altLang="zh-CN" sz="2600" dirty="0">
                <a:latin typeface="+mn-lt"/>
              </a:rPr>
              <a:t>(</a:t>
            </a:r>
            <a:r>
              <a:rPr lang="en-US" altLang="zh-CN" sz="2600" dirty="0">
                <a:solidFill>
                  <a:srgbClr val="FF0000"/>
                </a:solidFill>
                <a:latin typeface="+mn-lt"/>
              </a:rPr>
              <a:t>E</a:t>
            </a:r>
            <a:r>
              <a:rPr lang="en-US" altLang="zh-CN" sz="2600" dirty="0">
                <a:latin typeface="+mn-lt"/>
              </a:rPr>
              <a:t>qual)</a:t>
            </a:r>
            <a:endParaRPr lang="zh-CN" altLang="en-US" sz="26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低于（不高于等于）：</a:t>
            </a:r>
            <a:r>
              <a:rPr lang="en-US" altLang="zh-CN" sz="24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JB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JNAE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）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不低于（高于等于）：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JNB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JAE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）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低于等于（不高于）：</a:t>
            </a:r>
            <a:r>
              <a:rPr lang="en-US" altLang="zh-CN" sz="24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JBE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JNA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）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不低于等于（高于）：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JNBE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JA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）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两数大小关系作为条件的条件转移指令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36129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1004764" y="4869160"/>
            <a:ext cx="7671692" cy="1880579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JB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/JNAE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CF=1</a:t>
            </a:r>
            <a:r>
              <a:rPr lang="en-US" altLang="zh-CN" sz="2000" b="1" dirty="0">
                <a:latin typeface="+mn-lt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Below/Not Above or Equal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JNB/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JAE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CF=0</a:t>
            </a:r>
            <a:r>
              <a:rPr lang="en-US" altLang="zh-CN" sz="2000" b="1" dirty="0">
                <a:latin typeface="+mn-lt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Not Below/Above or Equal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JBE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/JNA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CF=1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或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ZF=1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Below/Not Above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JNBE/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JA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CF=0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且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ZF=0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Not Below or Equal/Above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677838"/>
            <a:ext cx="8280920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有符号数用大</a:t>
            </a:r>
            <a:r>
              <a:rPr lang="en-US" altLang="zh-CN" sz="2600" dirty="0">
                <a:latin typeface="+mn-lt"/>
              </a:rPr>
              <a:t>(Greater)</a:t>
            </a:r>
            <a:r>
              <a:rPr lang="zh-CN" altLang="en-US" sz="2600" dirty="0">
                <a:latin typeface="+mn-lt"/>
              </a:rPr>
              <a:t>、小</a:t>
            </a:r>
            <a:r>
              <a:rPr lang="en-US" altLang="zh-CN" sz="2600" dirty="0">
                <a:latin typeface="+mn-lt"/>
              </a:rPr>
              <a:t>(Less)</a:t>
            </a:r>
            <a:r>
              <a:rPr lang="zh-CN" altLang="en-US" sz="2600" dirty="0">
                <a:latin typeface="+mn-lt"/>
              </a:rPr>
              <a:t>，需要组合</a:t>
            </a:r>
            <a:r>
              <a:rPr lang="en-US" altLang="zh-CN" sz="2600" dirty="0">
                <a:latin typeface="+mn-lt"/>
              </a:rPr>
              <a:t>OF</a:t>
            </a:r>
            <a:r>
              <a:rPr lang="zh-CN" altLang="en-US" sz="2600" dirty="0">
                <a:latin typeface="+mn-lt"/>
              </a:rPr>
              <a:t>、</a:t>
            </a:r>
            <a:r>
              <a:rPr lang="en-US" altLang="zh-CN" sz="2600" dirty="0">
                <a:latin typeface="+mn-lt"/>
              </a:rPr>
              <a:t>SF</a:t>
            </a:r>
            <a:r>
              <a:rPr lang="zh-CN" altLang="en-US" sz="2600" dirty="0">
                <a:latin typeface="+mn-lt"/>
              </a:rPr>
              <a:t>标志，并利用</a:t>
            </a:r>
            <a:r>
              <a:rPr lang="en-US" altLang="zh-CN" sz="2600" dirty="0">
                <a:latin typeface="+mn-lt"/>
              </a:rPr>
              <a:t>ZF</a:t>
            </a:r>
            <a:r>
              <a:rPr lang="zh-CN" altLang="en-US" sz="2600" dirty="0">
                <a:latin typeface="+mn-lt"/>
              </a:rPr>
              <a:t>标志确定相等</a:t>
            </a:r>
            <a:r>
              <a:rPr lang="en-US" altLang="zh-CN" sz="2600" dirty="0">
                <a:latin typeface="+mn-lt"/>
              </a:rPr>
              <a:t>(Equal)</a:t>
            </a:r>
            <a:endParaRPr lang="zh-CN" altLang="en-US" sz="2600" dirty="0">
              <a:latin typeface="+mn-lt"/>
            </a:endParaRPr>
          </a:p>
          <a:p>
            <a:pPr marL="914400" lvl="1" indent="-457200" algn="just">
              <a:lnSpc>
                <a:spcPct val="125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小于（不大于等于）：</a:t>
            </a:r>
            <a:r>
              <a:rPr lang="en-US" altLang="zh-CN" sz="24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JL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JNGE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）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25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不小于（大于等于）：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JNL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JGE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）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25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小于等于（不大于）：</a:t>
            </a:r>
            <a:r>
              <a:rPr lang="en-US" altLang="zh-CN" sz="24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JLE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JNG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）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25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不小于等于（大于）：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JNLE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JG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）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2.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两数大小关系作为条件的条件转移指令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6885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004518" y="3592066"/>
            <a:ext cx="7599930" cy="3253263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JL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/JNGE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SF≠OF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（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OF=0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且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SF=1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、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OF=1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且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SF=0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）</a:t>
            </a:r>
            <a:endParaRPr lang="zh-CN" altLang="en-US" sz="2000" b="1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Less/Not Greater or Equal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JNL/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JGE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SF=OF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（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OF=0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且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SF=0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、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OF=1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且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SF=1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）</a:t>
            </a:r>
            <a:endParaRPr lang="zh-CN" altLang="en-US" sz="2000" b="1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Not Less/Greater or Equal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JLE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/JNG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SF≠OF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或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ZF=1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（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OF=0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且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SF=1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、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OF=1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且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SF=0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）</a:t>
            </a:r>
            <a:endParaRPr lang="zh-CN" altLang="en-US" sz="2000" b="1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Less or Equal/Not Greater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JNLE/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JG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SF=OF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且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ZF=0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（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OF=0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且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SF=0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、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OF=1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且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SF=1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）</a:t>
            </a:r>
            <a:endParaRPr lang="zh-CN" altLang="en-US" sz="2000" b="1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Not Less or Equal/Greater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第二类转移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条件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cc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：两数大小关系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6795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3568" y="791578"/>
            <a:ext cx="7848872" cy="4853701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JB/JNAE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CF=1</a:t>
            </a:r>
            <a:r>
              <a:rPr lang="en-US" altLang="zh-CN" sz="2000" b="1" dirty="0">
                <a:latin typeface="+mn-lt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Below/Not Above or Equal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JNB/JAE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CF=0</a:t>
            </a:r>
            <a:r>
              <a:rPr lang="en-US" altLang="zh-CN" sz="2000" b="1" dirty="0">
                <a:latin typeface="+mn-lt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Not Below/Above or Equal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JBE/JNA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CF=1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或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ZF=1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Below/Not Above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JNBE/JA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CF=0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且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ZF=0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Not Below or Equal/Above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JL/JNGE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SF≠OF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（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OF=0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且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SF=1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、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OF=1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且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SF=0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）</a:t>
            </a:r>
            <a:endParaRPr lang="zh-CN" altLang="en-US" sz="2000" b="1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Less/Not Greater or Equal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JNL/JGE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SF=OF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（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OF=0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且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SF=0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、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OF=1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且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SF=1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）</a:t>
            </a:r>
            <a:endParaRPr lang="zh-CN" altLang="en-US" sz="2000" b="1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Not Less/Greater or Equal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JLE/JNG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SF≠OF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或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ZF=1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（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OF=0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且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SF=1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、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OF=1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且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SF=0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）</a:t>
            </a:r>
            <a:endParaRPr lang="zh-CN" altLang="en-US" sz="2000" b="1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Less or Equal/Not Greater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JNLE/JG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SF=OF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且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ZF=0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（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OF=0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且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SF=0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、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OF=1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且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SF=1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）</a:t>
            </a:r>
            <a:endParaRPr lang="zh-CN" altLang="en-US" sz="2000" b="1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Jump if Not Less or Equal/Greater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2" name="AutoShape 4"/>
          <p:cNvSpPr>
            <a:spLocks noChangeArrowheads="1"/>
          </p:cNvSpPr>
          <p:nvPr/>
        </p:nvSpPr>
        <p:spPr bwMode="auto">
          <a:xfrm>
            <a:off x="683568" y="5765082"/>
            <a:ext cx="7848872" cy="960317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12700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第二类条件转移指令主要以两个无符号数或有符号数的</a:t>
            </a: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4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种大小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l" eaLnBrk="1" hangingPunct="1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关系作为条件，可再细分成两组指令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4-8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数据比较程序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-1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5843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内容占位符 2"/>
          <p:cNvSpPr txBox="1"/>
          <p:nvPr/>
        </p:nvSpPr>
        <p:spPr>
          <a:xfrm>
            <a:off x="611560" y="664121"/>
            <a:ext cx="7992888" cy="963666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例：从键盘输入两个有符号数，比较其大小关系。如果两数相等，显示该数据，否则先小后大显示这两个数据。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40964" name="组合 239619"/>
          <p:cNvGrpSpPr/>
          <p:nvPr/>
        </p:nvGrpSpPr>
        <p:grpSpPr>
          <a:xfrm>
            <a:off x="4803140" y="1773555"/>
            <a:ext cx="3824605" cy="4723765"/>
            <a:chOff x="153" y="794"/>
            <a:chExt cx="3694" cy="3175"/>
          </a:xfrm>
          <a:solidFill>
            <a:schemeClr val="bg1">
              <a:lumMod val="90000"/>
            </a:schemeClr>
          </a:solidFill>
        </p:grpSpPr>
        <p:sp>
          <p:nvSpPr>
            <p:cNvPr id="40965" name="直接连接符 239620"/>
            <p:cNvSpPr/>
            <p:nvPr/>
          </p:nvSpPr>
          <p:spPr>
            <a:xfrm>
              <a:off x="2637" y="3053"/>
              <a:ext cx="0" cy="187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40966" name="直接连接符 239621"/>
            <p:cNvSpPr/>
            <p:nvPr/>
          </p:nvSpPr>
          <p:spPr>
            <a:xfrm>
              <a:off x="2637" y="2428"/>
              <a:ext cx="0" cy="187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40967" name="任意多边形 239622"/>
            <p:cNvSpPr/>
            <p:nvPr/>
          </p:nvSpPr>
          <p:spPr>
            <a:xfrm flipH="1">
              <a:off x="711" y="1729"/>
              <a:ext cx="966" cy="1985"/>
            </a:xfrm>
            <a:custGeom>
              <a:avLst/>
              <a:gdLst/>
              <a:ahLst/>
              <a:cxnLst/>
              <a:rect l="0" t="0" r="0" b="0"/>
              <a:pathLst>
                <a:path w="879" h="993">
                  <a:moveTo>
                    <a:pt x="680" y="0"/>
                  </a:moveTo>
                  <a:lnTo>
                    <a:pt x="879" y="0"/>
                  </a:lnTo>
                  <a:lnTo>
                    <a:pt x="879" y="993"/>
                  </a:lnTo>
                  <a:lnTo>
                    <a:pt x="0" y="99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 sz="2000">
                <a:latin typeface="黑体" panose="02010609060101010101" pitchFamily="49" charset="-122"/>
              </a:endParaRPr>
            </a:p>
          </p:txBody>
        </p:sp>
        <p:sp>
          <p:nvSpPr>
            <p:cNvPr id="40968" name="矩形 239623"/>
            <p:cNvSpPr/>
            <p:nvPr/>
          </p:nvSpPr>
          <p:spPr>
            <a:xfrm>
              <a:off x="931" y="794"/>
              <a:ext cx="1677" cy="425"/>
            </a:xfrm>
            <a:prstGeom prst="rect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defTabSz="1152525">
                <a:lnSpc>
                  <a:spcPct val="80000"/>
                </a:lnSpc>
              </a:pPr>
              <a:r>
                <a:rPr lang="zh-CN" altLang="en-US" sz="2000" b="1" dirty="0">
                  <a:solidFill>
                    <a:srgbClr val="663300"/>
                  </a:solidFill>
                  <a:latin typeface="黑体" panose="02010609060101010101" pitchFamily="49" charset="-122"/>
                  <a:cs typeface="黑体" panose="02010609060101010101" pitchFamily="49" charset="-122"/>
                </a:rPr>
                <a:t>比较</a:t>
              </a:r>
              <a:r>
                <a:rPr lang="en-US" altLang="zh-CN" sz="2000" b="1">
                  <a:solidFill>
                    <a:srgbClr val="663300"/>
                  </a:solidFill>
                  <a:latin typeface="黑体" panose="02010609060101010101" pitchFamily="49" charset="-122"/>
                  <a:cs typeface="黑体" panose="02010609060101010101" pitchFamily="49" charset="-122"/>
                </a:rPr>
                <a:t>EBX</a:t>
              </a:r>
              <a:r>
                <a:rPr lang="zh-CN" altLang="en-US" sz="2000" b="1" dirty="0">
                  <a:solidFill>
                    <a:srgbClr val="663300"/>
                  </a:solidFill>
                  <a:latin typeface="黑体" panose="02010609060101010101" pitchFamily="49" charset="-122"/>
                  <a:cs typeface="黑体" panose="02010609060101010101" pitchFamily="49" charset="-122"/>
                </a:rPr>
                <a:t>和</a:t>
              </a:r>
              <a:r>
                <a:rPr lang="en-US" altLang="zh-CN" sz="2000" b="1">
                  <a:solidFill>
                    <a:srgbClr val="663300"/>
                  </a:solidFill>
                  <a:latin typeface="黑体" panose="02010609060101010101" pitchFamily="49" charset="-122"/>
                  <a:cs typeface="黑体" panose="02010609060101010101" pitchFamily="49" charset="-122"/>
                </a:rPr>
                <a:t>ECX</a:t>
              </a:r>
              <a:endParaRPr lang="en-US" altLang="zh-CN" sz="2000" b="1">
                <a:solidFill>
                  <a:srgbClr val="663300"/>
                </a:solidFill>
                <a:latin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40969" name="直接连接符 239624"/>
            <p:cNvSpPr/>
            <p:nvPr/>
          </p:nvSpPr>
          <p:spPr>
            <a:xfrm>
              <a:off x="1667" y="1218"/>
              <a:ext cx="0" cy="255"/>
            </a:xfrm>
            <a:prstGeom prst="line">
              <a:avLst/>
            </a:prstGeom>
            <a:grpFill/>
            <a:ln w="38100" cap="flat" cmpd="dbl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40970" name="直接连接符 239625"/>
            <p:cNvSpPr/>
            <p:nvPr/>
          </p:nvSpPr>
          <p:spPr>
            <a:xfrm>
              <a:off x="2637" y="1748"/>
              <a:ext cx="0" cy="130"/>
            </a:xfrm>
            <a:prstGeom prst="line">
              <a:avLst/>
            </a:prstGeom>
            <a:grp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40971" name="直接连接符 239626"/>
            <p:cNvSpPr/>
            <p:nvPr/>
          </p:nvSpPr>
          <p:spPr>
            <a:xfrm>
              <a:off x="1676" y="3714"/>
              <a:ext cx="0" cy="255"/>
            </a:xfrm>
            <a:prstGeom prst="line">
              <a:avLst/>
            </a:prstGeom>
            <a:grpFill/>
            <a:ln w="38100" cap="flat" cmpd="dbl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sp>
        <p:sp>
          <p:nvSpPr>
            <p:cNvPr id="40972" name="任意多边形 239627"/>
            <p:cNvSpPr/>
            <p:nvPr/>
          </p:nvSpPr>
          <p:spPr>
            <a:xfrm>
              <a:off x="1677" y="1729"/>
              <a:ext cx="968" cy="1985"/>
            </a:xfrm>
            <a:custGeom>
              <a:avLst/>
              <a:gdLst/>
              <a:ahLst/>
              <a:cxnLst/>
              <a:rect l="0" t="0" r="0" b="0"/>
              <a:pathLst>
                <a:path w="879" h="993">
                  <a:moveTo>
                    <a:pt x="680" y="0"/>
                  </a:moveTo>
                  <a:lnTo>
                    <a:pt x="879" y="0"/>
                  </a:lnTo>
                  <a:lnTo>
                    <a:pt x="879" y="993"/>
                  </a:lnTo>
                  <a:lnTo>
                    <a:pt x="0" y="99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 sz="2000">
                <a:latin typeface="黑体" panose="02010609060101010101" pitchFamily="49" charset="-122"/>
              </a:endParaRPr>
            </a:p>
          </p:txBody>
        </p:sp>
        <p:sp>
          <p:nvSpPr>
            <p:cNvPr id="40973" name="菱形 239628"/>
            <p:cNvSpPr/>
            <p:nvPr/>
          </p:nvSpPr>
          <p:spPr>
            <a:xfrm>
              <a:off x="837" y="1475"/>
              <a:ext cx="1659" cy="510"/>
            </a:xfrm>
            <a:prstGeom prst="diamond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defTabSz="1152525">
                <a:lnSpc>
                  <a:spcPct val="80000"/>
                </a:lnSpc>
              </a:pPr>
              <a:r>
                <a:rPr lang="en-US" altLang="zh-CN" sz="2000" b="1">
                  <a:solidFill>
                    <a:srgbClr val="663300"/>
                  </a:solidFill>
                  <a:latin typeface="黑体" panose="02010609060101010101" pitchFamily="49" charset="-122"/>
                  <a:cs typeface="黑体" panose="02010609060101010101" pitchFamily="49" charset="-122"/>
                </a:rPr>
                <a:t>EBX=ECX</a:t>
              </a:r>
              <a:r>
                <a:rPr lang="zh-CN" altLang="en-US" sz="2000" b="1" dirty="0">
                  <a:solidFill>
                    <a:srgbClr val="663300"/>
                  </a:solidFill>
                  <a:latin typeface="黑体" panose="02010609060101010101" pitchFamily="49" charset="-122"/>
                  <a:cs typeface="黑体" panose="02010609060101010101" pitchFamily="49" charset="-122"/>
                </a:rPr>
                <a:t>？</a:t>
              </a:r>
              <a:endParaRPr lang="zh-CN" altLang="en-US" sz="2000" b="1" dirty="0">
                <a:solidFill>
                  <a:srgbClr val="663300"/>
                </a:solidFill>
                <a:latin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40974" name="矩形 239629"/>
            <p:cNvSpPr/>
            <p:nvPr/>
          </p:nvSpPr>
          <p:spPr>
            <a:xfrm>
              <a:off x="1758" y="3232"/>
              <a:ext cx="1729" cy="397"/>
            </a:xfrm>
            <a:prstGeom prst="rect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defTabSz="1152525">
                <a:lnSpc>
                  <a:spcPct val="80000"/>
                </a:lnSpc>
              </a:pPr>
              <a:r>
                <a:rPr lang="zh-CN" altLang="en-US" sz="2000" b="1" dirty="0">
                  <a:solidFill>
                    <a:srgbClr val="663300"/>
                  </a:solidFill>
                  <a:latin typeface="黑体" panose="02010609060101010101" pitchFamily="49" charset="-122"/>
                  <a:cs typeface="黑体" panose="02010609060101010101" pitchFamily="49" charset="-122"/>
                </a:rPr>
                <a:t>显示</a:t>
              </a:r>
              <a:r>
                <a:rPr lang="en-US" altLang="zh-CN" sz="2000" b="1">
                  <a:solidFill>
                    <a:srgbClr val="663300"/>
                  </a:solidFill>
                  <a:latin typeface="黑体" panose="02010609060101010101" pitchFamily="49" charset="-122"/>
                  <a:cs typeface="黑体" panose="02010609060101010101" pitchFamily="49" charset="-122"/>
                </a:rPr>
                <a:t>EBX</a:t>
              </a:r>
              <a:r>
                <a:rPr lang="zh-CN" altLang="en-US" sz="2000" b="1" dirty="0">
                  <a:solidFill>
                    <a:srgbClr val="663300"/>
                  </a:solidFill>
                  <a:latin typeface="黑体" panose="02010609060101010101" pitchFamily="49" charset="-122"/>
                  <a:cs typeface="黑体" panose="02010609060101010101" pitchFamily="49" charset="-122"/>
                </a:rPr>
                <a:t>、</a:t>
              </a:r>
              <a:r>
                <a:rPr lang="en-US" altLang="zh-CN" sz="2000" b="1">
                  <a:solidFill>
                    <a:srgbClr val="663300"/>
                  </a:solidFill>
                  <a:latin typeface="黑体" panose="02010609060101010101" pitchFamily="49" charset="-122"/>
                  <a:cs typeface="黑体" panose="02010609060101010101" pitchFamily="49" charset="-122"/>
                </a:rPr>
                <a:t>ECX</a:t>
              </a:r>
              <a:endParaRPr lang="en-US" altLang="zh-CN" sz="2000" b="1">
                <a:solidFill>
                  <a:srgbClr val="663300"/>
                </a:solidFill>
                <a:latin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40975" name="文本框 239630"/>
            <p:cNvSpPr txBox="1"/>
            <p:nvPr/>
          </p:nvSpPr>
          <p:spPr>
            <a:xfrm>
              <a:off x="670" y="1409"/>
              <a:ext cx="360" cy="268"/>
            </a:xfrm>
            <a:prstGeom prst="rect">
              <a:avLst/>
            </a:prstGeom>
            <a:grp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defTabSz="1152525"/>
              <a:r>
                <a:rPr lang="en-US" altLang="zh-CN" sz="2000" b="1">
                  <a:solidFill>
                    <a:srgbClr val="FF0000"/>
                  </a:solidFill>
                  <a:latin typeface="黑体" panose="02010609060101010101" pitchFamily="49" charset="-122"/>
                </a:rPr>
                <a:t>Y</a:t>
              </a:r>
              <a:endParaRPr lang="en-US" altLang="zh-CN" sz="2000" b="1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40976" name="文本框 239631"/>
            <p:cNvSpPr txBox="1"/>
            <p:nvPr/>
          </p:nvSpPr>
          <p:spPr>
            <a:xfrm>
              <a:off x="2475" y="1405"/>
              <a:ext cx="378" cy="268"/>
            </a:xfrm>
            <a:prstGeom prst="rect">
              <a:avLst/>
            </a:prstGeom>
            <a:grp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defTabSz="1152525"/>
              <a:r>
                <a:rPr lang="en-US" altLang="zh-CN" sz="2000" b="1">
                  <a:solidFill>
                    <a:srgbClr val="FF0000"/>
                  </a:solidFill>
                  <a:latin typeface="黑体" panose="02010609060101010101" pitchFamily="49" charset="-122"/>
                </a:rPr>
                <a:t>N</a:t>
              </a:r>
              <a:endParaRPr lang="en-US" altLang="zh-CN" sz="2000" b="1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40977" name="矩形 239632"/>
            <p:cNvSpPr/>
            <p:nvPr/>
          </p:nvSpPr>
          <p:spPr>
            <a:xfrm>
              <a:off x="153" y="2426"/>
              <a:ext cx="1105" cy="425"/>
            </a:xfrm>
            <a:prstGeom prst="rect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defTabSz="1152525">
                <a:lnSpc>
                  <a:spcPct val="80000"/>
                </a:lnSpc>
              </a:pPr>
              <a:r>
                <a:rPr lang="zh-CN" altLang="en-US" sz="2000" b="1" dirty="0">
                  <a:solidFill>
                    <a:srgbClr val="663300"/>
                  </a:solidFill>
                  <a:latin typeface="黑体" panose="02010609060101010101" pitchFamily="49" charset="-122"/>
                  <a:cs typeface="黑体" panose="02010609060101010101" pitchFamily="49" charset="-122"/>
                </a:rPr>
                <a:t>显示</a:t>
              </a:r>
              <a:r>
                <a:rPr lang="en-US" altLang="zh-CN" sz="2000" b="1">
                  <a:solidFill>
                    <a:srgbClr val="663300"/>
                  </a:solidFill>
                  <a:latin typeface="黑体" panose="02010609060101010101" pitchFamily="49" charset="-122"/>
                  <a:cs typeface="黑体" panose="02010609060101010101" pitchFamily="49" charset="-122"/>
                </a:rPr>
                <a:t>EBX</a:t>
              </a:r>
              <a:endParaRPr lang="en-US" altLang="zh-CN" sz="2000" b="1">
                <a:solidFill>
                  <a:srgbClr val="663300"/>
                </a:solidFill>
                <a:latin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40978" name="任意多边形 239633"/>
            <p:cNvSpPr/>
            <p:nvPr/>
          </p:nvSpPr>
          <p:spPr>
            <a:xfrm>
              <a:off x="2665" y="2164"/>
              <a:ext cx="1066" cy="954"/>
            </a:xfrm>
            <a:custGeom>
              <a:avLst/>
              <a:gdLst/>
              <a:ahLst/>
              <a:cxnLst/>
              <a:rect l="0" t="0" r="0" b="0"/>
              <a:pathLst>
                <a:path w="879" h="993">
                  <a:moveTo>
                    <a:pt x="680" y="0"/>
                  </a:moveTo>
                  <a:lnTo>
                    <a:pt x="879" y="0"/>
                  </a:lnTo>
                  <a:lnTo>
                    <a:pt x="879" y="993"/>
                  </a:lnTo>
                  <a:lnTo>
                    <a:pt x="0" y="99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/>
            <a:p>
              <a:endParaRPr lang="zh-CN" altLang="en-US" sz="2000">
                <a:latin typeface="黑体" panose="02010609060101010101" pitchFamily="49" charset="-122"/>
              </a:endParaRPr>
            </a:p>
          </p:txBody>
        </p:sp>
        <p:sp>
          <p:nvSpPr>
            <p:cNvPr id="40979" name="菱形 239634"/>
            <p:cNvSpPr/>
            <p:nvPr/>
          </p:nvSpPr>
          <p:spPr>
            <a:xfrm>
              <a:off x="1701" y="1871"/>
              <a:ext cx="1864" cy="583"/>
            </a:xfrm>
            <a:prstGeom prst="diamond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defTabSz="1152525">
                <a:lnSpc>
                  <a:spcPct val="80000"/>
                </a:lnSpc>
              </a:pPr>
              <a:r>
                <a:rPr lang="en-US" altLang="zh-CN" sz="2000" b="1">
                  <a:solidFill>
                    <a:srgbClr val="663300"/>
                  </a:solidFill>
                  <a:latin typeface="黑体" panose="02010609060101010101" pitchFamily="49" charset="-122"/>
                </a:rPr>
                <a:t>EBX&lt;ECX?</a:t>
              </a:r>
              <a:endParaRPr lang="en-US" altLang="zh-CN" sz="2000" b="1">
                <a:solidFill>
                  <a:srgbClr val="6633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40980" name="矩形 239635"/>
            <p:cNvSpPr/>
            <p:nvPr/>
          </p:nvSpPr>
          <p:spPr>
            <a:xfrm>
              <a:off x="1730" y="2608"/>
              <a:ext cx="1825" cy="425"/>
            </a:xfrm>
            <a:prstGeom prst="rect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 defTabSz="1152525">
                <a:lnSpc>
                  <a:spcPct val="80000"/>
                </a:lnSpc>
              </a:pPr>
              <a:r>
                <a:rPr lang="en-US" altLang="zh-CN" sz="2000" b="1">
                  <a:solidFill>
                    <a:srgbClr val="663300"/>
                  </a:solidFill>
                  <a:latin typeface="黑体" panose="02010609060101010101" pitchFamily="49" charset="-122"/>
                  <a:cs typeface="黑体" panose="02010609060101010101" pitchFamily="49" charset="-122"/>
                </a:rPr>
                <a:t>EBX</a:t>
              </a:r>
              <a:r>
                <a:rPr lang="zh-CN" altLang="en-US" sz="2000" b="1" dirty="0">
                  <a:solidFill>
                    <a:srgbClr val="663300"/>
                  </a:solidFill>
                  <a:latin typeface="黑体" panose="02010609060101010101" pitchFamily="49" charset="-122"/>
                  <a:cs typeface="黑体" panose="02010609060101010101" pitchFamily="49" charset="-122"/>
                </a:rPr>
                <a:t>和</a:t>
              </a:r>
              <a:r>
                <a:rPr lang="en-US" altLang="zh-CN" sz="2000" b="1">
                  <a:solidFill>
                    <a:srgbClr val="663300"/>
                  </a:solidFill>
                  <a:latin typeface="黑体" panose="02010609060101010101" pitchFamily="49" charset="-122"/>
                  <a:cs typeface="黑体" panose="02010609060101010101" pitchFamily="49" charset="-122"/>
                </a:rPr>
                <a:t>ECX</a:t>
              </a:r>
              <a:r>
                <a:rPr lang="zh-CN" altLang="en-US" sz="2000" b="1" dirty="0">
                  <a:solidFill>
                    <a:srgbClr val="663300"/>
                  </a:solidFill>
                  <a:latin typeface="黑体" panose="02010609060101010101" pitchFamily="49" charset="-122"/>
                  <a:cs typeface="黑体" panose="02010609060101010101" pitchFamily="49" charset="-122"/>
                </a:rPr>
                <a:t>交换</a:t>
              </a:r>
              <a:endParaRPr lang="zh-CN" altLang="en-US" sz="2000" b="1" dirty="0">
                <a:solidFill>
                  <a:srgbClr val="663300"/>
                </a:solidFill>
                <a:latin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40981" name="文本框 239636"/>
            <p:cNvSpPr txBox="1"/>
            <p:nvPr/>
          </p:nvSpPr>
          <p:spPr>
            <a:xfrm>
              <a:off x="3487" y="1814"/>
              <a:ext cx="360" cy="268"/>
            </a:xfrm>
            <a:prstGeom prst="rect">
              <a:avLst/>
            </a:prstGeom>
            <a:grp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defTabSz="1152525"/>
              <a:r>
                <a:rPr lang="en-US" altLang="zh-CN" sz="2000" b="1">
                  <a:solidFill>
                    <a:srgbClr val="FF0000"/>
                  </a:solidFill>
                  <a:latin typeface="黑体" panose="02010609060101010101" pitchFamily="49" charset="-122"/>
                </a:rPr>
                <a:t>Y</a:t>
              </a:r>
              <a:endParaRPr lang="en-US" altLang="zh-CN" sz="2000" b="1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  <p:sp>
          <p:nvSpPr>
            <p:cNvPr id="40982" name="文本框 239637"/>
            <p:cNvSpPr txBox="1"/>
            <p:nvPr/>
          </p:nvSpPr>
          <p:spPr>
            <a:xfrm>
              <a:off x="2750" y="2324"/>
              <a:ext cx="378" cy="268"/>
            </a:xfrm>
            <a:prstGeom prst="rect">
              <a:avLst/>
            </a:prstGeom>
            <a:grp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 defTabSz="1152525"/>
              <a:r>
                <a:rPr lang="en-US" altLang="zh-CN" sz="2000" b="1">
                  <a:solidFill>
                    <a:srgbClr val="FF0000"/>
                  </a:solidFill>
                  <a:latin typeface="黑体" panose="02010609060101010101" pitchFamily="49" charset="-122"/>
                </a:rPr>
                <a:t>N</a:t>
              </a:r>
              <a:endParaRPr lang="en-US" altLang="zh-CN" sz="2000" b="1">
                <a:solidFill>
                  <a:srgbClr val="FF0000"/>
                </a:solidFill>
                <a:latin typeface="黑体" panose="02010609060101010101" pitchFamily="49" charset="-122"/>
              </a:endParaRPr>
            </a:p>
          </p:txBody>
        </p:sp>
      </p:grpSp>
      <p:sp>
        <p:nvSpPr>
          <p:cNvPr id="40963" name="Rectangle 3"/>
          <p:cNvSpPr>
            <a:spLocks noGrp="1"/>
          </p:cNvSpPr>
          <p:nvPr/>
        </p:nvSpPr>
        <p:spPr>
          <a:xfrm>
            <a:off x="742315" y="1560195"/>
            <a:ext cx="4828540" cy="463169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32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800" b="1" i="0" u="none" kern="1200" baseline="0">
                <a:solidFill>
                  <a:srgbClr val="6633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 b="1" i="0" u="none" kern="1200" baseline="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pPr marL="0" indent="0" defTabSz="914400">
              <a:lnSpc>
                <a:spcPct val="140000"/>
              </a:lnSpc>
              <a:spcBef>
                <a:spcPts val="0"/>
              </a:spcBef>
              <a:buNone/>
              <a:tabLst>
                <a:tab pos="1611630" algn="l"/>
                <a:tab pos="4662805" algn="l"/>
              </a:tabLst>
            </a:pPr>
            <a:r>
              <a:rPr lang="it-IT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it-IT" altLang="zh-CN" sz="2600" dirty="0">
                <a:solidFill>
                  <a:srgbClr val="66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cmp ebx,ecx</a:t>
            </a:r>
            <a:endParaRPr lang="zh-CN" altLang="it-IT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40000"/>
              </a:lnSpc>
              <a:spcBef>
                <a:spcPts val="0"/>
              </a:spcBef>
              <a:buNone/>
              <a:tabLst>
                <a:tab pos="1611630" algn="l"/>
                <a:tab pos="4662805" algn="l"/>
              </a:tabLst>
            </a:pPr>
            <a:r>
              <a:rPr lang="zh-CN" altLang="it-I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it-IT" altLang="zh-CN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jne nequal</a:t>
            </a:r>
            <a:endParaRPr lang="zh-CN" altLang="it-IT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40000"/>
              </a:lnSpc>
              <a:spcBef>
                <a:spcPts val="0"/>
              </a:spcBef>
              <a:buNone/>
              <a:tabLst>
                <a:tab pos="1611630" algn="l"/>
                <a:tab pos="4662805" algn="l"/>
              </a:tabLst>
            </a:pPr>
            <a:r>
              <a:rPr lang="it-IT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…</a:t>
            </a:r>
            <a:endParaRPr lang="zh-CN" altLang="it-IT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40000"/>
              </a:lnSpc>
              <a:spcBef>
                <a:spcPts val="0"/>
              </a:spcBef>
              <a:buNone/>
              <a:tabLst>
                <a:tab pos="1611630" algn="l"/>
                <a:tab pos="4662805" algn="l"/>
              </a:tabLst>
            </a:pPr>
            <a:r>
              <a:rPr lang="zh-CN" altLang="it-I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it-IT" altLang="zh-CN" sz="2600" dirty="0">
                <a:solidFill>
                  <a:schemeClr val="bg1">
                    <a:lumMod val="10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jmp done</a:t>
            </a:r>
            <a:endParaRPr lang="zh-CN" altLang="it-IT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40000"/>
              </a:lnSpc>
              <a:spcBef>
                <a:spcPts val="0"/>
              </a:spcBef>
              <a:buNone/>
              <a:tabLst>
                <a:tab pos="1611630" algn="l"/>
                <a:tab pos="4662805" algn="l"/>
              </a:tabLst>
            </a:pPr>
            <a:r>
              <a:rPr lang="it-IT" altLang="zh-CN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nequal:</a:t>
            </a:r>
            <a:r>
              <a:rPr lang="it-IT" altLang="zh-CN" sz="2600" dirty="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it-IT" altLang="zh-CN" sz="2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jl first</a:t>
            </a:r>
            <a:endParaRPr lang="zh-CN" altLang="it-IT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40000"/>
              </a:lnSpc>
              <a:spcBef>
                <a:spcPts val="0"/>
              </a:spcBef>
              <a:buNone/>
              <a:tabLst>
                <a:tab pos="1611630" algn="l"/>
                <a:tab pos="4662805" algn="l"/>
              </a:tabLst>
            </a:pPr>
            <a:r>
              <a:rPr lang="zh-CN" altLang="it-I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it-IT" altLang="zh-CN" sz="2600" dirty="0">
                <a:solidFill>
                  <a:srgbClr val="66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xchg ebx,ecx</a:t>
            </a:r>
            <a:endParaRPr lang="zh-CN" altLang="it-IT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40000"/>
              </a:lnSpc>
              <a:spcBef>
                <a:spcPts val="0"/>
              </a:spcBef>
              <a:buNone/>
              <a:tabLst>
                <a:tab pos="1611630" algn="l"/>
                <a:tab pos="4662805" algn="l"/>
              </a:tabLst>
            </a:pPr>
            <a:r>
              <a:rPr lang="it-IT" altLang="zh-CN" sz="26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it-IT" altLang="zh-CN" sz="2600" dirty="0">
                <a:solidFill>
                  <a:srgbClr val="66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	</a:t>
            </a:r>
            <a:r>
              <a:rPr lang="it-IT" altLang="zh-C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it-IT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914400">
              <a:lnSpc>
                <a:spcPct val="140000"/>
              </a:lnSpc>
              <a:spcBef>
                <a:spcPts val="0"/>
              </a:spcBef>
              <a:buNone/>
              <a:tabLst>
                <a:tab pos="1611630" algn="l"/>
                <a:tab pos="4662805" algn="l"/>
              </a:tabLst>
            </a:pPr>
            <a:r>
              <a:rPr lang="en-US" altLang="zh-CN" sz="2600">
                <a:solidFill>
                  <a:schemeClr val="bg1">
                    <a:lumMod val="10000"/>
                  </a:schemeClr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  <a:r>
              <a:rPr lang="en-US" altLang="zh-CN" sz="2600">
                <a:solidFill>
                  <a:srgbClr val="6633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zh-CN" sz="2600">
                <a:solidFill>
                  <a:srgbClr val="66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60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zh-CN" altLang="it-IT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4-8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数据比较程序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-1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5843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3568" y="1619275"/>
            <a:ext cx="7920880" cy="5233805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数据段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in_msg1	     byte  'Enter a number: ',0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in_msg2	     byte  'Enter another number: ',0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out_msg1   byte  'Two numbers are equal: ',0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out_msg2   byte  'The less number is: ',0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out_msg3   byte  13,10,'The greater number is: ',0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代码段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eax,offset</a:t>
            </a:r>
            <a:r>
              <a:rPr lang="en-US" altLang="zh-CN" sz="2000" b="1" dirty="0">
                <a:latin typeface="+mn-lt"/>
              </a:rPr>
              <a:t> in_msg1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提示输入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dispmsg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	call </a:t>
            </a:r>
            <a:r>
              <a:rPr lang="en-US" altLang="zh-CN" sz="2000" b="1" dirty="0" err="1">
                <a:latin typeface="+mn-lt"/>
              </a:rPr>
              <a:t>readsid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输入第一个数据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ebx,eax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保存到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EBX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eax,offset</a:t>
            </a:r>
            <a:r>
              <a:rPr lang="en-US" altLang="zh-CN" sz="2000" b="1" dirty="0">
                <a:latin typeface="+mn-lt"/>
              </a:rPr>
              <a:t> in_msg2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提示输入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dispmsg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readsid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输入第二个数据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ecx,eax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保存到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ECX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611560" y="664121"/>
            <a:ext cx="7992888" cy="963666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例：从键盘输入两个有符号数，比较其大小关系。如果两数相等，显示该数据，否则先小后大显示这两个数据。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4-8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数据比较程序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-2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3938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3568" y="673646"/>
            <a:ext cx="7920880" cy="6271012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cmp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ebx,ecx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二个数据进行比较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jne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nequal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两数不相等，转移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eax,offset</a:t>
            </a:r>
            <a:r>
              <a:rPr lang="en-US" altLang="zh-CN" sz="2000" b="1" dirty="0">
                <a:latin typeface="+mn-lt"/>
              </a:rPr>
              <a:t> out_msg1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dispmsg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显示两数相等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eax,ebx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dispsid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显示相等的数据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jmp</a:t>
            </a:r>
            <a:r>
              <a:rPr lang="en-US" altLang="zh-CN" sz="2000" b="1" dirty="0">
                <a:latin typeface="+mn-lt"/>
              </a:rPr>
              <a:t> done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转移到结束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 err="1">
                <a:latin typeface="+mn-lt"/>
              </a:rPr>
              <a:t>nequal</a:t>
            </a:r>
            <a:r>
              <a:rPr lang="en-US" altLang="zh-CN" sz="2000" b="1" dirty="0">
                <a:latin typeface="+mn-lt"/>
              </a:rPr>
              <a:t>:	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jl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2000" b="1" dirty="0">
                <a:latin typeface="+mn-lt"/>
              </a:rPr>
              <a:t>first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	; EBX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较小，不需要交换，转移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xchg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ebx,ecx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EBX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保存较小数，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ECX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保存较大数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first:	mov </a:t>
            </a:r>
            <a:r>
              <a:rPr lang="en-US" altLang="zh-CN" sz="2000" b="1" dirty="0" err="1">
                <a:latin typeface="+mn-lt"/>
              </a:rPr>
              <a:t>eax,offset</a:t>
            </a:r>
            <a:r>
              <a:rPr lang="en-US" altLang="zh-CN" sz="2000" b="1" dirty="0">
                <a:latin typeface="+mn-lt"/>
              </a:rPr>
              <a:t> out_msg2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显示较小数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dispmsg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eax,ebx</a:t>
            </a:r>
            <a:r>
              <a:rPr lang="en-US" altLang="zh-CN" sz="2000" b="1" dirty="0">
                <a:latin typeface="+mn-lt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较小数在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EBX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中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dispsid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eax,offset</a:t>
            </a:r>
            <a:r>
              <a:rPr lang="en-US" altLang="zh-CN" sz="2000" b="1" dirty="0">
                <a:latin typeface="+mn-lt"/>
              </a:rPr>
              <a:t> out_msg3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显示较大数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dispmsg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eax,ecx</a:t>
            </a:r>
            <a:r>
              <a:rPr lang="en-US" altLang="zh-CN" sz="2000" b="1" dirty="0">
                <a:latin typeface="+mn-lt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较大数在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ECX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中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dispsid</a:t>
            </a:r>
            <a:r>
              <a:rPr lang="en-US" altLang="zh-CN" sz="2000" b="1" dirty="0">
                <a:latin typeface="+mn-lt"/>
              </a:rPr>
              <a:t> </a:t>
            </a:r>
            <a:endParaRPr lang="en-US" altLang="zh-CN" sz="2000" b="1" dirty="0">
              <a:latin typeface="+mn-lt"/>
            </a:endParaRPr>
          </a:p>
          <a:p>
            <a:pPr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done:</a:t>
            </a:r>
            <a:endParaRPr lang="en-US" altLang="zh-CN" sz="2000" b="1" dirty="0">
              <a:latin typeface="+mn-lt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4-8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数据比较程序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-3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3938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568" y="1143900"/>
            <a:ext cx="7992888" cy="5658590"/>
          </a:xfrm>
          <a:prstGeom prst="rect">
            <a:avLst/>
          </a:prstGeom>
        </p:spPr>
      </p:pic>
      <p:sp>
        <p:nvSpPr>
          <p:cNvPr id="5" name="内容占位符 2"/>
          <p:cNvSpPr txBox="1"/>
          <p:nvPr/>
        </p:nvSpPr>
        <p:spPr>
          <a:xfrm>
            <a:off x="611560" y="664121"/>
            <a:ext cx="7992888" cy="618484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实践：如何利用</a:t>
            </a:r>
            <a:r>
              <a:rPr lang="en-US" altLang="zh-CN" sz="2400" dirty="0" err="1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scanf</a:t>
            </a:r>
            <a:r>
              <a:rPr lang="zh-CN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进行数据的输入？</a:t>
            </a:r>
            <a:endParaRPr lang="en-US" altLang="zh-CN" sz="2400" dirty="0">
              <a:solidFill>
                <a:schemeClr val="tx1"/>
              </a:solidFill>
              <a:highlight>
                <a:srgbClr val="FFFF00"/>
              </a:highlight>
              <a:latin typeface="+mn-lt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914400" y="421779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条件转移指令 </a:t>
            </a:r>
            <a:r>
              <a:rPr lang="en-US" altLang="zh-CN" sz="26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JNZ Label </a:t>
            </a:r>
            <a:r>
              <a:rPr lang="zh-CN" altLang="en-US" sz="26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的测试条件是（ ）</a:t>
            </a:r>
            <a:endParaRPr lang="zh-CN" altLang="en-US" sz="2600" dirty="0">
              <a:solidFill>
                <a:srgbClr val="000000"/>
              </a:solidFill>
              <a:latin typeface="黑体" panose="02010609060101010101" pitchFamily="49" charset="-122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828800" y="227687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+mj-lt"/>
                <a:ea typeface="微软雅黑" panose="020B0503020204020204" charset="-122"/>
                <a:sym typeface="微软雅黑" panose="020B0503020204020204" charset="-122"/>
              </a:rPr>
              <a:t>ZF = 1</a:t>
            </a:r>
            <a:endParaRPr lang="zh-CN" altLang="en-US" sz="2600" dirty="0">
              <a:solidFill>
                <a:srgbClr val="000000"/>
              </a:solidFill>
              <a:latin typeface="+mj-lt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313412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+mj-lt"/>
                <a:ea typeface="微软雅黑" panose="020B0503020204020204" charset="-122"/>
                <a:sym typeface="微软雅黑" panose="020B0503020204020204" charset="-122"/>
              </a:rPr>
              <a:t>ZF = 0</a:t>
            </a:r>
            <a:endParaRPr lang="zh-CN" altLang="en-US" sz="2600" dirty="0">
              <a:solidFill>
                <a:srgbClr val="000000"/>
              </a:solidFill>
              <a:latin typeface="+mj-lt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399137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+mj-lt"/>
                <a:ea typeface="微软雅黑" panose="020B0503020204020204" charset="-122"/>
                <a:sym typeface="微软雅黑" panose="020B0503020204020204" charset="-122"/>
              </a:rPr>
              <a:t>OF = 0</a:t>
            </a:r>
            <a:endParaRPr lang="zh-CN" altLang="en-US" sz="2600" dirty="0">
              <a:solidFill>
                <a:srgbClr val="000000"/>
              </a:solidFill>
              <a:latin typeface="+mj-lt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848622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+mj-lt"/>
                <a:ea typeface="微软雅黑" panose="020B0503020204020204" charset="-122"/>
                <a:sym typeface="微软雅黑" panose="020B0503020204020204" charset="-122"/>
              </a:rPr>
              <a:t>SF = 1</a:t>
            </a:r>
            <a:endParaRPr lang="zh-CN" altLang="en-US" sz="2600" dirty="0">
              <a:solidFill>
                <a:srgbClr val="000000"/>
              </a:solidFill>
              <a:latin typeface="+mj-lt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34116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198415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05566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912915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10"/>
            </p:custDataLst>
          </p:nvPr>
        </p:nvSpPr>
        <p:spPr bwMode="auto">
          <a:xfrm>
            <a:off x="6172200" y="5705872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8" name="组合 1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5" name="ColorBlock"/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6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914400" y="404664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26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当 </a:t>
            </a:r>
            <a:r>
              <a:rPr lang="en-US" altLang="zh-CN" sz="26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＞</a:t>
            </a:r>
            <a:r>
              <a:rPr lang="en-US" altLang="zh-CN" sz="26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=B </a:t>
            </a:r>
            <a:r>
              <a:rPr lang="zh-CN" altLang="en-US" sz="26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时转移的条件转移指令为（</a:t>
            </a:r>
            <a:r>
              <a:rPr lang="en-US" altLang="zh-CN" sz="26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、 </a:t>
            </a:r>
            <a:r>
              <a:rPr lang="en-US" altLang="zh-CN" sz="26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B </a:t>
            </a:r>
            <a:r>
              <a:rPr lang="zh-CN" altLang="en-US" sz="2600" dirty="0">
                <a:solidFill>
                  <a:srgbClr val="000000"/>
                </a:solidFill>
                <a:latin typeface="黑体" panose="02010609060101010101" pitchFamily="49" charset="-122"/>
                <a:sym typeface="微软雅黑" panose="020B0503020204020204" charset="-122"/>
              </a:rPr>
              <a:t>为 有符号数）（ ）</a:t>
            </a:r>
            <a:endParaRPr lang="zh-CN" altLang="en-US" sz="2600" dirty="0">
              <a:solidFill>
                <a:srgbClr val="000000"/>
              </a:solidFill>
              <a:latin typeface="黑体" panose="02010609060101010101" pitchFamily="49" charset="-122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828800" y="2287758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+mj-lt"/>
                <a:ea typeface="微软雅黑" panose="020B0503020204020204" charset="-122"/>
                <a:sym typeface="微软雅黑" panose="020B0503020204020204" charset="-122"/>
              </a:rPr>
              <a:t>JA</a:t>
            </a:r>
            <a:endParaRPr lang="zh-CN" altLang="en-US" sz="2600" dirty="0">
              <a:solidFill>
                <a:srgbClr val="000000"/>
              </a:solidFill>
              <a:latin typeface="+mj-lt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828800" y="3145008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+mj-lt"/>
                <a:ea typeface="微软雅黑" panose="020B0503020204020204" charset="-122"/>
                <a:sym typeface="微软雅黑" panose="020B0503020204020204" charset="-122"/>
              </a:rPr>
              <a:t>JAE</a:t>
            </a:r>
            <a:endParaRPr lang="zh-CN" altLang="en-US" sz="2600" dirty="0">
              <a:solidFill>
                <a:srgbClr val="000000"/>
              </a:solidFill>
              <a:latin typeface="+mj-lt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828800" y="4002258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+mj-lt"/>
                <a:ea typeface="微软雅黑" panose="020B0503020204020204" charset="-122"/>
                <a:sym typeface="微软雅黑" panose="020B0503020204020204" charset="-122"/>
              </a:rPr>
              <a:t>JG</a:t>
            </a:r>
            <a:endParaRPr lang="zh-CN" altLang="en-US" sz="2600" dirty="0">
              <a:solidFill>
                <a:srgbClr val="000000"/>
              </a:solidFill>
              <a:latin typeface="+mj-lt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828800" y="4859508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+mj-lt"/>
                <a:ea typeface="微软雅黑" panose="020B0503020204020204" charset="-122"/>
                <a:sym typeface="微软雅黑" panose="020B0503020204020204" charset="-122"/>
              </a:rPr>
              <a:t>JGE</a:t>
            </a:r>
            <a:endParaRPr lang="zh-CN" altLang="en-US" sz="2600" dirty="0">
              <a:solidFill>
                <a:srgbClr val="000000"/>
              </a:solidFill>
              <a:latin typeface="+mj-lt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2352051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3209301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4066551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923801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kumimoji="1" lang="zh-CN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3" name="矩形: 圆角 12"/>
          <p:cNvSpPr/>
          <p:nvPr>
            <p:custDataLst>
              <p:tags r:id="rId10"/>
            </p:custDataLst>
          </p:nvPr>
        </p:nvSpPr>
        <p:spPr bwMode="auto">
          <a:xfrm>
            <a:off x="6172200" y="5716758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8" name="组合 1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5" name="ColorBlock"/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6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620688"/>
            <a:ext cx="8280920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只有一个分支，类似高级语言的不带</a:t>
            </a:r>
            <a:r>
              <a:rPr lang="en-US" altLang="zh-CN" sz="2600" dirty="0">
                <a:latin typeface="+mn-lt"/>
              </a:rPr>
              <a:t>else</a:t>
            </a:r>
            <a:r>
              <a:rPr lang="zh-CN" altLang="en-US" sz="2600" dirty="0">
                <a:latin typeface="+mn-lt"/>
              </a:rPr>
              <a:t>的</a:t>
            </a:r>
            <a:r>
              <a:rPr lang="en-US" altLang="zh-CN" sz="2600" dirty="0">
                <a:latin typeface="+mn-lt"/>
              </a:rPr>
              <a:t>if</a:t>
            </a:r>
            <a:r>
              <a:rPr lang="zh-CN" altLang="en-US" sz="2600" dirty="0">
                <a:latin typeface="+mn-lt"/>
              </a:rPr>
              <a:t>语句</a:t>
            </a:r>
            <a:endParaRPr lang="zh-CN" altLang="en-US" sz="2600" dirty="0"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注意采用正确的条件转移指令</a:t>
            </a:r>
            <a:endParaRPr lang="zh-CN" altLang="en-US" sz="26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当条件满足（成立），发生转移，跳过分支体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条件不满足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，顺序向下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执行分支体</a:t>
            </a:r>
            <a:endParaRPr lang="zh-CN" altLang="en-US" sz="2400" dirty="0">
              <a:solidFill>
                <a:srgbClr val="FF0000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条件转移指令与高级语言的</a:t>
            </a:r>
            <a:r>
              <a:rPr lang="en-US" altLang="zh-CN" sz="2600" dirty="0">
                <a:latin typeface="+mn-lt"/>
              </a:rPr>
              <a:t>IF</a:t>
            </a:r>
            <a:r>
              <a:rPr lang="zh-CN" altLang="en-US" sz="2600" dirty="0">
                <a:latin typeface="+mn-lt"/>
              </a:rPr>
              <a:t>语句</a:t>
            </a:r>
            <a:r>
              <a:rPr lang="zh-CN" altLang="en-US" sz="2600" dirty="0">
                <a:solidFill>
                  <a:srgbClr val="FF0000"/>
                </a:solidFill>
                <a:latin typeface="+mn-lt"/>
              </a:rPr>
              <a:t>正好相反</a:t>
            </a:r>
            <a:endParaRPr lang="zh-CN" altLang="en-US" sz="26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if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语句是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条件成立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执行分支体</a:t>
            </a:r>
            <a:endParaRPr lang="zh-CN" altLang="en-US" sz="2400" dirty="0">
              <a:solidFill>
                <a:srgbClr val="FF0000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40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4.2.3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单分支结构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639738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" name="Group 4"/>
          <p:cNvGrpSpPr/>
          <p:nvPr/>
        </p:nvGrpSpPr>
        <p:grpSpPr bwMode="auto">
          <a:xfrm>
            <a:off x="5649711" y="3601591"/>
            <a:ext cx="2562489" cy="2629854"/>
            <a:chOff x="2517" y="1117"/>
            <a:chExt cx="2315" cy="2086"/>
          </a:xfrm>
        </p:grpSpPr>
        <p:sp>
          <p:nvSpPr>
            <p:cNvPr id="5" name="AutoShape 5"/>
            <p:cNvSpPr>
              <a:spLocks noChangeArrowheads="1"/>
            </p:cNvSpPr>
            <p:nvPr/>
          </p:nvSpPr>
          <p:spPr bwMode="auto">
            <a:xfrm>
              <a:off x="2517" y="1389"/>
              <a:ext cx="1452" cy="499"/>
            </a:xfrm>
            <a:prstGeom prst="flowChartDecisi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dirty="0">
                  <a:solidFill>
                    <a:schemeClr val="tx1"/>
                  </a:solidFill>
                </a:rPr>
                <a:t>表达式？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9" name="AutoShape 6"/>
            <p:cNvSpPr>
              <a:spLocks noChangeArrowheads="1"/>
            </p:cNvSpPr>
            <p:nvPr/>
          </p:nvSpPr>
          <p:spPr bwMode="auto">
            <a:xfrm>
              <a:off x="2608" y="2341"/>
              <a:ext cx="1315" cy="384"/>
            </a:xfrm>
            <a:prstGeom prst="flowChartProcess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dirty="0">
                  <a:solidFill>
                    <a:schemeClr val="tx1"/>
                  </a:solidFill>
                </a:rPr>
                <a:t>分支体语句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cxnSp>
          <p:nvCxnSpPr>
            <p:cNvPr id="10" name="AutoShape 7"/>
            <p:cNvCxnSpPr>
              <a:cxnSpLocks noChangeShapeType="1"/>
              <a:stCxn id="5" idx="2"/>
            </p:cNvCxnSpPr>
            <p:nvPr/>
          </p:nvCxnSpPr>
          <p:spPr bwMode="auto">
            <a:xfrm>
              <a:off x="3243" y="1888"/>
              <a:ext cx="0" cy="453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cxnSp>
        <p:cxnSp>
          <p:nvCxnSpPr>
            <p:cNvPr id="11" name="AutoShape 8"/>
            <p:cNvCxnSpPr>
              <a:cxnSpLocks noChangeShapeType="1"/>
              <a:stCxn id="9" idx="2"/>
            </p:cNvCxnSpPr>
            <p:nvPr/>
          </p:nvCxnSpPr>
          <p:spPr bwMode="auto">
            <a:xfrm flipH="1">
              <a:off x="3265" y="2725"/>
              <a:ext cx="1" cy="47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cxnSp>
        <p:cxnSp>
          <p:nvCxnSpPr>
            <p:cNvPr id="12" name="AutoShape 9"/>
            <p:cNvCxnSpPr>
              <a:cxnSpLocks noChangeShapeType="1"/>
              <a:stCxn id="5" idx="3"/>
            </p:cNvCxnSpPr>
            <p:nvPr/>
          </p:nvCxnSpPr>
          <p:spPr bwMode="auto">
            <a:xfrm>
              <a:off x="3969" y="1639"/>
              <a:ext cx="499" cy="1337"/>
            </a:xfrm>
            <a:prstGeom prst="bentConnector2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cxnSp>
        <p:cxnSp>
          <p:nvCxnSpPr>
            <p:cNvPr id="13" name="AutoShape 10"/>
            <p:cNvCxnSpPr>
              <a:cxnSpLocks noChangeShapeType="1"/>
            </p:cNvCxnSpPr>
            <p:nvPr/>
          </p:nvCxnSpPr>
          <p:spPr bwMode="auto">
            <a:xfrm flipH="1">
              <a:off x="3243" y="2976"/>
              <a:ext cx="1225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cxnSp>
        <p:cxnSp>
          <p:nvCxnSpPr>
            <p:cNvPr id="14" name="AutoShape 11"/>
            <p:cNvCxnSpPr>
              <a:cxnSpLocks noChangeShapeType="1"/>
              <a:endCxn id="5" idx="0"/>
            </p:cNvCxnSpPr>
            <p:nvPr/>
          </p:nvCxnSpPr>
          <p:spPr bwMode="auto">
            <a:xfrm>
              <a:off x="3243" y="1117"/>
              <a:ext cx="0" cy="272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cxn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3045" y="1937"/>
              <a:ext cx="68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dirty="0">
                  <a:solidFill>
                    <a:schemeClr val="tx1"/>
                  </a:solidFill>
                </a:rPr>
                <a:t>真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>
              <a:off x="4378" y="1842"/>
              <a:ext cx="454" cy="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dirty="0">
                  <a:solidFill>
                    <a:schemeClr val="tx1"/>
                  </a:solidFill>
                </a:rPr>
                <a:t>假</a:t>
              </a:r>
              <a:endParaRPr lang="zh-CN" altLang="en-US" sz="1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4"/>
          <p:cNvGrpSpPr/>
          <p:nvPr/>
        </p:nvGrpSpPr>
        <p:grpSpPr bwMode="auto">
          <a:xfrm>
            <a:off x="1547664" y="3645024"/>
            <a:ext cx="2654362" cy="2623550"/>
            <a:chOff x="2475" y="1122"/>
            <a:chExt cx="2398" cy="2081"/>
          </a:xfrm>
        </p:grpSpPr>
        <p:sp>
          <p:nvSpPr>
            <p:cNvPr id="18" name="AutoShape 5"/>
            <p:cNvSpPr>
              <a:spLocks noChangeArrowheads="1"/>
            </p:cNvSpPr>
            <p:nvPr/>
          </p:nvSpPr>
          <p:spPr bwMode="auto">
            <a:xfrm>
              <a:off x="2475" y="1389"/>
              <a:ext cx="1587" cy="499"/>
            </a:xfrm>
            <a:prstGeom prst="flowChartDecision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800" dirty="0" err="1">
                  <a:solidFill>
                    <a:srgbClr val="00B050"/>
                  </a:solidFill>
                </a:rPr>
                <a:t>Jcc</a:t>
              </a:r>
              <a:r>
                <a:rPr lang="zh-CN" altLang="en-US" sz="1800" dirty="0">
                  <a:solidFill>
                    <a:srgbClr val="00B050"/>
                  </a:solidFill>
                </a:rPr>
                <a:t>条件满足？</a:t>
              </a:r>
              <a:endParaRPr lang="zh-CN" altLang="en-US" sz="1800" dirty="0">
                <a:solidFill>
                  <a:srgbClr val="00B050"/>
                </a:solidFill>
              </a:endParaRPr>
            </a:p>
          </p:txBody>
        </p:sp>
        <p:sp>
          <p:nvSpPr>
            <p:cNvPr id="19" name="AutoShape 6"/>
            <p:cNvSpPr>
              <a:spLocks noChangeArrowheads="1"/>
            </p:cNvSpPr>
            <p:nvPr/>
          </p:nvSpPr>
          <p:spPr bwMode="auto">
            <a:xfrm>
              <a:off x="2608" y="2341"/>
              <a:ext cx="1315" cy="384"/>
            </a:xfrm>
            <a:prstGeom prst="flowChartProcess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dirty="0">
                  <a:solidFill>
                    <a:srgbClr val="00B050"/>
                  </a:solidFill>
                </a:rPr>
                <a:t>分支体语句</a:t>
              </a:r>
              <a:endParaRPr lang="zh-CN" altLang="en-US" sz="1800" dirty="0">
                <a:solidFill>
                  <a:srgbClr val="00B050"/>
                </a:solidFill>
              </a:endParaRPr>
            </a:p>
          </p:txBody>
        </p:sp>
        <p:cxnSp>
          <p:nvCxnSpPr>
            <p:cNvPr id="20" name="AutoShape 7"/>
            <p:cNvCxnSpPr>
              <a:cxnSpLocks noChangeShapeType="1"/>
              <a:stCxn id="18" idx="2"/>
              <a:endCxn id="19" idx="0"/>
            </p:cNvCxnSpPr>
            <p:nvPr/>
          </p:nvCxnSpPr>
          <p:spPr bwMode="auto">
            <a:xfrm flipH="1">
              <a:off x="3266" y="1888"/>
              <a:ext cx="3" cy="453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cxnSp>
        <p:cxnSp>
          <p:nvCxnSpPr>
            <p:cNvPr id="21" name="AutoShape 8"/>
            <p:cNvCxnSpPr>
              <a:cxnSpLocks noChangeShapeType="1"/>
              <a:stCxn id="19" idx="2"/>
            </p:cNvCxnSpPr>
            <p:nvPr/>
          </p:nvCxnSpPr>
          <p:spPr bwMode="auto">
            <a:xfrm flipH="1">
              <a:off x="3265" y="2725"/>
              <a:ext cx="1" cy="478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cxnSp>
        <p:cxnSp>
          <p:nvCxnSpPr>
            <p:cNvPr id="22" name="AutoShape 9"/>
            <p:cNvCxnSpPr>
              <a:cxnSpLocks noChangeShapeType="1"/>
              <a:stCxn id="18" idx="3"/>
            </p:cNvCxnSpPr>
            <p:nvPr/>
          </p:nvCxnSpPr>
          <p:spPr bwMode="auto">
            <a:xfrm>
              <a:off x="4062" y="1639"/>
              <a:ext cx="406" cy="1338"/>
            </a:xfrm>
            <a:prstGeom prst="bentConnector2">
              <a:avLst/>
            </a:prstGeom>
            <a:noFill/>
            <a:ln w="12700">
              <a:solidFill>
                <a:schemeClr val="tx1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cxnSp>
        <p:cxnSp>
          <p:nvCxnSpPr>
            <p:cNvPr id="23" name="AutoShape 10"/>
            <p:cNvCxnSpPr>
              <a:cxnSpLocks noChangeShapeType="1"/>
            </p:cNvCxnSpPr>
            <p:nvPr/>
          </p:nvCxnSpPr>
          <p:spPr bwMode="auto">
            <a:xfrm flipH="1">
              <a:off x="3243" y="2976"/>
              <a:ext cx="1225" cy="0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cxnSp>
        <p:cxnSp>
          <p:nvCxnSpPr>
            <p:cNvPr id="24" name="AutoShape 11"/>
            <p:cNvCxnSpPr>
              <a:cxnSpLocks noChangeShapeType="1"/>
              <a:endCxn id="18" idx="0"/>
            </p:cNvCxnSpPr>
            <p:nvPr/>
          </p:nvCxnSpPr>
          <p:spPr bwMode="auto">
            <a:xfrm flipH="1">
              <a:off x="3269" y="1122"/>
              <a:ext cx="0" cy="26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cxnSp>
        <p:sp>
          <p:nvSpPr>
            <p:cNvPr id="25" name="Rectangle 12"/>
            <p:cNvSpPr>
              <a:spLocks noChangeArrowheads="1"/>
            </p:cNvSpPr>
            <p:nvPr/>
          </p:nvSpPr>
          <p:spPr bwMode="auto">
            <a:xfrm>
              <a:off x="3030" y="1942"/>
              <a:ext cx="681" cy="3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dirty="0">
                  <a:solidFill>
                    <a:srgbClr val="00B050"/>
                  </a:solidFill>
                </a:rPr>
                <a:t>假</a:t>
              </a:r>
              <a:endParaRPr lang="zh-CN" altLang="en-US" sz="1800" dirty="0">
                <a:solidFill>
                  <a:srgbClr val="00B050"/>
                </a:solidFill>
              </a:endParaRPr>
            </a:p>
          </p:txBody>
        </p:sp>
        <p:sp>
          <p:nvSpPr>
            <p:cNvPr id="26" name="Rectangle 13"/>
            <p:cNvSpPr>
              <a:spLocks noChangeArrowheads="1"/>
            </p:cNvSpPr>
            <p:nvPr/>
          </p:nvSpPr>
          <p:spPr bwMode="auto">
            <a:xfrm>
              <a:off x="4419" y="1842"/>
              <a:ext cx="454" cy="9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zh-CN" altLang="en-US" sz="1800" dirty="0">
                  <a:solidFill>
                    <a:srgbClr val="00B050"/>
                  </a:solidFill>
                </a:rPr>
                <a:t>真</a:t>
              </a:r>
              <a:endParaRPr lang="zh-CN" altLang="en-US" sz="1800" dirty="0">
                <a:solidFill>
                  <a:srgbClr val="00B050"/>
                </a:solidFill>
              </a:endParaRPr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1547664" y="6318845"/>
            <a:ext cx="2580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B050"/>
                </a:solidFill>
              </a:rPr>
              <a:t>汇编语言单分支结构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663647" y="6315450"/>
            <a:ext cx="2580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高级语言的</a:t>
            </a:r>
            <a:r>
              <a:rPr lang="en-US" altLang="zh-CN" sz="2000" dirty="0">
                <a:solidFill>
                  <a:schemeClr val="tx1"/>
                </a:solidFill>
              </a:rPr>
              <a:t>if</a:t>
            </a:r>
            <a:r>
              <a:rPr lang="zh-CN" altLang="en-US" sz="2000" dirty="0">
                <a:solidFill>
                  <a:schemeClr val="tx1"/>
                </a:solidFill>
              </a:rPr>
              <a:t>语句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40" name="椭圆 39"/>
          <p:cNvSpPr/>
          <p:nvPr/>
        </p:nvSpPr>
        <p:spPr bwMode="auto">
          <a:xfrm>
            <a:off x="1547663" y="4634528"/>
            <a:ext cx="1781013" cy="1297592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6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1" name="椭圆 40"/>
          <p:cNvSpPr/>
          <p:nvPr/>
        </p:nvSpPr>
        <p:spPr bwMode="auto">
          <a:xfrm>
            <a:off x="5580112" y="4600178"/>
            <a:ext cx="1781013" cy="1297592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6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2" name="箭头: 左右 1"/>
          <p:cNvSpPr/>
          <p:nvPr/>
        </p:nvSpPr>
        <p:spPr bwMode="auto">
          <a:xfrm>
            <a:off x="4134943" y="4926047"/>
            <a:ext cx="1418426" cy="484632"/>
          </a:xfrm>
          <a:prstGeom prst="leftRightArrow">
            <a:avLst>
              <a:gd name="adj1" fmla="val 50000"/>
              <a:gd name="adj2" fmla="val 79200"/>
            </a:avLst>
          </a:prstGeom>
          <a:noFill/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kumimoji="1" lang="zh-CN" alt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rPr>
              <a:t>相反</a:t>
            </a:r>
            <a:endParaRPr kumimoji="1" lang="zh-CN" altLang="en-US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4-9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求绝对值程序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5843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内容占位符 2"/>
          <p:cNvSpPr txBox="1"/>
          <p:nvPr/>
        </p:nvSpPr>
        <p:spPr>
          <a:xfrm>
            <a:off x="611560" y="664121"/>
            <a:ext cx="7992888" cy="963666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例：从键盘输入一个有符号数，输出其绝对值。该数为正数时无需处理，为负数需进行求补，典型的单分支结构。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7" name="Picture 7" descr="fig040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394"/>
          <a:stretch>
            <a:fillRect/>
          </a:stretch>
        </p:blipFill>
        <p:spPr bwMode="auto">
          <a:xfrm>
            <a:off x="755576" y="4154760"/>
            <a:ext cx="2952328" cy="2730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4716016" y="4795228"/>
            <a:ext cx="3849910" cy="1226060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12700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3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单分支结构：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哪个条件会少执行一些语句，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则哪个条件进行跳转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3568" y="1619275"/>
            <a:ext cx="7920880" cy="2642326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代码段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readsid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输入一个有符号数，从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EAX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返回值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cmp</a:t>
            </a:r>
            <a:r>
              <a:rPr lang="en-US" altLang="zh-CN" sz="2000" b="1" dirty="0">
                <a:latin typeface="+mn-lt"/>
              </a:rPr>
              <a:t> eax,0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比较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EAX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与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jge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nonneg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条件满足：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EAX≥0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，转移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neg </a:t>
            </a:r>
            <a:r>
              <a:rPr lang="en-US" altLang="zh-CN" sz="2000" b="1" dirty="0" err="1">
                <a:latin typeface="+mn-lt"/>
              </a:rPr>
              <a:t>eax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条件不满足：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EAX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＜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，为负数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需求补得正值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2000" b="1" dirty="0" err="1">
                <a:latin typeface="+mn-lt"/>
              </a:rPr>
              <a:t>nonneg</a:t>
            </a:r>
            <a:r>
              <a:rPr lang="en-US" altLang="zh-CN" sz="2000" b="1" dirty="0">
                <a:latin typeface="+mn-lt"/>
              </a:rPr>
              <a:t>:	call </a:t>
            </a:r>
            <a:r>
              <a:rPr lang="en-US" altLang="zh-CN" sz="2000" b="1" dirty="0" err="1">
                <a:latin typeface="+mn-lt"/>
              </a:rPr>
              <a:t>dispuid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分支结束，显示结果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12" name="AutoShape 4"/>
          <p:cNvSpPr>
            <a:spLocks noChangeArrowheads="1"/>
          </p:cNvSpPr>
          <p:nvPr/>
        </p:nvSpPr>
        <p:spPr bwMode="auto">
          <a:xfrm>
            <a:off x="4837217" y="1607595"/>
            <a:ext cx="3735208" cy="401218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12700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3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有符号数用条件转移指令</a:t>
            </a: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G/L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1187624" y="4475039"/>
            <a:ext cx="3528392" cy="933219"/>
            <a:chOff x="1187624" y="4437111"/>
            <a:chExt cx="3528392" cy="933219"/>
          </a:xfrm>
        </p:grpSpPr>
        <p:sp>
          <p:nvSpPr>
            <p:cNvPr id="10" name="椭圆 9"/>
            <p:cNvSpPr/>
            <p:nvPr/>
          </p:nvSpPr>
          <p:spPr bwMode="auto">
            <a:xfrm>
              <a:off x="1187624" y="4437111"/>
              <a:ext cx="2640424" cy="801613"/>
            </a:xfrm>
            <a:prstGeom prst="ellipse">
              <a:avLst/>
            </a:prstGeom>
            <a:noFill/>
            <a:ln w="19050" cap="flat" cmpd="sng" algn="ctr">
              <a:solidFill>
                <a:srgbClr val="00B050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cxnSp>
          <p:nvCxnSpPr>
            <p:cNvPr id="14" name="直接箭头连接符 13"/>
            <p:cNvCxnSpPr>
              <a:endCxn id="9" idx="1"/>
            </p:cNvCxnSpPr>
            <p:nvPr/>
          </p:nvCxnSpPr>
          <p:spPr bwMode="auto">
            <a:xfrm>
              <a:off x="3707904" y="5031604"/>
              <a:ext cx="1008112" cy="338726"/>
            </a:xfrm>
            <a:prstGeom prst="straightConnector1">
              <a:avLst/>
            </a:prstGeom>
            <a:noFill/>
            <a:ln w="1905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</p:grp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4-10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字母判断程序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5843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3568" y="1784496"/>
            <a:ext cx="7920880" cy="4399731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代码段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readc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输入一个字符，从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AL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返回值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cmp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al,'A</a:t>
            </a:r>
            <a:r>
              <a:rPr lang="en-US" altLang="zh-CN" sz="2000" b="1" dirty="0">
                <a:latin typeface="+mn-lt"/>
              </a:rPr>
              <a:t>’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与大写字母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A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比较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jb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altLang="zh-CN" sz="2000" b="1" dirty="0">
                <a:latin typeface="+mn-lt"/>
              </a:rPr>
              <a:t>done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比大写字母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A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小，不是大写字母，转移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cmp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al,'Z</a:t>
            </a:r>
            <a:r>
              <a:rPr lang="en-US" altLang="zh-CN" sz="2000" b="1" dirty="0">
                <a:latin typeface="+mn-lt"/>
              </a:rPr>
              <a:t>’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与大写字母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Z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比较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ja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 </a:t>
            </a:r>
            <a:r>
              <a:rPr lang="en-US" altLang="zh-CN" sz="2000" b="1" dirty="0">
                <a:latin typeface="+mn-lt"/>
              </a:rPr>
              <a:t>done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比大写字母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Z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大，不是大写字母，转移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or al,20h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转换为小写，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等价于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add al, 20h</a:t>
            </a:r>
            <a:endParaRPr lang="zh-CN" altLang="en-US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dispcrlf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回车换行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dispc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显示小写字母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latin typeface="+mn-lt"/>
              </a:rPr>
              <a:t>done: </a:t>
            </a:r>
            <a:endParaRPr lang="en-US" altLang="zh-CN" sz="2000" b="1" dirty="0">
              <a:latin typeface="+mn-lt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611560" y="692696"/>
            <a:ext cx="7992888" cy="963666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例：从键盘输入一个字符，判断是否为大写字母，是大写字母则转换为小写显示。</a:t>
            </a:r>
            <a:r>
              <a:rPr lang="zh-CN" altLang="en-US" sz="2400" dirty="0">
                <a:solidFill>
                  <a:srgbClr val="00B050"/>
                </a:solidFill>
                <a:latin typeface="+mn-lt"/>
              </a:rPr>
              <a:t>（不是大写字母则无需处理）</a:t>
            </a:r>
            <a:endParaRPr lang="en-US" altLang="zh-CN" sz="2400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2771800" y="1772816"/>
            <a:ext cx="5800625" cy="401218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12700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ASCII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码按无符号数比较，用条件转移指令</a:t>
            </a: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A/B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/>
          <p:cNvGrpSpPr/>
          <p:nvPr/>
        </p:nvGrpSpPr>
        <p:grpSpPr bwMode="auto">
          <a:xfrm>
            <a:off x="5004048" y="3789040"/>
            <a:ext cx="3347866" cy="2448272"/>
            <a:chOff x="3285" y="816"/>
            <a:chExt cx="2304" cy="1728"/>
          </a:xfrm>
        </p:grpSpPr>
        <p:sp>
          <p:nvSpPr>
            <p:cNvPr id="3" name="Rectangle 5"/>
            <p:cNvSpPr>
              <a:spLocks noChangeArrowheads="1"/>
            </p:cNvSpPr>
            <p:nvPr/>
          </p:nvSpPr>
          <p:spPr bwMode="auto">
            <a:xfrm>
              <a:off x="3285" y="816"/>
              <a:ext cx="2304" cy="1728"/>
            </a:xfrm>
            <a:prstGeom prst="rect">
              <a:avLst/>
            </a:prstGeom>
            <a:solidFill>
              <a:schemeClr val="bg1"/>
            </a:solidFill>
            <a:ln w="25400" cap="sq">
              <a:noFill/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algn="l" eaLnBrk="0" hangingPunct="0"/>
              <a:r>
                <a:rPr lang="en-US" altLang="zh-CN" sz="1200" dirty="0">
                  <a:latin typeface="+mn-lt"/>
                </a:rPr>
                <a:t>         </a:t>
              </a:r>
              <a:endParaRPr lang="en-US" altLang="zh-CN" sz="1200" dirty="0">
                <a:latin typeface="+mn-lt"/>
              </a:endParaRPr>
            </a:p>
            <a:p>
              <a:pPr algn="l" eaLnBrk="0" hangingPunct="0"/>
              <a:r>
                <a:rPr lang="en-US" altLang="zh-CN" sz="1200" dirty="0">
                  <a:latin typeface="+mn-lt"/>
                </a:rPr>
                <a:t>         </a:t>
              </a:r>
              <a:endParaRPr lang="en-US" altLang="zh-CN" sz="1200" dirty="0">
                <a:solidFill>
                  <a:srgbClr val="000099"/>
                </a:solidFill>
                <a:latin typeface="+mn-lt"/>
              </a:endParaRPr>
            </a:p>
            <a:p>
              <a:pPr algn="l" eaLnBrk="0" hangingPunct="0"/>
              <a:r>
                <a:rPr lang="en-US" altLang="zh-CN" sz="1200" dirty="0">
                  <a:solidFill>
                    <a:srgbClr val="000099"/>
                  </a:solidFill>
                  <a:latin typeface="+mn-lt"/>
                </a:rPr>
                <a:t>                </a:t>
              </a:r>
              <a:endParaRPr lang="en-US" altLang="zh-CN" sz="1200" dirty="0">
                <a:solidFill>
                  <a:srgbClr val="000099"/>
                </a:solidFill>
                <a:latin typeface="+mn-lt"/>
              </a:endParaRPr>
            </a:p>
            <a:p>
              <a:pPr algn="l" eaLnBrk="0" hangingPunct="0"/>
              <a:r>
                <a:rPr lang="en-US" altLang="zh-CN" sz="1200" dirty="0">
                  <a:solidFill>
                    <a:srgbClr val="000099"/>
                  </a:solidFill>
                  <a:latin typeface="+mn-lt"/>
                </a:rPr>
                <a:t>              </a:t>
              </a:r>
              <a:endParaRPr lang="en-US" altLang="zh-CN" sz="1200" dirty="0">
                <a:solidFill>
                  <a:schemeClr val="hlink"/>
                </a:solidFill>
                <a:latin typeface="+mn-lt"/>
              </a:endParaRPr>
            </a:p>
            <a:p>
              <a:pPr algn="l" eaLnBrk="0" hangingPunct="0"/>
              <a:r>
                <a:rPr lang="en-US" altLang="zh-CN" sz="1200" dirty="0">
                  <a:solidFill>
                    <a:srgbClr val="000099"/>
                  </a:solidFill>
                  <a:latin typeface="+mn-lt"/>
                </a:rPr>
                <a:t>               </a:t>
              </a:r>
              <a:endParaRPr lang="en-US" altLang="zh-CN" sz="1200" dirty="0">
                <a:solidFill>
                  <a:srgbClr val="000099"/>
                </a:solidFill>
                <a:latin typeface="+mn-lt"/>
              </a:endParaRPr>
            </a:p>
            <a:p>
              <a:pPr algn="l" eaLnBrk="0" hangingPunct="0"/>
              <a:r>
                <a:rPr lang="en-US" altLang="zh-CN" sz="1200" dirty="0">
                  <a:solidFill>
                    <a:srgbClr val="000099"/>
                  </a:solidFill>
                  <a:latin typeface="+mn-lt"/>
                </a:rPr>
                <a:t>       </a:t>
              </a:r>
              <a:endParaRPr lang="en-US" altLang="zh-CN" sz="1200" dirty="0">
                <a:solidFill>
                  <a:schemeClr val="hlink"/>
                </a:solidFill>
                <a:latin typeface="+mn-lt"/>
              </a:endParaRPr>
            </a:p>
          </p:txBody>
        </p:sp>
        <p:sp>
          <p:nvSpPr>
            <p:cNvPr id="27" name="AutoShape 6"/>
            <p:cNvSpPr>
              <a:spLocks noChangeArrowheads="1"/>
            </p:cNvSpPr>
            <p:nvPr/>
          </p:nvSpPr>
          <p:spPr bwMode="auto">
            <a:xfrm>
              <a:off x="3969" y="1121"/>
              <a:ext cx="864" cy="432"/>
            </a:xfrm>
            <a:prstGeom prst="flowChartDecision">
              <a:avLst/>
            </a:prstGeom>
            <a:noFill/>
            <a:ln w="3175">
              <a:solidFill>
                <a:srgbClr val="00008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+mn-lt"/>
              </a:endParaRPr>
            </a:p>
          </p:txBody>
        </p:sp>
        <p:sp>
          <p:nvSpPr>
            <p:cNvPr id="28" name="AutoShape 7"/>
            <p:cNvSpPr>
              <a:spLocks noChangeArrowheads="1"/>
            </p:cNvSpPr>
            <p:nvPr/>
          </p:nvSpPr>
          <p:spPr bwMode="auto">
            <a:xfrm>
              <a:off x="3393" y="1632"/>
              <a:ext cx="721" cy="288"/>
            </a:xfrm>
            <a:prstGeom prst="flowChartProcess">
              <a:avLst/>
            </a:prstGeom>
            <a:noFill/>
            <a:ln w="12700" cap="sq">
              <a:solidFill>
                <a:srgbClr val="00008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+mn-lt"/>
              </a:endParaRPr>
            </a:p>
          </p:txBody>
        </p:sp>
        <p:sp>
          <p:nvSpPr>
            <p:cNvPr id="29" name="AutoShape 8"/>
            <p:cNvSpPr>
              <a:spLocks noChangeArrowheads="1"/>
            </p:cNvSpPr>
            <p:nvPr/>
          </p:nvSpPr>
          <p:spPr bwMode="auto">
            <a:xfrm>
              <a:off x="4736" y="1632"/>
              <a:ext cx="721" cy="288"/>
            </a:xfrm>
            <a:prstGeom prst="flowChartProcess">
              <a:avLst/>
            </a:prstGeom>
            <a:noFill/>
            <a:ln w="12700" cap="sq">
              <a:solidFill>
                <a:srgbClr val="00008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+mn-lt"/>
              </a:endParaRPr>
            </a:p>
          </p:txBody>
        </p:sp>
        <p:sp>
          <p:nvSpPr>
            <p:cNvPr id="30" name="Line 9"/>
            <p:cNvSpPr>
              <a:spLocks noChangeShapeType="1"/>
            </p:cNvSpPr>
            <p:nvPr/>
          </p:nvSpPr>
          <p:spPr bwMode="auto">
            <a:xfrm>
              <a:off x="3729" y="1344"/>
              <a:ext cx="0" cy="288"/>
            </a:xfrm>
            <a:prstGeom prst="line">
              <a:avLst/>
            </a:prstGeom>
            <a:noFill/>
            <a:ln w="12700" cap="sq">
              <a:solidFill>
                <a:srgbClr val="00008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+mn-lt"/>
              </a:endParaRPr>
            </a:p>
          </p:txBody>
        </p:sp>
        <p:sp>
          <p:nvSpPr>
            <p:cNvPr id="31" name="Line 10"/>
            <p:cNvSpPr>
              <a:spLocks noChangeShapeType="1"/>
            </p:cNvSpPr>
            <p:nvPr/>
          </p:nvSpPr>
          <p:spPr bwMode="auto">
            <a:xfrm>
              <a:off x="5121" y="1344"/>
              <a:ext cx="0" cy="288"/>
            </a:xfrm>
            <a:prstGeom prst="line">
              <a:avLst/>
            </a:prstGeom>
            <a:noFill/>
            <a:ln w="12700" cap="sq">
              <a:solidFill>
                <a:srgbClr val="00008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2000">
                <a:latin typeface="+mn-lt"/>
              </a:endParaRPr>
            </a:p>
          </p:txBody>
        </p:sp>
        <p:sp>
          <p:nvSpPr>
            <p:cNvPr id="32" name="Line 11"/>
            <p:cNvSpPr>
              <a:spLocks noChangeShapeType="1"/>
            </p:cNvSpPr>
            <p:nvPr/>
          </p:nvSpPr>
          <p:spPr bwMode="auto">
            <a:xfrm>
              <a:off x="3729" y="1344"/>
              <a:ext cx="240" cy="0"/>
            </a:xfrm>
            <a:prstGeom prst="line">
              <a:avLst/>
            </a:prstGeom>
            <a:ln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wrap="none" lIns="90000" tIns="46800" rIns="90000" bIns="46800" anchor="ctr"/>
            <a:lstStyle/>
            <a:p>
              <a:endParaRPr lang="zh-CN" altLang="en-US" sz="2000">
                <a:latin typeface="+mn-lt"/>
              </a:endParaRPr>
            </a:p>
          </p:txBody>
        </p:sp>
        <p:sp>
          <p:nvSpPr>
            <p:cNvPr id="33" name="Line 12"/>
            <p:cNvSpPr>
              <a:spLocks noChangeShapeType="1"/>
            </p:cNvSpPr>
            <p:nvPr/>
          </p:nvSpPr>
          <p:spPr bwMode="auto">
            <a:xfrm>
              <a:off x="4833" y="1344"/>
              <a:ext cx="288" cy="0"/>
            </a:xfrm>
            <a:prstGeom prst="line">
              <a:avLst/>
            </a:prstGeom>
            <a:ln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wrap="none" lIns="90000" tIns="46800" rIns="90000" bIns="46800" anchor="ctr"/>
            <a:lstStyle/>
            <a:p>
              <a:endParaRPr lang="zh-CN" altLang="en-US" sz="2000">
                <a:latin typeface="+mn-lt"/>
              </a:endParaRPr>
            </a:p>
          </p:txBody>
        </p:sp>
        <p:sp>
          <p:nvSpPr>
            <p:cNvPr id="34" name="Line 13"/>
            <p:cNvSpPr>
              <a:spLocks noChangeShapeType="1"/>
            </p:cNvSpPr>
            <p:nvPr/>
          </p:nvSpPr>
          <p:spPr bwMode="auto">
            <a:xfrm>
              <a:off x="3729" y="1920"/>
              <a:ext cx="0" cy="288"/>
            </a:xfrm>
            <a:prstGeom prst="line">
              <a:avLst/>
            </a:prstGeom>
            <a:ln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wrap="none" lIns="90000" tIns="46800" rIns="90000" bIns="46800" anchor="ctr"/>
            <a:lstStyle/>
            <a:p>
              <a:endParaRPr lang="zh-CN" altLang="en-US" sz="2000">
                <a:latin typeface="+mn-lt"/>
              </a:endParaRPr>
            </a:p>
          </p:txBody>
        </p:sp>
        <p:sp>
          <p:nvSpPr>
            <p:cNvPr id="35" name="Line 14"/>
            <p:cNvSpPr>
              <a:spLocks noChangeShapeType="1"/>
            </p:cNvSpPr>
            <p:nvPr/>
          </p:nvSpPr>
          <p:spPr bwMode="auto">
            <a:xfrm>
              <a:off x="5121" y="1920"/>
              <a:ext cx="0" cy="288"/>
            </a:xfrm>
            <a:prstGeom prst="line">
              <a:avLst/>
            </a:prstGeom>
            <a:ln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wrap="none" lIns="90000" tIns="46800" rIns="90000" bIns="46800" anchor="ctr"/>
            <a:lstStyle/>
            <a:p>
              <a:endParaRPr lang="zh-CN" altLang="en-US" sz="2000">
                <a:latin typeface="+mn-lt"/>
              </a:endParaRPr>
            </a:p>
          </p:txBody>
        </p:sp>
        <p:sp>
          <p:nvSpPr>
            <p:cNvPr id="36" name="Line 15"/>
            <p:cNvSpPr>
              <a:spLocks noChangeShapeType="1"/>
            </p:cNvSpPr>
            <p:nvPr/>
          </p:nvSpPr>
          <p:spPr bwMode="auto">
            <a:xfrm>
              <a:off x="3729" y="2208"/>
              <a:ext cx="1392" cy="0"/>
            </a:xfrm>
            <a:prstGeom prst="line">
              <a:avLst/>
            </a:prstGeom>
            <a:ln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wrap="none" lIns="90000" tIns="46800" rIns="90000" bIns="46800" anchor="ctr"/>
            <a:lstStyle/>
            <a:p>
              <a:endParaRPr lang="zh-CN" altLang="en-US" sz="2000">
                <a:latin typeface="+mn-lt"/>
              </a:endParaRPr>
            </a:p>
          </p:txBody>
        </p:sp>
        <p:sp>
          <p:nvSpPr>
            <p:cNvPr id="37" name="Line 16"/>
            <p:cNvSpPr>
              <a:spLocks noChangeShapeType="1"/>
            </p:cNvSpPr>
            <p:nvPr/>
          </p:nvSpPr>
          <p:spPr bwMode="auto">
            <a:xfrm>
              <a:off x="4401" y="2208"/>
              <a:ext cx="0" cy="288"/>
            </a:xfrm>
            <a:prstGeom prst="line">
              <a:avLst/>
            </a:prstGeom>
            <a:ln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wrap="none" lIns="90000" tIns="46800" rIns="90000" bIns="46800" anchor="ctr"/>
            <a:lstStyle/>
            <a:p>
              <a:endParaRPr lang="zh-CN" altLang="en-US" sz="2000">
                <a:latin typeface="+mn-lt"/>
              </a:endParaRPr>
            </a:p>
          </p:txBody>
        </p:sp>
        <p:sp>
          <p:nvSpPr>
            <p:cNvPr id="42" name="Line 17"/>
            <p:cNvSpPr>
              <a:spLocks noChangeShapeType="1"/>
            </p:cNvSpPr>
            <p:nvPr/>
          </p:nvSpPr>
          <p:spPr bwMode="auto">
            <a:xfrm>
              <a:off x="4401" y="843"/>
              <a:ext cx="0" cy="288"/>
            </a:xfrm>
            <a:prstGeom prst="line">
              <a:avLst/>
            </a:prstGeom>
            <a:ln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wrap="none" lIns="90000" tIns="46800" rIns="90000" bIns="46800" anchor="ctr"/>
            <a:lstStyle/>
            <a:p>
              <a:endParaRPr lang="zh-CN" altLang="en-US" sz="2000" dirty="0">
                <a:latin typeface="+mn-lt"/>
              </a:endParaRPr>
            </a:p>
          </p:txBody>
        </p:sp>
        <p:sp>
          <p:nvSpPr>
            <p:cNvPr id="43" name="Rectangle 18"/>
            <p:cNvSpPr>
              <a:spLocks noChangeArrowheads="1"/>
            </p:cNvSpPr>
            <p:nvPr/>
          </p:nvSpPr>
          <p:spPr bwMode="auto">
            <a:xfrm>
              <a:off x="4021" y="1200"/>
              <a:ext cx="924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8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algn="l" eaLnBrk="0" hangingPunct="0"/>
              <a:r>
                <a:rPr lang="zh-CN" altLang="en-US" sz="2000" dirty="0">
                  <a:solidFill>
                    <a:schemeClr val="tx1"/>
                  </a:solidFill>
                  <a:latin typeface="+mn-lt"/>
                </a:rPr>
                <a:t>表达式？</a:t>
              </a:r>
              <a:endParaRPr lang="zh-CN" altLang="en-US" sz="20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Rectangle 19"/>
            <p:cNvSpPr>
              <a:spLocks noChangeArrowheads="1"/>
            </p:cNvSpPr>
            <p:nvPr/>
          </p:nvSpPr>
          <p:spPr bwMode="auto">
            <a:xfrm>
              <a:off x="3295" y="1632"/>
              <a:ext cx="833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8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000" dirty="0">
                  <a:solidFill>
                    <a:schemeClr val="folHlink"/>
                  </a:solidFill>
                  <a:latin typeface="+mn-lt"/>
                </a:rPr>
                <a:t>  </a:t>
              </a:r>
              <a:r>
                <a:rPr lang="zh-CN" altLang="en-US" sz="2000" dirty="0">
                  <a:solidFill>
                    <a:schemeClr val="tx1"/>
                  </a:solidFill>
                  <a:latin typeface="+mn-lt"/>
                </a:rPr>
                <a:t>分支体</a:t>
              </a:r>
              <a:r>
                <a:rPr lang="en-US" altLang="zh-CN" sz="2000" dirty="0">
                  <a:solidFill>
                    <a:schemeClr val="tx1"/>
                  </a:solidFill>
                  <a:latin typeface="+mn-lt"/>
                </a:rPr>
                <a:t>1</a:t>
              </a:r>
              <a:endParaRPr lang="en-US" altLang="zh-CN" sz="20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Rectangle 20"/>
            <p:cNvSpPr>
              <a:spLocks noChangeArrowheads="1"/>
            </p:cNvSpPr>
            <p:nvPr/>
          </p:nvSpPr>
          <p:spPr bwMode="auto">
            <a:xfrm>
              <a:off x="4647" y="1632"/>
              <a:ext cx="833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8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000" dirty="0">
                  <a:solidFill>
                    <a:schemeClr val="folHlink"/>
                  </a:solidFill>
                  <a:latin typeface="+mn-lt"/>
                </a:rPr>
                <a:t>  </a:t>
              </a:r>
              <a:r>
                <a:rPr lang="zh-CN" altLang="en-US" sz="2000" dirty="0">
                  <a:solidFill>
                    <a:schemeClr val="tx1"/>
                  </a:solidFill>
                  <a:latin typeface="+mn-lt"/>
                </a:rPr>
                <a:t>分支体</a:t>
              </a:r>
              <a:r>
                <a:rPr lang="en-US" altLang="zh-CN" sz="2000" dirty="0">
                  <a:solidFill>
                    <a:schemeClr val="tx1"/>
                  </a:solidFill>
                  <a:latin typeface="+mn-lt"/>
                </a:rPr>
                <a:t>2</a:t>
              </a:r>
              <a:endParaRPr lang="en-US" altLang="zh-CN" sz="2000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Rectangle 21"/>
            <p:cNvSpPr>
              <a:spLocks noChangeArrowheads="1"/>
            </p:cNvSpPr>
            <p:nvPr/>
          </p:nvSpPr>
          <p:spPr bwMode="auto">
            <a:xfrm>
              <a:off x="3762" y="1019"/>
              <a:ext cx="255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8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altLang="zh-CN" sz="2000" b="1" dirty="0">
                  <a:solidFill>
                    <a:srgbClr val="FFC000"/>
                  </a:solidFill>
                  <a:latin typeface="+mn-lt"/>
                </a:rPr>
                <a:t>N</a:t>
              </a:r>
              <a:endParaRPr lang="en-US" altLang="zh-CN" sz="2000" b="1" dirty="0">
                <a:solidFill>
                  <a:srgbClr val="FFC000"/>
                </a:solidFill>
                <a:latin typeface="+mn-lt"/>
              </a:endParaRPr>
            </a:p>
          </p:txBody>
        </p:sp>
        <p:sp>
          <p:nvSpPr>
            <p:cNvPr id="47" name="Rectangle 22"/>
            <p:cNvSpPr>
              <a:spLocks noChangeArrowheads="1"/>
            </p:cNvSpPr>
            <p:nvPr/>
          </p:nvSpPr>
          <p:spPr bwMode="auto">
            <a:xfrm>
              <a:off x="4914" y="1019"/>
              <a:ext cx="241" cy="2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80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 eaLnBrk="0" hangingPunct="0"/>
              <a:r>
                <a:rPr lang="en-US" altLang="zh-CN" sz="2000" b="1" dirty="0">
                  <a:solidFill>
                    <a:srgbClr val="FFC000"/>
                  </a:solidFill>
                  <a:latin typeface="+mn-lt"/>
                </a:rPr>
                <a:t>Y</a:t>
              </a:r>
              <a:endParaRPr lang="en-US" altLang="zh-CN" sz="2000" b="1" dirty="0">
                <a:solidFill>
                  <a:srgbClr val="FFC000"/>
                </a:solidFill>
                <a:latin typeface="+mn-lt"/>
              </a:endParaRPr>
            </a:p>
          </p:txBody>
        </p:sp>
      </p:grpSp>
      <p:sp>
        <p:nvSpPr>
          <p:cNvPr id="7" name="内容占位符 2"/>
          <p:cNvSpPr txBox="1"/>
          <p:nvPr/>
        </p:nvSpPr>
        <p:spPr>
          <a:xfrm>
            <a:off x="467544" y="620688"/>
            <a:ext cx="8280920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双分支结构有两个分支，条件为真执行一个分支；条件为假，执行另一个分支</a:t>
            </a:r>
            <a:endParaRPr lang="en-US" altLang="zh-CN" sz="26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相当于高级语言的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if/else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语句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顺序执行的分支体</a:t>
            </a:r>
            <a:r>
              <a:rPr lang="en-US" altLang="zh-CN" sz="2600" dirty="0">
                <a:latin typeface="+mn-lt"/>
              </a:rPr>
              <a:t>1</a:t>
            </a:r>
            <a:r>
              <a:rPr lang="zh-CN" altLang="en-US" sz="2600" dirty="0">
                <a:latin typeface="+mn-lt"/>
              </a:rPr>
              <a:t>最后一定要有一条</a:t>
            </a:r>
            <a:r>
              <a:rPr lang="en-US" altLang="zh-CN" sz="2600" dirty="0">
                <a:latin typeface="+mn-lt"/>
              </a:rPr>
              <a:t>JMP</a:t>
            </a:r>
            <a:r>
              <a:rPr lang="zh-CN" altLang="en-US" sz="2600" dirty="0">
                <a:latin typeface="+mn-lt"/>
              </a:rPr>
              <a:t>指令跳过分支体</a:t>
            </a:r>
            <a:r>
              <a:rPr lang="en-US" altLang="zh-CN" sz="2600" dirty="0">
                <a:latin typeface="+mn-lt"/>
              </a:rPr>
              <a:t>2</a:t>
            </a:r>
            <a:r>
              <a:rPr lang="zh-CN" altLang="en-US" sz="2600" dirty="0">
                <a:latin typeface="+mn-lt"/>
              </a:rPr>
              <a:t>，</a:t>
            </a:r>
            <a:r>
              <a:rPr lang="en-US" altLang="zh-CN" sz="2600" dirty="0">
                <a:latin typeface="+mn-lt"/>
              </a:rPr>
              <a:t>JMP</a:t>
            </a:r>
            <a:r>
              <a:rPr lang="zh-CN" altLang="en-US" sz="2600" dirty="0">
                <a:latin typeface="+mn-lt"/>
              </a:rPr>
              <a:t>指令必不可少</a:t>
            </a:r>
            <a:endParaRPr lang="en-US" altLang="zh-CN" sz="26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JMP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指令实现结束前一个分支回到共同出口的作用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738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4.2.4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双分支结构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639738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1547664" y="6413266"/>
            <a:ext cx="2580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rgbClr val="00B050"/>
                </a:solidFill>
              </a:rPr>
              <a:t>汇编语言双分支结构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306016" y="6409871"/>
            <a:ext cx="2580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高级语言的</a:t>
            </a:r>
            <a:r>
              <a:rPr lang="en-US" altLang="zh-CN" sz="2000" dirty="0">
                <a:solidFill>
                  <a:schemeClr val="tx1"/>
                </a:solidFill>
              </a:rPr>
              <a:t>if/else</a:t>
            </a:r>
            <a:r>
              <a:rPr lang="zh-CN" altLang="en-US" sz="2000" dirty="0">
                <a:solidFill>
                  <a:schemeClr val="tx1"/>
                </a:solidFill>
              </a:rPr>
              <a:t>语句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49" name="Rectangle 5"/>
          <p:cNvSpPr>
            <a:spLocks noChangeArrowheads="1"/>
          </p:cNvSpPr>
          <p:nvPr/>
        </p:nvSpPr>
        <p:spPr bwMode="auto">
          <a:xfrm>
            <a:off x="1322115" y="3861048"/>
            <a:ext cx="3347866" cy="2448272"/>
          </a:xfrm>
          <a:prstGeom prst="rect">
            <a:avLst/>
          </a:prstGeom>
          <a:solidFill>
            <a:schemeClr val="bg1"/>
          </a:solidFill>
          <a:ln w="25400" cap="sq">
            <a:noFill/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algn="l" eaLnBrk="0" hangingPunct="0"/>
            <a:r>
              <a:rPr lang="en-US" altLang="zh-CN" sz="1200" dirty="0">
                <a:latin typeface="+mn-lt"/>
              </a:rPr>
              <a:t>         </a:t>
            </a:r>
            <a:endParaRPr lang="en-US" altLang="zh-CN" sz="1200" dirty="0">
              <a:latin typeface="+mn-lt"/>
            </a:endParaRPr>
          </a:p>
          <a:p>
            <a:pPr algn="l" eaLnBrk="0" hangingPunct="0"/>
            <a:r>
              <a:rPr lang="en-US" altLang="zh-CN" sz="1200" dirty="0">
                <a:latin typeface="+mn-lt"/>
              </a:rPr>
              <a:t>         </a:t>
            </a:r>
            <a:endParaRPr lang="en-US" altLang="zh-CN" sz="1200" dirty="0">
              <a:solidFill>
                <a:srgbClr val="000099"/>
              </a:solidFill>
              <a:latin typeface="+mn-lt"/>
            </a:endParaRPr>
          </a:p>
          <a:p>
            <a:pPr algn="l" eaLnBrk="0" hangingPunct="0"/>
            <a:r>
              <a:rPr lang="en-US" altLang="zh-CN" sz="1200" dirty="0">
                <a:solidFill>
                  <a:srgbClr val="000099"/>
                </a:solidFill>
                <a:latin typeface="+mn-lt"/>
              </a:rPr>
              <a:t>                </a:t>
            </a:r>
            <a:endParaRPr lang="en-US" altLang="zh-CN" sz="1200" dirty="0">
              <a:solidFill>
                <a:srgbClr val="000099"/>
              </a:solidFill>
              <a:latin typeface="+mn-lt"/>
            </a:endParaRPr>
          </a:p>
          <a:p>
            <a:pPr algn="l" eaLnBrk="0" hangingPunct="0"/>
            <a:r>
              <a:rPr lang="en-US" altLang="zh-CN" sz="1200" dirty="0">
                <a:solidFill>
                  <a:srgbClr val="000099"/>
                </a:solidFill>
                <a:latin typeface="+mn-lt"/>
              </a:rPr>
              <a:t>              </a:t>
            </a:r>
            <a:endParaRPr lang="en-US" altLang="zh-CN" sz="1200" dirty="0">
              <a:solidFill>
                <a:schemeClr val="hlink"/>
              </a:solidFill>
              <a:latin typeface="+mn-lt"/>
            </a:endParaRPr>
          </a:p>
          <a:p>
            <a:pPr algn="l" eaLnBrk="0" hangingPunct="0"/>
            <a:r>
              <a:rPr lang="en-US" altLang="zh-CN" sz="1200" dirty="0">
                <a:solidFill>
                  <a:srgbClr val="000099"/>
                </a:solidFill>
                <a:latin typeface="+mn-lt"/>
              </a:rPr>
              <a:t>               </a:t>
            </a:r>
            <a:endParaRPr lang="en-US" altLang="zh-CN" sz="1200" dirty="0">
              <a:solidFill>
                <a:srgbClr val="000099"/>
              </a:solidFill>
              <a:latin typeface="+mn-lt"/>
            </a:endParaRPr>
          </a:p>
          <a:p>
            <a:pPr algn="l" eaLnBrk="0" hangingPunct="0"/>
            <a:r>
              <a:rPr lang="en-US" altLang="zh-CN" sz="1200" dirty="0">
                <a:solidFill>
                  <a:srgbClr val="000099"/>
                </a:solidFill>
                <a:latin typeface="+mn-lt"/>
              </a:rPr>
              <a:t>       </a:t>
            </a:r>
            <a:endParaRPr lang="en-US" altLang="zh-CN" sz="1200" dirty="0">
              <a:solidFill>
                <a:schemeClr val="hlink"/>
              </a:solidFill>
              <a:latin typeface="+mn-lt"/>
            </a:endParaRPr>
          </a:p>
        </p:txBody>
      </p:sp>
      <p:sp>
        <p:nvSpPr>
          <p:cNvPr id="50" name="AutoShape 6"/>
          <p:cNvSpPr>
            <a:spLocks noChangeArrowheads="1"/>
          </p:cNvSpPr>
          <p:nvPr/>
        </p:nvSpPr>
        <p:spPr bwMode="auto">
          <a:xfrm>
            <a:off x="1997145" y="4022018"/>
            <a:ext cx="1746586" cy="612068"/>
          </a:xfrm>
          <a:prstGeom prst="flowChartDecision">
            <a:avLst/>
          </a:prstGeom>
          <a:noFill/>
          <a:ln w="3175">
            <a:solidFill>
              <a:srgbClr val="00008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latin typeface="+mn-lt"/>
            </a:endParaRPr>
          </a:p>
        </p:txBody>
      </p:sp>
      <p:sp>
        <p:nvSpPr>
          <p:cNvPr id="51" name="AutoShape 7"/>
          <p:cNvSpPr>
            <a:spLocks noChangeArrowheads="1"/>
          </p:cNvSpPr>
          <p:nvPr/>
        </p:nvSpPr>
        <p:spPr bwMode="auto">
          <a:xfrm>
            <a:off x="2387626" y="4897522"/>
            <a:ext cx="1047661" cy="408045"/>
          </a:xfrm>
          <a:prstGeom prst="flowChartProcess">
            <a:avLst/>
          </a:prstGeom>
          <a:noFill/>
          <a:ln w="12700" cap="sq">
            <a:solidFill>
              <a:srgbClr val="00008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latin typeface="+mn-lt"/>
            </a:endParaRPr>
          </a:p>
        </p:txBody>
      </p:sp>
      <p:sp>
        <p:nvSpPr>
          <p:cNvPr id="52" name="AutoShape 8"/>
          <p:cNvSpPr>
            <a:spLocks noChangeArrowheads="1"/>
          </p:cNvSpPr>
          <p:nvPr/>
        </p:nvSpPr>
        <p:spPr bwMode="auto">
          <a:xfrm>
            <a:off x="2397067" y="5797264"/>
            <a:ext cx="1047661" cy="408045"/>
          </a:xfrm>
          <a:prstGeom prst="flowChartProcess">
            <a:avLst/>
          </a:prstGeom>
          <a:noFill/>
          <a:ln w="12700" cap="sq">
            <a:solidFill>
              <a:srgbClr val="00008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latin typeface="+mn-lt"/>
            </a:endParaRPr>
          </a:p>
        </p:txBody>
      </p:sp>
      <p:sp>
        <p:nvSpPr>
          <p:cNvPr id="54" name="Line 10"/>
          <p:cNvSpPr>
            <a:spLocks noChangeShapeType="1"/>
          </p:cNvSpPr>
          <p:nvPr/>
        </p:nvSpPr>
        <p:spPr bwMode="auto">
          <a:xfrm>
            <a:off x="3089250" y="5534380"/>
            <a:ext cx="0" cy="272885"/>
          </a:xfrm>
          <a:prstGeom prst="line">
            <a:avLst/>
          </a:prstGeom>
          <a:noFill/>
          <a:ln w="19050" cap="sq">
            <a:solidFill>
              <a:srgbClr val="0000FF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000">
              <a:latin typeface="+mn-lt"/>
            </a:endParaRPr>
          </a:p>
        </p:txBody>
      </p:sp>
      <p:sp>
        <p:nvSpPr>
          <p:cNvPr id="56" name="Line 12"/>
          <p:cNvSpPr>
            <a:spLocks noChangeShapeType="1"/>
          </p:cNvSpPr>
          <p:nvPr/>
        </p:nvSpPr>
        <p:spPr bwMode="auto">
          <a:xfrm>
            <a:off x="3752625" y="4324279"/>
            <a:ext cx="418483" cy="0"/>
          </a:xfrm>
          <a:prstGeom prst="line">
            <a:avLst/>
          </a:prstGeom>
          <a:ln w="19050">
            <a:solidFill>
              <a:srgbClr val="0000FF"/>
            </a:solidFill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wrap="none" lIns="90000" tIns="46800" rIns="90000" bIns="46800" anchor="ctr"/>
          <a:lstStyle/>
          <a:p>
            <a:endParaRPr lang="zh-CN" altLang="en-US" sz="2000">
              <a:latin typeface="+mn-lt"/>
            </a:endParaRPr>
          </a:p>
        </p:txBody>
      </p:sp>
      <p:sp>
        <p:nvSpPr>
          <p:cNvPr id="58" name="Line 14"/>
          <p:cNvSpPr>
            <a:spLocks noChangeShapeType="1"/>
          </p:cNvSpPr>
          <p:nvPr/>
        </p:nvSpPr>
        <p:spPr bwMode="auto">
          <a:xfrm flipH="1">
            <a:off x="4172104" y="4324279"/>
            <a:ext cx="0" cy="1210101"/>
          </a:xfrm>
          <a:prstGeom prst="line">
            <a:avLst/>
          </a:prstGeom>
          <a:ln w="19050">
            <a:solidFill>
              <a:srgbClr val="0000FF"/>
            </a:solidFill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wrap="none" lIns="90000" tIns="46800" rIns="90000" bIns="46800" anchor="ctr"/>
          <a:lstStyle/>
          <a:p>
            <a:endParaRPr lang="zh-CN" altLang="en-US" sz="2000">
              <a:latin typeface="+mn-lt"/>
            </a:endParaRPr>
          </a:p>
        </p:txBody>
      </p:sp>
      <p:sp>
        <p:nvSpPr>
          <p:cNvPr id="59" name="Line 15"/>
          <p:cNvSpPr>
            <a:spLocks noChangeShapeType="1"/>
          </p:cNvSpPr>
          <p:nvPr/>
        </p:nvSpPr>
        <p:spPr bwMode="auto">
          <a:xfrm flipV="1">
            <a:off x="3094883" y="5532622"/>
            <a:ext cx="1074234" cy="0"/>
          </a:xfrm>
          <a:prstGeom prst="line">
            <a:avLst/>
          </a:prstGeom>
          <a:ln w="19050">
            <a:solidFill>
              <a:srgbClr val="0000FF">
                <a:alpha val="99000"/>
              </a:srgbClr>
            </a:solidFill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wrap="none" lIns="90000" tIns="46800" rIns="90000" bIns="46800" anchor="ctr"/>
          <a:lstStyle/>
          <a:p>
            <a:endParaRPr lang="zh-CN" altLang="en-US" sz="2000">
              <a:latin typeface="+mn-lt"/>
            </a:endParaRPr>
          </a:p>
        </p:txBody>
      </p:sp>
      <p:sp>
        <p:nvSpPr>
          <p:cNvPr id="60" name="Line 16"/>
          <p:cNvSpPr>
            <a:spLocks noChangeShapeType="1"/>
          </p:cNvSpPr>
          <p:nvPr/>
        </p:nvSpPr>
        <p:spPr bwMode="auto">
          <a:xfrm>
            <a:off x="2891433" y="6194186"/>
            <a:ext cx="0" cy="303420"/>
          </a:xfrm>
          <a:prstGeom prst="line">
            <a:avLst/>
          </a:prstGeom>
          <a:ln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wrap="none" lIns="90000" tIns="46800" rIns="90000" bIns="46800" anchor="ctr"/>
          <a:lstStyle/>
          <a:p>
            <a:endParaRPr lang="zh-CN" altLang="en-US" sz="2000">
              <a:latin typeface="+mn-lt"/>
            </a:endParaRPr>
          </a:p>
        </p:txBody>
      </p:sp>
      <p:sp>
        <p:nvSpPr>
          <p:cNvPr id="61" name="Line 17"/>
          <p:cNvSpPr>
            <a:spLocks noChangeShapeType="1"/>
          </p:cNvSpPr>
          <p:nvPr/>
        </p:nvSpPr>
        <p:spPr bwMode="auto">
          <a:xfrm>
            <a:off x="2872946" y="3682693"/>
            <a:ext cx="0" cy="339325"/>
          </a:xfrm>
          <a:prstGeom prst="line">
            <a:avLst/>
          </a:prstGeom>
          <a:ln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wrap="none" lIns="90000" tIns="46800" rIns="90000" bIns="46800" anchor="ctr"/>
          <a:lstStyle/>
          <a:p>
            <a:endParaRPr lang="zh-CN" altLang="en-US" sz="2000">
              <a:latin typeface="+mn-lt"/>
            </a:endParaRPr>
          </a:p>
        </p:txBody>
      </p:sp>
      <p:sp>
        <p:nvSpPr>
          <p:cNvPr id="62" name="Rectangle 18"/>
          <p:cNvSpPr>
            <a:spLocks noChangeArrowheads="1"/>
          </p:cNvSpPr>
          <p:nvPr/>
        </p:nvSpPr>
        <p:spPr bwMode="auto">
          <a:xfrm>
            <a:off x="2013609" y="4115172"/>
            <a:ext cx="1787272" cy="399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8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l" eaLnBrk="0" hangingPunct="0"/>
            <a:r>
              <a:rPr lang="en-US" altLang="zh-CN" sz="2000" dirty="0" err="1">
                <a:solidFill>
                  <a:srgbClr val="00B050"/>
                </a:solidFill>
                <a:latin typeface="+mn-lt"/>
              </a:rPr>
              <a:t>Jcc</a:t>
            </a:r>
            <a:r>
              <a:rPr lang="zh-CN" altLang="en-US" sz="2000" dirty="0">
                <a:solidFill>
                  <a:srgbClr val="00B050"/>
                </a:solidFill>
                <a:latin typeface="+mn-lt"/>
              </a:rPr>
              <a:t>条件满足？</a:t>
            </a:r>
            <a:endParaRPr lang="zh-CN" altLang="en-US" sz="2000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63" name="Rectangle 19"/>
          <p:cNvSpPr>
            <a:spLocks noChangeArrowheads="1"/>
          </p:cNvSpPr>
          <p:nvPr/>
        </p:nvSpPr>
        <p:spPr bwMode="auto">
          <a:xfrm>
            <a:off x="2267744" y="4903524"/>
            <a:ext cx="1210405" cy="399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8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000" dirty="0">
                <a:solidFill>
                  <a:schemeClr val="folHlink"/>
                </a:solidFill>
                <a:latin typeface="+mn-lt"/>
              </a:rPr>
              <a:t>  </a:t>
            </a:r>
            <a:r>
              <a:rPr lang="zh-CN" altLang="en-US" sz="2000" dirty="0">
                <a:solidFill>
                  <a:srgbClr val="00B050"/>
                </a:solidFill>
                <a:latin typeface="+mn-lt"/>
              </a:rPr>
              <a:t>分支体</a:t>
            </a:r>
            <a:r>
              <a:rPr lang="en-US" altLang="zh-CN" sz="2000" dirty="0">
                <a:solidFill>
                  <a:srgbClr val="00B050"/>
                </a:solidFill>
                <a:latin typeface="+mn-lt"/>
              </a:rPr>
              <a:t>1</a:t>
            </a:r>
            <a:endParaRPr lang="en-US" altLang="zh-CN" sz="2000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64" name="Rectangle 20"/>
          <p:cNvSpPr>
            <a:spLocks noChangeArrowheads="1"/>
          </p:cNvSpPr>
          <p:nvPr/>
        </p:nvSpPr>
        <p:spPr bwMode="auto">
          <a:xfrm>
            <a:off x="2267744" y="5805193"/>
            <a:ext cx="1210405" cy="399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8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000" dirty="0">
                <a:solidFill>
                  <a:schemeClr val="folHlink"/>
                </a:solidFill>
                <a:latin typeface="+mn-lt"/>
              </a:rPr>
              <a:t>  </a:t>
            </a:r>
            <a:r>
              <a:rPr lang="zh-CN" altLang="en-US" sz="2000" dirty="0">
                <a:solidFill>
                  <a:srgbClr val="00B050"/>
                </a:solidFill>
                <a:latin typeface="+mn-lt"/>
              </a:rPr>
              <a:t>分支体</a:t>
            </a:r>
            <a:r>
              <a:rPr lang="en-US" altLang="zh-CN" sz="2000" dirty="0">
                <a:solidFill>
                  <a:srgbClr val="00B050"/>
                </a:solidFill>
                <a:latin typeface="+mn-lt"/>
              </a:rPr>
              <a:t>2</a:t>
            </a:r>
            <a:endParaRPr lang="en-US" altLang="zh-CN" sz="2000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65" name="Rectangle 21"/>
          <p:cNvSpPr>
            <a:spLocks noChangeArrowheads="1"/>
          </p:cNvSpPr>
          <p:nvPr/>
        </p:nvSpPr>
        <p:spPr bwMode="auto">
          <a:xfrm>
            <a:off x="2536713" y="4516245"/>
            <a:ext cx="370532" cy="399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8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000" b="1" dirty="0">
                <a:solidFill>
                  <a:srgbClr val="FFC000"/>
                </a:solidFill>
                <a:latin typeface="+mn-lt"/>
              </a:rPr>
              <a:t>N</a:t>
            </a:r>
            <a:endParaRPr lang="en-US" altLang="zh-CN" sz="2000" b="1" dirty="0">
              <a:solidFill>
                <a:srgbClr val="FFC000"/>
              </a:solidFill>
              <a:latin typeface="+mn-lt"/>
            </a:endParaRPr>
          </a:p>
        </p:txBody>
      </p:sp>
      <p:sp>
        <p:nvSpPr>
          <p:cNvPr id="66" name="Rectangle 22"/>
          <p:cNvSpPr>
            <a:spLocks noChangeArrowheads="1"/>
          </p:cNvSpPr>
          <p:nvPr/>
        </p:nvSpPr>
        <p:spPr bwMode="auto">
          <a:xfrm>
            <a:off x="3779912" y="4005064"/>
            <a:ext cx="350189" cy="399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8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/>
            <a:r>
              <a:rPr lang="en-US" altLang="zh-CN" sz="2000" b="1" dirty="0">
                <a:solidFill>
                  <a:srgbClr val="FFC000"/>
                </a:solidFill>
                <a:latin typeface="+mn-lt"/>
              </a:rPr>
              <a:t>Y</a:t>
            </a:r>
            <a:endParaRPr lang="en-US" altLang="zh-CN" sz="2000" b="1" dirty="0">
              <a:solidFill>
                <a:srgbClr val="FFC000"/>
              </a:solidFill>
              <a:latin typeface="+mn-lt"/>
            </a:endParaRPr>
          </a:p>
        </p:txBody>
      </p:sp>
      <p:cxnSp>
        <p:nvCxnSpPr>
          <p:cNvPr id="96" name="连接符: 肘形 95"/>
          <p:cNvCxnSpPr/>
          <p:nvPr/>
        </p:nvCxnSpPr>
        <p:spPr bwMode="auto">
          <a:xfrm rot="5400000">
            <a:off x="2008244" y="5447129"/>
            <a:ext cx="998328" cy="726065"/>
          </a:xfrm>
          <a:prstGeom prst="bentConnector3">
            <a:avLst>
              <a:gd name="adj1" fmla="val 24393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5" name="直接箭头连接符 104"/>
          <p:cNvCxnSpPr/>
          <p:nvPr/>
        </p:nvCxnSpPr>
        <p:spPr bwMode="auto">
          <a:xfrm>
            <a:off x="2133560" y="6326232"/>
            <a:ext cx="749218" cy="0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sp>
        <p:nvSpPr>
          <p:cNvPr id="121" name="Rectangle 19"/>
          <p:cNvSpPr>
            <a:spLocks noChangeArrowheads="1"/>
          </p:cNvSpPr>
          <p:nvPr/>
        </p:nvSpPr>
        <p:spPr bwMode="auto">
          <a:xfrm>
            <a:off x="932272" y="5693752"/>
            <a:ext cx="129554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8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000" dirty="0">
                <a:solidFill>
                  <a:schemeClr val="folHlink"/>
                </a:solidFill>
                <a:latin typeface="+mn-lt"/>
              </a:rPr>
              <a:t> 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JMP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指令</a:t>
            </a:r>
            <a:endParaRPr lang="en-US" altLang="zh-CN" sz="2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4" name="Rectangle 19"/>
          <p:cNvSpPr>
            <a:spLocks noChangeArrowheads="1"/>
          </p:cNvSpPr>
          <p:nvPr/>
        </p:nvSpPr>
        <p:spPr bwMode="auto">
          <a:xfrm>
            <a:off x="3947898" y="4005064"/>
            <a:ext cx="129554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8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 eaLnBrk="0" hangingPunct="0"/>
            <a:r>
              <a:rPr lang="en-US" altLang="zh-CN" sz="2000" dirty="0">
                <a:solidFill>
                  <a:schemeClr val="folHlink"/>
                </a:solidFill>
                <a:latin typeface="+mn-lt"/>
              </a:rPr>
              <a:t>  </a:t>
            </a:r>
            <a:r>
              <a:rPr lang="en-US" altLang="zh-CN" sz="2000" dirty="0">
                <a:solidFill>
                  <a:srgbClr val="FF0000"/>
                </a:solidFill>
                <a:latin typeface="+mn-lt"/>
              </a:rPr>
              <a:t>JCC</a:t>
            </a:r>
            <a:r>
              <a:rPr lang="zh-CN" altLang="en-US" sz="2000" dirty="0">
                <a:solidFill>
                  <a:srgbClr val="FF0000"/>
                </a:solidFill>
                <a:latin typeface="+mn-lt"/>
              </a:rPr>
              <a:t>指令</a:t>
            </a:r>
            <a:endParaRPr lang="en-US" altLang="zh-CN" sz="20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2" name="Line 17"/>
          <p:cNvSpPr>
            <a:spLocks noChangeShapeType="1"/>
          </p:cNvSpPr>
          <p:nvPr/>
        </p:nvSpPr>
        <p:spPr bwMode="auto">
          <a:xfrm>
            <a:off x="2861386" y="4612314"/>
            <a:ext cx="0" cy="307082"/>
          </a:xfrm>
          <a:prstGeom prst="line">
            <a:avLst/>
          </a:prstGeom>
          <a:ln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wrap="none" lIns="90000" tIns="46800" rIns="90000" bIns="46800" anchor="ctr"/>
          <a:lstStyle/>
          <a:p>
            <a:endParaRPr lang="zh-CN" altLang="en-US" sz="2000">
              <a:latin typeface="+mn-l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4-11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显示数据最高位程序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-1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5843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3568" y="1772816"/>
            <a:ext cx="5760640" cy="4706994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数据段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 err="1">
                <a:latin typeface="+mn-lt"/>
              </a:rPr>
              <a:t>dvar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dword</a:t>
            </a:r>
            <a:r>
              <a:rPr lang="en-US" altLang="zh-CN" sz="2000" b="1" dirty="0">
                <a:latin typeface="+mn-lt"/>
              </a:rPr>
              <a:t> 0bd630422h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假设一个数据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代码段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ebx,dvar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shl</a:t>
            </a:r>
            <a:r>
              <a:rPr lang="en-US" altLang="zh-CN" sz="2000" b="1" dirty="0">
                <a:latin typeface="+mn-lt"/>
              </a:rPr>
              <a:t> ebx,1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EBX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最高位移入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CF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标志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jc</a:t>
            </a:r>
            <a:r>
              <a:rPr lang="en-US" altLang="zh-CN" sz="2000" b="1" dirty="0">
                <a:latin typeface="+mn-lt"/>
              </a:rPr>
              <a:t> one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       ; CF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，即最高位为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，转移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al,'0'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CF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，即最高位为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：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AL←'0'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jmp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 two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一定要跳过另一个分支</a:t>
            </a:r>
            <a:endParaRPr lang="zh-CN" altLang="en-US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latin typeface="+mn-lt"/>
              </a:rPr>
              <a:t>one:	mov al,'1'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AL←'1'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latin typeface="+mn-lt"/>
              </a:rPr>
              <a:t>two:	call </a:t>
            </a:r>
            <a:r>
              <a:rPr lang="en-US" altLang="zh-CN" sz="2000" b="1" dirty="0" err="1">
                <a:latin typeface="+mn-lt"/>
              </a:rPr>
              <a:t>dispc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 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611560" y="699042"/>
            <a:ext cx="7992888" cy="963666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例：将数据最高位显示出来，如最高位为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则显示字符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，最高位为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则显示字符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1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。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4208" y="2089423"/>
            <a:ext cx="2304256" cy="3888432"/>
          </a:xfrm>
          <a:prstGeom prst="rect">
            <a:avLst/>
          </a:prstGeom>
        </p:spPr>
      </p:pic>
      <p:sp>
        <p:nvSpPr>
          <p:cNvPr id="9" name="椭圆 8"/>
          <p:cNvSpPr/>
          <p:nvPr/>
        </p:nvSpPr>
        <p:spPr bwMode="auto">
          <a:xfrm>
            <a:off x="6300192" y="4077072"/>
            <a:ext cx="1204949" cy="504056"/>
          </a:xfrm>
          <a:prstGeom prst="ellipse">
            <a:avLst/>
          </a:prstGeom>
          <a:noFill/>
          <a:ln w="254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3600" b="0" i="0" u="none" strike="noStrike" cap="none" normalizeH="0" baseline="0">
              <a:ln>
                <a:noFill/>
              </a:ln>
              <a:solidFill>
                <a:srgbClr val="0000FF"/>
              </a:solidFill>
              <a:effectLst/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5245887" y="1158677"/>
            <a:ext cx="3457575" cy="1008062"/>
          </a:xfrm>
          <a:prstGeom prst="irregularSeal1">
            <a:avLst/>
          </a:prstGeom>
          <a:solidFill>
            <a:schemeClr val="accent5"/>
          </a:solidFill>
          <a:ln w="9525" cap="rnd">
            <a:solidFill>
              <a:schemeClr val="tx1"/>
            </a:solidFill>
            <a:prstDash val="sysDot"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2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3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双分支结构</a:t>
            </a:r>
            <a:endParaRPr lang="zh-CN" altLang="en-US" sz="24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4-11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显示数据最高位程序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-2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5843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827584" y="2397133"/>
            <a:ext cx="7704856" cy="3080908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代码段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ebx,dvar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al,'0'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假设最高位为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0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：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AL←'0'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shl</a:t>
            </a:r>
            <a:r>
              <a:rPr lang="en-US" altLang="zh-CN" sz="2000" b="1" dirty="0">
                <a:latin typeface="+mn-lt"/>
              </a:rPr>
              <a:t> ebx,1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EBX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最高位移入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CF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标志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jnc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 two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CF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，即最高位为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，转移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al,'1'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CF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，即最高位为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AL←'1'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latin typeface="+mn-lt"/>
              </a:rPr>
              <a:t>two:	call </a:t>
            </a:r>
            <a:r>
              <a:rPr lang="en-US" altLang="zh-CN" sz="2000" b="1" dirty="0" err="1">
                <a:latin typeface="+mn-lt"/>
              </a:rPr>
              <a:t>dispc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611560" y="699042"/>
            <a:ext cx="8208912" cy="1102776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latin typeface="+mn-lt"/>
              </a:rPr>
              <a:t>双分支结构有时可以改变为单分支结构</a:t>
            </a:r>
            <a:endParaRPr lang="zh-CN" altLang="en-US" sz="26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3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事先执行其中一个分支（选择出现概率较高的分支），当条件满足时</a:t>
            </a:r>
            <a:r>
              <a:rPr lang="zh-CN" altLang="en-US" sz="2400">
                <a:solidFill>
                  <a:schemeClr val="tx1"/>
                </a:solidFill>
                <a:latin typeface="+mn-lt"/>
              </a:rPr>
              <a:t>就不再需要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处理这个分支。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5043586" y="5190009"/>
            <a:ext cx="3457575" cy="1008062"/>
          </a:xfrm>
          <a:prstGeom prst="irregularSeal1">
            <a:avLst/>
          </a:prstGeom>
          <a:solidFill>
            <a:schemeClr val="accent5"/>
          </a:solidFill>
          <a:ln w="9525" cap="rnd">
            <a:solidFill>
              <a:schemeClr val="tx1"/>
            </a:solidFill>
            <a:prstDash val="sysDot"/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单分支结构</a:t>
            </a:r>
            <a:endParaRPr lang="zh-CN" altLang="en-US" sz="24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4-12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有符号数运算溢出程序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5843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3568" y="1617914"/>
            <a:ext cx="7920880" cy="5236883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数据段，假设两个数据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dvar1	</a:t>
            </a:r>
            <a:r>
              <a:rPr lang="en-US" altLang="zh-CN" sz="2000" b="1" dirty="0" err="1">
                <a:latin typeface="+mn-lt"/>
              </a:rPr>
              <a:t>dword</a:t>
            </a:r>
            <a:r>
              <a:rPr lang="en-US" altLang="zh-CN" sz="2000" b="1" dirty="0">
                <a:latin typeface="+mn-lt"/>
              </a:rPr>
              <a:t> 1234567890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dvar2	</a:t>
            </a:r>
            <a:r>
              <a:rPr lang="en-US" altLang="zh-CN" sz="2000" b="1" dirty="0" err="1">
                <a:latin typeface="+mn-lt"/>
              </a:rPr>
              <a:t>dword</a:t>
            </a:r>
            <a:r>
              <a:rPr lang="en-US" altLang="zh-CN" sz="2000" b="1" dirty="0">
                <a:latin typeface="+mn-lt"/>
              </a:rPr>
              <a:t> -999999999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dvar3	</a:t>
            </a:r>
            <a:r>
              <a:rPr lang="en-US" altLang="zh-CN" sz="2000" b="1" dirty="0" err="1">
                <a:latin typeface="+mn-lt"/>
              </a:rPr>
              <a:t>dword</a:t>
            </a:r>
            <a:r>
              <a:rPr lang="en-US" altLang="zh-CN" sz="2000" b="1" dirty="0">
                <a:latin typeface="+mn-lt"/>
              </a:rPr>
              <a:t> ?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 err="1">
                <a:latin typeface="+mn-lt"/>
              </a:rPr>
              <a:t>okmsg</a:t>
            </a:r>
            <a:r>
              <a:rPr lang="en-US" altLang="zh-CN" sz="2000" b="1" dirty="0">
                <a:latin typeface="+mn-lt"/>
              </a:rPr>
              <a:t>	byte 'Correct!’,0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正确信息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 err="1">
                <a:latin typeface="+mn-lt"/>
              </a:rPr>
              <a:t>errmsg</a:t>
            </a:r>
            <a:r>
              <a:rPr lang="en-US" altLang="zh-CN" sz="2000" b="1" dirty="0">
                <a:latin typeface="+mn-lt"/>
              </a:rPr>
              <a:t>	byte 'ERROR ! Overflow!',0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错误信息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代码段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eax,dvar1 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	sub eax,dvar2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求差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jo error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有溢出，转移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dvar3,eax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无溢出，保存差值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eax,offset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okmsg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显示正确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jmp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disp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error:	mov </a:t>
            </a:r>
            <a:r>
              <a:rPr lang="en-US" altLang="zh-CN" sz="2000" b="1" dirty="0" err="1">
                <a:latin typeface="+mn-lt"/>
              </a:rPr>
              <a:t>eax,offset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errmsg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显示错误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12000"/>
              </a:lnSpc>
              <a:spcBef>
                <a:spcPts val="0"/>
              </a:spcBef>
            </a:pPr>
            <a:r>
              <a:rPr lang="en-US" altLang="zh-CN" sz="2000" b="1" dirty="0" err="1">
                <a:latin typeface="+mn-lt"/>
              </a:rPr>
              <a:t>disp</a:t>
            </a:r>
            <a:r>
              <a:rPr lang="en-US" altLang="zh-CN" sz="2000" b="1" dirty="0">
                <a:latin typeface="+mn-lt"/>
              </a:rPr>
              <a:t>:	call </a:t>
            </a:r>
            <a:r>
              <a:rPr lang="en-US" altLang="zh-CN" sz="2000" b="1" dirty="0" err="1">
                <a:latin typeface="+mn-lt"/>
              </a:rPr>
              <a:t>dispmsg</a:t>
            </a:r>
            <a:r>
              <a:rPr lang="en-US" altLang="zh-CN" sz="2000" b="1" dirty="0">
                <a:latin typeface="+mn-lt"/>
              </a:rPr>
              <a:t> </a:t>
            </a:r>
            <a:endParaRPr lang="en-US" altLang="zh-CN" sz="2000" b="1" dirty="0">
              <a:latin typeface="+mn-lt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611560" y="664121"/>
            <a:ext cx="7992888" cy="963666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例：实现两个有符号数据相减，如果没有溢出，保存结果并显示正确信息；如果有溢出，则显示错误信息。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5396768" y="1604417"/>
            <a:ext cx="3168352" cy="1248519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12700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加减法指令要求程序员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l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利用</a:t>
            </a: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OF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和</a:t>
            </a: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CF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标志区别对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l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待有符号数和无符号数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785798"/>
            <a:ext cx="8136904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完整的循环程序结构由</a:t>
            </a:r>
            <a:r>
              <a:rPr lang="en-US" altLang="zh-CN" sz="2800" dirty="0">
                <a:latin typeface="+mn-lt"/>
              </a:rPr>
              <a:t>3</a:t>
            </a:r>
            <a:r>
              <a:rPr lang="zh-CN" altLang="en-US" sz="2800" dirty="0">
                <a:latin typeface="+mn-lt"/>
              </a:rPr>
              <a:t>个部分组成：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300" dirty="0">
                <a:solidFill>
                  <a:srgbClr val="00B050"/>
                </a:solidFill>
                <a:latin typeface="+mn-lt"/>
              </a:rPr>
              <a:t>循环初始：</a:t>
            </a:r>
            <a:r>
              <a:rPr lang="zh-CN" altLang="en-US" sz="2300" dirty="0">
                <a:solidFill>
                  <a:schemeClr val="tx1"/>
                </a:solidFill>
                <a:latin typeface="+mn-lt"/>
              </a:rPr>
              <a:t>为开始循环准备必要的条件，如循环次数、循环体需要的初始值等；</a:t>
            </a:r>
            <a:endParaRPr lang="zh-CN" altLang="en-US" sz="23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300" dirty="0">
                <a:solidFill>
                  <a:srgbClr val="00B050"/>
                </a:solidFill>
                <a:latin typeface="+mn-lt"/>
              </a:rPr>
              <a:t>循环体：</a:t>
            </a:r>
            <a:r>
              <a:rPr lang="zh-CN" altLang="en-US" sz="2300" dirty="0">
                <a:solidFill>
                  <a:schemeClr val="tx1"/>
                </a:solidFill>
                <a:latin typeface="+mn-lt"/>
              </a:rPr>
              <a:t>重复执行的程序代码，其中包括对循环条件的修改等；</a:t>
            </a:r>
            <a:endParaRPr lang="zh-CN" altLang="en-US" sz="23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300" dirty="0">
                <a:solidFill>
                  <a:srgbClr val="00B050"/>
                </a:solidFill>
                <a:latin typeface="+mn-lt"/>
              </a:rPr>
              <a:t>循环控制：</a:t>
            </a:r>
            <a:r>
              <a:rPr lang="zh-CN" altLang="en-US" sz="2300" dirty="0">
                <a:solidFill>
                  <a:schemeClr val="tx1"/>
                </a:solidFill>
                <a:latin typeface="+mn-lt"/>
              </a:rPr>
              <a:t>判断循环条件是否成立，决定是否继续循环</a:t>
            </a:r>
            <a:endParaRPr lang="en-US" altLang="zh-CN" sz="23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“先判断、后循环”的循环程序结构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对应高级语言的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while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语句</a:t>
            </a:r>
            <a:endParaRPr lang="zh-CN" altLang="en-US" sz="2400" dirty="0">
              <a:solidFill>
                <a:srgbClr val="FF0000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“先循环、后判断”的循环程序结构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对应高级语言的</a:t>
            </a:r>
            <a:r>
              <a:rPr lang="en-US" altLang="zh-CN" sz="2400" dirty="0" err="1">
                <a:solidFill>
                  <a:srgbClr val="FF0000"/>
                </a:solidFill>
                <a:latin typeface="+mn-lt"/>
              </a:rPr>
              <a:t>do~while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语句</a:t>
            </a:r>
            <a:endParaRPr lang="zh-CN" altLang="en-US" sz="24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0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1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40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4.3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循环程序结构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7647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循环程序结构的流程图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42844" y="69269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Picture 4" descr="fig04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838201"/>
            <a:ext cx="7856140" cy="4315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文本框 8"/>
          <p:cNvSpPr txBox="1"/>
          <p:nvPr/>
        </p:nvSpPr>
        <p:spPr>
          <a:xfrm>
            <a:off x="683568" y="4293096"/>
            <a:ext cx="2736304" cy="485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</a:pPr>
            <a:r>
              <a:rPr lang="en-US" altLang="zh-CN" sz="2200" dirty="0" err="1">
                <a:solidFill>
                  <a:srgbClr val="FF0000"/>
                </a:solidFill>
                <a:latin typeface="+mn-lt"/>
              </a:rPr>
              <a:t>do~while</a:t>
            </a:r>
            <a:r>
              <a:rPr lang="zh-CN" altLang="en-US" sz="2200" dirty="0">
                <a:solidFill>
                  <a:srgbClr val="FF0000"/>
                </a:solidFill>
                <a:latin typeface="+mn-lt"/>
              </a:rPr>
              <a:t>语句</a:t>
            </a:r>
            <a:endParaRPr lang="zh-CN" altLang="en-US" sz="22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292080" y="4293096"/>
            <a:ext cx="2736304" cy="485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</a:pPr>
            <a:r>
              <a:rPr lang="en-US" altLang="zh-CN" sz="2200" dirty="0">
                <a:solidFill>
                  <a:srgbClr val="FF0000"/>
                </a:solidFill>
                <a:latin typeface="+mn-lt"/>
              </a:rPr>
              <a:t>while</a:t>
            </a:r>
            <a:r>
              <a:rPr lang="zh-CN" altLang="en-US" sz="2200" dirty="0">
                <a:solidFill>
                  <a:srgbClr val="FF0000"/>
                </a:solidFill>
                <a:latin typeface="+mn-lt"/>
              </a:rPr>
              <a:t>语句</a:t>
            </a:r>
            <a:endParaRPr lang="zh-CN" altLang="en-US" sz="22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755576" y="5373216"/>
            <a:ext cx="7712124" cy="936104"/>
          </a:xfrm>
          <a:prstGeom prst="rect">
            <a:avLst/>
          </a:prstGeom>
          <a:solidFill>
            <a:srgbClr val="336600"/>
          </a:solidFill>
          <a:ln w="9525">
            <a:solidFill>
              <a:srgbClr val="FF006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思考：</a:t>
            </a:r>
            <a:endParaRPr lang="zh-CN" altLang="en-US" sz="24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两种循环结构的区别是什么？</a:t>
            </a:r>
            <a:endParaRPr lang="en-US" altLang="zh-CN" sz="2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2368216" y="3822764"/>
            <a:ext cx="250745" cy="382183"/>
          </a:xfrm>
          <a:prstGeom prst="rect">
            <a:avLst/>
          </a:prstGeom>
          <a:solidFill>
            <a:schemeClr val="bg1"/>
          </a:solidFill>
          <a:ln w="19050">
            <a:noFill/>
            <a:prstDash val="dash"/>
            <a:miter lim="800000"/>
          </a:ln>
          <a:effectLst/>
        </p:spPr>
        <p:txBody>
          <a:bodyPr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tabLst>
                <a:tab pos="2514600" algn="l"/>
              </a:tabLst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83058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2"/>
              </a:buBlip>
              <a:tabLst>
                <a:tab pos="2514600" algn="l"/>
              </a:tabLst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23825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3"/>
              </a:buBlip>
              <a:tabLst>
                <a:tab pos="2514600" algn="l"/>
              </a:tabLst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46555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b="0" dirty="0">
                <a:latin typeface="+mj-lt"/>
              </a:rPr>
              <a:t>N</a:t>
            </a:r>
            <a:endParaRPr lang="zh-CN" altLang="en-US" sz="2000" b="0" dirty="0">
              <a:latin typeface="+mj-lt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827584" y="2822996"/>
            <a:ext cx="250745" cy="382183"/>
          </a:xfrm>
          <a:prstGeom prst="rect">
            <a:avLst/>
          </a:prstGeom>
          <a:solidFill>
            <a:schemeClr val="bg1"/>
          </a:solidFill>
          <a:ln w="19050">
            <a:noFill/>
            <a:prstDash val="dash"/>
            <a:miter lim="800000"/>
          </a:ln>
          <a:effectLst/>
        </p:spPr>
        <p:txBody>
          <a:bodyPr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tabLst>
                <a:tab pos="2514600" algn="l"/>
              </a:tabLst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83058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2"/>
              </a:buBlip>
              <a:tabLst>
                <a:tab pos="2514600" algn="l"/>
              </a:tabLst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23825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3"/>
              </a:buBlip>
              <a:tabLst>
                <a:tab pos="2514600" algn="l"/>
              </a:tabLst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46555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b="0" dirty="0">
                <a:latin typeface="+mj-lt"/>
              </a:rPr>
              <a:t>Y</a:t>
            </a:r>
            <a:endParaRPr lang="zh-CN" altLang="en-US" sz="2000" b="0" dirty="0">
              <a:latin typeface="+mj-lt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768523"/>
            <a:ext cx="8208912" cy="5540797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600" dirty="0">
                <a:latin typeface="+mn-lt"/>
              </a:rPr>
              <a:t>LOOP</a:t>
            </a:r>
            <a:r>
              <a:rPr lang="zh-CN" altLang="en-US" sz="2600" dirty="0">
                <a:latin typeface="+mn-lt"/>
              </a:rPr>
              <a:t>循环指令使用</a:t>
            </a:r>
            <a:r>
              <a:rPr lang="en-US" altLang="zh-CN" sz="2600" dirty="0">
                <a:latin typeface="+mn-lt"/>
              </a:rPr>
              <a:t>ECX</a:t>
            </a:r>
            <a:r>
              <a:rPr lang="zh-CN" altLang="en-US" sz="2600" dirty="0">
                <a:latin typeface="+mn-lt"/>
              </a:rPr>
              <a:t>作为计数器，每执行一次</a:t>
            </a:r>
            <a:r>
              <a:rPr lang="en-US" altLang="zh-CN" sz="2600" dirty="0">
                <a:latin typeface="+mn-lt"/>
              </a:rPr>
              <a:t>LOOP</a:t>
            </a:r>
            <a:r>
              <a:rPr lang="zh-CN" altLang="en-US" sz="2600" dirty="0">
                <a:latin typeface="+mn-lt"/>
              </a:rPr>
              <a:t>指令，</a:t>
            </a:r>
            <a:r>
              <a:rPr lang="en-US" altLang="zh-CN" sz="2600" dirty="0">
                <a:latin typeface="+mn-lt"/>
              </a:rPr>
              <a:t>ECX</a:t>
            </a:r>
            <a:r>
              <a:rPr lang="zh-CN" altLang="en-US" sz="2600" dirty="0">
                <a:latin typeface="+mn-lt"/>
              </a:rPr>
              <a:t>减</a:t>
            </a:r>
            <a:r>
              <a:rPr lang="en-US" altLang="zh-CN" sz="2600" dirty="0">
                <a:latin typeface="+mn-lt"/>
              </a:rPr>
              <a:t>1</a:t>
            </a:r>
            <a:r>
              <a:rPr lang="zh-CN" altLang="en-US" sz="2600" dirty="0">
                <a:latin typeface="+mn-lt"/>
              </a:rPr>
              <a:t>，然后判断</a:t>
            </a:r>
            <a:r>
              <a:rPr lang="en-US" altLang="zh-CN" sz="2600" dirty="0">
                <a:latin typeface="+mn-lt"/>
              </a:rPr>
              <a:t>ECX</a:t>
            </a:r>
            <a:r>
              <a:rPr lang="zh-CN" altLang="en-US" sz="2600" dirty="0">
                <a:latin typeface="+mn-lt"/>
              </a:rPr>
              <a:t>是否为</a:t>
            </a:r>
            <a:r>
              <a:rPr lang="en-US" altLang="zh-CN" sz="2600" dirty="0">
                <a:latin typeface="+mn-lt"/>
              </a:rPr>
              <a:t>0</a:t>
            </a:r>
            <a:endParaRPr lang="zh-CN" altLang="en-US" sz="26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如果不为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，表示循环没有结束，转移到给定标号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如果为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，表示循环结束，则顺序执行下一条指令</a:t>
            </a:r>
            <a:endParaRPr lang="en-US" altLang="zh-CN" sz="28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32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32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目标地址采用相对短转移</a:t>
            </a:r>
            <a:endParaRPr lang="zh-CN" altLang="en-US" sz="26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实地址存储模型使用</a:t>
            </a:r>
            <a:r>
              <a:rPr lang="en-US" altLang="zh-CN" sz="2600" dirty="0">
                <a:solidFill>
                  <a:schemeClr val="tx1"/>
                </a:solidFill>
                <a:latin typeface="+mn-lt"/>
              </a:rPr>
              <a:t>CX</a:t>
            </a: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作为计数器</a:t>
            </a:r>
            <a:endParaRPr lang="zh-CN" altLang="en-US" sz="26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zh-CN" sz="2600" dirty="0">
                <a:solidFill>
                  <a:schemeClr val="tx1"/>
                </a:solidFill>
                <a:latin typeface="+mn-lt"/>
              </a:rPr>
              <a:t>LOOPE/LOOPZ</a:t>
            </a: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和</a:t>
            </a:r>
            <a:r>
              <a:rPr lang="en-US" altLang="zh-CN" sz="2600" dirty="0">
                <a:solidFill>
                  <a:schemeClr val="tx1"/>
                </a:solidFill>
                <a:latin typeface="+mn-lt"/>
              </a:rPr>
              <a:t>LOOPNE/LOOPNZ (</a:t>
            </a:r>
            <a:r>
              <a:rPr lang="zh-CN" altLang="en-US" sz="2600" dirty="0">
                <a:solidFill>
                  <a:schemeClr val="tx1"/>
                </a:solidFill>
                <a:latin typeface="+mn-lt"/>
              </a:rPr>
              <a:t>增加检测</a:t>
            </a:r>
            <a:r>
              <a:rPr lang="en-US" altLang="zh-CN" sz="2600" dirty="0">
                <a:solidFill>
                  <a:schemeClr val="tx1"/>
                </a:solidFill>
                <a:latin typeface="+mn-lt"/>
              </a:rPr>
              <a:t>ZF)</a:t>
            </a:r>
            <a:endParaRPr lang="zh-CN" altLang="en-US" sz="2600" dirty="0">
              <a:solidFill>
                <a:schemeClr val="tx1"/>
              </a:solidFill>
              <a:latin typeface="+mn-lt"/>
            </a:endParaRPr>
          </a:p>
          <a:p>
            <a:pPr lvl="1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</a:pPr>
            <a:endParaRPr lang="zh-CN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4.3.1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循环指令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26604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043608" y="2852935"/>
            <a:ext cx="4968552" cy="1584177"/>
          </a:xfrm>
          <a:prstGeom prst="rect">
            <a:avLst/>
          </a:prstGeom>
          <a:solidFill>
            <a:srgbClr val="DDEEFF"/>
          </a:solidFill>
          <a:ln w="9525">
            <a:noFill/>
            <a:miter lim="800000"/>
          </a:ln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None/>
              <a:defRPr/>
            </a:pPr>
            <a:r>
              <a:rPr lang="en-US" altLang="zh-CN" sz="22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     </a:t>
            </a:r>
            <a:r>
              <a:rPr lang="en-US" altLang="zh-CN" sz="2400" dirty="0">
                <a:solidFill>
                  <a:srgbClr val="FF0000"/>
                </a:solidFill>
                <a:latin typeface="+mj-lt"/>
                <a:ea typeface="黑体" panose="02010609060101010101" pitchFamily="49" charset="-122"/>
              </a:rPr>
              <a:t>LOOP label</a:t>
            </a:r>
            <a:endParaRPr lang="en-US" altLang="zh-CN" sz="2400" dirty="0">
              <a:solidFill>
                <a:srgbClr val="FF0000"/>
              </a:solidFill>
              <a:latin typeface="+mj-lt"/>
              <a:ea typeface="黑体" panose="02010609060101010101" pitchFamily="49" charset="-122"/>
            </a:endParaRPr>
          </a:p>
          <a:p>
            <a:pPr marL="0" indent="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None/>
              <a:defRPr/>
            </a:pPr>
            <a:r>
              <a:rPr lang="en-US" altLang="zh-CN" sz="20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; ECX←ECX-1</a:t>
            </a:r>
            <a:r>
              <a:rPr lang="zh-CN" altLang="en-US" sz="20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；</a:t>
            </a:r>
            <a:endParaRPr lang="en-US" altLang="zh-CN" sz="2000" b="1" dirty="0">
              <a:solidFill>
                <a:srgbClr val="00B050"/>
              </a:solidFill>
              <a:latin typeface="+mj-lt"/>
              <a:ea typeface="黑体" panose="02010609060101010101" pitchFamily="49" charset="-122"/>
            </a:endParaRPr>
          </a:p>
          <a:p>
            <a:pPr marL="0" indent="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None/>
              <a:defRPr/>
            </a:pPr>
            <a:r>
              <a:rPr lang="en-US" altLang="zh-CN" sz="20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若</a:t>
            </a:r>
            <a:r>
              <a:rPr lang="en-US" altLang="zh-CN" sz="20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ECX≠0</a:t>
            </a:r>
            <a:r>
              <a:rPr lang="zh-CN" altLang="en-US" sz="20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，循环到</a:t>
            </a:r>
            <a:r>
              <a:rPr lang="en-US" altLang="zh-CN" sz="20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label; </a:t>
            </a:r>
            <a:r>
              <a:rPr lang="zh-CN" altLang="en-US" sz="2000" b="1" dirty="0">
                <a:solidFill>
                  <a:srgbClr val="00B050"/>
                </a:solidFill>
                <a:latin typeface="+mj-lt"/>
                <a:ea typeface="黑体" panose="02010609060101010101" pitchFamily="49" charset="-122"/>
              </a:rPr>
              <a:t>否则顺序执行</a:t>
            </a:r>
            <a:endParaRPr lang="zh-CN" altLang="en-US" sz="2000" b="1" dirty="0">
              <a:solidFill>
                <a:srgbClr val="00B050"/>
              </a:solidFill>
              <a:latin typeface="+mj-lt"/>
              <a:ea typeface="黑体" panose="02010609060101010101" pitchFamily="49" charset="-122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283695" y="2852935"/>
            <a:ext cx="1728465" cy="790575"/>
          </a:xfrm>
          <a:prstGeom prst="rect">
            <a:avLst/>
          </a:prstGeom>
          <a:noFill/>
          <a:ln w="19050">
            <a:solidFill>
              <a:srgbClr val="0000FF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tabLst>
                <a:tab pos="2514600" algn="l"/>
              </a:tabLst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83058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tabLst>
                <a:tab pos="2514600" algn="l"/>
              </a:tabLst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23825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tabLst>
                <a:tab pos="2514600" algn="l"/>
              </a:tabLst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46555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b="0" dirty="0">
                <a:solidFill>
                  <a:srgbClr val="FF0000"/>
                </a:solidFill>
                <a:latin typeface="+mj-lt"/>
              </a:rPr>
              <a:t>dec </a:t>
            </a:r>
            <a:r>
              <a:rPr lang="en-US" altLang="zh-CN" sz="2400" b="0" dirty="0" err="1">
                <a:solidFill>
                  <a:srgbClr val="FF0000"/>
                </a:solidFill>
                <a:latin typeface="+mj-lt"/>
              </a:rPr>
              <a:t>ecx</a:t>
            </a:r>
            <a:endParaRPr lang="en-US" altLang="zh-CN" sz="2400" b="0" dirty="0">
              <a:solidFill>
                <a:srgbClr val="FF0000"/>
              </a:solidFill>
              <a:latin typeface="+mj-lt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b="0" dirty="0" err="1">
                <a:solidFill>
                  <a:srgbClr val="FF0000"/>
                </a:solidFill>
                <a:latin typeface="+mj-lt"/>
              </a:rPr>
              <a:t>jnz</a:t>
            </a:r>
            <a:r>
              <a:rPr lang="en-US" altLang="zh-CN" sz="2400" b="0" dirty="0">
                <a:solidFill>
                  <a:srgbClr val="FF0000"/>
                </a:solidFill>
                <a:latin typeface="+mj-lt"/>
              </a:rPr>
              <a:t> label</a:t>
            </a:r>
            <a:endParaRPr lang="zh-CN" altLang="en-US" sz="2400" b="0" dirty="0">
              <a:solidFill>
                <a:srgbClr val="FF0000"/>
              </a:solidFill>
              <a:latin typeface="+mj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2193" y="2780928"/>
            <a:ext cx="2300435" cy="2304257"/>
          </a:xfrm>
          <a:prstGeom prst="rect">
            <a:avLst/>
          </a:prstGeom>
        </p:spPr>
      </p:pic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6212193" y="4559356"/>
            <a:ext cx="250745" cy="382183"/>
          </a:xfrm>
          <a:prstGeom prst="rect">
            <a:avLst/>
          </a:prstGeom>
          <a:solidFill>
            <a:schemeClr val="bg1"/>
          </a:solidFill>
          <a:ln w="19050">
            <a:noFill/>
            <a:prstDash val="dash"/>
            <a:miter lim="800000"/>
          </a:ln>
          <a:effectLst/>
        </p:spPr>
        <p:txBody>
          <a:bodyPr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tabLst>
                <a:tab pos="2514600" algn="l"/>
              </a:tabLst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83058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tabLst>
                <a:tab pos="2514600" algn="l"/>
              </a:tabLst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23825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tabLst>
                <a:tab pos="2514600" algn="l"/>
              </a:tabLst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46555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+mj-lt"/>
              </a:rPr>
              <a:t>N</a:t>
            </a:r>
            <a:endParaRPr lang="zh-CN" altLang="en-US" sz="2000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7107795" y="4736030"/>
            <a:ext cx="250745" cy="382183"/>
          </a:xfrm>
          <a:prstGeom prst="rect">
            <a:avLst/>
          </a:prstGeom>
          <a:solidFill>
            <a:schemeClr val="bg1"/>
          </a:solidFill>
          <a:ln w="19050">
            <a:noFill/>
            <a:prstDash val="dash"/>
            <a:miter lim="800000"/>
          </a:ln>
          <a:effectLst/>
        </p:spPr>
        <p:txBody>
          <a:bodyPr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tabLst>
                <a:tab pos="2514600" algn="l"/>
              </a:tabLst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83058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tabLst>
                <a:tab pos="2514600" algn="l"/>
              </a:tabLst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23825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tabLst>
                <a:tab pos="2514600" algn="l"/>
              </a:tabLst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46555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0000FF"/>
                </a:solidFill>
                <a:latin typeface="+mj-lt"/>
              </a:rPr>
              <a:t>Y</a:t>
            </a:r>
            <a:endParaRPr lang="zh-CN" altLang="en-US" sz="2000" dirty="0">
              <a:solidFill>
                <a:srgbClr val="0000FF"/>
              </a:solidFill>
              <a:latin typeface="+mj-lt"/>
            </a:endParaRPr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38888" y="1340768"/>
            <a:ext cx="8136904" cy="1949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在 </a:t>
            </a:r>
            <a:r>
              <a:rPr lang="en-US" altLang="zh-CN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LOOP Label </a:t>
            </a:r>
            <a:r>
              <a:rPr lang="zh-CN" altLang="en-US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指令构成的循环中，若</a:t>
            </a:r>
            <a:r>
              <a:rPr lang="en-US" altLang="zh-CN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ECX</a:t>
            </a:r>
            <a:r>
              <a:rPr lang="zh-CN" altLang="en-US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的初值为 </a:t>
            </a:r>
            <a:r>
              <a:rPr lang="en-US" altLang="zh-CN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0</a:t>
            </a:r>
            <a:r>
              <a:rPr lang="zh-CN" altLang="en-US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，则循环体将被执行</a:t>
            </a:r>
            <a:r>
              <a:rPr lang="en-US" altLang="zh-CN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______</a:t>
            </a:r>
            <a:r>
              <a:rPr lang="zh-CN" altLang="en-US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次；若</a:t>
            </a:r>
            <a:r>
              <a:rPr lang="en-US" altLang="zh-CN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ECX</a:t>
            </a:r>
            <a:r>
              <a:rPr lang="zh-CN" altLang="en-US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的初值为</a:t>
            </a:r>
            <a:r>
              <a:rPr lang="en-US" altLang="zh-CN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-10</a:t>
            </a:r>
            <a:r>
              <a:rPr lang="zh-CN" altLang="en-US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，则循环体将被执行</a:t>
            </a:r>
            <a:r>
              <a:rPr lang="en-US" altLang="zh-CN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_________</a:t>
            </a:r>
            <a:r>
              <a:rPr lang="zh-CN" altLang="en-US" sz="2800" dirty="0">
                <a:solidFill>
                  <a:srgbClr val="000000"/>
                </a:solidFill>
                <a:latin typeface="+mj-lt"/>
                <a:sym typeface="微软雅黑" panose="020B0503020204020204" charset="-122"/>
              </a:rPr>
              <a:t>次。</a:t>
            </a:r>
            <a:endParaRPr lang="zh-CN" altLang="en-US" sz="2800" dirty="0">
              <a:solidFill>
                <a:srgbClr val="000000"/>
              </a:solidFill>
              <a:latin typeface="+mj-lt"/>
              <a:sym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0" name="TitleBackground"/>
            <p:cNvSpPr/>
            <p:nvPr>
              <p:custDataLst>
                <p:tags r:id="rId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1" name="ColorBlock"/>
            <p:cNvSpPr/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36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2" name="TypeText"/>
            <p:cNvSpPr txBox="1"/>
            <p:nvPr>
              <p:custDataLst>
                <p:tags r:id="rId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4788024" y="1988840"/>
            <a:ext cx="648072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+mj-lt"/>
                <a:sym typeface="微软雅黑" panose="020B0503020204020204" charset="-122"/>
              </a:rPr>
              <a:t>2</a:t>
            </a:r>
            <a:r>
              <a:rPr lang="en-US" altLang="zh-CN" sz="2800" b="1" baseline="30000" dirty="0">
                <a:solidFill>
                  <a:srgbClr val="FF0000"/>
                </a:solidFill>
                <a:latin typeface="+mj-lt"/>
                <a:sym typeface="微软雅黑" panose="020B0503020204020204" charset="-122"/>
              </a:rPr>
              <a:t>32</a:t>
            </a:r>
            <a:endParaRPr lang="zh-CN" altLang="en-US" sz="2800" b="1" baseline="30000" dirty="0">
              <a:solidFill>
                <a:srgbClr val="FF0000"/>
              </a:solidFill>
              <a:latin typeface="+mj-lt"/>
              <a:sym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932040" y="2627699"/>
            <a:ext cx="1224136" cy="66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+mj-lt"/>
                <a:sym typeface="微软雅黑" panose="020B0503020204020204" charset="-122"/>
              </a:rPr>
              <a:t>2</a:t>
            </a:r>
            <a:r>
              <a:rPr lang="en-US" altLang="zh-CN" sz="2800" b="1" baseline="30000" dirty="0">
                <a:solidFill>
                  <a:srgbClr val="FF0000"/>
                </a:solidFill>
                <a:latin typeface="+mj-lt"/>
                <a:sym typeface="微软雅黑" panose="020B0503020204020204" charset="-122"/>
              </a:rPr>
              <a:t>32</a:t>
            </a:r>
            <a:r>
              <a:rPr lang="en-US" altLang="zh-CN" sz="2800" b="1" dirty="0">
                <a:solidFill>
                  <a:srgbClr val="FF0000"/>
                </a:solidFill>
                <a:latin typeface="+mj-lt"/>
                <a:sym typeface="微软雅黑" panose="020B0503020204020204" charset="-122"/>
              </a:rPr>
              <a:t>-10</a:t>
            </a:r>
            <a:endParaRPr lang="zh-CN" altLang="en-US" sz="2800" b="1" dirty="0">
              <a:solidFill>
                <a:srgbClr val="FF0000"/>
              </a:solidFill>
              <a:latin typeface="+mj-lt"/>
              <a:sym typeface="微软雅黑" panose="020B0503020204020204" charset="-122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683568" y="4221088"/>
            <a:ext cx="7848871" cy="936104"/>
          </a:xfrm>
          <a:prstGeom prst="rect">
            <a:avLst/>
          </a:prstGeom>
          <a:solidFill>
            <a:srgbClr val="336600"/>
          </a:solidFill>
          <a:ln w="9525">
            <a:solidFill>
              <a:srgbClr val="FF006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>
              <a:buNone/>
            </a:pP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思考：</a:t>
            </a:r>
            <a:endParaRPr lang="zh-CN" altLang="en-US" sz="2400" dirty="0">
              <a:solidFill>
                <a:srgbClr val="FFFF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>
              <a:buFontTx/>
              <a:buNone/>
            </a:pPr>
            <a:r>
              <a:rPr lang="zh-CN" altLang="en-US" sz="24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如何安全地处理循环计数为</a:t>
            </a:r>
            <a:r>
              <a:rPr lang="en-US" altLang="zh-CN" sz="24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400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的边缘情况？</a:t>
            </a:r>
            <a:endParaRPr lang="en-US" altLang="zh-CN" sz="2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4.3.1 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循环指令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93279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文本占位符 106498"/>
          <p:cNvSpPr>
            <a:spLocks noGrp="1"/>
          </p:cNvSpPr>
          <p:nvPr/>
        </p:nvSpPr>
        <p:spPr>
          <a:xfrm>
            <a:off x="538224" y="861590"/>
            <a:ext cx="7778192" cy="55197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50000"/>
              <a:buChar char="•"/>
              <a:defRPr sz="32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800" b="1" i="0" u="none" kern="1200" baseline="0">
                <a:solidFill>
                  <a:srgbClr val="663300"/>
                </a:solidFill>
                <a:latin typeface="+mn-lt"/>
                <a:ea typeface="+mn-ea"/>
                <a:cs typeface="+mn-cs"/>
              </a:defRPr>
            </a:lvl2pPr>
            <a:lvl3pPr marL="1143000" lvl="2" indent="-228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n"/>
              <a:defRPr sz="2400" b="1" i="0" u="none" kern="1200" baseline="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3pPr>
            <a:lvl4pPr marL="1600200" lvl="3" indent="-2286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lvl="4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 b="0" i="0" u="none" kern="1200" baseline="0">
                <a:solidFill>
                  <a:schemeClr val="tx1"/>
                </a:solidFill>
                <a:latin typeface="Verdana" panose="020B0604030504040204" pitchFamily="34" charset="0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altLang="zh-CN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	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LOOP label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;ECX←ECX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－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；若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ECX≠0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，循环到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LABEL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;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否则，顺序执行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None/>
            </a:pP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>
              <a:buNone/>
            </a:pP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	</a:t>
            </a:r>
            <a:r>
              <a:rPr lang="en-US" altLang="zh-CN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JECXZ label</a:t>
            </a:r>
            <a:endParaRPr lang="en-US" altLang="zh-CN" dirty="0">
              <a:solidFill>
                <a:schemeClr val="tx2"/>
              </a:solidFill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lvl="1">
              <a:buNone/>
            </a:pP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;ECX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＝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rPr>
              <a:t>，转移；否则顺序执行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黑体" panose="02010609060101010101" pitchFamily="49" charset="-122"/>
            </a:endParaRPr>
          </a:p>
          <a:p>
            <a:pPr marL="457200" indent="-457200" algn="just" eaLnBrk="0" hangingPunct="0">
              <a:lnSpc>
                <a:spcPct val="13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800" b="0" dirty="0">
                <a:latin typeface="Times New Roman" panose="02020603050405020304" pitchFamily="18" charset="0"/>
                <a:ea typeface="黑体" panose="02010609060101010101" pitchFamily="49" charset="-122"/>
              </a:rPr>
              <a:t>目标地址采用相对短转移</a:t>
            </a:r>
            <a:endParaRPr lang="zh-CN" altLang="en-US" sz="2800" b="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marL="457200" indent="-457200" algn="just" eaLnBrk="0" hangingPunct="0">
              <a:lnSpc>
                <a:spcPct val="13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800" b="0" dirty="0">
                <a:latin typeface="Times New Roman" panose="02020603050405020304" pitchFamily="18" charset="0"/>
                <a:ea typeface="黑体" panose="02010609060101010101" pitchFamily="49" charset="-122"/>
              </a:rPr>
              <a:t>实地址存储模型使用CX作为计数器</a:t>
            </a:r>
            <a:endParaRPr lang="zh-CN" altLang="en-US" sz="2800" b="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203848" y="1124744"/>
            <a:ext cx="5562601" cy="1887538"/>
            <a:chOff x="2064" y="672"/>
            <a:chExt cx="3504" cy="1189"/>
          </a:xfrm>
        </p:grpSpPr>
        <p:sp>
          <p:nvSpPr>
            <p:cNvPr id="15" name="矩形 14"/>
            <p:cNvSpPr/>
            <p:nvPr/>
          </p:nvSpPr>
          <p:spPr>
            <a:xfrm>
              <a:off x="4389" y="1180"/>
              <a:ext cx="1179" cy="68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8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 algn="just" defTabSz="914400">
                <a:spcBef>
                  <a:spcPct val="10000"/>
                </a:spcBef>
                <a:buClr>
                  <a:schemeClr val="accent1"/>
                </a:buClr>
                <a:buSzPct val="150000"/>
                <a:tabLst>
                  <a:tab pos="2514600" algn="l"/>
                </a:tabLst>
              </a:pPr>
              <a:r>
                <a:rPr lang="en-US" altLang="zh-CN" sz="2800" b="1">
                  <a:solidFill>
                    <a:srgbClr val="660066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DEC ECX</a:t>
              </a:r>
              <a:endParaRPr lang="en-US" altLang="zh-CN" sz="2800" b="1">
                <a:solidFill>
                  <a:srgbClr val="660066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just" defTabSz="914400">
                <a:spcBef>
                  <a:spcPct val="10000"/>
                </a:spcBef>
                <a:buClr>
                  <a:schemeClr val="accent1"/>
                </a:buClr>
                <a:buSzPct val="150000"/>
                <a:tabLst>
                  <a:tab pos="2514600" algn="l"/>
                </a:tabLst>
              </a:pPr>
              <a:r>
                <a:rPr lang="en-US" altLang="zh-CN" sz="2800" b="1">
                  <a:solidFill>
                    <a:srgbClr val="660066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JNZ label</a:t>
              </a:r>
              <a:endParaRPr lang="zh-CN" altLang="en-US" sz="2800" b="1" dirty="0">
                <a:solidFill>
                  <a:srgbClr val="660066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6" name="任意多边形 15"/>
            <p:cNvSpPr/>
            <p:nvPr/>
          </p:nvSpPr>
          <p:spPr>
            <a:xfrm flipH="1">
              <a:off x="2064" y="672"/>
              <a:ext cx="3084" cy="498"/>
            </a:xfrm>
            <a:custGeom>
              <a:avLst/>
              <a:gdLst/>
              <a:ahLst/>
              <a:cxnLst/>
              <a:rect l="0" t="0" r="0" b="0"/>
              <a:pathLst>
                <a:path w="1769" h="816">
                  <a:moveTo>
                    <a:pt x="1769" y="0"/>
                  </a:moveTo>
                  <a:lnTo>
                    <a:pt x="0" y="0"/>
                  </a:lnTo>
                  <a:lnTo>
                    <a:pt x="0" y="816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8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endParaRPr lang="zh-CN" altLang="en-US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3341962" y="3313907"/>
            <a:ext cx="5424488" cy="1066800"/>
            <a:chOff x="2151" y="2016"/>
            <a:chExt cx="3417" cy="672"/>
          </a:xfrm>
        </p:grpSpPr>
        <p:sp>
          <p:nvSpPr>
            <p:cNvPr id="13" name="矩形 12"/>
            <p:cNvSpPr/>
            <p:nvPr/>
          </p:nvSpPr>
          <p:spPr>
            <a:xfrm>
              <a:off x="4368" y="2016"/>
              <a:ext cx="1200" cy="6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8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 algn="just" defTabSz="914400">
                <a:spcBef>
                  <a:spcPct val="10000"/>
                </a:spcBef>
                <a:buClr>
                  <a:schemeClr val="accent1"/>
                </a:buClr>
                <a:buSzPct val="150000"/>
                <a:tabLst>
                  <a:tab pos="2514600" algn="l"/>
                </a:tabLst>
              </a:pPr>
              <a:r>
                <a:rPr lang="en-US" altLang="zh-CN" sz="2800" b="1">
                  <a:solidFill>
                    <a:srgbClr val="660066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CMP ECX,0</a:t>
              </a:r>
              <a:endParaRPr lang="en-US" altLang="zh-CN" sz="2800" b="1">
                <a:solidFill>
                  <a:srgbClr val="660066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 algn="just" defTabSz="914400">
                <a:spcBef>
                  <a:spcPct val="10000"/>
                </a:spcBef>
                <a:buClr>
                  <a:schemeClr val="accent1"/>
                </a:buClr>
                <a:buSzPct val="150000"/>
                <a:tabLst>
                  <a:tab pos="2514600" algn="l"/>
                </a:tabLst>
              </a:pPr>
              <a:r>
                <a:rPr lang="en-US" altLang="zh-CN" sz="2800" b="1">
                  <a:solidFill>
                    <a:srgbClr val="660066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JZ label</a:t>
              </a:r>
              <a:endParaRPr lang="zh-CN" altLang="en-US" sz="2800" b="1" dirty="0">
                <a:solidFill>
                  <a:srgbClr val="660066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4" name="直接连接符 13"/>
            <p:cNvSpPr/>
            <p:nvPr/>
          </p:nvSpPr>
          <p:spPr>
            <a:xfrm>
              <a:off x="2151" y="2064"/>
              <a:ext cx="2208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sm" len="sm"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4.3.1 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循环指令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93279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2364584" y="1030288"/>
            <a:ext cx="4414838" cy="4757214"/>
            <a:chOff x="4111" y="992"/>
            <a:chExt cx="2525" cy="2721"/>
          </a:xfrm>
          <a:solidFill>
            <a:schemeClr val="bg1">
              <a:lumMod val="90000"/>
            </a:schemeClr>
          </a:solidFill>
        </p:grpSpPr>
        <p:sp>
          <p:nvSpPr>
            <p:cNvPr id="18" name="任意多边形 17"/>
            <p:cNvSpPr/>
            <p:nvPr/>
          </p:nvSpPr>
          <p:spPr>
            <a:xfrm flipH="1" flipV="1">
              <a:off x="4226" y="2183"/>
              <a:ext cx="1161" cy="1058"/>
            </a:xfrm>
            <a:custGeom>
              <a:avLst/>
              <a:gdLst/>
              <a:ahLst/>
              <a:cxnLst/>
              <a:rect l="0" t="0" r="0" b="0"/>
              <a:pathLst>
                <a:path w="879" h="993">
                  <a:moveTo>
                    <a:pt x="680" y="0"/>
                  </a:moveTo>
                  <a:lnTo>
                    <a:pt x="879" y="0"/>
                  </a:lnTo>
                  <a:lnTo>
                    <a:pt x="879" y="993"/>
                  </a:lnTo>
                  <a:lnTo>
                    <a:pt x="0" y="99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8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endParaRPr lang="zh-CN" altLang="en-US" sz="160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19" name="任意多边形 18"/>
            <p:cNvSpPr/>
            <p:nvPr/>
          </p:nvSpPr>
          <p:spPr>
            <a:xfrm>
              <a:off x="5405" y="1861"/>
              <a:ext cx="1161" cy="1682"/>
            </a:xfrm>
            <a:custGeom>
              <a:avLst/>
              <a:gdLst/>
              <a:ahLst/>
              <a:cxnLst/>
              <a:rect l="0" t="0" r="0" b="0"/>
              <a:pathLst>
                <a:path w="879" h="993">
                  <a:moveTo>
                    <a:pt x="680" y="0"/>
                  </a:moveTo>
                  <a:lnTo>
                    <a:pt x="879" y="0"/>
                  </a:lnTo>
                  <a:lnTo>
                    <a:pt x="879" y="993"/>
                  </a:lnTo>
                  <a:lnTo>
                    <a:pt x="0" y="993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8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endParaRPr lang="zh-CN" altLang="en-US" sz="16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20" name="菱形 19"/>
            <p:cNvSpPr/>
            <p:nvPr/>
          </p:nvSpPr>
          <p:spPr>
            <a:xfrm>
              <a:off x="4366" y="1651"/>
              <a:ext cx="2041" cy="425"/>
            </a:xfrm>
            <a:prstGeom prst="diamond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8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 algn="ctr" defTabSz="1152525">
                <a:lnSpc>
                  <a:spcPct val="80000"/>
                </a:lnSpc>
              </a:pPr>
              <a:r>
                <a:rPr lang="en-US" altLang="zh-CN" sz="2800" b="1">
                  <a:solidFill>
                    <a:schemeClr val="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JECXZ</a:t>
              </a:r>
              <a:endPara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4905" y="2333"/>
              <a:ext cx="964" cy="425"/>
            </a:xfrm>
            <a:prstGeom prst="rect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8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 algn="ctr" defTabSz="1152525">
                <a:lnSpc>
                  <a:spcPct val="80000"/>
                </a:lnSpc>
              </a:pPr>
              <a:r>
                <a:rPr lang="zh-CN" altLang="en-US" sz="2800" b="1" dirty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循环体</a:t>
              </a:r>
              <a:endParaRPr lang="zh-CN" altLang="en-US" sz="2800" b="1" dirty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2" name="直接连接符 21"/>
            <p:cNvSpPr/>
            <p:nvPr/>
          </p:nvSpPr>
          <p:spPr>
            <a:xfrm>
              <a:off x="5391" y="1389"/>
              <a:ext cx="0" cy="255"/>
            </a:xfrm>
            <a:prstGeom prst="line">
              <a:avLst/>
            </a:prstGeom>
            <a:grpFill/>
            <a:ln w="38100" cap="flat" cmpd="dbl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直接连接符 22"/>
            <p:cNvSpPr/>
            <p:nvPr/>
          </p:nvSpPr>
          <p:spPr>
            <a:xfrm>
              <a:off x="5391" y="2078"/>
              <a:ext cx="0" cy="255"/>
            </a:xfrm>
            <a:prstGeom prst="line">
              <a:avLst/>
            </a:prstGeom>
            <a:grpFill/>
            <a:ln w="38100" cap="flat" cmpd="dbl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直接连接符 23"/>
            <p:cNvSpPr/>
            <p:nvPr/>
          </p:nvSpPr>
          <p:spPr>
            <a:xfrm>
              <a:off x="5391" y="2768"/>
              <a:ext cx="0" cy="255"/>
            </a:xfrm>
            <a:prstGeom prst="line">
              <a:avLst/>
            </a:prstGeom>
            <a:grpFill/>
            <a:ln w="38100" cap="flat" cmpd="dbl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文本框 245810"/>
            <p:cNvSpPr txBox="1"/>
            <p:nvPr/>
          </p:nvSpPr>
          <p:spPr>
            <a:xfrm>
              <a:off x="6350" y="1525"/>
              <a:ext cx="286" cy="299"/>
            </a:xfrm>
            <a:prstGeom prst="rect">
              <a:avLst/>
            </a:prstGeom>
            <a:grpFill/>
            <a:ln w="9525">
              <a:noFill/>
            </a:ln>
          </p:spPr>
          <p:txBody>
            <a:bodyPr wrap="square" anchor="t" anchorCtr="0">
              <a:spAutoFit/>
            </a:bodyPr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8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 defTabSz="1152525"/>
              <a:r>
                <a:rPr lang="en-US" altLang="zh-CN" sz="2800" b="1">
                  <a:solidFill>
                    <a:schemeClr val="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Y</a:t>
              </a:r>
              <a:endPara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6" name="文本框 245811"/>
            <p:cNvSpPr txBox="1"/>
            <p:nvPr/>
          </p:nvSpPr>
          <p:spPr>
            <a:xfrm>
              <a:off x="5414" y="2007"/>
              <a:ext cx="300" cy="299"/>
            </a:xfrm>
            <a:prstGeom prst="rect">
              <a:avLst/>
            </a:prstGeom>
            <a:grpFill/>
            <a:ln w="9525">
              <a:noFill/>
            </a:ln>
          </p:spPr>
          <p:txBody>
            <a:bodyPr wrap="square" anchor="t" anchorCtr="0">
              <a:spAutoFit/>
            </a:bodyPr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8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 defTabSz="1152525"/>
              <a:r>
                <a:rPr lang="en-US" altLang="zh-CN" sz="2800" b="1" dirty="0">
                  <a:solidFill>
                    <a:schemeClr val="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N</a:t>
              </a:r>
              <a:endParaRPr lang="en-US" altLang="zh-CN" sz="2800" b="1" dirty="0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7" name="菱形 26"/>
            <p:cNvSpPr/>
            <p:nvPr/>
          </p:nvSpPr>
          <p:spPr>
            <a:xfrm>
              <a:off x="4366" y="3024"/>
              <a:ext cx="2041" cy="425"/>
            </a:xfrm>
            <a:prstGeom prst="diamond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8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 algn="ctr" defTabSz="1152525">
                <a:lnSpc>
                  <a:spcPct val="80000"/>
                </a:lnSpc>
              </a:pPr>
              <a:r>
                <a:rPr lang="en-US" altLang="zh-CN" sz="2800" b="1">
                  <a:solidFill>
                    <a:schemeClr val="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LOOP</a:t>
              </a:r>
              <a:endPara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915" y="992"/>
              <a:ext cx="964" cy="425"/>
            </a:xfrm>
            <a:prstGeom prst="rect">
              <a:avLst/>
            </a:prstGeom>
            <a:grp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8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 algn="ctr" defTabSz="1152525">
                <a:lnSpc>
                  <a:spcPct val="80000"/>
                </a:lnSpc>
              </a:pPr>
              <a:r>
                <a:rPr lang="zh-CN" altLang="en-US" sz="2800" b="1" dirty="0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黑体" panose="02010609060101010101" pitchFamily="49" charset="-122"/>
                </a:rPr>
                <a:t>设置</a:t>
              </a:r>
              <a:r>
                <a:rPr lang="en-US" altLang="zh-CN" sz="2800" b="1">
                  <a:solidFill>
                    <a:srgbClr val="6633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黑体" panose="02010609060101010101" pitchFamily="49" charset="-122"/>
                </a:rPr>
                <a:t>ECX</a:t>
              </a:r>
              <a:endParaRPr lang="en-US" altLang="zh-CN" sz="2800" b="1" dirty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黑体" panose="02010609060101010101" pitchFamily="49" charset="-122"/>
              </a:endParaRPr>
            </a:p>
          </p:txBody>
        </p:sp>
        <p:sp>
          <p:nvSpPr>
            <p:cNvPr id="29" name="直接连接符 28"/>
            <p:cNvSpPr/>
            <p:nvPr/>
          </p:nvSpPr>
          <p:spPr>
            <a:xfrm>
              <a:off x="5387" y="3458"/>
              <a:ext cx="0" cy="255"/>
            </a:xfrm>
            <a:prstGeom prst="line">
              <a:avLst/>
            </a:prstGeom>
            <a:grpFill/>
            <a:ln w="38100" cap="flat" cmpd="dbl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文本框 245815"/>
            <p:cNvSpPr txBox="1"/>
            <p:nvPr/>
          </p:nvSpPr>
          <p:spPr>
            <a:xfrm>
              <a:off x="5057" y="3402"/>
              <a:ext cx="300" cy="299"/>
            </a:xfrm>
            <a:prstGeom prst="rect">
              <a:avLst/>
            </a:prstGeom>
            <a:grpFill/>
            <a:ln w="9525">
              <a:noFill/>
            </a:ln>
          </p:spPr>
          <p:txBody>
            <a:bodyPr wrap="square" anchor="t" anchorCtr="0">
              <a:spAutoFit/>
            </a:bodyPr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8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 defTabSz="1152525"/>
              <a:r>
                <a:rPr lang="en-US" altLang="zh-CN" sz="2800" b="1">
                  <a:solidFill>
                    <a:schemeClr val="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N</a:t>
              </a:r>
              <a:endPara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sp>
          <p:nvSpPr>
            <p:cNvPr id="31" name="文本框 245816"/>
            <p:cNvSpPr txBox="1"/>
            <p:nvPr/>
          </p:nvSpPr>
          <p:spPr>
            <a:xfrm>
              <a:off x="4111" y="3203"/>
              <a:ext cx="286" cy="299"/>
            </a:xfrm>
            <a:prstGeom prst="rect">
              <a:avLst/>
            </a:prstGeom>
            <a:grpFill/>
            <a:ln w="9525">
              <a:noFill/>
            </a:ln>
          </p:spPr>
          <p:txBody>
            <a:bodyPr wrap="square" anchor="t" anchorCtr="0">
              <a:spAutoFit/>
            </a:bodyPr>
            <a:lstStyle>
              <a:lvl1pPr marL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sz="1800" b="0" i="0" u="non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lvl="1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2pPr>
              <a:lvl3pPr marL="914400" lvl="2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3pPr>
              <a:lvl4pPr marL="1371600" lvl="3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4pPr>
              <a:lvl5pPr marL="1828800" lvl="4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5pPr>
              <a:lvl6pPr marL="2286000" lvl="5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6pPr>
              <a:lvl7pPr marL="2743200" lvl="6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7pPr>
              <a:lvl8pPr marL="3200400" lvl="7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8pPr>
              <a:lvl9pPr marL="3657600" lvl="8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 b="0" i="0" u="none" kern="1200" baseline="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+mn-cs"/>
                </a:defRPr>
              </a:lvl9pPr>
            </a:lstStyle>
            <a:p>
              <a:pPr defTabSz="1152525"/>
              <a:r>
                <a:rPr lang="en-US" altLang="zh-CN" sz="2800" b="1">
                  <a:solidFill>
                    <a:schemeClr val="hlink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Y</a:t>
              </a:r>
              <a:endParaRPr lang="en-US" altLang="zh-CN" sz="2800" b="1">
                <a:solidFill>
                  <a:schemeClr val="hlink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4-14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数组求和程序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5843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04787" y="1604417"/>
            <a:ext cx="8261365" cy="5072380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数据段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array </a:t>
            </a:r>
            <a:r>
              <a:rPr lang="en-US" altLang="zh-CN" sz="2000" b="1" dirty="0" err="1">
                <a:latin typeface="+mn-lt"/>
              </a:rPr>
              <a:t>dw</a:t>
            </a:r>
            <a:r>
              <a:rPr lang="en-US" altLang="zh-CN" sz="2000" b="1" dirty="0">
                <a:latin typeface="+mn-lt"/>
              </a:rPr>
              <a:t> 136,-138,133,130,-161   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sum </a:t>
            </a:r>
            <a:r>
              <a:rPr lang="en-US" altLang="zh-CN" sz="2000" b="1" dirty="0" err="1">
                <a:latin typeface="+mn-lt"/>
              </a:rPr>
              <a:t>dw</a:t>
            </a:r>
            <a:r>
              <a:rPr lang="en-US" altLang="zh-CN" sz="2000" b="1" dirty="0">
                <a:latin typeface="+mn-lt"/>
              </a:rPr>
              <a:t> ?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代码段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        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ecx,lengthof</a:t>
            </a:r>
            <a:r>
              <a:rPr lang="en-US" altLang="zh-CN" sz="2000" b="1" dirty="0">
                <a:latin typeface="+mn-lt"/>
              </a:rPr>
              <a:t> array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ECX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＝数组元素个数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xor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eax,eax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求和初值为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</a:t>
            </a:r>
            <a:r>
              <a:rPr lang="en-US" altLang="zh-CN" sz="2000" b="1" dirty="0" err="1">
                <a:solidFill>
                  <a:srgbClr val="00B050"/>
                </a:solidFill>
                <a:latin typeface="+mn-lt"/>
              </a:rPr>
              <a:t>eax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相当于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sum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变量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ebx,0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数组指针为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latin typeface="+mn-lt"/>
              </a:rPr>
              <a:t>again:	add </a:t>
            </a:r>
            <a:r>
              <a:rPr lang="en-US" altLang="zh-CN" sz="2000" b="1" dirty="0" err="1">
                <a:latin typeface="+mn-lt"/>
              </a:rPr>
              <a:t>eax,array</a:t>
            </a:r>
            <a:r>
              <a:rPr lang="en-US" altLang="zh-CN" sz="2000" b="1" dirty="0">
                <a:latin typeface="+mn-lt"/>
              </a:rPr>
              <a:t>[</a:t>
            </a:r>
            <a:r>
              <a:rPr lang="en-US" altLang="zh-CN" sz="2000" b="1" dirty="0" err="1">
                <a:latin typeface="+mn-lt"/>
              </a:rPr>
              <a:t>ebx</a:t>
            </a:r>
            <a:r>
              <a:rPr lang="en-US" altLang="zh-CN" sz="2000" b="1" dirty="0">
                <a:latin typeface="+mn-lt"/>
              </a:rPr>
              <a:t>*(type array)]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求和，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带比例的相对变址寻址</a:t>
            </a:r>
            <a:endParaRPr lang="zh-CN" altLang="en-US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inc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ebx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指向下一个数组元素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loop again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sum,eax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保存结果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2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dispsid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显示结果</a:t>
            </a:r>
            <a:endParaRPr lang="en-US" altLang="zh-CN" sz="2000" b="1" dirty="0">
              <a:latin typeface="+mn-lt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604787" y="664121"/>
            <a:ext cx="8261365" cy="963666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例：对数组的所有元素求和，结果保存在变量中。假设数组元素是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32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位有符号整数，个数已知，不考虑溢出问题。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5" name="Group 16"/>
          <p:cNvGrpSpPr/>
          <p:nvPr/>
        </p:nvGrpSpPr>
        <p:grpSpPr bwMode="auto">
          <a:xfrm>
            <a:off x="120287" y="3318892"/>
            <a:ext cx="1609178" cy="1224136"/>
            <a:chOff x="312" y="576"/>
            <a:chExt cx="976" cy="1200"/>
          </a:xfrm>
        </p:grpSpPr>
        <p:sp>
          <p:nvSpPr>
            <p:cNvPr id="7" name="AutoShape 5"/>
            <p:cNvSpPr/>
            <p:nvPr/>
          </p:nvSpPr>
          <p:spPr bwMode="auto">
            <a:xfrm flipH="1">
              <a:off x="1043" y="576"/>
              <a:ext cx="245" cy="1200"/>
            </a:xfrm>
            <a:prstGeom prst="rightBrace">
              <a:avLst>
                <a:gd name="adj1" fmla="val 22676"/>
                <a:gd name="adj2" fmla="val 50778"/>
              </a:avLst>
            </a:prstGeom>
            <a:noFill/>
            <a:ln w="19050">
              <a:solidFill>
                <a:srgbClr val="66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 flipH="1">
              <a:off x="312" y="974"/>
              <a:ext cx="738" cy="3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循环初始</a:t>
              </a:r>
              <a:endPara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0" name="Group 15"/>
          <p:cNvGrpSpPr/>
          <p:nvPr/>
        </p:nvGrpSpPr>
        <p:grpSpPr bwMode="auto">
          <a:xfrm>
            <a:off x="376914" y="4567711"/>
            <a:ext cx="1352550" cy="839787"/>
            <a:chOff x="444" y="1919"/>
            <a:chExt cx="852" cy="529"/>
          </a:xfrm>
        </p:grpSpPr>
        <p:sp>
          <p:nvSpPr>
            <p:cNvPr id="11" name="AutoShape 8"/>
            <p:cNvSpPr/>
            <p:nvPr/>
          </p:nvSpPr>
          <p:spPr bwMode="auto">
            <a:xfrm flipH="1">
              <a:off x="1023" y="1919"/>
              <a:ext cx="273" cy="529"/>
            </a:xfrm>
            <a:prstGeom prst="rightBrace">
              <a:avLst>
                <a:gd name="adj1" fmla="val 24939"/>
                <a:gd name="adj2" fmla="val 50000"/>
              </a:avLst>
            </a:prstGeom>
            <a:noFill/>
            <a:ln w="19050">
              <a:solidFill>
                <a:srgbClr val="66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 flipH="1">
              <a:off x="444" y="2045"/>
              <a:ext cx="60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循环体</a:t>
              </a:r>
              <a:endPara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3" name="Group 14"/>
          <p:cNvGrpSpPr/>
          <p:nvPr/>
        </p:nvGrpSpPr>
        <p:grpSpPr bwMode="auto">
          <a:xfrm>
            <a:off x="107504" y="5353977"/>
            <a:ext cx="1620838" cy="414338"/>
            <a:chOff x="299" y="2750"/>
            <a:chExt cx="1021" cy="261"/>
          </a:xfrm>
        </p:grpSpPr>
        <p:sp>
          <p:nvSpPr>
            <p:cNvPr id="14" name="AutoShape 11"/>
            <p:cNvSpPr/>
            <p:nvPr/>
          </p:nvSpPr>
          <p:spPr bwMode="auto">
            <a:xfrm flipH="1">
              <a:off x="1047" y="2784"/>
              <a:ext cx="273" cy="227"/>
            </a:xfrm>
            <a:prstGeom prst="rightBrace">
              <a:avLst>
                <a:gd name="adj1" fmla="val 9676"/>
                <a:gd name="adj2" fmla="val 50000"/>
              </a:avLst>
            </a:prstGeom>
            <a:noFill/>
            <a:ln w="19050">
              <a:solidFill>
                <a:srgbClr val="66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 flipH="1">
              <a:off x="299" y="2750"/>
              <a:ext cx="76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循环控制</a:t>
              </a:r>
              <a:endPara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6" name="内容占位符 2"/>
          <p:cNvSpPr txBox="1"/>
          <p:nvPr/>
        </p:nvSpPr>
        <p:spPr>
          <a:xfrm>
            <a:off x="5997714" y="4513312"/>
            <a:ext cx="2868438" cy="721166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  <a:prstDash val="dash"/>
          </a:ln>
        </p:spPr>
        <p:txBody>
          <a:bodyPr/>
          <a:lstStyle/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en-US" altLang="zh-CN" sz="2000" b="1" dirty="0">
                <a:latin typeface="+mn-lt"/>
              </a:rPr>
              <a:t>add </a:t>
            </a:r>
            <a:r>
              <a:rPr lang="en-US" altLang="zh-CN" sz="2000" b="1" dirty="0" err="1">
                <a:latin typeface="+mn-lt"/>
              </a:rPr>
              <a:t>eax</a:t>
            </a:r>
            <a:r>
              <a:rPr lang="en-US" altLang="zh-CN" sz="2000" b="1" dirty="0">
                <a:latin typeface="+mn-lt"/>
              </a:rPr>
              <a:t>, array[</a:t>
            </a:r>
            <a:r>
              <a:rPr lang="en-US" altLang="zh-CN" sz="2000" b="1" dirty="0" err="1">
                <a:latin typeface="+mn-lt"/>
              </a:rPr>
              <a:t>ebx</a:t>
            </a:r>
            <a:r>
              <a:rPr lang="en-US" altLang="zh-CN" sz="2000" b="1" dirty="0">
                <a:latin typeface="+mn-lt"/>
              </a:rPr>
              <a:t>]</a:t>
            </a:r>
            <a:endParaRPr lang="en-US" altLang="zh-CN" sz="2000" b="1" dirty="0">
              <a:latin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en-US" altLang="zh-CN" sz="2000" b="1" dirty="0">
                <a:latin typeface="+mn-lt"/>
              </a:rPr>
              <a:t>add </a:t>
            </a:r>
            <a:r>
              <a:rPr lang="en-US" altLang="zh-CN" sz="2000" b="1" dirty="0" err="1">
                <a:latin typeface="+mn-lt"/>
              </a:rPr>
              <a:t>ebx</a:t>
            </a:r>
            <a:r>
              <a:rPr lang="en-US" altLang="zh-CN" sz="2000" b="1" dirty="0">
                <a:latin typeface="+mn-lt"/>
              </a:rPr>
              <a:t>, 4</a:t>
            </a:r>
            <a:endParaRPr lang="en-US" altLang="zh-CN" sz="2800" b="1" dirty="0">
              <a:latin typeface="+mn-lt"/>
            </a:endParaRPr>
          </a:p>
        </p:txBody>
      </p:sp>
      <p:sp>
        <p:nvSpPr>
          <p:cNvPr id="20" name="内容占位符 2"/>
          <p:cNvSpPr txBox="1"/>
          <p:nvPr/>
        </p:nvSpPr>
        <p:spPr>
          <a:xfrm>
            <a:off x="5076056" y="1598568"/>
            <a:ext cx="3794635" cy="1542400"/>
          </a:xfrm>
          <a:prstGeom prst="rect">
            <a:avLst/>
          </a:prstGeom>
          <a:solidFill>
            <a:schemeClr val="bg1"/>
          </a:solidFill>
          <a:ln w="19050">
            <a:solidFill>
              <a:srgbClr val="00B050"/>
            </a:solidFill>
            <a:prstDash val="dash"/>
          </a:ln>
        </p:spPr>
        <p:txBody>
          <a:bodyPr/>
          <a:lstStyle/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可改成寄存器间接寻址：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循环初识：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ebx</a:t>
            </a:r>
            <a:r>
              <a:rPr lang="en-US" altLang="zh-CN" sz="2000" b="1" dirty="0">
                <a:latin typeface="+mn-lt"/>
              </a:rPr>
              <a:t>, offset array</a:t>
            </a:r>
            <a:endParaRPr lang="en-US" altLang="zh-CN" sz="2000" b="1" dirty="0">
              <a:latin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循环体：</a:t>
            </a: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    </a:t>
            </a:r>
            <a:r>
              <a:rPr lang="en-US" altLang="zh-CN" sz="2000" b="1" dirty="0">
                <a:latin typeface="+mn-lt"/>
              </a:rPr>
              <a:t>add </a:t>
            </a:r>
            <a:r>
              <a:rPr lang="en-US" altLang="zh-CN" sz="2000" b="1" dirty="0" err="1">
                <a:latin typeface="+mn-lt"/>
              </a:rPr>
              <a:t>eax</a:t>
            </a:r>
            <a:r>
              <a:rPr lang="en-US" altLang="zh-CN" sz="2000" b="1" dirty="0">
                <a:latin typeface="+mn-lt"/>
              </a:rPr>
              <a:t>, [</a:t>
            </a:r>
            <a:r>
              <a:rPr lang="en-US" altLang="zh-CN" sz="2000" b="1" dirty="0" err="1">
                <a:latin typeface="+mn-lt"/>
              </a:rPr>
              <a:t>ebx</a:t>
            </a:r>
            <a:r>
              <a:rPr lang="en-US" altLang="zh-CN" sz="2000" b="1" dirty="0">
                <a:latin typeface="+mn-lt"/>
              </a:rPr>
              <a:t>]</a:t>
            </a:r>
            <a:endParaRPr lang="en-US" altLang="zh-CN" sz="2000" b="1" dirty="0">
              <a:latin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en-US" altLang="zh-CN" sz="2000" b="1" dirty="0">
                <a:latin typeface="+mn-lt"/>
              </a:rPr>
              <a:t>                    add </a:t>
            </a:r>
            <a:r>
              <a:rPr lang="en-US" altLang="zh-CN" sz="2000" b="1" dirty="0" err="1">
                <a:latin typeface="+mn-lt"/>
              </a:rPr>
              <a:t>ebx</a:t>
            </a:r>
            <a:r>
              <a:rPr lang="en-US" altLang="zh-CN" sz="2000" b="1" dirty="0">
                <a:latin typeface="+mn-lt"/>
              </a:rPr>
              <a:t>, 4</a:t>
            </a:r>
            <a:endParaRPr lang="en-US" altLang="zh-CN" sz="2800" b="1" dirty="0">
              <a:latin typeface="+mn-lt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467544" y="814275"/>
            <a:ext cx="8172400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循环程序结构的关键是如何控制循环</a:t>
            </a:r>
            <a:endParaRPr lang="en-US" altLang="zh-CN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通过次数控制循环（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计数控制循环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）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通过结束条件判断是否继续循环（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条件控制循环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）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计数控制循环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利用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LOOP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指令属于计数控制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计数可以减量进行，减到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结束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计数可以增量进行，达到规定值结束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多为“先循环、后判断”结构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40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4.3.2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计数控制循环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793279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AutoShape 4"/>
          <p:cNvSpPr>
            <a:spLocks noChangeArrowheads="1"/>
          </p:cNvSpPr>
          <p:nvPr/>
        </p:nvSpPr>
        <p:spPr bwMode="auto">
          <a:xfrm>
            <a:off x="1096566" y="5567468"/>
            <a:ext cx="7056784" cy="562322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12700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计数控制循环：主要用于循环次数已知的情况</a:t>
            </a:r>
            <a:endParaRPr lang="en-US" altLang="zh-CN" sz="24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964" y="2840994"/>
            <a:ext cx="2149354" cy="2376264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4-14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数组求和程序（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黑体" panose="02010609060101010101" pitchFamily="49" charset="-122"/>
                <a:cs typeface="+mj-cs"/>
              </a:rPr>
              <a:t>增量计数控制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）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5843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31115" y="1553666"/>
            <a:ext cx="8261365" cy="5259710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数据段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array </a:t>
            </a:r>
            <a:r>
              <a:rPr lang="en-US" altLang="zh-CN" sz="2000" b="1" dirty="0" err="1">
                <a:latin typeface="+mn-lt"/>
              </a:rPr>
              <a:t>dw</a:t>
            </a:r>
            <a:r>
              <a:rPr lang="en-US" altLang="zh-CN" sz="2000" b="1" dirty="0">
                <a:latin typeface="+mn-lt"/>
              </a:rPr>
              <a:t> 136,-138,133,130,-161   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sum </a:t>
            </a:r>
            <a:r>
              <a:rPr lang="en-US" altLang="zh-CN" sz="2000" b="1" dirty="0" err="1">
                <a:latin typeface="+mn-lt"/>
              </a:rPr>
              <a:t>dw</a:t>
            </a:r>
            <a:r>
              <a:rPr lang="en-US" altLang="zh-CN" sz="2000" b="1" dirty="0">
                <a:latin typeface="+mn-lt"/>
              </a:rPr>
              <a:t> ?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代码段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        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ecx,lengthof</a:t>
            </a:r>
            <a:r>
              <a:rPr lang="en-US" altLang="zh-CN" sz="2000" b="1" dirty="0">
                <a:latin typeface="+mn-lt"/>
              </a:rPr>
              <a:t> array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ECX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＝数组元素个数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xor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eax,eax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求和初值为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</a:t>
            </a:r>
            <a:r>
              <a:rPr lang="en-US" altLang="zh-CN" sz="2000" b="1" dirty="0" err="1">
                <a:solidFill>
                  <a:srgbClr val="00B050"/>
                </a:solidFill>
                <a:latin typeface="+mn-lt"/>
              </a:rPr>
              <a:t>eax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相当于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sum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变量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ebx,eax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数组指针为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000" b="1" dirty="0">
                <a:latin typeface="+mn-lt"/>
              </a:rPr>
              <a:t>again:	add </a:t>
            </a:r>
            <a:r>
              <a:rPr lang="en-US" altLang="zh-CN" sz="2000" b="1" dirty="0" err="1">
                <a:latin typeface="+mn-lt"/>
              </a:rPr>
              <a:t>eax,array</a:t>
            </a:r>
            <a:r>
              <a:rPr lang="en-US" altLang="zh-CN" sz="2000" b="1" dirty="0">
                <a:latin typeface="+mn-lt"/>
              </a:rPr>
              <a:t>[</a:t>
            </a:r>
            <a:r>
              <a:rPr lang="en-US" altLang="zh-CN" sz="2000" b="1" dirty="0" err="1">
                <a:latin typeface="+mn-lt"/>
              </a:rPr>
              <a:t>ebx</a:t>
            </a:r>
            <a:r>
              <a:rPr lang="en-US" altLang="zh-CN" sz="2000" b="1" dirty="0">
                <a:latin typeface="+mn-lt"/>
              </a:rPr>
              <a:t>*(type array)]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求和，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带比例的相对变址寻址</a:t>
            </a:r>
            <a:endParaRPr lang="zh-CN" altLang="en-US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inc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ebx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指向下一个数组元素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highlight>
                  <a:srgbClr val="FFFF00"/>
                </a:highlight>
                <a:latin typeface="+mn-lt"/>
              </a:rPr>
              <a:t>cmp</a:t>
            </a:r>
            <a:r>
              <a:rPr lang="en-US" altLang="zh-CN" sz="2000" b="1" dirty="0">
                <a:highlight>
                  <a:srgbClr val="FFFF00"/>
                </a:highlight>
                <a:latin typeface="+mn-lt"/>
              </a:rPr>
              <a:t> </a:t>
            </a:r>
            <a:r>
              <a:rPr lang="en-US" altLang="zh-CN" sz="2000" b="1" dirty="0" err="1">
                <a:highlight>
                  <a:srgbClr val="FFFF00"/>
                </a:highlight>
                <a:latin typeface="+mn-lt"/>
              </a:rPr>
              <a:t>ebx</a:t>
            </a:r>
            <a:r>
              <a:rPr lang="en-US" altLang="zh-CN" sz="2000" b="1" dirty="0">
                <a:highlight>
                  <a:srgbClr val="FFFF00"/>
                </a:highlight>
                <a:latin typeface="+mn-lt"/>
              </a:rPr>
              <a:t>, </a:t>
            </a:r>
            <a:r>
              <a:rPr lang="en-US" altLang="zh-CN" sz="2000" b="1" dirty="0" err="1">
                <a:highlight>
                  <a:srgbClr val="FFFF00"/>
                </a:highlight>
                <a:latin typeface="+mn-lt"/>
              </a:rPr>
              <a:t>ecx</a:t>
            </a:r>
            <a:endParaRPr lang="en-US" altLang="zh-CN" sz="2000" b="1" dirty="0">
              <a:highlight>
                <a:srgbClr val="FFFF00"/>
              </a:highlight>
              <a:latin typeface="+mn-lt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000" b="1" dirty="0">
                <a:latin typeface="+mn-lt"/>
              </a:rPr>
              <a:t>              </a:t>
            </a:r>
            <a:r>
              <a:rPr lang="en-US" altLang="zh-CN" sz="2000" b="1" dirty="0" err="1">
                <a:highlight>
                  <a:srgbClr val="FFFF00"/>
                </a:highlight>
                <a:latin typeface="+mn-lt"/>
              </a:rPr>
              <a:t>jb</a:t>
            </a:r>
            <a:r>
              <a:rPr lang="en-US" altLang="zh-CN" sz="2000" b="1" dirty="0">
                <a:highlight>
                  <a:srgbClr val="FFFF00"/>
                </a:highlight>
                <a:latin typeface="+mn-lt"/>
              </a:rPr>
              <a:t> again</a:t>
            </a:r>
            <a:endParaRPr lang="en-US" altLang="zh-CN" sz="2000" b="1" dirty="0">
              <a:highlight>
                <a:srgbClr val="FFFF00"/>
              </a:highlight>
              <a:latin typeface="+mn-lt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sum,eax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保存结果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dispsid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显示结果</a:t>
            </a:r>
            <a:endParaRPr lang="en-US" altLang="zh-CN" sz="2000" b="1" dirty="0">
              <a:latin typeface="+mn-lt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604787" y="664121"/>
            <a:ext cx="8261365" cy="963666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例：对数组的所有元素求和，结果保存在变量中。假设数组元素是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32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位有符号整数，个数已知，不考虑溢出问题。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5" name="Group 16"/>
          <p:cNvGrpSpPr/>
          <p:nvPr/>
        </p:nvGrpSpPr>
        <p:grpSpPr bwMode="auto">
          <a:xfrm>
            <a:off x="120287" y="3209850"/>
            <a:ext cx="1609178" cy="1224136"/>
            <a:chOff x="312" y="576"/>
            <a:chExt cx="976" cy="1200"/>
          </a:xfrm>
        </p:grpSpPr>
        <p:sp>
          <p:nvSpPr>
            <p:cNvPr id="7" name="AutoShape 5"/>
            <p:cNvSpPr/>
            <p:nvPr/>
          </p:nvSpPr>
          <p:spPr bwMode="auto">
            <a:xfrm flipH="1">
              <a:off x="1043" y="576"/>
              <a:ext cx="245" cy="1200"/>
            </a:xfrm>
            <a:prstGeom prst="rightBrace">
              <a:avLst>
                <a:gd name="adj1" fmla="val 22676"/>
                <a:gd name="adj2" fmla="val 50778"/>
              </a:avLst>
            </a:prstGeom>
            <a:noFill/>
            <a:ln w="19050">
              <a:solidFill>
                <a:srgbClr val="66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9" name="Text Box 6"/>
            <p:cNvSpPr txBox="1">
              <a:spLocks noChangeArrowheads="1"/>
            </p:cNvSpPr>
            <p:nvPr/>
          </p:nvSpPr>
          <p:spPr bwMode="auto">
            <a:xfrm flipH="1">
              <a:off x="312" y="974"/>
              <a:ext cx="738" cy="3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循环初始</a:t>
              </a:r>
              <a:endPara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0" name="Group 15"/>
          <p:cNvGrpSpPr/>
          <p:nvPr/>
        </p:nvGrpSpPr>
        <p:grpSpPr bwMode="auto">
          <a:xfrm>
            <a:off x="376914" y="4433986"/>
            <a:ext cx="1352550" cy="839787"/>
            <a:chOff x="444" y="1919"/>
            <a:chExt cx="852" cy="529"/>
          </a:xfrm>
        </p:grpSpPr>
        <p:sp>
          <p:nvSpPr>
            <p:cNvPr id="11" name="AutoShape 8"/>
            <p:cNvSpPr/>
            <p:nvPr/>
          </p:nvSpPr>
          <p:spPr bwMode="auto">
            <a:xfrm flipH="1">
              <a:off x="1023" y="1919"/>
              <a:ext cx="273" cy="529"/>
            </a:xfrm>
            <a:prstGeom prst="rightBrace">
              <a:avLst>
                <a:gd name="adj1" fmla="val 24939"/>
                <a:gd name="adj2" fmla="val 50000"/>
              </a:avLst>
            </a:prstGeom>
            <a:noFill/>
            <a:ln w="19050">
              <a:solidFill>
                <a:srgbClr val="66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2" name="Text Box 9"/>
            <p:cNvSpPr txBox="1">
              <a:spLocks noChangeArrowheads="1"/>
            </p:cNvSpPr>
            <p:nvPr/>
          </p:nvSpPr>
          <p:spPr bwMode="auto">
            <a:xfrm flipH="1">
              <a:off x="444" y="2045"/>
              <a:ext cx="60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循环体</a:t>
              </a:r>
              <a:endPara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3" name="Group 14"/>
          <p:cNvGrpSpPr/>
          <p:nvPr/>
        </p:nvGrpSpPr>
        <p:grpSpPr bwMode="auto">
          <a:xfrm>
            <a:off x="107504" y="5178724"/>
            <a:ext cx="1620838" cy="808666"/>
            <a:chOff x="299" y="2750"/>
            <a:chExt cx="1021" cy="261"/>
          </a:xfrm>
        </p:grpSpPr>
        <p:sp>
          <p:nvSpPr>
            <p:cNvPr id="14" name="AutoShape 11"/>
            <p:cNvSpPr/>
            <p:nvPr/>
          </p:nvSpPr>
          <p:spPr bwMode="auto">
            <a:xfrm flipH="1">
              <a:off x="1047" y="2784"/>
              <a:ext cx="273" cy="227"/>
            </a:xfrm>
            <a:prstGeom prst="rightBrace">
              <a:avLst>
                <a:gd name="adj1" fmla="val 9676"/>
                <a:gd name="adj2" fmla="val 50000"/>
              </a:avLst>
            </a:prstGeom>
            <a:noFill/>
            <a:ln w="19050">
              <a:solidFill>
                <a:srgbClr val="66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5" name="Text Box 12"/>
            <p:cNvSpPr txBox="1">
              <a:spLocks noChangeArrowheads="1"/>
            </p:cNvSpPr>
            <p:nvPr/>
          </p:nvSpPr>
          <p:spPr bwMode="auto">
            <a:xfrm flipH="1">
              <a:off x="299" y="2750"/>
              <a:ext cx="76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循环控制</a:t>
              </a:r>
              <a:endPara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4427984" y="5332543"/>
            <a:ext cx="1984570" cy="473142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12700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增量计数控制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1579319" y="5178284"/>
            <a:ext cx="1984570" cy="841055"/>
          </a:xfrm>
          <a:prstGeom prst="rect">
            <a:avLst/>
          </a:prstGeom>
          <a:noFill/>
          <a:ln w="19050">
            <a:solidFill>
              <a:srgbClr val="00B05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tabLst>
                <a:tab pos="2514600" algn="l"/>
              </a:tabLst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83058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tabLst>
                <a:tab pos="2514600" algn="l"/>
              </a:tabLst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23825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tabLst>
                <a:tab pos="2514600" algn="l"/>
              </a:tabLst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46555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b="0" dirty="0">
              <a:latin typeface="+mn-lt"/>
              <a:ea typeface="黑体" panose="02010609060101010101" pitchFamily="49" charset="-122"/>
            </a:endParaRPr>
          </a:p>
        </p:txBody>
      </p:sp>
      <p:cxnSp>
        <p:nvCxnSpPr>
          <p:cNvPr id="18" name="直接箭头连接符 17"/>
          <p:cNvCxnSpPr/>
          <p:nvPr/>
        </p:nvCxnSpPr>
        <p:spPr bwMode="auto">
          <a:xfrm>
            <a:off x="3590217" y="5570013"/>
            <a:ext cx="837767" cy="0"/>
          </a:xfrm>
          <a:prstGeom prst="straightConnector1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4-15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求最大值程序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5843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31115" y="1194891"/>
            <a:ext cx="8261365" cy="5477510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数据段</a:t>
            </a:r>
            <a:endParaRPr lang="zh-CN" altLang="en-US" sz="2000" b="1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array	dd -3,0,20,900,-56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count	equ ($-array)/4	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数组的元素个数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max	dd 0		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存放最大值</a:t>
            </a:r>
            <a:endParaRPr lang="zh-CN" altLang="en-US" sz="2000" b="1" dirty="0">
              <a:latin typeface="+mn-lt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solidFill>
                  <a:schemeClr val="tx1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chemeClr val="tx1"/>
                </a:solidFill>
                <a:latin typeface="+mn-lt"/>
              </a:rPr>
              <a:t>代码段</a:t>
            </a:r>
            <a:endParaRPr lang="zh-CN" altLang="en-US" sz="2000" b="1" dirty="0">
              <a:solidFill>
                <a:schemeClr val="tx1"/>
              </a:solidFill>
              <a:latin typeface="+mn-lt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	mov ecx,count-1	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元素个数减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是循环次数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	mov esi,offset array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	mov eax,[esi]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取出第一个元素给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EAX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，用于暂存最大值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again:	add esi,4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	cmp eax,[esi]	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与下一个数据比较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highlight>
                  <a:srgbClr val="FFFF00"/>
                </a:highlight>
                <a:latin typeface="+mn-lt"/>
              </a:rPr>
              <a:t>jge next 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已经是较大值，继续下一个循环比较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	mov eax,[esi]	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;EAX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取得更大的数据</a:t>
            </a:r>
            <a:endParaRPr lang="zh-CN" altLang="en-US" sz="2000" b="1" dirty="0">
              <a:latin typeface="+mn-lt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next:	</a:t>
            </a:r>
            <a:r>
              <a:rPr lang="en-US" altLang="zh-CN" sz="2000" b="1" dirty="0">
                <a:highlight>
                  <a:srgbClr val="FFFF00"/>
                </a:highlight>
                <a:latin typeface="+mn-lt"/>
              </a:rPr>
              <a:t>loop again</a:t>
            </a:r>
            <a:r>
              <a:rPr lang="en-US" altLang="zh-CN" sz="2000" b="1" dirty="0">
                <a:latin typeface="+mn-lt"/>
              </a:rPr>
              <a:t>	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计数循环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5000"/>
              </a:lnSpc>
              <a:spcBef>
                <a:spcPts val="0"/>
              </a:spcBef>
            </a:pPr>
            <a:r>
              <a:rPr lang="en-US" altLang="zh-CN" sz="2000" b="1" dirty="0">
                <a:latin typeface="+mn-lt"/>
              </a:rPr>
              <a:t>	mov [max],eax	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保存最大值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385445" y="664210"/>
            <a:ext cx="8602345" cy="501015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例：对数组元素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sym typeface="+mn-ea"/>
              </a:rPr>
              <a:t>（</a:t>
            </a:r>
            <a:r>
              <a:rPr lang="zh-CN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  <a:sym typeface="+mn-ea"/>
              </a:rPr>
              <a:t>有符号数</a:t>
            </a:r>
            <a:r>
              <a:rPr lang="zh-CN" altLang="en-US" sz="2400" dirty="0">
                <a:solidFill>
                  <a:schemeClr val="tx1"/>
                </a:solidFill>
                <a:latin typeface="+mn-lt"/>
                <a:sym typeface="+mn-ea"/>
              </a:rPr>
              <a:t>）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求最大值，结果保存在变量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max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4-16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简单加密解密程序</a:t>
            </a:r>
            <a:r>
              <a:rPr lang="en-US" altLang="zh-CN" kern="0" dirty="0">
                <a:solidFill>
                  <a:srgbClr val="000000"/>
                </a:solidFill>
                <a:latin typeface="黑体" panose="02010609060101010101" pitchFamily="49" charset="-122"/>
                <a:cs typeface="+mj-cs"/>
              </a:rPr>
              <a:t>-1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5843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701502" y="2067824"/>
            <a:ext cx="7920880" cy="4771114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数据段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zh-CN" sz="2000" b="1" dirty="0">
                <a:latin typeface="+mn-lt"/>
              </a:rPr>
              <a:t>key	byte 234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zh-CN" sz="2000" b="1" dirty="0" err="1">
                <a:latin typeface="+mn-lt"/>
              </a:rPr>
              <a:t>bufnum</a:t>
            </a:r>
            <a:r>
              <a:rPr lang="en-US" altLang="zh-CN" sz="2000" b="1" dirty="0">
                <a:latin typeface="+mn-lt"/>
              </a:rPr>
              <a:t>	= 255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zh-CN" sz="2000" b="1" dirty="0">
                <a:latin typeface="+mn-lt"/>
              </a:rPr>
              <a:t>buffer	byte bufnum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+1</a:t>
            </a:r>
            <a:r>
              <a:rPr lang="en-US" altLang="zh-CN" sz="2000" b="1" dirty="0">
                <a:latin typeface="+mn-lt"/>
              </a:rPr>
              <a:t> dup(0)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定义输入需要的缓冲区，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结束标志</a:t>
            </a:r>
            <a:endParaRPr lang="zh-CN" altLang="en-US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zh-CN" sz="2000" b="1" dirty="0">
                <a:latin typeface="+mn-lt"/>
              </a:rPr>
              <a:t>msg1	byte 'Enter </a:t>
            </a:r>
            <a:r>
              <a:rPr lang="en-US" altLang="zh-CN" sz="2000" b="1" dirty="0" err="1">
                <a:latin typeface="+mn-lt"/>
              </a:rPr>
              <a:t>messge</a:t>
            </a:r>
            <a:r>
              <a:rPr lang="en-US" altLang="zh-CN" sz="2000" b="1" dirty="0">
                <a:latin typeface="+mn-lt"/>
              </a:rPr>
              <a:t>: ',0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zh-CN" sz="2000" b="1" dirty="0">
                <a:latin typeface="+mn-lt"/>
              </a:rPr>
              <a:t>msg2	byte 'Encrypted message: ',0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zh-CN" sz="2000" b="1" dirty="0">
                <a:latin typeface="+mn-lt"/>
              </a:rPr>
              <a:t>msg3	byte 13,10,'Original </a:t>
            </a:r>
            <a:r>
              <a:rPr lang="en-US" altLang="zh-CN" sz="2000" b="1" dirty="0" err="1">
                <a:latin typeface="+mn-lt"/>
              </a:rPr>
              <a:t>messge</a:t>
            </a:r>
            <a:r>
              <a:rPr lang="en-US" altLang="zh-CN" sz="2000" b="1" dirty="0">
                <a:latin typeface="+mn-lt"/>
              </a:rPr>
              <a:t>: ',0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代码段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eax,offset</a:t>
            </a:r>
            <a:r>
              <a:rPr lang="en-US" altLang="zh-CN" sz="2000" b="1" dirty="0">
                <a:latin typeface="+mn-lt"/>
              </a:rPr>
              <a:t> msg1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提示输入字符串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dispmsg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eax,offset</a:t>
            </a:r>
            <a:r>
              <a:rPr lang="en-US" altLang="zh-CN" sz="2000" b="1" dirty="0">
                <a:latin typeface="+mn-lt"/>
              </a:rPr>
              <a:t> buffer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设置入口参数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EAX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readmsg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     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调用输入字符串子程序，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EAX=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字符个数</a:t>
            </a:r>
            <a:endParaRPr lang="en-US" altLang="zh-CN" sz="2000" b="1" dirty="0">
              <a:latin typeface="+mn-lt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611560" y="664121"/>
            <a:ext cx="7992888" cy="963666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例：从键盘输入一个</a:t>
            </a:r>
            <a:r>
              <a:rPr lang="zh-CN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字符串</a:t>
            </a:r>
            <a:r>
              <a:rPr lang="en-US" altLang="zh-CN" sz="24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(X)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，使用一个</a:t>
            </a:r>
            <a:r>
              <a:rPr lang="zh-CN" altLang="en-US" sz="24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字节量密钥</a:t>
            </a:r>
            <a:r>
              <a:rPr lang="en-US" altLang="zh-CN" sz="2400" dirty="0">
                <a:solidFill>
                  <a:schemeClr val="tx1"/>
                </a:solidFill>
                <a:highlight>
                  <a:srgbClr val="FFFF00"/>
                </a:highlight>
                <a:latin typeface="+mn-lt"/>
              </a:rPr>
              <a:t>(Y)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将字符串进行加密保存并显示加密后的密文，然后使用同一个密钥进行解密，并显示解密后的明文。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AutoShape 4"/>
          <p:cNvSpPr>
            <a:spLocks noChangeArrowheads="1"/>
          </p:cNvSpPr>
          <p:nvPr/>
        </p:nvSpPr>
        <p:spPr bwMode="auto">
          <a:xfrm>
            <a:off x="5076056" y="2094756"/>
            <a:ext cx="3528392" cy="907102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12700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利用逻辑异或</a:t>
            </a: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XOR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的特性：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l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X⊕Y⊕Y=X</a:t>
            </a:r>
            <a:endParaRPr lang="en-US" altLang="zh-CN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4-16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简单加密解密程序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-2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5843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467544" y="812946"/>
            <a:ext cx="8342295" cy="5712398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highlight>
                  <a:srgbClr val="FFFF00"/>
                </a:highlight>
                <a:latin typeface="+mn-lt"/>
              </a:rPr>
              <a:t>push </a:t>
            </a:r>
            <a:r>
              <a:rPr lang="en-US" altLang="zh-CN" sz="2000" b="1" dirty="0" err="1">
                <a:highlight>
                  <a:srgbClr val="FFFF00"/>
                </a:highlight>
                <a:latin typeface="+mn-lt"/>
              </a:rPr>
              <a:t>eax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字符个数保存进入堆栈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ecx,eax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ECX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＝实际输入的字符个数，作为循环的次数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xor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ebx,ebx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EBX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指向输入字符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al,key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AL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＝加密关键字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 err="1">
                <a:latin typeface="+mn-lt"/>
              </a:rPr>
              <a:t>encrypt:xor</a:t>
            </a:r>
            <a:r>
              <a:rPr lang="en-US" altLang="zh-CN" sz="2000" b="1" dirty="0">
                <a:latin typeface="+mn-lt"/>
              </a:rPr>
              <a:t> buffer[</a:t>
            </a:r>
            <a:r>
              <a:rPr lang="en-US" altLang="zh-CN" sz="2000" b="1" dirty="0" err="1">
                <a:latin typeface="+mn-lt"/>
              </a:rPr>
              <a:t>ebx</a:t>
            </a:r>
            <a:r>
              <a:rPr lang="en-US" altLang="zh-CN" sz="2000" b="1" dirty="0">
                <a:latin typeface="+mn-lt"/>
              </a:rPr>
              <a:t>],al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异或加密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inc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ebx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dec 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ecx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		; 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等同于指令：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loop encrypt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jnz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 encrypt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处理下一个字符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eax,offset</a:t>
            </a:r>
            <a:r>
              <a:rPr lang="en-US" altLang="zh-CN" sz="2000" b="1" dirty="0">
                <a:latin typeface="+mn-lt"/>
              </a:rPr>
              <a:t> msg2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dispmsg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eax,offset</a:t>
            </a:r>
            <a:r>
              <a:rPr lang="en-US" altLang="zh-CN" sz="2000" b="1" dirty="0">
                <a:latin typeface="+mn-lt"/>
              </a:rPr>
              <a:t> buffer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显示密文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dispmsg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highlight>
                  <a:srgbClr val="FFFF00"/>
                </a:highlight>
                <a:latin typeface="+mn-lt"/>
              </a:rPr>
              <a:t>pop </a:t>
            </a:r>
            <a:r>
              <a:rPr lang="en-US" altLang="zh-CN" sz="2000" b="1" dirty="0" err="1">
                <a:highlight>
                  <a:srgbClr val="FFFF00"/>
                </a:highlight>
                <a:latin typeface="+mn-lt"/>
              </a:rPr>
              <a:t>ecx</a:t>
            </a:r>
            <a:r>
              <a:rPr lang="en-US" altLang="zh-CN" sz="2000" b="1" dirty="0">
                <a:highlight>
                  <a:srgbClr val="FFFF00"/>
                </a:highlight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00B050"/>
                </a:solidFill>
                <a:highlight>
                  <a:srgbClr val="FFFF00"/>
                </a:highlight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highlight>
                  <a:srgbClr val="FFFF00"/>
                </a:highlight>
                <a:latin typeface="+mn-lt"/>
              </a:rPr>
              <a:t>从堆栈弹出字符个数，放入</a:t>
            </a:r>
            <a:r>
              <a:rPr lang="en-US" altLang="zh-CN" sz="2000" b="1" dirty="0">
                <a:solidFill>
                  <a:srgbClr val="00B050"/>
                </a:solidFill>
                <a:highlight>
                  <a:srgbClr val="FFFF00"/>
                </a:highlight>
                <a:latin typeface="+mn-lt"/>
              </a:rPr>
              <a:t>ECX</a:t>
            </a:r>
            <a:r>
              <a:rPr lang="zh-CN" altLang="en-US" sz="2000" b="1" dirty="0">
                <a:solidFill>
                  <a:srgbClr val="00B050"/>
                </a:solidFill>
                <a:highlight>
                  <a:srgbClr val="FFFF00"/>
                </a:highlight>
                <a:latin typeface="+mn-lt"/>
              </a:rPr>
              <a:t>作为循环次数</a:t>
            </a:r>
            <a:endParaRPr lang="en-US" altLang="zh-CN" sz="2000" b="1" dirty="0">
              <a:highlight>
                <a:srgbClr val="FFFF00"/>
              </a:highlight>
              <a:latin typeface="+mn-lt"/>
            </a:endParaRPr>
          </a:p>
        </p:txBody>
      </p:sp>
      <p:sp>
        <p:nvSpPr>
          <p:cNvPr id="7" name="AutoShape 4"/>
          <p:cNvSpPr>
            <a:spLocks noChangeArrowheads="1"/>
          </p:cNvSpPr>
          <p:nvPr/>
        </p:nvSpPr>
        <p:spPr bwMode="auto">
          <a:xfrm>
            <a:off x="5260412" y="4312573"/>
            <a:ext cx="3528392" cy="907102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12700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利用字符个数控制循环：</a:t>
            </a:r>
            <a:endParaRPr lang="zh-CN" altLang="en-US" sz="20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l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为了保存字符个数，使用堆栈</a:t>
            </a:r>
            <a:endParaRPr lang="zh-CN" altLang="en-US" sz="20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467544" y="2636912"/>
            <a:ext cx="3024336" cy="1728192"/>
          </a:xfrm>
          <a:prstGeom prst="rect">
            <a:avLst/>
          </a:prstGeom>
          <a:noFill/>
          <a:ln w="19050">
            <a:solidFill>
              <a:srgbClr val="00B05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tabLst>
                <a:tab pos="2514600" algn="l"/>
              </a:tabLst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83058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tabLst>
                <a:tab pos="2514600" algn="l"/>
              </a:tabLst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23825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tabLst>
                <a:tab pos="2514600" algn="l"/>
              </a:tabLst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46555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b="0" dirty="0">
              <a:latin typeface="+mn-lt"/>
              <a:ea typeface="黑体" panose="02010609060101010101" pitchFamily="49" charset="-122"/>
            </a:endParaRPr>
          </a:p>
        </p:txBody>
      </p:sp>
      <p:cxnSp>
        <p:nvCxnSpPr>
          <p:cNvPr id="4" name="直接箭头连接符 3"/>
          <p:cNvCxnSpPr/>
          <p:nvPr/>
        </p:nvCxnSpPr>
        <p:spPr bwMode="auto">
          <a:xfrm flipV="1">
            <a:off x="3491880" y="3717032"/>
            <a:ext cx="741852" cy="216024"/>
          </a:xfrm>
          <a:prstGeom prst="straightConnector1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grpSp>
        <p:nvGrpSpPr>
          <p:cNvPr id="5" name="Group 16"/>
          <p:cNvGrpSpPr/>
          <p:nvPr/>
        </p:nvGrpSpPr>
        <p:grpSpPr bwMode="auto">
          <a:xfrm>
            <a:off x="-45509" y="1416913"/>
            <a:ext cx="1521794" cy="1093561"/>
            <a:chOff x="291" y="576"/>
            <a:chExt cx="923" cy="1072"/>
          </a:xfrm>
        </p:grpSpPr>
        <p:sp>
          <p:nvSpPr>
            <p:cNvPr id="9" name="AutoShape 5"/>
            <p:cNvSpPr/>
            <p:nvPr/>
          </p:nvSpPr>
          <p:spPr bwMode="auto">
            <a:xfrm flipH="1">
              <a:off x="1043" y="576"/>
              <a:ext cx="171" cy="1072"/>
            </a:xfrm>
            <a:prstGeom prst="rightBrace">
              <a:avLst>
                <a:gd name="adj1" fmla="val 22676"/>
                <a:gd name="adj2" fmla="val 50778"/>
              </a:avLst>
            </a:prstGeom>
            <a:noFill/>
            <a:ln w="19050">
              <a:solidFill>
                <a:srgbClr val="66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 flipH="1">
              <a:off x="291" y="712"/>
              <a:ext cx="820" cy="6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encrypt</a:t>
              </a: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循</a:t>
              </a:r>
              <a:endPara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环的初始</a:t>
              </a:r>
              <a:endPara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4-11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简单加密解密程序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-3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5843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478430" y="802804"/>
            <a:ext cx="8280920" cy="5146089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strike="sngStrike" dirty="0">
                <a:highlight>
                  <a:srgbClr val="FFFF00"/>
                </a:highlight>
                <a:latin typeface="+mn-lt"/>
              </a:rPr>
              <a:t>pop </a:t>
            </a:r>
            <a:r>
              <a:rPr lang="en-US" altLang="zh-CN" sz="2000" b="1" strike="sngStrike" dirty="0" err="1">
                <a:highlight>
                  <a:srgbClr val="FFFF00"/>
                </a:highlight>
                <a:latin typeface="+mn-lt"/>
              </a:rPr>
              <a:t>ecx</a:t>
            </a:r>
            <a:r>
              <a:rPr lang="en-US" altLang="zh-CN" sz="2000" b="1" strike="sngStrike" dirty="0">
                <a:highlight>
                  <a:srgbClr val="FFFF00"/>
                </a:highlight>
                <a:latin typeface="+mn-lt"/>
              </a:rPr>
              <a:t>	</a:t>
            </a:r>
            <a:r>
              <a:rPr lang="en-US" altLang="zh-CN" sz="2000" b="1" strike="sngStrike" dirty="0">
                <a:latin typeface="+mn-lt"/>
              </a:rPr>
              <a:t>	</a:t>
            </a:r>
            <a:r>
              <a:rPr lang="en-US" altLang="zh-CN" sz="2000" b="1" strike="sngStrike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strike="sngStrike" dirty="0">
                <a:solidFill>
                  <a:srgbClr val="00B050"/>
                </a:solidFill>
                <a:latin typeface="+mn-lt"/>
              </a:rPr>
              <a:t>从堆栈弹出字符个数，放入</a:t>
            </a:r>
            <a:r>
              <a:rPr lang="en-US" altLang="zh-CN" sz="2000" b="1" strike="sngStrike" dirty="0">
                <a:solidFill>
                  <a:srgbClr val="00B050"/>
                </a:solidFill>
                <a:latin typeface="+mn-lt"/>
              </a:rPr>
              <a:t>ECX</a:t>
            </a:r>
            <a:r>
              <a:rPr lang="zh-CN" altLang="en-US" sz="2000" b="1" strike="sngStrike" dirty="0">
                <a:solidFill>
                  <a:srgbClr val="00B050"/>
                </a:solidFill>
                <a:latin typeface="+mn-lt"/>
              </a:rPr>
              <a:t>作为循环次数</a:t>
            </a: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 err="1">
                <a:highlight>
                  <a:srgbClr val="FFFF00"/>
                </a:highlight>
                <a:latin typeface="+mn-lt"/>
              </a:rPr>
              <a:t>xor</a:t>
            </a:r>
            <a:r>
              <a:rPr lang="en-US" altLang="zh-CN" sz="2000" b="1" dirty="0">
                <a:highlight>
                  <a:srgbClr val="FFFF00"/>
                </a:highlight>
                <a:latin typeface="+mn-lt"/>
              </a:rPr>
              <a:t> </a:t>
            </a:r>
            <a:r>
              <a:rPr lang="en-US" altLang="zh-CN" sz="2000" b="1" dirty="0" err="1">
                <a:highlight>
                  <a:srgbClr val="FFFF00"/>
                </a:highlight>
                <a:latin typeface="+mn-lt"/>
              </a:rPr>
              <a:t>ebx,ebx</a:t>
            </a:r>
            <a:r>
              <a:rPr lang="en-US" altLang="zh-CN" sz="2000" b="1" dirty="0">
                <a:latin typeface="+mn-lt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EBX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指向输入字符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highlight>
                  <a:srgbClr val="FFFF00"/>
                </a:highlight>
                <a:latin typeface="+mn-lt"/>
              </a:rPr>
              <a:t>mov </a:t>
            </a:r>
            <a:r>
              <a:rPr lang="en-US" altLang="zh-CN" sz="2000" b="1" dirty="0" err="1">
                <a:highlight>
                  <a:srgbClr val="FFFF00"/>
                </a:highlight>
                <a:latin typeface="+mn-lt"/>
              </a:rPr>
              <a:t>al,key</a:t>
            </a:r>
            <a:r>
              <a:rPr lang="en-US" altLang="zh-CN" sz="2000" b="1" dirty="0">
                <a:latin typeface="+mn-lt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AL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＝解密关键字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 err="1">
                <a:latin typeface="+mn-lt"/>
              </a:rPr>
              <a:t>decrypt:xor</a:t>
            </a:r>
            <a:r>
              <a:rPr lang="en-US" altLang="zh-CN" sz="2000" b="1" dirty="0">
                <a:latin typeface="+mn-lt"/>
              </a:rPr>
              <a:t> buffer[</a:t>
            </a:r>
            <a:r>
              <a:rPr lang="en-US" altLang="zh-CN" sz="2000" b="1" dirty="0" err="1">
                <a:latin typeface="+mn-lt"/>
              </a:rPr>
              <a:t>ebx</a:t>
            </a:r>
            <a:r>
              <a:rPr lang="en-US" altLang="zh-CN" sz="2000" b="1" dirty="0">
                <a:latin typeface="+mn-lt"/>
              </a:rPr>
              <a:t>],al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异或解密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inc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ebx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dec 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ecx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		 ; 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等同于指令：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loop decrypt</a:t>
            </a:r>
            <a:endParaRPr lang="en-US" altLang="zh-CN" sz="2000" b="1" dirty="0">
              <a:solidFill>
                <a:srgbClr val="FF000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	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jnz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 decrypt</a:t>
            </a:r>
            <a:r>
              <a:rPr lang="en-US" altLang="zh-CN" sz="2000" b="1" dirty="0">
                <a:latin typeface="+mn-lt"/>
              </a:rPr>
              <a:t>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处理下一个字符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mov </a:t>
            </a:r>
            <a:r>
              <a:rPr lang="en-US" altLang="zh-CN" sz="2000" b="1" dirty="0" err="1">
                <a:latin typeface="+mn-lt"/>
              </a:rPr>
              <a:t>eax,offset</a:t>
            </a:r>
            <a:r>
              <a:rPr lang="en-US" altLang="zh-CN" sz="2000" b="1" dirty="0">
                <a:latin typeface="+mn-lt"/>
              </a:rPr>
              <a:t> msg3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call </a:t>
            </a:r>
            <a:r>
              <a:rPr lang="en-US" altLang="zh-CN" sz="2000" b="1" dirty="0" err="1">
                <a:latin typeface="+mn-lt"/>
              </a:rPr>
              <a:t>dispmsg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mov </a:t>
            </a:r>
            <a:r>
              <a:rPr lang="en-US" altLang="zh-CN" sz="2000" b="1" dirty="0" err="1">
                <a:latin typeface="+mn-lt"/>
              </a:rPr>
              <a:t>eax,offset</a:t>
            </a:r>
            <a:r>
              <a:rPr lang="en-US" altLang="zh-CN" sz="2000" b="1" dirty="0">
                <a:latin typeface="+mn-lt"/>
              </a:rPr>
              <a:t> buffer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显示明文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en-US" sz="2000" b="1" dirty="0"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dispmsg</a:t>
            </a:r>
            <a:endParaRPr lang="en-US" altLang="zh-CN" sz="2000" b="1" dirty="0">
              <a:latin typeface="+mn-lt"/>
            </a:endParaRPr>
          </a:p>
        </p:txBody>
      </p:sp>
      <p:sp>
        <p:nvSpPr>
          <p:cNvPr id="2" name="AutoShape 4"/>
          <p:cNvSpPr>
            <a:spLocks noChangeArrowheads="1"/>
          </p:cNvSpPr>
          <p:nvPr/>
        </p:nvSpPr>
        <p:spPr bwMode="auto">
          <a:xfrm>
            <a:off x="478430" y="6083771"/>
            <a:ext cx="8280920" cy="504056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12700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encrypt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和</a:t>
            </a:r>
            <a:r>
              <a:rPr lang="en-US" altLang="zh-CN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decrypt</a:t>
            </a:r>
            <a:r>
              <a:rPr lang="zh-CN" altLang="en-US" sz="22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中两次循环都利用字符个数控制循环</a:t>
            </a:r>
            <a:endParaRPr lang="zh-CN" altLang="en-US" sz="22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478430" y="2204864"/>
            <a:ext cx="3024336" cy="1872208"/>
          </a:xfrm>
          <a:prstGeom prst="rect">
            <a:avLst/>
          </a:prstGeom>
          <a:noFill/>
          <a:ln w="19050">
            <a:solidFill>
              <a:srgbClr val="00B05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tabLst>
                <a:tab pos="2514600" algn="l"/>
              </a:tabLst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83058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tabLst>
                <a:tab pos="2514600" algn="l"/>
              </a:tabLst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23825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tabLst>
                <a:tab pos="2514600" algn="l"/>
              </a:tabLst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46555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b="0" dirty="0">
              <a:latin typeface="+mn-lt"/>
              <a:ea typeface="黑体" panose="02010609060101010101" pitchFamily="49" charset="-122"/>
            </a:endParaRPr>
          </a:p>
        </p:txBody>
      </p:sp>
      <p:cxnSp>
        <p:nvCxnSpPr>
          <p:cNvPr id="7" name="直接箭头连接符 6"/>
          <p:cNvCxnSpPr/>
          <p:nvPr/>
        </p:nvCxnSpPr>
        <p:spPr bwMode="auto">
          <a:xfrm flipV="1">
            <a:off x="3502766" y="3367878"/>
            <a:ext cx="741852" cy="216024"/>
          </a:xfrm>
          <a:prstGeom prst="straightConnector1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6743126" y="825826"/>
            <a:ext cx="2016224" cy="1235022"/>
          </a:xfrm>
          <a:prstGeom prst="rect">
            <a:avLst/>
          </a:prstGeom>
          <a:solidFill>
            <a:srgbClr val="336600"/>
          </a:solidFill>
          <a:ln w="9525">
            <a:solidFill>
              <a:srgbClr val="FF0066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189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defTabSz="762000" eaLnBrk="0" hangingPunct="0">
              <a:spcBef>
                <a:spcPct val="20000"/>
              </a:spcBef>
              <a:buChar char="•"/>
              <a:defRPr kumimoji="1" sz="44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562100" indent="-228600" algn="l" defTabSz="762000" eaLnBrk="0" hangingPunct="0">
              <a:spcBef>
                <a:spcPct val="20000"/>
              </a:spcBef>
              <a:buChar char="–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81200" indent="-228600" algn="l" defTabSz="762000" eaLnBrk="0" hangingPunct="0">
              <a:spcBef>
                <a:spcPct val="20000"/>
              </a:spcBef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4384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95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352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10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600">
                <a:solidFill>
                  <a:srgbClr val="4D4D4D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 algn="just">
              <a:buNone/>
            </a:pPr>
            <a:r>
              <a:rPr lang="zh-CN" altLang="en-US" sz="2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第二个循环的初始，需要重新赋初值</a:t>
            </a:r>
            <a:endParaRPr lang="en-US" altLang="zh-CN" sz="24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5" name="Group 16"/>
          <p:cNvGrpSpPr/>
          <p:nvPr/>
        </p:nvGrpSpPr>
        <p:grpSpPr bwMode="auto">
          <a:xfrm>
            <a:off x="-44740" y="1304624"/>
            <a:ext cx="1534984" cy="878754"/>
            <a:chOff x="305" y="747"/>
            <a:chExt cx="931" cy="1041"/>
          </a:xfrm>
        </p:grpSpPr>
        <p:sp>
          <p:nvSpPr>
            <p:cNvPr id="9" name="AutoShape 5"/>
            <p:cNvSpPr/>
            <p:nvPr/>
          </p:nvSpPr>
          <p:spPr bwMode="auto">
            <a:xfrm flipH="1">
              <a:off x="1052" y="747"/>
              <a:ext cx="184" cy="1041"/>
            </a:xfrm>
            <a:prstGeom prst="rightBrace">
              <a:avLst>
                <a:gd name="adj1" fmla="val 22676"/>
                <a:gd name="adj2" fmla="val 50778"/>
              </a:avLst>
            </a:prstGeom>
            <a:noFill/>
            <a:ln w="19050">
              <a:solidFill>
                <a:srgbClr val="66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 flipH="1">
              <a:off x="305" y="790"/>
              <a:ext cx="820" cy="83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decrypt</a:t>
              </a: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循</a:t>
              </a:r>
              <a:endPara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环的初始</a:t>
              </a:r>
              <a:endPara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4-16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简单加密解密程序运行实例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5843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528" y="1231323"/>
            <a:ext cx="4032448" cy="104554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3063" y="1227099"/>
            <a:ext cx="4404084" cy="1045549"/>
          </a:xfrm>
          <a:prstGeom prst="rect">
            <a:avLst/>
          </a:prstGeom>
        </p:spPr>
      </p:pic>
      <p:cxnSp>
        <p:nvCxnSpPr>
          <p:cNvPr id="17" name="直接连接符 16"/>
          <p:cNvCxnSpPr/>
          <p:nvPr/>
        </p:nvCxnSpPr>
        <p:spPr bwMode="auto">
          <a:xfrm>
            <a:off x="311567" y="4725144"/>
            <a:ext cx="8508905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398" y="4797157"/>
            <a:ext cx="8556453" cy="1944211"/>
          </a:xfrm>
          <a:prstGeom prst="rect">
            <a:avLst/>
          </a:prstGeom>
        </p:spPr>
      </p:pic>
      <p:sp>
        <p:nvSpPr>
          <p:cNvPr id="21" name="内容占位符 2"/>
          <p:cNvSpPr txBox="1"/>
          <p:nvPr/>
        </p:nvSpPr>
        <p:spPr>
          <a:xfrm>
            <a:off x="209253" y="2290250"/>
            <a:ext cx="8757894" cy="561496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highlight>
                  <a:srgbClr val="FFFF00"/>
                </a:highlight>
                <a:latin typeface="+mn-lt"/>
              </a:rPr>
              <a:t>实践：如何利用</a:t>
            </a:r>
            <a:r>
              <a:rPr lang="en-US" altLang="zh-CN" sz="2400" dirty="0">
                <a:highlight>
                  <a:srgbClr val="FFFF00"/>
                </a:highlight>
                <a:latin typeface="+mn-lt"/>
              </a:rPr>
              <a:t>C</a:t>
            </a:r>
            <a:r>
              <a:rPr lang="zh-CN" altLang="en-US" sz="2400" dirty="0">
                <a:highlight>
                  <a:srgbClr val="FFFF00"/>
                </a:highlight>
                <a:latin typeface="+mn-lt"/>
              </a:rPr>
              <a:t>程序库输入带空格的字符串并求其长度？</a:t>
            </a:r>
            <a:endParaRPr lang="zh-CN" altLang="en-US" sz="2400" dirty="0">
              <a:highlight>
                <a:srgbClr val="FFFF00"/>
              </a:highlight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4000" dirty="0">
              <a:latin typeface="+mn-lt"/>
            </a:endParaRPr>
          </a:p>
        </p:txBody>
      </p:sp>
      <p:sp>
        <p:nvSpPr>
          <p:cNvPr id="22" name="内容占位符 2"/>
          <p:cNvSpPr txBox="1"/>
          <p:nvPr/>
        </p:nvSpPr>
        <p:spPr>
          <a:xfrm>
            <a:off x="232470" y="620688"/>
            <a:ext cx="8280920" cy="561496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latin typeface="+mn-lt"/>
              </a:rPr>
              <a:t>运行结果：</a:t>
            </a:r>
            <a:endParaRPr lang="en-US" altLang="zh-CN" sz="4000" dirty="0">
              <a:latin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398" y="2831083"/>
            <a:ext cx="6450912" cy="94113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567" y="3936297"/>
            <a:ext cx="2585418" cy="694859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 bwMode="auto">
          <a:xfrm>
            <a:off x="281012" y="3825880"/>
            <a:ext cx="8508905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323528" y="723217"/>
            <a:ext cx="8424936" cy="5855085"/>
          </a:xfrm>
          <a:prstGeom prst="rect">
            <a:avLst/>
          </a:prstGeom>
        </p:spPr>
        <p:txBody>
          <a:bodyPr/>
          <a:lstStyle/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根据条件决定是否进行循环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使用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CMP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、</a:t>
            </a:r>
            <a:r>
              <a:rPr lang="en-US" altLang="zh-CN" sz="2400" dirty="0">
                <a:solidFill>
                  <a:schemeClr val="tx1"/>
                </a:solidFill>
                <a:latin typeface="+mn-lt"/>
              </a:rPr>
              <a:t>TEST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等指令设置状态标志、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产生条件</a:t>
            </a:r>
            <a:endParaRPr lang="en-US" altLang="zh-CN" sz="2400" dirty="0">
              <a:solidFill>
                <a:srgbClr val="FF0000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需要使用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条件转移指令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实现循环控制，多为“先判断、后循环”结构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常需要使用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无条件转移指令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配合实现循环</a:t>
            </a: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800" dirty="0">
                <a:latin typeface="+mn-lt"/>
              </a:rPr>
              <a:t>“先判断、后循环” 的条件控制循环程序</a:t>
            </a:r>
            <a:endParaRPr lang="zh-CN" altLang="en-US" sz="2800" dirty="0"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类似双分支结构，主要分支需要重复执行多次（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JMP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的目标位置是循环开始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），另一分支用于跳出循环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>
              <a:lnSpc>
                <a:spcPct val="130000"/>
              </a:lnSpc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sz="2400" dirty="0">
              <a:solidFill>
                <a:schemeClr val="tx1"/>
              </a:solidFill>
              <a:latin typeface="+mn-lt"/>
            </a:endParaRPr>
          </a:p>
          <a:p>
            <a:pPr marL="457200" indent="-457200" algn="just">
              <a:lnSpc>
                <a:spcPct val="130000"/>
              </a:lnSpc>
              <a:spcBef>
                <a:spcPts val="20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4000" dirty="0"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4.3.3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条件控制循环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69269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AutoShape 4"/>
          <p:cNvSpPr>
            <a:spLocks noChangeArrowheads="1"/>
          </p:cNvSpPr>
          <p:nvPr/>
        </p:nvSpPr>
        <p:spPr bwMode="auto">
          <a:xfrm>
            <a:off x="960714" y="5301208"/>
            <a:ext cx="7704856" cy="936103"/>
          </a:xfrm>
          <a:prstGeom prst="roundRect">
            <a:avLst>
              <a:gd name="adj" fmla="val 16667"/>
            </a:avLst>
          </a:prstGeom>
          <a:solidFill>
            <a:schemeClr val="accent3">
              <a:lumMod val="75000"/>
            </a:schemeClr>
          </a:solidFill>
          <a:ln w="12700">
            <a:solidFill>
              <a:schemeClr val="accent1"/>
            </a:solidFill>
            <a:round/>
          </a:ln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l" eaLnBrk="1" hangingPunct="1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条件控制循环：</a:t>
            </a:r>
            <a:endParaRPr lang="en-US" altLang="zh-CN" sz="24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l" eaLnBrk="1" hangingPunct="1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黑体" panose="02010609060101010101" pitchFamily="49" charset="-122"/>
              </a:rPr>
              <a:t>主要用于循环次数未知，但循环结束条件已知的情况</a:t>
            </a:r>
            <a:endParaRPr lang="en-US" altLang="zh-CN" sz="2400" b="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4-17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字符个数统计程序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5843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701502" y="2067824"/>
            <a:ext cx="7992888" cy="4774192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数据段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zh-CN" sz="2000" b="1" dirty="0">
                <a:latin typeface="+mn-lt"/>
              </a:rPr>
              <a:t>string	byte ‘Do you have fun with Assembly?’,0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以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0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结尾的字符串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代码段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xor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ebx,ebx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EBX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用于记录字符个数，也用于指向字符的指针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zh-CN" sz="2000" b="1" dirty="0">
                <a:latin typeface="+mn-lt"/>
              </a:rPr>
              <a:t>again:	mov </a:t>
            </a:r>
            <a:r>
              <a:rPr lang="en-US" altLang="zh-CN" sz="2000" b="1" dirty="0" err="1">
                <a:latin typeface="+mn-lt"/>
              </a:rPr>
              <a:t>al,string</a:t>
            </a:r>
            <a:r>
              <a:rPr lang="en-US" altLang="zh-CN" sz="2000" b="1" dirty="0">
                <a:latin typeface="+mn-lt"/>
              </a:rPr>
              <a:t>[</a:t>
            </a:r>
            <a:r>
              <a:rPr lang="en-US" altLang="zh-CN" sz="2000" b="1" dirty="0" err="1">
                <a:latin typeface="+mn-lt"/>
              </a:rPr>
              <a:t>ebx</a:t>
            </a:r>
            <a:r>
              <a:rPr lang="en-US" altLang="zh-CN" sz="2000" b="1" dirty="0">
                <a:latin typeface="+mn-lt"/>
              </a:rPr>
              <a:t>]</a:t>
            </a:r>
            <a:endParaRPr lang="en-US" altLang="zh-CN" sz="2000" b="1" dirty="0">
              <a:latin typeface="+mn-lt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cmp</a:t>
            </a:r>
            <a:r>
              <a:rPr lang="en-US" altLang="zh-CN" sz="2000" b="1" dirty="0">
                <a:latin typeface="+mn-lt"/>
              </a:rPr>
              <a:t> al,0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也可用指令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test al, al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jz</a:t>
            </a:r>
            <a:r>
              <a:rPr lang="en-US" altLang="zh-CN" sz="2000" b="1" dirty="0">
                <a:latin typeface="+mn-lt"/>
              </a:rPr>
              <a:t> done		</a:t>
            </a:r>
            <a:r>
              <a:rPr lang="en-US" altLang="zh-CN" sz="2000" b="1" dirty="0">
                <a:solidFill>
                  <a:srgbClr val="FF000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 循环结束条件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，利用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条件转移指令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跳出循环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zh-CN" sz="2000" b="1" dirty="0">
                <a:latin typeface="+mn-lt"/>
              </a:rPr>
              <a:t>	</a:t>
            </a:r>
            <a:r>
              <a:rPr lang="en-US" altLang="zh-CN" sz="2000" b="1" dirty="0" err="1">
                <a:latin typeface="+mn-lt"/>
              </a:rPr>
              <a:t>inc</a:t>
            </a:r>
            <a:r>
              <a:rPr lang="en-US" altLang="zh-CN" sz="2000" b="1" dirty="0">
                <a:latin typeface="+mn-lt"/>
              </a:rPr>
              <a:t> </a:t>
            </a:r>
            <a:r>
              <a:rPr lang="en-US" altLang="zh-CN" sz="2000" b="1" dirty="0" err="1">
                <a:latin typeface="+mn-lt"/>
              </a:rPr>
              <a:t>ebx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个数加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</a:t>
            </a:r>
            <a:r>
              <a:rPr lang="en-US" altLang="zh-CN" sz="2000" b="1" dirty="0" err="1">
                <a:solidFill>
                  <a:srgbClr val="00B050"/>
                </a:solidFill>
                <a:latin typeface="+mn-lt"/>
              </a:rPr>
              <a:t>ebx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统计字符个数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 err="1">
                <a:solidFill>
                  <a:srgbClr val="FF0000"/>
                </a:solidFill>
                <a:latin typeface="+mn-lt"/>
              </a:rPr>
              <a:t>jmp</a:t>
            </a:r>
            <a:r>
              <a:rPr lang="en-US" altLang="zh-CN" sz="2000" b="1" dirty="0">
                <a:latin typeface="+mn-lt"/>
              </a:rPr>
              <a:t> again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利用</a:t>
            </a:r>
            <a:r>
              <a:rPr lang="zh-CN" altLang="en-US" sz="2000" b="1" dirty="0">
                <a:solidFill>
                  <a:srgbClr val="FF0000"/>
                </a:solidFill>
                <a:latin typeface="+mn-lt"/>
              </a:rPr>
              <a:t>无条件转移指令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实现循环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zh-CN" sz="2000" b="1" dirty="0">
                <a:latin typeface="+mn-lt"/>
              </a:rPr>
              <a:t>done:	mov </a:t>
            </a:r>
            <a:r>
              <a:rPr lang="en-US" altLang="zh-CN" sz="2000" b="1" dirty="0" err="1">
                <a:latin typeface="+mn-lt"/>
              </a:rPr>
              <a:t>eax,ebx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	; 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显示个数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	</a:t>
            </a:r>
            <a:r>
              <a:rPr lang="en-US" altLang="zh-CN" sz="2000" b="1" dirty="0">
                <a:latin typeface="+mn-lt"/>
              </a:rPr>
              <a:t>call </a:t>
            </a:r>
            <a:r>
              <a:rPr lang="en-US" altLang="zh-CN" sz="2000" b="1" dirty="0" err="1">
                <a:latin typeface="+mn-lt"/>
              </a:rPr>
              <a:t>dispuid</a:t>
            </a:r>
            <a:endParaRPr lang="en-US" altLang="zh-CN" sz="2000" b="1" dirty="0">
              <a:latin typeface="+mn-lt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611560" y="664120"/>
            <a:ext cx="8082830" cy="1403703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例：已知某个字符串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以</a:t>
            </a:r>
            <a:r>
              <a:rPr lang="en-US" altLang="zh-CN" sz="2400" dirty="0">
                <a:solidFill>
                  <a:srgbClr val="FF0000"/>
                </a:solidFill>
                <a:latin typeface="+mn-lt"/>
              </a:rPr>
              <a:t>0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结尾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，统计其包含的字符个数，即计算字符串长度。循环次数未知，但</a:t>
            </a:r>
            <a:r>
              <a:rPr lang="zh-CN" altLang="en-US" sz="2400" dirty="0">
                <a:solidFill>
                  <a:srgbClr val="FF0000"/>
                </a:solidFill>
                <a:latin typeface="+mn-lt"/>
              </a:rPr>
              <a:t>循环结束条件</a:t>
            </a: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已知（条件控制循环），同时应该先判断、后循环</a:t>
            </a:r>
            <a:endParaRPr lang="en-US" altLang="zh-CN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1475656" y="4509120"/>
            <a:ext cx="1368152" cy="792088"/>
          </a:xfrm>
          <a:prstGeom prst="rect">
            <a:avLst/>
          </a:prstGeom>
          <a:noFill/>
          <a:ln w="19050">
            <a:solidFill>
              <a:srgbClr val="00B050"/>
            </a:solidFill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Ø"/>
              <a:tabLst>
                <a:tab pos="2514600" algn="l"/>
              </a:tabLst>
              <a:defRPr sz="3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830580" indent="-285750" algn="just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Blip>
                <a:blip r:embed="rId1"/>
              </a:buBlip>
              <a:tabLst>
                <a:tab pos="2514600" algn="l"/>
              </a:tabLst>
              <a:defRPr sz="2800" b="1">
                <a:solidFill>
                  <a:srgbClr val="193C7D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238250" indent="-228600" algn="just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Blip>
                <a:blip r:embed="rId2"/>
              </a:buBlip>
              <a:tabLst>
                <a:tab pos="2514600" algn="l"/>
              </a:tabLst>
              <a:defRPr sz="2400" b="1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46555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?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 algn="just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514600" algn="l"/>
              </a:tabLst>
              <a:defRPr sz="20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 b="0" dirty="0">
              <a:latin typeface="+mn-lt"/>
              <a:ea typeface="黑体" panose="02010609060101010101" pitchFamily="49" charset="-122"/>
            </a:endParaRPr>
          </a:p>
        </p:txBody>
      </p:sp>
      <p:cxnSp>
        <p:nvCxnSpPr>
          <p:cNvPr id="5" name="直接箭头连接符 4"/>
          <p:cNvCxnSpPr/>
          <p:nvPr/>
        </p:nvCxnSpPr>
        <p:spPr bwMode="auto">
          <a:xfrm>
            <a:off x="2843808" y="5085184"/>
            <a:ext cx="648072" cy="0"/>
          </a:xfrm>
          <a:prstGeom prst="straightConnector1">
            <a:avLst/>
          </a:prstGeom>
          <a:noFill/>
          <a:ln w="1905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grpSp>
        <p:nvGrpSpPr>
          <p:cNvPr id="7" name="Group 16"/>
          <p:cNvGrpSpPr/>
          <p:nvPr/>
        </p:nvGrpSpPr>
        <p:grpSpPr bwMode="auto">
          <a:xfrm>
            <a:off x="323891" y="4271324"/>
            <a:ext cx="1259644" cy="1108949"/>
            <a:chOff x="465" y="576"/>
            <a:chExt cx="764" cy="1200"/>
          </a:xfrm>
        </p:grpSpPr>
        <p:sp>
          <p:nvSpPr>
            <p:cNvPr id="9" name="AutoShape 5"/>
            <p:cNvSpPr/>
            <p:nvPr/>
          </p:nvSpPr>
          <p:spPr bwMode="auto">
            <a:xfrm flipH="1">
              <a:off x="1043" y="576"/>
              <a:ext cx="186" cy="1200"/>
            </a:xfrm>
            <a:prstGeom prst="rightBrace">
              <a:avLst>
                <a:gd name="adj1" fmla="val 22676"/>
                <a:gd name="adj2" fmla="val 50778"/>
              </a:avLst>
            </a:prstGeom>
            <a:noFill/>
            <a:ln w="19050">
              <a:solidFill>
                <a:srgbClr val="66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 flipH="1">
              <a:off x="465" y="919"/>
              <a:ext cx="582" cy="4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先判断</a:t>
              </a:r>
              <a:endPara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11" name="Group 15"/>
          <p:cNvGrpSpPr/>
          <p:nvPr/>
        </p:nvGrpSpPr>
        <p:grpSpPr bwMode="auto">
          <a:xfrm>
            <a:off x="323302" y="5372822"/>
            <a:ext cx="1223963" cy="692150"/>
            <a:chOff x="509" y="1722"/>
            <a:chExt cx="771" cy="436"/>
          </a:xfrm>
        </p:grpSpPr>
        <p:sp>
          <p:nvSpPr>
            <p:cNvPr id="12" name="AutoShape 8"/>
            <p:cNvSpPr/>
            <p:nvPr/>
          </p:nvSpPr>
          <p:spPr bwMode="auto">
            <a:xfrm flipH="1">
              <a:off x="1112" y="1722"/>
              <a:ext cx="168" cy="436"/>
            </a:xfrm>
            <a:prstGeom prst="rightBrace">
              <a:avLst>
                <a:gd name="adj1" fmla="val 24939"/>
                <a:gd name="adj2" fmla="val 50000"/>
              </a:avLst>
            </a:prstGeom>
            <a:noFill/>
            <a:ln w="19050">
              <a:solidFill>
                <a:srgbClr val="660066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 b="0">
                <a:latin typeface="Arial" panose="020B0604020202020204" pitchFamily="34" charset="0"/>
              </a:endParaRPr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 flipH="1">
              <a:off x="509" y="1802"/>
              <a:ext cx="60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just">
                <a:spcBef>
                  <a:spcPct val="20000"/>
                </a:spcBef>
                <a:buClr>
                  <a:schemeClr val="folHlink"/>
                </a:buClr>
                <a:buFont typeface="Wingdings" panose="05000000000000000000" pitchFamily="2" charset="2"/>
                <a:buChar char="Ø"/>
                <a:defRPr sz="32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 algn="just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Blip>
                  <a:blip r:embed="rId1"/>
                </a:buBlip>
                <a:defRPr sz="2800" b="1">
                  <a:solidFill>
                    <a:srgbClr val="193C7D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 algn="just">
                <a:spcBef>
                  <a:spcPct val="20000"/>
                </a:spcBef>
                <a:buClr>
                  <a:schemeClr val="folHlink"/>
                </a:buClr>
                <a:buSzPct val="65000"/>
                <a:buFont typeface="Wingdings" panose="05000000000000000000" pitchFamily="2" charset="2"/>
                <a:buBlip>
                  <a:blip r:embed="rId2"/>
                </a:buBlip>
                <a:defRPr sz="2400" b="1">
                  <a:solidFill>
                    <a:schemeClr val="tx2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?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 algn="just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algn="l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dirty="0">
                  <a:latin typeface="黑体" panose="02010609060101010101" pitchFamily="49" charset="-122"/>
                  <a:ea typeface="黑体" panose="02010609060101010101" pitchFamily="49" charset="-122"/>
                </a:rPr>
                <a:t>后循环</a:t>
              </a:r>
              <a:endPara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例</a:t>
            </a:r>
            <a:r>
              <a:rPr kumimoji="1" lang="en-US" altLang="zh-CN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4-18 </a:t>
            </a:r>
            <a:r>
              <a:rPr kumimoji="1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斐波那契数列程序</a:t>
            </a:r>
            <a:endParaRPr kumimoji="1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67551" y="658431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683568" y="1158197"/>
            <a:ext cx="7992888" cy="5815965"/>
          </a:xfrm>
          <a:prstGeom prst="rect">
            <a:avLst/>
          </a:prstGeom>
          <a:solidFill>
            <a:srgbClr val="DDEEFF"/>
          </a:solidFill>
          <a:ln w="25400">
            <a:noFill/>
          </a:ln>
        </p:spPr>
        <p:txBody>
          <a:bodyPr wrap="square">
            <a:spAutoFit/>
          </a:bodyPr>
          <a:lstStyle/>
          <a:p>
            <a:pPr marL="0" lvl="1"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mov eax,1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;EAX=F(1)=1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 marL="0" lvl="1"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call dispuid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显示第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1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个数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 marL="0" lvl="1"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call dispcrlf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回车换行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 marL="0" lvl="1"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call dispuid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显示第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2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个数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 marL="0" lvl="1"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call dispcrlf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回车换行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 marL="0" lvl="1"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mov ebx,eax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;EBX=F(2)=1</a:t>
            </a:r>
            <a:endParaRPr lang="en-US" altLang="zh-CN" sz="2000" b="1" dirty="0">
              <a:latin typeface="+mn-lt"/>
            </a:endParaRPr>
          </a:p>
          <a:p>
            <a:pPr marL="0" lvl="1"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again:	add eax,ebx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;EAX=F(N)=F(N-2)+F(N-1)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 marL="0" lvl="1"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jc done</a:t>
            </a:r>
            <a:endParaRPr lang="en-US" altLang="zh-CN" sz="2000" b="1" dirty="0">
              <a:latin typeface="+mn-lt"/>
            </a:endParaRPr>
          </a:p>
          <a:p>
            <a:pPr marL="0" lvl="1"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call dispuid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显示一个数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 marL="0" lvl="1"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call dispcrlf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回车换行</a:t>
            </a:r>
            <a:endParaRPr lang="zh-CN" altLang="en-US" sz="2000" b="1" dirty="0">
              <a:solidFill>
                <a:srgbClr val="00B050"/>
              </a:solidFill>
              <a:latin typeface="+mn-lt"/>
            </a:endParaRPr>
          </a:p>
          <a:p>
            <a:pPr marL="0" lvl="1"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xchg eax,ebx		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;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下次：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EAX=F(N-2)</a:t>
            </a:r>
            <a:r>
              <a:rPr lang="zh-CN" altLang="en-US" sz="2000" b="1" dirty="0">
                <a:solidFill>
                  <a:srgbClr val="00B050"/>
                </a:solidFill>
                <a:latin typeface="+mn-lt"/>
              </a:rPr>
              <a:t>，</a:t>
            </a:r>
            <a:r>
              <a:rPr lang="en-US" altLang="zh-CN" sz="2000" b="1" dirty="0">
                <a:solidFill>
                  <a:srgbClr val="00B050"/>
                </a:solidFill>
                <a:latin typeface="+mn-lt"/>
              </a:rPr>
              <a:t>EBX=F(N-1)</a:t>
            </a:r>
            <a:endParaRPr lang="en-US" altLang="zh-CN" sz="2000" b="1" dirty="0">
              <a:solidFill>
                <a:srgbClr val="00B050"/>
              </a:solidFill>
              <a:latin typeface="+mn-lt"/>
            </a:endParaRPr>
          </a:p>
          <a:p>
            <a:pPr marL="0" lvl="1"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	jmp again</a:t>
            </a:r>
            <a:endParaRPr lang="en-US" altLang="zh-CN" sz="2000" b="1" dirty="0">
              <a:latin typeface="+mn-lt"/>
            </a:endParaRPr>
          </a:p>
          <a:p>
            <a:pPr marL="0" lvl="1">
              <a:lnSpc>
                <a:spcPct val="120000"/>
              </a:lnSpc>
              <a:spcBef>
                <a:spcPts val="600"/>
              </a:spcBef>
            </a:pPr>
            <a:r>
              <a:rPr lang="en-US" altLang="zh-CN" sz="2000" b="1" dirty="0">
                <a:latin typeface="+mn-lt"/>
              </a:rPr>
              <a:t>done:</a:t>
            </a:r>
            <a:endParaRPr lang="en-US" altLang="zh-CN" sz="2000" b="1" dirty="0">
              <a:latin typeface="+mn-lt"/>
            </a:endParaRPr>
          </a:p>
        </p:txBody>
      </p:sp>
      <p:sp>
        <p:nvSpPr>
          <p:cNvPr id="2" name="内容占位符 2"/>
          <p:cNvSpPr txBox="1"/>
          <p:nvPr/>
        </p:nvSpPr>
        <p:spPr>
          <a:xfrm>
            <a:off x="611560" y="652964"/>
            <a:ext cx="7992888" cy="524991"/>
          </a:xfrm>
          <a:prstGeom prst="rect">
            <a:avLst/>
          </a:prstGeom>
          <a:ln w="19050">
            <a:noFill/>
            <a:prstDash val="dash"/>
          </a:ln>
        </p:spPr>
        <p:txBody>
          <a:bodyPr/>
          <a:lstStyle/>
          <a:p>
            <a:pPr algn="just">
              <a:lnSpc>
                <a:spcPct val="120000"/>
              </a:lnSpc>
              <a:spcBef>
                <a:spcPts val="0"/>
              </a:spcBef>
              <a:buClr>
                <a:srgbClr val="0000FF"/>
              </a:buClr>
              <a:buSzPct val="100000"/>
              <a:defRPr/>
            </a:pPr>
            <a:r>
              <a:rPr lang="zh-CN" altLang="en-US" sz="2400" dirty="0">
                <a:solidFill>
                  <a:schemeClr val="tx1"/>
                </a:solidFill>
                <a:latin typeface="+mn-lt"/>
              </a:rPr>
              <a:t>例：</a:t>
            </a:r>
            <a:r>
              <a:rPr lang="en-US" altLang="zh-CN" sz="2400" b="1" dirty="0">
                <a:solidFill>
                  <a:schemeClr val="tx1"/>
                </a:solidFill>
                <a:latin typeface="+mn-lt"/>
              </a:rPr>
              <a:t>F(N)=F(N-1)+F(N-2)	N≥3</a:t>
            </a:r>
            <a:endParaRPr lang="en-US" altLang="zh-CN" sz="2400" b="1" dirty="0">
              <a:solidFill>
                <a:schemeClr val="tx1"/>
              </a:solidFill>
              <a:latin typeface="+mn-lt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 txBox="1"/>
          <p:nvPr/>
        </p:nvSpPr>
        <p:spPr>
          <a:xfrm>
            <a:off x="395096" y="696506"/>
            <a:ext cx="8210240" cy="6048672"/>
          </a:xfrm>
          <a:prstGeom prst="rect">
            <a:avLst/>
          </a:prstGeom>
        </p:spPr>
        <p:txBody>
          <a:bodyPr/>
          <a:lstStyle/>
          <a:p>
            <a:pPr marL="457200" indent="-457200" algn="just" latinLnBrk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latin typeface="+mn-lt"/>
              </a:rPr>
              <a:t>理解目标地址的转移范围和寻址方式</a:t>
            </a:r>
            <a:endParaRPr lang="zh-CN" altLang="en-US" sz="2400" dirty="0">
              <a:latin typeface="+mn-lt"/>
            </a:endParaRPr>
          </a:p>
          <a:p>
            <a:pPr marL="457200" indent="-457200" algn="just" latinLnBrk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latin typeface="+mn-lt"/>
              </a:rPr>
              <a:t>掌握控制转移指令</a:t>
            </a:r>
            <a:endParaRPr lang="zh-CN" altLang="en-US" sz="2400" dirty="0">
              <a:latin typeface="+mn-lt"/>
            </a:endParaRPr>
          </a:p>
          <a:p>
            <a:pPr marL="914400" lvl="1" indent="-457200" algn="just" latinLnBrk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200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JMP</a:t>
            </a:r>
            <a:r>
              <a:rPr lang="zh-CN" altLang="en-US" sz="2200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，</a:t>
            </a:r>
            <a:r>
              <a:rPr lang="en-US" altLang="zh-CN" sz="2200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JCC</a:t>
            </a:r>
            <a:r>
              <a:rPr lang="zh-CN" altLang="en-US" sz="2200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（</a:t>
            </a:r>
            <a:r>
              <a:rPr lang="en-US" altLang="zh-CN" sz="2200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18</a:t>
            </a:r>
            <a:r>
              <a:rPr lang="zh-CN" altLang="en-US" sz="2200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个条件转移指令），</a:t>
            </a:r>
            <a:r>
              <a:rPr lang="en-US" altLang="zh-CN" sz="2200" dirty="0">
                <a:solidFill>
                  <a:srgbClr val="FF0000"/>
                </a:solidFill>
                <a:highlight>
                  <a:srgbClr val="FFFF00"/>
                </a:highlight>
                <a:latin typeface="+mn-lt"/>
              </a:rPr>
              <a:t>LOOP</a:t>
            </a:r>
            <a:endParaRPr lang="en-US" altLang="zh-CN" sz="2200" dirty="0">
              <a:solidFill>
                <a:srgbClr val="FF0000"/>
              </a:solidFill>
              <a:highlight>
                <a:srgbClr val="FFFF00"/>
              </a:highlight>
              <a:latin typeface="+mn-lt"/>
            </a:endParaRPr>
          </a:p>
          <a:p>
            <a:pPr marL="457200" indent="-457200" algn="just" latinLnBrk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latin typeface="+mn-lt"/>
              </a:rPr>
              <a:t>掌握各种程序结构及其编程方法</a:t>
            </a:r>
            <a:endParaRPr lang="zh-CN" altLang="en-US" sz="2400" dirty="0">
              <a:latin typeface="+mn-lt"/>
            </a:endParaRPr>
          </a:p>
          <a:p>
            <a:pPr marL="914400" lvl="1" indent="-457200" algn="just" latinLnBrk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单分支、双分支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 latinLnBrk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计数控制循环、条件控制循环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  <a:p>
            <a:pPr marL="457200" indent="-457200" algn="just" latinLnBrk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latin typeface="+mn-lt"/>
              </a:rPr>
              <a:t>熟悉常见编程问题</a:t>
            </a:r>
            <a:endParaRPr lang="zh-CN" altLang="en-US" sz="2400" dirty="0">
              <a:latin typeface="+mn-lt"/>
            </a:endParaRPr>
          </a:p>
          <a:p>
            <a:pPr marL="914400" lvl="1" indent="-457200" algn="just" latinLnBrk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数组运算，大小写转换，奇偶校验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 latinLnBrk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字符或数据个数统计，求最小值、最大值，字符删除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 latinLnBrk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二进制、十进制、十六进制数据相互转换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  <a:p>
            <a:pPr marL="914400" lvl="1" indent="-457200" algn="just" latinLnBrk="0">
              <a:lnSpc>
                <a:spcPct val="150000"/>
              </a:lnSpc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solidFill>
                  <a:schemeClr val="tx1"/>
                </a:solidFill>
                <a:latin typeface="+mn-lt"/>
              </a:rPr>
              <a:t>二进制、十进制、十六进制数据的键盘输入和显示输出</a:t>
            </a:r>
            <a:endParaRPr lang="zh-CN" altLang="en-US" sz="22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6" name="标题 1"/>
          <p:cNvSpPr txBox="1"/>
          <p:nvPr/>
        </p:nvSpPr>
        <p:spPr>
          <a:xfrm>
            <a:off x="0" y="-24"/>
            <a:ext cx="9144000" cy="849296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>
              <a:defRPr/>
            </a:pPr>
            <a:r>
              <a:rPr kumimoji="1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cs typeface="+mj-cs"/>
              </a:rPr>
              <a:t>小结</a:t>
            </a:r>
            <a:endParaRPr kumimoji="1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黑体" panose="02010609060101010101" pitchFamily="49" charset="-122"/>
              <a:cs typeface="+mj-cs"/>
            </a:endParaRPr>
          </a:p>
        </p:txBody>
      </p:sp>
      <p:cxnSp>
        <p:nvCxnSpPr>
          <p:cNvPr id="8" name="直接连接符 7"/>
          <p:cNvCxnSpPr/>
          <p:nvPr/>
        </p:nvCxnSpPr>
        <p:spPr bwMode="auto">
          <a:xfrm>
            <a:off x="178184" y="692696"/>
            <a:ext cx="8858312" cy="3819"/>
          </a:xfrm>
          <a:prstGeom prst="line">
            <a:avLst/>
          </a:prstGeom>
          <a:ln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SLIDETAGS" val="[]"/>
</p:tagLst>
</file>

<file path=ppt/tags/tag2.xml><?xml version="1.0" encoding="utf-8"?>
<p:tagLst xmlns:p="http://schemas.openxmlformats.org/presentationml/2006/main">
  <p:tag name="SLIDETAGS" val="[]"/>
</p:tagLst>
</file>

<file path=ppt/tags/tag3.xml><?xml version="1.0" encoding="utf-8"?>
<p:tagLst xmlns:p="http://schemas.openxmlformats.org/presentationml/2006/main">
  <p:tag name="SLIDETAGS" val="[]"/>
</p:tagLst>
</file>

<file path=ppt/tags/tag4.xml><?xml version="1.0" encoding="utf-8"?>
<p:tagLst xmlns:p="http://schemas.openxmlformats.org/presentationml/2006/main">
  <p:tag name="SLIDETAGS" val="[]"/>
</p:tagLst>
</file>

<file path=ppt/tags/tag5.xml><?xml version="1.0" encoding="utf-8"?>
<p:tagLst xmlns:p="http://schemas.openxmlformats.org/presentationml/2006/main">
  <p:tag name="SLIDETAGS" val="[]"/>
</p:tagLst>
</file>

<file path=ppt/tags/tag6.xml><?xml version="1.0" encoding="utf-8"?>
<p:tagLst xmlns:p="http://schemas.openxmlformats.org/presentationml/2006/main">
  <p:tag name="SLIDETAGS" val="[]"/>
</p:tagLst>
</file>

<file path=ppt/tags/tag7.xml><?xml version="1.0" encoding="utf-8"?>
<p:tagLst xmlns:p="http://schemas.openxmlformats.org/presentationml/2006/main">
  <p:tag name="SLIDETAGS" val="[]"/>
</p:tagLst>
</file>

<file path=ppt/tags/tag8.xml><?xml version="1.0" encoding="utf-8"?>
<p:tagLst xmlns:p="http://schemas.openxmlformats.org/presentationml/2006/main">
  <p:tag name="KSO_WM_DIAGRAM_VIRTUALLY_FRAME" val="{&quot;height&quot;:395.62503937007875,&quot;left&quot;:157,&quot;top&quot;:85,&quot;width&quot;:609.6250393700788}"/>
</p:tagLst>
</file>

<file path=ppt/tags/tag9.xml><?xml version="1.0" encoding="utf-8"?>
<p:tagLst xmlns:p="http://schemas.openxmlformats.org/presentationml/2006/main">
  <p:tag name="KSO_WM_DIAGRAM_VIRTUALLY_FRAME" val="{&quot;height&quot;:395.62503937007875,&quot;left&quot;:157,&quot;top&quot;:85,&quot;width&quot;:609.6250393700788}"/>
</p:tagLst>
</file>

<file path=ppt/tags/tag10.xml><?xml version="1.0" encoding="utf-8"?>
<p:tagLst xmlns:p="http://schemas.openxmlformats.org/presentationml/2006/main">
  <p:tag name="KSO_WM_DIAGRAM_VIRTUALLY_FRAME" val="{&quot;height&quot;:395.62503937007875,&quot;left&quot;:157,&quot;top&quot;:85,&quot;width&quot;:609.6250393700788}"/>
</p:tagLst>
</file>

<file path=ppt/tags/tag11.xml><?xml version="1.0" encoding="utf-8"?>
<p:tagLst xmlns:p="http://schemas.openxmlformats.org/presentationml/2006/main">
  <p:tag name="KSO_WM_DIAGRAM_VIRTUALLY_FRAME" val="{&quot;height&quot;:395.62503937007875,&quot;left&quot;:157,&quot;top&quot;:85,&quot;width&quot;:609.6250393700788}"/>
</p:tagLst>
</file>

<file path=ppt/tags/tag12.xml><?xml version="1.0" encoding="utf-8"?>
<p:tagLst xmlns:p="http://schemas.openxmlformats.org/presentationml/2006/main">
  <p:tag name="KSO_WM_DIAGRAM_VIRTUALLY_FRAME" val="{&quot;height&quot;:395.62503937007875,&quot;left&quot;:157,&quot;top&quot;:85,&quot;width&quot;:609.6250393700788}"/>
</p:tagLst>
</file>

<file path=ppt/tags/tag13.xml><?xml version="1.0" encoding="utf-8"?>
<p:tagLst xmlns:p="http://schemas.openxmlformats.org/presentationml/2006/main">
  <p:tag name="KSO_WM_DIAGRAM_VIRTUALLY_FRAME" val="{&quot;height&quot;:395.62503937007875,&quot;left&quot;:157,&quot;top&quot;:85,&quot;width&quot;:609.6250393700788}"/>
</p:tagLst>
</file>

<file path=ppt/tags/tag14.xml><?xml version="1.0" encoding="utf-8"?>
<p:tagLst xmlns:p="http://schemas.openxmlformats.org/presentationml/2006/main">
  <p:tag name="KSO_WM_DIAGRAM_VIRTUALLY_FRAME" val="{&quot;height&quot;:395.62503937007875,&quot;left&quot;:157,&quot;top&quot;:85,&quot;width&quot;:609.6250393700788}"/>
</p:tagLst>
</file>

<file path=ppt/tags/tag15.xml><?xml version="1.0" encoding="utf-8"?>
<p:tagLst xmlns:p="http://schemas.openxmlformats.org/presentationml/2006/main">
  <p:tag name="SLIDETAGS" val="[]"/>
</p:tagLst>
</file>

<file path=ppt/tags/tag16.xml><?xml version="1.0" encoding="utf-8"?>
<p:tagLst xmlns:p="http://schemas.openxmlformats.org/presentationml/2006/main">
  <p:tag name="SLIDETAGS" val="[]"/>
</p:tagLst>
</file>

<file path=ppt/tags/tag17.xml><?xml version="1.0" encoding="utf-8"?>
<p:tagLst xmlns:p="http://schemas.openxmlformats.org/presentationml/2006/main">
  <p:tag name="SLIDETAGS" val="[]"/>
</p:tagLst>
</file>

<file path=ppt/tags/tag18.xml><?xml version="1.0" encoding="utf-8"?>
<p:tagLst xmlns:p="http://schemas.openxmlformats.org/presentationml/2006/main">
  <p:tag name="SLIDETAGS" val="[]"/>
</p:tagLst>
</file>

<file path=ppt/tags/tag19.xml><?xml version="1.0" encoding="utf-8"?>
<p:tagLst xmlns:p="http://schemas.openxmlformats.org/presentationml/2006/main">
  <p:tag name="SLIDETAGS" val="[]"/>
</p:tagLst>
</file>

<file path=ppt/tags/tag20.xml><?xml version="1.0" encoding="utf-8"?>
<p:tagLst xmlns:p="http://schemas.openxmlformats.org/presentationml/2006/main">
  <p:tag name="SLIDETAGS" val="[]"/>
</p:tagLst>
</file>

<file path=ppt/tags/tag21.xml><?xml version="1.0" encoding="utf-8"?>
<p:tagLst xmlns:p="http://schemas.openxmlformats.org/presentationml/2006/main">
  <p:tag name="SLIDETAGS" val="[]"/>
</p:tagLst>
</file>

<file path=ppt/tags/tag22.xml><?xml version="1.0" encoding="utf-8"?>
<p:tagLst xmlns:p="http://schemas.openxmlformats.org/presentationml/2006/main">
  <p:tag name="SLIDETAGS" val="[]"/>
</p:tagLst>
</file>

<file path=ppt/tags/tag23.xml><?xml version="1.0" encoding="utf-8"?>
<p:tagLst xmlns:p="http://schemas.openxmlformats.org/presentationml/2006/main">
  <p:tag name="SLIDETAGS" val="[]"/>
</p:tagLst>
</file>

<file path=ppt/tags/tag24.xml><?xml version="1.0" encoding="utf-8"?>
<p:tagLst xmlns:p="http://schemas.openxmlformats.org/presentationml/2006/main">
  <p:tag name="SLIDETAGS" val="[]"/>
</p:tagLst>
</file>

<file path=ppt/tags/tag25.xml><?xml version="1.0" encoding="utf-8"?>
<p:tagLst xmlns:p="http://schemas.openxmlformats.org/presentationml/2006/main">
  <p:tag name="SLIDETAGS" val="[]"/>
</p:tagLst>
</file>

<file path=ppt/tags/tag26.xml><?xml version="1.0" encoding="utf-8"?>
<p:tagLst xmlns:p="http://schemas.openxmlformats.org/presentationml/2006/main">
  <p:tag name="SLIDETAGS" val="[]"/>
</p:tagLst>
</file>

<file path=ppt/tags/tag27.xml><?xml version="1.0" encoding="utf-8"?>
<p:tagLst xmlns:p="http://schemas.openxmlformats.org/presentationml/2006/main">
  <p:tag name="SLIDETAGS" val="[]"/>
</p:tagLst>
</file>

<file path=ppt/tags/tag28.xml><?xml version="1.0" encoding="utf-8"?>
<p:tagLst xmlns:p="http://schemas.openxmlformats.org/presentationml/2006/main">
  <p:tag name="SLIDETAGS" val="[]"/>
</p:tagLst>
</file>

<file path=ppt/tags/tag29.xml><?xml version="1.0" encoding="utf-8"?>
<p:tagLst xmlns:p="http://schemas.openxmlformats.org/presentationml/2006/main">
  <p:tag name="RAINPROBLEM" val="ProblemBody"/>
</p:tagLst>
</file>

<file path=ppt/tags/tag30.xml><?xml version="1.0" encoding="utf-8"?>
<p:tagLst xmlns:p="http://schemas.openxmlformats.org/presentationml/2006/main">
  <p:tag name="RAINPROBLEM" val="ProblemItem"/>
</p:tagLst>
</file>

<file path=ppt/tags/tag31.xml><?xml version="1.0" encoding="utf-8"?>
<p:tagLst xmlns:p="http://schemas.openxmlformats.org/presentationml/2006/main">
  <p:tag name="RAINPROBLEM" val="ProblemItem"/>
</p:tagLst>
</file>

<file path=ppt/tags/tag32.xml><?xml version="1.0" encoding="utf-8"?>
<p:tagLst xmlns:p="http://schemas.openxmlformats.org/presentationml/2006/main">
  <p:tag name="RAINPROBLEM" val="ProblemItem"/>
</p:tagLst>
</file>

<file path=ppt/tags/tag33.xml><?xml version="1.0" encoding="utf-8"?>
<p:tagLst xmlns:p="http://schemas.openxmlformats.org/presentationml/2006/main">
  <p:tag name="RAINPROBLEM" val="ProblemItem"/>
</p:tagLst>
</file>

<file path=ppt/tags/tag3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5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8.xml><?xml version="1.0" encoding="utf-8"?>
<p:tagLst xmlns:p="http://schemas.openxmlformats.org/presentationml/2006/main">
  <p:tag name="RAINPROBLEM" val="ProblemSubmit"/>
  <p:tag name="RAINPROBLEMTYPE" val="MultipleChoice"/>
</p:tagLst>
</file>

<file path=ppt/tags/tag39.xml><?xml version="1.0" encoding="utf-8"?>
<p:tagLst xmlns:p="http://schemas.openxmlformats.org/presentationml/2006/main">
  <p:tag name="RAINPROBLEMTYPE" val="ProblemTypeMarker"/>
</p:tagLst>
</file>

<file path=ppt/tags/tag40.xml><?xml version="1.0" encoding="utf-8"?>
<p:tagLst xmlns:p="http://schemas.openxmlformats.org/presentationml/2006/main">
  <p:tag name="RAINPROBLEMTYPE" val="ProblemTypeMarker"/>
</p:tagLst>
</file>

<file path=ppt/tags/tag41.xml><?xml version="1.0" encoding="utf-8"?>
<p:tagLst xmlns:p="http://schemas.openxmlformats.org/presentationml/2006/main">
  <p:tag name="RAINPROBLEMTYPE" val="ProblemTypeMarker"/>
</p:tagLst>
</file>

<file path=ppt/tags/tag42.xml><?xml version="1.0" encoding="utf-8"?>
<p:tagLst xmlns:p="http://schemas.openxmlformats.org/presentationml/2006/main">
  <p:tag name="RAINPROBLEMTYPE" val="ProblemTypeMarker"/>
</p:tagLst>
</file>

<file path=ppt/tags/tag43.xml><?xml version="1.0" encoding="utf-8"?>
<p:tagLst xmlns:p="http://schemas.openxmlformats.org/presentationml/2006/main">
  <p:tag name="RAINPROBLEMTYPE" val="ProblemTypeMarker"/>
</p:tagLst>
</file>

<file path=ppt/tags/tag44.xml><?xml version="1.0" encoding="utf-8"?>
<p:tagLst xmlns:p="http://schemas.openxmlformats.org/presentationml/2006/main">
  <p:tag name="RAINPROBLEM" val="ProblemSetting"/>
  <p:tag name="RAINPROBLEMTYPE" val="MultipleChoice"/>
</p:tagLst>
</file>

<file path=ppt/tags/tag45.xml><?xml version="1.0" encoding="utf-8"?>
<p:tagLst xmlns:p="http://schemas.openxmlformats.org/presentationml/2006/main">
  <p:tag name="RAINPROBLEM" val="MultipleChoice"/>
  <p:tag name="PROBLEMSCORE" val="1.0"/>
  <p:tag name="SLIDETAGS" val="[]"/>
</p:tagLst>
</file>

<file path=ppt/tags/tag46.xml><?xml version="1.0" encoding="utf-8"?>
<p:tagLst xmlns:p="http://schemas.openxmlformats.org/presentationml/2006/main">
  <p:tag name="RAINPROBLEM" val="ProblemBody"/>
</p:tagLst>
</file>

<file path=ppt/tags/tag47.xml><?xml version="1.0" encoding="utf-8"?>
<p:tagLst xmlns:p="http://schemas.openxmlformats.org/presentationml/2006/main">
  <p:tag name="RAINPROBLEM" val="ProblemItem"/>
</p:tagLst>
</file>

<file path=ppt/tags/tag48.xml><?xml version="1.0" encoding="utf-8"?>
<p:tagLst xmlns:p="http://schemas.openxmlformats.org/presentationml/2006/main">
  <p:tag name="RAINPROBLEM" val="ProblemItem"/>
</p:tagLst>
</file>

<file path=ppt/tags/tag49.xml><?xml version="1.0" encoding="utf-8"?>
<p:tagLst xmlns:p="http://schemas.openxmlformats.org/presentationml/2006/main">
  <p:tag name="RAINPROBLEM" val="ProblemItem"/>
</p:tagLst>
</file>

<file path=ppt/tags/tag50.xml><?xml version="1.0" encoding="utf-8"?>
<p:tagLst xmlns:p="http://schemas.openxmlformats.org/presentationml/2006/main">
  <p:tag name="RAINPROBLEM" val="ProblemItem"/>
</p:tagLst>
</file>

<file path=ppt/tags/tag5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55.xml><?xml version="1.0" encoding="utf-8"?>
<p:tagLst xmlns:p="http://schemas.openxmlformats.org/presentationml/2006/main">
  <p:tag name="RAINPROBLEM" val="ProblemSubmit"/>
  <p:tag name="RAINPROBLEMTYPE" val="MultipleChoice"/>
</p:tagLst>
</file>

<file path=ppt/tags/tag56.xml><?xml version="1.0" encoding="utf-8"?>
<p:tagLst xmlns:p="http://schemas.openxmlformats.org/presentationml/2006/main">
  <p:tag name="RAINPROBLEMTYPE" val="ProblemTypeMarker"/>
</p:tagLst>
</file>

<file path=ppt/tags/tag57.xml><?xml version="1.0" encoding="utf-8"?>
<p:tagLst xmlns:p="http://schemas.openxmlformats.org/presentationml/2006/main">
  <p:tag name="RAINPROBLEMTYPE" val="ProblemTypeMarker"/>
</p:tagLst>
</file>

<file path=ppt/tags/tag58.xml><?xml version="1.0" encoding="utf-8"?>
<p:tagLst xmlns:p="http://schemas.openxmlformats.org/presentationml/2006/main">
  <p:tag name="RAINPROBLEMTYPE" val="ProblemTypeMarker"/>
</p:tagLst>
</file>

<file path=ppt/tags/tag59.xml><?xml version="1.0" encoding="utf-8"?>
<p:tagLst xmlns:p="http://schemas.openxmlformats.org/presentationml/2006/main">
  <p:tag name="RAINPROBLEMTYPE" val="ProblemTypeMarker"/>
</p:tagLst>
</file>

<file path=ppt/tags/tag60.xml><?xml version="1.0" encoding="utf-8"?>
<p:tagLst xmlns:p="http://schemas.openxmlformats.org/presentationml/2006/main">
  <p:tag name="RAINPROBLEMTYPE" val="ProblemTypeMarker"/>
</p:tagLst>
</file>

<file path=ppt/tags/tag61.xml><?xml version="1.0" encoding="utf-8"?>
<p:tagLst xmlns:p="http://schemas.openxmlformats.org/presentationml/2006/main">
  <p:tag name="RAINPROBLEM" val="ProblemSetting"/>
  <p:tag name="RAINPROBLEMTYPE" val="MultipleChoice"/>
</p:tagLst>
</file>

<file path=ppt/tags/tag62.xml><?xml version="1.0" encoding="utf-8"?>
<p:tagLst xmlns:p="http://schemas.openxmlformats.org/presentationml/2006/main">
  <p:tag name="RAINPROBLEM" val="MultipleChoice"/>
  <p:tag name="PROBLEMSCORE" val="1.0"/>
  <p:tag name="SLIDETAGS" val="[]"/>
</p:tagLst>
</file>

<file path=ppt/tags/tag63.xml><?xml version="1.0" encoding="utf-8"?>
<p:tagLst xmlns:p="http://schemas.openxmlformats.org/presentationml/2006/main">
  <p:tag name="SLIDETAGS" val="[]"/>
</p:tagLst>
</file>

<file path=ppt/tags/tag64.xml><?xml version="1.0" encoding="utf-8"?>
<p:tagLst xmlns:p="http://schemas.openxmlformats.org/presentationml/2006/main">
  <p:tag name="SLIDETAGS" val="[]"/>
</p:tagLst>
</file>

<file path=ppt/tags/tag65.xml><?xml version="1.0" encoding="utf-8"?>
<p:tagLst xmlns:p="http://schemas.openxmlformats.org/presentationml/2006/main">
  <p:tag name="SLIDETAGS" val="[]"/>
</p:tagLst>
</file>

<file path=ppt/tags/tag66.xml><?xml version="1.0" encoding="utf-8"?>
<p:tagLst xmlns:p="http://schemas.openxmlformats.org/presentationml/2006/main">
  <p:tag name="SLIDETAGS" val="[]"/>
</p:tagLst>
</file>

<file path=ppt/tags/tag67.xml><?xml version="1.0" encoding="utf-8"?>
<p:tagLst xmlns:p="http://schemas.openxmlformats.org/presentationml/2006/main">
  <p:tag name="SLIDETAGS" val="[]"/>
</p:tagLst>
</file>

<file path=ppt/tags/tag68.xml><?xml version="1.0" encoding="utf-8"?>
<p:tagLst xmlns:p="http://schemas.openxmlformats.org/presentationml/2006/main">
  <p:tag name="SLIDETAGS" val="[]"/>
</p:tagLst>
</file>

<file path=ppt/tags/tag69.xml><?xml version="1.0" encoding="utf-8"?>
<p:tagLst xmlns:p="http://schemas.openxmlformats.org/presentationml/2006/main">
  <p:tag name="SLIDETAGS" val="[]"/>
</p:tagLst>
</file>

<file path=ppt/tags/tag70.xml><?xml version="1.0" encoding="utf-8"?>
<p:tagLst xmlns:p="http://schemas.openxmlformats.org/presentationml/2006/main">
  <p:tag name="SLIDETAGS" val="[]"/>
</p:tagLst>
</file>

<file path=ppt/tags/tag71.xml><?xml version="1.0" encoding="utf-8"?>
<p:tagLst xmlns:p="http://schemas.openxmlformats.org/presentationml/2006/main">
  <p:tag name="RAINPROBLEMTYPE" val="ProblemTypeMarker"/>
</p:tagLst>
</file>

<file path=ppt/tags/tag72.xml><?xml version="1.0" encoding="utf-8"?>
<p:tagLst xmlns:p="http://schemas.openxmlformats.org/presentationml/2006/main">
  <p:tag name="RAINPROBLEMTYPE" val="ProblemTypeMarker"/>
</p:tagLst>
</file>

<file path=ppt/tags/tag73.xml><?xml version="1.0" encoding="utf-8"?>
<p:tagLst xmlns:p="http://schemas.openxmlformats.org/presentationml/2006/main">
  <p:tag name="RAINPROBLEMTYPE" val="ProblemTypeMarker"/>
</p:tagLst>
</file>

<file path=ppt/tags/tag74.xml><?xml version="1.0" encoding="utf-8"?>
<p:tagLst xmlns:p="http://schemas.openxmlformats.org/presentationml/2006/main">
  <p:tag name="RAINPROBLEMTYPE" val="ProblemTypeMarker"/>
</p:tagLst>
</file>

<file path=ppt/tags/tag75.xml><?xml version="1.0" encoding="utf-8"?>
<p:tagLst xmlns:p="http://schemas.openxmlformats.org/presentationml/2006/main">
  <p:tag name="SLIDETAGS" val="[]"/>
</p:tagLst>
</file>

<file path=ppt/tags/tag76.xml><?xml version="1.0" encoding="utf-8"?>
<p:tagLst xmlns:p="http://schemas.openxmlformats.org/presentationml/2006/main">
  <p:tag name="SLIDETAGS" val="[]"/>
</p:tagLst>
</file>

<file path=ppt/tags/tag77.xml><?xml version="1.0" encoding="utf-8"?>
<p:tagLst xmlns:p="http://schemas.openxmlformats.org/presentationml/2006/main">
  <p:tag name="SLIDETAGS" val="[]"/>
</p:tagLst>
</file>

<file path=ppt/tags/tag78.xml><?xml version="1.0" encoding="utf-8"?>
<p:tagLst xmlns:p="http://schemas.openxmlformats.org/presentationml/2006/main">
  <p:tag name="SLIDETAGS" val="[]"/>
</p:tagLst>
</file>

<file path=ppt/tags/tag79.xml><?xml version="1.0" encoding="utf-8"?>
<p:tagLst xmlns:p="http://schemas.openxmlformats.org/presentationml/2006/main">
  <p:tag name="SLIDETAGS" val="[]"/>
</p:tagLst>
</file>

<file path=ppt/tags/tag80.xml><?xml version="1.0" encoding="utf-8"?>
<p:tagLst xmlns:p="http://schemas.openxmlformats.org/presentationml/2006/main">
  <p:tag name="SLIDETAGS" val="[]"/>
</p:tagLst>
</file>

<file path=ppt/tags/tag81.xml><?xml version="1.0" encoding="utf-8"?>
<p:tagLst xmlns:p="http://schemas.openxmlformats.org/presentationml/2006/main">
  <p:tag name="SLIDETAGS" val="[]"/>
</p:tagLst>
</file>

<file path=ppt/tags/tag82.xml><?xml version="1.0" encoding="utf-8"?>
<p:tagLst xmlns:p="http://schemas.openxmlformats.org/presentationml/2006/main">
  <p:tag name="SLIDETAGS" val="[]"/>
</p:tagLst>
</file>

<file path=ppt/tags/tag83.xml><?xml version="1.0" encoding="utf-8"?>
<p:tagLst xmlns:p="http://schemas.openxmlformats.org/presentationml/2006/main">
  <p:tag name="SLIDETAGS" val="[]"/>
</p:tagLst>
</file>

<file path=ppt/tags/tag84.xml><?xml version="1.0" encoding="utf-8"?>
<p:tagLst xmlns:p="http://schemas.openxmlformats.org/presentationml/2006/main">
  <p:tag name="SLIDETAGS" val="[]"/>
</p:tagLst>
</file>

<file path=ppt/tags/tag85.xml><?xml version="1.0" encoding="utf-8"?>
<p:tagLst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人与信息系统交互的信任机理及其电子税务系统实证研究&amp;quot;&quot;/&gt;&lt;property id=&quot;20307&quot; value=&quot;982&quot;/&gt;&lt;/object&gt;&lt;object type=&quot;3&quot; unique_id=&quot;10005&quot;&gt;&lt;property id=&quot;20148&quot; value=&quot;5&quot;/&gt;&lt;property id=&quot;20300&quot; value=&quot;Slide 2 - &amp;quot;汇 报 提 纲&amp;quot;&quot;/&gt;&lt;property id=&quot;20307&quot; value=&quot;983&quot;/&gt;&lt;/object&gt;&lt;object type=&quot;3&quot; unique_id=&quot;10006&quot;&gt;&lt;property id=&quot;20148&quot; value=&quot;5&quot;/&gt;&lt;property id=&quot;20300&quot; value=&quot;Slide 3&quot;/&gt;&lt;property id=&quot;20307&quot; value=&quot;1114&quot;/&gt;&lt;/object&gt;&lt;object type=&quot;3&quot; unique_id=&quot;10007&quot;&gt;&lt;property id=&quot;20148&quot; value=&quot;5&quot;/&gt;&lt;property id=&quot;20300&quot; value=&quot;Slide 4&quot;/&gt;&lt;property id=&quot;20307&quot; value=&quot;1115&quot;/&gt;&lt;/object&gt;&lt;object type=&quot;3&quot; unique_id=&quot;10008&quot;&gt;&lt;property id=&quot;20148&quot; value=&quot;5&quot;/&gt;&lt;property id=&quot;20300&quot; value=&quot;Slide 5&quot;/&gt;&lt;property id=&quot;20307&quot; value=&quot;1116&quot;/&gt;&lt;/object&gt;&lt;object type=&quot;3&quot; unique_id=&quot;10009&quot;&gt;&lt;property id=&quot;20148&quot; value=&quot;5&quot;/&gt;&lt;property id=&quot;20300&quot; value=&quot;Slide 6&quot;/&gt;&lt;property id=&quot;20307&quot; value=&quot;1112&quot;/&gt;&lt;/object&gt;&lt;object type=&quot;3&quot; unique_id=&quot;10010&quot;&gt;&lt;property id=&quot;20148&quot; value=&quot;5&quot;/&gt;&lt;property id=&quot;20300&quot; value=&quot;Slide 7&quot;/&gt;&lt;property id=&quot;20307&quot; value=&quot;1113&quot;/&gt;&lt;/object&gt;&lt;object type=&quot;3&quot; unique_id=&quot;10011&quot;&gt;&lt;property id=&quot;20148&quot; value=&quot;5&quot;/&gt;&lt;property id=&quot;20300&quot; value=&quot;Slide 8&quot;/&gt;&lt;property id=&quot;20307&quot; value=&quot;1123&quot;/&gt;&lt;/object&gt;&lt;object type=&quot;3&quot; unique_id=&quot;10013&quot;&gt;&lt;property id=&quot;20148&quot; value=&quot;5&quot;/&gt;&lt;property id=&quot;20300&quot; value=&quot;Slide 9&quot;/&gt;&lt;property id=&quot;20307&quot; value=&quot;1085&quot;/&gt;&lt;/object&gt;&lt;object type=&quot;3&quot; unique_id=&quot;10014&quot;&gt;&lt;property id=&quot;20148&quot; value=&quot;5&quot;/&gt;&lt;property id=&quot;20300&quot; value=&quot;Slide 10&quot;/&gt;&lt;property id=&quot;20307&quot; value=&quot;1086&quot;/&gt;&lt;/object&gt;&lt;object type=&quot;3&quot; unique_id=&quot;10015&quot;&gt;&lt;property id=&quot;20148&quot; value=&quot;5&quot;/&gt;&lt;property id=&quot;20300&quot; value=&quot;Slide 11&quot;/&gt;&lt;property id=&quot;20307&quot; value=&quot;1119&quot;/&gt;&lt;/object&gt;&lt;object type=&quot;3&quot; unique_id=&quot;10017&quot;&gt;&lt;property id=&quot;20148&quot; value=&quot;5&quot;/&gt;&lt;property id=&quot;20300&quot; value=&quot;Slide 13&quot;/&gt;&lt;property id=&quot;20307&quot; value=&quot;1120&quot;/&gt;&lt;/object&gt;&lt;object type=&quot;3&quot; unique_id=&quot;10018&quot;&gt;&lt;property id=&quot;20148&quot; value=&quot;5&quot;/&gt;&lt;property id=&quot;20300&quot; value=&quot;Slide 14&quot;/&gt;&lt;property id=&quot;20307&quot; value=&quot;1117&quot;/&gt;&lt;/object&gt;&lt;object type=&quot;3&quot; unique_id=&quot;10019&quot;&gt;&lt;property id=&quot;20148&quot; value=&quot;5&quot;/&gt;&lt;property id=&quot;20300&quot; value=&quot;Slide 15&quot;/&gt;&lt;property id=&quot;20307&quot; value=&quot;1118&quot;/&gt;&lt;/object&gt;&lt;object type=&quot;3&quot; unique_id=&quot;10236&quot;&gt;&lt;property id=&quot;20148&quot; value=&quot;5&quot;/&gt;&lt;property id=&quot;20300&quot; value=&quot;Slide 12&quot;/&gt;&lt;property id=&quot;20307&quot; value=&quot;1124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Ricepaper">
  <a:themeElements>
    <a:clrScheme name="">
      <a:dk1>
        <a:srgbClr val="333333"/>
      </a:dk1>
      <a:lt1>
        <a:srgbClr val="FBFDFF"/>
      </a:lt1>
      <a:dk2>
        <a:srgbClr val="5E65C0"/>
      </a:dk2>
      <a:lt2>
        <a:srgbClr val="333333"/>
      </a:lt2>
      <a:accent1>
        <a:srgbClr val="78C0B2"/>
      </a:accent1>
      <a:accent2>
        <a:srgbClr val="262D4C"/>
      </a:accent2>
      <a:accent3>
        <a:srgbClr val="B6B8DC"/>
      </a:accent3>
      <a:accent4>
        <a:srgbClr val="D6D8DA"/>
      </a:accent4>
      <a:accent5>
        <a:srgbClr val="BEDCD5"/>
      </a:accent5>
      <a:accent6>
        <a:srgbClr val="212844"/>
      </a:accent6>
      <a:hlink>
        <a:srgbClr val="598BBD"/>
      </a:hlink>
      <a:folHlink>
        <a:srgbClr val="4D4D4D"/>
      </a:folHlink>
    </a:clrScheme>
    <a:fontScheme name="Ricepaper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Ricepaper">
  <a:themeElements>
    <a:clrScheme name="">
      <a:dk1>
        <a:srgbClr val="333333"/>
      </a:dk1>
      <a:lt1>
        <a:srgbClr val="FBFDFF"/>
      </a:lt1>
      <a:dk2>
        <a:srgbClr val="5E65C0"/>
      </a:dk2>
      <a:lt2>
        <a:srgbClr val="333333"/>
      </a:lt2>
      <a:accent1>
        <a:srgbClr val="78C0B2"/>
      </a:accent1>
      <a:accent2>
        <a:srgbClr val="262D4C"/>
      </a:accent2>
      <a:accent3>
        <a:srgbClr val="B6B8DC"/>
      </a:accent3>
      <a:accent4>
        <a:srgbClr val="D6D8DA"/>
      </a:accent4>
      <a:accent5>
        <a:srgbClr val="BEDCD5"/>
      </a:accent5>
      <a:accent6>
        <a:srgbClr val="212844"/>
      </a:accent6>
      <a:hlink>
        <a:srgbClr val="598BBD"/>
      </a:hlink>
      <a:folHlink>
        <a:srgbClr val="4D4D4D"/>
      </a:folHlink>
    </a:clrScheme>
    <a:fontScheme name="Ricepaper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Ricepaper">
  <a:themeElements>
    <a:clrScheme name="">
      <a:dk1>
        <a:srgbClr val="333333"/>
      </a:dk1>
      <a:lt1>
        <a:srgbClr val="FBFDFF"/>
      </a:lt1>
      <a:dk2>
        <a:srgbClr val="5E65C0"/>
      </a:dk2>
      <a:lt2>
        <a:srgbClr val="333333"/>
      </a:lt2>
      <a:accent1>
        <a:srgbClr val="78C0B2"/>
      </a:accent1>
      <a:accent2>
        <a:srgbClr val="262D4C"/>
      </a:accent2>
      <a:accent3>
        <a:srgbClr val="B6B8DC"/>
      </a:accent3>
      <a:accent4>
        <a:srgbClr val="D6D8DA"/>
      </a:accent4>
      <a:accent5>
        <a:srgbClr val="BEDCD5"/>
      </a:accent5>
      <a:accent6>
        <a:srgbClr val="212844"/>
      </a:accent6>
      <a:hlink>
        <a:srgbClr val="598BBD"/>
      </a:hlink>
      <a:folHlink>
        <a:srgbClr val="4D4D4D"/>
      </a:folHlink>
    </a:clrScheme>
    <a:fontScheme name="Ricepaper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Ricepaper">
  <a:themeElements>
    <a:clrScheme name="">
      <a:dk1>
        <a:srgbClr val="333333"/>
      </a:dk1>
      <a:lt1>
        <a:srgbClr val="FBFDFF"/>
      </a:lt1>
      <a:dk2>
        <a:srgbClr val="5E65C0"/>
      </a:dk2>
      <a:lt2>
        <a:srgbClr val="333333"/>
      </a:lt2>
      <a:accent1>
        <a:srgbClr val="78C0B2"/>
      </a:accent1>
      <a:accent2>
        <a:srgbClr val="262D4C"/>
      </a:accent2>
      <a:accent3>
        <a:srgbClr val="B6B8DC"/>
      </a:accent3>
      <a:accent4>
        <a:srgbClr val="D6D8DA"/>
      </a:accent4>
      <a:accent5>
        <a:srgbClr val="BEDCD5"/>
      </a:accent5>
      <a:accent6>
        <a:srgbClr val="212844"/>
      </a:accent6>
      <a:hlink>
        <a:srgbClr val="598BBD"/>
      </a:hlink>
      <a:folHlink>
        <a:srgbClr val="4D4D4D"/>
      </a:folHlink>
    </a:clrScheme>
    <a:fontScheme name="Ricepaper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Ricepaper">
  <a:themeElements>
    <a:clrScheme name="">
      <a:dk1>
        <a:srgbClr val="333333"/>
      </a:dk1>
      <a:lt1>
        <a:srgbClr val="FBFDFF"/>
      </a:lt1>
      <a:dk2>
        <a:srgbClr val="5E65C0"/>
      </a:dk2>
      <a:lt2>
        <a:srgbClr val="333333"/>
      </a:lt2>
      <a:accent1>
        <a:srgbClr val="78C0B2"/>
      </a:accent1>
      <a:accent2>
        <a:srgbClr val="262D4C"/>
      </a:accent2>
      <a:accent3>
        <a:srgbClr val="B6B8DC"/>
      </a:accent3>
      <a:accent4>
        <a:srgbClr val="D6D8DA"/>
      </a:accent4>
      <a:accent5>
        <a:srgbClr val="BEDCD5"/>
      </a:accent5>
      <a:accent6>
        <a:srgbClr val="212844"/>
      </a:accent6>
      <a:hlink>
        <a:srgbClr val="598BBD"/>
      </a:hlink>
      <a:folHlink>
        <a:srgbClr val="4D4D4D"/>
      </a:folHlink>
    </a:clrScheme>
    <a:fontScheme name="Ricepaper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Ricepaper">
  <a:themeElements>
    <a:clrScheme name="">
      <a:dk1>
        <a:srgbClr val="333333"/>
      </a:dk1>
      <a:lt1>
        <a:srgbClr val="FBFDFF"/>
      </a:lt1>
      <a:dk2>
        <a:srgbClr val="5E65C0"/>
      </a:dk2>
      <a:lt2>
        <a:srgbClr val="333333"/>
      </a:lt2>
      <a:accent1>
        <a:srgbClr val="78C0B2"/>
      </a:accent1>
      <a:accent2>
        <a:srgbClr val="262D4C"/>
      </a:accent2>
      <a:accent3>
        <a:srgbClr val="B6B8DC"/>
      </a:accent3>
      <a:accent4>
        <a:srgbClr val="D6D8DA"/>
      </a:accent4>
      <a:accent5>
        <a:srgbClr val="BEDCD5"/>
      </a:accent5>
      <a:accent6>
        <a:srgbClr val="212844"/>
      </a:accent6>
      <a:hlink>
        <a:srgbClr val="598BBD"/>
      </a:hlink>
      <a:folHlink>
        <a:srgbClr val="4D4D4D"/>
      </a:folHlink>
    </a:clrScheme>
    <a:fontScheme name="Ricepaper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Ricepaper">
  <a:themeElements>
    <a:clrScheme name="">
      <a:dk1>
        <a:srgbClr val="333333"/>
      </a:dk1>
      <a:lt1>
        <a:srgbClr val="FBFDFF"/>
      </a:lt1>
      <a:dk2>
        <a:srgbClr val="5E65C0"/>
      </a:dk2>
      <a:lt2>
        <a:srgbClr val="333333"/>
      </a:lt2>
      <a:accent1>
        <a:srgbClr val="78C0B2"/>
      </a:accent1>
      <a:accent2>
        <a:srgbClr val="262D4C"/>
      </a:accent2>
      <a:accent3>
        <a:srgbClr val="B6B8DC"/>
      </a:accent3>
      <a:accent4>
        <a:srgbClr val="D6D8DA"/>
      </a:accent4>
      <a:accent5>
        <a:srgbClr val="BEDCD5"/>
      </a:accent5>
      <a:accent6>
        <a:srgbClr val="212844"/>
      </a:accent6>
      <a:hlink>
        <a:srgbClr val="598BBD"/>
      </a:hlink>
      <a:folHlink>
        <a:srgbClr val="4D4D4D"/>
      </a:folHlink>
    </a:clrScheme>
    <a:fontScheme name="Ricepaper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Ricepaper">
  <a:themeElements>
    <a:clrScheme name="">
      <a:dk1>
        <a:srgbClr val="333333"/>
      </a:dk1>
      <a:lt1>
        <a:srgbClr val="FBFDFF"/>
      </a:lt1>
      <a:dk2>
        <a:srgbClr val="5E65C0"/>
      </a:dk2>
      <a:lt2>
        <a:srgbClr val="333333"/>
      </a:lt2>
      <a:accent1>
        <a:srgbClr val="78C0B2"/>
      </a:accent1>
      <a:accent2>
        <a:srgbClr val="262D4C"/>
      </a:accent2>
      <a:accent3>
        <a:srgbClr val="B6B8DC"/>
      </a:accent3>
      <a:accent4>
        <a:srgbClr val="D6D8DA"/>
      </a:accent4>
      <a:accent5>
        <a:srgbClr val="BEDCD5"/>
      </a:accent5>
      <a:accent6>
        <a:srgbClr val="212844"/>
      </a:accent6>
      <a:hlink>
        <a:srgbClr val="598BBD"/>
      </a:hlink>
      <a:folHlink>
        <a:srgbClr val="4D4D4D"/>
      </a:folHlink>
    </a:clrScheme>
    <a:fontScheme name="Ricepaper">
      <a:majorFont>
        <a:latin typeface="Times New Roman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36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黑体" panose="02010609060101010101" pitchFamily="49" charset="-122"/>
          </a:defRPr>
        </a:defPPr>
      </a:lstStyle>
    </a:lnDef>
  </a:objectDefaults>
  <a:extraClrSchemeLst>
    <a:extraClrScheme>
      <a:clrScheme name="Ricepaper 1">
        <a:dk1>
          <a:srgbClr val="9D9475"/>
        </a:dk1>
        <a:lt1>
          <a:srgbClr val="333333"/>
        </a:lt1>
        <a:dk2>
          <a:srgbClr val="333300"/>
        </a:dk2>
        <a:lt2>
          <a:srgbClr val="333333"/>
        </a:lt2>
        <a:accent1>
          <a:srgbClr val="B3C39F"/>
        </a:accent1>
        <a:accent2>
          <a:srgbClr val="DCD9CE"/>
        </a:accent2>
        <a:accent3>
          <a:srgbClr val="ADADAA"/>
        </a:accent3>
        <a:accent4>
          <a:srgbClr val="2A2A2A"/>
        </a:accent4>
        <a:accent5>
          <a:srgbClr val="D6DECD"/>
        </a:accent5>
        <a:accent6>
          <a:srgbClr val="C7C4BA"/>
        </a:accent6>
        <a:hlink>
          <a:srgbClr val="CC9900"/>
        </a:hlink>
        <a:folHlink>
          <a:srgbClr val="ADA68B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Ricepaper 2">
        <a:dk1>
          <a:srgbClr val="00264C"/>
        </a:dk1>
        <a:lt1>
          <a:srgbClr val="FFFFE9"/>
        </a:lt1>
        <a:dk2>
          <a:srgbClr val="333333"/>
        </a:dk2>
        <a:lt2>
          <a:srgbClr val="333333"/>
        </a:lt2>
        <a:accent1>
          <a:srgbClr val="78C0B2"/>
        </a:accent1>
        <a:accent2>
          <a:srgbClr val="262D4C"/>
        </a:accent2>
        <a:accent3>
          <a:srgbClr val="FFFFF2"/>
        </a:accent3>
        <a:accent4>
          <a:srgbClr val="001F40"/>
        </a:accent4>
        <a:accent5>
          <a:srgbClr val="BEDCD5"/>
        </a:accent5>
        <a:accent6>
          <a:srgbClr val="212844"/>
        </a:accent6>
        <a:hlink>
          <a:srgbClr val="598BBD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3">
        <a:dk1>
          <a:srgbClr val="000000"/>
        </a:dk1>
        <a:lt1>
          <a:srgbClr val="F8F8F8"/>
        </a:lt1>
        <a:dk2>
          <a:srgbClr val="333333"/>
        </a:dk2>
        <a:lt2>
          <a:srgbClr val="5F5F5F"/>
        </a:lt2>
        <a:accent1>
          <a:srgbClr val="DDDDD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4">
        <a:dk1>
          <a:srgbClr val="00264C"/>
        </a:dk1>
        <a:lt1>
          <a:srgbClr val="FFFFFF"/>
        </a:lt1>
        <a:dk2>
          <a:srgbClr val="333333"/>
        </a:dk2>
        <a:lt2>
          <a:srgbClr val="2E697E"/>
        </a:lt2>
        <a:accent1>
          <a:srgbClr val="BAC8AA"/>
        </a:accent1>
        <a:accent2>
          <a:srgbClr val="6E9883"/>
        </a:accent2>
        <a:accent3>
          <a:srgbClr val="FFFFFF"/>
        </a:accent3>
        <a:accent4>
          <a:srgbClr val="001F40"/>
        </a:accent4>
        <a:accent5>
          <a:srgbClr val="D9E0D2"/>
        </a:accent5>
        <a:accent6>
          <a:srgbClr val="638976"/>
        </a:accent6>
        <a:hlink>
          <a:srgbClr val="CC9900"/>
        </a:hlink>
        <a:folHlink>
          <a:srgbClr val="7DAEC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Ricepaper 5">
        <a:dk1>
          <a:srgbClr val="20374E"/>
        </a:dk1>
        <a:lt1>
          <a:srgbClr val="DCE4D2"/>
        </a:lt1>
        <a:dk2>
          <a:srgbClr val="333333"/>
        </a:dk2>
        <a:lt2>
          <a:srgbClr val="524C46"/>
        </a:lt2>
        <a:accent1>
          <a:srgbClr val="C9C491"/>
        </a:accent1>
        <a:accent2>
          <a:srgbClr val="8A776A"/>
        </a:accent2>
        <a:accent3>
          <a:srgbClr val="EBEFE5"/>
        </a:accent3>
        <a:accent4>
          <a:srgbClr val="1A2D41"/>
        </a:accent4>
        <a:accent5>
          <a:srgbClr val="E1DEC7"/>
        </a:accent5>
        <a:accent6>
          <a:srgbClr val="7D6B5F"/>
        </a:accent6>
        <a:hlink>
          <a:srgbClr val="67895F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14658</Words>
  <Application>WPS 演示</Application>
  <PresentationFormat>全屏显示(4:3)</PresentationFormat>
  <Paragraphs>1066</Paragraphs>
  <Slides>57</Slides>
  <Notes>63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57</vt:i4>
      </vt:variant>
    </vt:vector>
  </HeadingPairs>
  <TitlesOfParts>
    <vt:vector size="76" baseType="lpstr">
      <vt:lpstr>Arial</vt:lpstr>
      <vt:lpstr>宋体</vt:lpstr>
      <vt:lpstr>Wingdings</vt:lpstr>
      <vt:lpstr>Times New Roman</vt:lpstr>
      <vt:lpstr>黑体</vt:lpstr>
      <vt:lpstr>隶书</vt:lpstr>
      <vt:lpstr>微软雅黑</vt:lpstr>
      <vt:lpstr>Arial Unicode MS</vt:lpstr>
      <vt:lpstr>Verdana</vt:lpstr>
      <vt:lpstr>-apple-system</vt:lpstr>
      <vt:lpstr>Segoe Print</vt:lpstr>
      <vt:lpstr>Ricepaper</vt:lpstr>
      <vt:lpstr>1_Ricepaper</vt:lpstr>
      <vt:lpstr>2_Ricepaper</vt:lpstr>
      <vt:lpstr>3_Ricepaper</vt:lpstr>
      <vt:lpstr>4_Ricepaper</vt:lpstr>
      <vt:lpstr>5_Ricepaper</vt:lpstr>
      <vt:lpstr>6_Ricepaper</vt:lpstr>
      <vt:lpstr>7_Ricepaper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汇编原理与接口</dc:title>
  <dc:creator>刘兆丽</dc:creator>
  <cp:lastModifiedBy>甲烷</cp:lastModifiedBy>
  <cp:revision>10904</cp:revision>
  <cp:lastPrinted>1998-10-16T09:27:00Z</cp:lastPrinted>
  <dcterms:created xsi:type="dcterms:W3CDTF">1997-07-11T08:05:00Z</dcterms:created>
  <dcterms:modified xsi:type="dcterms:W3CDTF">2026-04-08T08:49:16Z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69C4BFE3BEFD4905BE9D4BF158A90F03_12</vt:lpwstr>
  </property>
  <property fmtid="{D5CDD505-2E9C-101B-9397-08002B2CF9AE}" pid="3" name="KSOProductBuildVer">
    <vt:lpwstr>2052-12.1.0.25225</vt:lpwstr>
  </property>
</Properties>
</file>