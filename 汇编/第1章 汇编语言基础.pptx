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8.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9.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0.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11.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56" r:id="rId3"/>
    <p:sldMasterId id="2147483660" r:id="rId4"/>
    <p:sldMasterId id="2147483664" r:id="rId5"/>
    <p:sldMasterId id="2147483668" r:id="rId6"/>
    <p:sldMasterId id="2147483672" r:id="rId7"/>
    <p:sldMasterId id="2147483676" r:id="rId8"/>
    <p:sldMasterId id="2147483680" r:id="rId9"/>
    <p:sldMasterId id="2147483684" r:id="rId10"/>
    <p:sldMasterId id="2147483688" r:id="rId11"/>
    <p:sldMasterId id="2147483692" r:id="rId12"/>
  </p:sldMasterIdLst>
  <p:notesMasterIdLst>
    <p:notesMasterId r:id="rId84"/>
  </p:notesMasterIdLst>
  <p:handoutMasterIdLst>
    <p:handoutMasterId r:id="rId85"/>
  </p:handoutMasterIdLst>
  <p:sldIdLst>
    <p:sldId id="1894" r:id="rId13"/>
    <p:sldId id="1861" r:id="rId14"/>
    <p:sldId id="1936" r:id="rId15"/>
    <p:sldId id="2133" r:id="rId16"/>
    <p:sldId id="2336" r:id="rId17"/>
    <p:sldId id="1883" r:id="rId18"/>
    <p:sldId id="1880" r:id="rId19"/>
    <p:sldId id="1896" r:id="rId20"/>
    <p:sldId id="1908" r:id="rId21"/>
    <p:sldId id="1871" r:id="rId22"/>
    <p:sldId id="2086" r:id="rId23"/>
    <p:sldId id="2090" r:id="rId24"/>
    <p:sldId id="2382" r:id="rId25"/>
    <p:sldId id="2101" r:id="rId26"/>
    <p:sldId id="2348" r:id="rId27"/>
    <p:sldId id="2125" r:id="rId28"/>
    <p:sldId id="2383" r:id="rId29"/>
    <p:sldId id="2103" r:id="rId30"/>
    <p:sldId id="2104" r:id="rId31"/>
    <p:sldId id="2349" r:id="rId32"/>
    <p:sldId id="2111" r:id="rId33"/>
    <p:sldId id="2384" r:id="rId34"/>
    <p:sldId id="2337" r:id="rId35"/>
    <p:sldId id="2338" r:id="rId36"/>
    <p:sldId id="2339" r:id="rId37"/>
    <p:sldId id="2340" r:id="rId38"/>
    <p:sldId id="2385" r:id="rId39"/>
    <p:sldId id="2341" r:id="rId40"/>
    <p:sldId id="2342" r:id="rId41"/>
    <p:sldId id="2343" r:id="rId42"/>
    <p:sldId id="2344" r:id="rId43"/>
    <p:sldId id="2345" r:id="rId44"/>
    <p:sldId id="2346" r:id="rId45"/>
    <p:sldId id="2347" r:id="rId46"/>
    <p:sldId id="2350" r:id="rId47"/>
    <p:sldId id="2386" r:id="rId48"/>
    <p:sldId id="2351" r:id="rId49"/>
    <p:sldId id="2352" r:id="rId50"/>
    <p:sldId id="2353" r:id="rId51"/>
    <p:sldId id="2354" r:id="rId52"/>
    <p:sldId id="2355" r:id="rId53"/>
    <p:sldId id="2356" r:id="rId54"/>
    <p:sldId id="2357" r:id="rId55"/>
    <p:sldId id="2358" r:id="rId56"/>
    <p:sldId id="2359" r:id="rId57"/>
    <p:sldId id="2360" r:id="rId58"/>
    <p:sldId id="2361" r:id="rId59"/>
    <p:sldId id="2362" r:id="rId60"/>
    <p:sldId id="2363" r:id="rId61"/>
    <p:sldId id="2364" r:id="rId62"/>
    <p:sldId id="2389" r:id="rId63"/>
    <p:sldId id="2387" r:id="rId64"/>
    <p:sldId id="2390" r:id="rId65"/>
    <p:sldId id="2366" r:id="rId66"/>
    <p:sldId id="2392" r:id="rId67"/>
    <p:sldId id="2367" r:id="rId68"/>
    <p:sldId id="2368" r:id="rId69"/>
    <p:sldId id="2369" r:id="rId70"/>
    <p:sldId id="2370" r:id="rId71"/>
    <p:sldId id="2371" r:id="rId72"/>
    <p:sldId id="2372" r:id="rId73"/>
    <p:sldId id="2373" r:id="rId74"/>
    <p:sldId id="2374" r:id="rId75"/>
    <p:sldId id="2375" r:id="rId76"/>
    <p:sldId id="2376" r:id="rId77"/>
    <p:sldId id="2377" r:id="rId78"/>
    <p:sldId id="2378" r:id="rId79"/>
    <p:sldId id="2379" r:id="rId80"/>
    <p:sldId id="2123" r:id="rId81"/>
    <p:sldId id="2334" r:id="rId82"/>
    <p:sldId id="2082" r:id="rId83"/>
  </p:sldIdLst>
  <p:sldSz cx="9144000" cy="6858000" type="screen4x3"/>
  <p:notesSz cx="6797675" cy="9926638"/>
  <p:custDataLst>
    <p:tags r:id="rId86"/>
  </p:custDataLst>
  <p:defaultTextStyle>
    <a:defPPr>
      <a:defRPr lang="zh-CN"/>
    </a:defPPr>
    <a:lvl1pPr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3600" kern="1200">
        <a:solidFill>
          <a:srgbClr val="0000FF"/>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3600" kern="1200">
        <a:solidFill>
          <a:srgbClr val="0000FF"/>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981" userDrawn="1">
          <p15:clr>
            <a:srgbClr val="A4A3A4"/>
          </p15:clr>
        </p15:guide>
        <p15:guide id="2" pos="2812" userDrawn="1">
          <p15:clr>
            <a:srgbClr val="A4A3A4"/>
          </p15:clr>
        </p15:guide>
        <p15:guide id="3" pos="2962" userDrawn="1">
          <p15:clr>
            <a:srgbClr val="A4A3A4"/>
          </p15:clr>
        </p15:guide>
      </p15:sldGuideLst>
    </p:ext>
    <p:ext uri="{2D200454-40CA-4A62-9FC3-DE9A4176ACB9}">
      <p15:notesGuideLst xmlns:p15="http://schemas.microsoft.com/office/powerpoint/2012/main">
        <p15:guide id="1" orient="horz" pos="2344">
          <p15:clr>
            <a:srgbClr val="A4A3A4"/>
          </p15:clr>
        </p15:guide>
        <p15:guide id="2" pos="29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0000"/>
    <a:srgbClr val="C0C0C0"/>
    <a:srgbClr val="FFFF99"/>
    <a:srgbClr val="CCFF33"/>
    <a:srgbClr val="5EABE4"/>
    <a:srgbClr val="50BCF2"/>
    <a:srgbClr val="DDEEFF"/>
    <a:srgbClr val="89E6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57450" autoAdjust="0"/>
  </p:normalViewPr>
  <p:slideViewPr>
    <p:cSldViewPr snapToObjects="1" showGuides="1">
      <p:cViewPr varScale="1">
        <p:scale>
          <a:sx n="38" d="100"/>
          <a:sy n="38" d="100"/>
        </p:scale>
        <p:origin x="2136" y="48"/>
      </p:cViewPr>
      <p:guideLst>
        <p:guide orient="horz" pos="981"/>
        <p:guide pos="2812"/>
        <p:guide pos="2962"/>
      </p:guideLst>
    </p:cSldViewPr>
  </p:slideViewPr>
  <p:outlineViewPr>
    <p:cViewPr>
      <p:scale>
        <a:sx n="25" d="100"/>
        <a:sy n="25" d="100"/>
      </p:scale>
      <p:origin x="0" y="0"/>
    </p:cViewPr>
    <p:sldLst>
      <p:sld r:id="rId1" collapse="1"/>
      <p:sld r:id="rId2" collapse="1"/>
    </p:sldLst>
  </p:outlineViewPr>
  <p:notesTextViewPr>
    <p:cViewPr>
      <p:scale>
        <a:sx n="125" d="100"/>
        <a:sy n="125" d="100"/>
      </p:scale>
      <p:origin x="0" y="0"/>
    </p:cViewPr>
  </p:notesTextViewPr>
  <p:sorterViewPr>
    <p:cViewPr>
      <p:scale>
        <a:sx n="100" d="100"/>
        <a:sy n="100" d="100"/>
      </p:scale>
      <p:origin x="0" y="9012"/>
    </p:cViewPr>
  </p:sorterViewPr>
  <p:notesViewPr>
    <p:cSldViewPr snapToObjects="1">
      <p:cViewPr>
        <p:scale>
          <a:sx n="75" d="100"/>
          <a:sy n="75" d="100"/>
        </p:scale>
        <p:origin x="-4158" y="-222"/>
      </p:cViewPr>
      <p:guideLst>
        <p:guide orient="horz" pos="2344"/>
        <p:guide pos="290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openxmlformats.org/officeDocument/2006/relationships/slide" Target="slides/slide51.xml"/><Relationship Id="rId68" Type="http://schemas.openxmlformats.org/officeDocument/2006/relationships/slide" Target="slides/slide56.xml"/><Relationship Id="rId76" Type="http://schemas.openxmlformats.org/officeDocument/2006/relationships/slide" Target="slides/slide64.xml"/><Relationship Id="rId84" Type="http://schemas.openxmlformats.org/officeDocument/2006/relationships/notesMaster" Target="notesMasters/notesMaster1.xml"/><Relationship Id="rId89"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59.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slide" Target="slides/slide54.xml"/><Relationship Id="rId74" Type="http://schemas.openxmlformats.org/officeDocument/2006/relationships/slide" Target="slides/slide62.xml"/><Relationship Id="rId79" Type="http://schemas.openxmlformats.org/officeDocument/2006/relationships/slide" Target="slides/slide67.xml"/><Relationship Id="rId87"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49.xml"/><Relationship Id="rId82" Type="http://schemas.openxmlformats.org/officeDocument/2006/relationships/slide" Target="slides/slide70.xml"/><Relationship Id="rId90" Type="http://schemas.openxmlformats.org/officeDocument/2006/relationships/tableStyles" Target="tableStyles.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slide" Target="slides/slide52.xml"/><Relationship Id="rId69" Type="http://schemas.openxmlformats.org/officeDocument/2006/relationships/slide" Target="slides/slide57.xml"/><Relationship Id="rId77" Type="http://schemas.openxmlformats.org/officeDocument/2006/relationships/slide" Target="slides/slide65.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80" Type="http://schemas.openxmlformats.org/officeDocument/2006/relationships/slide" Target="slides/slide68.xml"/><Relationship Id="rId85"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slide" Target="slides/slide55.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slide" Target="slides/slide58.xml"/><Relationship Id="rId75" Type="http://schemas.openxmlformats.org/officeDocument/2006/relationships/slide" Target="slides/slide63.xml"/><Relationship Id="rId83" Type="http://schemas.openxmlformats.org/officeDocument/2006/relationships/slide" Target="slides/slide7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slide" Target="slides/slide66.xml"/><Relationship Id="rId81" Type="http://schemas.openxmlformats.org/officeDocument/2006/relationships/slide" Target="slides/slide69.xml"/><Relationship Id="rId86" Type="http://schemas.openxmlformats.org/officeDocument/2006/relationships/tags" Target="tags/tag1.xml"/></Relationships>
</file>

<file path=ppt/_rels/viewProps.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813" cy="495300"/>
          </a:xfrm>
          <a:prstGeom prst="rect">
            <a:avLst/>
          </a:prstGeom>
          <a:noFill/>
          <a:ln w="9525">
            <a:noFill/>
            <a:miter lim="800000"/>
          </a:ln>
        </p:spPr>
        <p:txBody>
          <a:bodyPr vert="horz" wrap="square" lIns="92667" tIns="46333" rIns="92667" bIns="46333" numCol="1" anchor="t" anchorCtr="0" compatLnSpc="1"/>
          <a:lstStyle>
            <a:lvl1pP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5" name="Rectangle 3"/>
          <p:cNvSpPr>
            <a:spLocks noGrp="1" noChangeArrowheads="1"/>
          </p:cNvSpPr>
          <p:nvPr>
            <p:ph type="dt" sz="quarter" idx="1"/>
          </p:nvPr>
        </p:nvSpPr>
        <p:spPr bwMode="auto">
          <a:xfrm>
            <a:off x="3852863" y="0"/>
            <a:ext cx="2944812" cy="495300"/>
          </a:xfrm>
          <a:prstGeom prst="rect">
            <a:avLst/>
          </a:prstGeom>
          <a:noFill/>
          <a:ln w="9525">
            <a:noFill/>
            <a:miter lim="800000"/>
          </a:ln>
        </p:spPr>
        <p:txBody>
          <a:bodyPr vert="horz" wrap="square" lIns="92667" tIns="46333" rIns="92667" bIns="46333" numCol="1" anchor="t" anchorCtr="0" compatLnSpc="1"/>
          <a:lstStyle>
            <a:lvl1pPr algn="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6" name="Rectangle 4"/>
          <p:cNvSpPr>
            <a:spLocks noGrp="1" noChangeArrowheads="1"/>
          </p:cNvSpPr>
          <p:nvPr>
            <p:ph type="ftr" sz="quarter" idx="2"/>
          </p:nvPr>
        </p:nvSpPr>
        <p:spPr bwMode="auto">
          <a:xfrm>
            <a:off x="0" y="9431338"/>
            <a:ext cx="2944813" cy="495300"/>
          </a:xfrm>
          <a:prstGeom prst="rect">
            <a:avLst/>
          </a:prstGeom>
          <a:noFill/>
          <a:ln w="9525">
            <a:noFill/>
            <a:miter lim="800000"/>
          </a:ln>
        </p:spPr>
        <p:txBody>
          <a:bodyPr vert="horz" wrap="square" lIns="92667" tIns="46333" rIns="92667" bIns="46333" numCol="1" anchor="b" anchorCtr="0" compatLnSpc="1"/>
          <a:lstStyle>
            <a:lvl1pPr defTabSz="927100" eaLnBrk="1" hangingPunct="1">
              <a:defRPr sz="1300">
                <a:solidFill>
                  <a:schemeClr val="tx1"/>
                </a:solidFill>
                <a:ea typeface="宋体"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3852863" y="9431338"/>
            <a:ext cx="2944812" cy="495300"/>
          </a:xfrm>
          <a:prstGeom prst="rect">
            <a:avLst/>
          </a:prstGeom>
          <a:noFill/>
          <a:ln w="9525">
            <a:noFill/>
            <a:miter lim="800000"/>
          </a:ln>
        </p:spPr>
        <p:txBody>
          <a:bodyPr vert="horz" wrap="square" lIns="92667" tIns="46333" rIns="92667" bIns="46333" numCol="1" anchor="b" anchorCtr="0" compatLnSpc="1"/>
          <a:lstStyle>
            <a:lvl1pPr algn="r" defTabSz="927100" eaLnBrk="1" hangingPunct="1">
              <a:defRPr sz="1300">
                <a:solidFill>
                  <a:schemeClr val="tx1"/>
                </a:solidFill>
                <a:ea typeface="宋体" panose="02010600030101010101" pitchFamily="2" charset="-122"/>
              </a:defRPr>
            </a:lvl1pPr>
          </a:lstStyle>
          <a:p>
            <a:pPr>
              <a:defRPr/>
            </a:pPr>
            <a:fld id="{A7134E63-CDBE-4D97-ABFD-7014D49E4694}"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16238" cy="517525"/>
          </a:xfrm>
          <a:prstGeom prst="rect">
            <a:avLst/>
          </a:prstGeom>
          <a:noFill/>
          <a:ln w="9525">
            <a:noFill/>
            <a:miter lim="800000"/>
          </a:ln>
          <a:effectLst/>
        </p:spPr>
        <p:txBody>
          <a:bodyPr vert="horz" wrap="none" lIns="88194" tIns="44097" rIns="88194" bIns="44097" numCol="1" anchor="t" anchorCtr="0" compatLnSpc="1"/>
          <a:lstStyle>
            <a:lvl1pP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76803" name="Rectangle 3"/>
          <p:cNvSpPr>
            <a:spLocks noGrp="1" noChangeArrowheads="1"/>
          </p:cNvSpPr>
          <p:nvPr>
            <p:ph type="dt" idx="1"/>
          </p:nvPr>
        </p:nvSpPr>
        <p:spPr bwMode="auto">
          <a:xfrm>
            <a:off x="3865563" y="0"/>
            <a:ext cx="2916237" cy="517525"/>
          </a:xfrm>
          <a:prstGeom prst="rect">
            <a:avLst/>
          </a:prstGeom>
          <a:noFill/>
          <a:ln w="9525">
            <a:noFill/>
            <a:miter lim="800000"/>
          </a:ln>
          <a:effectLst/>
        </p:spPr>
        <p:txBody>
          <a:bodyPr vert="horz" wrap="none" lIns="88194" tIns="44097" rIns="88194" bIns="44097" numCol="1" anchor="t" anchorCtr="0" compatLnSpc="1"/>
          <a:lstStyle>
            <a:lvl1pPr algn="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963613" y="739775"/>
            <a:ext cx="4929187" cy="3697288"/>
          </a:xfrm>
          <a:prstGeom prst="rect">
            <a:avLst/>
          </a:prstGeom>
          <a:noFill/>
          <a:ln w="9525">
            <a:solidFill>
              <a:srgbClr val="000000"/>
            </a:solidFill>
            <a:miter lim="800000"/>
          </a:ln>
        </p:spPr>
      </p:sp>
      <p:sp>
        <p:nvSpPr>
          <p:cNvPr id="76805" name="Rectangle 5"/>
          <p:cNvSpPr>
            <a:spLocks noGrp="1" noChangeArrowheads="1"/>
          </p:cNvSpPr>
          <p:nvPr>
            <p:ph type="body" sz="quarter" idx="3"/>
          </p:nvPr>
        </p:nvSpPr>
        <p:spPr bwMode="auto">
          <a:xfrm>
            <a:off x="876300" y="4730750"/>
            <a:ext cx="5030788" cy="4435475"/>
          </a:xfrm>
          <a:prstGeom prst="rect">
            <a:avLst/>
          </a:prstGeom>
          <a:noFill/>
          <a:ln w="9525">
            <a:noFill/>
            <a:miter lim="800000"/>
          </a:ln>
          <a:effectLst/>
        </p:spPr>
        <p:txBody>
          <a:bodyPr vert="horz" wrap="none" lIns="88194" tIns="44097" rIns="88194" bIns="44097"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6806" name="Rectangle 6"/>
          <p:cNvSpPr>
            <a:spLocks noGrp="1" noChangeArrowheads="1"/>
          </p:cNvSpPr>
          <p:nvPr>
            <p:ph type="ftr" sz="quarter" idx="4"/>
          </p:nvPr>
        </p:nvSpPr>
        <p:spPr bwMode="auto">
          <a:xfrm>
            <a:off x="0" y="9463088"/>
            <a:ext cx="2916238" cy="442912"/>
          </a:xfrm>
          <a:prstGeom prst="rect">
            <a:avLst/>
          </a:prstGeom>
          <a:noFill/>
          <a:ln w="9525">
            <a:noFill/>
            <a:miter lim="800000"/>
          </a:ln>
          <a:effectLst/>
        </p:spPr>
        <p:txBody>
          <a:bodyPr vert="horz" wrap="none" lIns="88194" tIns="44097" rIns="88194" bIns="44097" numCol="1" anchor="b" anchorCtr="0" compatLnSpc="1"/>
          <a:lstStyle>
            <a:lvl1pPr defTabSz="882650" eaLnBrk="1" hangingPunct="1">
              <a:defRPr sz="1200">
                <a:solidFill>
                  <a:schemeClr val="tx1"/>
                </a:solidFill>
                <a:ea typeface="宋体" panose="02010600030101010101" pitchFamily="2" charset="-122"/>
              </a:defRPr>
            </a:lvl1pPr>
          </a:lstStyle>
          <a:p>
            <a:pPr>
              <a:defRPr/>
            </a:pPr>
            <a:endParaRPr lang="en-US" altLang="zh-CN"/>
          </a:p>
        </p:txBody>
      </p:sp>
      <p:sp>
        <p:nvSpPr>
          <p:cNvPr id="76807" name="Rectangle 7"/>
          <p:cNvSpPr>
            <a:spLocks noGrp="1" noChangeArrowheads="1"/>
          </p:cNvSpPr>
          <p:nvPr>
            <p:ph type="sldNum" sz="quarter" idx="5"/>
          </p:nvPr>
        </p:nvSpPr>
        <p:spPr bwMode="auto">
          <a:xfrm>
            <a:off x="3865563" y="9463088"/>
            <a:ext cx="2916237" cy="442912"/>
          </a:xfrm>
          <a:prstGeom prst="rect">
            <a:avLst/>
          </a:prstGeom>
          <a:noFill/>
          <a:ln w="9525">
            <a:noFill/>
            <a:miter lim="800000"/>
          </a:ln>
          <a:effectLst/>
        </p:spPr>
        <p:txBody>
          <a:bodyPr vert="horz" wrap="none" lIns="88194" tIns="44097" rIns="88194" bIns="44097" numCol="1" anchor="b" anchorCtr="0" compatLnSpc="1"/>
          <a:lstStyle>
            <a:lvl1pPr algn="r" defTabSz="882650" eaLnBrk="1" hangingPunct="1">
              <a:defRPr sz="1200">
                <a:solidFill>
                  <a:schemeClr val="tx1"/>
                </a:solidFill>
                <a:ea typeface="宋体" panose="02010600030101010101" pitchFamily="2" charset="-122"/>
              </a:defRPr>
            </a:lvl1pPr>
          </a:lstStyle>
          <a:p>
            <a:pPr>
              <a:defRPr/>
            </a:pPr>
            <a:fld id="{A6A3250A-D96D-4FF1-9A04-805EFEDA6A1B}" type="slidenum">
              <a:rPr lang="en-US" altLang="zh-CN"/>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手机、相机、机顶盒等</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Intel</a:t>
            </a:r>
            <a:r>
              <a:rPr lang="zh-CN" altLang="en-US" dirty="0"/>
              <a:t>和</a:t>
            </a:r>
            <a:r>
              <a:rPr lang="en-US" altLang="zh-CN" dirty="0"/>
              <a:t>AMD</a:t>
            </a:r>
          </a:p>
          <a:p>
            <a:r>
              <a:rPr lang="en-US" altLang="zh-CN" dirty="0"/>
              <a:t>IA32</a:t>
            </a:r>
            <a:r>
              <a:rPr lang="zh-CN" altLang="en-US" dirty="0"/>
              <a:t>、</a:t>
            </a:r>
            <a:r>
              <a:rPr lang="en-US" altLang="zh-CN" dirty="0"/>
              <a:t>x86</a:t>
            </a:r>
            <a:r>
              <a:rPr lang="zh-CN" altLang="en-US" dirty="0"/>
              <a:t>：</a:t>
            </a:r>
            <a:r>
              <a:rPr lang="en-US" altLang="zh-CN" dirty="0"/>
              <a:t>IA-32</a:t>
            </a:r>
            <a:r>
              <a:rPr lang="zh-CN" altLang="en-US" dirty="0"/>
              <a:t>为</a:t>
            </a:r>
            <a:r>
              <a:rPr lang="en-US" altLang="zh-CN" dirty="0"/>
              <a:t>Intel Architecture 32bit</a:t>
            </a:r>
            <a:r>
              <a:rPr lang="zh-CN" altLang="en-US" dirty="0"/>
              <a:t>简称，即英特尔</a:t>
            </a:r>
            <a:r>
              <a:rPr lang="en-US" altLang="zh-CN" dirty="0"/>
              <a:t>32</a:t>
            </a:r>
            <a:r>
              <a:rPr lang="zh-CN" altLang="en-US" dirty="0"/>
              <a:t>位体系架构，在英特尔公司</a:t>
            </a:r>
            <a:r>
              <a:rPr lang="en-US" altLang="zh-CN" dirty="0"/>
              <a:t>1985</a:t>
            </a:r>
            <a:r>
              <a:rPr lang="zh-CN" altLang="en-US" dirty="0"/>
              <a:t>年推出的</a:t>
            </a:r>
            <a:r>
              <a:rPr lang="en-US" altLang="zh-CN" dirty="0"/>
              <a:t>80386</a:t>
            </a:r>
            <a:r>
              <a:rPr lang="zh-CN" altLang="en-US" dirty="0"/>
              <a:t>微处理器中首先采用。通常也被称为</a:t>
            </a:r>
            <a:r>
              <a:rPr lang="en-US" altLang="zh-CN" dirty="0"/>
              <a:t>i386</a:t>
            </a:r>
            <a:r>
              <a:rPr lang="zh-CN" altLang="en-US" dirty="0"/>
              <a:t>、</a:t>
            </a:r>
            <a:r>
              <a:rPr lang="en-US" altLang="zh-CN" dirty="0"/>
              <a:t>x86-32</a:t>
            </a:r>
            <a:r>
              <a:rPr lang="zh-CN" altLang="en-US" dirty="0"/>
              <a:t>、</a:t>
            </a:r>
            <a:r>
              <a:rPr lang="en-US" altLang="zh-CN" dirty="0"/>
              <a:t>x86</a:t>
            </a:r>
            <a:r>
              <a:rPr lang="zh-CN" altLang="en-US" dirty="0"/>
              <a:t>等。</a:t>
            </a:r>
            <a:r>
              <a:rPr lang="en-US" altLang="zh-CN" dirty="0"/>
              <a:t>IA64</a:t>
            </a:r>
            <a:r>
              <a:rPr lang="zh-CN" altLang="en-US" dirty="0"/>
              <a:t>：</a:t>
            </a:r>
            <a:r>
              <a:rPr lang="en-US" altLang="zh-CN" dirty="0"/>
              <a:t>IA64</a:t>
            </a:r>
            <a:r>
              <a:rPr lang="zh-CN" altLang="en-US" dirty="0"/>
              <a:t>是后来</a:t>
            </a:r>
            <a:r>
              <a:rPr lang="en-US" altLang="zh-CN" dirty="0"/>
              <a:t>intel</a:t>
            </a:r>
            <a:r>
              <a:rPr lang="zh-CN" altLang="en-US" dirty="0"/>
              <a:t>和惠普联合推出的</a:t>
            </a:r>
            <a:r>
              <a:rPr lang="en-US" altLang="zh-CN" dirty="0"/>
              <a:t>64</a:t>
            </a:r>
            <a:r>
              <a:rPr lang="zh-CN" altLang="en-US" dirty="0"/>
              <a:t>位体系架构，但是不兼容原有的</a:t>
            </a:r>
            <a:r>
              <a:rPr lang="en-US" altLang="zh-CN" dirty="0"/>
              <a:t>32</a:t>
            </a:r>
            <a:r>
              <a:rPr lang="zh-CN" altLang="en-US" dirty="0"/>
              <a:t>位体系结构的应用程序，导致市场惨淡。</a:t>
            </a:r>
            <a:r>
              <a:rPr lang="en-US" altLang="zh-CN" dirty="0"/>
              <a:t>AMD64</a:t>
            </a:r>
            <a:r>
              <a:rPr lang="zh-CN" altLang="en-US" dirty="0"/>
              <a:t>、</a:t>
            </a:r>
            <a:r>
              <a:rPr lang="en-US" altLang="zh-CN" dirty="0"/>
              <a:t>Intel64</a:t>
            </a:r>
            <a:r>
              <a:rPr lang="zh-CN" altLang="en-US" dirty="0"/>
              <a:t>、</a:t>
            </a:r>
            <a:r>
              <a:rPr lang="en-US" altLang="zh-CN" dirty="0"/>
              <a:t>x86-64</a:t>
            </a:r>
            <a:r>
              <a:rPr lang="zh-CN" altLang="en-US" dirty="0"/>
              <a:t>、</a:t>
            </a:r>
            <a:r>
              <a:rPr lang="en-US" altLang="zh-CN" dirty="0"/>
              <a:t>x64</a:t>
            </a:r>
            <a:r>
              <a:rPr lang="zh-CN" altLang="en-US" dirty="0"/>
              <a:t>：后来</a:t>
            </a:r>
            <a:r>
              <a:rPr lang="en-US" altLang="zh-CN" dirty="0"/>
              <a:t>AMD</a:t>
            </a:r>
            <a:r>
              <a:rPr lang="zh-CN" altLang="en-US" dirty="0"/>
              <a:t>推出了兼容</a:t>
            </a:r>
            <a:r>
              <a:rPr lang="en-US" altLang="zh-CN" dirty="0"/>
              <a:t>32</a:t>
            </a:r>
            <a:r>
              <a:rPr lang="zh-CN" altLang="en-US" dirty="0"/>
              <a:t>位的</a:t>
            </a:r>
            <a:r>
              <a:rPr lang="en-US" altLang="zh-CN" dirty="0"/>
              <a:t>64</a:t>
            </a:r>
            <a:r>
              <a:rPr lang="zh-CN" altLang="en-US" dirty="0"/>
              <a:t>位集关于</a:t>
            </a:r>
            <a:r>
              <a:rPr lang="en-US" altLang="zh-CN" dirty="0"/>
              <a:t>IA-32</a:t>
            </a:r>
            <a:r>
              <a:rPr lang="zh-CN" altLang="en-US" dirty="0"/>
              <a:t>的扩展，之后改名为</a:t>
            </a:r>
            <a:r>
              <a:rPr lang="en-US" altLang="zh-CN" dirty="0"/>
              <a:t>AMD64</a:t>
            </a:r>
            <a:r>
              <a:rPr lang="zh-CN" altLang="en-US" dirty="0"/>
              <a:t>，</a:t>
            </a:r>
            <a:r>
              <a:rPr lang="en-US" altLang="zh-CN" dirty="0"/>
              <a:t>Intel</a:t>
            </a:r>
            <a:r>
              <a:rPr lang="zh-CN" altLang="en-US" dirty="0"/>
              <a:t>后来也采用该架构，在其文档中称为</a:t>
            </a:r>
            <a:r>
              <a:rPr lang="en-US" altLang="zh-CN" dirty="0"/>
              <a:t>Intel64</a:t>
            </a:r>
            <a:r>
              <a:rPr lang="zh-CN" altLang="en-US" dirty="0"/>
              <a:t>。同时，该架构又被称为</a:t>
            </a:r>
            <a:r>
              <a:rPr lang="en-US" altLang="zh-CN" dirty="0"/>
              <a:t>x86-64</a:t>
            </a:r>
            <a:r>
              <a:rPr lang="zh-CN" altLang="en-US" dirty="0"/>
              <a:t>或者</a:t>
            </a:r>
            <a:r>
              <a:rPr lang="en-US" altLang="zh-CN" dirty="0"/>
              <a:t>x64</a:t>
            </a:r>
            <a:r>
              <a:rPr lang="zh-CN" altLang="en-US" dirty="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F73131"/>
                </a:solidFill>
                <a:effectLst/>
                <a:latin typeface="Arial" panose="020B0604020202020204" pitchFamily="34" charset="0"/>
              </a:rPr>
              <a:t>数据总线的位数是微型计算机的一个重要指标，通常与微处理的字长相一致</a:t>
            </a:r>
            <a:endParaRPr lang="en-US" altLang="zh-CN" b="0" i="0" dirty="0">
              <a:solidFill>
                <a:srgbClr val="F73131"/>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121212"/>
                </a:solidFill>
                <a:effectLst/>
                <a:latin typeface="-apple-system"/>
              </a:rPr>
              <a:t>实模式即实际地址模式，用户写的代码中</a:t>
            </a:r>
            <a:r>
              <a:rPr lang="en-US" altLang="zh-CN" b="0" i="0" dirty="0">
                <a:solidFill>
                  <a:srgbClr val="121212"/>
                </a:solidFill>
                <a:effectLst/>
                <a:latin typeface="-apple-system"/>
              </a:rPr>
              <a:t>CS</a:t>
            </a:r>
            <a:r>
              <a:rPr lang="zh-CN" altLang="en-US" b="0" i="0" dirty="0">
                <a:solidFill>
                  <a:srgbClr val="121212"/>
                </a:solidFill>
                <a:effectLst/>
                <a:latin typeface="-apple-system"/>
              </a:rPr>
              <a:t>与</a:t>
            </a:r>
            <a:r>
              <a:rPr lang="en-US" altLang="zh-CN" b="0" i="0" dirty="0">
                <a:solidFill>
                  <a:srgbClr val="121212"/>
                </a:solidFill>
                <a:effectLst/>
                <a:latin typeface="-apple-system"/>
              </a:rPr>
              <a:t>IP(</a:t>
            </a:r>
            <a:r>
              <a:rPr lang="en-US" altLang="zh-CN" b="0" i="0" dirty="0">
                <a:solidFill>
                  <a:srgbClr val="F73131"/>
                </a:solidFill>
                <a:effectLst/>
                <a:latin typeface="Arial" panose="020B0604020202020204" pitchFamily="34" charset="0"/>
              </a:rPr>
              <a:t>Instructional</a:t>
            </a:r>
            <a:r>
              <a:rPr lang="en-US" altLang="zh-CN" b="0" i="0" dirty="0">
                <a:solidFill>
                  <a:srgbClr val="333333"/>
                </a:solidFill>
                <a:effectLst/>
                <a:latin typeface="Arial" panose="020B0604020202020204" pitchFamily="34" charset="0"/>
              </a:rPr>
              <a:t> </a:t>
            </a:r>
            <a:r>
              <a:rPr lang="en-US" altLang="zh-CN" b="0" i="0" dirty="0">
                <a:solidFill>
                  <a:srgbClr val="F73131"/>
                </a:solidFill>
                <a:effectLst/>
                <a:latin typeface="Arial" panose="020B0604020202020204" pitchFamily="34" charset="0"/>
              </a:rPr>
              <a:t>Pointer</a:t>
            </a:r>
            <a:r>
              <a:rPr lang="en-US" altLang="zh-CN" b="0" i="0" dirty="0">
                <a:solidFill>
                  <a:srgbClr val="121212"/>
                </a:solidFill>
                <a:effectLst/>
                <a:latin typeface="-apple-system"/>
              </a:rPr>
              <a:t>)</a:t>
            </a:r>
            <a:r>
              <a:rPr lang="zh-CN" altLang="en-US" b="0" i="0" dirty="0">
                <a:solidFill>
                  <a:srgbClr val="121212"/>
                </a:solidFill>
                <a:effectLst/>
                <a:latin typeface="-apple-system"/>
              </a:rPr>
              <a:t>寄存器组合成的地址即为实际的物理内存地址。这种方式非常的不安全。不方便实现多任务系统。在设计</a:t>
            </a:r>
            <a:r>
              <a:rPr lang="en-US" altLang="zh-CN" b="0" i="0" dirty="0">
                <a:solidFill>
                  <a:srgbClr val="121212"/>
                </a:solidFill>
                <a:effectLst/>
                <a:latin typeface="-apple-system"/>
              </a:rPr>
              <a:t>80286</a:t>
            </a:r>
            <a:r>
              <a:rPr lang="zh-CN" altLang="en-US" b="0" i="0" dirty="0">
                <a:solidFill>
                  <a:srgbClr val="121212"/>
                </a:solidFill>
                <a:effectLst/>
                <a:latin typeface="-apple-system"/>
              </a:rPr>
              <a:t>的时候要解决的主要就是这个问题。 在</a:t>
            </a:r>
            <a:r>
              <a:rPr lang="en-US" altLang="zh-CN" b="0" i="0" dirty="0">
                <a:solidFill>
                  <a:srgbClr val="121212"/>
                </a:solidFill>
                <a:effectLst/>
                <a:latin typeface="-apple-system"/>
              </a:rPr>
              <a:t>80286</a:t>
            </a:r>
            <a:r>
              <a:rPr lang="zh-CN" altLang="en-US" b="0" i="0" dirty="0">
                <a:solidFill>
                  <a:srgbClr val="121212"/>
                </a:solidFill>
                <a:effectLst/>
                <a:latin typeface="-apple-system"/>
              </a:rPr>
              <a:t>中，段式访存得到的改进，原来段寄存器</a:t>
            </a:r>
            <a:r>
              <a:rPr lang="en-US" altLang="zh-CN" b="0" i="0" dirty="0">
                <a:solidFill>
                  <a:srgbClr val="121212"/>
                </a:solidFill>
                <a:effectLst/>
                <a:latin typeface="-apple-system"/>
              </a:rPr>
              <a:t>+IP</a:t>
            </a:r>
            <a:r>
              <a:rPr lang="zh-CN" altLang="en-US" b="0" i="0" dirty="0">
                <a:solidFill>
                  <a:srgbClr val="121212"/>
                </a:solidFill>
                <a:effectLst/>
                <a:latin typeface="-apple-system"/>
              </a:rPr>
              <a:t>得到的地址不在是实际的物理地址，而是要经过一个转换层转换才变成一个物理地址。</a:t>
            </a:r>
            <a:r>
              <a:rPr lang="en-US" altLang="zh-CN" b="0" i="0" dirty="0">
                <a:solidFill>
                  <a:srgbClr val="121212"/>
                </a:solidFill>
                <a:effectLst/>
                <a:latin typeface="-apple-system"/>
              </a:rPr>
              <a:t>CS</a:t>
            </a:r>
            <a:r>
              <a:rPr lang="zh-CN" altLang="en-US" b="0" i="0" dirty="0">
                <a:solidFill>
                  <a:srgbClr val="121212"/>
                </a:solidFill>
                <a:effectLst/>
                <a:latin typeface="-apple-system"/>
              </a:rPr>
              <a:t>里面的内存不再是</a:t>
            </a:r>
            <a:r>
              <a:rPr lang="en-US" altLang="zh-CN" b="0" i="0" dirty="0">
                <a:solidFill>
                  <a:srgbClr val="121212"/>
                </a:solidFill>
                <a:effectLst/>
                <a:latin typeface="-apple-system"/>
              </a:rPr>
              <a:t>20</a:t>
            </a:r>
            <a:r>
              <a:rPr lang="zh-CN" altLang="en-US" b="0" i="0" dirty="0">
                <a:solidFill>
                  <a:srgbClr val="121212"/>
                </a:solidFill>
                <a:effectLst/>
                <a:latin typeface="-apple-system"/>
              </a:rPr>
              <a:t>位物理地址的高</a:t>
            </a:r>
            <a:r>
              <a:rPr lang="en-US" altLang="zh-CN" b="0" i="0" dirty="0">
                <a:solidFill>
                  <a:srgbClr val="121212"/>
                </a:solidFill>
                <a:effectLst/>
                <a:latin typeface="-apple-system"/>
              </a:rPr>
              <a:t>16</a:t>
            </a:r>
            <a:r>
              <a:rPr lang="zh-CN" altLang="en-US" b="0" i="0" dirty="0">
                <a:solidFill>
                  <a:srgbClr val="121212"/>
                </a:solidFill>
                <a:effectLst/>
                <a:latin typeface="-apple-system"/>
              </a:rPr>
              <a:t>位，而变成了段描述符表中的索引。</a:t>
            </a:r>
            <a:endParaRPr lang="zh-CN" altLang="en-US" b="0" i="0" dirty="0">
              <a:solidFill>
                <a:srgbClr val="333333"/>
              </a:solidFill>
              <a:effectLst/>
              <a:latin typeface="Arial" panose="020B0604020202020204" pitchFamily="34" charset="0"/>
            </a:endParaRPr>
          </a:p>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222222"/>
                </a:solidFill>
                <a:effectLst/>
                <a:latin typeface="Arial" panose="020B0604020202020204" pitchFamily="34" charset="0"/>
              </a:rPr>
              <a:t>不同类型的</a:t>
            </a:r>
            <a:r>
              <a:rPr lang="en-US" altLang="zh-CN" b="1" i="0" dirty="0">
                <a:solidFill>
                  <a:srgbClr val="222222"/>
                </a:solidFill>
                <a:effectLst/>
                <a:latin typeface="Arial" panose="020B0604020202020204" pitchFamily="34" charset="0"/>
              </a:rPr>
              <a:t>CPU</a:t>
            </a:r>
            <a:r>
              <a:rPr lang="zh-CN" altLang="en-US" b="1" i="0" dirty="0">
                <a:solidFill>
                  <a:srgbClr val="222222"/>
                </a:solidFill>
                <a:effectLst/>
                <a:latin typeface="Arial" panose="020B0604020202020204" pitchFamily="34" charset="0"/>
              </a:rPr>
              <a:t>，使用不同的指令集。</a:t>
            </a:r>
            <a:endParaRPr lang="en-US" altLang="zh-CN" b="1" i="0" dirty="0">
              <a:solidFill>
                <a:srgbClr val="222222"/>
              </a:solidFill>
              <a:effectLst/>
              <a:latin typeface="Arial" panose="020B0604020202020204" pitchFamily="34" charset="0"/>
            </a:endParaRPr>
          </a:p>
          <a:p>
            <a:r>
              <a:rPr lang="en-US" altLang="zh-CN" b="0" i="0" dirty="0">
                <a:solidFill>
                  <a:srgbClr val="222222"/>
                </a:solidFill>
                <a:effectLst/>
                <a:latin typeface="Arial" panose="020B0604020202020204" pitchFamily="34" charset="0"/>
              </a:rPr>
              <a:t>X86</a:t>
            </a:r>
            <a:r>
              <a:rPr lang="zh-CN" altLang="en-US" b="0" i="0" dirty="0">
                <a:solidFill>
                  <a:srgbClr val="222222"/>
                </a:solidFill>
                <a:effectLst/>
                <a:latin typeface="Arial" panose="020B0604020202020204" pitchFamily="34" charset="0"/>
              </a:rPr>
              <a:t>架构的</a:t>
            </a:r>
            <a:r>
              <a:rPr lang="en-US" altLang="zh-CN" b="0" i="0" dirty="0">
                <a:solidFill>
                  <a:srgbClr val="222222"/>
                </a:solidFill>
                <a:effectLst/>
                <a:latin typeface="Arial" panose="020B0604020202020204" pitchFamily="34" charset="0"/>
              </a:rPr>
              <a:t>CPU</a:t>
            </a:r>
            <a:r>
              <a:rPr lang="zh-CN" altLang="en-US" b="0" i="0" dirty="0">
                <a:solidFill>
                  <a:srgbClr val="222222"/>
                </a:solidFill>
                <a:effectLst/>
                <a:latin typeface="Arial" panose="020B0604020202020204" pitchFamily="34" charset="0"/>
              </a:rPr>
              <a:t>，使用</a:t>
            </a:r>
            <a:r>
              <a:rPr lang="zh-CN" altLang="en-US" b="1" i="0" dirty="0">
                <a:solidFill>
                  <a:srgbClr val="222222"/>
                </a:solidFill>
                <a:effectLst/>
                <a:latin typeface="Arial" panose="020B0604020202020204" pitchFamily="34" charset="0"/>
              </a:rPr>
              <a:t>复杂指令集</a:t>
            </a:r>
            <a:r>
              <a:rPr lang="zh-CN" altLang="en-US" b="0" i="0" dirty="0">
                <a:solidFill>
                  <a:srgbClr val="222222"/>
                </a:solidFill>
                <a:effectLst/>
                <a:latin typeface="Arial" panose="020B0604020202020204" pitchFamily="34" charset="0"/>
              </a:rPr>
              <a:t>。英文为</a:t>
            </a:r>
            <a:r>
              <a:rPr lang="en-US" altLang="zh-CN" b="0" i="0" dirty="0">
                <a:solidFill>
                  <a:srgbClr val="222222"/>
                </a:solidFill>
                <a:effectLst/>
                <a:latin typeface="Arial" panose="020B0604020202020204" pitchFamily="34" charset="0"/>
              </a:rPr>
              <a:t>Complex Instruction Set Computer</a:t>
            </a:r>
            <a:r>
              <a:rPr lang="zh-CN" altLang="en-US" b="0" i="0" dirty="0">
                <a:solidFill>
                  <a:srgbClr val="222222"/>
                </a:solidFill>
                <a:effectLst/>
                <a:latin typeface="Arial" panose="020B0604020202020204" pitchFamily="34" charset="0"/>
              </a:rPr>
              <a:t>，简写作</a:t>
            </a:r>
            <a:r>
              <a:rPr lang="en-US" altLang="zh-CN" b="0" i="0" dirty="0">
                <a:solidFill>
                  <a:srgbClr val="222222"/>
                </a:solidFill>
                <a:effectLst/>
                <a:latin typeface="Arial" panose="020B0604020202020204" pitchFamily="34" charset="0"/>
              </a:rPr>
              <a:t>CISC</a:t>
            </a:r>
            <a:r>
              <a:rPr lang="zh-CN" altLang="en-US" b="0" i="0" dirty="0">
                <a:solidFill>
                  <a:srgbClr val="222222"/>
                </a:solidFill>
                <a:effectLst/>
                <a:latin typeface="Arial" panose="020B0604020202020204" pitchFamily="34" charset="0"/>
              </a:rPr>
              <a:t>。复杂指令集的设计目的，是希望直接通过硬件来完成复杂的指令执行过程，</a:t>
            </a:r>
          </a:p>
          <a:p>
            <a:r>
              <a:rPr lang="zh-CN" altLang="en-US" b="0" i="0" dirty="0">
                <a:solidFill>
                  <a:srgbClr val="222222"/>
                </a:solidFill>
                <a:effectLst/>
                <a:latin typeface="Arial" panose="020B0604020202020204" pitchFamily="34" charset="0"/>
              </a:rPr>
              <a:t>而让程序更简单方便、程序运行速度更快。</a:t>
            </a:r>
            <a:endParaRPr lang="en-US" altLang="zh-CN" b="1" i="0" dirty="0">
              <a:solidFill>
                <a:srgbClr val="222222"/>
              </a:solidFill>
              <a:effectLst/>
              <a:latin typeface="Arial" panose="020B0604020202020204" pitchFamily="34" charset="0"/>
            </a:endParaRPr>
          </a:p>
          <a:p>
            <a:r>
              <a:rPr lang="en-US" altLang="zh-CN" b="0" i="0" dirty="0">
                <a:solidFill>
                  <a:srgbClr val="222222"/>
                </a:solidFill>
                <a:effectLst/>
                <a:latin typeface="Arial" panose="020B0604020202020204" pitchFamily="34" charset="0"/>
              </a:rPr>
              <a:t>ARM</a:t>
            </a:r>
            <a:r>
              <a:rPr lang="zh-CN" altLang="en-US" b="0" i="0" dirty="0">
                <a:solidFill>
                  <a:srgbClr val="222222"/>
                </a:solidFill>
                <a:effectLst/>
                <a:latin typeface="Arial" panose="020B0604020202020204" pitchFamily="34" charset="0"/>
              </a:rPr>
              <a:t>、</a:t>
            </a:r>
            <a:r>
              <a:rPr lang="en-US" altLang="zh-CN" b="0" i="0" dirty="0">
                <a:solidFill>
                  <a:srgbClr val="222222"/>
                </a:solidFill>
                <a:effectLst/>
                <a:latin typeface="Arial" panose="020B0604020202020204" pitchFamily="34" charset="0"/>
              </a:rPr>
              <a:t>MIPS</a:t>
            </a:r>
            <a:r>
              <a:rPr lang="zh-CN" altLang="en-US" b="0" i="0" dirty="0">
                <a:solidFill>
                  <a:srgbClr val="222222"/>
                </a:solidFill>
                <a:effectLst/>
                <a:latin typeface="Arial" panose="020B0604020202020204" pitchFamily="34" charset="0"/>
              </a:rPr>
              <a:t>、</a:t>
            </a:r>
            <a:r>
              <a:rPr lang="en-US" altLang="zh-CN" b="0" i="0" dirty="0">
                <a:solidFill>
                  <a:srgbClr val="222222"/>
                </a:solidFill>
                <a:effectLst/>
                <a:latin typeface="Arial" panose="020B0604020202020204" pitchFamily="34" charset="0"/>
              </a:rPr>
              <a:t>Power PC</a:t>
            </a:r>
            <a:r>
              <a:rPr lang="zh-CN" altLang="en-US" b="0" i="0" dirty="0">
                <a:solidFill>
                  <a:srgbClr val="222222"/>
                </a:solidFill>
                <a:effectLst/>
                <a:latin typeface="Arial" panose="020B0604020202020204" pitchFamily="34" charset="0"/>
              </a:rPr>
              <a:t>等</a:t>
            </a:r>
            <a:r>
              <a:rPr lang="en-US" altLang="zh-CN" b="0" i="0" dirty="0">
                <a:solidFill>
                  <a:srgbClr val="222222"/>
                </a:solidFill>
                <a:effectLst/>
                <a:latin typeface="Arial" panose="020B0604020202020204" pitchFamily="34" charset="0"/>
              </a:rPr>
              <a:t>CPU</a:t>
            </a:r>
            <a:r>
              <a:rPr lang="zh-CN" altLang="en-US" b="0" i="0" dirty="0">
                <a:solidFill>
                  <a:srgbClr val="222222"/>
                </a:solidFill>
                <a:effectLst/>
                <a:latin typeface="Arial" panose="020B0604020202020204" pitchFamily="34" charset="0"/>
              </a:rPr>
              <a:t>，使用</a:t>
            </a:r>
            <a:r>
              <a:rPr lang="zh-CN" altLang="en-US" b="1" i="0" dirty="0">
                <a:solidFill>
                  <a:srgbClr val="222222"/>
                </a:solidFill>
                <a:effectLst/>
                <a:latin typeface="Arial" panose="020B0604020202020204" pitchFamily="34" charset="0"/>
              </a:rPr>
              <a:t>精简指令集</a:t>
            </a:r>
            <a:r>
              <a:rPr lang="zh-CN" altLang="en-US" b="0" i="0" dirty="0">
                <a:solidFill>
                  <a:srgbClr val="222222"/>
                </a:solidFill>
                <a:effectLst/>
                <a:latin typeface="Arial" panose="020B0604020202020204" pitchFamily="34" charset="0"/>
              </a:rPr>
              <a:t>。英文为</a:t>
            </a:r>
            <a:r>
              <a:rPr lang="en-US" altLang="zh-CN" b="0" i="0" dirty="0">
                <a:solidFill>
                  <a:srgbClr val="222222"/>
                </a:solidFill>
                <a:effectLst/>
                <a:latin typeface="Arial" panose="020B0604020202020204" pitchFamily="34" charset="0"/>
              </a:rPr>
              <a:t>Reduced Instruction Set Computer</a:t>
            </a:r>
            <a:r>
              <a:rPr lang="zh-CN" altLang="en-US" b="0" i="0" dirty="0">
                <a:solidFill>
                  <a:srgbClr val="222222"/>
                </a:solidFill>
                <a:effectLst/>
                <a:latin typeface="Arial" panose="020B0604020202020204" pitchFamily="34" charset="0"/>
              </a:rPr>
              <a:t>，简写作</a:t>
            </a:r>
            <a:r>
              <a:rPr lang="en-US" altLang="zh-CN" b="0" i="0" dirty="0">
                <a:solidFill>
                  <a:srgbClr val="222222"/>
                </a:solidFill>
                <a:effectLst/>
                <a:latin typeface="Arial" panose="020B0604020202020204" pitchFamily="34" charset="0"/>
              </a:rPr>
              <a:t>RISC</a:t>
            </a:r>
            <a:r>
              <a:rPr lang="zh-CN" altLang="en-US" b="0" i="0" dirty="0">
                <a:solidFill>
                  <a:srgbClr val="222222"/>
                </a:solidFill>
                <a:effectLst/>
                <a:latin typeface="Arial" panose="020B0604020202020204" pitchFamily="34" charset="0"/>
              </a:rPr>
              <a:t>。在精简指令集中，只包含使用频率较高的少量简单指令和</a:t>
            </a:r>
          </a:p>
          <a:p>
            <a:r>
              <a:rPr lang="zh-CN" altLang="en-US" b="0" i="0" dirty="0">
                <a:solidFill>
                  <a:srgbClr val="222222"/>
                </a:solidFill>
                <a:effectLst/>
                <a:latin typeface="Arial" panose="020B0604020202020204" pitchFamily="34" charset="0"/>
              </a:rPr>
              <a:t>一些必要的支持操作系统和高级语言的指令。</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222222"/>
                </a:solidFill>
                <a:effectLst/>
                <a:latin typeface="Arial" panose="020B0604020202020204" pitchFamily="34" charset="0"/>
              </a:rPr>
              <a:t>不同类型的</a:t>
            </a:r>
            <a:r>
              <a:rPr lang="en-US" altLang="zh-CN" b="1" i="0" dirty="0">
                <a:solidFill>
                  <a:srgbClr val="222222"/>
                </a:solidFill>
                <a:effectLst/>
                <a:latin typeface="Arial" panose="020B0604020202020204" pitchFamily="34" charset="0"/>
              </a:rPr>
              <a:t>CPU</a:t>
            </a:r>
            <a:r>
              <a:rPr lang="zh-CN" altLang="en-US" b="1" i="0" dirty="0">
                <a:solidFill>
                  <a:srgbClr val="222222"/>
                </a:solidFill>
                <a:effectLst/>
                <a:latin typeface="Arial" panose="020B0604020202020204" pitchFamily="34" charset="0"/>
              </a:rPr>
              <a:t>，使用不同的指令集。</a:t>
            </a:r>
            <a:endParaRPr lang="en-US" altLang="zh-CN" b="1" i="0" dirty="0">
              <a:solidFill>
                <a:srgbClr val="222222"/>
              </a:solidFill>
              <a:effectLst/>
              <a:latin typeface="Arial" panose="020B0604020202020204" pitchFamily="34" charset="0"/>
            </a:endParaRPr>
          </a:p>
          <a:p>
            <a:r>
              <a:rPr lang="en-US" altLang="zh-CN" b="0" i="0" dirty="0">
                <a:solidFill>
                  <a:srgbClr val="222222"/>
                </a:solidFill>
                <a:effectLst/>
                <a:latin typeface="Arial" panose="020B0604020202020204" pitchFamily="34" charset="0"/>
              </a:rPr>
              <a:t>X86</a:t>
            </a:r>
            <a:r>
              <a:rPr lang="zh-CN" altLang="en-US" b="0" i="0" dirty="0">
                <a:solidFill>
                  <a:srgbClr val="222222"/>
                </a:solidFill>
                <a:effectLst/>
                <a:latin typeface="Arial" panose="020B0604020202020204" pitchFamily="34" charset="0"/>
              </a:rPr>
              <a:t>架构的</a:t>
            </a:r>
            <a:r>
              <a:rPr lang="en-US" altLang="zh-CN" b="0" i="0" dirty="0">
                <a:solidFill>
                  <a:srgbClr val="222222"/>
                </a:solidFill>
                <a:effectLst/>
                <a:latin typeface="Arial" panose="020B0604020202020204" pitchFamily="34" charset="0"/>
              </a:rPr>
              <a:t>CPU</a:t>
            </a:r>
            <a:r>
              <a:rPr lang="zh-CN" altLang="en-US" b="0" i="0" dirty="0">
                <a:solidFill>
                  <a:srgbClr val="222222"/>
                </a:solidFill>
                <a:effectLst/>
                <a:latin typeface="Arial" panose="020B0604020202020204" pitchFamily="34" charset="0"/>
              </a:rPr>
              <a:t>，使用</a:t>
            </a:r>
            <a:r>
              <a:rPr lang="zh-CN" altLang="en-US" b="1" i="0" dirty="0">
                <a:solidFill>
                  <a:srgbClr val="222222"/>
                </a:solidFill>
                <a:effectLst/>
                <a:latin typeface="Arial" panose="020B0604020202020204" pitchFamily="34" charset="0"/>
              </a:rPr>
              <a:t>复杂指令集</a:t>
            </a:r>
            <a:r>
              <a:rPr lang="zh-CN" altLang="en-US" b="0" i="0" dirty="0">
                <a:solidFill>
                  <a:srgbClr val="222222"/>
                </a:solidFill>
                <a:effectLst/>
                <a:latin typeface="Arial" panose="020B0604020202020204" pitchFamily="34" charset="0"/>
              </a:rPr>
              <a:t>。英文为</a:t>
            </a:r>
            <a:r>
              <a:rPr lang="en-US" altLang="zh-CN" b="0" i="0" dirty="0">
                <a:solidFill>
                  <a:srgbClr val="222222"/>
                </a:solidFill>
                <a:effectLst/>
                <a:latin typeface="Arial" panose="020B0604020202020204" pitchFamily="34" charset="0"/>
              </a:rPr>
              <a:t>Complex Instruction Set Computer</a:t>
            </a:r>
            <a:r>
              <a:rPr lang="zh-CN" altLang="en-US" b="0" i="0" dirty="0">
                <a:solidFill>
                  <a:srgbClr val="222222"/>
                </a:solidFill>
                <a:effectLst/>
                <a:latin typeface="Arial" panose="020B0604020202020204" pitchFamily="34" charset="0"/>
              </a:rPr>
              <a:t>，简写作</a:t>
            </a:r>
            <a:r>
              <a:rPr lang="en-US" altLang="zh-CN" b="0" i="0" dirty="0">
                <a:solidFill>
                  <a:srgbClr val="222222"/>
                </a:solidFill>
                <a:effectLst/>
                <a:latin typeface="Arial" panose="020B0604020202020204" pitchFamily="34" charset="0"/>
              </a:rPr>
              <a:t>CISC</a:t>
            </a:r>
            <a:r>
              <a:rPr lang="zh-CN" altLang="en-US" b="0" i="0" dirty="0">
                <a:solidFill>
                  <a:srgbClr val="222222"/>
                </a:solidFill>
                <a:effectLst/>
                <a:latin typeface="Arial" panose="020B0604020202020204" pitchFamily="34" charset="0"/>
              </a:rPr>
              <a:t>。复杂指令集的设计目的，是希望直接通过硬件来完成复杂的指令执行过程，</a:t>
            </a:r>
          </a:p>
          <a:p>
            <a:r>
              <a:rPr lang="zh-CN" altLang="en-US" b="0" i="0" dirty="0">
                <a:solidFill>
                  <a:srgbClr val="222222"/>
                </a:solidFill>
                <a:effectLst/>
                <a:latin typeface="Arial" panose="020B0604020202020204" pitchFamily="34" charset="0"/>
              </a:rPr>
              <a:t>而让程序更简单方便、程序运行速度更快。</a:t>
            </a:r>
            <a:endParaRPr lang="en-US" altLang="zh-CN" b="1" i="0" dirty="0">
              <a:solidFill>
                <a:srgbClr val="222222"/>
              </a:solidFill>
              <a:effectLst/>
              <a:latin typeface="Arial" panose="020B0604020202020204" pitchFamily="34" charset="0"/>
            </a:endParaRPr>
          </a:p>
          <a:p>
            <a:r>
              <a:rPr lang="en-US" altLang="zh-CN" b="0" i="0" dirty="0">
                <a:solidFill>
                  <a:srgbClr val="222222"/>
                </a:solidFill>
                <a:effectLst/>
                <a:latin typeface="Arial" panose="020B0604020202020204" pitchFamily="34" charset="0"/>
              </a:rPr>
              <a:t>ARM</a:t>
            </a:r>
            <a:r>
              <a:rPr lang="zh-CN" altLang="en-US" b="0" i="0" dirty="0">
                <a:solidFill>
                  <a:srgbClr val="222222"/>
                </a:solidFill>
                <a:effectLst/>
                <a:latin typeface="Arial" panose="020B0604020202020204" pitchFamily="34" charset="0"/>
              </a:rPr>
              <a:t>、</a:t>
            </a:r>
            <a:r>
              <a:rPr lang="en-US" altLang="zh-CN" b="0" i="0" dirty="0">
                <a:solidFill>
                  <a:srgbClr val="222222"/>
                </a:solidFill>
                <a:effectLst/>
                <a:latin typeface="Arial" panose="020B0604020202020204" pitchFamily="34" charset="0"/>
              </a:rPr>
              <a:t>MIPS</a:t>
            </a:r>
            <a:r>
              <a:rPr lang="zh-CN" altLang="en-US" b="0" i="0" dirty="0">
                <a:solidFill>
                  <a:srgbClr val="222222"/>
                </a:solidFill>
                <a:effectLst/>
                <a:latin typeface="Arial" panose="020B0604020202020204" pitchFamily="34" charset="0"/>
              </a:rPr>
              <a:t>、</a:t>
            </a:r>
            <a:r>
              <a:rPr lang="en-US" altLang="zh-CN" b="0" i="0" dirty="0">
                <a:solidFill>
                  <a:srgbClr val="222222"/>
                </a:solidFill>
                <a:effectLst/>
                <a:latin typeface="Arial" panose="020B0604020202020204" pitchFamily="34" charset="0"/>
              </a:rPr>
              <a:t>Power PC</a:t>
            </a:r>
            <a:r>
              <a:rPr lang="zh-CN" altLang="en-US" b="0" i="0" dirty="0">
                <a:solidFill>
                  <a:srgbClr val="222222"/>
                </a:solidFill>
                <a:effectLst/>
                <a:latin typeface="Arial" panose="020B0604020202020204" pitchFamily="34" charset="0"/>
              </a:rPr>
              <a:t>等</a:t>
            </a:r>
            <a:r>
              <a:rPr lang="en-US" altLang="zh-CN" b="0" i="0" dirty="0">
                <a:solidFill>
                  <a:srgbClr val="222222"/>
                </a:solidFill>
                <a:effectLst/>
                <a:latin typeface="Arial" panose="020B0604020202020204" pitchFamily="34" charset="0"/>
              </a:rPr>
              <a:t>CPU</a:t>
            </a:r>
            <a:r>
              <a:rPr lang="zh-CN" altLang="en-US" b="0" i="0" dirty="0">
                <a:solidFill>
                  <a:srgbClr val="222222"/>
                </a:solidFill>
                <a:effectLst/>
                <a:latin typeface="Arial" panose="020B0604020202020204" pitchFamily="34" charset="0"/>
              </a:rPr>
              <a:t>，使用</a:t>
            </a:r>
            <a:r>
              <a:rPr lang="zh-CN" altLang="en-US" b="1" i="0" dirty="0">
                <a:solidFill>
                  <a:srgbClr val="222222"/>
                </a:solidFill>
                <a:effectLst/>
                <a:latin typeface="Arial" panose="020B0604020202020204" pitchFamily="34" charset="0"/>
              </a:rPr>
              <a:t>精简指令集</a:t>
            </a:r>
            <a:r>
              <a:rPr lang="zh-CN" altLang="en-US" b="0" i="0" dirty="0">
                <a:solidFill>
                  <a:srgbClr val="222222"/>
                </a:solidFill>
                <a:effectLst/>
                <a:latin typeface="Arial" panose="020B0604020202020204" pitchFamily="34" charset="0"/>
              </a:rPr>
              <a:t>。英文为</a:t>
            </a:r>
            <a:r>
              <a:rPr lang="en-US" altLang="zh-CN" b="0" i="0" dirty="0">
                <a:solidFill>
                  <a:srgbClr val="222222"/>
                </a:solidFill>
                <a:effectLst/>
                <a:latin typeface="Arial" panose="020B0604020202020204" pitchFamily="34" charset="0"/>
              </a:rPr>
              <a:t>Reduced Instruction Set Computer</a:t>
            </a:r>
            <a:r>
              <a:rPr lang="zh-CN" altLang="en-US" b="0" i="0" dirty="0">
                <a:solidFill>
                  <a:srgbClr val="222222"/>
                </a:solidFill>
                <a:effectLst/>
                <a:latin typeface="Arial" panose="020B0604020202020204" pitchFamily="34" charset="0"/>
              </a:rPr>
              <a:t>，简写作</a:t>
            </a:r>
            <a:r>
              <a:rPr lang="en-US" altLang="zh-CN" b="0" i="0" dirty="0">
                <a:solidFill>
                  <a:srgbClr val="222222"/>
                </a:solidFill>
                <a:effectLst/>
                <a:latin typeface="Arial" panose="020B0604020202020204" pitchFamily="34" charset="0"/>
              </a:rPr>
              <a:t>RISC</a:t>
            </a:r>
            <a:r>
              <a:rPr lang="zh-CN" altLang="en-US" b="0" i="0" dirty="0">
                <a:solidFill>
                  <a:srgbClr val="222222"/>
                </a:solidFill>
                <a:effectLst/>
                <a:latin typeface="Arial" panose="020B0604020202020204" pitchFamily="34" charset="0"/>
              </a:rPr>
              <a:t>。在精简指令集中，只包含使用频率较高的少量简单指令和</a:t>
            </a:r>
          </a:p>
          <a:p>
            <a:r>
              <a:rPr lang="zh-CN" altLang="en-US" b="0" i="0" dirty="0">
                <a:solidFill>
                  <a:srgbClr val="222222"/>
                </a:solidFill>
                <a:effectLst/>
                <a:latin typeface="Arial" panose="020B0604020202020204" pitchFamily="34" charset="0"/>
              </a:rPr>
              <a:t>一些必要的支持操作系统和高级语言的指令。</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IA32</a:t>
            </a:r>
            <a:r>
              <a:rPr lang="zh-CN" altLang="en-US" dirty="0"/>
              <a:t>、</a:t>
            </a:r>
            <a:r>
              <a:rPr lang="en-US" altLang="zh-CN" dirty="0"/>
              <a:t>x86</a:t>
            </a:r>
            <a:r>
              <a:rPr lang="zh-CN" altLang="en-US" dirty="0"/>
              <a:t>：</a:t>
            </a:r>
            <a:r>
              <a:rPr lang="en-US" altLang="zh-CN" dirty="0"/>
              <a:t>IA-32</a:t>
            </a:r>
            <a:r>
              <a:rPr lang="zh-CN" altLang="en-US" dirty="0"/>
              <a:t>为</a:t>
            </a:r>
            <a:r>
              <a:rPr lang="en-US" altLang="zh-CN" dirty="0"/>
              <a:t>Intel Architecture 32bit</a:t>
            </a:r>
            <a:r>
              <a:rPr lang="zh-CN" altLang="en-US" dirty="0"/>
              <a:t>简称，即英特尔</a:t>
            </a:r>
            <a:r>
              <a:rPr lang="en-US" altLang="zh-CN" dirty="0"/>
              <a:t>32</a:t>
            </a:r>
            <a:r>
              <a:rPr lang="zh-CN" altLang="en-US" dirty="0"/>
              <a:t>位体系架构，在英特尔公司</a:t>
            </a:r>
            <a:r>
              <a:rPr lang="en-US" altLang="zh-CN" dirty="0"/>
              <a:t>1985</a:t>
            </a:r>
            <a:r>
              <a:rPr lang="zh-CN" altLang="en-US" dirty="0"/>
              <a:t>年推出的</a:t>
            </a:r>
            <a:r>
              <a:rPr lang="en-US" altLang="zh-CN" dirty="0"/>
              <a:t>80386</a:t>
            </a:r>
            <a:r>
              <a:rPr lang="zh-CN" altLang="en-US" dirty="0"/>
              <a:t>微处理器中首先采用。通常也被称为</a:t>
            </a:r>
            <a:r>
              <a:rPr lang="en-US" altLang="zh-CN" dirty="0"/>
              <a:t>i386</a:t>
            </a:r>
            <a:r>
              <a:rPr lang="zh-CN" altLang="en-US" dirty="0"/>
              <a:t>、</a:t>
            </a:r>
            <a:r>
              <a:rPr lang="en-US" altLang="zh-CN" dirty="0"/>
              <a:t>x86-32</a:t>
            </a:r>
            <a:r>
              <a:rPr lang="zh-CN" altLang="en-US" dirty="0"/>
              <a:t>、</a:t>
            </a:r>
            <a:r>
              <a:rPr lang="en-US" altLang="zh-CN" dirty="0"/>
              <a:t>x86</a:t>
            </a:r>
            <a:r>
              <a:rPr lang="zh-CN" altLang="en-US" dirty="0"/>
              <a:t>等。</a:t>
            </a:r>
            <a:r>
              <a:rPr lang="en-US" altLang="zh-CN" dirty="0"/>
              <a:t>IA64</a:t>
            </a:r>
            <a:r>
              <a:rPr lang="zh-CN" altLang="en-US" dirty="0"/>
              <a:t>：</a:t>
            </a:r>
            <a:r>
              <a:rPr lang="en-US" altLang="zh-CN" dirty="0"/>
              <a:t>IA64</a:t>
            </a:r>
            <a:r>
              <a:rPr lang="zh-CN" altLang="en-US" dirty="0"/>
              <a:t>是后来</a:t>
            </a:r>
            <a:r>
              <a:rPr lang="en-US" altLang="zh-CN" dirty="0"/>
              <a:t>intel</a:t>
            </a:r>
            <a:r>
              <a:rPr lang="zh-CN" altLang="en-US" dirty="0"/>
              <a:t>和惠普联合推出的</a:t>
            </a:r>
            <a:r>
              <a:rPr lang="en-US" altLang="zh-CN" dirty="0"/>
              <a:t>64</a:t>
            </a:r>
            <a:r>
              <a:rPr lang="zh-CN" altLang="en-US" dirty="0"/>
              <a:t>位体系架构，但是不兼容原有的</a:t>
            </a:r>
            <a:r>
              <a:rPr lang="en-US" altLang="zh-CN" dirty="0"/>
              <a:t>32</a:t>
            </a:r>
            <a:r>
              <a:rPr lang="zh-CN" altLang="en-US" dirty="0"/>
              <a:t>位体系结构的应用程序，导致市场惨淡。</a:t>
            </a:r>
            <a:r>
              <a:rPr lang="en-US" altLang="zh-CN" dirty="0"/>
              <a:t>AMD64</a:t>
            </a:r>
            <a:r>
              <a:rPr lang="zh-CN" altLang="en-US" dirty="0"/>
              <a:t>、</a:t>
            </a:r>
            <a:r>
              <a:rPr lang="en-US" altLang="zh-CN" dirty="0"/>
              <a:t>Intel64</a:t>
            </a:r>
            <a:r>
              <a:rPr lang="zh-CN" altLang="en-US" dirty="0"/>
              <a:t>、</a:t>
            </a:r>
            <a:r>
              <a:rPr lang="en-US" altLang="zh-CN" dirty="0"/>
              <a:t>x86-64</a:t>
            </a:r>
            <a:r>
              <a:rPr lang="zh-CN" altLang="en-US" dirty="0"/>
              <a:t>、</a:t>
            </a:r>
            <a:r>
              <a:rPr lang="en-US" altLang="zh-CN" dirty="0"/>
              <a:t>x64</a:t>
            </a:r>
            <a:r>
              <a:rPr lang="zh-CN" altLang="en-US" dirty="0"/>
              <a:t>：后来</a:t>
            </a:r>
            <a:r>
              <a:rPr lang="en-US" altLang="zh-CN" dirty="0"/>
              <a:t>AMD</a:t>
            </a:r>
            <a:r>
              <a:rPr lang="zh-CN" altLang="en-US" dirty="0"/>
              <a:t>推出了兼容</a:t>
            </a:r>
            <a:r>
              <a:rPr lang="en-US" altLang="zh-CN" dirty="0"/>
              <a:t>32</a:t>
            </a:r>
            <a:r>
              <a:rPr lang="zh-CN" altLang="en-US" dirty="0"/>
              <a:t>位的</a:t>
            </a:r>
            <a:r>
              <a:rPr lang="en-US" altLang="zh-CN" dirty="0"/>
              <a:t>64</a:t>
            </a:r>
            <a:r>
              <a:rPr lang="zh-CN" altLang="en-US" dirty="0"/>
              <a:t>位集关于</a:t>
            </a:r>
            <a:r>
              <a:rPr lang="en-US" altLang="zh-CN" dirty="0"/>
              <a:t>IA-32</a:t>
            </a:r>
            <a:r>
              <a:rPr lang="zh-CN" altLang="en-US" dirty="0"/>
              <a:t>的扩展，之后改名为</a:t>
            </a:r>
            <a:r>
              <a:rPr lang="en-US" altLang="zh-CN" dirty="0"/>
              <a:t>AMD64</a:t>
            </a:r>
            <a:r>
              <a:rPr lang="zh-CN" altLang="en-US" dirty="0"/>
              <a:t>，</a:t>
            </a:r>
            <a:r>
              <a:rPr lang="en-US" altLang="zh-CN" dirty="0"/>
              <a:t>Intel</a:t>
            </a:r>
            <a:r>
              <a:rPr lang="zh-CN" altLang="en-US" dirty="0"/>
              <a:t>后来也采用该架构，在其文档中称为</a:t>
            </a:r>
            <a:r>
              <a:rPr lang="en-US" altLang="zh-CN" dirty="0"/>
              <a:t>Intel64</a:t>
            </a:r>
            <a:r>
              <a:rPr lang="zh-CN" altLang="en-US" dirty="0"/>
              <a:t>。同时，该架构又被称为</a:t>
            </a:r>
            <a:r>
              <a:rPr lang="en-US" altLang="zh-CN" dirty="0"/>
              <a:t>x86-64</a:t>
            </a:r>
            <a:r>
              <a:rPr lang="zh-CN" altLang="en-US" dirty="0"/>
              <a:t>或者</a:t>
            </a:r>
            <a:r>
              <a:rPr lang="en-US" altLang="zh-CN" dirty="0"/>
              <a:t>x64</a:t>
            </a:r>
            <a:r>
              <a:rPr lang="zh-CN" altLang="en-US" dirty="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IA32</a:t>
            </a:r>
            <a:r>
              <a:rPr lang="zh-CN" altLang="en-US" dirty="0"/>
              <a:t>、</a:t>
            </a:r>
            <a:r>
              <a:rPr lang="en-US" altLang="zh-CN" dirty="0"/>
              <a:t>x86</a:t>
            </a:r>
            <a:r>
              <a:rPr lang="zh-CN" altLang="en-US" dirty="0"/>
              <a:t>：</a:t>
            </a:r>
            <a:r>
              <a:rPr lang="en-US" altLang="zh-CN" dirty="0"/>
              <a:t>IA-32</a:t>
            </a:r>
            <a:r>
              <a:rPr lang="zh-CN" altLang="en-US" dirty="0"/>
              <a:t>为</a:t>
            </a:r>
            <a:r>
              <a:rPr lang="en-US" altLang="zh-CN" dirty="0"/>
              <a:t>Intel Architecture 32bit</a:t>
            </a:r>
            <a:r>
              <a:rPr lang="zh-CN" altLang="en-US" dirty="0"/>
              <a:t>简称，即英特尔</a:t>
            </a:r>
            <a:r>
              <a:rPr lang="en-US" altLang="zh-CN" dirty="0"/>
              <a:t>32</a:t>
            </a:r>
            <a:r>
              <a:rPr lang="zh-CN" altLang="en-US" dirty="0"/>
              <a:t>位体系架构，在英特尔公司</a:t>
            </a:r>
            <a:r>
              <a:rPr lang="en-US" altLang="zh-CN" dirty="0"/>
              <a:t>1985</a:t>
            </a:r>
            <a:r>
              <a:rPr lang="zh-CN" altLang="en-US" dirty="0"/>
              <a:t>年推出的</a:t>
            </a:r>
            <a:r>
              <a:rPr lang="en-US" altLang="zh-CN" dirty="0"/>
              <a:t>80386</a:t>
            </a:r>
            <a:r>
              <a:rPr lang="zh-CN" altLang="en-US" dirty="0"/>
              <a:t>微处理器中首先采用。通常也被称为</a:t>
            </a:r>
            <a:r>
              <a:rPr lang="en-US" altLang="zh-CN" dirty="0"/>
              <a:t>i386</a:t>
            </a:r>
            <a:r>
              <a:rPr lang="zh-CN" altLang="en-US" dirty="0"/>
              <a:t>、</a:t>
            </a:r>
            <a:r>
              <a:rPr lang="en-US" altLang="zh-CN" dirty="0"/>
              <a:t>x86-32</a:t>
            </a:r>
            <a:r>
              <a:rPr lang="zh-CN" altLang="en-US" dirty="0"/>
              <a:t>、</a:t>
            </a:r>
            <a:r>
              <a:rPr lang="en-US" altLang="zh-CN" dirty="0"/>
              <a:t>x86</a:t>
            </a:r>
            <a:r>
              <a:rPr lang="zh-CN" altLang="en-US" dirty="0"/>
              <a:t>等。</a:t>
            </a:r>
            <a:r>
              <a:rPr lang="en-US" altLang="zh-CN" dirty="0"/>
              <a:t>IA64</a:t>
            </a:r>
            <a:r>
              <a:rPr lang="zh-CN" altLang="en-US" dirty="0"/>
              <a:t>：</a:t>
            </a:r>
            <a:r>
              <a:rPr lang="en-US" altLang="zh-CN" dirty="0"/>
              <a:t>IA64</a:t>
            </a:r>
            <a:r>
              <a:rPr lang="zh-CN" altLang="en-US" dirty="0"/>
              <a:t>是后来</a:t>
            </a:r>
            <a:r>
              <a:rPr lang="en-US" altLang="zh-CN" dirty="0"/>
              <a:t>intel</a:t>
            </a:r>
            <a:r>
              <a:rPr lang="zh-CN" altLang="en-US" dirty="0"/>
              <a:t>和惠普联合推出的</a:t>
            </a:r>
            <a:r>
              <a:rPr lang="en-US" altLang="zh-CN" dirty="0"/>
              <a:t>64</a:t>
            </a:r>
            <a:r>
              <a:rPr lang="zh-CN" altLang="en-US" dirty="0"/>
              <a:t>位体系架构，但是不兼容原有的</a:t>
            </a:r>
            <a:r>
              <a:rPr lang="en-US" altLang="zh-CN" dirty="0"/>
              <a:t>32</a:t>
            </a:r>
            <a:r>
              <a:rPr lang="zh-CN" altLang="en-US" dirty="0"/>
              <a:t>位体系结构的应用程序，导致市场惨淡。</a:t>
            </a:r>
            <a:r>
              <a:rPr lang="en-US" altLang="zh-CN" dirty="0"/>
              <a:t>AMD64</a:t>
            </a:r>
            <a:r>
              <a:rPr lang="zh-CN" altLang="en-US" dirty="0"/>
              <a:t>、</a:t>
            </a:r>
            <a:r>
              <a:rPr lang="en-US" altLang="zh-CN" dirty="0"/>
              <a:t>Intel64</a:t>
            </a:r>
            <a:r>
              <a:rPr lang="zh-CN" altLang="en-US" dirty="0"/>
              <a:t>、</a:t>
            </a:r>
            <a:r>
              <a:rPr lang="en-US" altLang="zh-CN" dirty="0"/>
              <a:t>x86-64</a:t>
            </a:r>
            <a:r>
              <a:rPr lang="zh-CN" altLang="en-US" dirty="0"/>
              <a:t>、</a:t>
            </a:r>
            <a:r>
              <a:rPr lang="en-US" altLang="zh-CN" dirty="0"/>
              <a:t>x64</a:t>
            </a:r>
            <a:r>
              <a:rPr lang="zh-CN" altLang="en-US" dirty="0"/>
              <a:t>：后来</a:t>
            </a:r>
            <a:r>
              <a:rPr lang="en-US" altLang="zh-CN" dirty="0"/>
              <a:t>AMD</a:t>
            </a:r>
            <a:r>
              <a:rPr lang="zh-CN" altLang="en-US" dirty="0"/>
              <a:t>推出了兼容</a:t>
            </a:r>
            <a:r>
              <a:rPr lang="en-US" altLang="zh-CN" dirty="0"/>
              <a:t>32</a:t>
            </a:r>
            <a:r>
              <a:rPr lang="zh-CN" altLang="en-US" dirty="0"/>
              <a:t>位的</a:t>
            </a:r>
            <a:r>
              <a:rPr lang="en-US" altLang="zh-CN" dirty="0"/>
              <a:t>64</a:t>
            </a:r>
            <a:r>
              <a:rPr lang="zh-CN" altLang="en-US" dirty="0"/>
              <a:t>位集关于</a:t>
            </a:r>
            <a:r>
              <a:rPr lang="en-US" altLang="zh-CN" dirty="0"/>
              <a:t>IA-32</a:t>
            </a:r>
            <a:r>
              <a:rPr lang="zh-CN" altLang="en-US" dirty="0"/>
              <a:t>的扩展，之后改名为</a:t>
            </a:r>
            <a:r>
              <a:rPr lang="en-US" altLang="zh-CN" dirty="0"/>
              <a:t>AMD64</a:t>
            </a:r>
            <a:r>
              <a:rPr lang="zh-CN" altLang="en-US" dirty="0"/>
              <a:t>，</a:t>
            </a:r>
            <a:r>
              <a:rPr lang="en-US" altLang="zh-CN" dirty="0"/>
              <a:t>Intel</a:t>
            </a:r>
            <a:r>
              <a:rPr lang="zh-CN" altLang="en-US" dirty="0"/>
              <a:t>后来也采用该架构，在其文档中称为</a:t>
            </a:r>
            <a:r>
              <a:rPr lang="en-US" altLang="zh-CN" dirty="0"/>
              <a:t>Intel64</a:t>
            </a:r>
            <a:r>
              <a:rPr lang="zh-CN" altLang="en-US" dirty="0"/>
              <a:t>。同时，该架构又被称为</a:t>
            </a:r>
            <a:r>
              <a:rPr lang="en-US" altLang="zh-CN" dirty="0"/>
              <a:t>x86-64</a:t>
            </a:r>
            <a:r>
              <a:rPr lang="zh-CN" altLang="en-US" dirty="0"/>
              <a:t>或者</a:t>
            </a:r>
            <a:r>
              <a:rPr lang="en-US" altLang="zh-CN" dirty="0"/>
              <a:t>x64</a:t>
            </a:r>
            <a:r>
              <a:rPr lang="zh-CN" altLang="en-US"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i="0" dirty="0">
                <a:solidFill>
                  <a:srgbClr val="333333"/>
                </a:solidFill>
                <a:effectLst/>
                <a:latin typeface="Arial" panose="020B0604020202020204" pitchFamily="34" charset="0"/>
              </a:rPr>
              <a:t>龙芯是我国最早研制的高性能通用</a:t>
            </a:r>
            <a:r>
              <a:rPr lang="en-US" altLang="zh-CN" b="1" i="0" dirty="0">
                <a:solidFill>
                  <a:srgbClr val="333333"/>
                </a:solidFill>
                <a:effectLst/>
                <a:latin typeface="Arial" panose="020B0604020202020204" pitchFamily="34" charset="0"/>
              </a:rPr>
              <a:t>CPU</a:t>
            </a:r>
            <a:r>
              <a:rPr lang="zh-CN" altLang="en-US" b="1" i="0" dirty="0">
                <a:solidFill>
                  <a:srgbClr val="333333"/>
                </a:solidFill>
                <a:effectLst/>
                <a:latin typeface="Arial" panose="020B0604020202020204" pitchFamily="34" charset="0"/>
              </a:rPr>
              <a:t>系列。</a:t>
            </a:r>
            <a:r>
              <a:rPr lang="en-US" altLang="zh-CN" b="0" i="0" dirty="0">
                <a:solidFill>
                  <a:srgbClr val="222222"/>
                </a:solidFill>
                <a:effectLst/>
                <a:latin typeface="Arial" panose="020B0604020202020204" pitchFamily="34" charset="0"/>
              </a:rPr>
              <a:t>2001</a:t>
            </a:r>
            <a:r>
              <a:rPr lang="zh-CN" altLang="en-US" b="0" i="0" dirty="0">
                <a:solidFill>
                  <a:srgbClr val="222222"/>
                </a:solidFill>
                <a:effectLst/>
                <a:latin typeface="Arial" panose="020B0604020202020204" pitchFamily="34" charset="0"/>
              </a:rPr>
              <a:t>年，龙芯起步于中科院计算所，曾得到</a:t>
            </a:r>
            <a:r>
              <a:rPr lang="en-US" altLang="zh-CN" b="0" i="0" dirty="0">
                <a:solidFill>
                  <a:srgbClr val="222222"/>
                </a:solidFill>
                <a:effectLst/>
                <a:latin typeface="Arial" panose="020B0604020202020204" pitchFamily="34" charset="0"/>
              </a:rPr>
              <a:t>863</a:t>
            </a:r>
            <a:r>
              <a:rPr lang="zh-CN" altLang="en-US" b="0" i="0" dirty="0">
                <a:solidFill>
                  <a:srgbClr val="222222"/>
                </a:solidFill>
                <a:effectLst/>
                <a:latin typeface="Arial" panose="020B0604020202020204" pitchFamily="34" charset="0"/>
              </a:rPr>
              <a:t>、</a:t>
            </a:r>
            <a:r>
              <a:rPr lang="en-US" altLang="zh-CN" b="0" i="0" dirty="0">
                <a:solidFill>
                  <a:srgbClr val="222222"/>
                </a:solidFill>
                <a:effectLst/>
                <a:latin typeface="Arial" panose="020B0604020202020204" pitchFamily="34" charset="0"/>
              </a:rPr>
              <a:t>973</a:t>
            </a:r>
            <a:r>
              <a:rPr lang="zh-CN" altLang="en-US" b="0" i="0" dirty="0">
                <a:solidFill>
                  <a:srgbClr val="222222"/>
                </a:solidFill>
                <a:effectLst/>
                <a:latin typeface="Arial" panose="020B0604020202020204" pitchFamily="34" charset="0"/>
              </a:rPr>
              <a:t>、核高基等项目的支持，于</a:t>
            </a:r>
            <a:r>
              <a:rPr lang="en-US" altLang="zh-CN" b="0" i="0" dirty="0">
                <a:solidFill>
                  <a:srgbClr val="222222"/>
                </a:solidFill>
                <a:effectLst/>
                <a:latin typeface="Arial" panose="020B0604020202020204" pitchFamily="34" charset="0"/>
              </a:rPr>
              <a:t>2002</a:t>
            </a:r>
            <a:r>
              <a:rPr lang="zh-CN" altLang="en-US" b="0" i="0" dirty="0">
                <a:solidFill>
                  <a:srgbClr val="222222"/>
                </a:solidFill>
                <a:effectLst/>
                <a:latin typeface="Arial" panose="020B0604020202020204" pitchFamily="34" charset="0"/>
              </a:rPr>
              <a:t>年成功流片我国首款通用</a:t>
            </a:r>
            <a:r>
              <a:rPr lang="en-US" altLang="zh-CN" b="0" i="0" dirty="0">
                <a:solidFill>
                  <a:srgbClr val="222222"/>
                </a:solidFill>
                <a:effectLst/>
                <a:latin typeface="Arial" panose="020B0604020202020204" pitchFamily="34" charset="0"/>
              </a:rPr>
              <a:t>CPU</a:t>
            </a:r>
            <a:r>
              <a:rPr lang="zh-CN" altLang="en-US" b="0" i="0" dirty="0">
                <a:solidFill>
                  <a:srgbClr val="222222"/>
                </a:solidFill>
                <a:effectLst/>
                <a:latin typeface="Arial" panose="020B0604020202020204" pitchFamily="34" charset="0"/>
              </a:rPr>
              <a:t>龙芯</a:t>
            </a:r>
            <a:r>
              <a:rPr lang="en-US" altLang="zh-CN" b="0" i="0" dirty="0">
                <a:solidFill>
                  <a:srgbClr val="222222"/>
                </a:solidFill>
                <a:effectLst/>
                <a:latin typeface="Arial" panose="020B0604020202020204" pitchFamily="34" charset="0"/>
              </a:rPr>
              <a:t>1</a:t>
            </a:r>
            <a:r>
              <a:rPr lang="zh-CN" altLang="en-US" b="0" i="0" dirty="0">
                <a:solidFill>
                  <a:srgbClr val="222222"/>
                </a:solidFill>
                <a:effectLst/>
                <a:latin typeface="Arial" panose="020B0604020202020204" pitchFamily="34" charset="0"/>
              </a:rPr>
              <a:t>号，</a:t>
            </a:r>
            <a:r>
              <a:rPr lang="en-US" altLang="zh-CN" b="0" i="0" dirty="0">
                <a:solidFill>
                  <a:srgbClr val="222222"/>
                </a:solidFill>
                <a:effectLst/>
                <a:latin typeface="Arial" panose="020B0604020202020204" pitchFamily="34" charset="0"/>
              </a:rPr>
              <a:t>2022</a:t>
            </a:r>
            <a:r>
              <a:rPr lang="zh-CN" altLang="en-US" b="0" i="0" dirty="0">
                <a:solidFill>
                  <a:srgbClr val="222222"/>
                </a:solidFill>
                <a:effectLst/>
                <a:latin typeface="Arial" panose="020B0604020202020204" pitchFamily="34" charset="0"/>
              </a:rPr>
              <a:t>年</a:t>
            </a:r>
            <a:r>
              <a:rPr lang="en-US" altLang="zh-CN" b="0" i="0" dirty="0">
                <a:solidFill>
                  <a:srgbClr val="222222"/>
                </a:solidFill>
                <a:effectLst/>
                <a:latin typeface="Arial" panose="020B0604020202020204" pitchFamily="34" charset="0"/>
              </a:rPr>
              <a:t>7</a:t>
            </a:r>
            <a:r>
              <a:rPr lang="zh-CN" altLang="en-US" b="0" i="0" dirty="0">
                <a:solidFill>
                  <a:srgbClr val="222222"/>
                </a:solidFill>
                <a:effectLst/>
                <a:latin typeface="Arial" panose="020B0604020202020204" pitchFamily="34" charset="0"/>
              </a:rPr>
              <a:t>月</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基于自主指令系统</a:t>
            </a:r>
            <a:r>
              <a:rPr lang="en-US" altLang="zh-CN" b="0" i="0" dirty="0" err="1">
                <a:solidFill>
                  <a:srgbClr val="333333"/>
                </a:solidFill>
                <a:effectLst/>
                <a:latin typeface="Arial" panose="020B0604020202020204" pitchFamily="34" charset="0"/>
              </a:rPr>
              <a:t>LoongArch</a:t>
            </a:r>
            <a:r>
              <a:rPr lang="zh-CN" altLang="en-US" b="0" i="0" dirty="0">
                <a:solidFill>
                  <a:srgbClr val="333333"/>
                </a:solidFill>
                <a:effectLst/>
                <a:latin typeface="Arial" panose="020B0604020202020204" pitchFamily="34" charset="0"/>
              </a:rPr>
              <a:t>而打造的</a:t>
            </a:r>
            <a:r>
              <a:rPr lang="zh-CN" altLang="en-US" b="0" i="0" dirty="0">
                <a:solidFill>
                  <a:srgbClr val="F73131"/>
                </a:solidFill>
                <a:effectLst/>
                <a:latin typeface="Arial" panose="020B0604020202020204" pitchFamily="34" charset="0"/>
              </a:rPr>
              <a:t>龙芯</a:t>
            </a:r>
            <a:r>
              <a:rPr lang="en-US" altLang="zh-CN" b="0" i="0" dirty="0">
                <a:solidFill>
                  <a:srgbClr val="F73131"/>
                </a:solidFill>
                <a:effectLst/>
                <a:latin typeface="Arial" panose="020B0604020202020204" pitchFamily="34" charset="0"/>
              </a:rPr>
              <a:t>3A5000</a:t>
            </a:r>
            <a:r>
              <a:rPr lang="zh-CN" altLang="en-US" b="0" i="0" dirty="0">
                <a:solidFill>
                  <a:srgbClr val="333333"/>
                </a:solidFill>
                <a:effectLst/>
                <a:latin typeface="Arial" panose="020B0604020202020204" pitchFamily="34" charset="0"/>
              </a:rPr>
              <a:t>芯片正式发布。</a:t>
            </a:r>
            <a:endParaRPr lang="en-US" altLang="zh-CN" b="0" i="0" dirty="0">
              <a:solidFill>
                <a:srgbClr val="333333"/>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        CPU</a:t>
            </a:r>
            <a:r>
              <a:rPr lang="zh-CN" altLang="en-US" dirty="0"/>
              <a:t>设计的核心包括指令集和微架构（电路设计），目前常用的指令集包括</a:t>
            </a:r>
            <a:r>
              <a:rPr lang="en-US" altLang="zh-CN" dirty="0"/>
              <a:t>X86</a:t>
            </a:r>
            <a:r>
              <a:rPr lang="zh-CN" altLang="en-US" dirty="0"/>
              <a:t>、</a:t>
            </a:r>
            <a:r>
              <a:rPr lang="en-US" altLang="zh-CN" dirty="0"/>
              <a:t>ARM</a:t>
            </a:r>
            <a:r>
              <a:rPr lang="zh-CN" altLang="en-US" dirty="0"/>
              <a:t>和</a:t>
            </a:r>
            <a:r>
              <a:rPr lang="en-US" altLang="zh-CN" dirty="0"/>
              <a:t>MIPS</a:t>
            </a:r>
            <a:r>
              <a:rPr lang="zh-CN" altLang="en-US" dirty="0"/>
              <a:t>等。    在全球范围内，基于</a:t>
            </a:r>
            <a:r>
              <a:rPr lang="en-US" altLang="zh-CN" dirty="0"/>
              <a:t>X86</a:t>
            </a:r>
            <a:r>
              <a:rPr lang="zh-CN" altLang="en-US" dirty="0"/>
              <a:t>架构的</a:t>
            </a:r>
            <a:r>
              <a:rPr lang="en-US" altLang="zh-CN" dirty="0"/>
              <a:t>Intel</a:t>
            </a:r>
            <a:r>
              <a:rPr lang="zh-CN" altLang="en-US" dirty="0"/>
              <a:t>和</a:t>
            </a:r>
            <a:r>
              <a:rPr lang="en-US" altLang="zh-CN" dirty="0"/>
              <a:t>AMD</a:t>
            </a:r>
            <a:r>
              <a:rPr lang="zh-CN" altLang="en-US" dirty="0"/>
              <a:t>基本占据了全部的通用型</a:t>
            </a:r>
            <a:r>
              <a:rPr lang="en-US" altLang="zh-CN" dirty="0"/>
              <a:t>CPU</a:t>
            </a:r>
            <a:r>
              <a:rPr lang="zh-CN" altLang="en-US" dirty="0"/>
              <a:t>市场，</a:t>
            </a:r>
            <a:r>
              <a:rPr lang="en-US" altLang="zh-CN" dirty="0"/>
              <a:t>ARM</a:t>
            </a:r>
            <a:r>
              <a:rPr lang="zh-CN" altLang="en-US" dirty="0"/>
              <a:t>架构近年来有在通用</a:t>
            </a:r>
            <a:r>
              <a:rPr lang="en-US" altLang="zh-CN" dirty="0"/>
              <a:t>CPU</a:t>
            </a:r>
            <a:r>
              <a:rPr lang="zh-CN" altLang="en-US" dirty="0"/>
              <a:t>领域兴起的势头，包括苹果、华为、亚马逊等全球领先的科技公司均推出或开始采用</a:t>
            </a:r>
            <a:r>
              <a:rPr lang="en-US" altLang="zh-CN" dirty="0"/>
              <a:t>ARM</a:t>
            </a:r>
            <a:r>
              <a:rPr lang="zh-CN" altLang="en-US" dirty="0"/>
              <a:t>架构的</a:t>
            </a:r>
            <a:r>
              <a:rPr lang="en-US" altLang="zh-CN" dirty="0"/>
              <a:t>CPU</a:t>
            </a:r>
            <a:r>
              <a:rPr lang="zh-CN" altLang="en-US" dirty="0"/>
              <a:t>，但短期内</a:t>
            </a:r>
            <a:r>
              <a:rPr lang="en-US" altLang="zh-CN" dirty="0"/>
              <a:t>X86</a:t>
            </a:r>
            <a:r>
              <a:rPr lang="zh-CN" altLang="en-US" dirty="0"/>
              <a:t>架构仍将处于绝对的主流地位。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        </a:t>
            </a:r>
            <a:r>
              <a:rPr lang="zh-CN" altLang="en-US" dirty="0"/>
              <a:t>但</a:t>
            </a:r>
            <a:r>
              <a:rPr lang="en-US" altLang="zh-CN" dirty="0"/>
              <a:t>2018</a:t>
            </a:r>
            <a:r>
              <a:rPr lang="zh-CN" altLang="en-US" dirty="0"/>
              <a:t>年以后随着中美贸易纠纷加剧，引发了中国政府、大型国企对安全自主可控方面的强烈诉求，尤其是</a:t>
            </a:r>
            <a:r>
              <a:rPr lang="en-US" altLang="zh-CN" dirty="0"/>
              <a:t>2019</a:t>
            </a:r>
            <a:r>
              <a:rPr lang="zh-CN" altLang="en-US" dirty="0"/>
              <a:t>年后美国政府开始肆意打击中国高新技术企业，将进一步加速国产</a:t>
            </a:r>
            <a:r>
              <a:rPr lang="en-US" altLang="zh-CN" dirty="0"/>
              <a:t>CPU</a:t>
            </a:r>
            <a:r>
              <a:rPr lang="zh-CN" altLang="en-US" dirty="0"/>
              <a:t>在党政军市场和大型国企的应用。国产</a:t>
            </a:r>
            <a:r>
              <a:rPr lang="en-US" altLang="zh-CN" dirty="0"/>
              <a:t>CPU</a:t>
            </a:r>
            <a:r>
              <a:rPr lang="zh-CN" altLang="en-US" dirty="0"/>
              <a:t>的主要市场可以细分为：党政军市场、大型国企央企市场和一般商用、民用市场。分产品看，国产</a:t>
            </a:r>
            <a:r>
              <a:rPr lang="en-US" altLang="zh-CN" dirty="0"/>
              <a:t>CPU</a:t>
            </a:r>
            <a:r>
              <a:rPr lang="zh-CN" altLang="en-US" dirty="0"/>
              <a:t>主要覆盖桌面型</a:t>
            </a:r>
            <a:r>
              <a:rPr lang="en-US" altLang="zh-CN" dirty="0"/>
              <a:t>CPU</a:t>
            </a:r>
            <a:r>
              <a:rPr lang="zh-CN" altLang="en-US" dirty="0"/>
              <a:t>（包含笔记本）、服务器</a:t>
            </a:r>
            <a:r>
              <a:rPr lang="en-US" altLang="zh-CN" dirty="0"/>
              <a:t>CPU</a:t>
            </a:r>
            <a:r>
              <a:rPr lang="zh-CN" altLang="en-US" dirty="0"/>
              <a:t>和嵌入式</a:t>
            </a:r>
            <a:r>
              <a:rPr lang="en-US" altLang="zh-CN" dirty="0"/>
              <a:t>CPU</a:t>
            </a:r>
            <a:r>
              <a:rPr lang="zh-CN" altLang="en-US" dirty="0"/>
              <a:t>。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        </a:t>
            </a:r>
            <a:r>
              <a:rPr lang="zh-CN" altLang="en-US" dirty="0"/>
              <a:t>国内主要的</a:t>
            </a:r>
            <a:r>
              <a:rPr lang="en-US" altLang="zh-CN" dirty="0"/>
              <a:t>CPU</a:t>
            </a:r>
            <a:r>
              <a:rPr lang="zh-CN" altLang="en-US" dirty="0"/>
              <a:t>厂商有六家，分别是上海兆芯、海光信息、飞腾信息、中科龙芯、华为鲲鹏和申威科技。其中，申威主要定位于超级计算机，多应用于军方，与其他几家直接竞争少，其他五家的主要产品则分别应用于桌面型</a:t>
            </a:r>
            <a:r>
              <a:rPr lang="en-US" altLang="zh-CN" dirty="0"/>
              <a:t>CPU</a:t>
            </a:r>
            <a:r>
              <a:rPr lang="zh-CN" altLang="en-US" dirty="0"/>
              <a:t>、服务器</a:t>
            </a:r>
            <a:r>
              <a:rPr lang="en-US" altLang="zh-CN" dirty="0"/>
              <a:t>CPU</a:t>
            </a:r>
            <a:r>
              <a:rPr lang="zh-CN" altLang="en-US" dirty="0"/>
              <a:t>和嵌入式</a:t>
            </a:r>
            <a:r>
              <a:rPr lang="en-US" altLang="zh-CN" dirty="0"/>
              <a:t>CPU</a:t>
            </a:r>
            <a:r>
              <a:rPr lang="zh-CN" altLang="en-US" dirty="0"/>
              <a:t>等领域。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        </a:t>
            </a:r>
            <a:r>
              <a:rPr lang="zh-CN" altLang="en-US" dirty="0"/>
              <a:t>从自主安全可控的角度，龙芯、申威属于“又红又专”，自主可控程度最高，华为、飞腾和兆芯也基本实现自主安全可控，海光起步较晚，主要基于</a:t>
            </a:r>
            <a:r>
              <a:rPr lang="en-US" altLang="zh-CN" dirty="0"/>
              <a:t>AMD</a:t>
            </a:r>
            <a:r>
              <a:rPr lang="zh-CN" altLang="en-US" dirty="0"/>
              <a:t>的</a:t>
            </a:r>
            <a:r>
              <a:rPr lang="en-US" altLang="zh-CN" dirty="0"/>
              <a:t>X86</a:t>
            </a:r>
            <a:r>
              <a:rPr lang="zh-CN" altLang="en-US" dirty="0"/>
              <a:t>指令集和微架构，自主性最弱。    从产品竞争力的角度，党政军市场在性能满足的基础上更强调安全可靠，需求以桌面端为主，目前龙芯和飞腾最受青睐。在大型国企央企市场，在产品性能达到其商业要求时会考虑支持国产，飞腾、华为、兆芯和海光都有机会，桌面</a:t>
            </a:r>
            <a:r>
              <a:rPr lang="en-US" altLang="zh-CN" dirty="0"/>
              <a:t>CPU</a:t>
            </a:r>
            <a:r>
              <a:rPr lang="zh-CN" altLang="en-US" dirty="0"/>
              <a:t>方面，兆芯有一定优势；服务器</a:t>
            </a:r>
            <a:r>
              <a:rPr lang="en-US" altLang="zh-CN" dirty="0"/>
              <a:t>CPU</a:t>
            </a:r>
            <a:r>
              <a:rPr lang="zh-CN" altLang="en-US" dirty="0"/>
              <a:t>方面，华为、海光和飞腾机会最大。在一般商用、民用市场中，国产</a:t>
            </a:r>
            <a:r>
              <a:rPr lang="en-US" altLang="zh-CN" dirty="0"/>
              <a:t>CPU</a:t>
            </a:r>
            <a:r>
              <a:rPr lang="zh-CN" altLang="en-US" dirty="0"/>
              <a:t>短期内在桌面端机会不大，鲲鹏、海光和飞腾的母公司或第一大股东都是国内服务器、存储器领域的知名龙头企业，有大力支持自有</a:t>
            </a:r>
            <a:r>
              <a:rPr lang="en-US" altLang="zh-CN" dirty="0"/>
              <a:t>CPU</a:t>
            </a:r>
            <a:r>
              <a:rPr lang="zh-CN" altLang="en-US" dirty="0"/>
              <a:t>的动力；在嵌入式市场，主要应用于工业领域且定制化程度高，目前兆芯、飞腾均有布局和较多应用案例，未来突围的机会最大。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世界上第一台通用电子数字计算机</a:t>
            </a:r>
            <a:r>
              <a:rPr lang="en-US" altLang="zh-CN" dirty="0"/>
              <a:t>ENIAC</a:t>
            </a:r>
            <a:r>
              <a:rPr lang="zh-CN" altLang="en-US" dirty="0"/>
              <a:t>，在二战时已经投入运行。冯诺依曼被</a:t>
            </a:r>
            <a:r>
              <a:rPr lang="en-US" altLang="zh-CN" dirty="0"/>
              <a:t>ENIAC</a:t>
            </a:r>
            <a:r>
              <a:rPr lang="zh-CN" altLang="en-US" dirty="0"/>
              <a:t>项目吸引，提出了冯诺依曼计算机结构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a:t>
            </a:r>
            <a:r>
              <a:rPr lang="en-US" altLang="zh-CN" dirty="0"/>
              <a:t>32</a:t>
            </a:r>
            <a:r>
              <a:rPr lang="zh-CN" altLang="en-US" dirty="0"/>
              <a:t>位寄存器有多种用途，但每一个都有“专长”，有各自的特别之处。</a:t>
            </a:r>
            <a:endParaRPr lang="en-US" altLang="zh-CN" dirty="0"/>
          </a:p>
          <a:p>
            <a:r>
              <a:rPr lang="en-US" altLang="zh-CN" dirty="0"/>
              <a:t>EAX </a:t>
            </a:r>
            <a:r>
              <a:rPr lang="zh-CN" altLang="en-US" dirty="0"/>
              <a:t>是</a:t>
            </a:r>
            <a:r>
              <a:rPr lang="en-US" altLang="zh-CN" dirty="0"/>
              <a:t>"</a:t>
            </a:r>
            <a:r>
              <a:rPr lang="zh-CN" altLang="en-US" dirty="0"/>
              <a:t>累加器</a:t>
            </a:r>
            <a:r>
              <a:rPr lang="en-US" altLang="zh-CN" dirty="0"/>
              <a:t>"(accumulator), </a:t>
            </a:r>
            <a:r>
              <a:rPr lang="zh-CN" altLang="en-US" dirty="0"/>
              <a:t>它是很多加法乘法指令的缺省寄存器。</a:t>
            </a:r>
            <a:endParaRPr lang="en-US" altLang="zh-CN" dirty="0"/>
          </a:p>
          <a:p>
            <a:r>
              <a:rPr lang="en-US" altLang="zh-CN" dirty="0"/>
              <a:t>EBX </a:t>
            </a:r>
            <a:r>
              <a:rPr lang="zh-CN" altLang="en-US" dirty="0"/>
              <a:t>是</a:t>
            </a:r>
            <a:r>
              <a:rPr lang="en-US" altLang="zh-CN" dirty="0"/>
              <a:t>"</a:t>
            </a:r>
            <a:r>
              <a:rPr lang="zh-CN" altLang="en-US" dirty="0"/>
              <a:t>基地址</a:t>
            </a:r>
            <a:r>
              <a:rPr lang="en-US" altLang="zh-CN" dirty="0"/>
              <a:t>"(base)</a:t>
            </a:r>
            <a:r>
              <a:rPr lang="zh-CN" altLang="en-US" dirty="0"/>
              <a:t>寄存器</a:t>
            </a:r>
            <a:r>
              <a:rPr lang="en-US" altLang="zh-CN" dirty="0"/>
              <a:t>, </a:t>
            </a:r>
            <a:r>
              <a:rPr lang="zh-CN" altLang="en-US" dirty="0"/>
              <a:t>在内存寻址时存放基地址。</a:t>
            </a:r>
            <a:endParaRPr lang="en-US" altLang="zh-CN" dirty="0"/>
          </a:p>
          <a:p>
            <a:r>
              <a:rPr lang="en-US" altLang="zh-CN" dirty="0"/>
              <a:t>ECX </a:t>
            </a:r>
            <a:r>
              <a:rPr lang="zh-CN" altLang="en-US" dirty="0"/>
              <a:t>是计数器</a:t>
            </a:r>
            <a:r>
              <a:rPr lang="en-US" altLang="zh-CN" dirty="0"/>
              <a:t>(counter), </a:t>
            </a:r>
            <a:r>
              <a:rPr lang="zh-CN" altLang="en-US" dirty="0"/>
              <a:t>是重复</a:t>
            </a:r>
            <a:r>
              <a:rPr lang="en-US" altLang="zh-CN" dirty="0"/>
              <a:t>(REP)</a:t>
            </a:r>
            <a:r>
              <a:rPr lang="zh-CN" altLang="en-US" dirty="0"/>
              <a:t>前缀指令和</a:t>
            </a:r>
            <a:r>
              <a:rPr lang="en-US" altLang="zh-CN" dirty="0"/>
              <a:t>LOOP</a:t>
            </a:r>
            <a:r>
              <a:rPr lang="zh-CN" altLang="en-US" dirty="0"/>
              <a:t>指令的内定计数器。</a:t>
            </a:r>
            <a:endParaRPr lang="en-US" altLang="zh-CN" dirty="0"/>
          </a:p>
          <a:p>
            <a:r>
              <a:rPr lang="en-US" altLang="zh-CN" dirty="0"/>
              <a:t>EDX </a:t>
            </a:r>
            <a:r>
              <a:rPr lang="zh-CN" altLang="en-US" dirty="0"/>
              <a:t>则总是被用来放整数除法产生的余数。</a:t>
            </a:r>
            <a:endParaRPr lang="en-US" altLang="zh-CN" dirty="0"/>
          </a:p>
          <a:p>
            <a:r>
              <a:rPr lang="en-US" altLang="zh-CN" dirty="0"/>
              <a:t>ESI/EDI</a:t>
            </a:r>
            <a:r>
              <a:rPr lang="zh-CN" altLang="en-US" dirty="0"/>
              <a:t>分别叫做</a:t>
            </a:r>
            <a:r>
              <a:rPr lang="en-US" altLang="zh-CN" dirty="0"/>
              <a:t>"</a:t>
            </a:r>
            <a:r>
              <a:rPr lang="zh-CN" altLang="en-US" dirty="0"/>
              <a:t>源</a:t>
            </a:r>
            <a:r>
              <a:rPr lang="en-US" altLang="zh-CN" dirty="0"/>
              <a:t>/</a:t>
            </a:r>
            <a:r>
              <a:rPr lang="zh-CN" altLang="en-US" dirty="0"/>
              <a:t>目标索引寄存器</a:t>
            </a:r>
            <a:r>
              <a:rPr lang="en-US" altLang="zh-CN" dirty="0"/>
              <a:t>"(source/destination index),</a:t>
            </a:r>
            <a:r>
              <a:rPr lang="zh-CN" altLang="en-US" dirty="0"/>
              <a:t>因为在很多字符串操作指令中</a:t>
            </a:r>
            <a:r>
              <a:rPr lang="en-US" altLang="zh-CN" dirty="0"/>
              <a:t>, DS:ESI</a:t>
            </a:r>
            <a:r>
              <a:rPr lang="zh-CN" altLang="en-US" dirty="0"/>
              <a:t>指向源串</a:t>
            </a:r>
            <a:r>
              <a:rPr lang="en-US" altLang="zh-CN" dirty="0"/>
              <a:t>,</a:t>
            </a:r>
            <a:r>
              <a:rPr lang="zh-CN" altLang="en-US" dirty="0"/>
              <a:t>而</a:t>
            </a:r>
            <a:r>
              <a:rPr lang="en-US" altLang="zh-CN" dirty="0"/>
              <a:t>ES:EDI</a:t>
            </a:r>
            <a:r>
              <a:rPr lang="zh-CN" altLang="en-US" dirty="0"/>
              <a:t>指向目标串</a:t>
            </a:r>
            <a:r>
              <a:rPr lang="en-US" altLang="zh-CN" dirty="0"/>
              <a:t>.</a:t>
            </a:r>
          </a:p>
          <a:p>
            <a:r>
              <a:rPr lang="en-US" altLang="zh-CN" dirty="0"/>
              <a:t>EBP</a:t>
            </a:r>
            <a:r>
              <a:rPr lang="zh-CN" altLang="en-US" dirty="0"/>
              <a:t>是</a:t>
            </a:r>
            <a:r>
              <a:rPr lang="en-US" altLang="zh-CN" dirty="0"/>
              <a:t>"</a:t>
            </a:r>
            <a:r>
              <a:rPr lang="zh-CN" altLang="en-US" dirty="0"/>
              <a:t>基址指针</a:t>
            </a:r>
            <a:r>
              <a:rPr lang="en-US" altLang="zh-CN" dirty="0"/>
              <a:t>"(BASE POINTER), </a:t>
            </a:r>
            <a:r>
              <a:rPr lang="zh-CN" altLang="en-US" dirty="0"/>
              <a:t>它最经常被用作高级语言函数调用的</a:t>
            </a:r>
            <a:r>
              <a:rPr lang="en-US" altLang="zh-CN" dirty="0"/>
              <a:t>"</a:t>
            </a:r>
            <a:r>
              <a:rPr lang="zh-CN" altLang="en-US" dirty="0"/>
              <a:t>框架指针</a:t>
            </a:r>
            <a:r>
              <a:rPr lang="en-US" altLang="zh-CN" dirty="0"/>
              <a:t>"(frame pointer). </a:t>
            </a:r>
            <a:r>
              <a:rPr lang="zh-CN" altLang="en-US" dirty="0"/>
              <a:t>在破解的时候</a:t>
            </a:r>
            <a:r>
              <a:rPr lang="en-US" altLang="zh-CN" dirty="0"/>
              <a:t>,</a:t>
            </a:r>
            <a:r>
              <a:rPr lang="zh-CN" altLang="en-US" dirty="0"/>
              <a:t>经常可以看见一个标准的函数起始代码</a:t>
            </a:r>
            <a:r>
              <a:rPr lang="en-US" altLang="zh-CN" dirty="0"/>
              <a:t>:</a:t>
            </a:r>
          </a:p>
          <a:p>
            <a:r>
              <a:rPr lang="en-US" altLang="zh-CN" dirty="0"/>
              <a:t>push </a:t>
            </a:r>
            <a:r>
              <a:rPr lang="en-US" altLang="zh-CN" dirty="0" err="1"/>
              <a:t>ebp</a:t>
            </a:r>
            <a:r>
              <a:rPr lang="en-US" altLang="zh-CN" dirty="0"/>
              <a:t> ;</a:t>
            </a:r>
            <a:r>
              <a:rPr lang="zh-CN" altLang="en-US" dirty="0"/>
              <a:t>保存当前</a:t>
            </a:r>
            <a:r>
              <a:rPr lang="en-US" altLang="zh-CN" dirty="0" err="1"/>
              <a:t>ebp</a:t>
            </a:r>
            <a:endParaRPr lang="en-US" altLang="zh-CN" dirty="0"/>
          </a:p>
          <a:p>
            <a:r>
              <a:rPr lang="en-US" altLang="zh-CN" dirty="0"/>
              <a:t>mov </a:t>
            </a:r>
            <a:r>
              <a:rPr lang="en-US" altLang="zh-CN" dirty="0" err="1"/>
              <a:t>ebp,esp</a:t>
            </a:r>
            <a:r>
              <a:rPr lang="en-US" altLang="zh-CN" dirty="0"/>
              <a:t> ;EBP</a:t>
            </a:r>
            <a:r>
              <a:rPr lang="zh-CN" altLang="en-US" dirty="0"/>
              <a:t>设为当前堆栈指针</a:t>
            </a:r>
            <a:endParaRPr lang="en-US" altLang="zh-CN" dirty="0"/>
          </a:p>
          <a:p>
            <a:r>
              <a:rPr lang="en-US" altLang="zh-CN" dirty="0"/>
              <a:t>sub </a:t>
            </a:r>
            <a:r>
              <a:rPr lang="en-US" altLang="zh-CN" dirty="0" err="1"/>
              <a:t>esp</a:t>
            </a:r>
            <a:r>
              <a:rPr lang="en-US" altLang="zh-CN" dirty="0"/>
              <a:t>, xxx ;</a:t>
            </a:r>
            <a:r>
              <a:rPr lang="zh-CN" altLang="en-US" dirty="0"/>
              <a:t>预留</a:t>
            </a:r>
            <a:r>
              <a:rPr lang="en-US" altLang="zh-CN" dirty="0"/>
              <a:t>xxx</a:t>
            </a:r>
            <a:r>
              <a:rPr lang="zh-CN" altLang="en-US" dirty="0"/>
              <a:t>字节给函数临时变量</a:t>
            </a:r>
            <a:endParaRPr lang="en-US" altLang="zh-CN" dirty="0"/>
          </a:p>
          <a:p>
            <a:r>
              <a:rPr lang="zh-CN" altLang="en-US" dirty="0"/>
              <a:t>这样一来</a:t>
            </a:r>
            <a:r>
              <a:rPr lang="en-US" altLang="zh-CN" dirty="0"/>
              <a:t>,EBP </a:t>
            </a:r>
            <a:r>
              <a:rPr lang="zh-CN" altLang="en-US" dirty="0"/>
              <a:t>构成了该函数的一个框架</a:t>
            </a:r>
            <a:r>
              <a:rPr lang="en-US" altLang="zh-CN" dirty="0"/>
              <a:t>, </a:t>
            </a:r>
            <a:r>
              <a:rPr lang="zh-CN" altLang="en-US" dirty="0"/>
              <a:t>在</a:t>
            </a:r>
            <a:r>
              <a:rPr lang="en-US" altLang="zh-CN" dirty="0"/>
              <a:t>EBP</a:t>
            </a:r>
            <a:r>
              <a:rPr lang="zh-CN" altLang="en-US" dirty="0"/>
              <a:t>上方分别是原来的</a:t>
            </a:r>
            <a:r>
              <a:rPr lang="en-US" altLang="zh-CN" dirty="0"/>
              <a:t>EBP, </a:t>
            </a:r>
            <a:r>
              <a:rPr lang="zh-CN" altLang="en-US" dirty="0"/>
              <a:t>返回地址和参数</a:t>
            </a:r>
            <a:r>
              <a:rPr lang="en-US" altLang="zh-CN" dirty="0"/>
              <a:t>. EBP</a:t>
            </a:r>
            <a:r>
              <a:rPr lang="zh-CN" altLang="en-US" dirty="0"/>
              <a:t>下方则是临时变量</a:t>
            </a:r>
            <a:r>
              <a:rPr lang="en-US" altLang="zh-CN" dirty="0"/>
              <a:t>. </a:t>
            </a:r>
            <a:r>
              <a:rPr lang="zh-CN" altLang="en-US" dirty="0"/>
              <a:t>函数返回时作 </a:t>
            </a:r>
            <a:r>
              <a:rPr lang="en-US" altLang="zh-CN" dirty="0"/>
              <a:t>mov </a:t>
            </a:r>
            <a:r>
              <a:rPr lang="en-US" altLang="zh-CN" dirty="0" err="1"/>
              <a:t>esp,ebp</a:t>
            </a:r>
            <a:r>
              <a:rPr lang="en-US" altLang="zh-CN" dirty="0"/>
              <a:t>/pop </a:t>
            </a:r>
            <a:r>
              <a:rPr lang="en-US" altLang="zh-CN" dirty="0" err="1"/>
              <a:t>ebp</a:t>
            </a:r>
            <a:r>
              <a:rPr lang="en-US" altLang="zh-CN" dirty="0"/>
              <a:t>/ret </a:t>
            </a:r>
            <a:r>
              <a:rPr lang="zh-CN" altLang="en-US" dirty="0"/>
              <a:t>即可</a:t>
            </a:r>
            <a:r>
              <a:rPr lang="en-US" altLang="zh-CN" dirty="0"/>
              <a:t>.</a:t>
            </a:r>
          </a:p>
          <a:p>
            <a:r>
              <a:rPr lang="en-US" altLang="zh-CN" dirty="0"/>
              <a:t>ESP </a:t>
            </a:r>
            <a:r>
              <a:rPr lang="zh-CN" altLang="en-US" dirty="0"/>
              <a:t>专门用作堆栈指针，被形象地称为栈顶指针，堆栈的顶部是地址小的区域，压入堆栈的数据越多，</a:t>
            </a:r>
            <a:r>
              <a:rPr lang="en-US" altLang="zh-CN" dirty="0"/>
              <a:t>ESP</a:t>
            </a:r>
            <a:r>
              <a:rPr lang="zh-CN" altLang="en-US" dirty="0"/>
              <a:t>也就越来越小。在</a:t>
            </a:r>
            <a:r>
              <a:rPr lang="en-US" altLang="zh-CN" dirty="0"/>
              <a:t>32</a:t>
            </a:r>
            <a:r>
              <a:rPr lang="zh-CN" altLang="en-US" dirty="0"/>
              <a:t>位平台上，</a:t>
            </a:r>
            <a:r>
              <a:rPr lang="en-US" altLang="zh-CN" dirty="0"/>
              <a:t>ESP</a:t>
            </a:r>
            <a:r>
              <a:rPr lang="zh-CN" altLang="en-US" dirty="0"/>
              <a:t>每次减少</a:t>
            </a:r>
            <a:r>
              <a:rPr lang="en-US" altLang="zh-CN" dirty="0"/>
              <a:t>4</a:t>
            </a:r>
            <a:r>
              <a:rPr lang="zh-CN" altLang="en-US" dirty="0"/>
              <a:t>字节。</a:t>
            </a:r>
          </a:p>
          <a:p>
            <a:r>
              <a:rPr lang="en-US" altLang="zh-CN" dirty="0"/>
              <a:t>————————————————</a:t>
            </a:r>
          </a:p>
          <a:p>
            <a:r>
              <a:rPr lang="zh-CN" altLang="en-US" dirty="0"/>
              <a:t>版权声明：本文为</a:t>
            </a:r>
            <a:r>
              <a:rPr lang="en-US" altLang="zh-CN" dirty="0"/>
              <a:t>CSDN</a:t>
            </a:r>
            <a:r>
              <a:rPr lang="zh-CN" altLang="en-US" dirty="0"/>
              <a:t>博主「</a:t>
            </a:r>
            <a:r>
              <a:rPr lang="en-US" altLang="zh-CN" dirty="0" err="1"/>
              <a:t>turbocc</a:t>
            </a:r>
            <a:r>
              <a:rPr lang="zh-CN" altLang="en-US" dirty="0"/>
              <a:t>」的原创文章，遵循</a:t>
            </a:r>
            <a:r>
              <a:rPr lang="en-US" altLang="zh-CN" dirty="0"/>
              <a:t>CC 4.0 BY-SA</a:t>
            </a:r>
            <a:r>
              <a:rPr lang="zh-CN" altLang="en-US" dirty="0"/>
              <a:t>版权协议，转载请附上原文出处链接及本声明。</a:t>
            </a:r>
          </a:p>
          <a:p>
            <a:r>
              <a:rPr lang="zh-CN" altLang="en-US" dirty="0"/>
              <a:t>原文链接：</a:t>
            </a:r>
            <a:r>
              <a:rPr lang="en-US" altLang="zh-CN" dirty="0"/>
              <a:t>https://blog.csdn.net/turbocc/article/details/106249970</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当加减运算结果的最高有效位</a:t>
            </a:r>
            <a:r>
              <a:rPr lang="zh-CN" altLang="en-US" dirty="0">
                <a:solidFill>
                  <a:srgbClr val="CC3300"/>
                </a:solidFill>
              </a:rPr>
              <a:t>有进位</a:t>
            </a:r>
            <a:r>
              <a:rPr lang="zh-CN" altLang="en-US" dirty="0"/>
              <a:t>（加法）或</a:t>
            </a:r>
            <a:r>
              <a:rPr lang="zh-CN" altLang="en-US" dirty="0">
                <a:solidFill>
                  <a:srgbClr val="CC3300"/>
                </a:solidFill>
              </a:rPr>
              <a:t>借位</a:t>
            </a:r>
            <a:r>
              <a:rPr lang="zh-CN" altLang="en-US" dirty="0"/>
              <a:t>（减法）时，则</a:t>
            </a:r>
            <a:r>
              <a:rPr lang="en-US" altLang="zh-CN" dirty="0">
                <a:solidFill>
                  <a:srgbClr val="CC3300"/>
                </a:solidFill>
              </a:rPr>
              <a:t>CF</a:t>
            </a:r>
            <a:r>
              <a:rPr lang="zh-CN" altLang="en-US" dirty="0">
                <a:solidFill>
                  <a:srgbClr val="CC3300"/>
                </a:solidFill>
              </a:rPr>
              <a:t>＝</a:t>
            </a:r>
            <a:r>
              <a:rPr lang="en-US" altLang="zh-CN" dirty="0">
                <a:solidFill>
                  <a:srgbClr val="CC3300"/>
                </a:solidFill>
              </a:rPr>
              <a:t>1</a:t>
            </a:r>
            <a:r>
              <a:rPr lang="zh-CN" altLang="en-US" dirty="0"/>
              <a:t>；否则</a:t>
            </a:r>
            <a:r>
              <a:rPr lang="en-US" altLang="zh-CN" dirty="0"/>
              <a:t>CF</a:t>
            </a:r>
            <a:r>
              <a:rPr lang="zh-CN" altLang="en-US" dirty="0"/>
              <a:t>＝</a:t>
            </a:r>
            <a:r>
              <a:rPr lang="en-US" altLang="zh-CN" dirty="0"/>
              <a:t>0</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当运算结果最低字节中</a:t>
            </a:r>
            <a:r>
              <a:rPr lang="zh-CN" altLang="en-US" dirty="0">
                <a:solidFill>
                  <a:srgbClr val="CC3300"/>
                </a:solidFill>
              </a:rPr>
              <a:t>“</a:t>
            </a:r>
            <a:r>
              <a:rPr lang="en-US" altLang="zh-CN" dirty="0">
                <a:solidFill>
                  <a:srgbClr val="CC3300"/>
                </a:solidFill>
              </a:rPr>
              <a:t>1”</a:t>
            </a:r>
            <a:r>
              <a:rPr lang="zh-CN" altLang="en-US" dirty="0">
                <a:solidFill>
                  <a:srgbClr val="CC3300"/>
                </a:solidFill>
              </a:rPr>
              <a:t>的个数为零或偶数</a:t>
            </a:r>
            <a:r>
              <a:rPr lang="zh-CN" altLang="en-US" dirty="0"/>
              <a:t>时，</a:t>
            </a:r>
            <a:r>
              <a:rPr lang="en-US" altLang="zh-CN" dirty="0">
                <a:solidFill>
                  <a:srgbClr val="CC3300"/>
                </a:solidFill>
              </a:rPr>
              <a:t>PF</a:t>
            </a:r>
            <a:r>
              <a:rPr lang="zh-CN" altLang="en-US" dirty="0">
                <a:solidFill>
                  <a:srgbClr val="CC3300"/>
                </a:solidFill>
              </a:rPr>
              <a:t>＝</a:t>
            </a:r>
            <a:r>
              <a:rPr lang="en-US" altLang="zh-CN" dirty="0">
                <a:solidFill>
                  <a:srgbClr val="CC3300"/>
                </a:solidFill>
              </a:rPr>
              <a:t>1</a:t>
            </a:r>
            <a:r>
              <a:rPr lang="zh-CN" altLang="en-US" dirty="0"/>
              <a:t>；否则</a:t>
            </a:r>
            <a:r>
              <a:rPr lang="en-US" altLang="zh-CN" dirty="0"/>
              <a:t>PF</a:t>
            </a:r>
            <a:r>
              <a:rPr lang="zh-CN" altLang="en-US" dirty="0"/>
              <a:t>＝</a:t>
            </a:r>
            <a:r>
              <a:rPr lang="en-US" altLang="zh-CN" dirty="0"/>
              <a:t>0</a:t>
            </a: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333333"/>
                </a:solidFill>
                <a:effectLst/>
                <a:latin typeface="Arial" panose="020B0604020202020204" pitchFamily="34" charset="0"/>
              </a:rPr>
              <a:t>调整标志</a:t>
            </a:r>
            <a:r>
              <a:rPr lang="en-US" altLang="zh-CN" b="0" i="0" dirty="0">
                <a:solidFill>
                  <a:srgbClr val="333333"/>
                </a:solidFill>
                <a:effectLst/>
                <a:latin typeface="Arial" panose="020B0604020202020204" pitchFamily="34" charset="0"/>
              </a:rPr>
              <a:t>AF</a:t>
            </a:r>
            <a:r>
              <a:rPr lang="zh-CN" altLang="en-US" b="0" i="0" dirty="0">
                <a:solidFill>
                  <a:srgbClr val="333333"/>
                </a:solidFill>
                <a:effectLst/>
                <a:latin typeface="Arial" panose="020B0604020202020204" pitchFamily="34" charset="0"/>
              </a:rPr>
              <a:t>反映加减运算时最低半字节有无进位或错位。最低半字节有进位或借位时，</a:t>
            </a:r>
            <a:r>
              <a:rPr lang="en-US" altLang="zh-CN" b="0" i="0" dirty="0">
                <a:solidFill>
                  <a:srgbClr val="333333"/>
                </a:solidFill>
                <a:effectLst/>
                <a:latin typeface="Arial" panose="020B0604020202020204" pitchFamily="34" charset="0"/>
              </a:rPr>
              <a:t>AF=1</a:t>
            </a:r>
            <a:r>
              <a:rPr lang="zh-CN" altLang="en-US" b="0" i="0" dirty="0">
                <a:solidFill>
                  <a:srgbClr val="333333"/>
                </a:solidFill>
                <a:effectLst/>
                <a:latin typeface="Arial" panose="020B0604020202020204" pitchFamily="34" charset="0"/>
              </a:rPr>
              <a:t>；否则</a:t>
            </a:r>
            <a:r>
              <a:rPr lang="en-US" altLang="zh-CN" b="0" i="0" dirty="0">
                <a:solidFill>
                  <a:srgbClr val="333333"/>
                </a:solidFill>
                <a:effectLst/>
                <a:latin typeface="Arial" panose="020B0604020202020204" pitchFamily="34" charset="0"/>
              </a:rPr>
              <a:t>AF=0</a:t>
            </a:r>
            <a:r>
              <a:rPr lang="zh-CN" altLang="en-US" b="0" i="0" dirty="0">
                <a:solidFill>
                  <a:srgbClr val="333333"/>
                </a:solidFill>
                <a:effectLst/>
                <a:latin typeface="Arial" panose="020B0604020202020204" pitchFamily="34" charset="0"/>
              </a:rPr>
              <a:t>。这个标志主要由处理器内部使用，一般不必关心</a:t>
            </a:r>
            <a:endParaRPr lang="en-US" altLang="zh-CN" dirty="0">
              <a:solidFill>
                <a:srgbClr val="CC3300"/>
              </a:solidFill>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zh-CN" dirty="0"/>
              <a:t>运算</a:t>
            </a:r>
            <a:r>
              <a:rPr lang="zh-CN" altLang="zh-CN" dirty="0">
                <a:solidFill>
                  <a:srgbClr val="CC3300"/>
                </a:solidFill>
              </a:rPr>
              <a:t>结果为0</a:t>
            </a:r>
            <a:r>
              <a:rPr lang="zh-CN" altLang="zh-CN" dirty="0"/>
              <a:t>，则</a:t>
            </a:r>
            <a:r>
              <a:rPr lang="zh-CN" altLang="zh-CN" dirty="0">
                <a:solidFill>
                  <a:srgbClr val="CC3300"/>
                </a:solidFill>
              </a:rPr>
              <a:t>ZF＝1</a:t>
            </a:r>
            <a:r>
              <a:rPr lang="zh-CN" altLang="zh-CN" dirty="0"/>
              <a:t>，否则ZF＝0</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zh-CN" dirty="0"/>
              <a:t>运算</a:t>
            </a:r>
            <a:r>
              <a:rPr lang="zh-CN" altLang="zh-CN" dirty="0">
                <a:solidFill>
                  <a:srgbClr val="CC3300"/>
                </a:solidFill>
              </a:rPr>
              <a:t>结果最高位为1</a:t>
            </a:r>
            <a:r>
              <a:rPr lang="zh-CN" altLang="zh-CN" dirty="0"/>
              <a:t>，则</a:t>
            </a:r>
            <a:r>
              <a:rPr lang="zh-CN" altLang="zh-CN" dirty="0">
                <a:solidFill>
                  <a:srgbClr val="CC3300"/>
                </a:solidFill>
              </a:rPr>
              <a:t>SF＝1</a:t>
            </a:r>
            <a:r>
              <a:rPr lang="zh-CN" altLang="zh-CN" dirty="0"/>
              <a:t>；否则SF＝0</a:t>
            </a: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zh-CN" dirty="0">
                <a:solidFill>
                  <a:srgbClr val="CC3300"/>
                </a:solidFill>
              </a:rPr>
              <a:t>有符号数</a:t>
            </a:r>
            <a:r>
              <a:rPr lang="zh-CN" altLang="zh-CN" dirty="0"/>
              <a:t>加减结果</a:t>
            </a:r>
            <a:r>
              <a:rPr lang="zh-CN" altLang="zh-CN" dirty="0">
                <a:solidFill>
                  <a:srgbClr val="CC3300"/>
                </a:solidFill>
              </a:rPr>
              <a:t>有溢出</a:t>
            </a:r>
            <a:r>
              <a:rPr lang="zh-CN" altLang="zh-CN" dirty="0"/>
              <a:t>，则</a:t>
            </a:r>
            <a:r>
              <a:rPr lang="zh-CN" altLang="zh-CN" dirty="0">
                <a:solidFill>
                  <a:srgbClr val="CC3300"/>
                </a:solidFill>
              </a:rPr>
              <a:t>OF＝1</a:t>
            </a:r>
            <a:r>
              <a:rPr lang="zh-CN" altLang="zh-CN" dirty="0"/>
              <a:t>；否则OF＝0</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.model</a:t>
            </a:r>
            <a:r>
              <a:rPr lang="zh-CN" altLang="en-US" dirty="0"/>
              <a:t> </a:t>
            </a:r>
            <a:r>
              <a:rPr lang="en-US" altLang="zh-CN" dirty="0"/>
              <a:t>flat:</a:t>
            </a:r>
          </a:p>
          <a:p>
            <a:r>
              <a:rPr lang="en-US" altLang="zh-CN" dirty="0"/>
              <a:t>1.</a:t>
            </a:r>
            <a:r>
              <a:rPr lang="zh-CN" altLang="en-US" dirty="0"/>
              <a:t>它的数据段和代码段是</a:t>
            </a:r>
            <a:r>
              <a:rPr lang="en-US" altLang="zh-CN" dirty="0"/>
              <a:t>32</a:t>
            </a:r>
            <a:r>
              <a:rPr lang="zh-CN" altLang="en-US" dirty="0"/>
              <a:t>位的，所以能访问</a:t>
            </a:r>
            <a:r>
              <a:rPr lang="en-US" altLang="zh-CN" dirty="0"/>
              <a:t>4G</a:t>
            </a:r>
            <a:r>
              <a:rPr lang="zh-CN" altLang="en-US" dirty="0"/>
              <a:t>的内存。 </a:t>
            </a:r>
          </a:p>
          <a:p>
            <a:r>
              <a:rPr lang="en-US" altLang="zh-CN" dirty="0"/>
              <a:t>2.</a:t>
            </a:r>
            <a:r>
              <a:rPr lang="zh-CN" altLang="en-US" dirty="0"/>
              <a:t>在“平坦内存模式”，</a:t>
            </a:r>
            <a:r>
              <a:rPr lang="en-US" altLang="zh-CN" dirty="0"/>
              <a:t>cs</a:t>
            </a:r>
            <a:r>
              <a:rPr lang="zh-CN" altLang="en-US" dirty="0"/>
              <a:t>、</a:t>
            </a:r>
            <a:r>
              <a:rPr lang="en-US" altLang="zh-CN" dirty="0"/>
              <a:t>ds</a:t>
            </a:r>
            <a:r>
              <a:rPr lang="zh-CN" altLang="en-US" dirty="0"/>
              <a:t>、</a:t>
            </a:r>
            <a:r>
              <a:rPr lang="en-US" altLang="zh-CN" dirty="0"/>
              <a:t>es</a:t>
            </a:r>
            <a:r>
              <a:rPr lang="zh-CN" altLang="en-US" dirty="0"/>
              <a:t>的值不需你操心，也不必知道它们的值是多少，它们的值是相等的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保护方式是</a:t>
            </a:r>
            <a:r>
              <a:rPr lang="en-US" altLang="zh-CN" dirty="0"/>
              <a:t>IA-32</a:t>
            </a:r>
            <a:r>
              <a:rPr lang="zh-CN" altLang="en-US" dirty="0"/>
              <a:t>系列处理器的常态工作方式，只有在保护方式下， </a:t>
            </a:r>
            <a:r>
              <a:rPr lang="en-US" altLang="zh-CN" dirty="0"/>
              <a:t>IA-32</a:t>
            </a:r>
            <a:r>
              <a:rPr lang="zh-CN" altLang="en-US" dirty="0"/>
              <a:t>系列处理器才能发挥出其全部性能和特点 。</a:t>
            </a:r>
            <a:r>
              <a:rPr lang="en-US" altLang="zh-CN" dirty="0"/>
              <a:t>windows</a:t>
            </a:r>
            <a:r>
              <a:rPr lang="zh-CN" altLang="en-US" dirty="0"/>
              <a:t>和</a:t>
            </a:r>
            <a:r>
              <a:rPr lang="en-US" altLang="zh-CN" dirty="0"/>
              <a:t>Linux</a:t>
            </a:r>
            <a:r>
              <a:rPr lang="zh-CN" altLang="en-US" dirty="0"/>
              <a:t>都运行于保护方式。保护方式的主要特点：全部</a:t>
            </a:r>
            <a:r>
              <a:rPr lang="en-US" altLang="zh-CN" dirty="0"/>
              <a:t>32</a:t>
            </a:r>
            <a:r>
              <a:rPr lang="zh-CN" altLang="en-US" dirty="0"/>
              <a:t>根地址线有效，可寻址高达</a:t>
            </a:r>
            <a:r>
              <a:rPr lang="en-US" altLang="zh-CN" dirty="0"/>
              <a:t>4G</a:t>
            </a:r>
            <a:r>
              <a:rPr lang="zh-CN" altLang="en-US" dirty="0"/>
              <a:t>字节的物理地址空间支持存储器分段管理和可选的存储器分页管理机制支持虚拟存储器的实现提供完善的保护机制支持操作系统实现多任务管理</a:t>
            </a:r>
            <a:endParaRPr lang="en-US" altLang="zh-CN" dirty="0"/>
          </a:p>
          <a:p>
            <a:endParaRPr lang="en-US" altLang="zh-CN" dirty="0"/>
          </a:p>
          <a:p>
            <a:r>
              <a:rPr lang="zh-CN" altLang="en-US" dirty="0"/>
              <a:t>实地址方式</a:t>
            </a:r>
            <a:r>
              <a:rPr lang="en-US" altLang="zh-CN" dirty="0"/>
              <a:t>(Real-address mode)</a:t>
            </a:r>
            <a:r>
              <a:rPr lang="zh-CN" altLang="en-US" dirty="0"/>
              <a:t>是最初的工作方式，是处理器重新开始运行后的最初工作方式。实地址方式是</a:t>
            </a:r>
            <a:r>
              <a:rPr lang="en-US" altLang="zh-CN" dirty="0"/>
              <a:t>IA-32</a:t>
            </a:r>
            <a:r>
              <a:rPr lang="zh-CN" altLang="en-US" dirty="0"/>
              <a:t>系列处理器中最初的处理器的工作方式（最早的</a:t>
            </a:r>
            <a:r>
              <a:rPr lang="en-US" altLang="zh-CN" dirty="0"/>
              <a:t>8086/8088</a:t>
            </a:r>
            <a:r>
              <a:rPr lang="zh-CN" altLang="en-US" dirty="0"/>
              <a:t>只能工作在实地址方式，因为其没有保护方式）。实地址方式的特点：只能访问最低端的</a:t>
            </a:r>
            <a:r>
              <a:rPr lang="en-US" altLang="zh-CN" dirty="0"/>
              <a:t>1M</a:t>
            </a:r>
            <a:r>
              <a:rPr lang="zh-CN" altLang="en-US" dirty="0"/>
              <a:t>字节的物理地址空间。地址空间的范围是</a:t>
            </a:r>
            <a:r>
              <a:rPr lang="en-US" altLang="zh-CN" dirty="0"/>
              <a:t>00000H</a:t>
            </a:r>
            <a:r>
              <a:rPr lang="zh-CN" altLang="en-US" dirty="0"/>
              <a:t>至</a:t>
            </a:r>
            <a:r>
              <a:rPr lang="en-US" altLang="zh-CN" dirty="0"/>
              <a:t>FFFFFH </a:t>
            </a:r>
            <a:r>
              <a:rPr lang="zh-CN" altLang="en-US" dirty="0"/>
              <a:t>。只支持存储器的分段管理，而且每个存储段的大小限于 </a:t>
            </a:r>
            <a:r>
              <a:rPr lang="en-US" altLang="zh-CN" dirty="0"/>
              <a:t>64K</a:t>
            </a:r>
            <a:r>
              <a:rPr lang="zh-CN" altLang="en-US" dirty="0"/>
              <a:t>字节 。实地址对应保护方式下的虚地址。这应该是实地址方式 的名称由来。实地址方式常常被简称为实⽅方式 。在实方式下，</a:t>
            </a:r>
            <a:r>
              <a:rPr lang="en-US" altLang="zh-CN" dirty="0"/>
              <a:t>IA-32</a:t>
            </a:r>
            <a:r>
              <a:rPr lang="zh-CN" altLang="en-US" dirty="0"/>
              <a:t>系列处理器不能发挥其全部性能。</a:t>
            </a:r>
          </a:p>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latin typeface="Arial" panose="020B0604020202020204" pitchFamily="34" charset="0"/>
              </a:rPr>
              <a:t>楼栋的房子分层编号类比于分段管理的逻辑地址</a:t>
            </a:r>
          </a:p>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6</a:t>
            </a:r>
            <a:r>
              <a:rPr lang="zh-CN" altLang="en-US" dirty="0"/>
              <a:t>个段寄存器，</a:t>
            </a:r>
            <a:r>
              <a:rPr lang="en-US" altLang="zh-CN" dirty="0"/>
              <a:t>CS</a:t>
            </a:r>
            <a:r>
              <a:rPr lang="zh-CN" altLang="en-US" dirty="0"/>
              <a:t>用于代码段，</a:t>
            </a:r>
            <a:r>
              <a:rPr lang="en-US" altLang="zh-CN" dirty="0"/>
              <a:t>SS</a:t>
            </a:r>
            <a:r>
              <a:rPr lang="zh-CN" altLang="en-US" dirty="0"/>
              <a:t>用于堆栈段，其余四个皆可用于数据段</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逻辑地址</a:t>
            </a:r>
            <a:r>
              <a:rPr lang="en-US" altLang="zh-CN" dirty="0"/>
              <a:t>|</a:t>
            </a:r>
            <a:r>
              <a:rPr lang="zh-CN" altLang="en-US" dirty="0"/>
              <a:t>线性地址</a:t>
            </a:r>
            <a:r>
              <a:rPr lang="en-US" altLang="zh-CN" dirty="0"/>
              <a:t>|</a:t>
            </a:r>
            <a:r>
              <a:rPr lang="zh-CN" altLang="en-US" dirty="0"/>
              <a:t>物理地址关系</a:t>
            </a:r>
          </a:p>
          <a:p>
            <a:r>
              <a:rPr lang="en-US" altLang="zh-CN" dirty="0"/>
              <a:t>1</a:t>
            </a:r>
            <a:r>
              <a:rPr lang="zh-CN" altLang="en-US" dirty="0"/>
              <a:t>、分段机制启动、分页机制未启动：逻辑地址</a:t>
            </a:r>
            <a:r>
              <a:rPr lang="en-US" altLang="zh-CN" dirty="0"/>
              <a:t>—&gt;</a:t>
            </a:r>
            <a:r>
              <a:rPr lang="zh-CN" altLang="en-US" dirty="0"/>
              <a:t>段机制处理</a:t>
            </a:r>
            <a:r>
              <a:rPr lang="en-US" altLang="zh-CN" dirty="0"/>
              <a:t>—&gt;</a:t>
            </a:r>
            <a:r>
              <a:rPr lang="zh-CN" altLang="en-US" dirty="0"/>
              <a:t>线性地址</a:t>
            </a:r>
            <a:r>
              <a:rPr lang="en-US" altLang="zh-CN" dirty="0"/>
              <a:t>=</a:t>
            </a:r>
            <a:r>
              <a:rPr lang="zh-CN" altLang="en-US" dirty="0"/>
              <a:t>物理地址</a:t>
            </a:r>
          </a:p>
          <a:p>
            <a:r>
              <a:rPr lang="en-US" altLang="zh-CN" dirty="0"/>
              <a:t>2</a:t>
            </a:r>
            <a:r>
              <a:rPr lang="zh-CN" altLang="en-US" dirty="0"/>
              <a:t>、分段机制和分页机制都启动：逻辑地址</a:t>
            </a:r>
            <a:r>
              <a:rPr lang="en-US" altLang="zh-CN" dirty="0"/>
              <a:t>—&gt;</a:t>
            </a:r>
            <a:r>
              <a:rPr lang="zh-CN" altLang="en-US" dirty="0"/>
              <a:t>段机制处理</a:t>
            </a:r>
            <a:r>
              <a:rPr lang="en-US" altLang="zh-CN" dirty="0"/>
              <a:t>—&gt;</a:t>
            </a:r>
            <a:r>
              <a:rPr lang="zh-CN" altLang="en-US" dirty="0"/>
              <a:t>线性地址</a:t>
            </a:r>
            <a:r>
              <a:rPr lang="en-US" altLang="zh-CN" dirty="0"/>
              <a:t>—&gt;</a:t>
            </a:r>
            <a:r>
              <a:rPr lang="zh-CN" altLang="en-US" dirty="0"/>
              <a:t>页机制处理</a:t>
            </a:r>
            <a:r>
              <a:rPr lang="en-US" altLang="zh-CN" dirty="0"/>
              <a:t>—&gt;</a:t>
            </a:r>
            <a:r>
              <a:rPr lang="zh-CN" altLang="en-US" dirty="0"/>
              <a:t>物理地址</a:t>
            </a:r>
            <a:endParaRPr lang="en-US" altLang="zh-CN" dirty="0"/>
          </a:p>
          <a:p>
            <a:endParaRPr lang="en-US" altLang="zh-CN" dirty="0"/>
          </a:p>
          <a:p>
            <a:pPr algn="l"/>
            <a:r>
              <a:rPr lang="en-US" altLang="zh-CN" b="0" i="0" dirty="0">
                <a:solidFill>
                  <a:srgbClr val="000000"/>
                </a:solidFill>
                <a:effectLst/>
                <a:latin typeface="微软雅黑" panose="020B0503020204020204" charset="-122"/>
                <a:ea typeface="微软雅黑" panose="020B0503020204020204" charset="-122"/>
              </a:rPr>
              <a:t>The 80386 transforms logical addresses (i.e., addresses as viewed by programmers) into physical address (i.e., actual addresses in physical memory) in two steps:</a:t>
            </a:r>
          </a:p>
          <a:p>
            <a:pPr algn="l">
              <a:buFont typeface="Arial" panose="020B0604020202020204" pitchFamily="34" charset="0"/>
              <a:buChar char="•"/>
            </a:pPr>
            <a:r>
              <a:rPr lang="en-US" altLang="zh-CN" b="0" i="0" dirty="0">
                <a:solidFill>
                  <a:srgbClr val="000000"/>
                </a:solidFill>
                <a:effectLst/>
                <a:latin typeface="微软雅黑" panose="020B0503020204020204" charset="-122"/>
                <a:ea typeface="微软雅黑" panose="020B0503020204020204" charset="-122"/>
              </a:rPr>
              <a:t>Segment translation, in which a logical address (consisting of a segment selector and segment offset) are converted to a linear address.</a:t>
            </a:r>
          </a:p>
          <a:p>
            <a:pPr algn="l">
              <a:buFont typeface="Arial" panose="020B0604020202020204" pitchFamily="34" charset="0"/>
              <a:buChar char="•"/>
            </a:pPr>
            <a:r>
              <a:rPr lang="en-US" altLang="zh-CN" b="0" i="0" dirty="0">
                <a:solidFill>
                  <a:srgbClr val="000000"/>
                </a:solidFill>
                <a:effectLst/>
                <a:latin typeface="微软雅黑" panose="020B0503020204020204" charset="-122"/>
                <a:ea typeface="微软雅黑" panose="020B0503020204020204" charset="-122"/>
              </a:rPr>
              <a:t>Page translation, in which a linear address is converted to a physical address. This step is optional, at the discretion of systems-software designers.</a:t>
            </a:r>
          </a:p>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mn-lt"/>
              </a:rPr>
              <a:t>仅使用地址总线的低</a:t>
            </a:r>
            <a:r>
              <a:rPr lang="en-US" altLang="zh-CN" sz="1200" dirty="0">
                <a:latin typeface="+mn-lt"/>
              </a:rPr>
              <a:t>20</a:t>
            </a:r>
            <a:r>
              <a:rPr lang="zh-CN" altLang="en-US" sz="1200" dirty="0">
                <a:latin typeface="+mn-lt"/>
              </a:rPr>
              <a:t>位，但段寄存器只有</a:t>
            </a:r>
            <a:r>
              <a:rPr lang="en-US" altLang="zh-CN" sz="1200" dirty="0">
                <a:latin typeface="+mn-lt"/>
              </a:rPr>
              <a:t>16</a:t>
            </a:r>
            <a:r>
              <a:rPr lang="zh-CN" altLang="en-US" sz="1200" dirty="0">
                <a:latin typeface="+mn-lt"/>
              </a:rPr>
              <a:t>位，所以只保留高</a:t>
            </a:r>
            <a:r>
              <a:rPr lang="en-US" altLang="zh-CN" sz="1200" dirty="0">
                <a:latin typeface="+mn-lt"/>
              </a:rPr>
              <a:t>16</a:t>
            </a:r>
            <a:r>
              <a:rPr lang="zh-CN" altLang="en-US" sz="1200" dirty="0">
                <a:latin typeface="+mn-lt"/>
              </a:rPr>
              <a:t>位，低</a:t>
            </a:r>
            <a:r>
              <a:rPr lang="en-US" altLang="zh-CN" sz="1200" dirty="0">
                <a:latin typeface="+mn-lt"/>
              </a:rPr>
              <a:t>4</a:t>
            </a:r>
            <a:r>
              <a:rPr lang="zh-CN" altLang="en-US" sz="1200" dirty="0">
                <a:latin typeface="+mn-lt"/>
              </a:rPr>
              <a:t>位为</a:t>
            </a:r>
            <a:r>
              <a:rPr lang="en-US" altLang="zh-CN" sz="1200" dirty="0">
                <a:latin typeface="+mn-lt"/>
              </a:rPr>
              <a:t>0</a:t>
            </a:r>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66666"/>
                </a:solidFill>
                <a:effectLst/>
                <a:latin typeface="微软雅黑" panose="020B0503020204020204" charset="-122"/>
                <a:ea typeface="微软雅黑" panose="020B0503020204020204" charset="-122"/>
              </a:rPr>
              <a:t>MASM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Microsoft Macro Assembler </a:t>
            </a:r>
            <a:r>
              <a:rPr lang="zh-CN" altLang="en-US" b="0" i="0" dirty="0">
                <a:solidFill>
                  <a:srgbClr val="666666"/>
                </a:solidFill>
                <a:effectLst/>
                <a:latin typeface="微软雅黑" panose="020B0503020204020204" charset="-122"/>
                <a:ea typeface="微软雅黑" panose="020B0503020204020204" charset="-122"/>
              </a:rPr>
              <a:t>的缩写，是微软公司为</a:t>
            </a:r>
            <a:r>
              <a:rPr lang="en-US" altLang="zh-CN" b="0" i="0" dirty="0">
                <a:solidFill>
                  <a:srgbClr val="666666"/>
                </a:solidFill>
                <a:effectLst/>
                <a:latin typeface="微软雅黑" panose="020B0503020204020204" charset="-122"/>
                <a:ea typeface="微软雅黑" panose="020B0503020204020204" charset="-122"/>
              </a:rPr>
              <a:t>x86 </a:t>
            </a:r>
            <a:r>
              <a:rPr lang="zh-CN" altLang="en-US" b="0" i="0" dirty="0">
                <a:solidFill>
                  <a:srgbClr val="666666"/>
                </a:solidFill>
                <a:effectLst/>
                <a:latin typeface="微软雅黑" panose="020B0503020204020204" charset="-122"/>
                <a:ea typeface="微软雅黑" panose="020B0503020204020204" charset="-122"/>
              </a:rPr>
              <a:t>微处理器家族开发的汇编开发环境，拥有可视化的开发界面，使开发人员不必再使用</a:t>
            </a:r>
            <a:r>
              <a:rPr lang="en-US" altLang="zh-CN" b="0" i="0" dirty="0">
                <a:solidFill>
                  <a:srgbClr val="666666"/>
                </a:solidFill>
                <a:effectLst/>
                <a:latin typeface="微软雅黑" panose="020B0503020204020204" charset="-122"/>
                <a:ea typeface="微软雅黑" panose="020B0503020204020204" charset="-122"/>
              </a:rPr>
              <a:t>DOS</a:t>
            </a:r>
            <a:r>
              <a:rPr lang="zh-CN" altLang="en-US" b="0" i="0" dirty="0">
                <a:solidFill>
                  <a:srgbClr val="666666"/>
                </a:solidFill>
                <a:effectLst/>
                <a:latin typeface="微软雅黑" panose="020B0503020204020204" charset="-122"/>
                <a:ea typeface="微软雅黑" panose="020B0503020204020204" charset="-122"/>
              </a:rPr>
              <a:t>环境进行汇编的开发，编译速度快，支持</a:t>
            </a:r>
            <a:r>
              <a:rPr lang="en-US" altLang="zh-CN" b="0" i="0" dirty="0">
                <a:solidFill>
                  <a:srgbClr val="666666"/>
                </a:solidFill>
                <a:effectLst/>
                <a:latin typeface="微软雅黑" panose="020B0503020204020204" charset="-122"/>
                <a:ea typeface="微软雅黑" panose="020B0503020204020204" charset="-122"/>
              </a:rPr>
              <a:t>80x86</a:t>
            </a:r>
            <a:r>
              <a:rPr lang="zh-CN" altLang="en-US" b="0" i="0" dirty="0">
                <a:solidFill>
                  <a:srgbClr val="666666"/>
                </a:solidFill>
                <a:effectLst/>
                <a:latin typeface="微软雅黑" panose="020B0503020204020204" charset="-122"/>
                <a:ea typeface="微软雅黑" panose="020B0503020204020204" charset="-122"/>
              </a:rPr>
              <a:t>汇编以及</a:t>
            </a:r>
            <a:r>
              <a:rPr lang="en-US" altLang="zh-CN" b="0" i="0" dirty="0">
                <a:solidFill>
                  <a:srgbClr val="666666"/>
                </a:solidFill>
                <a:effectLst/>
                <a:latin typeface="微软雅黑" panose="020B0503020204020204" charset="-122"/>
                <a:ea typeface="微软雅黑" panose="020B0503020204020204" charset="-122"/>
              </a:rPr>
              <a:t>Win32Asm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Windows</a:t>
            </a:r>
            <a:r>
              <a:rPr lang="zh-CN" altLang="en-US" b="0" i="0" dirty="0">
                <a:solidFill>
                  <a:srgbClr val="666666"/>
                </a:solidFill>
                <a:effectLst/>
                <a:latin typeface="微软雅黑" panose="020B0503020204020204" charset="-122"/>
                <a:ea typeface="微软雅黑" panose="020B0503020204020204" charset="-122"/>
              </a:rPr>
              <a:t>下开发汇编的利器</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66666"/>
                </a:solidFill>
                <a:effectLst/>
                <a:latin typeface="微软雅黑" panose="020B0503020204020204" charset="-122"/>
                <a:ea typeface="微软雅黑" panose="020B0503020204020204" charset="-122"/>
              </a:rPr>
              <a:t>MASM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Microsoft Macro Assembler </a:t>
            </a:r>
            <a:r>
              <a:rPr lang="zh-CN" altLang="en-US" b="0" i="0" dirty="0">
                <a:solidFill>
                  <a:srgbClr val="666666"/>
                </a:solidFill>
                <a:effectLst/>
                <a:latin typeface="微软雅黑" panose="020B0503020204020204" charset="-122"/>
                <a:ea typeface="微软雅黑" panose="020B0503020204020204" charset="-122"/>
              </a:rPr>
              <a:t>的缩写，是微软公司为</a:t>
            </a:r>
            <a:r>
              <a:rPr lang="en-US" altLang="zh-CN" b="0" i="0" dirty="0">
                <a:solidFill>
                  <a:srgbClr val="666666"/>
                </a:solidFill>
                <a:effectLst/>
                <a:latin typeface="微软雅黑" panose="020B0503020204020204" charset="-122"/>
                <a:ea typeface="微软雅黑" panose="020B0503020204020204" charset="-122"/>
              </a:rPr>
              <a:t>x86 </a:t>
            </a:r>
            <a:r>
              <a:rPr lang="zh-CN" altLang="en-US" b="0" i="0" dirty="0">
                <a:solidFill>
                  <a:srgbClr val="666666"/>
                </a:solidFill>
                <a:effectLst/>
                <a:latin typeface="微软雅黑" panose="020B0503020204020204" charset="-122"/>
                <a:ea typeface="微软雅黑" panose="020B0503020204020204" charset="-122"/>
              </a:rPr>
              <a:t>微处理器家族开发的汇编开发环境，拥有可视化的开发界面，使开发人员不必再使用</a:t>
            </a:r>
            <a:r>
              <a:rPr lang="en-US" altLang="zh-CN" b="0" i="0" dirty="0">
                <a:solidFill>
                  <a:srgbClr val="666666"/>
                </a:solidFill>
                <a:effectLst/>
                <a:latin typeface="微软雅黑" panose="020B0503020204020204" charset="-122"/>
                <a:ea typeface="微软雅黑" panose="020B0503020204020204" charset="-122"/>
              </a:rPr>
              <a:t>DOS</a:t>
            </a:r>
            <a:r>
              <a:rPr lang="zh-CN" altLang="en-US" b="0" i="0" dirty="0">
                <a:solidFill>
                  <a:srgbClr val="666666"/>
                </a:solidFill>
                <a:effectLst/>
                <a:latin typeface="微软雅黑" panose="020B0503020204020204" charset="-122"/>
                <a:ea typeface="微软雅黑" panose="020B0503020204020204" charset="-122"/>
              </a:rPr>
              <a:t>环境进行汇编的开发，编译速度快，支持</a:t>
            </a:r>
            <a:r>
              <a:rPr lang="en-US" altLang="zh-CN" b="0" i="0" dirty="0">
                <a:solidFill>
                  <a:srgbClr val="666666"/>
                </a:solidFill>
                <a:effectLst/>
                <a:latin typeface="微软雅黑" panose="020B0503020204020204" charset="-122"/>
                <a:ea typeface="微软雅黑" panose="020B0503020204020204" charset="-122"/>
              </a:rPr>
              <a:t>80x86</a:t>
            </a:r>
            <a:r>
              <a:rPr lang="zh-CN" altLang="en-US" b="0" i="0" dirty="0">
                <a:solidFill>
                  <a:srgbClr val="666666"/>
                </a:solidFill>
                <a:effectLst/>
                <a:latin typeface="微软雅黑" panose="020B0503020204020204" charset="-122"/>
                <a:ea typeface="微软雅黑" panose="020B0503020204020204" charset="-122"/>
              </a:rPr>
              <a:t>汇编以及</a:t>
            </a:r>
            <a:r>
              <a:rPr lang="en-US" altLang="zh-CN" b="0" i="0" dirty="0">
                <a:solidFill>
                  <a:srgbClr val="666666"/>
                </a:solidFill>
                <a:effectLst/>
                <a:latin typeface="微软雅黑" panose="020B0503020204020204" charset="-122"/>
                <a:ea typeface="微软雅黑" panose="020B0503020204020204" charset="-122"/>
              </a:rPr>
              <a:t>Win32Asm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Windows</a:t>
            </a:r>
            <a:r>
              <a:rPr lang="zh-CN" altLang="en-US" b="0" i="0" dirty="0">
                <a:solidFill>
                  <a:srgbClr val="666666"/>
                </a:solidFill>
                <a:effectLst/>
                <a:latin typeface="微软雅黑" panose="020B0503020204020204" charset="-122"/>
                <a:ea typeface="微软雅黑" panose="020B0503020204020204" charset="-122"/>
              </a:rPr>
              <a:t>下开发汇编的利器</a:t>
            </a: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66666"/>
                </a:solidFill>
                <a:effectLst/>
                <a:latin typeface="微软雅黑" panose="020B0503020204020204" charset="-122"/>
                <a:ea typeface="微软雅黑" panose="020B0503020204020204" charset="-122"/>
              </a:rPr>
              <a:t>MASM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Microsoft Macro Assembler </a:t>
            </a:r>
            <a:r>
              <a:rPr lang="zh-CN" altLang="en-US" b="0" i="0" dirty="0">
                <a:solidFill>
                  <a:srgbClr val="666666"/>
                </a:solidFill>
                <a:effectLst/>
                <a:latin typeface="微软雅黑" panose="020B0503020204020204" charset="-122"/>
                <a:ea typeface="微软雅黑" panose="020B0503020204020204" charset="-122"/>
              </a:rPr>
              <a:t>的缩写，是微软公司为</a:t>
            </a:r>
            <a:r>
              <a:rPr lang="en-US" altLang="zh-CN" b="0" i="0" dirty="0">
                <a:solidFill>
                  <a:srgbClr val="666666"/>
                </a:solidFill>
                <a:effectLst/>
                <a:latin typeface="微软雅黑" panose="020B0503020204020204" charset="-122"/>
                <a:ea typeface="微软雅黑" panose="020B0503020204020204" charset="-122"/>
              </a:rPr>
              <a:t>x86 </a:t>
            </a:r>
            <a:r>
              <a:rPr lang="zh-CN" altLang="en-US" b="0" i="0" dirty="0">
                <a:solidFill>
                  <a:srgbClr val="666666"/>
                </a:solidFill>
                <a:effectLst/>
                <a:latin typeface="微软雅黑" panose="020B0503020204020204" charset="-122"/>
                <a:ea typeface="微软雅黑" panose="020B0503020204020204" charset="-122"/>
              </a:rPr>
              <a:t>微处理器家族开发的汇编开发环境，拥有可视化的开发界面，使开发人员不必再使用</a:t>
            </a:r>
            <a:r>
              <a:rPr lang="en-US" altLang="zh-CN" b="0" i="0" dirty="0">
                <a:solidFill>
                  <a:srgbClr val="666666"/>
                </a:solidFill>
                <a:effectLst/>
                <a:latin typeface="微软雅黑" panose="020B0503020204020204" charset="-122"/>
                <a:ea typeface="微软雅黑" panose="020B0503020204020204" charset="-122"/>
              </a:rPr>
              <a:t>DOS</a:t>
            </a:r>
            <a:r>
              <a:rPr lang="zh-CN" altLang="en-US" b="0" i="0" dirty="0">
                <a:solidFill>
                  <a:srgbClr val="666666"/>
                </a:solidFill>
                <a:effectLst/>
                <a:latin typeface="微软雅黑" panose="020B0503020204020204" charset="-122"/>
                <a:ea typeface="微软雅黑" panose="020B0503020204020204" charset="-122"/>
              </a:rPr>
              <a:t>环境进行汇编的开发，</a:t>
            </a:r>
          </a:p>
          <a:p>
            <a:r>
              <a:rPr lang="zh-CN" altLang="en-US" b="0" i="0" dirty="0">
                <a:solidFill>
                  <a:srgbClr val="666666"/>
                </a:solidFill>
                <a:effectLst/>
                <a:latin typeface="微软雅黑" panose="020B0503020204020204" charset="-122"/>
                <a:ea typeface="微软雅黑" panose="020B0503020204020204" charset="-122"/>
              </a:rPr>
              <a:t>编译速度快，支持</a:t>
            </a:r>
            <a:r>
              <a:rPr lang="en-US" altLang="zh-CN" b="0" i="0" dirty="0">
                <a:solidFill>
                  <a:srgbClr val="666666"/>
                </a:solidFill>
                <a:effectLst/>
                <a:latin typeface="微软雅黑" panose="020B0503020204020204" charset="-122"/>
                <a:ea typeface="微软雅黑" panose="020B0503020204020204" charset="-122"/>
              </a:rPr>
              <a:t>80x86</a:t>
            </a:r>
            <a:r>
              <a:rPr lang="zh-CN" altLang="en-US" b="0" i="0" dirty="0">
                <a:solidFill>
                  <a:srgbClr val="666666"/>
                </a:solidFill>
                <a:effectLst/>
                <a:latin typeface="微软雅黑" panose="020B0503020204020204" charset="-122"/>
                <a:ea typeface="微软雅黑" panose="020B0503020204020204" charset="-122"/>
              </a:rPr>
              <a:t>汇编以及</a:t>
            </a:r>
            <a:r>
              <a:rPr lang="en-US" altLang="zh-CN" b="0" i="0" dirty="0">
                <a:solidFill>
                  <a:srgbClr val="666666"/>
                </a:solidFill>
                <a:effectLst/>
                <a:latin typeface="微软雅黑" panose="020B0503020204020204" charset="-122"/>
                <a:ea typeface="微软雅黑" panose="020B0503020204020204" charset="-122"/>
              </a:rPr>
              <a:t>Win32Asm</a:t>
            </a:r>
            <a:r>
              <a:rPr lang="zh-CN" altLang="en-US" b="0" i="0" dirty="0">
                <a:solidFill>
                  <a:srgbClr val="666666"/>
                </a:solidFill>
                <a:effectLst/>
                <a:latin typeface="微软雅黑" panose="020B0503020204020204" charset="-122"/>
                <a:ea typeface="微软雅黑" panose="020B0503020204020204" charset="-122"/>
              </a:rPr>
              <a:t>，是</a:t>
            </a:r>
            <a:r>
              <a:rPr lang="en-US" altLang="zh-CN" b="0" i="0" dirty="0">
                <a:solidFill>
                  <a:srgbClr val="666666"/>
                </a:solidFill>
                <a:effectLst/>
                <a:latin typeface="微软雅黑" panose="020B0503020204020204" charset="-122"/>
                <a:ea typeface="微软雅黑" panose="020B0503020204020204" charset="-122"/>
              </a:rPr>
              <a:t>Windows</a:t>
            </a:r>
            <a:r>
              <a:rPr lang="zh-CN" altLang="en-US" b="0" i="0" dirty="0">
                <a:solidFill>
                  <a:srgbClr val="666666"/>
                </a:solidFill>
                <a:effectLst/>
                <a:latin typeface="微软雅黑" panose="020B0503020204020204" charset="-122"/>
                <a:ea typeface="微软雅黑" panose="020B0503020204020204" charset="-122"/>
              </a:rPr>
              <a:t>下开发汇编的利器</a:t>
            </a:r>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汇编语言语句有哪两种，每种语句由哪</a:t>
            </a:r>
            <a:r>
              <a:rPr lang="en-US" altLang="zh-CN" dirty="0"/>
              <a:t>4</a:t>
            </a:r>
            <a:r>
              <a:rPr lang="zh-CN" altLang="en-US" dirty="0"/>
              <a:t>部分组成？</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标识符是用户的角度，助记符是指令的角度</a:t>
            </a:r>
            <a:endParaRPr lang="en-US" altLang="zh-CN" dirty="0"/>
          </a:p>
          <a:p>
            <a:r>
              <a:rPr lang="zh-CN" altLang="en-US" dirty="0"/>
              <a:t>硬指令</a:t>
            </a:r>
            <a:r>
              <a:rPr lang="en-US" altLang="zh-CN" dirty="0"/>
              <a:t>.code, </a:t>
            </a:r>
            <a:r>
              <a:rPr lang="zh-CN" altLang="en-US" dirty="0"/>
              <a:t>伪指令</a:t>
            </a:r>
            <a:r>
              <a:rPr lang="en-US" altLang="zh-CN" dirty="0"/>
              <a:t>.code</a:t>
            </a:r>
          </a:p>
          <a:p>
            <a:r>
              <a:rPr lang="en-US" altLang="zh-CN" sz="1200" dirty="0">
                <a:solidFill>
                  <a:srgbClr val="000000"/>
                </a:solidFill>
              </a:rPr>
              <a:t>char </a:t>
            </a:r>
            <a:r>
              <a:rPr lang="en-US" altLang="zh-CN" sz="1200" dirty="0">
                <a:solidFill>
                  <a:srgbClr val="FF0000"/>
                </a:solidFill>
                <a:highlight>
                  <a:srgbClr val="FFFF00"/>
                </a:highlight>
              </a:rPr>
              <a:t>msg</a:t>
            </a:r>
            <a:r>
              <a:rPr lang="en-US" altLang="zh-CN" sz="1200" dirty="0">
                <a:solidFill>
                  <a:srgbClr val="000000"/>
                </a:solidFill>
              </a:rPr>
              <a:t>[ ]="</a:t>
            </a:r>
            <a:r>
              <a:rPr lang="en-US" altLang="zh-CN" sz="1200" dirty="0" err="1">
                <a:solidFill>
                  <a:srgbClr val="000000"/>
                </a:solidFill>
              </a:rPr>
              <a:t>Hello,Assembly</a:t>
            </a:r>
            <a:r>
              <a:rPr lang="en-US" altLang="zh-CN" sz="1200" dirty="0">
                <a:solidFill>
                  <a:srgbClr val="000000"/>
                </a:solidFill>
              </a:rPr>
              <a:t>!"; </a:t>
            </a:r>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Case mapping</a:t>
            </a:r>
            <a:r>
              <a:rPr lang="zh-CN" altLang="en-US" dirty="0"/>
              <a:t>：大小写字母产生关联</a:t>
            </a:r>
            <a:r>
              <a:rPr lang="en-US" altLang="zh-CN" dirty="0"/>
              <a:t>/</a:t>
            </a:r>
            <a:r>
              <a:rPr lang="zh-CN" altLang="en-US" dirty="0"/>
              <a:t>映射，</a:t>
            </a:r>
            <a:r>
              <a:rPr lang="en-US" altLang="zh-CN" dirty="0"/>
              <a:t>none</a:t>
            </a:r>
            <a:r>
              <a:rPr lang="zh-CN" altLang="en-US" dirty="0"/>
              <a:t>则表名不用产生，大写字母和小写字母分开</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800" kern="10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visual studio</a:t>
            </a:r>
            <a:r>
              <a:rPr lang="zh-CN" altLang="zh-CN" sz="1800" kern="100" dirty="0">
                <a:solidFill>
                  <a:srgbClr val="000000"/>
                </a:solidFill>
                <a:effectLst/>
                <a:latin typeface="Arial" panose="020B0604020202020204" pitchFamily="34" charset="0"/>
                <a:ea typeface="等线" panose="02010600030101010101" pitchFamily="2" charset="-122"/>
                <a:cs typeface="Arial" panose="020B0604020202020204" pitchFamily="34" charset="0"/>
              </a:rPr>
              <a:t>并没有专门的汇编项目，所以需要挂羊头卖狗肉，选择</a:t>
            </a:r>
            <a:r>
              <a:rPr lang="en-US" altLang="zh-CN" sz="1800" kern="10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C++</a:t>
            </a:r>
            <a:r>
              <a:rPr lang="zh-CN" altLang="zh-CN" sz="1800" kern="100" dirty="0">
                <a:solidFill>
                  <a:srgbClr val="000000"/>
                </a:solidFill>
                <a:effectLst/>
                <a:latin typeface="Arial" panose="020B0604020202020204" pitchFamily="34" charset="0"/>
                <a:ea typeface="等线" panose="02010600030101010101" pitchFamily="2" charset="-122"/>
                <a:cs typeface="Arial" panose="020B0604020202020204" pitchFamily="34" charset="0"/>
              </a:rPr>
              <a:t>空项目</a:t>
            </a:r>
            <a:endParaRPr lang="en-US" altLang="zh-CN" sz="1800" kern="100"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2800" dirty="0"/>
              <a:t>注意在选“工作负载”时一定要选上“使用</a:t>
            </a:r>
            <a:r>
              <a:rPr lang="en-US" altLang="zh-CN" sz="2800" dirty="0"/>
              <a:t>C++</a:t>
            </a:r>
            <a:r>
              <a:rPr lang="zh-CN" altLang="en-US" sz="2800" dirty="0"/>
              <a:t>的桌面开发”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Microprocessor</a:t>
            </a:r>
            <a:r>
              <a:rPr lang="zh-CN" altLang="en-US" dirty="0"/>
              <a:t>、</a:t>
            </a:r>
            <a:r>
              <a:rPr lang="en-US" altLang="zh-CN" dirty="0"/>
              <a:t>Microcomputer</a:t>
            </a:r>
            <a:r>
              <a:rPr lang="zh-CN" altLang="en-US" dirty="0"/>
              <a:t>、</a:t>
            </a:r>
            <a:r>
              <a:rPr lang="en-US" altLang="zh-CN" dirty="0"/>
              <a:t>Microcomputer system</a:t>
            </a:r>
            <a:endParaRPr lang="zh-CN" altLang="en-US" dirty="0"/>
          </a:p>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71472" y="6215082"/>
            <a:ext cx="1905000" cy="457200"/>
          </a:xfrm>
        </p:spPr>
        <p:txBody>
          <a:bodyPr/>
          <a:lstStyle/>
          <a:p>
            <a:pPr>
              <a:defRPr/>
            </a:pPr>
            <a:fld id="{A5D3E114-792B-40AC-99AF-9E658BD4CE7F}" type="datetime1">
              <a:rPr lang="zh-CN" altLang="en-US" smtClean="0"/>
              <a:t>2026/3/4</a:t>
            </a:fld>
            <a:endParaRPr lang="en-US" altLang="zh-CN"/>
          </a:p>
        </p:txBody>
      </p:sp>
      <p:sp>
        <p:nvSpPr>
          <p:cNvPr id="3" name="页脚占位符 2"/>
          <p:cNvSpPr>
            <a:spLocks noGrp="1"/>
          </p:cNvSpPr>
          <p:nvPr>
            <p:ph type="ftr" sz="quarter" idx="11"/>
          </p:nvPr>
        </p:nvSpPr>
        <p:spPr>
          <a:xfrm>
            <a:off x="3124200" y="6215082"/>
            <a:ext cx="2895600" cy="457200"/>
          </a:xfrm>
        </p:spPr>
        <p:txBody>
          <a:bodyPr/>
          <a:lstStyle/>
          <a:p>
            <a:pPr>
              <a:defRPr/>
            </a:pPr>
            <a:r>
              <a:rPr lang="en-US" altLang="zh-CN"/>
              <a:t>Xi'an Jiaotong  University</a:t>
            </a:r>
            <a:endParaRPr lang="en-US" altLang="zh-CN" dirty="0"/>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9764ACF5-FE95-4751-B03E-D32A19BA1102}" type="datetime1">
              <a:rPr lang="zh-CN" altLang="en-US" smtClean="0"/>
              <a:t>2026/3/4</a:t>
            </a:fld>
            <a:r>
              <a:rPr lang="en-US" altLang="zh-CN"/>
              <a:t> Technology</a:t>
            </a:r>
            <a:endParaRPr lang="en-US" altLang="zh-CN" dirty="0"/>
          </a:p>
        </p:txBody>
      </p:sp>
      <p:sp>
        <p:nvSpPr>
          <p:cNvPr id="4" name="页脚占位符 3"/>
          <p:cNvSpPr>
            <a:spLocks noGrp="1"/>
          </p:cNvSpPr>
          <p:nvPr>
            <p:ph type="ftr" sz="quarter" idx="11"/>
          </p:nvPr>
        </p:nvSpPr>
        <p:spPr/>
        <p:txBody>
          <a:bodyPr/>
          <a:lstStyle/>
          <a:p>
            <a:pPr>
              <a:defRPr/>
            </a:pPr>
            <a:r>
              <a:rPr lang="en-US" altLang="zh-CN"/>
              <a:t>Xi'an Jiaotong  University</a:t>
            </a: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02410" name="Rectangle 10"/>
          <p:cNvSpPr>
            <a:spLocks noGrp="1" noChangeArrowheads="1"/>
          </p:cNvSpPr>
          <p:nvPr>
            <p:ph type="subTitle" idx="1"/>
          </p:nvPr>
        </p:nvSpPr>
        <p:spPr>
          <a:xfrm>
            <a:off x="1371600" y="1676400"/>
            <a:ext cx="6400800" cy="1752600"/>
          </a:xfrm>
        </p:spPr>
        <p:txBody>
          <a:bodyPr/>
          <a:lstStyle>
            <a:lvl1pPr marL="0" indent="0" algn="ctr">
              <a:buFontTx/>
              <a:buNone/>
              <a:defRPr/>
            </a:lvl1pPr>
          </a:lstStyle>
          <a:p>
            <a:r>
              <a:rPr lang="zh-CN" altLang="en-US"/>
              <a:t>单击此处编辑母版副标题样式</a:t>
            </a:r>
          </a:p>
        </p:txBody>
      </p:sp>
      <p:sp>
        <p:nvSpPr>
          <p:cNvPr id="3" name="Rectangle 11"/>
          <p:cNvSpPr>
            <a:spLocks noGrp="1" noChangeArrowheads="1"/>
          </p:cNvSpPr>
          <p:nvPr>
            <p:ph type="dt" sz="half" idx="10"/>
          </p:nvPr>
        </p:nvSpPr>
        <p:spPr/>
        <p:txBody>
          <a:bodyPr/>
          <a:lstStyle>
            <a:lvl1pPr>
              <a:defRPr/>
            </a:lvl1pPr>
          </a:lstStyle>
          <a:p>
            <a:pPr>
              <a:defRPr/>
            </a:pPr>
            <a:fld id="{0609A00B-03E2-4224-A5BD-9BD234FCB243}" type="datetime1">
              <a:rPr lang="zh-CN" altLang="en-US" smtClean="0"/>
              <a:t>2026/3/4</a:t>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r>
              <a:rPr lang="en-US" altLang="zh-CN"/>
              <a:t>Xi'an Jiaotong  University</a:t>
            </a:r>
          </a:p>
        </p:txBody>
      </p:sp>
      <p:sp>
        <p:nvSpPr>
          <p:cNvPr id="5" name="Rectangle 13"/>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solidFill>
                  <a:schemeClr val="tx1"/>
                </a:solidFill>
                <a:ea typeface="+mn-ea"/>
              </a:defRPr>
            </a:lvl1pPr>
          </a:lstStyle>
          <a:p>
            <a:pPr>
              <a:defRPr/>
            </a:pPr>
            <a:fld id="{EAC332C5-313C-42E8-A3F7-890A1E7064BF}" type="slidenum">
              <a:rPr lang="en-US" altLang="zh-CN"/>
              <a:t>‹#›</a:t>
            </a:fld>
            <a:endParaRPr lang="en-US" altLang="zh-CN"/>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灯片编号占位符 3"/>
          <p:cNvSpPr>
            <a:spLocks noGrp="1"/>
          </p:cNvSpPr>
          <p:nvPr>
            <p:ph type="sldNum" sz="quarter" idx="10"/>
          </p:nvPr>
        </p:nvSpPr>
        <p:spPr>
          <a:xfrm>
            <a:off x="381000" y="6477000"/>
            <a:ext cx="533400" cy="304800"/>
          </a:xfrm>
        </p:spPr>
        <p:txBody>
          <a:bodyPr/>
          <a:lstStyle/>
          <a:p>
            <a:pPr lvl="0" eaLnBrk="1" fontAlgn="base" hangingPunct="1"/>
            <a:fld id="{9A0DB2DC-4C9A-4742-B13C-FB6460FD3503}" type="slidenum">
              <a:rPr lang="ko-KR" altLang="en-US" strike="noStrike" noProof="1" dirty="0">
                <a:latin typeface="黑体" panose="02010609060101010101" pitchFamily="49" charset="-122"/>
                <a:ea typeface="黑体" panose="02010609060101010101" pitchFamily="49" charset="-122"/>
                <a:cs typeface="+mn-cs"/>
              </a:rPr>
              <a:t>‹#›</a:t>
            </a:fld>
            <a:endParaRPr lang="ko-KR"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36.xml"/><Relationship Id="rId7" Type="http://schemas.openxmlformats.org/officeDocument/2006/relationships/image" Target="../media/image2.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image" Target="../media/image1.png"/><Relationship Id="rId5" Type="http://schemas.openxmlformats.org/officeDocument/2006/relationships/theme" Target="../theme/theme12.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57" r:id="rId1"/>
    <p:sldLayoutId id="2147483658" r:id="rId2"/>
    <p:sldLayoutId id="2147483659"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65" r:id="rId1"/>
    <p:sldLayoutId id="2147483666" r:id="rId2"/>
    <p:sldLayoutId id="2147483667"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69" r:id="rId1"/>
    <p:sldLayoutId id="2147483670" r:id="rId2"/>
    <p:sldLayoutId id="2147483671"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77" r:id="rId1"/>
    <p:sldLayoutId id="2147483678" r:id="rId2"/>
    <p:sldLayoutId id="2147483679"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81" r:id="rId1"/>
    <p:sldLayoutId id="2147483682" r:id="rId2"/>
    <p:sldLayoutId id="2147483683"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85" r:id="rId1"/>
    <p:sldLayoutId id="2147483686" r:id="rId2"/>
    <p:sldLayoutId id="2147483687"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89" r:id="rId1"/>
    <p:sldLayoutId id="2147483690" r:id="rId2"/>
    <p:sldLayoutId id="2147483691" r:id="rId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6" cstate="print"/>
          <a:srcRect/>
          <a:stretch>
            <a:fillRect/>
          </a:stretch>
        </a:blipFill>
        <a:effectLst/>
      </p:bgPr>
    </p:bg>
    <p:spTree>
      <p:nvGrpSpPr>
        <p:cNvPr id="1" name=""/>
        <p:cNvGrpSpPr/>
        <p:nvPr/>
      </p:nvGrpSpPr>
      <p:grpSpPr>
        <a:xfrm>
          <a:off x="0" y="0"/>
          <a:ext cx="0" cy="0"/>
          <a:chOff x="0" y="0"/>
          <a:chExt cx="0" cy="0"/>
        </a:xfrm>
      </p:grpSpPr>
      <p:sp>
        <p:nvSpPr>
          <p:cNvPr id="101378" name="Rectangle 2" descr="Large confetti"/>
          <p:cNvSpPr>
            <a:spLocks noGrp="1" noChangeArrowheads="1"/>
          </p:cNvSpPr>
          <p:nvPr>
            <p:ph type="title"/>
          </p:nvPr>
        </p:nvSpPr>
        <p:spPr bwMode="auto">
          <a:xfrm>
            <a:off x="179388" y="0"/>
            <a:ext cx="8713787" cy="7667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758825" y="1125538"/>
            <a:ext cx="813435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a:defRPr/>
            </a:pPr>
            <a:fld id="{DA61D4B7-5C77-436D-AE67-CD94D6A7AF5E}" type="datetime1">
              <a:rPr lang="zh-CN" altLang="en-US" smtClean="0"/>
              <a:t>2026/3/4</a:t>
            </a:fld>
            <a:r>
              <a:rPr lang="en-US" altLang="zh-CN"/>
              <a:t> </a:t>
            </a:r>
            <a:r>
              <a:rPr lang="en-US" altLang="zh-CN" dirty="0"/>
              <a:t>Technology</a:t>
            </a:r>
          </a:p>
        </p:txBody>
      </p:sp>
      <p:sp>
        <p:nvSpPr>
          <p:cNvPr id="10138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200">
                <a:solidFill>
                  <a:schemeClr val="tx1"/>
                </a:solidFill>
                <a:ea typeface="+mn-ea"/>
              </a:defRPr>
            </a:lvl1pPr>
          </a:lstStyle>
          <a:p>
            <a:pPr>
              <a:defRPr/>
            </a:pPr>
            <a:r>
              <a:rPr lang="en-US" altLang="zh-CN"/>
              <a:t>Xi'an Jiaotong  University</a:t>
            </a:r>
          </a:p>
        </p:txBody>
      </p:sp>
      <p:sp>
        <p:nvSpPr>
          <p:cNvPr id="9" name="Rectangle 4"/>
          <p:cNvSpPr txBox="1">
            <a:spLocks noChangeArrowheads="1"/>
          </p:cNvSpPr>
          <p:nvPr userDrawn="1"/>
        </p:nvSpPr>
        <p:spPr bwMode="auto">
          <a:xfrm>
            <a:off x="8072461" y="6296068"/>
            <a:ext cx="820713" cy="347642"/>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p>
        </p:txBody>
      </p:sp>
    </p:spTree>
  </p:cSld>
  <p:clrMap bg1="dk2" tx1="lt1" bg2="dk1"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p:cTn id="6" dur="500" fill="hold"/>
                                        <p:tgtEl>
                                          <p:spTgt spid="10137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hf hdr="0" ftr="0" dt="0"/>
  <p:txStyles>
    <p:titleStyle>
      <a:lvl1pPr algn="ctr" rtl="0" eaLnBrk="0" fontAlgn="base" hangingPunct="0">
        <a:spcBef>
          <a:spcPct val="0"/>
        </a:spcBef>
        <a:spcAft>
          <a:spcPct val="0"/>
        </a:spcAft>
        <a:defRPr kumimoji="1" sz="4400">
          <a:solidFill>
            <a:srgbClr val="0033CC"/>
          </a:solidFill>
          <a:latin typeface="+mj-lt"/>
          <a:ea typeface="+mj-ea"/>
          <a:cs typeface="+mj-cs"/>
        </a:defRPr>
      </a:lvl1pPr>
      <a:lvl2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6pPr>
      <a:lvl7pPr marL="9144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7pPr>
      <a:lvl8pPr marL="13716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8pPr>
      <a:lvl9pPr marL="1828800" algn="ctr" rtl="0" fontAlgn="base">
        <a:spcBef>
          <a:spcPct val="0"/>
        </a:spcBef>
        <a:spcAft>
          <a:spcPct val="0"/>
        </a:spcAft>
        <a:defRPr kumimoji="1" sz="4400">
          <a:solidFill>
            <a:srgbClr val="0033CC"/>
          </a:solidFill>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SzPct val="85000"/>
        <a:buBlip>
          <a:blip r:embed="rId7"/>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6.pn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34.png"/><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34.png"/><Relationship Id="rId5" Type="http://schemas.openxmlformats.org/officeDocument/2006/relationships/tags" Target="../tags/tag15.xml"/><Relationship Id="rId10" Type="http://schemas.openxmlformats.org/officeDocument/2006/relationships/slideLayout" Target="../slideLayouts/slideLayout1.xml"/><Relationship Id="rId4" Type="http://schemas.openxmlformats.org/officeDocument/2006/relationships/tags" Target="../tags/tag14.xml"/><Relationship Id="rId9" Type="http://schemas.openxmlformats.org/officeDocument/2006/relationships/tags" Target="../tags/tag19.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34.png"/><Relationship Id="rId5" Type="http://schemas.openxmlformats.org/officeDocument/2006/relationships/tags" Target="../tags/tag24.xml"/><Relationship Id="rId10" Type="http://schemas.openxmlformats.org/officeDocument/2006/relationships/slideLayout" Target="../slideLayouts/slideLayout1.xml"/><Relationship Id="rId4" Type="http://schemas.openxmlformats.org/officeDocument/2006/relationships/tags" Target="../tags/tag23.xml"/><Relationship Id="rId9" Type="http://schemas.openxmlformats.org/officeDocument/2006/relationships/tags" Target="../tags/tag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34.png"/><Relationship Id="rId5" Type="http://schemas.openxmlformats.org/officeDocument/2006/relationships/tags" Target="../tags/tag33.xml"/><Relationship Id="rId10" Type="http://schemas.openxmlformats.org/officeDocument/2006/relationships/slideLayout" Target="../slideLayouts/slideLayout1.xml"/><Relationship Id="rId4" Type="http://schemas.openxmlformats.org/officeDocument/2006/relationships/tags" Target="../tags/tag32.xml"/><Relationship Id="rId9" Type="http://schemas.openxmlformats.org/officeDocument/2006/relationships/tags" Target="../tags/tag37.xml"/></Relationships>
</file>

<file path=ppt/slides/_rels/slide50.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52.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16.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1.png"/><Relationship Id="rId4" Type="http://schemas.openxmlformats.org/officeDocument/2006/relationships/image" Target="../media/image4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357290" y="4429132"/>
            <a:ext cx="6858024" cy="1928812"/>
          </a:xfrm>
          <a:prstGeom prst="rect">
            <a:avLst/>
          </a:prstGeom>
          <a:noFill/>
          <a:ln w="9525">
            <a:noFill/>
            <a:miter lim="800000"/>
          </a:ln>
        </p:spPr>
        <p:txBody>
          <a:bodyPr/>
          <a:lstStyle/>
          <a:p>
            <a:pPr algn="ctr"/>
            <a:r>
              <a:rPr lang="zh-CN" altLang="en-US" sz="3200" dirty="0">
                <a:solidFill>
                  <a:srgbClr val="000000"/>
                </a:solidFill>
                <a:latin typeface="黑体" panose="02010609060101010101" pitchFamily="49" charset="-122"/>
              </a:rPr>
              <a:t>刘兆丽</a:t>
            </a:r>
            <a:endParaRPr lang="en-US" altLang="zh-CN" sz="3200" dirty="0">
              <a:solidFill>
                <a:srgbClr val="000000"/>
              </a:solidFill>
              <a:latin typeface="黑体" panose="02010609060101010101" pitchFamily="49" charset="-122"/>
            </a:endParaRPr>
          </a:p>
          <a:p>
            <a:pPr algn="ctr"/>
            <a:r>
              <a:rPr lang="zh-CN" altLang="en-US" sz="3200" dirty="0">
                <a:solidFill>
                  <a:srgbClr val="000000"/>
                </a:solidFill>
                <a:latin typeface="黑体" panose="02010609060101010101" pitchFamily="49" charset="-122"/>
              </a:rPr>
              <a:t>计算机科学与工程学院</a:t>
            </a:r>
            <a:endParaRPr lang="en-US" altLang="zh-CN" dirty="0">
              <a:solidFill>
                <a:srgbClr val="000000"/>
              </a:solidFill>
              <a:latin typeface="黑体" panose="02010609060101010101" pitchFamily="49" charset="-122"/>
            </a:endParaRPr>
          </a:p>
        </p:txBody>
      </p:sp>
      <p:sp>
        <p:nvSpPr>
          <p:cNvPr id="4" name="Rectangle 2" descr="Large confetti"/>
          <p:cNvSpPr txBox="1">
            <a:spLocks noChangeArrowheads="1"/>
          </p:cNvSpPr>
          <p:nvPr/>
        </p:nvSpPr>
        <p:spPr bwMode="auto">
          <a:xfrm>
            <a:off x="789433" y="1272973"/>
            <a:ext cx="8103047" cy="1655961"/>
          </a:xfrm>
          <a:prstGeom prst="rect">
            <a:avLst/>
          </a:prstGeom>
          <a:noFill/>
          <a:ln w="9525">
            <a:noFill/>
            <a:miter lim="800000"/>
          </a:ln>
          <a:effectLst>
            <a:outerShdw dist="12700" dir="5400000" algn="ctr" rotWithShape="0">
              <a:schemeClr val="bg2"/>
            </a:outerShdw>
          </a:effectLst>
        </p:spPr>
        <p:txBody>
          <a:bodyPr anchor="b"/>
          <a:lstStyle/>
          <a:p>
            <a:pPr algn="ctr">
              <a:lnSpc>
                <a:spcPct val="130000"/>
              </a:lnSpc>
              <a:defRPr/>
            </a:pPr>
            <a:r>
              <a:rPr lang="zh-CN" altLang="en-US" sz="7200" b="1" kern="0" dirty="0">
                <a:solidFill>
                  <a:srgbClr val="FF3300"/>
                </a:solidFill>
                <a:latin typeface="+mj-lt"/>
                <a:ea typeface="+mn-ea"/>
                <a:cs typeface="+mj-cs"/>
              </a:rPr>
              <a:t>汇编语言程序设计</a:t>
            </a:r>
            <a:endParaRPr lang="en-US" altLang="zh-CN" sz="7200" b="1" kern="0" dirty="0">
              <a:solidFill>
                <a:srgbClr val="FF3300"/>
              </a:solidFill>
              <a:latin typeface="+mn-ea"/>
              <a:ea typeface="+mn-ea"/>
              <a:cs typeface="+mj-cs"/>
            </a:endParaRPr>
          </a:p>
        </p:txBody>
      </p:sp>
      <p:pic>
        <p:nvPicPr>
          <p:cNvPr id="6" name="图片 5" descr="logo.png"/>
          <p:cNvPicPr>
            <a:picLocks noChangeAspect="1"/>
          </p:cNvPicPr>
          <p:nvPr/>
        </p:nvPicPr>
        <p:blipFill>
          <a:blip r:embed="rId3" cstate="print"/>
          <a:stretch>
            <a:fillRect/>
          </a:stretch>
        </p:blipFill>
        <p:spPr>
          <a:xfrm>
            <a:off x="80949" y="71414"/>
            <a:ext cx="3419481" cy="968050"/>
          </a:xfrm>
          <a:prstGeom prst="rect">
            <a:avLst/>
          </a:prstGeom>
        </p:spPr>
      </p:pic>
      <p:sp>
        <p:nvSpPr>
          <p:cNvPr id="2" name="灯片编号占位符 1"/>
          <p:cNvSpPr>
            <a:spLocks noGrp="1"/>
          </p:cNvSpPr>
          <p:nvPr>
            <p:ph type="sldNum" sz="quarter" idx="12"/>
          </p:nvPr>
        </p:nvSpPr>
        <p:spPr/>
        <p:txBody>
          <a:bodyPr/>
          <a:lstStyle/>
          <a:p>
            <a:pPr>
              <a:defRPr/>
            </a:pPr>
            <a:fld id="{EAC332C5-313C-42E8-A3F7-890A1E7064BF}" type="slidenum">
              <a:rPr lang="en-US" altLang="zh-CN" smtClean="0"/>
              <a:t>1</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999" advTm="13494"/>
    </mc:Choice>
    <mc:Fallback xmlns="">
      <p:transition spd="slow" advTm="1349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1259632" y="4437112"/>
            <a:ext cx="6858024" cy="1656184"/>
          </a:xfrm>
          <a:prstGeom prst="rect">
            <a:avLst/>
          </a:prstGeom>
          <a:noFill/>
          <a:ln w="9525">
            <a:noFill/>
            <a:miter lim="800000"/>
          </a:ln>
        </p:spPr>
        <p:txBody>
          <a:bodyPr/>
          <a:lstStyle/>
          <a:p>
            <a:pPr algn="ctr"/>
            <a:r>
              <a:rPr lang="zh-CN" altLang="en-US" sz="3200" dirty="0">
                <a:solidFill>
                  <a:srgbClr val="000000"/>
                </a:solidFill>
                <a:latin typeface="黑体" panose="02010609060101010101" pitchFamily="49" charset="-122"/>
              </a:rPr>
              <a:t>计算机学院  刘兆丽</a:t>
            </a:r>
            <a:endParaRPr lang="en-US" altLang="zh-CN" sz="3200" dirty="0">
              <a:solidFill>
                <a:srgbClr val="000000"/>
              </a:solidFill>
              <a:latin typeface="黑体" panose="02010609060101010101" pitchFamily="49" charset="-122"/>
            </a:endParaRPr>
          </a:p>
          <a:p>
            <a:pPr algn="ctr"/>
            <a:r>
              <a:rPr lang="en-US" altLang="zh-CN" sz="3200" dirty="0">
                <a:solidFill>
                  <a:srgbClr val="000000"/>
                </a:solidFill>
                <a:latin typeface="黑体" panose="02010609060101010101" pitchFamily="49" charset="-122"/>
              </a:rPr>
              <a:t>QQ</a:t>
            </a:r>
            <a:r>
              <a:rPr lang="zh-CN" altLang="en-US" sz="3200" dirty="0">
                <a:solidFill>
                  <a:srgbClr val="000000"/>
                </a:solidFill>
                <a:latin typeface="黑体" panose="02010609060101010101" pitchFamily="49" charset="-122"/>
              </a:rPr>
              <a:t>群号：</a:t>
            </a:r>
            <a:r>
              <a:rPr lang="en-US" altLang="zh-CN" sz="3200" dirty="0">
                <a:solidFill>
                  <a:srgbClr val="000000"/>
                </a:solidFill>
                <a:latin typeface="黑体" panose="02010609060101010101" pitchFamily="49" charset="-122"/>
              </a:rPr>
              <a:t>1090295553</a:t>
            </a:r>
          </a:p>
          <a:p>
            <a:pPr algn="ctr"/>
            <a:r>
              <a:rPr lang="zh-CN" altLang="en-US" sz="3200" dirty="0">
                <a:solidFill>
                  <a:srgbClr val="000000"/>
                </a:solidFill>
                <a:latin typeface="黑体" panose="02010609060101010101" pitchFamily="49" charset="-122"/>
              </a:rPr>
              <a:t>办公地点：金花校区教六楼</a:t>
            </a:r>
            <a:r>
              <a:rPr lang="en-US" altLang="zh-CN" sz="3200" dirty="0">
                <a:solidFill>
                  <a:srgbClr val="000000"/>
                </a:solidFill>
                <a:latin typeface="黑体" panose="02010609060101010101" pitchFamily="49" charset="-122"/>
              </a:rPr>
              <a:t>1223</a:t>
            </a:r>
          </a:p>
        </p:txBody>
      </p:sp>
      <p:pic>
        <p:nvPicPr>
          <p:cNvPr id="2" name="图片 1"/>
          <p:cNvPicPr>
            <a:picLocks noChangeAspect="1"/>
          </p:cNvPicPr>
          <p:nvPr/>
        </p:nvPicPr>
        <p:blipFill>
          <a:blip r:embed="rId2"/>
          <a:stretch>
            <a:fillRect/>
          </a:stretch>
        </p:blipFill>
        <p:spPr>
          <a:xfrm>
            <a:off x="3275965" y="621030"/>
            <a:ext cx="2808605" cy="359854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467360" y="836930"/>
            <a:ext cx="8050530" cy="5544820"/>
          </a:xfrm>
          <a:prstGeom prst="rect">
            <a:avLst/>
          </a:prstGeom>
        </p:spPr>
        <p:txBody>
          <a:bodyPr/>
          <a:lstStyle/>
          <a:p>
            <a:pPr marL="457200" indent="-457200" algn="just">
              <a:lnSpc>
                <a:spcPct val="150000"/>
              </a:lnSpc>
              <a:spcBef>
                <a:spcPts val="0"/>
              </a:spcBef>
              <a:buClr>
                <a:srgbClr val="0000FF"/>
              </a:buClr>
              <a:buSzPct val="100000"/>
              <a:buFont typeface="Wingdings" panose="05000000000000000000" pitchFamily="2" charset="2"/>
              <a:buChar char="Ø"/>
              <a:defRPr/>
            </a:pPr>
            <a:r>
              <a:rPr lang="zh-CN" altLang="en-US" sz="2800" dirty="0">
                <a:latin typeface="+mn-lt"/>
              </a:rPr>
              <a:t>教材：</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en-US" altLang="zh-CN" sz="2400" dirty="0">
                <a:solidFill>
                  <a:srgbClr val="000000"/>
                </a:solidFill>
                <a:latin typeface="黑体" panose="02010609060101010101" pitchFamily="49" charset="-122"/>
              </a:rPr>
              <a:t>《32</a:t>
            </a:r>
            <a:r>
              <a:rPr lang="zh-CN" altLang="en-US" sz="2400" dirty="0">
                <a:solidFill>
                  <a:srgbClr val="000000"/>
                </a:solidFill>
                <a:latin typeface="黑体" panose="02010609060101010101" pitchFamily="49" charset="-122"/>
              </a:rPr>
              <a:t>位汇编语言程序设计</a:t>
            </a:r>
            <a:r>
              <a:rPr lang="en-US" altLang="zh-CN" sz="2400" dirty="0">
                <a:solidFill>
                  <a:srgbClr val="000000"/>
                </a:solidFill>
                <a:latin typeface="黑体" panose="02010609060101010101" pitchFamily="49" charset="-122"/>
              </a:rPr>
              <a:t>》</a:t>
            </a:r>
            <a:endParaRPr lang="en-US" altLang="zh-CN" sz="2800" dirty="0">
              <a:solidFill>
                <a:srgbClr val="000000"/>
              </a:solidFill>
              <a:latin typeface="黑体" panose="02010609060101010101" pitchFamily="49" charset="-122"/>
            </a:endParaRPr>
          </a:p>
          <a:p>
            <a:pPr marL="457200" lvl="0" indent="-457200" algn="just">
              <a:lnSpc>
                <a:spcPct val="150000"/>
              </a:lnSpc>
              <a:spcBef>
                <a:spcPts val="1800"/>
              </a:spcBef>
              <a:buClr>
                <a:srgbClr val="0000FF"/>
              </a:buClr>
              <a:buSzPct val="100000"/>
              <a:buFont typeface="Wingdings" panose="05000000000000000000" pitchFamily="2" charset="2"/>
              <a:buChar char="Ø"/>
              <a:defRPr/>
            </a:pPr>
            <a:r>
              <a:rPr lang="zh-CN" altLang="en-US" sz="2800" dirty="0">
                <a:latin typeface="+mn-lt"/>
              </a:rPr>
              <a:t>学时安排：</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en-US" altLang="zh-CN" sz="2400" dirty="0">
                <a:solidFill>
                  <a:srgbClr val="000000"/>
                </a:solidFill>
                <a:latin typeface="黑体" panose="02010609060101010101" pitchFamily="49" charset="-122"/>
              </a:rPr>
              <a:t>32</a:t>
            </a:r>
            <a:r>
              <a:rPr lang="zh-CN" altLang="en-US" sz="2400" dirty="0">
                <a:solidFill>
                  <a:srgbClr val="000000"/>
                </a:solidFill>
                <a:latin typeface="黑体" panose="02010609060101010101" pitchFamily="49" charset="-122"/>
              </a:rPr>
              <a:t>学时：</a:t>
            </a:r>
            <a:r>
              <a:rPr lang="en-US" altLang="zh-CN" sz="2400" dirty="0">
                <a:solidFill>
                  <a:srgbClr val="000000"/>
                </a:solidFill>
                <a:latin typeface="黑体" panose="02010609060101010101" pitchFamily="49" charset="-122"/>
              </a:rPr>
              <a:t>26</a:t>
            </a:r>
            <a:r>
              <a:rPr lang="zh-CN" altLang="en-US" sz="2400" dirty="0">
                <a:solidFill>
                  <a:srgbClr val="000000"/>
                </a:solidFill>
                <a:latin typeface="黑体" panose="02010609060101010101" pitchFamily="49" charset="-122"/>
              </a:rPr>
              <a:t>上课</a:t>
            </a:r>
            <a:r>
              <a:rPr lang="en-US" altLang="zh-CN" sz="2400" dirty="0">
                <a:solidFill>
                  <a:srgbClr val="000000"/>
                </a:solidFill>
                <a:latin typeface="黑体" panose="02010609060101010101" pitchFamily="49" charset="-122"/>
              </a:rPr>
              <a:t>+6</a:t>
            </a:r>
            <a:r>
              <a:rPr lang="zh-CN" altLang="en-US" sz="2400" dirty="0">
                <a:solidFill>
                  <a:srgbClr val="000000"/>
                </a:solidFill>
                <a:latin typeface="黑体" panose="02010609060101010101" pitchFamily="49" charset="-122"/>
              </a:rPr>
              <a:t>上机</a:t>
            </a:r>
            <a:endParaRPr lang="en-US" altLang="zh-CN" sz="2400" dirty="0">
              <a:solidFill>
                <a:srgbClr val="000000"/>
              </a:solidFill>
              <a:latin typeface="黑体" panose="02010609060101010101" pitchFamily="49" charset="-122"/>
            </a:endParaRPr>
          </a:p>
          <a:p>
            <a:pPr marL="457200" marR="0" indent="-457200" algn="just" defTabSz="914400" latinLnBrk="0">
              <a:lnSpc>
                <a:spcPct val="150000"/>
              </a:lnSpc>
              <a:spcBef>
                <a:spcPts val="1800"/>
              </a:spcBef>
              <a:buClr>
                <a:srgbClr val="0000FF"/>
              </a:buClr>
              <a:buSzPct val="100000"/>
              <a:buFont typeface="Wingdings" panose="05000000000000000000" pitchFamily="2" charset="2"/>
              <a:buChar char="Ø"/>
              <a:defRPr/>
            </a:pPr>
            <a:r>
              <a:rPr lang="zh-CN" altLang="en-US" sz="2800" dirty="0">
                <a:latin typeface="+mn-lt"/>
              </a:rPr>
              <a:t>课外参考书目：</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en-US" altLang="zh-CN" sz="2400" dirty="0">
                <a:solidFill>
                  <a:schemeClr val="tx1"/>
                </a:solidFill>
                <a:cs typeface="Times New Roman" panose="02020603050405020304" pitchFamily="18" charset="0"/>
              </a:rPr>
              <a:t>《Assembly language for x86 processors》</a:t>
            </a:r>
            <a:r>
              <a:rPr lang="zh-CN" altLang="en-US" sz="2400" dirty="0">
                <a:solidFill>
                  <a:schemeClr val="tx1"/>
                </a:solidFill>
                <a:cs typeface="Times New Roman" panose="02020603050405020304" pitchFamily="18" charset="0"/>
              </a:rPr>
              <a:t>，</a:t>
            </a:r>
            <a:r>
              <a:rPr lang="en-US" altLang="zh-CN" sz="2400" dirty="0">
                <a:solidFill>
                  <a:schemeClr val="tx1"/>
                </a:solidFill>
                <a:cs typeface="Times New Roman" panose="02020603050405020304" pitchFamily="18" charset="0"/>
              </a:rPr>
              <a:t>Seventh Edition</a:t>
            </a:r>
            <a:r>
              <a:rPr lang="zh-CN" altLang="en-US" sz="2400" dirty="0">
                <a:solidFill>
                  <a:schemeClr val="tx1"/>
                </a:solidFill>
                <a:cs typeface="Times New Roman" panose="02020603050405020304" pitchFamily="18" charset="0"/>
              </a:rPr>
              <a:t>，</a:t>
            </a:r>
            <a:r>
              <a:rPr lang="en-US" altLang="zh-CN" sz="2400" dirty="0">
                <a:solidFill>
                  <a:schemeClr val="tx1"/>
                </a:solidFill>
                <a:cs typeface="Times New Roman" panose="02020603050405020304" pitchFamily="18" charset="0"/>
              </a:rPr>
              <a:t>Kip R. Irvine</a:t>
            </a:r>
            <a:endParaRPr lang="zh-CN" altLang="en-US" sz="2400" dirty="0">
              <a:solidFill>
                <a:schemeClr val="tx1"/>
              </a:solidFill>
              <a:cs typeface="Times New Roman" panose="02020603050405020304" pitchFamily="18" charset="0"/>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en-US" altLang="zh-CN" sz="2400" dirty="0">
                <a:solidFill>
                  <a:schemeClr val="tx1"/>
                </a:solidFill>
                <a:latin typeface="黑体" panose="02010609060101010101" pitchFamily="49" charset="-122"/>
              </a:rPr>
              <a:t>《</a:t>
            </a:r>
            <a:r>
              <a:rPr lang="zh-CN" altLang="en-US" sz="2400" dirty="0">
                <a:solidFill>
                  <a:schemeClr val="tx1"/>
                </a:solidFill>
                <a:latin typeface="黑体" panose="02010609060101010101" pitchFamily="49" charset="-122"/>
              </a:rPr>
              <a:t>汇编语言第四版</a:t>
            </a:r>
            <a:r>
              <a:rPr lang="en-US" altLang="zh-CN" sz="2400" dirty="0">
                <a:solidFill>
                  <a:schemeClr val="tx1"/>
                </a:solidFill>
                <a:latin typeface="黑体" panose="02010609060101010101" pitchFamily="49" charset="-122"/>
              </a:rPr>
              <a:t>》</a:t>
            </a:r>
            <a:r>
              <a:rPr lang="zh-CN" altLang="en-US" sz="2400" dirty="0">
                <a:solidFill>
                  <a:schemeClr val="tx1"/>
                </a:solidFill>
                <a:latin typeface="黑体" panose="02010609060101010101" pitchFamily="49" charset="-122"/>
              </a:rPr>
              <a:t>，王爽，清华大学出版社</a:t>
            </a:r>
          </a:p>
          <a:p>
            <a:pPr marL="550545" lvl="1" algn="just">
              <a:lnSpc>
                <a:spcPct val="130000"/>
              </a:lnSpc>
              <a:spcBef>
                <a:spcPts val="0"/>
              </a:spcBef>
              <a:spcAft>
                <a:spcPts val="0"/>
              </a:spcAft>
              <a:buClr>
                <a:srgbClr val="0000FF"/>
              </a:buClr>
              <a:buSzPct val="100000"/>
              <a:defRPr/>
            </a:pPr>
            <a:endParaRPr lang="en-US" altLang="zh-CN" sz="2800" dirty="0">
              <a:solidFill>
                <a:srgbClr val="000000"/>
              </a:solidFill>
              <a:latin typeface="黑体" panose="02010609060101010101" pitchFamily="49" charset="-122"/>
            </a:endParaRPr>
          </a:p>
          <a:p>
            <a:pPr marL="1007745" lvl="1" indent="-457200" algn="just">
              <a:lnSpc>
                <a:spcPct val="130000"/>
              </a:lnSpc>
              <a:spcBef>
                <a:spcPts val="0"/>
              </a:spcBef>
              <a:spcAft>
                <a:spcPts val="0"/>
              </a:spcAft>
              <a:buClr>
                <a:srgbClr val="0000FF"/>
              </a:buClr>
              <a:buSzPct val="85000"/>
              <a:buFont typeface="Wingdings" panose="05000000000000000000" pitchFamily="2" charset="2"/>
              <a:buChar char="ü"/>
              <a:defRPr/>
            </a:pPr>
            <a:endParaRPr lang="zh-CN" altLang="en-US" sz="2800" dirty="0">
              <a:solidFill>
                <a:srgbClr val="000000"/>
              </a:solidFill>
              <a:latin typeface="黑体" panose="02010609060101010101" pitchFamily="49" charset="-122"/>
            </a:endParaRPr>
          </a:p>
        </p:txBody>
      </p:sp>
      <p:sp>
        <p:nvSpPr>
          <p:cNvPr id="9"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教材与上机</a:t>
            </a:r>
          </a:p>
        </p:txBody>
      </p:sp>
      <p:cxnSp>
        <p:nvCxnSpPr>
          <p:cNvPr id="10" name="直接连接符 9"/>
          <p:cNvCxnSpPr/>
          <p:nvPr/>
        </p:nvCxnSpPr>
        <p:spPr bwMode="auto">
          <a:xfrm>
            <a:off x="142844" y="78197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4" name="图片 3"/>
          <p:cNvPicPr>
            <a:picLocks noChangeAspect="1"/>
          </p:cNvPicPr>
          <p:nvPr/>
        </p:nvPicPr>
        <p:blipFill>
          <a:blip r:embed="rId2"/>
          <a:stretch>
            <a:fillRect/>
          </a:stretch>
        </p:blipFill>
        <p:spPr>
          <a:xfrm>
            <a:off x="6155690" y="981710"/>
            <a:ext cx="2342515" cy="313563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课程性质</a:t>
            </a:r>
          </a:p>
        </p:txBody>
      </p:sp>
      <p:cxnSp>
        <p:nvCxnSpPr>
          <p:cNvPr id="10" name="直接连接符 9"/>
          <p:cNvCxnSpPr/>
          <p:nvPr/>
        </p:nvCxnSpPr>
        <p:spPr bwMode="auto">
          <a:xfrm>
            <a:off x="142844" y="72655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内容占位符 2"/>
          <p:cNvSpPr txBox="1"/>
          <p:nvPr/>
        </p:nvSpPr>
        <p:spPr>
          <a:xfrm>
            <a:off x="395536" y="692948"/>
            <a:ext cx="8136904" cy="590083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课程性质：</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计算机类专业的核心专业课程</a:t>
            </a:r>
            <a:endParaRPr lang="en-US" altLang="zh-CN" sz="2400" dirty="0">
              <a:solidFill>
                <a:srgbClr val="000000"/>
              </a:solidFill>
              <a:latin typeface="黑体" panose="02010609060101010101" pitchFamily="49" charset="-122"/>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技术性、实践性较强的底层编程课程</a:t>
            </a:r>
            <a:endParaRPr lang="en-US" altLang="zh-CN" sz="2400" dirty="0">
              <a:solidFill>
                <a:srgbClr val="000000"/>
              </a:solidFill>
              <a:latin typeface="黑体" panose="02010609060101010101" pitchFamily="49" charset="-122"/>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软硬件衔接的关键桥梁，是漏洞分析、逆向工程与系统安全</a:t>
            </a:r>
            <a:r>
              <a:rPr lang="zh-CN" altLang="en-US" sz="2400">
                <a:solidFill>
                  <a:srgbClr val="000000"/>
                </a:solidFill>
                <a:latin typeface="黑体" panose="02010609060101010101" pitchFamily="49" charset="-122"/>
              </a:rPr>
              <a:t>的基础</a:t>
            </a:r>
            <a:endParaRPr lang="en-US" altLang="zh-CN" sz="2400" dirty="0">
              <a:solidFill>
                <a:srgbClr val="000000"/>
              </a:solidFill>
              <a:latin typeface="黑体" panose="02010609060101010101" pitchFamily="49" charset="-122"/>
            </a:endParaRPr>
          </a:p>
          <a:p>
            <a:pPr marL="457200" lvl="0" indent="-457200" algn="just">
              <a:lnSpc>
                <a:spcPct val="130000"/>
              </a:lnSpc>
              <a:spcBef>
                <a:spcPts val="1200"/>
              </a:spcBef>
              <a:buClr>
                <a:srgbClr val="0000FF"/>
              </a:buClr>
              <a:buSzPct val="100000"/>
              <a:buFont typeface="Wingdings" panose="05000000000000000000" pitchFamily="2" charset="2"/>
              <a:buChar char="Ø"/>
              <a:defRPr/>
            </a:pPr>
            <a:r>
              <a:rPr lang="zh-CN" altLang="en-US" sz="2800" dirty="0">
                <a:latin typeface="+mn-lt"/>
              </a:rPr>
              <a:t>上机安排：</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上机：</a:t>
            </a:r>
            <a:r>
              <a:rPr lang="zh-CN" altLang="en-US" sz="2400" dirty="0">
                <a:solidFill>
                  <a:srgbClr val="00B050"/>
                </a:solidFill>
                <a:latin typeface="黑体" panose="02010609060101010101" pitchFamily="49" charset="-122"/>
              </a:rPr>
              <a:t>第</a:t>
            </a:r>
            <a:r>
              <a:rPr lang="en-US" altLang="zh-CN" sz="2400" dirty="0">
                <a:solidFill>
                  <a:srgbClr val="00B050"/>
                </a:solidFill>
                <a:latin typeface="黑体" panose="02010609060101010101" pitchFamily="49" charset="-122"/>
              </a:rPr>
              <a:t>6/7/8</a:t>
            </a:r>
            <a:r>
              <a:rPr lang="zh-CN" altLang="en-US" sz="2400" dirty="0">
                <a:solidFill>
                  <a:srgbClr val="00B050"/>
                </a:solidFill>
                <a:latin typeface="黑体" panose="02010609060101010101" pitchFamily="49" charset="-122"/>
              </a:rPr>
              <a:t>周</a:t>
            </a:r>
            <a:endParaRPr lang="en-US" altLang="zh-CN" sz="1800" dirty="0">
              <a:solidFill>
                <a:srgbClr val="000000"/>
              </a:solidFill>
              <a:latin typeface="黑体" panose="02010609060101010101" pitchFamily="49" charset="-122"/>
            </a:endParaRPr>
          </a:p>
          <a:p>
            <a:pPr marL="457200" marR="0" indent="-457200" algn="just" defTabSz="914400" latinLnBrk="0">
              <a:lnSpc>
                <a:spcPct val="130000"/>
              </a:lnSpc>
              <a:spcBef>
                <a:spcPts val="1200"/>
              </a:spcBef>
              <a:buClr>
                <a:srgbClr val="0000FF"/>
              </a:buClr>
              <a:buSzPct val="100000"/>
              <a:buFont typeface="Wingdings" panose="05000000000000000000" pitchFamily="2" charset="2"/>
              <a:buChar char="Ø"/>
              <a:defRPr/>
            </a:pPr>
            <a:r>
              <a:rPr lang="zh-CN" altLang="en-US" sz="2800" dirty="0">
                <a:latin typeface="+mn-lt"/>
              </a:rPr>
              <a:t>先修课程：</a:t>
            </a:r>
            <a:endParaRPr lang="en-US" altLang="zh-CN" sz="2800"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en-US" altLang="zh-CN" sz="2400" dirty="0">
                <a:solidFill>
                  <a:schemeClr val="tx1"/>
                </a:solidFill>
                <a:latin typeface="黑体" panose="02010609060101010101" pitchFamily="49" charset="-122"/>
              </a:rPr>
              <a:t>C</a:t>
            </a:r>
            <a:r>
              <a:rPr lang="zh-CN" altLang="en-US" sz="2400" dirty="0">
                <a:solidFill>
                  <a:schemeClr val="tx1"/>
                </a:solidFill>
                <a:latin typeface="黑体" panose="02010609060101010101" pitchFamily="49" charset="-122"/>
              </a:rPr>
              <a:t>语言程序设计：软件编程基础</a:t>
            </a: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B050"/>
                </a:solidFill>
                <a:latin typeface="黑体" panose="02010609060101010101" pitchFamily="49" charset="-122"/>
              </a:rPr>
              <a:t>计算机组成原理</a:t>
            </a:r>
            <a:r>
              <a:rPr lang="zh-CN" altLang="en-US" sz="2400" dirty="0">
                <a:solidFill>
                  <a:schemeClr val="tx1"/>
                </a:solidFill>
                <a:latin typeface="黑体" panose="02010609060101010101" pitchFamily="49" charset="-122"/>
              </a:rPr>
              <a:t>：计算机各部件的工作原理</a:t>
            </a:r>
            <a:endParaRPr lang="en-US" altLang="zh-CN" sz="2800" dirty="0">
              <a:solidFill>
                <a:srgbClr val="000000"/>
              </a:solidFill>
              <a:latin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课程学习必要性</a:t>
            </a:r>
            <a:endPar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6" name="直接连接符 5"/>
          <p:cNvCxnSpPr/>
          <p:nvPr/>
        </p:nvCxnSpPr>
        <p:spPr bwMode="auto">
          <a:xfrm>
            <a:off x="142844" y="63846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p:cNvSpPr txBox="1"/>
          <p:nvPr/>
        </p:nvSpPr>
        <p:spPr>
          <a:xfrm>
            <a:off x="268605" y="633730"/>
            <a:ext cx="8410575" cy="970915"/>
          </a:xfrm>
          <a:prstGeom prst="rect">
            <a:avLst/>
          </a:prstGeom>
        </p:spPr>
        <p:txBody>
          <a:bodyPr wrap="square">
            <a:spAutoFit/>
          </a:bodyPr>
          <a:lstStyle/>
          <a:p>
            <a:pPr marL="431800" lvl="1" indent="-431800" algn="just" latinLnBrk="0">
              <a:lnSpc>
                <a:spcPct val="130000"/>
              </a:lnSpc>
              <a:spcBef>
                <a:spcPts val="0"/>
              </a:spcBef>
              <a:spcAft>
                <a:spcPts val="0"/>
              </a:spcAft>
              <a:buClr>
                <a:srgbClr val="0000FF"/>
              </a:buClr>
              <a:buSzPct val="100000"/>
              <a:buFont typeface="Wingdings" panose="05000000000000000000" charset="0"/>
              <a:buChar char="Ø"/>
              <a:defRPr/>
            </a:pPr>
            <a:r>
              <a:rPr lang="zh-CN" altLang="en-US" sz="2200" b="0" i="0" dirty="0">
                <a:solidFill>
                  <a:srgbClr val="0000FF"/>
                </a:solidFill>
                <a:latin typeface="黑体" panose="02010609060101010101" pitchFamily="49" charset="-122"/>
              </a:rPr>
              <a:t>在当前的人工智能时代，网络空间安全专业为什么还必须学习汇编语言程序设计课程？</a:t>
            </a:r>
          </a:p>
        </p:txBody>
      </p:sp>
      <p:pic>
        <p:nvPicPr>
          <p:cNvPr id="3" name="图片 2"/>
          <p:cNvPicPr>
            <a:picLocks noChangeAspect="1"/>
          </p:cNvPicPr>
          <p:nvPr/>
        </p:nvPicPr>
        <p:blipFill>
          <a:blip r:embed="rId2"/>
          <a:stretch>
            <a:fillRect/>
          </a:stretch>
        </p:blipFill>
        <p:spPr>
          <a:xfrm>
            <a:off x="723900" y="1696720"/>
            <a:ext cx="7776210" cy="3018790"/>
          </a:xfrm>
          <a:prstGeom prst="rect">
            <a:avLst/>
          </a:prstGeom>
        </p:spPr>
      </p:pic>
      <p:pic>
        <p:nvPicPr>
          <p:cNvPr id="4" name="图片 3"/>
          <p:cNvPicPr>
            <a:picLocks noChangeAspect="1"/>
          </p:cNvPicPr>
          <p:nvPr/>
        </p:nvPicPr>
        <p:blipFill>
          <a:blip r:embed="rId3"/>
          <a:stretch>
            <a:fillRect/>
          </a:stretch>
        </p:blipFill>
        <p:spPr>
          <a:xfrm>
            <a:off x="683260" y="2134870"/>
            <a:ext cx="7827645" cy="2717165"/>
          </a:xfrm>
          <a:prstGeom prst="rect">
            <a:avLst/>
          </a:prstGeom>
        </p:spPr>
      </p:pic>
      <p:pic>
        <p:nvPicPr>
          <p:cNvPr id="9" name="图片 8"/>
          <p:cNvPicPr>
            <a:picLocks noChangeAspect="1"/>
          </p:cNvPicPr>
          <p:nvPr/>
        </p:nvPicPr>
        <p:blipFill>
          <a:blip r:embed="rId4"/>
          <a:stretch>
            <a:fillRect/>
          </a:stretch>
        </p:blipFill>
        <p:spPr>
          <a:xfrm>
            <a:off x="723900" y="2494915"/>
            <a:ext cx="7843520" cy="3082290"/>
          </a:xfrm>
          <a:prstGeom prst="rect">
            <a:avLst/>
          </a:prstGeom>
        </p:spPr>
      </p:pic>
      <p:pic>
        <p:nvPicPr>
          <p:cNvPr id="11" name="图片 10"/>
          <p:cNvPicPr>
            <a:picLocks noChangeAspect="1"/>
          </p:cNvPicPr>
          <p:nvPr/>
        </p:nvPicPr>
        <p:blipFill>
          <a:blip r:embed="rId5"/>
          <a:stretch>
            <a:fillRect/>
          </a:stretch>
        </p:blipFill>
        <p:spPr>
          <a:xfrm>
            <a:off x="714375" y="2854325"/>
            <a:ext cx="7867650" cy="2772410"/>
          </a:xfrm>
          <a:prstGeom prst="rect">
            <a:avLst/>
          </a:prstGeom>
        </p:spPr>
      </p:pic>
      <p:pic>
        <p:nvPicPr>
          <p:cNvPr id="12" name="图片 11"/>
          <p:cNvPicPr>
            <a:picLocks noChangeAspect="1"/>
          </p:cNvPicPr>
          <p:nvPr/>
        </p:nvPicPr>
        <p:blipFill>
          <a:blip r:embed="rId6"/>
          <a:stretch>
            <a:fillRect/>
          </a:stretch>
        </p:blipFill>
        <p:spPr>
          <a:xfrm>
            <a:off x="717550" y="3255645"/>
            <a:ext cx="7835900" cy="2477770"/>
          </a:xfrm>
          <a:prstGeom prst="rect">
            <a:avLst/>
          </a:prstGeom>
        </p:spPr>
      </p:pic>
      <p:pic>
        <p:nvPicPr>
          <p:cNvPr id="13" name="图片 12"/>
          <p:cNvPicPr>
            <a:picLocks noChangeAspect="1"/>
          </p:cNvPicPr>
          <p:nvPr/>
        </p:nvPicPr>
        <p:blipFill>
          <a:blip r:embed="rId7"/>
          <a:stretch>
            <a:fillRect/>
          </a:stretch>
        </p:blipFill>
        <p:spPr>
          <a:xfrm>
            <a:off x="755015" y="3595370"/>
            <a:ext cx="7755890" cy="3129915"/>
          </a:xfrm>
          <a:prstGeom prst="rect">
            <a:avLst/>
          </a:prstGeom>
          <a:ln w="6350">
            <a:solidFill>
              <a:schemeClr val="accent1"/>
            </a:solidFill>
          </a:ln>
        </p:spPr>
      </p:pic>
      <p:pic>
        <p:nvPicPr>
          <p:cNvPr id="14" name="图片 13"/>
          <p:cNvPicPr>
            <a:picLocks noChangeAspect="1"/>
          </p:cNvPicPr>
          <p:nvPr/>
        </p:nvPicPr>
        <p:blipFill>
          <a:blip r:embed="rId8"/>
          <a:stretch>
            <a:fillRect/>
          </a:stretch>
        </p:blipFill>
        <p:spPr>
          <a:xfrm>
            <a:off x="6691630" y="64770"/>
            <a:ext cx="2242185" cy="511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考核方式及学习方法</a:t>
            </a:r>
          </a:p>
        </p:txBody>
      </p:sp>
      <p:cxnSp>
        <p:nvCxnSpPr>
          <p:cNvPr id="5" name="直接连接符 4"/>
          <p:cNvCxnSpPr/>
          <p:nvPr/>
        </p:nvCxnSpPr>
        <p:spPr bwMode="auto">
          <a:xfrm>
            <a:off x="142844" y="78197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 name="矩形 5"/>
          <p:cNvSpPr/>
          <p:nvPr/>
        </p:nvSpPr>
        <p:spPr>
          <a:xfrm>
            <a:off x="537272" y="711550"/>
            <a:ext cx="7851152" cy="5518150"/>
          </a:xfrm>
          <a:prstGeom prst="rect">
            <a:avLst/>
          </a:prstGeom>
        </p:spPr>
        <p:txBody>
          <a:bodyPr wrap="square">
            <a:spAutoFit/>
          </a:bodyPr>
          <a:lstStyle/>
          <a:p>
            <a:pPr lvl="1" indent="-457200">
              <a:lnSpc>
                <a:spcPct val="150000"/>
              </a:lnSpc>
              <a:spcBef>
                <a:spcPts val="0"/>
              </a:spcBef>
              <a:spcAft>
                <a:spcPts val="0"/>
              </a:spcAft>
              <a:buClr>
                <a:srgbClr val="0000FF"/>
              </a:buClr>
              <a:buSzPct val="100000"/>
              <a:buFont typeface="Wingdings" panose="05000000000000000000" pitchFamily="2" charset="2"/>
              <a:buChar char="Ø"/>
              <a:defRPr/>
            </a:pPr>
            <a:r>
              <a:rPr lang="zh-CN" altLang="en-US" sz="2800" dirty="0"/>
              <a:t>考核方式：</a:t>
            </a:r>
            <a:endParaRPr lang="en-US" altLang="zh-CN" sz="2800" dirty="0"/>
          </a:p>
          <a:p>
            <a:pPr lvl="1" indent="-457200">
              <a:lnSpc>
                <a:spcPct val="150000"/>
              </a:lnSpc>
              <a:spcBef>
                <a:spcPts val="0"/>
              </a:spcBef>
              <a:spcAft>
                <a:spcPts val="0"/>
              </a:spcAft>
              <a:buClr>
                <a:srgbClr val="0000FF"/>
              </a:buClr>
              <a:buSzPct val="85000"/>
              <a:buFont typeface="Wingdings" panose="05000000000000000000" pitchFamily="2" charset="2"/>
              <a:buChar char="Ø"/>
              <a:defRPr/>
            </a:pPr>
            <a:endParaRPr lang="en-US" altLang="zh-CN" sz="3200" dirty="0">
              <a:solidFill>
                <a:srgbClr val="000000"/>
              </a:solidFill>
            </a:endParaRPr>
          </a:p>
          <a:p>
            <a:pPr lvl="1" indent="-457200">
              <a:lnSpc>
                <a:spcPct val="150000"/>
              </a:lnSpc>
              <a:spcBef>
                <a:spcPts val="0"/>
              </a:spcBef>
              <a:spcAft>
                <a:spcPts val="0"/>
              </a:spcAft>
              <a:buClr>
                <a:srgbClr val="0000FF"/>
              </a:buClr>
              <a:buSzPct val="85000"/>
              <a:buFont typeface="Wingdings" panose="05000000000000000000" pitchFamily="2" charset="2"/>
              <a:buChar char="Ø"/>
              <a:defRPr/>
            </a:pPr>
            <a:endParaRPr lang="en-US" altLang="zh-CN" sz="4000" dirty="0">
              <a:solidFill>
                <a:srgbClr val="000000"/>
              </a:solidFill>
            </a:endParaRPr>
          </a:p>
          <a:p>
            <a:pPr lvl="1" indent="-457200">
              <a:lnSpc>
                <a:spcPct val="150000"/>
              </a:lnSpc>
              <a:spcBef>
                <a:spcPts val="0"/>
              </a:spcBef>
              <a:spcAft>
                <a:spcPts val="0"/>
              </a:spcAft>
              <a:buClr>
                <a:srgbClr val="0000FF"/>
              </a:buClr>
              <a:buSzPct val="85000"/>
              <a:buFont typeface="Wingdings" panose="05000000000000000000" pitchFamily="2" charset="2"/>
              <a:buChar char="Ø"/>
              <a:defRPr/>
            </a:pPr>
            <a:endParaRPr lang="en-US" altLang="zh-CN" sz="2400" dirty="0">
              <a:solidFill>
                <a:srgbClr val="000000"/>
              </a:solidFill>
            </a:endParaRPr>
          </a:p>
          <a:p>
            <a:pPr lvl="1" indent="-457200" algn="just">
              <a:lnSpc>
                <a:spcPct val="150000"/>
              </a:lnSpc>
              <a:spcBef>
                <a:spcPts val="0"/>
              </a:spcBef>
              <a:spcAft>
                <a:spcPts val="0"/>
              </a:spcAft>
              <a:buClr>
                <a:srgbClr val="0000FF"/>
              </a:buClr>
              <a:buSzPct val="100000"/>
              <a:buFont typeface="Wingdings" panose="05000000000000000000" pitchFamily="2" charset="2"/>
              <a:buChar char="Ø"/>
              <a:defRPr/>
            </a:pPr>
            <a:r>
              <a:rPr lang="zh-CN" altLang="en-US" sz="2800" dirty="0"/>
              <a:t>实验报告及作业的要求</a:t>
            </a:r>
            <a:endParaRPr lang="en-US" altLang="zh-CN" sz="2400" b="1" dirty="0">
              <a:latin typeface="+mn-lt"/>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汇编实验的</a:t>
            </a:r>
            <a:r>
              <a:rPr lang="zh-CN" altLang="en-US" sz="2400" dirty="0">
                <a:solidFill>
                  <a:srgbClr val="FF0000"/>
                </a:solidFill>
                <a:highlight>
                  <a:srgbClr val="FFFF00"/>
                </a:highlight>
                <a:latin typeface="黑体" panose="02010609060101010101" pitchFamily="49" charset="-122"/>
              </a:rPr>
              <a:t>项目名称设置为姓名拼音</a:t>
            </a:r>
            <a:r>
              <a:rPr lang="zh-CN" altLang="en-US" sz="2400" dirty="0">
                <a:solidFill>
                  <a:srgbClr val="000000"/>
                </a:solidFill>
                <a:latin typeface="黑体" panose="02010609060101010101" pitchFamily="49" charset="-122"/>
              </a:rPr>
              <a:t>，实验报告要求有</a:t>
            </a:r>
            <a:r>
              <a:rPr lang="zh-CN" altLang="en-US" sz="2400" dirty="0">
                <a:solidFill>
                  <a:srgbClr val="FF0000"/>
                </a:solidFill>
                <a:latin typeface="黑体" panose="02010609060101010101" pitchFamily="49" charset="-122"/>
              </a:rPr>
              <a:t>充分的截图</a:t>
            </a:r>
            <a:r>
              <a:rPr lang="zh-CN" altLang="en-US" sz="2400" dirty="0">
                <a:solidFill>
                  <a:srgbClr val="000000"/>
                </a:solidFill>
                <a:latin typeface="黑体" panose="02010609060101010101" pitchFamily="49" charset="-122"/>
              </a:rPr>
              <a:t>，以及</a:t>
            </a:r>
            <a:r>
              <a:rPr lang="en-US" altLang="zh-CN" sz="2400" dirty="0">
                <a:solidFill>
                  <a:srgbClr val="000000"/>
                </a:solidFill>
                <a:latin typeface="黑体" panose="02010609060101010101" pitchFamily="49" charset="-122"/>
              </a:rPr>
              <a:t>“</a:t>
            </a:r>
            <a:r>
              <a:rPr lang="en-US" altLang="zh-CN" sz="2400" dirty="0">
                <a:solidFill>
                  <a:srgbClr val="FF0000"/>
                </a:solidFill>
                <a:latin typeface="黑体" panose="02010609060101010101" pitchFamily="49" charset="-122"/>
              </a:rPr>
              <a:t>AI</a:t>
            </a:r>
            <a:r>
              <a:rPr lang="zh-CN" altLang="en-US" sz="2400" dirty="0">
                <a:solidFill>
                  <a:srgbClr val="FF0000"/>
                </a:solidFill>
                <a:latin typeface="黑体" panose="02010609060101010101" pitchFamily="49" charset="-122"/>
              </a:rPr>
              <a:t>使用日志</a:t>
            </a:r>
            <a:r>
              <a:rPr lang="en-US" altLang="zh-CN" sz="2400" dirty="0">
                <a:solidFill>
                  <a:srgbClr val="000000"/>
                </a:solidFill>
                <a:latin typeface="黑体" panose="02010609060101010101" pitchFamily="49" charset="-122"/>
              </a:rPr>
              <a:t>”</a:t>
            </a:r>
            <a:r>
              <a:rPr lang="zh-CN" altLang="en-US" sz="2400" dirty="0">
                <a:solidFill>
                  <a:srgbClr val="000000"/>
                </a:solidFill>
                <a:latin typeface="黑体" panose="02010609060101010101" pitchFamily="49" charset="-122"/>
              </a:rPr>
              <a:t>说明</a:t>
            </a:r>
            <a:endParaRPr lang="en-US" altLang="zh-CN" sz="2400" dirty="0">
              <a:solidFill>
                <a:srgbClr val="000000"/>
              </a:solidFill>
              <a:latin typeface="黑体" panose="02010609060101010101" pitchFamily="49" charset="-122"/>
            </a:endParaRPr>
          </a:p>
          <a:p>
            <a:pPr marL="1007745" lvl="1" indent="-457200" algn="just">
              <a:lnSpc>
                <a:spcPct val="130000"/>
              </a:lnSpc>
              <a:spcBef>
                <a:spcPts val="0"/>
              </a:spcBef>
              <a:spcAft>
                <a:spcPts val="0"/>
              </a:spcAft>
              <a:buClr>
                <a:srgbClr val="0000FF"/>
              </a:buClr>
              <a:buSzPct val="100000"/>
              <a:buFont typeface="Wingdings" panose="05000000000000000000" pitchFamily="2" charset="2"/>
              <a:buChar char="ü"/>
              <a:defRPr/>
            </a:pPr>
            <a:r>
              <a:rPr lang="zh-CN" altLang="en-US" sz="2400" dirty="0">
                <a:solidFill>
                  <a:srgbClr val="000000"/>
                </a:solidFill>
                <a:latin typeface="黑体" panose="02010609060101010101" pitchFamily="49" charset="-122"/>
              </a:rPr>
              <a:t>实验过程中遇到的问题：写出解决过程，配以截图进行逐步说明</a:t>
            </a:r>
            <a:endParaRPr lang="zh-CN" altLang="en-US" sz="2400" dirty="0">
              <a:solidFill>
                <a:srgbClr val="FF0000"/>
              </a:solidFill>
              <a:latin typeface="黑体" panose="02010609060101010101" pitchFamily="49" charset="-122"/>
            </a:endParaRPr>
          </a:p>
        </p:txBody>
      </p:sp>
      <p:graphicFrame>
        <p:nvGraphicFramePr>
          <p:cNvPr id="3" name="表格 2"/>
          <p:cNvGraphicFramePr>
            <a:graphicFrameLocks noGrp="1"/>
          </p:cNvGraphicFramePr>
          <p:nvPr/>
        </p:nvGraphicFramePr>
        <p:xfrm>
          <a:off x="1115616" y="1443936"/>
          <a:ext cx="7272808" cy="2049236"/>
        </p:xfrm>
        <a:graphic>
          <a:graphicData uri="http://schemas.openxmlformats.org/drawingml/2006/table">
            <a:tbl>
              <a:tblPr firstRow="1" bandRow="1">
                <a:tableStyleId>{5C22544A-7EE6-4342-B048-85BDC9FD1C3A}</a:tableStyleId>
              </a:tblPr>
              <a:tblGrid>
                <a:gridCol w="2924119">
                  <a:extLst>
                    <a:ext uri="{9D8B030D-6E8A-4147-A177-3AD203B41FA5}">
                      <a16:colId xmlns:a16="http://schemas.microsoft.com/office/drawing/2014/main" val="20000"/>
                    </a:ext>
                  </a:extLst>
                </a:gridCol>
                <a:gridCol w="4348689">
                  <a:extLst>
                    <a:ext uri="{9D8B030D-6E8A-4147-A177-3AD203B41FA5}">
                      <a16:colId xmlns:a16="http://schemas.microsoft.com/office/drawing/2014/main" val="20001"/>
                    </a:ext>
                  </a:extLst>
                </a:gridCol>
              </a:tblGrid>
              <a:tr h="436456">
                <a:tc>
                  <a:txBody>
                    <a:bodyPr/>
                    <a:lstStyle/>
                    <a:p>
                      <a:pPr algn="ctr">
                        <a:spcBef>
                          <a:spcPts val="600"/>
                        </a:spcBef>
                        <a:spcAft>
                          <a:spcPts val="0"/>
                        </a:spcAft>
                      </a:pPr>
                      <a:endParaRPr kumimoji="1" lang="en-US" altLang="zh-CN" sz="100" b="1" kern="1200" dirty="0">
                        <a:solidFill>
                          <a:schemeClr val="bg1"/>
                        </a:solidFill>
                        <a:latin typeface="Times New Roman" panose="02020603050405020304" pitchFamily="18" charset="0"/>
                        <a:ea typeface="黑体" panose="02010609060101010101" pitchFamily="49" charset="-122"/>
                        <a:cs typeface="+mn-cs"/>
                      </a:endParaRPr>
                    </a:p>
                    <a:p>
                      <a:pPr algn="ctr">
                        <a:spcBef>
                          <a:spcPts val="300"/>
                        </a:spcBef>
                        <a:spcAft>
                          <a:spcPts val="0"/>
                        </a:spcAft>
                      </a:pPr>
                      <a:r>
                        <a:rPr kumimoji="1" lang="zh-CN" altLang="zh-CN" sz="2400" b="1" kern="1200" dirty="0">
                          <a:solidFill>
                            <a:schemeClr val="bg1"/>
                          </a:solidFill>
                          <a:latin typeface="Times New Roman" panose="02020603050405020304" pitchFamily="18" charset="0"/>
                          <a:ea typeface="黑体" panose="02010609060101010101" pitchFamily="49" charset="-122"/>
                          <a:cs typeface="+mn-cs"/>
                        </a:rPr>
                        <a:t>成绩评定</a:t>
                      </a:r>
                    </a:p>
                  </a:txBody>
                  <a:tcPr/>
                </a:tc>
                <a:tc>
                  <a:txBody>
                    <a:bodyPr/>
                    <a:lstStyle/>
                    <a:p>
                      <a:pPr algn="ctr"/>
                      <a:endParaRPr kumimoji="1" lang="en-US" altLang="zh-CN" sz="100" b="1" kern="1200" dirty="0">
                        <a:solidFill>
                          <a:schemeClr val="bg1"/>
                        </a:solidFill>
                        <a:latin typeface="Times New Roman" panose="02020603050405020304" pitchFamily="18" charset="0"/>
                        <a:ea typeface="黑体" panose="02010609060101010101" pitchFamily="49" charset="-122"/>
                        <a:cs typeface="+mn-cs"/>
                      </a:endParaRPr>
                    </a:p>
                    <a:p>
                      <a:pPr algn="ctr">
                        <a:spcBef>
                          <a:spcPts val="300"/>
                        </a:spcBef>
                      </a:pPr>
                      <a:r>
                        <a:rPr kumimoji="1" lang="zh-CN" altLang="en-US" sz="2400" b="1" kern="1200" dirty="0">
                          <a:solidFill>
                            <a:schemeClr val="bg1"/>
                          </a:solidFill>
                          <a:latin typeface="Times New Roman" panose="02020603050405020304" pitchFamily="18" charset="0"/>
                          <a:ea typeface="黑体" panose="02010609060101010101" pitchFamily="49" charset="-122"/>
                          <a:cs typeface="+mn-cs"/>
                        </a:rPr>
                        <a:t>评价环节</a:t>
                      </a:r>
                    </a:p>
                  </a:txBody>
                  <a:tcPr/>
                </a:tc>
                <a:extLst>
                  <a:ext uri="{0D108BD9-81ED-4DB2-BD59-A6C34878D82A}">
                    <a16:rowId xmlns:a16="http://schemas.microsoft.com/office/drawing/2014/main" val="10000"/>
                  </a:ext>
                </a:extLst>
              </a:tr>
              <a:tr h="479388">
                <a:tc>
                  <a:txBody>
                    <a:bodyPr/>
                    <a:lstStyle/>
                    <a:p>
                      <a:pPr marL="0" marR="0" lvl="0" indent="0" algn="ctr" defTabSz="914400" rtl="0" eaLnBrk="1" fontAlgn="auto" latinLnBrk="0" hangingPunct="1">
                        <a:lnSpc>
                          <a:spcPct val="100000"/>
                        </a:lnSpc>
                        <a:spcBef>
                          <a:spcPts val="300"/>
                        </a:spcBef>
                        <a:spcAft>
                          <a:spcPts val="0"/>
                        </a:spcAft>
                        <a:buClrTx/>
                        <a:buSzTx/>
                        <a:buFontTx/>
                        <a:buNone/>
                        <a:defRPr/>
                      </a:pPr>
                      <a:endParaRPr kumimoji="1" lang="en-US" altLang="zh-CN" sz="100" kern="1200" noProof="0" dirty="0">
                        <a:solidFill>
                          <a:schemeClr val="bg2"/>
                        </a:solidFill>
                        <a:latin typeface="Times New Roman" panose="02020603050405020304" pitchFamily="18" charset="0"/>
                        <a:ea typeface="黑体" panose="02010609060101010101" pitchFamily="49" charset="-122"/>
                        <a:cs typeface="+mn-cs"/>
                      </a:endParaRPr>
                    </a:p>
                    <a:p>
                      <a:pPr marL="0" marR="0" lvl="0" indent="0" algn="ctr" defTabSz="914400" rtl="0" eaLnBrk="1" fontAlgn="auto" latinLnBrk="0" hangingPunct="1">
                        <a:lnSpc>
                          <a:spcPct val="100000"/>
                        </a:lnSpc>
                        <a:spcBef>
                          <a:spcPts val="600"/>
                        </a:spcBef>
                        <a:spcAft>
                          <a:spcPts val="0"/>
                        </a:spcAft>
                        <a:buClrTx/>
                        <a:buSzTx/>
                        <a:buFontTx/>
                        <a:buNone/>
                        <a:defRPr/>
                      </a:pPr>
                      <a:r>
                        <a:rPr kumimoji="1" lang="zh-CN" altLang="zh-CN" sz="2200" kern="1200" noProof="0" dirty="0">
                          <a:solidFill>
                            <a:schemeClr val="bg2"/>
                          </a:solidFill>
                          <a:latin typeface="Times New Roman" panose="02020603050405020304" pitchFamily="18" charset="0"/>
                          <a:ea typeface="黑体" panose="02010609060101010101" pitchFamily="49" charset="-122"/>
                          <a:cs typeface="+mn-cs"/>
                        </a:rPr>
                        <a:t>平时成绩（</a:t>
                      </a:r>
                      <a:r>
                        <a:rPr kumimoji="1" lang="en-US" altLang="zh-CN" sz="2200" kern="1200" noProof="0">
                          <a:solidFill>
                            <a:schemeClr val="bg2"/>
                          </a:solidFill>
                          <a:latin typeface="Times New Roman" panose="02020603050405020304" pitchFamily="18" charset="0"/>
                          <a:ea typeface="黑体" panose="02010609060101010101" pitchFamily="49" charset="-122"/>
                          <a:cs typeface="+mn-cs"/>
                        </a:rPr>
                        <a:t>15%</a:t>
                      </a:r>
                      <a:r>
                        <a:rPr kumimoji="1" lang="zh-CN" altLang="zh-CN" sz="2200" kern="1200" noProof="0" dirty="0">
                          <a:solidFill>
                            <a:schemeClr val="bg2"/>
                          </a:solidFill>
                          <a:latin typeface="Times New Roman" panose="02020603050405020304" pitchFamily="18" charset="0"/>
                          <a:ea typeface="黑体" panose="02010609060101010101" pitchFamily="49" charset="-122"/>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00" kern="1200" noProof="0" dirty="0">
                        <a:solidFill>
                          <a:schemeClr val="bg2"/>
                        </a:solidFill>
                        <a:latin typeface="Times New Roman" panose="02020603050405020304" pitchFamily="18" charset="0"/>
                        <a:ea typeface="黑体" panose="02010609060101010101" pitchFamily="49" charset="-122"/>
                        <a:cs typeface="+mn-cs"/>
                      </a:endParaRPr>
                    </a:p>
                    <a:p>
                      <a:pPr marL="0" marR="0" lvl="0" indent="0" algn="l" defTabSz="914400" rtl="0" eaLnBrk="1" fontAlgn="auto" latinLnBrk="0" hangingPunct="1">
                        <a:lnSpc>
                          <a:spcPct val="100000"/>
                        </a:lnSpc>
                        <a:spcBef>
                          <a:spcPts val="600"/>
                        </a:spcBef>
                        <a:spcAft>
                          <a:spcPts val="0"/>
                        </a:spcAft>
                        <a:buClrTx/>
                        <a:buSzTx/>
                        <a:buFontTx/>
                        <a:buNone/>
                        <a:defRPr/>
                      </a:pPr>
                      <a:r>
                        <a:rPr kumimoji="1" lang="zh-CN" altLang="en-US" sz="2200" kern="1200" noProof="0" dirty="0">
                          <a:solidFill>
                            <a:schemeClr val="bg2"/>
                          </a:solidFill>
                          <a:latin typeface="Times New Roman" panose="02020603050405020304" pitchFamily="18" charset="0"/>
                          <a:ea typeface="黑体" panose="02010609060101010101" pitchFamily="49" charset="-122"/>
                          <a:cs typeface="+mn-cs"/>
                        </a:rPr>
                        <a:t>考勤</a:t>
                      </a:r>
                      <a:r>
                        <a:rPr kumimoji="1" lang="en-US" altLang="zh-CN" sz="2200" kern="1200" noProof="0" dirty="0">
                          <a:solidFill>
                            <a:schemeClr val="bg2"/>
                          </a:solidFill>
                          <a:latin typeface="Times New Roman" panose="02020603050405020304" pitchFamily="18" charset="0"/>
                          <a:ea typeface="黑体" panose="02010609060101010101" pitchFamily="49" charset="-122"/>
                          <a:cs typeface="+mn-cs"/>
                        </a:rPr>
                        <a:t>&amp;</a:t>
                      </a:r>
                      <a:r>
                        <a:rPr kumimoji="1" lang="zh-CN" altLang="en-US" sz="2200" kern="1200" noProof="0" dirty="0">
                          <a:solidFill>
                            <a:schemeClr val="bg2"/>
                          </a:solidFill>
                          <a:latin typeface="Times New Roman" panose="02020603050405020304" pitchFamily="18" charset="0"/>
                          <a:ea typeface="黑体" panose="02010609060101010101" pitchFamily="49" charset="-122"/>
                          <a:cs typeface="+mn-cs"/>
                        </a:rPr>
                        <a:t>课后小实验作业</a:t>
                      </a:r>
                      <a:endParaRPr kumimoji="1" lang="zh-CN" altLang="zh-CN" sz="2200" kern="1200" noProof="0" dirty="0">
                        <a:solidFill>
                          <a:schemeClr val="bg2"/>
                        </a:solidFill>
                        <a:latin typeface="Times New Roman" panose="02020603050405020304" pitchFamily="18" charset="0"/>
                        <a:ea typeface="黑体" panose="02010609060101010101" pitchFamily="49" charset="-122"/>
                        <a:cs typeface="+mn-cs"/>
                      </a:endParaRPr>
                    </a:p>
                  </a:txBody>
                  <a:tcPr/>
                </a:tc>
                <a:extLst>
                  <a:ext uri="{0D108BD9-81ED-4DB2-BD59-A6C34878D82A}">
                    <a16:rowId xmlns:a16="http://schemas.microsoft.com/office/drawing/2014/main" val="10001"/>
                  </a:ext>
                </a:extLst>
              </a:tr>
              <a:tr h="511892">
                <a:tc>
                  <a:txBody>
                    <a:bodyPr/>
                    <a:lstStyle/>
                    <a:p>
                      <a:pPr algn="ctr">
                        <a:spcAft>
                          <a:spcPts val="0"/>
                        </a:spcAft>
                      </a:pP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实验成绩（</a:t>
                      </a:r>
                      <a:r>
                        <a:rPr kumimoji="1" lang="en-US" sz="2200" kern="1200" dirty="0">
                          <a:solidFill>
                            <a:schemeClr val="bg2"/>
                          </a:solidFill>
                          <a:latin typeface="Times New Roman" panose="02020603050405020304" pitchFamily="18" charset="0"/>
                          <a:ea typeface="黑体" panose="02010609060101010101" pitchFamily="49" charset="-122"/>
                          <a:cs typeface="+mn-cs"/>
                        </a:rPr>
                        <a:t>15%</a:t>
                      </a: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a:t>
                      </a:r>
                    </a:p>
                  </a:txBody>
                  <a:tcPr marL="68589" marR="68589" marT="0" marB="0" anchor="ctr"/>
                </a:tc>
                <a:tc>
                  <a:txBody>
                    <a:bodyPr/>
                    <a:lstStyle/>
                    <a:p>
                      <a:pPr algn="l">
                        <a:spcAft>
                          <a:spcPts val="0"/>
                        </a:spcAft>
                      </a:pP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汇编语言程序设计实验</a:t>
                      </a:r>
                    </a:p>
                  </a:txBody>
                  <a:tcPr marL="68589" marR="68589" marT="0" marB="0" anchor="ctr"/>
                </a:tc>
                <a:extLst>
                  <a:ext uri="{0D108BD9-81ED-4DB2-BD59-A6C34878D82A}">
                    <a16:rowId xmlns:a16="http://schemas.microsoft.com/office/drawing/2014/main" val="10002"/>
                  </a:ext>
                </a:extLst>
              </a:tr>
              <a:tr h="508644">
                <a:tc>
                  <a:txBody>
                    <a:bodyPr/>
                    <a:lstStyle/>
                    <a:p>
                      <a:pPr algn="ctr">
                        <a:spcAft>
                          <a:spcPts val="0"/>
                        </a:spcAft>
                      </a:pP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期终考试（</a:t>
                      </a:r>
                      <a:r>
                        <a:rPr kumimoji="1" lang="en-US" sz="2200" kern="1200" dirty="0">
                          <a:solidFill>
                            <a:schemeClr val="bg2"/>
                          </a:solidFill>
                          <a:latin typeface="Times New Roman" panose="02020603050405020304" pitchFamily="18" charset="0"/>
                          <a:ea typeface="黑体" panose="02010609060101010101" pitchFamily="49" charset="-122"/>
                          <a:cs typeface="+mn-cs"/>
                        </a:rPr>
                        <a:t>70%</a:t>
                      </a: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a:t>
                      </a:r>
                    </a:p>
                  </a:txBody>
                  <a:tcPr marL="68589" marR="68589" marT="0" marB="0" anchor="ctr"/>
                </a:tc>
                <a:tc>
                  <a:txBody>
                    <a:bodyPr/>
                    <a:lstStyle/>
                    <a:p>
                      <a:pPr algn="l">
                        <a:spcAft>
                          <a:spcPts val="0"/>
                        </a:spcAft>
                      </a:pPr>
                      <a:r>
                        <a:rPr kumimoji="1" lang="zh-CN" altLang="en-US" sz="2200" kern="1200" dirty="0">
                          <a:solidFill>
                            <a:schemeClr val="bg2"/>
                          </a:solidFill>
                          <a:latin typeface="Times New Roman" panose="02020603050405020304" pitchFamily="18" charset="0"/>
                          <a:ea typeface="黑体" panose="02010609060101010101" pitchFamily="49" charset="-122"/>
                          <a:cs typeface="+mn-cs"/>
                        </a:rPr>
                        <a:t>闭卷考试</a:t>
                      </a:r>
                    </a:p>
                  </a:txBody>
                  <a:tcPr marL="68589" marR="68589" marT="0" marB="0" anchor="ct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p:cNvSpPr txBox="1"/>
          <p:nvPr/>
        </p:nvSpPr>
        <p:spPr>
          <a:xfrm>
            <a:off x="887730" y="857250"/>
            <a:ext cx="7501255" cy="5548630"/>
          </a:xfrm>
          <a:prstGeom prst="rect">
            <a:avLst/>
          </a:prstGeom>
        </p:spPr>
        <p:txBody>
          <a:bodyPr/>
          <a:lstStyle/>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rgbClr val="0000FF"/>
                </a:solidFill>
                <a:latin typeface="黑体" panose="02010609060101010101" pitchFamily="49" charset="-122"/>
              </a:rPr>
              <a:t>第</a:t>
            </a:r>
            <a:r>
              <a:rPr lang="en-US" altLang="zh-CN" sz="2400" dirty="0">
                <a:solidFill>
                  <a:srgbClr val="0000FF"/>
                </a:solidFill>
                <a:latin typeface="黑体" panose="02010609060101010101" pitchFamily="49" charset="-122"/>
              </a:rPr>
              <a:t>1</a:t>
            </a:r>
            <a:r>
              <a:rPr lang="zh-CN" altLang="en-US" sz="2400" dirty="0">
                <a:solidFill>
                  <a:srgbClr val="0000FF"/>
                </a:solidFill>
                <a:latin typeface="黑体" panose="02010609060101010101" pitchFamily="49" charset="-122"/>
              </a:rPr>
              <a:t>章	汇编语言基础（寄存器）</a:t>
            </a: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rgbClr val="0000FF"/>
                </a:solidFill>
                <a:latin typeface="黑体" panose="02010609060101010101" pitchFamily="49" charset="-122"/>
              </a:rPr>
              <a:t>第</a:t>
            </a:r>
            <a:r>
              <a:rPr lang="en-US" altLang="zh-CN" sz="2400" dirty="0">
                <a:solidFill>
                  <a:srgbClr val="0000FF"/>
                </a:solidFill>
                <a:latin typeface="黑体" panose="02010609060101010101" pitchFamily="49" charset="-122"/>
              </a:rPr>
              <a:t>2</a:t>
            </a:r>
            <a:r>
              <a:rPr lang="zh-CN" altLang="en-US" sz="2400" dirty="0">
                <a:solidFill>
                  <a:srgbClr val="0000FF"/>
                </a:solidFill>
                <a:latin typeface="黑体" panose="02010609060101010101" pitchFamily="49" charset="-122"/>
              </a:rPr>
              <a:t>章	数据表示和寻址</a:t>
            </a:r>
            <a:r>
              <a:rPr lang="en-US" altLang="zh-CN" sz="2400" dirty="0">
                <a:solidFill>
                  <a:srgbClr val="0000FF"/>
                </a:solidFill>
                <a:latin typeface="黑体" panose="02010609060101010101" pitchFamily="49" charset="-122"/>
              </a:rPr>
              <a:t>(</a:t>
            </a:r>
            <a:r>
              <a:rPr lang="zh-CN" altLang="en-US" sz="2400" dirty="0">
                <a:solidFill>
                  <a:srgbClr val="0000FF"/>
                </a:solidFill>
                <a:latin typeface="黑体" panose="02010609060101010101" pitchFamily="49" charset="-122"/>
              </a:rPr>
              <a:t>常量变量、寻址方式</a:t>
            </a:r>
            <a:r>
              <a:rPr lang="en-US" altLang="zh-CN" sz="2400" dirty="0">
                <a:solidFill>
                  <a:srgbClr val="0000FF"/>
                </a:solidFill>
                <a:latin typeface="黑体" panose="02010609060101010101" pitchFamily="49" charset="-122"/>
              </a:rPr>
              <a:t>)</a:t>
            </a:r>
            <a:endParaRPr lang="zh-CN" altLang="en-US" sz="2400" dirty="0">
              <a:solidFill>
                <a:srgbClr val="0000FF"/>
              </a:solidFill>
              <a:latin typeface="黑体" panose="02010609060101010101" pitchFamily="49" charset="-122"/>
            </a:endParaRP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rgbClr val="0000FF"/>
                </a:solidFill>
                <a:latin typeface="黑体" panose="02010609060101010101" pitchFamily="49" charset="-122"/>
              </a:rPr>
              <a:t>第</a:t>
            </a:r>
            <a:r>
              <a:rPr lang="en-US" altLang="zh-CN" sz="2400" dirty="0">
                <a:solidFill>
                  <a:srgbClr val="0000FF"/>
                </a:solidFill>
                <a:latin typeface="黑体" panose="02010609060101010101" pitchFamily="49" charset="-122"/>
              </a:rPr>
              <a:t>3</a:t>
            </a:r>
            <a:r>
              <a:rPr lang="zh-CN" altLang="en-US" sz="2400" dirty="0">
                <a:solidFill>
                  <a:srgbClr val="0000FF"/>
                </a:solidFill>
                <a:latin typeface="黑体" panose="02010609060101010101" pitchFamily="49" charset="-122"/>
              </a:rPr>
              <a:t>章	通用数据处理指令（传送、运算、位操作）</a:t>
            </a: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rgbClr val="0000FF"/>
                </a:solidFill>
                <a:latin typeface="黑体" panose="02010609060101010101" pitchFamily="49" charset="-122"/>
              </a:rPr>
              <a:t>第</a:t>
            </a:r>
            <a:r>
              <a:rPr lang="en-US" altLang="zh-CN" sz="2400" dirty="0">
                <a:solidFill>
                  <a:srgbClr val="0000FF"/>
                </a:solidFill>
                <a:latin typeface="黑体" panose="02010609060101010101" pitchFamily="49" charset="-122"/>
              </a:rPr>
              <a:t>4</a:t>
            </a:r>
            <a:r>
              <a:rPr lang="zh-CN" altLang="en-US" sz="2400" dirty="0">
                <a:solidFill>
                  <a:srgbClr val="0000FF"/>
                </a:solidFill>
                <a:latin typeface="黑体" panose="02010609060101010101" pitchFamily="49" charset="-122"/>
              </a:rPr>
              <a:t>章	程序结构（</a:t>
            </a:r>
            <a:r>
              <a:rPr lang="zh-CN" altLang="en-US" sz="2400" dirty="0">
                <a:solidFill>
                  <a:srgbClr val="FF0000"/>
                </a:solidFill>
                <a:latin typeface="黑体" panose="02010609060101010101" pitchFamily="49" charset="-122"/>
              </a:rPr>
              <a:t>分支、循环</a:t>
            </a:r>
            <a:r>
              <a:rPr lang="zh-CN" altLang="en-US" sz="2400" dirty="0">
                <a:solidFill>
                  <a:srgbClr val="0000FF"/>
                </a:solidFill>
                <a:latin typeface="黑体" panose="02010609060101010101" pitchFamily="49" charset="-122"/>
              </a:rPr>
              <a:t>）</a:t>
            </a: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rgbClr val="0000FF"/>
                </a:solidFill>
                <a:latin typeface="黑体" panose="02010609060101010101" pitchFamily="49" charset="-122"/>
              </a:rPr>
              <a:t>第</a:t>
            </a:r>
            <a:r>
              <a:rPr lang="en-US" altLang="zh-CN" sz="2400" dirty="0">
                <a:solidFill>
                  <a:srgbClr val="0000FF"/>
                </a:solidFill>
                <a:latin typeface="黑体" panose="02010609060101010101" pitchFamily="49" charset="-122"/>
              </a:rPr>
              <a:t>5</a:t>
            </a:r>
            <a:r>
              <a:rPr lang="zh-CN" altLang="en-US" sz="2400" dirty="0">
                <a:solidFill>
                  <a:srgbClr val="0000FF"/>
                </a:solidFill>
                <a:latin typeface="黑体" panose="02010609060101010101" pitchFamily="49" charset="-122"/>
              </a:rPr>
              <a:t>章	模块化程序设计（</a:t>
            </a:r>
            <a:r>
              <a:rPr lang="zh-CN" altLang="en-US" sz="2400" dirty="0">
                <a:solidFill>
                  <a:srgbClr val="FF0000"/>
                </a:solidFill>
                <a:latin typeface="黑体" panose="02010609060101010101" pitchFamily="49" charset="-122"/>
              </a:rPr>
              <a:t>子程序</a:t>
            </a:r>
            <a:r>
              <a:rPr lang="zh-CN" altLang="en-US" sz="2400" dirty="0">
                <a:solidFill>
                  <a:srgbClr val="0000FF"/>
                </a:solidFill>
                <a:latin typeface="黑体" panose="02010609060101010101" pitchFamily="49" charset="-122"/>
              </a:rPr>
              <a:t>）</a:t>
            </a: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dirty="0">
                <a:solidFill>
                  <a:schemeClr val="bg2">
                    <a:lumMod val="60000"/>
                    <a:lumOff val="40000"/>
                  </a:schemeClr>
                </a:solidFill>
                <a:latin typeface="黑体" panose="02010609060101010101" pitchFamily="49" charset="-122"/>
              </a:rPr>
              <a:t>第</a:t>
            </a:r>
            <a:r>
              <a:rPr lang="en-US" altLang="zh-CN" sz="2400" dirty="0">
                <a:solidFill>
                  <a:schemeClr val="bg2">
                    <a:lumMod val="60000"/>
                    <a:lumOff val="40000"/>
                  </a:schemeClr>
                </a:solidFill>
                <a:latin typeface="黑体" panose="02010609060101010101" pitchFamily="49" charset="-122"/>
              </a:rPr>
              <a:t>6</a:t>
            </a:r>
            <a:r>
              <a:rPr lang="zh-CN" altLang="en-US" sz="2400" dirty="0">
                <a:solidFill>
                  <a:schemeClr val="bg2">
                    <a:lumMod val="60000"/>
                    <a:lumOff val="40000"/>
                  </a:schemeClr>
                </a:solidFill>
                <a:latin typeface="黑体" panose="02010609060101010101" pitchFamily="49" charset="-122"/>
              </a:rPr>
              <a:t>章	</a:t>
            </a:r>
            <a:r>
              <a:rPr lang="en-US" altLang="zh-CN" sz="2400" dirty="0">
                <a:solidFill>
                  <a:schemeClr val="bg2">
                    <a:lumMod val="60000"/>
                    <a:lumOff val="40000"/>
                  </a:schemeClr>
                </a:solidFill>
                <a:latin typeface="黑体" panose="02010609060101010101" pitchFamily="49" charset="-122"/>
              </a:rPr>
              <a:t>Windows</a:t>
            </a:r>
            <a:r>
              <a:rPr lang="zh-CN" altLang="en-US" sz="2400" dirty="0">
                <a:solidFill>
                  <a:schemeClr val="bg2">
                    <a:lumMod val="60000"/>
                    <a:lumOff val="40000"/>
                  </a:schemeClr>
                </a:solidFill>
                <a:latin typeface="黑体" panose="02010609060101010101" pitchFamily="49" charset="-122"/>
              </a:rPr>
              <a:t>编程</a:t>
            </a:r>
          </a:p>
          <a:p>
            <a:pPr marL="457200" indent="-457200" algn="just" eaLnBrk="1" latinLnBrk="0" hangingPunct="1">
              <a:lnSpc>
                <a:spcPct val="150000"/>
              </a:lnSpc>
              <a:spcBef>
                <a:spcPts val="200"/>
              </a:spcBef>
              <a:spcAft>
                <a:spcPts val="200"/>
              </a:spcAft>
              <a:buClrTx/>
              <a:buSzTx/>
              <a:buFont typeface="Wingdings" panose="05000000000000000000" pitchFamily="2" charset="2"/>
              <a:buChar char="Ø"/>
            </a:pPr>
            <a:r>
              <a:rPr lang="zh-CN" altLang="en-US" sz="2400" dirty="0">
                <a:solidFill>
                  <a:schemeClr val="bg2">
                    <a:lumMod val="60000"/>
                    <a:lumOff val="40000"/>
                  </a:schemeClr>
                </a:solidFill>
                <a:latin typeface="黑体" panose="02010609060101010101" pitchFamily="49" charset="-122"/>
              </a:rPr>
              <a:t>第7章	与Visual C++混合编程</a:t>
            </a:r>
          </a:p>
          <a:p>
            <a:pPr marL="457200" indent="-457200" algn="just" eaLnBrk="1" latinLnBrk="0" hangingPunct="1">
              <a:lnSpc>
                <a:spcPct val="150000"/>
              </a:lnSpc>
              <a:spcBef>
                <a:spcPts val="200"/>
              </a:spcBef>
              <a:spcAft>
                <a:spcPts val="200"/>
              </a:spcAft>
              <a:buClrTx/>
              <a:buSzTx/>
              <a:buFont typeface="Wingdings" panose="05000000000000000000" pitchFamily="2" charset="2"/>
              <a:buChar char="Ø"/>
            </a:pPr>
            <a:r>
              <a:rPr lang="zh-CN" sz="2400" strike="sngStrike" dirty="0">
                <a:solidFill>
                  <a:schemeClr val="bg2">
                    <a:lumMod val="20000"/>
                    <a:lumOff val="80000"/>
                  </a:schemeClr>
                </a:solidFill>
                <a:latin typeface="黑体" panose="02010609060101010101" pitchFamily="49" charset="-122"/>
              </a:rPr>
              <a:t>第8章	DOS环境程序设计</a:t>
            </a:r>
          </a:p>
          <a:p>
            <a:pPr marL="457200" indent="-457200" algn="just" eaLnBrk="1" latinLnBrk="0" hangingPunct="1">
              <a:lnSpc>
                <a:spcPct val="150000"/>
              </a:lnSpc>
              <a:spcBef>
                <a:spcPts val="200"/>
              </a:spcBef>
              <a:spcAft>
                <a:spcPts val="200"/>
              </a:spcAft>
              <a:buSzPct val="100000"/>
              <a:buFont typeface="Wingdings" panose="05000000000000000000" pitchFamily="2" charset="2"/>
              <a:buChar char="Ø"/>
            </a:pPr>
            <a:r>
              <a:rPr lang="zh-CN" altLang="en-US" sz="2400" strike="sngStrike" dirty="0">
                <a:solidFill>
                  <a:schemeClr val="bg2">
                    <a:lumMod val="20000"/>
                    <a:lumOff val="80000"/>
                  </a:schemeClr>
                </a:solidFill>
                <a:latin typeface="黑体" panose="02010609060101010101" pitchFamily="49" charset="-122"/>
                <a:sym typeface="+mn-ea"/>
              </a:rPr>
              <a:t>第</a:t>
            </a:r>
            <a:r>
              <a:rPr lang="en-US" altLang="zh-CN" sz="2400" strike="sngStrike" dirty="0">
                <a:solidFill>
                  <a:schemeClr val="bg2">
                    <a:lumMod val="20000"/>
                    <a:lumOff val="80000"/>
                  </a:schemeClr>
                </a:solidFill>
                <a:latin typeface="黑体" panose="02010609060101010101" pitchFamily="49" charset="-122"/>
                <a:sym typeface="+mn-ea"/>
              </a:rPr>
              <a:t>9</a:t>
            </a:r>
            <a:r>
              <a:rPr lang="zh-CN" altLang="en-US" sz="2400" strike="sngStrike" dirty="0">
                <a:solidFill>
                  <a:schemeClr val="bg2">
                    <a:lumMod val="20000"/>
                    <a:lumOff val="80000"/>
                  </a:schemeClr>
                </a:solidFill>
                <a:latin typeface="黑体" panose="02010609060101010101" pitchFamily="49" charset="-122"/>
                <a:sym typeface="+mn-ea"/>
              </a:rPr>
              <a:t>章	</a:t>
            </a:r>
            <a:r>
              <a:rPr lang="zh-CN" sz="2400" strike="sngStrike" dirty="0">
                <a:solidFill>
                  <a:schemeClr val="bg2">
                    <a:lumMod val="20000"/>
                    <a:lumOff val="80000"/>
                  </a:schemeClr>
                </a:solidFill>
                <a:latin typeface="黑体" panose="02010609060101010101" pitchFamily="49" charset="-122"/>
                <a:sym typeface="+mn-ea"/>
              </a:rPr>
              <a:t>浮点、多媒体及</a:t>
            </a:r>
            <a:r>
              <a:rPr lang="en-US" altLang="zh-CN" sz="2400" strike="sngStrike" dirty="0">
                <a:solidFill>
                  <a:schemeClr val="bg2">
                    <a:lumMod val="20000"/>
                    <a:lumOff val="80000"/>
                  </a:schemeClr>
                </a:solidFill>
                <a:latin typeface="黑体" panose="02010609060101010101" pitchFamily="49" charset="-122"/>
                <a:sym typeface="+mn-ea"/>
              </a:rPr>
              <a:t>64</a:t>
            </a:r>
            <a:r>
              <a:rPr lang="zh-CN" altLang="en-US" sz="2400" strike="sngStrike" dirty="0">
                <a:solidFill>
                  <a:schemeClr val="bg2">
                    <a:lumMod val="20000"/>
                    <a:lumOff val="80000"/>
                  </a:schemeClr>
                </a:solidFill>
                <a:latin typeface="黑体" panose="02010609060101010101" pitchFamily="49" charset="-122"/>
                <a:sym typeface="+mn-ea"/>
              </a:rPr>
              <a:t>位指令</a:t>
            </a:r>
          </a:p>
        </p:txBody>
      </p:sp>
      <p:sp>
        <p:nvSpPr>
          <p:cNvPr id="5"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课程章节安排</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6" name="直接连接符 5"/>
          <p:cNvCxnSpPr/>
          <p:nvPr/>
        </p:nvCxnSpPr>
        <p:spPr bwMode="auto">
          <a:xfrm>
            <a:off x="142844" y="78197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23" descr="C:\Documents and Settings\Administrator\Local Settings\Temporary Internet Files\Content.IE5\0NG03LCU\MC900441523[1].wmf"/>
          <p:cNvPicPr>
            <a:picLocks noChangeAspect="1" noChangeArrowheads="1"/>
          </p:cNvPicPr>
          <p:nvPr/>
        </p:nvPicPr>
        <p:blipFill>
          <a:blip r:embed="rId2"/>
          <a:srcRect/>
          <a:stretch>
            <a:fillRect/>
          </a:stretch>
        </p:blipFill>
        <p:spPr bwMode="auto">
          <a:xfrm>
            <a:off x="6372706" y="4646442"/>
            <a:ext cx="1873250" cy="1600200"/>
          </a:xfrm>
          <a:prstGeom prst="rect">
            <a:avLst/>
          </a:prstGeom>
          <a:noFill/>
          <a:ln w="9525">
            <a:noFill/>
            <a:miter lim="800000"/>
            <a:headEnd/>
            <a:tailEnd/>
          </a:ln>
        </p:spPr>
      </p:pic>
      <p:sp>
        <p:nvSpPr>
          <p:cNvPr id="3" name="AutoShape 5"/>
          <p:cNvSpPr>
            <a:spLocks noChangeArrowheads="1"/>
          </p:cNvSpPr>
          <p:nvPr/>
        </p:nvSpPr>
        <p:spPr bwMode="auto">
          <a:xfrm>
            <a:off x="6516722" y="3717538"/>
            <a:ext cx="2268916" cy="720725"/>
          </a:xfrm>
          <a:prstGeom prst="cloudCallout">
            <a:avLst>
              <a:gd name="adj1" fmla="val -43769"/>
              <a:gd name="adj2" fmla="val 75991"/>
            </a:avLst>
          </a:prstGeom>
          <a:solidFill>
            <a:schemeClr val="bg1">
              <a:lumMod val="90000"/>
            </a:schemeClr>
          </a:solidFill>
          <a:ln w="9525">
            <a:solidFill>
              <a:schemeClr val="accent1"/>
            </a:solid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r" eaLnBrk="1" hangingPunct="1">
              <a:spcBef>
                <a:spcPct val="0"/>
              </a:spcBef>
              <a:buClrTx/>
              <a:buFontTx/>
              <a:buNone/>
            </a:pPr>
            <a:r>
              <a:rPr lang="zh-CN" altLang="en-US" sz="2400" dirty="0">
                <a:solidFill>
                  <a:srgbClr val="FF0000"/>
                </a:solidFill>
                <a:latin typeface="黑体" panose="02010609060101010101" pitchFamily="49" charset="-122"/>
                <a:ea typeface="黑体" panose="02010609060101010101" pitchFamily="49" charset="-122"/>
              </a:rPr>
              <a:t>课程特点？</a:t>
            </a:r>
            <a:endParaRPr lang="en-US" altLang="zh-CN" sz="240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357290" y="4500563"/>
            <a:ext cx="6858024" cy="1928812"/>
          </a:xfrm>
          <a:prstGeom prst="rect">
            <a:avLst/>
          </a:prstGeom>
          <a:noFill/>
          <a:ln w="9525">
            <a:noFill/>
            <a:miter lim="800000"/>
          </a:ln>
        </p:spPr>
        <p:txBody>
          <a:bodyPr/>
          <a:lstStyle/>
          <a:p>
            <a:pPr algn="ctr"/>
            <a:r>
              <a:rPr lang="zh-CN" altLang="en-US" sz="3200" dirty="0">
                <a:solidFill>
                  <a:srgbClr val="000000"/>
                </a:solidFill>
                <a:latin typeface="黑体" panose="02010609060101010101" pitchFamily="49" charset="-122"/>
              </a:rPr>
              <a:t>刘兆丽</a:t>
            </a:r>
            <a:endParaRPr lang="en-US" altLang="zh-CN" sz="3200" dirty="0">
              <a:solidFill>
                <a:srgbClr val="000000"/>
              </a:solidFill>
              <a:latin typeface="黑体" panose="02010609060101010101" pitchFamily="49" charset="-122"/>
            </a:endParaRPr>
          </a:p>
          <a:p>
            <a:pPr algn="ctr"/>
            <a:r>
              <a:rPr lang="zh-CN" altLang="en-US" sz="3200" dirty="0">
                <a:solidFill>
                  <a:srgbClr val="000000"/>
                </a:solidFill>
                <a:latin typeface="黑体" panose="02010609060101010101" pitchFamily="49" charset="-122"/>
              </a:rPr>
              <a:t>计算机科学与工程学院</a:t>
            </a:r>
            <a:endParaRPr lang="en-US" altLang="zh-CN" dirty="0">
              <a:solidFill>
                <a:srgbClr val="000000"/>
              </a:solidFill>
              <a:latin typeface="黑体" panose="02010609060101010101" pitchFamily="49" charset="-122"/>
            </a:endParaRPr>
          </a:p>
        </p:txBody>
      </p:sp>
      <p:sp>
        <p:nvSpPr>
          <p:cNvPr id="4" name="Rectangle 2" descr="Large confetti"/>
          <p:cNvSpPr txBox="1">
            <a:spLocks noChangeArrowheads="1"/>
          </p:cNvSpPr>
          <p:nvPr/>
        </p:nvSpPr>
        <p:spPr bwMode="auto">
          <a:xfrm>
            <a:off x="152400" y="1351915"/>
            <a:ext cx="8993505" cy="1430655"/>
          </a:xfrm>
          <a:prstGeom prst="rect">
            <a:avLst/>
          </a:prstGeom>
          <a:noFill/>
          <a:ln w="9525">
            <a:noFill/>
            <a:miter lim="800000"/>
          </a:ln>
          <a:effectLst>
            <a:outerShdw dist="12700" dir="5400000" algn="ctr" rotWithShape="0">
              <a:schemeClr val="bg2"/>
            </a:outerShdw>
          </a:effectLst>
        </p:spPr>
        <p:txBody>
          <a:bodyPr anchor="b"/>
          <a:lstStyle/>
          <a:p>
            <a:pPr lvl="0" algn="ctr">
              <a:lnSpc>
                <a:spcPct val="130000"/>
              </a:lnSpc>
              <a:defRPr/>
            </a:pPr>
            <a:endParaRPr lang="en-US" altLang="zh-CN" sz="7200" b="1" kern="0" dirty="0">
              <a:solidFill>
                <a:srgbClr val="FF3300"/>
              </a:solidFill>
              <a:latin typeface="+mn-ea"/>
              <a:ea typeface="+mn-ea"/>
              <a:cs typeface="+mj-cs"/>
            </a:endParaRPr>
          </a:p>
          <a:p>
            <a:pPr lvl="0" algn="ctr">
              <a:lnSpc>
                <a:spcPct val="110000"/>
              </a:lnSpc>
              <a:defRPr/>
            </a:pPr>
            <a:r>
              <a:rPr lang="zh-CN" altLang="en-US" sz="6600" b="1" kern="0" dirty="0">
                <a:solidFill>
                  <a:srgbClr val="FF3300"/>
                </a:solidFill>
                <a:latin typeface="+mn-ea"/>
                <a:ea typeface="+mn-ea"/>
                <a:cs typeface="+mj-cs"/>
              </a:rPr>
              <a:t>第</a:t>
            </a:r>
            <a:r>
              <a:rPr lang="en-US" altLang="zh-CN" sz="6600" b="1" kern="0" dirty="0">
                <a:solidFill>
                  <a:srgbClr val="FF3300"/>
                </a:solidFill>
                <a:latin typeface="+mn-ea"/>
                <a:ea typeface="+mn-ea"/>
                <a:cs typeface="+mj-cs"/>
              </a:rPr>
              <a:t>1</a:t>
            </a:r>
            <a:r>
              <a:rPr lang="zh-CN" altLang="en-US" sz="6600" b="1" kern="0" dirty="0">
                <a:solidFill>
                  <a:srgbClr val="FF3300"/>
                </a:solidFill>
                <a:latin typeface="+mn-ea"/>
                <a:ea typeface="+mn-ea"/>
                <a:cs typeface="+mj-cs"/>
              </a:rPr>
              <a:t>章</a:t>
            </a:r>
            <a:r>
              <a:rPr lang="zh-CN" altLang="en-US" sz="4400" b="1" kern="0" dirty="0">
                <a:solidFill>
                  <a:srgbClr val="FF3300"/>
                </a:solidFill>
                <a:latin typeface="+mn-ea"/>
                <a:ea typeface="+mn-ea"/>
                <a:cs typeface="+mj-cs"/>
              </a:rPr>
              <a:t> </a:t>
            </a:r>
            <a:r>
              <a:rPr lang="zh-CN" sz="6600" b="1" kern="0" dirty="0">
                <a:solidFill>
                  <a:srgbClr val="FF3300"/>
                </a:solidFill>
                <a:latin typeface="+mn-ea"/>
                <a:ea typeface="+mn-ea"/>
                <a:cs typeface="+mj-cs"/>
              </a:rPr>
              <a:t>汇编语言基础</a:t>
            </a:r>
          </a:p>
        </p:txBody>
      </p:sp>
      <p:pic>
        <p:nvPicPr>
          <p:cNvPr id="6" name="图片 5" descr="logo.png"/>
          <p:cNvPicPr>
            <a:picLocks noChangeAspect="1"/>
          </p:cNvPicPr>
          <p:nvPr/>
        </p:nvPicPr>
        <p:blipFill>
          <a:blip r:embed="rId3" cstate="print"/>
          <a:stretch>
            <a:fillRect/>
          </a:stretch>
        </p:blipFill>
        <p:spPr>
          <a:xfrm>
            <a:off x="80949" y="71414"/>
            <a:ext cx="3419481" cy="968050"/>
          </a:xfrm>
          <a:prstGeom prst="rect">
            <a:avLst/>
          </a:prstGeom>
        </p:spPr>
      </p:pic>
      <p:sp>
        <p:nvSpPr>
          <p:cNvPr id="2" name="灯片编号占位符 1"/>
          <p:cNvSpPr>
            <a:spLocks noGrp="1"/>
          </p:cNvSpPr>
          <p:nvPr>
            <p:ph type="sldNum" sz="quarter" idx="12"/>
          </p:nvPr>
        </p:nvSpPr>
        <p:spPr/>
        <p:txBody>
          <a:bodyPr/>
          <a:lstStyle/>
          <a:p>
            <a:pPr>
              <a:defRPr/>
            </a:pPr>
            <a:fld id="{EAC332C5-313C-42E8-A3F7-890A1E7064BF}" type="slidenum">
              <a:rPr lang="en-US" altLang="zh-CN" smtClean="0"/>
              <a:t>8</a:t>
            </a:fld>
            <a:endParaRPr lang="en-US" altLang="zh-CN"/>
          </a:p>
        </p:txBody>
      </p:sp>
    </p:spTree>
  </p:cSld>
  <p:clrMapOvr>
    <a:masterClrMapping/>
  </p:clrMapOvr>
  <p:transition advTm="13494"/>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360" y="804545"/>
            <a:ext cx="8235950" cy="5855335"/>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highlight>
                  <a:srgbClr val="FFFF00"/>
                </a:highlight>
                <a:latin typeface="+mn-lt"/>
              </a:rPr>
              <a:t>汇编语言的主体是处理器指令</a:t>
            </a: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处理器（</a:t>
            </a:r>
            <a:r>
              <a:rPr lang="en-US" altLang="zh-CN" sz="2800" dirty="0">
                <a:latin typeface="+mn-lt"/>
              </a:rPr>
              <a:t>Processor</a:t>
            </a:r>
            <a:r>
              <a:rPr lang="zh-CN" altLang="en-US" sz="2800" dirty="0">
                <a:latin typeface="+mn-lt"/>
              </a:rPr>
              <a:t>）</a:t>
            </a:r>
            <a:endParaRPr lang="en-US" altLang="zh-CN" sz="2800" dirty="0">
              <a:latin typeface="+mn-lt"/>
            </a:endParaRPr>
          </a:p>
          <a:p>
            <a:pPr marL="914400" indent="-457200" algn="just">
              <a:lnSpc>
                <a:spcPct val="130000"/>
              </a:lnSpc>
              <a:spcBef>
                <a:spcPts val="600"/>
              </a:spcBef>
              <a:buClr>
                <a:srgbClr val="0000FF"/>
              </a:buClr>
              <a:buFont typeface="Wingdings" panose="05000000000000000000" pitchFamily="2" charset="2"/>
              <a:buChar char="ü"/>
            </a:pPr>
            <a:r>
              <a:rPr lang="zh-CN" altLang="en-US" sz="2400" dirty="0">
                <a:solidFill>
                  <a:srgbClr val="FF0000"/>
                </a:solidFill>
                <a:latin typeface="+mn-lt"/>
              </a:rPr>
              <a:t>中央处理单元</a:t>
            </a:r>
            <a:r>
              <a:rPr lang="en-US" altLang="zh-CN" sz="2400" dirty="0">
                <a:solidFill>
                  <a:schemeClr val="tx1"/>
                </a:solidFill>
                <a:latin typeface="+mn-lt"/>
              </a:rPr>
              <a:t>CPU</a:t>
            </a:r>
            <a:r>
              <a:rPr lang="zh-CN" altLang="en-US" sz="2400" dirty="0">
                <a:solidFill>
                  <a:schemeClr val="tx1"/>
                </a:solidFill>
                <a:latin typeface="+mn-lt"/>
              </a:rPr>
              <a:t>（</a:t>
            </a:r>
            <a:r>
              <a:rPr lang="en-US" altLang="zh-CN" sz="2400" dirty="0">
                <a:solidFill>
                  <a:srgbClr val="FF0000"/>
                </a:solidFill>
                <a:latin typeface="+mn-lt"/>
              </a:rPr>
              <a:t>Central Processing Unit</a:t>
            </a:r>
            <a:r>
              <a:rPr lang="zh-CN" altLang="en-US" sz="2400" dirty="0">
                <a:solidFill>
                  <a:schemeClr val="tx1"/>
                </a:solidFill>
                <a:latin typeface="+mn-lt"/>
              </a:rPr>
              <a:t>）</a:t>
            </a:r>
          </a:p>
          <a:p>
            <a:pPr marL="914400"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计算机的运算和控制核心，采用</a:t>
            </a:r>
            <a:r>
              <a:rPr lang="zh-CN" altLang="en-US" sz="2400" dirty="0">
                <a:solidFill>
                  <a:srgbClr val="FF0000"/>
                </a:solidFill>
                <a:latin typeface="+mn-lt"/>
              </a:rPr>
              <a:t>超大规模集成电路</a:t>
            </a:r>
            <a:r>
              <a:rPr lang="en-US" altLang="zh-CN" sz="2400" dirty="0">
                <a:solidFill>
                  <a:srgbClr val="FF0000"/>
                </a:solidFill>
                <a:latin typeface="+mn-lt"/>
              </a:rPr>
              <a:t> (Very Large Scale Integration,</a:t>
            </a:r>
            <a:r>
              <a:rPr lang="zh-CN" altLang="en-US" sz="2400" dirty="0">
                <a:solidFill>
                  <a:srgbClr val="FF0000"/>
                </a:solidFill>
                <a:latin typeface="+mn-lt"/>
              </a:rPr>
              <a:t> </a:t>
            </a:r>
            <a:r>
              <a:rPr lang="en-US" altLang="zh-CN" sz="2400" dirty="0">
                <a:solidFill>
                  <a:srgbClr val="FF0000"/>
                </a:solidFill>
                <a:latin typeface="+mn-lt"/>
              </a:rPr>
              <a:t>VLSI)</a:t>
            </a:r>
            <a:r>
              <a:rPr lang="zh-CN" altLang="en-US" sz="2400" dirty="0">
                <a:solidFill>
                  <a:schemeClr val="tx1"/>
                </a:solidFill>
                <a:latin typeface="+mn-lt"/>
              </a:rPr>
              <a:t>芯片构成</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sym typeface="+mn-ea"/>
              </a:rPr>
              <a:t>处理器的分类</a:t>
            </a:r>
            <a:endParaRPr lang="en-US" altLang="zh-CN" sz="2800" dirty="0">
              <a:latin typeface="+mn-lt"/>
            </a:endParaRPr>
          </a:p>
          <a:p>
            <a:pPr marL="914400" indent="-457200" algn="just">
              <a:lnSpc>
                <a:spcPct val="130000"/>
              </a:lnSpc>
              <a:spcBef>
                <a:spcPts val="600"/>
              </a:spcBef>
              <a:buClr>
                <a:srgbClr val="0000FF"/>
              </a:buClr>
              <a:buSzTx/>
              <a:buFont typeface="Wingdings" panose="05000000000000000000" pitchFamily="2" charset="2"/>
              <a:buChar char="ü"/>
            </a:pPr>
            <a:r>
              <a:rPr lang="zh-CN" altLang="en-US" sz="2400" dirty="0">
                <a:solidFill>
                  <a:schemeClr val="tx1"/>
                </a:solidFill>
                <a:latin typeface="+mn-lt"/>
                <a:sym typeface="+mn-ea"/>
              </a:rPr>
              <a:t>通用微处理器：</a:t>
            </a:r>
            <a:r>
              <a:rPr lang="zh-CN" altLang="en-US" sz="2400" dirty="0">
                <a:solidFill>
                  <a:schemeClr val="tx1"/>
                </a:solidFill>
                <a:latin typeface="+mn-lt"/>
              </a:rPr>
              <a:t>一般指用于PC、笔记本电脑、服务器的CPU芯片</a:t>
            </a:r>
          </a:p>
          <a:p>
            <a:pPr marL="914400" indent="-457200" algn="just">
              <a:lnSpc>
                <a:spcPct val="130000"/>
              </a:lnSpc>
              <a:spcBef>
                <a:spcPts val="600"/>
              </a:spcBef>
              <a:buClr>
                <a:srgbClr val="0000FF"/>
              </a:buClr>
              <a:buSzTx/>
              <a:buFont typeface="Wingdings" panose="05000000000000000000" pitchFamily="2" charset="2"/>
              <a:buChar char="ü"/>
            </a:pPr>
            <a:r>
              <a:rPr lang="zh-CN" altLang="en-US" sz="2400" dirty="0">
                <a:solidFill>
                  <a:schemeClr val="tx1"/>
                </a:solidFill>
                <a:latin typeface="+mn-lt"/>
              </a:rPr>
              <a:t>专用微处理器：主要应用于嵌入式系统，如单片机（微控制器MCU）、数字信号处理器DSP</a:t>
            </a:r>
            <a:endParaRPr lang="zh-CN" altLang="en-US"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1.1 Intel 80x86</a:t>
            </a:r>
            <a:r>
              <a:rPr lang="zh-CN" altLang="en-US" kern="0" dirty="0">
                <a:solidFill>
                  <a:srgbClr val="000000"/>
                </a:solidFill>
                <a:latin typeface="黑体" panose="02010609060101010101" pitchFamily="49" charset="-122"/>
                <a:cs typeface="+mj-cs"/>
              </a:rPr>
              <a:t>系列处理器</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7" name="直接连接符 6"/>
          <p:cNvCxnSpPr/>
          <p:nvPr/>
        </p:nvCxnSpPr>
        <p:spPr bwMode="auto">
          <a:xfrm>
            <a:off x="178184" y="649769"/>
            <a:ext cx="8858312" cy="5700"/>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Text Box 4"/>
          <p:cNvSpPr txBox="1">
            <a:spLocks noChangeArrowheads="1"/>
          </p:cNvSpPr>
          <p:nvPr/>
        </p:nvSpPr>
        <p:spPr bwMode="auto">
          <a:xfrm>
            <a:off x="1476375" y="4205288"/>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en-US" altLang="zh-CN" sz="2600" dirty="0">
                <a:latin typeface="+mn-lt"/>
                <a:ea typeface="黑体" panose="02010609060101010101" pitchFamily="49" charset="-122"/>
              </a:rPr>
              <a:t>80386</a:t>
            </a:r>
          </a:p>
        </p:txBody>
      </p:sp>
      <p:sp>
        <p:nvSpPr>
          <p:cNvPr id="5" name="Text Box 5"/>
          <p:cNvSpPr txBox="1">
            <a:spLocks noChangeArrowheads="1"/>
          </p:cNvSpPr>
          <p:nvPr/>
        </p:nvSpPr>
        <p:spPr bwMode="auto">
          <a:xfrm>
            <a:off x="2209800" y="3824288"/>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en-US" altLang="zh-CN" sz="2600" dirty="0">
                <a:latin typeface="+mn-lt"/>
                <a:ea typeface="黑体" panose="02010609060101010101" pitchFamily="49" charset="-122"/>
              </a:rPr>
              <a:t>80486</a:t>
            </a:r>
          </a:p>
        </p:txBody>
      </p:sp>
      <p:sp>
        <p:nvSpPr>
          <p:cNvPr id="9" name="Text Box 6"/>
          <p:cNvSpPr txBox="1">
            <a:spLocks noChangeArrowheads="1"/>
          </p:cNvSpPr>
          <p:nvPr/>
        </p:nvSpPr>
        <p:spPr bwMode="auto">
          <a:xfrm>
            <a:off x="2971800" y="3367088"/>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600" dirty="0">
                <a:latin typeface="+mn-lt"/>
                <a:ea typeface="黑体" panose="02010609060101010101" pitchFamily="49" charset="-122"/>
              </a:rPr>
              <a:t>奔腾</a:t>
            </a:r>
          </a:p>
        </p:txBody>
      </p:sp>
      <p:sp>
        <p:nvSpPr>
          <p:cNvPr id="10" name="Text Box 7"/>
          <p:cNvSpPr txBox="1">
            <a:spLocks noChangeArrowheads="1"/>
          </p:cNvSpPr>
          <p:nvPr/>
        </p:nvSpPr>
        <p:spPr bwMode="auto">
          <a:xfrm>
            <a:off x="3733800" y="2909888"/>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zh-CN" altLang="en-US" sz="2600" dirty="0">
                <a:latin typeface="+mn-lt"/>
                <a:ea typeface="黑体" panose="02010609060101010101" pitchFamily="49" charset="-122"/>
              </a:rPr>
              <a:t>奔腾</a:t>
            </a:r>
            <a:r>
              <a:rPr lang="en-US" altLang="zh-CN" sz="2600" dirty="0">
                <a:latin typeface="+mn-lt"/>
                <a:ea typeface="黑体" panose="02010609060101010101" pitchFamily="49" charset="-122"/>
              </a:rPr>
              <a:t>II</a:t>
            </a:r>
          </a:p>
        </p:txBody>
      </p:sp>
      <p:sp>
        <p:nvSpPr>
          <p:cNvPr id="11" name="Text Box 8"/>
          <p:cNvSpPr txBox="1">
            <a:spLocks noChangeArrowheads="1"/>
          </p:cNvSpPr>
          <p:nvPr/>
        </p:nvSpPr>
        <p:spPr bwMode="auto">
          <a:xfrm>
            <a:off x="5366703" y="1883410"/>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600" dirty="0">
                <a:latin typeface="+mn-lt"/>
                <a:ea typeface="黑体" panose="02010609060101010101" pitchFamily="49" charset="-122"/>
              </a:rPr>
              <a:t>奔腾</a:t>
            </a:r>
            <a:r>
              <a:rPr lang="en-US" altLang="zh-CN" sz="2600" dirty="0">
                <a:latin typeface="+mn-lt"/>
                <a:ea typeface="黑体" panose="02010609060101010101" pitchFamily="49" charset="-122"/>
              </a:rPr>
              <a:t>4</a:t>
            </a:r>
          </a:p>
        </p:txBody>
      </p:sp>
      <p:sp>
        <p:nvSpPr>
          <p:cNvPr id="13" name="Text Box 9"/>
          <p:cNvSpPr txBox="1">
            <a:spLocks noChangeArrowheads="1"/>
          </p:cNvSpPr>
          <p:nvPr/>
        </p:nvSpPr>
        <p:spPr bwMode="auto">
          <a:xfrm>
            <a:off x="685800" y="4664749"/>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en-US" altLang="zh-CN" sz="2600" dirty="0">
                <a:latin typeface="+mn-lt"/>
                <a:ea typeface="黑体" panose="02010609060101010101" pitchFamily="49" charset="-122"/>
              </a:rPr>
              <a:t>80286</a:t>
            </a:r>
          </a:p>
        </p:txBody>
      </p:sp>
      <p:sp>
        <p:nvSpPr>
          <p:cNvPr id="14" name="Text Box 10"/>
          <p:cNvSpPr txBox="1">
            <a:spLocks noChangeArrowheads="1"/>
          </p:cNvSpPr>
          <p:nvPr/>
        </p:nvSpPr>
        <p:spPr bwMode="auto">
          <a:xfrm>
            <a:off x="107950" y="5214938"/>
            <a:ext cx="1295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en-US" altLang="zh-CN" sz="2600" dirty="0">
                <a:latin typeface="+mn-lt"/>
                <a:ea typeface="黑体" panose="02010609060101010101" pitchFamily="49" charset="-122"/>
              </a:rPr>
              <a:t>8086</a:t>
            </a:r>
          </a:p>
        </p:txBody>
      </p:sp>
      <p:sp>
        <p:nvSpPr>
          <p:cNvPr id="15" name="Text Box 11"/>
          <p:cNvSpPr txBox="1">
            <a:spLocks noChangeArrowheads="1"/>
          </p:cNvSpPr>
          <p:nvPr/>
        </p:nvSpPr>
        <p:spPr bwMode="auto">
          <a:xfrm>
            <a:off x="4576445" y="2372043"/>
            <a:ext cx="16764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zh-CN" altLang="en-US" sz="2600" dirty="0">
                <a:latin typeface="+mn-lt"/>
                <a:ea typeface="黑体" panose="02010609060101010101" pitchFamily="49" charset="-122"/>
              </a:rPr>
              <a:t>奔腾</a:t>
            </a:r>
            <a:r>
              <a:rPr lang="en-US" altLang="zh-CN" sz="2600" dirty="0">
                <a:latin typeface="+mn-lt"/>
                <a:ea typeface="黑体" panose="02010609060101010101" pitchFamily="49" charset="-122"/>
              </a:rPr>
              <a:t>III</a:t>
            </a:r>
          </a:p>
        </p:txBody>
      </p:sp>
      <p:sp>
        <p:nvSpPr>
          <p:cNvPr id="16" name="Line 12"/>
          <p:cNvSpPr>
            <a:spLocks noChangeShapeType="1"/>
          </p:cNvSpPr>
          <p:nvPr/>
        </p:nvSpPr>
        <p:spPr bwMode="auto">
          <a:xfrm flipV="1">
            <a:off x="718185" y="1297305"/>
            <a:ext cx="7806690" cy="4707890"/>
          </a:xfrm>
          <a:prstGeom prst="line">
            <a:avLst/>
          </a:prstGeom>
          <a:noFill/>
          <a:ln w="76200">
            <a:pattFill prst="pct50">
              <a:fgClr>
                <a:srgbClr val="0000FF"/>
              </a:fgClr>
              <a:bgClr>
                <a:srgbClr val="FFFFFF"/>
              </a:bgClr>
            </a:pattFill>
            <a:round/>
            <a:tailEnd type="triangle" w="med" len="med"/>
          </a:ln>
          <a:effectLst>
            <a:outerShdw dist="107763" dir="2700000" algn="ctr" rotWithShape="0">
              <a:srgbClr val="C0C0C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Text Box 13"/>
          <p:cNvSpPr txBox="1">
            <a:spLocks noChangeArrowheads="1"/>
          </p:cNvSpPr>
          <p:nvPr/>
        </p:nvSpPr>
        <p:spPr bwMode="auto">
          <a:xfrm>
            <a:off x="6948488" y="1080453"/>
            <a:ext cx="13716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600" dirty="0">
                <a:latin typeface="+mn-lt"/>
                <a:ea typeface="黑体" panose="02010609060101010101" pitchFamily="49" charset="-122"/>
              </a:rPr>
              <a:t>酷睿</a:t>
            </a:r>
            <a:r>
              <a:rPr lang="en-US" altLang="zh-CN" sz="2600" dirty="0">
                <a:latin typeface="+mn-lt"/>
                <a:ea typeface="黑体" panose="02010609060101010101" pitchFamily="49" charset="-122"/>
              </a:rPr>
              <a:t>2</a:t>
            </a:r>
          </a:p>
        </p:txBody>
      </p:sp>
      <p:sp>
        <p:nvSpPr>
          <p:cNvPr id="18" name="Text Box 15"/>
          <p:cNvSpPr txBox="1">
            <a:spLocks noChangeArrowheads="1"/>
          </p:cNvSpPr>
          <p:nvPr/>
        </p:nvSpPr>
        <p:spPr bwMode="auto">
          <a:xfrm>
            <a:off x="635" y="6089650"/>
            <a:ext cx="1683385" cy="49149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en-US" altLang="zh-CN" sz="2600" dirty="0">
                <a:latin typeface="+mn-lt"/>
                <a:ea typeface="黑体" panose="02010609060101010101" pitchFamily="49" charset="-122"/>
              </a:rPr>
              <a:t>4004/8008</a:t>
            </a:r>
          </a:p>
        </p:txBody>
      </p:sp>
      <p:sp>
        <p:nvSpPr>
          <p:cNvPr id="19" name="Text Box 18"/>
          <p:cNvSpPr txBox="1">
            <a:spLocks noChangeArrowheads="1"/>
          </p:cNvSpPr>
          <p:nvPr/>
        </p:nvSpPr>
        <p:spPr bwMode="auto">
          <a:xfrm>
            <a:off x="2483639" y="1989351"/>
            <a:ext cx="2484438" cy="49149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en-US" altLang="zh-CN" sz="2600" dirty="0">
                <a:solidFill>
                  <a:srgbClr val="0000FF"/>
                </a:solidFill>
                <a:latin typeface="+mn-lt"/>
                <a:ea typeface="黑体" panose="02010609060101010101" pitchFamily="49" charset="-122"/>
              </a:rPr>
              <a:t>IA-32</a:t>
            </a:r>
            <a:r>
              <a:rPr lang="zh-CN" altLang="en-US" sz="2600" dirty="0">
                <a:solidFill>
                  <a:srgbClr val="0000FF"/>
                </a:solidFill>
                <a:latin typeface="+mn-lt"/>
                <a:ea typeface="黑体" panose="02010609060101010101" pitchFamily="49" charset="-122"/>
              </a:rPr>
              <a:t>处理器</a:t>
            </a:r>
          </a:p>
        </p:txBody>
      </p:sp>
      <p:pic>
        <p:nvPicPr>
          <p:cNvPr id="21" name="Picture 21" descr="core2quad"/>
          <p:cNvPicPr>
            <a:picLocks noChangeAspect="1" noChangeArrowheads="1"/>
          </p:cNvPicPr>
          <p:nvPr/>
        </p:nvPicPr>
        <p:blipFill>
          <a:blip r:embed="rId5">
            <a:extLst>
              <a:ext uri="{28A0092B-C50C-407E-A947-70E740481C1C}">
                <a14:useLocalDpi xmlns:a14="http://schemas.microsoft.com/office/drawing/2010/main" val="0"/>
              </a:ext>
            </a:extLst>
          </a:blip>
          <a:srcRect r="22697" b="2000"/>
          <a:stretch>
            <a:fillRect/>
          </a:stretch>
        </p:blipFill>
        <p:spPr>
          <a:xfrm>
            <a:off x="7043420" y="2348865"/>
            <a:ext cx="1905000" cy="16891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 name="Text Box 23"/>
          <p:cNvSpPr txBox="1">
            <a:spLocks noChangeArrowheads="1"/>
          </p:cNvSpPr>
          <p:nvPr/>
        </p:nvSpPr>
        <p:spPr bwMode="auto">
          <a:xfrm>
            <a:off x="7524750" y="692785"/>
            <a:ext cx="1371600" cy="492443"/>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600" dirty="0">
                <a:latin typeface="+mn-lt"/>
                <a:ea typeface="黑体" panose="02010609060101010101" pitchFamily="49" charset="-122"/>
              </a:rPr>
              <a:t>酷睿</a:t>
            </a:r>
            <a:r>
              <a:rPr lang="en-US" altLang="zh-CN" sz="2600" dirty="0" err="1">
                <a:latin typeface="+mn-lt"/>
                <a:ea typeface="黑体" panose="02010609060101010101" pitchFamily="49" charset="-122"/>
              </a:rPr>
              <a:t>i</a:t>
            </a:r>
            <a:endParaRPr lang="en-US" altLang="zh-CN" sz="2600" dirty="0">
              <a:latin typeface="+mn-lt"/>
              <a:ea typeface="黑体" panose="02010609060101010101" pitchFamily="49" charset="-122"/>
            </a:endParaRPr>
          </a:p>
        </p:txBody>
      </p:sp>
      <p:sp>
        <p:nvSpPr>
          <p:cNvPr id="38" name="AutoShape 17"/>
          <p:cNvSpPr/>
          <p:nvPr/>
        </p:nvSpPr>
        <p:spPr bwMode="auto">
          <a:xfrm rot="-7255898">
            <a:off x="3631565" y="391160"/>
            <a:ext cx="568325" cy="4846320"/>
          </a:xfrm>
          <a:prstGeom prst="rightBrace">
            <a:avLst>
              <a:gd name="adj1" fmla="val 90968"/>
              <a:gd name="adj2" fmla="val 48565"/>
            </a:avLst>
          </a:prstGeom>
          <a:noFill/>
          <a:ln w="31750">
            <a:solidFill>
              <a:srgbClr val="00B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lang="zh-CN" altLang="en-US" sz="1800">
              <a:latin typeface="Arial" panose="020B0604020202020204" pitchFamily="34" charset="0"/>
              <a:ea typeface="楷体_GB2312" panose="02010609030101010101" pitchFamily="49" charset="-122"/>
            </a:endParaRPr>
          </a:p>
        </p:txBody>
      </p:sp>
      <p:sp>
        <p:nvSpPr>
          <p:cNvPr id="40" name="AutoShape 4"/>
          <p:cNvSpPr>
            <a:spLocks noChangeArrowheads="1"/>
          </p:cNvSpPr>
          <p:nvPr/>
        </p:nvSpPr>
        <p:spPr bwMode="auto">
          <a:xfrm>
            <a:off x="4065270" y="4972685"/>
            <a:ext cx="4808855" cy="1501775"/>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IA-32: Intel Architecture 32bit</a:t>
            </a:r>
          </a:p>
          <a:p>
            <a:pPr eaLnBrk="1" hangingPunct="1">
              <a:lnSpc>
                <a:spcPct val="120000"/>
              </a:lnSpc>
              <a:spcBef>
                <a:spcPct val="0"/>
              </a:spcBef>
              <a:buClrTx/>
              <a:buFontTx/>
              <a:buNone/>
            </a:pP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即英特尔</a:t>
            </a: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32</a:t>
            </a: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位体系架构</a:t>
            </a:r>
          </a:p>
          <a:p>
            <a:pPr eaLnBrk="1" hangingPunct="1">
              <a:lnSpc>
                <a:spcPct val="120000"/>
              </a:lnSpc>
              <a:spcBef>
                <a:spcPct val="0"/>
              </a:spcBef>
              <a:buClrTx/>
              <a:buFontTx/>
              <a:buNone/>
            </a:pP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也被称为</a:t>
            </a: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x86-32</a:t>
            </a: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a:t>
            </a: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x86</a:t>
            </a:r>
          </a:p>
        </p:txBody>
      </p:sp>
      <p:sp>
        <p:nvSpPr>
          <p:cNvPr id="2" name="AutoShape 17"/>
          <p:cNvSpPr/>
          <p:nvPr/>
        </p:nvSpPr>
        <p:spPr bwMode="auto">
          <a:xfrm rot="-7255898">
            <a:off x="7111365" y="-1905"/>
            <a:ext cx="367665" cy="1967865"/>
          </a:xfrm>
          <a:prstGeom prst="rightBrace">
            <a:avLst>
              <a:gd name="adj1" fmla="val 90968"/>
              <a:gd name="adj2" fmla="val 46673"/>
            </a:avLst>
          </a:prstGeom>
          <a:noFill/>
          <a:ln w="31750">
            <a:solidFill>
              <a:srgbClr val="00B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lang="zh-CN" altLang="en-US" sz="1800">
              <a:latin typeface="Arial" panose="020B0604020202020204" pitchFamily="34" charset="0"/>
              <a:ea typeface="楷体_GB2312" panose="02010609030101010101" pitchFamily="49" charset="-122"/>
            </a:endParaRPr>
          </a:p>
        </p:txBody>
      </p:sp>
      <p:sp>
        <p:nvSpPr>
          <p:cNvPr id="3" name="Text Box 18"/>
          <p:cNvSpPr txBox="1">
            <a:spLocks noChangeArrowheads="1"/>
          </p:cNvSpPr>
          <p:nvPr/>
        </p:nvSpPr>
        <p:spPr bwMode="auto">
          <a:xfrm>
            <a:off x="4788689" y="606956"/>
            <a:ext cx="2484438" cy="49149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en-US" altLang="zh-CN" sz="2600" dirty="0">
                <a:solidFill>
                  <a:srgbClr val="0000FF"/>
                </a:solidFill>
                <a:latin typeface="+mn-lt"/>
                <a:ea typeface="黑体" panose="02010609060101010101" pitchFamily="49" charset="-122"/>
              </a:rPr>
              <a:t>Intel 64</a:t>
            </a:r>
            <a:r>
              <a:rPr lang="zh-CN" altLang="en-US" sz="2600" dirty="0">
                <a:solidFill>
                  <a:srgbClr val="0000FF"/>
                </a:solidFill>
                <a:latin typeface="+mn-lt"/>
                <a:ea typeface="黑体" panose="02010609060101010101" pitchFamily="49" charset="-122"/>
              </a:rPr>
              <a:t>处理器</a:t>
            </a:r>
          </a:p>
        </p:txBody>
      </p:sp>
      <p:sp>
        <p:nvSpPr>
          <p:cNvPr id="8" name="AutoShape 17"/>
          <p:cNvSpPr/>
          <p:nvPr/>
        </p:nvSpPr>
        <p:spPr bwMode="auto">
          <a:xfrm rot="-7255898">
            <a:off x="611505" y="3985895"/>
            <a:ext cx="367665" cy="1552575"/>
          </a:xfrm>
          <a:prstGeom prst="rightBrace">
            <a:avLst>
              <a:gd name="adj1" fmla="val 90968"/>
              <a:gd name="adj2" fmla="val 46673"/>
            </a:avLst>
          </a:prstGeom>
          <a:noFill/>
          <a:ln w="31750">
            <a:solidFill>
              <a:srgbClr val="00B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lang="zh-CN" altLang="en-US" sz="1800">
              <a:latin typeface="Arial" panose="020B0604020202020204" pitchFamily="34" charset="0"/>
              <a:ea typeface="楷体_GB2312" panose="02010609030101010101" pitchFamily="49" charset="-122"/>
            </a:endParaRPr>
          </a:p>
        </p:txBody>
      </p:sp>
      <p:sp>
        <p:nvSpPr>
          <p:cNvPr id="12" name="Text Box 18"/>
          <p:cNvSpPr txBox="1">
            <a:spLocks noChangeArrowheads="1"/>
          </p:cNvSpPr>
          <p:nvPr/>
        </p:nvSpPr>
        <p:spPr bwMode="auto">
          <a:xfrm>
            <a:off x="-635" y="4044315"/>
            <a:ext cx="1872615" cy="49149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en-US" altLang="zh-CN" sz="2600" dirty="0">
                <a:solidFill>
                  <a:srgbClr val="0000FF"/>
                </a:solidFill>
                <a:latin typeface="+mn-lt"/>
                <a:ea typeface="黑体" panose="02010609060101010101" pitchFamily="49" charset="-122"/>
              </a:rPr>
              <a:t>16</a:t>
            </a:r>
            <a:r>
              <a:rPr lang="zh-CN" altLang="en-US" sz="2600" dirty="0">
                <a:solidFill>
                  <a:srgbClr val="0000FF"/>
                </a:solidFill>
                <a:latin typeface="+mn-lt"/>
                <a:ea typeface="黑体" panose="02010609060101010101" pitchFamily="49" charset="-122"/>
              </a:rPr>
              <a:t>位</a:t>
            </a:r>
            <a:r>
              <a:rPr lang="en-US" altLang="zh-CN" sz="2600" dirty="0">
                <a:solidFill>
                  <a:srgbClr val="0000FF"/>
                </a:solidFill>
                <a:latin typeface="+mn-lt"/>
                <a:ea typeface="黑体" panose="02010609060101010101" pitchFamily="49" charset="-122"/>
              </a:rPr>
              <a:t>x86</a:t>
            </a:r>
            <a:endParaRPr lang="zh-CN" altLang="en-US" sz="2600" dirty="0">
              <a:solidFill>
                <a:srgbClr val="0000FF"/>
              </a:solidFill>
              <a:latin typeface="+mn-lt"/>
              <a:ea typeface="黑体" panose="02010609060101010101" pitchFamily="49" charset="-122"/>
            </a:endParaRPr>
          </a:p>
        </p:txBody>
      </p:sp>
      <p:sp>
        <p:nvSpPr>
          <p:cNvPr id="23" name="Text Box 13"/>
          <p:cNvSpPr txBox="1">
            <a:spLocks noChangeArrowheads="1"/>
          </p:cNvSpPr>
          <p:nvPr/>
        </p:nvSpPr>
        <p:spPr bwMode="auto">
          <a:xfrm>
            <a:off x="6485255" y="1514475"/>
            <a:ext cx="2267585" cy="491490"/>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600" dirty="0">
                <a:latin typeface="+mn-lt"/>
                <a:ea typeface="黑体" panose="02010609060101010101" pitchFamily="49" charset="-122"/>
              </a:rPr>
              <a:t>奔腾多核系列</a:t>
            </a:r>
          </a:p>
        </p:txBody>
      </p:sp>
      <p:grpSp>
        <p:nvGrpSpPr>
          <p:cNvPr id="19458" name="组合 21533"/>
          <p:cNvGrpSpPr/>
          <p:nvPr/>
        </p:nvGrpSpPr>
        <p:grpSpPr>
          <a:xfrm>
            <a:off x="251143" y="1962150"/>
            <a:ext cx="1944687" cy="1314451"/>
            <a:chOff x="262" y="754"/>
            <a:chExt cx="1225" cy="828"/>
          </a:xfrm>
        </p:grpSpPr>
        <p:pic>
          <p:nvPicPr>
            <p:cNvPr id="19459" name="图片 21531" descr="8088CPU"/>
            <p:cNvPicPr>
              <a:picLocks noChangeAspect="1"/>
            </p:cNvPicPr>
            <p:nvPr/>
          </p:nvPicPr>
          <p:blipFill>
            <a:blip r:embed="rId6"/>
            <a:stretch>
              <a:fillRect/>
            </a:stretch>
          </p:blipFill>
          <p:spPr>
            <a:xfrm>
              <a:off x="262" y="754"/>
              <a:ext cx="960" cy="712"/>
            </a:xfrm>
            <a:prstGeom prst="rect">
              <a:avLst/>
            </a:prstGeom>
            <a:noFill/>
            <a:ln w="9525">
              <a:noFill/>
            </a:ln>
          </p:spPr>
        </p:pic>
        <p:sp>
          <p:nvSpPr>
            <p:cNvPr id="19460" name="文本框 21532"/>
            <p:cNvSpPr txBox="1"/>
            <p:nvPr/>
          </p:nvSpPr>
          <p:spPr>
            <a:xfrm>
              <a:off x="694" y="1330"/>
              <a:ext cx="793" cy="252"/>
            </a:xfrm>
            <a:prstGeom prst="rect">
              <a:avLst/>
            </a:prstGeom>
            <a:noFill/>
            <a:ln w="9525">
              <a:noFill/>
            </a:ln>
          </p:spPr>
          <p:txBody>
            <a:bodyPr wrap="none" lIns="90000" tIns="46800" rIns="90000" bIns="46800" anchor="t" anchorCtr="0">
              <a:spAutoFit/>
            </a:bodyPr>
            <a:lstStyle/>
            <a:p>
              <a:r>
                <a:rPr lang="en-US" altLang="zh-CN" sz="2000" b="1">
                  <a:solidFill>
                    <a:schemeClr val="tx1"/>
                  </a:solidFill>
                  <a:cs typeface="Times New Roman" panose="02020603050405020304" pitchFamily="18" charset="0"/>
                </a:rPr>
                <a:t>Intel 8086</a:t>
              </a:r>
              <a:endParaRPr lang="en-US" altLang="zh-CN" sz="2000" b="1" dirty="0">
                <a:solidFill>
                  <a:schemeClr val="tx1"/>
                </a:solidFill>
                <a:cs typeface="Times New Roman" panose="02020603050405020304" pitchFamily="18"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23781" y="621194"/>
            <a:ext cx="8496944" cy="6133690"/>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800" dirty="0">
                <a:latin typeface="+mn-lt"/>
              </a:rPr>
              <a:t>8086/8088</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sym typeface="+mn-ea"/>
              </a:rPr>
              <a:t>数据总线</a:t>
            </a:r>
            <a:r>
              <a:rPr lang="en-US" altLang="zh-CN" sz="2400" dirty="0">
                <a:solidFill>
                  <a:schemeClr val="tx1"/>
                </a:solidFill>
                <a:latin typeface="+mn-lt"/>
                <a:sym typeface="+mn-ea"/>
              </a:rPr>
              <a:t>16</a:t>
            </a:r>
            <a:r>
              <a:rPr lang="zh-CN" altLang="en-US" sz="2400" dirty="0">
                <a:solidFill>
                  <a:schemeClr val="tx1"/>
                </a:solidFill>
                <a:latin typeface="+mn-lt"/>
                <a:sym typeface="+mn-ea"/>
              </a:rPr>
              <a:t>位，地址总线</a:t>
            </a:r>
            <a:r>
              <a:rPr lang="en-US" altLang="zh-CN" sz="2400" dirty="0">
                <a:solidFill>
                  <a:schemeClr val="tx1"/>
                </a:solidFill>
                <a:latin typeface="+mn-lt"/>
                <a:sym typeface="+mn-ea"/>
              </a:rPr>
              <a:t>20</a:t>
            </a:r>
            <a:r>
              <a:rPr lang="zh-CN" altLang="en-US" sz="2400" dirty="0">
                <a:solidFill>
                  <a:schemeClr val="tx1"/>
                </a:solidFill>
                <a:latin typeface="+mn-lt"/>
                <a:sym typeface="+mn-ea"/>
              </a:rPr>
              <a:t>位（</a:t>
            </a:r>
            <a:r>
              <a:rPr lang="en-US" altLang="zh-CN" sz="2400" dirty="0">
                <a:solidFill>
                  <a:schemeClr val="tx1"/>
                </a:solidFill>
                <a:latin typeface="+mn-lt"/>
                <a:sym typeface="+mn-ea"/>
              </a:rPr>
              <a:t>1MB</a:t>
            </a:r>
            <a:r>
              <a:rPr lang="zh-CN" altLang="en-US" sz="2400" dirty="0">
                <a:solidFill>
                  <a:schemeClr val="tx1"/>
                </a:solidFill>
                <a:latin typeface="+mn-lt"/>
                <a:sym typeface="+mn-ea"/>
              </a:rPr>
              <a:t>主存）</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sym typeface="+mn-ea"/>
              </a:rPr>
              <a:t>8088</a:t>
            </a:r>
            <a:r>
              <a:rPr lang="zh-CN" altLang="en-US" sz="2400" dirty="0">
                <a:solidFill>
                  <a:schemeClr val="tx1"/>
                </a:solidFill>
                <a:latin typeface="+mn-lt"/>
                <a:sym typeface="+mn-ea"/>
              </a:rPr>
              <a:t>内部为</a:t>
            </a:r>
            <a:r>
              <a:rPr lang="en-US" altLang="zh-CN" sz="2400" dirty="0">
                <a:solidFill>
                  <a:schemeClr val="tx1"/>
                </a:solidFill>
                <a:latin typeface="+mn-lt"/>
                <a:sym typeface="+mn-ea"/>
              </a:rPr>
              <a:t>16</a:t>
            </a:r>
            <a:r>
              <a:rPr lang="zh-CN" altLang="en-US" sz="2400" dirty="0">
                <a:solidFill>
                  <a:schemeClr val="tx1"/>
                </a:solidFill>
                <a:latin typeface="+mn-lt"/>
                <a:sym typeface="+mn-ea"/>
              </a:rPr>
              <a:t>位，外部数据总线</a:t>
            </a:r>
            <a:r>
              <a:rPr lang="en-US" altLang="zh-CN" sz="2400" dirty="0">
                <a:solidFill>
                  <a:schemeClr val="tx1"/>
                </a:solidFill>
                <a:latin typeface="+mn-lt"/>
                <a:sym typeface="+mn-ea"/>
              </a:rPr>
              <a:t>8</a:t>
            </a:r>
            <a:r>
              <a:rPr lang="zh-CN" altLang="en-US" sz="2400" dirty="0">
                <a:solidFill>
                  <a:schemeClr val="tx1"/>
                </a:solidFill>
                <a:latin typeface="+mn-lt"/>
                <a:sym typeface="+mn-ea"/>
              </a:rPr>
              <a:t>位，以兼容</a:t>
            </a:r>
            <a:r>
              <a:rPr lang="en-US" altLang="zh-CN" sz="2400" dirty="0">
                <a:solidFill>
                  <a:schemeClr val="tx1"/>
                </a:solidFill>
                <a:latin typeface="+mn-lt"/>
                <a:sym typeface="+mn-ea"/>
              </a:rPr>
              <a:t>8</a:t>
            </a:r>
            <a:r>
              <a:rPr lang="zh-CN" altLang="en-US" sz="2400" dirty="0">
                <a:solidFill>
                  <a:schemeClr val="tx1"/>
                </a:solidFill>
                <a:latin typeface="+mn-lt"/>
                <a:sym typeface="+mn-ea"/>
              </a:rPr>
              <a:t>位外设</a:t>
            </a: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8086/8088</a:t>
            </a:r>
            <a:r>
              <a:rPr lang="zh-CN" altLang="en-US" sz="2400" dirty="0">
                <a:solidFill>
                  <a:schemeClr val="tx1"/>
                </a:solidFill>
                <a:latin typeface="+mn-lt"/>
              </a:rPr>
              <a:t>指令系统提供</a:t>
            </a:r>
            <a:r>
              <a:rPr lang="en-US" altLang="zh-CN" sz="2400" dirty="0">
                <a:solidFill>
                  <a:schemeClr val="tx1"/>
                </a:solidFill>
                <a:latin typeface="+mn-lt"/>
              </a:rPr>
              <a:t>16</a:t>
            </a:r>
            <a:r>
              <a:rPr lang="zh-CN" altLang="en-US" sz="2400" dirty="0">
                <a:solidFill>
                  <a:schemeClr val="tx1"/>
                </a:solidFill>
                <a:latin typeface="+mn-lt"/>
              </a:rPr>
              <a:t>位基本指令集</a:t>
            </a: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8086</a:t>
            </a:r>
            <a:r>
              <a:rPr lang="zh-CN" altLang="en-US" sz="2400" dirty="0">
                <a:solidFill>
                  <a:schemeClr val="tx1"/>
                </a:solidFill>
                <a:latin typeface="+mn-lt"/>
              </a:rPr>
              <a:t>的工作方式是</a:t>
            </a:r>
            <a:r>
              <a:rPr lang="zh-CN" altLang="en-US" sz="2400" dirty="0">
                <a:solidFill>
                  <a:srgbClr val="FF0000"/>
                </a:solidFill>
                <a:latin typeface="+mn-lt"/>
              </a:rPr>
              <a:t>实地址方式</a:t>
            </a:r>
            <a:r>
              <a:rPr lang="zh-CN" altLang="en-US" sz="2400" dirty="0">
                <a:solidFill>
                  <a:schemeClr val="tx1"/>
                </a:solidFill>
                <a:latin typeface="+mn-lt"/>
              </a:rPr>
              <a:t>（</a:t>
            </a:r>
            <a:r>
              <a:rPr lang="en-US" altLang="zh-CN" sz="2400" dirty="0">
                <a:solidFill>
                  <a:schemeClr val="tx1"/>
                </a:solidFill>
                <a:latin typeface="+mn-lt"/>
              </a:rPr>
              <a:t>Real Address Mode</a:t>
            </a:r>
            <a:r>
              <a:rPr lang="zh-CN" altLang="en-US" sz="2400" dirty="0">
                <a:solidFill>
                  <a:schemeClr val="tx1"/>
                </a:solidFill>
                <a:latin typeface="+mn-lt"/>
              </a:rPr>
              <a:t>）</a:t>
            </a:r>
          </a:p>
          <a:p>
            <a:pPr marL="457200" indent="-457200" algn="just" latinLnBrk="0">
              <a:lnSpc>
                <a:spcPct val="130000"/>
              </a:lnSpc>
              <a:spcBef>
                <a:spcPts val="600"/>
              </a:spcBef>
              <a:buClr>
                <a:srgbClr val="0000FF"/>
              </a:buClr>
              <a:buFont typeface="Wingdings" panose="05000000000000000000" pitchFamily="2" charset="2"/>
              <a:buChar char="Ø"/>
            </a:pPr>
            <a:r>
              <a:rPr lang="en-US" altLang="zh-CN" sz="2800" dirty="0">
                <a:latin typeface="+mn-lt"/>
              </a:rPr>
              <a:t>80286</a:t>
            </a:r>
            <a:endParaRPr lang="zh-CN" altLang="en-US" sz="2800" dirty="0">
              <a:latin typeface="+mn-lt"/>
            </a:endParaRPr>
          </a:p>
          <a:p>
            <a:pPr marL="914400" lvl="1" indent="-457200" algn="just">
              <a:lnSpc>
                <a:spcPct val="130000"/>
              </a:lnSpc>
              <a:spcBef>
                <a:spcPts val="600"/>
              </a:spcBef>
              <a:buClr>
                <a:srgbClr val="0000FF"/>
              </a:buClr>
              <a:buSzTx/>
              <a:buFont typeface="Wingdings" panose="05000000000000000000" pitchFamily="2" charset="2"/>
              <a:buChar char="ü"/>
            </a:pPr>
            <a:r>
              <a:rPr lang="zh-CN" altLang="en-US" sz="2400" dirty="0">
                <a:solidFill>
                  <a:schemeClr val="tx1"/>
                </a:solidFill>
                <a:latin typeface="+mn-lt"/>
              </a:rPr>
              <a:t>16位数据总线、24位地址总线（16MB主存）</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highlight>
                  <a:srgbClr val="FFFF00"/>
                </a:highlight>
                <a:latin typeface="+mn-lt"/>
              </a:rPr>
              <a:t>新增</a:t>
            </a:r>
            <a:r>
              <a:rPr lang="zh-CN" altLang="en-US" sz="2400" dirty="0">
                <a:solidFill>
                  <a:srgbClr val="FF0000"/>
                </a:solidFill>
                <a:latin typeface="+mn-lt"/>
              </a:rPr>
              <a:t>保护方式</a:t>
            </a:r>
            <a:r>
              <a:rPr lang="en-US" altLang="zh-CN" sz="2400" dirty="0">
                <a:solidFill>
                  <a:schemeClr val="tx1"/>
                </a:solidFill>
                <a:latin typeface="+mn-lt"/>
              </a:rPr>
              <a:t>(Protected Mode)</a:t>
            </a:r>
            <a:r>
              <a:rPr lang="zh-CN" altLang="en-US" sz="2400" dirty="0">
                <a:solidFill>
                  <a:schemeClr val="tx1"/>
                </a:solidFill>
                <a:latin typeface="+mn-lt"/>
              </a:rPr>
              <a:t>：</a:t>
            </a:r>
            <a:r>
              <a:rPr lang="zh-CN" altLang="en-US" sz="2400" dirty="0">
                <a:solidFill>
                  <a:schemeClr val="tx1"/>
                </a:solidFill>
                <a:latin typeface="+mn-lt"/>
                <a:sym typeface="+mn-ea"/>
              </a:rPr>
              <a:t>提供存储管理、保护机制和多任务管理的硬件支持</a:t>
            </a:r>
            <a:endParaRPr lang="zh-CN" altLang="en-US"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引入了系统指令：</a:t>
            </a:r>
            <a:r>
              <a:rPr lang="zh-CN" altLang="en-US" sz="2400" dirty="0">
                <a:solidFill>
                  <a:schemeClr val="tx1"/>
                </a:solidFill>
                <a:sym typeface="+mn-ea"/>
              </a:rPr>
              <a:t>为操作系统等核心程序</a:t>
            </a:r>
          </a:p>
          <a:p>
            <a:pPr lvl="1" indent="0" algn="just" latinLnBrk="0">
              <a:lnSpc>
                <a:spcPct val="130000"/>
              </a:lnSpc>
              <a:spcBef>
                <a:spcPts val="0"/>
              </a:spcBef>
              <a:buClr>
                <a:srgbClr val="0000FF"/>
              </a:buClr>
              <a:buFont typeface="Wingdings" panose="05000000000000000000" pitchFamily="2" charset="2"/>
              <a:buNone/>
            </a:pPr>
            <a:r>
              <a:rPr lang="en-US" altLang="zh-CN" sz="2400" dirty="0">
                <a:solidFill>
                  <a:schemeClr val="tx1"/>
                </a:solidFill>
                <a:sym typeface="+mn-ea"/>
              </a:rPr>
              <a:t>      </a:t>
            </a:r>
            <a:r>
              <a:rPr lang="zh-CN" altLang="en-US" sz="2400" dirty="0">
                <a:solidFill>
                  <a:schemeClr val="tx1"/>
                </a:solidFill>
                <a:sym typeface="+mn-ea"/>
              </a:rPr>
              <a:t>提供处理器控制功能</a:t>
            </a:r>
            <a:endParaRPr lang="zh-CN" altLang="en-US" sz="2400" dirty="0">
              <a:solidFill>
                <a:schemeClr val="tx1"/>
              </a:solidFill>
              <a:latin typeface="+mn-lt"/>
              <a:sym typeface="+mn-ea"/>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1.1.1 16</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位</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80x86</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p>
        </p:txBody>
      </p:sp>
      <p:cxnSp>
        <p:nvCxnSpPr>
          <p:cNvPr id="8" name="直接连接符 7"/>
          <p:cNvCxnSpPr/>
          <p:nvPr/>
        </p:nvCxnSpPr>
        <p:spPr bwMode="auto">
          <a:xfrm>
            <a:off x="142844" y="66056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14340" name="Picture 5" descr="8088CP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4355" y="812165"/>
            <a:ext cx="191706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 Box 6"/>
          <p:cNvSpPr txBox="1">
            <a:spLocks noChangeArrowheads="1"/>
          </p:cNvSpPr>
          <p:nvPr/>
        </p:nvSpPr>
        <p:spPr bwMode="auto">
          <a:xfrm>
            <a:off x="7884160" y="1586865"/>
            <a:ext cx="1150620" cy="369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zh-CN" sz="1800">
                <a:solidFill>
                  <a:schemeClr val="tx1"/>
                </a:solidFill>
                <a:latin typeface="Times New Roman" panose="02020603050405020304" pitchFamily="18" charset="0"/>
                <a:cs typeface="Times New Roman" panose="02020603050405020304" pitchFamily="18" charset="0"/>
              </a:rPr>
              <a:t>Intel 8086</a:t>
            </a:r>
          </a:p>
        </p:txBody>
      </p:sp>
      <p:pic>
        <p:nvPicPr>
          <p:cNvPr id="4" name="图片 3"/>
          <p:cNvPicPr>
            <a:picLocks noChangeAspect="1"/>
          </p:cNvPicPr>
          <p:nvPr/>
        </p:nvPicPr>
        <p:blipFill>
          <a:blip r:embed="rId6"/>
          <a:stretch>
            <a:fillRect/>
          </a:stretch>
        </p:blipFill>
        <p:spPr>
          <a:xfrm>
            <a:off x="6904990" y="5228590"/>
            <a:ext cx="1759585" cy="1285875"/>
          </a:xfrm>
          <a:prstGeom prst="rect">
            <a:avLst/>
          </a:prstGeom>
        </p:spPr>
      </p:pic>
      <p:sp>
        <p:nvSpPr>
          <p:cNvPr id="5" name="Text Box 6"/>
          <p:cNvSpPr txBox="1">
            <a:spLocks noChangeArrowheads="1"/>
          </p:cNvSpPr>
          <p:nvPr/>
        </p:nvSpPr>
        <p:spPr bwMode="auto">
          <a:xfrm>
            <a:off x="7602220" y="6514465"/>
            <a:ext cx="1264920" cy="369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zh-CN" sz="1800">
                <a:solidFill>
                  <a:schemeClr val="tx1"/>
                </a:solidFill>
                <a:latin typeface="Times New Roman" panose="02020603050405020304" pitchFamily="18" charset="0"/>
                <a:cs typeface="Times New Roman" panose="02020603050405020304" pitchFamily="18" charset="0"/>
              </a:rPr>
              <a:t>Intel 80286</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360" y="549275"/>
            <a:ext cx="8255635" cy="6133465"/>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en-US" altLang="zh-CN" sz="2600" dirty="0">
                <a:latin typeface="+mn-lt"/>
              </a:rPr>
              <a:t>80386</a:t>
            </a:r>
            <a:r>
              <a:rPr lang="zh-CN" altLang="en-US" sz="2600" dirty="0">
                <a:latin typeface="+mn-lt"/>
              </a:rPr>
              <a:t>引入英特尔</a:t>
            </a:r>
            <a:r>
              <a:rPr lang="en-US" altLang="zh-CN" sz="2600" dirty="0">
                <a:latin typeface="+mn-lt"/>
              </a:rPr>
              <a:t>32</a:t>
            </a:r>
            <a:r>
              <a:rPr lang="zh-CN" altLang="en-US" sz="2600" dirty="0">
                <a:latin typeface="+mn-lt"/>
              </a:rPr>
              <a:t>位指令集结构</a:t>
            </a:r>
            <a:r>
              <a:rPr lang="en-US" altLang="zh-CN" sz="2600" dirty="0">
                <a:latin typeface="+mn-lt"/>
              </a:rPr>
              <a:t>ISA</a:t>
            </a:r>
            <a:endParaRPr lang="zh-CN" altLang="en-US" sz="26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sym typeface="+mn-ea"/>
              </a:rPr>
              <a:t>数据总线</a:t>
            </a:r>
            <a:r>
              <a:rPr lang="en-US" altLang="zh-CN" sz="2400" dirty="0">
                <a:solidFill>
                  <a:schemeClr val="tx1"/>
                </a:solidFill>
                <a:latin typeface="+mn-lt"/>
                <a:sym typeface="+mn-ea"/>
              </a:rPr>
              <a:t>32</a:t>
            </a:r>
            <a:r>
              <a:rPr lang="zh-CN" altLang="en-US" sz="2400" dirty="0">
                <a:solidFill>
                  <a:schemeClr val="tx1"/>
                </a:solidFill>
                <a:latin typeface="+mn-lt"/>
                <a:sym typeface="+mn-ea"/>
              </a:rPr>
              <a:t>位，地址总线</a:t>
            </a:r>
            <a:r>
              <a:rPr lang="en-US" altLang="zh-CN" sz="2400" dirty="0">
                <a:solidFill>
                  <a:schemeClr val="tx1"/>
                </a:solidFill>
                <a:latin typeface="+mn-lt"/>
                <a:sym typeface="+mn-ea"/>
              </a:rPr>
              <a:t>32</a:t>
            </a:r>
            <a:r>
              <a:rPr lang="zh-CN" altLang="en-US" sz="2400" dirty="0">
                <a:solidFill>
                  <a:schemeClr val="tx1"/>
                </a:solidFill>
                <a:latin typeface="+mn-lt"/>
                <a:sym typeface="+mn-ea"/>
              </a:rPr>
              <a:t>位（</a:t>
            </a:r>
            <a:r>
              <a:rPr lang="en-US" altLang="zh-CN" sz="2400" dirty="0">
                <a:solidFill>
                  <a:schemeClr val="tx1"/>
                </a:solidFill>
                <a:latin typeface="+mn-lt"/>
                <a:sym typeface="+mn-ea"/>
              </a:rPr>
              <a:t>4GB</a:t>
            </a:r>
            <a:r>
              <a:rPr lang="zh-CN" altLang="en-US" sz="2400" dirty="0">
                <a:solidFill>
                  <a:schemeClr val="tx1"/>
                </a:solidFill>
                <a:latin typeface="+mn-lt"/>
                <a:sym typeface="+mn-ea"/>
              </a:rPr>
              <a:t>主存）</a:t>
            </a: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sym typeface="+mn-ea"/>
              </a:rPr>
              <a:t>全面升级为</a:t>
            </a:r>
            <a:r>
              <a:rPr lang="en-US" altLang="zh-CN" sz="2400" dirty="0">
                <a:solidFill>
                  <a:schemeClr val="tx1"/>
                </a:solidFill>
                <a:latin typeface="+mn-lt"/>
                <a:sym typeface="+mn-ea"/>
              </a:rPr>
              <a:t>32</a:t>
            </a:r>
            <a:r>
              <a:rPr lang="zh-CN" altLang="en-US" sz="2400" dirty="0">
                <a:solidFill>
                  <a:schemeClr val="tx1"/>
                </a:solidFill>
                <a:latin typeface="+mn-lt"/>
                <a:sym typeface="+mn-ea"/>
              </a:rPr>
              <a:t>位，</a:t>
            </a:r>
            <a:r>
              <a:rPr lang="zh-CN" altLang="en-US" sz="2400" dirty="0">
                <a:solidFill>
                  <a:schemeClr val="tx1"/>
                </a:solidFill>
                <a:latin typeface="+mn-lt"/>
              </a:rPr>
              <a:t>兼容原</a:t>
            </a:r>
            <a:r>
              <a:rPr lang="en-US" altLang="zh-CN" sz="2400" dirty="0">
                <a:solidFill>
                  <a:schemeClr val="tx1"/>
                </a:solidFill>
                <a:latin typeface="+mn-lt"/>
              </a:rPr>
              <a:t>16</a:t>
            </a:r>
            <a:r>
              <a:rPr lang="zh-CN" altLang="en-US" sz="2400" dirty="0">
                <a:solidFill>
                  <a:schemeClr val="tx1"/>
                </a:solidFill>
                <a:latin typeface="+mn-lt"/>
              </a:rPr>
              <a:t>位</a:t>
            </a:r>
            <a:r>
              <a:rPr lang="en-US" altLang="zh-CN" sz="2400" dirty="0">
                <a:solidFill>
                  <a:schemeClr val="tx1"/>
                </a:solidFill>
                <a:latin typeface="+mn-lt"/>
              </a:rPr>
              <a:t>80286</a:t>
            </a:r>
            <a:r>
              <a:rPr lang="zh-CN" altLang="en-US" sz="2400" dirty="0">
                <a:solidFill>
                  <a:schemeClr val="tx1"/>
                </a:solidFill>
                <a:latin typeface="+mn-lt"/>
              </a:rPr>
              <a:t>指令系统</a:t>
            </a:r>
          </a:p>
          <a:p>
            <a:pPr marL="914400" lvl="1" indent="-457200" algn="just" latinLnBrk="0">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sym typeface="+mn-ea"/>
              </a:rPr>
              <a:t>80386</a:t>
            </a:r>
            <a:r>
              <a:rPr lang="zh-CN" altLang="en-US" sz="2400" dirty="0">
                <a:solidFill>
                  <a:schemeClr val="tx1"/>
                </a:solidFill>
                <a:latin typeface="+mn-lt"/>
                <a:sym typeface="+mn-ea"/>
              </a:rPr>
              <a:t>的</a:t>
            </a:r>
            <a:r>
              <a:rPr lang="zh-CN" altLang="en-US" sz="2400" dirty="0">
                <a:solidFill>
                  <a:srgbClr val="00B050"/>
                </a:solidFill>
                <a:latin typeface="+mn-lt"/>
                <a:sym typeface="+mn-ea"/>
              </a:rPr>
              <a:t>指令集结构</a:t>
            </a:r>
            <a:r>
              <a:rPr lang="en-US" altLang="zh-CN" sz="2400" dirty="0">
                <a:solidFill>
                  <a:srgbClr val="00B050"/>
                </a:solidFill>
                <a:latin typeface="+mn-lt"/>
                <a:sym typeface="+mn-ea"/>
              </a:rPr>
              <a:t>ISA</a:t>
            </a:r>
            <a:r>
              <a:rPr lang="zh-CN" altLang="en-US" sz="2400" dirty="0">
                <a:solidFill>
                  <a:srgbClr val="00B050"/>
                </a:solidFill>
                <a:latin typeface="+mn-lt"/>
                <a:sym typeface="+mn-ea"/>
              </a:rPr>
              <a:t>（</a:t>
            </a:r>
            <a:r>
              <a:rPr lang="en-US" altLang="zh-CN" sz="2400" dirty="0">
                <a:solidFill>
                  <a:srgbClr val="00B050"/>
                </a:solidFill>
                <a:latin typeface="+mn-lt"/>
                <a:sym typeface="+mn-ea"/>
              </a:rPr>
              <a:t>Instruction Set Architecture</a:t>
            </a:r>
            <a:r>
              <a:rPr lang="zh-CN" altLang="en-US" sz="2400" dirty="0">
                <a:solidFill>
                  <a:srgbClr val="00B050"/>
                </a:solidFill>
                <a:latin typeface="+mn-lt"/>
                <a:sym typeface="+mn-ea"/>
              </a:rPr>
              <a:t>）</a:t>
            </a:r>
            <a:r>
              <a:rPr lang="zh-CN" altLang="en-US" sz="2400" dirty="0">
                <a:solidFill>
                  <a:schemeClr val="tx1"/>
                </a:solidFill>
                <a:latin typeface="+mn-lt"/>
                <a:sym typeface="+mn-ea"/>
              </a:rPr>
              <a:t>为后续</a:t>
            </a:r>
            <a:r>
              <a:rPr lang="en-US" altLang="zh-CN" sz="2400" dirty="0">
                <a:solidFill>
                  <a:schemeClr val="tx1"/>
                </a:solidFill>
                <a:latin typeface="+mn-lt"/>
                <a:sym typeface="+mn-ea"/>
              </a:rPr>
              <a:t>80x86</a:t>
            </a:r>
            <a:r>
              <a:rPr lang="zh-CN" altLang="en-US" sz="2400" dirty="0">
                <a:solidFill>
                  <a:schemeClr val="tx1"/>
                </a:solidFill>
                <a:latin typeface="+mn-lt"/>
                <a:sym typeface="+mn-ea"/>
              </a:rPr>
              <a:t>系列处理器的标准</a:t>
            </a:r>
            <a:endParaRPr lang="zh-CN" altLang="en-US" sz="2400" dirty="0">
              <a:solidFill>
                <a:schemeClr val="tx1"/>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提供</a:t>
            </a:r>
            <a:r>
              <a:rPr lang="zh-CN" altLang="en-US" sz="2400" dirty="0">
                <a:solidFill>
                  <a:srgbClr val="FF0000"/>
                </a:solidFill>
                <a:latin typeface="+mn-lt"/>
              </a:rPr>
              <a:t>虚拟</a:t>
            </a:r>
            <a:r>
              <a:rPr lang="en-US" altLang="zh-CN" sz="2400" dirty="0">
                <a:solidFill>
                  <a:srgbClr val="FF0000"/>
                </a:solidFill>
                <a:latin typeface="+mn-lt"/>
              </a:rPr>
              <a:t>8086</a:t>
            </a:r>
            <a:r>
              <a:rPr lang="zh-CN" altLang="en-US" sz="2400" dirty="0">
                <a:solidFill>
                  <a:srgbClr val="FF0000"/>
                </a:solidFill>
                <a:latin typeface="+mn-lt"/>
              </a:rPr>
              <a:t>工作方式</a:t>
            </a:r>
            <a:r>
              <a:rPr lang="zh-CN" altLang="en-US" sz="2400" dirty="0">
                <a:solidFill>
                  <a:schemeClr val="tx1"/>
                </a:solidFill>
                <a:latin typeface="+mn-lt"/>
              </a:rPr>
              <a:t>（</a:t>
            </a:r>
            <a:r>
              <a:rPr lang="en-US" altLang="zh-CN" sz="2400" dirty="0">
                <a:solidFill>
                  <a:schemeClr val="tx1"/>
                </a:solidFill>
                <a:latin typeface="+mn-lt"/>
              </a:rPr>
              <a:t>Virtual 8086 Mode</a:t>
            </a:r>
            <a:r>
              <a:rPr lang="zh-CN" altLang="en-US" sz="2400" dirty="0">
                <a:solidFill>
                  <a:schemeClr val="tx1"/>
                </a:solidFill>
                <a:latin typeface="+mn-lt"/>
              </a:rPr>
              <a:t>）：</a:t>
            </a:r>
            <a:r>
              <a:rPr lang="zh-CN" altLang="en-US" sz="2400" dirty="0">
                <a:solidFill>
                  <a:srgbClr val="FF0000"/>
                </a:solidFill>
                <a:latin typeface="+mn-lt"/>
              </a:rPr>
              <a:t>在保护方式下的一种特殊状态</a:t>
            </a:r>
            <a:r>
              <a:rPr lang="zh-CN" altLang="en-US" sz="2400" dirty="0">
                <a:solidFill>
                  <a:schemeClr val="tx1"/>
                </a:solidFill>
                <a:latin typeface="+mn-lt"/>
              </a:rPr>
              <a:t>，类似于</a:t>
            </a:r>
            <a:r>
              <a:rPr lang="en-US" altLang="zh-CN" sz="2400" dirty="0">
                <a:solidFill>
                  <a:schemeClr val="tx1"/>
                </a:solidFill>
                <a:latin typeface="+mn-lt"/>
              </a:rPr>
              <a:t>8086</a:t>
            </a:r>
            <a:r>
              <a:rPr lang="zh-CN" altLang="en-US" sz="2400" dirty="0">
                <a:solidFill>
                  <a:schemeClr val="tx1"/>
                </a:solidFill>
                <a:latin typeface="+mn-lt"/>
              </a:rPr>
              <a:t>工作方式但又接受保护方式的管理，如</a:t>
            </a:r>
            <a:r>
              <a:rPr lang="en-US" altLang="zh-CN" sz="2400" dirty="0">
                <a:solidFill>
                  <a:schemeClr val="tx1"/>
                </a:solidFill>
                <a:latin typeface="+mn-lt"/>
              </a:rPr>
              <a:t>MS-DOS</a:t>
            </a:r>
            <a:r>
              <a:rPr lang="zh-CN" altLang="en-US" sz="2400" dirty="0">
                <a:solidFill>
                  <a:schemeClr val="tx1"/>
                </a:solidFill>
                <a:latin typeface="+mn-lt"/>
              </a:rPr>
              <a:t>命令行</a:t>
            </a: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新增</a:t>
            </a:r>
            <a:r>
              <a:rPr lang="zh-CN" altLang="en-US" sz="2400" dirty="0">
                <a:solidFill>
                  <a:srgbClr val="FF0000"/>
                </a:solidFill>
                <a:latin typeface="+mn-lt"/>
              </a:rPr>
              <a:t>系统管理方式</a:t>
            </a:r>
            <a:r>
              <a:rPr lang="zh-CN" altLang="en-US" sz="2400" dirty="0">
                <a:solidFill>
                  <a:schemeClr val="tx1"/>
                </a:solidFill>
                <a:latin typeface="+mn-lt"/>
              </a:rPr>
              <a:t>：</a:t>
            </a:r>
            <a:r>
              <a:rPr lang="zh-CN" altLang="en-US" sz="2400" dirty="0">
                <a:solidFill>
                  <a:schemeClr val="tx1"/>
                </a:solidFill>
                <a:latin typeface="+mn-lt"/>
                <a:sym typeface="+mn-ea"/>
              </a:rPr>
              <a:t>低功耗节能状态</a:t>
            </a:r>
            <a:endParaRPr lang="en-US" altLang="zh-CN" sz="2400" dirty="0">
              <a:solidFill>
                <a:schemeClr val="tx1"/>
              </a:solidFill>
              <a:latin typeface="+mn-lt"/>
            </a:endParaRPr>
          </a:p>
          <a:p>
            <a:pPr marL="457200" indent="-457200" algn="just" latinLnBrk="0">
              <a:lnSpc>
                <a:spcPct val="130000"/>
              </a:lnSpc>
              <a:spcBef>
                <a:spcPts val="0"/>
              </a:spcBef>
              <a:buClr>
                <a:srgbClr val="0000FF"/>
              </a:buClr>
              <a:buFont typeface="Wingdings" panose="05000000000000000000" pitchFamily="2" charset="2"/>
              <a:buChar char="Ø"/>
            </a:pPr>
            <a:r>
              <a:rPr lang="en-US" altLang="zh-CN" sz="2600" dirty="0">
                <a:latin typeface="+mn-lt"/>
              </a:rPr>
              <a:t>80486</a:t>
            </a:r>
            <a:r>
              <a:rPr lang="zh-CN" altLang="en-US" sz="2600" dirty="0">
                <a:latin typeface="+mn-lt"/>
              </a:rPr>
              <a:t>集成浮点处理单元，支持浮点指令</a:t>
            </a:r>
            <a:endParaRPr lang="en-US" altLang="zh-CN" sz="2600" dirty="0">
              <a:solidFill>
                <a:schemeClr val="tx1"/>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sym typeface="+mn-ea"/>
              </a:rPr>
              <a:t>80486</a:t>
            </a:r>
            <a:r>
              <a:rPr lang="zh-CN" altLang="en-US" sz="2400" dirty="0">
                <a:solidFill>
                  <a:schemeClr val="tx1"/>
                </a:solidFill>
                <a:latin typeface="+mn-lt"/>
                <a:sym typeface="+mn-ea"/>
              </a:rPr>
              <a:t>＝</a:t>
            </a:r>
            <a:r>
              <a:rPr lang="en-US" altLang="zh-CN" sz="2400" dirty="0">
                <a:solidFill>
                  <a:schemeClr val="tx1"/>
                </a:solidFill>
                <a:latin typeface="+mn-lt"/>
                <a:sym typeface="+mn-ea"/>
              </a:rPr>
              <a:t>80386</a:t>
            </a:r>
            <a:r>
              <a:rPr lang="zh-CN" altLang="en-US" sz="2400" dirty="0">
                <a:solidFill>
                  <a:schemeClr val="tx1"/>
                </a:solidFill>
                <a:latin typeface="+mn-lt"/>
                <a:sym typeface="+mn-ea"/>
              </a:rPr>
              <a:t>＋</a:t>
            </a:r>
            <a:r>
              <a:rPr lang="en-US" altLang="zh-CN" sz="2400" dirty="0">
                <a:solidFill>
                  <a:schemeClr val="tx1"/>
                </a:solidFill>
                <a:latin typeface="+mn-lt"/>
                <a:sym typeface="+mn-ea"/>
              </a:rPr>
              <a:t>80387</a:t>
            </a:r>
            <a:r>
              <a:rPr lang="zh-CN" altLang="en-US" sz="2400" dirty="0">
                <a:solidFill>
                  <a:schemeClr val="tx1"/>
                </a:solidFill>
                <a:latin typeface="+mn-lt"/>
                <a:sym typeface="+mn-ea"/>
              </a:rPr>
              <a:t>＋</a:t>
            </a:r>
            <a:r>
              <a:rPr lang="en-US" altLang="zh-CN" sz="2400" dirty="0">
                <a:solidFill>
                  <a:schemeClr val="tx1"/>
                </a:solidFill>
                <a:latin typeface="+mn-lt"/>
                <a:sym typeface="+mn-ea"/>
              </a:rPr>
              <a:t>8KB Cache</a:t>
            </a:r>
            <a:endParaRPr lang="zh-CN" altLang="en-US" sz="2400" dirty="0">
              <a:solidFill>
                <a:schemeClr val="tx1"/>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指令系统包含</a:t>
            </a:r>
            <a:r>
              <a:rPr lang="zh-CN" altLang="en-US" sz="2400" dirty="0">
                <a:solidFill>
                  <a:srgbClr val="FF0000"/>
                </a:solidFill>
                <a:latin typeface="+mn-lt"/>
              </a:rPr>
              <a:t>浮点指令</a:t>
            </a:r>
            <a:r>
              <a:rPr lang="zh-CN" altLang="en-US" sz="2400" dirty="0">
                <a:solidFill>
                  <a:schemeClr val="tx1"/>
                </a:solidFill>
                <a:latin typeface="+mn-lt"/>
              </a:rPr>
              <a:t>，能直接对浮点数据进行处理</a:t>
            </a: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具有片上高速缓冲存储器</a:t>
            </a:r>
            <a:r>
              <a:rPr lang="en-US" altLang="zh-CN" sz="2400" dirty="0">
                <a:solidFill>
                  <a:schemeClr val="tx1"/>
                </a:solidFill>
                <a:latin typeface="+mn-lt"/>
              </a:rPr>
              <a:t>(</a:t>
            </a:r>
            <a:r>
              <a:rPr lang="en-US" altLang="zh-CN" sz="2400" dirty="0">
                <a:solidFill>
                  <a:srgbClr val="FF0000"/>
                </a:solidFill>
                <a:latin typeface="+mn-lt"/>
              </a:rPr>
              <a:t>L1 Cache</a:t>
            </a:r>
            <a:r>
              <a:rPr lang="en-US" altLang="zh-CN" sz="2400" dirty="0">
                <a:solidFill>
                  <a:schemeClr val="tx1"/>
                </a:solidFill>
                <a:latin typeface="+mn-lt"/>
              </a:rPr>
              <a:t>)</a:t>
            </a:r>
            <a:endParaRPr lang="zh-CN" altLang="en-US" sz="2400" dirty="0">
              <a:solidFill>
                <a:srgbClr val="000000"/>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1.2.2 IA-32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r>
              <a:rPr lang="en-US" altLang="zh-CN" b="1" dirty="0">
                <a:solidFill>
                  <a:srgbClr val="FF0000"/>
                </a:solidFill>
                <a:latin typeface="+mn-lt"/>
                <a:sym typeface="+mn-ea"/>
              </a:rPr>
              <a:t>I</a:t>
            </a:r>
            <a:r>
              <a:rPr lang="en-US" altLang="zh-CN" dirty="0">
                <a:solidFill>
                  <a:schemeClr val="tx1"/>
                </a:solidFill>
                <a:latin typeface="+mn-lt"/>
                <a:sym typeface="+mn-ea"/>
              </a:rPr>
              <a:t>ntel </a:t>
            </a:r>
            <a:r>
              <a:rPr lang="en-US" altLang="zh-CN" b="1" dirty="0">
                <a:solidFill>
                  <a:srgbClr val="FF0000"/>
                </a:solidFill>
                <a:latin typeface="+mn-lt"/>
                <a:sym typeface="+mn-ea"/>
              </a:rPr>
              <a:t>A</a:t>
            </a:r>
            <a:r>
              <a:rPr lang="en-US" altLang="zh-CN" dirty="0">
                <a:solidFill>
                  <a:schemeClr val="tx1"/>
                </a:solidFill>
                <a:latin typeface="+mn-lt"/>
                <a:sym typeface="+mn-ea"/>
              </a:rPr>
              <a:t>rchitecture</a:t>
            </a:r>
            <a:r>
              <a:rPr lang="en-US" altLang="zh-CN" b="1" dirty="0">
                <a:solidFill>
                  <a:srgbClr val="FF0000"/>
                </a:solidFill>
                <a:latin typeface="+mn-lt"/>
                <a:sym typeface="+mn-ea"/>
              </a:rPr>
              <a:t>-32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a:t>
            </a:r>
          </a:p>
        </p:txBody>
      </p:sp>
      <p:cxnSp>
        <p:nvCxnSpPr>
          <p:cNvPr id="8" name="直接连接符 7"/>
          <p:cNvCxnSpPr/>
          <p:nvPr/>
        </p:nvCxnSpPr>
        <p:spPr bwMode="auto">
          <a:xfrm>
            <a:off x="142844" y="62119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50520" y="610235"/>
            <a:ext cx="8372475" cy="6185535"/>
          </a:xfrm>
          <a:prstGeom prst="rect">
            <a:avLst/>
          </a:prstGeom>
        </p:spPr>
        <p:txBody>
          <a:bodyPr/>
          <a:lstStyle/>
          <a:p>
            <a:pPr marL="457200" indent="-360045" algn="just" latinLnBrk="0">
              <a:lnSpc>
                <a:spcPct val="115000"/>
              </a:lnSpc>
              <a:spcBef>
                <a:spcPts val="0"/>
              </a:spcBef>
              <a:buClr>
                <a:srgbClr val="0000FF"/>
              </a:buClr>
              <a:buSzPct val="100000"/>
              <a:buFont typeface="Wingdings" panose="05000000000000000000" pitchFamily="2" charset="2"/>
              <a:buChar char="Ø"/>
              <a:defRPr/>
            </a:pPr>
            <a:r>
              <a:rPr lang="en-US" altLang="zh-CN" sz="2800" dirty="0">
                <a:latin typeface="+mn-lt"/>
              </a:rPr>
              <a:t>Pentium</a:t>
            </a:r>
            <a:r>
              <a:rPr lang="zh-CN" altLang="en-US" sz="2800" dirty="0">
                <a:latin typeface="+mn-lt"/>
              </a:rPr>
              <a:t>系列</a:t>
            </a:r>
          </a:p>
          <a:p>
            <a:pPr marL="914400" lvl="1" indent="-360045" algn="just" latinLnBrk="0">
              <a:lnSpc>
                <a:spcPct val="115000"/>
              </a:lnSpc>
              <a:spcBef>
                <a:spcPts val="0"/>
              </a:spcBef>
              <a:buClr>
                <a:srgbClr val="0000FF"/>
              </a:buClr>
              <a:buFont typeface="Wingdings" panose="05000000000000000000" pitchFamily="2" charset="2"/>
              <a:buChar char="ü"/>
            </a:pPr>
            <a:r>
              <a:rPr lang="en-US" altLang="zh-CN" sz="2400" dirty="0">
                <a:solidFill>
                  <a:srgbClr val="0000FF"/>
                </a:solidFill>
                <a:latin typeface="+mn-lt"/>
              </a:rPr>
              <a:t>Pentium</a:t>
            </a:r>
            <a:r>
              <a:rPr lang="en-US" altLang="zh-CN" sz="2400" dirty="0">
                <a:solidFill>
                  <a:schemeClr val="tx1"/>
                </a:solidFill>
                <a:latin typeface="+mn-lt"/>
              </a:rPr>
              <a:t>(80586)</a:t>
            </a:r>
            <a:r>
              <a:rPr lang="zh-CN" altLang="en-US" sz="2400" dirty="0">
                <a:solidFill>
                  <a:schemeClr val="tx1"/>
                </a:solidFill>
                <a:latin typeface="+mn-lt"/>
              </a:rPr>
              <a:t>，因数字难以进行商标版权保护而更名</a:t>
            </a:r>
          </a:p>
          <a:p>
            <a:pPr marL="1367790" lvl="1" indent="-360045" algn="just" latinLnBrk="0">
              <a:lnSpc>
                <a:spcPct val="115000"/>
              </a:lnSpc>
              <a:spcBef>
                <a:spcPts val="0"/>
              </a:spcBef>
              <a:buClr>
                <a:srgbClr val="0000FF"/>
              </a:buClr>
              <a:buFont typeface="Arial" panose="020B0604020202020204" pitchFamily="34" charset="0"/>
              <a:buChar char="•"/>
            </a:pPr>
            <a:r>
              <a:rPr lang="zh-CN" altLang="en-US" sz="2200" dirty="0">
                <a:solidFill>
                  <a:srgbClr val="00B050"/>
                </a:solidFill>
                <a:latin typeface="+mn-lt"/>
              </a:rPr>
              <a:t>分离的</a:t>
            </a:r>
            <a:r>
              <a:rPr lang="en-US" altLang="zh-CN" sz="2200" dirty="0">
                <a:solidFill>
                  <a:srgbClr val="00B050"/>
                </a:solidFill>
                <a:latin typeface="+mn-lt"/>
              </a:rPr>
              <a:t>Cache</a:t>
            </a:r>
            <a:r>
              <a:rPr lang="zh-CN" altLang="en-US" sz="2200" dirty="0">
                <a:solidFill>
                  <a:srgbClr val="00B050"/>
                </a:solidFill>
                <a:latin typeface="+mn-lt"/>
              </a:rPr>
              <a:t>结构</a:t>
            </a:r>
            <a:r>
              <a:rPr lang="zh-CN" altLang="en-US" sz="2200" dirty="0">
                <a:solidFill>
                  <a:schemeClr val="tx1"/>
                </a:solidFill>
                <a:latin typeface="+mn-lt"/>
              </a:rPr>
              <a:t>：指令</a:t>
            </a:r>
            <a:r>
              <a:rPr lang="en-US" altLang="zh-CN" sz="2200" dirty="0">
                <a:solidFill>
                  <a:schemeClr val="tx1"/>
                </a:solidFill>
                <a:latin typeface="+mn-lt"/>
              </a:rPr>
              <a:t>Cache</a:t>
            </a:r>
            <a:r>
              <a:rPr lang="zh-CN" altLang="en-US" sz="2200" dirty="0">
                <a:solidFill>
                  <a:schemeClr val="tx1"/>
                </a:solidFill>
                <a:latin typeface="+mn-lt"/>
              </a:rPr>
              <a:t>和数据</a:t>
            </a:r>
            <a:r>
              <a:rPr lang="en-US" altLang="zh-CN" sz="2200" dirty="0">
                <a:solidFill>
                  <a:schemeClr val="tx1"/>
                </a:solidFill>
                <a:latin typeface="+mn-lt"/>
              </a:rPr>
              <a:t>Cache</a:t>
            </a:r>
          </a:p>
          <a:p>
            <a:pPr marL="914400" lvl="1" indent="-360045" algn="just" latinLnBrk="0">
              <a:lnSpc>
                <a:spcPct val="115000"/>
              </a:lnSpc>
              <a:spcBef>
                <a:spcPts val="0"/>
              </a:spcBef>
              <a:buClr>
                <a:srgbClr val="0000FF"/>
              </a:buClr>
              <a:buFont typeface="Wingdings" panose="05000000000000000000" pitchFamily="2" charset="2"/>
              <a:buChar char="ü"/>
            </a:pPr>
            <a:r>
              <a:rPr lang="en-US" altLang="zh-CN" sz="2400" dirty="0">
                <a:solidFill>
                  <a:srgbClr val="0000FF"/>
                </a:solidFill>
                <a:latin typeface="+mn-lt"/>
              </a:rPr>
              <a:t>Pentium Pro</a:t>
            </a:r>
          </a:p>
          <a:p>
            <a:pPr marL="1367790" lvl="1" indent="-360045" algn="just" latinLnBrk="0">
              <a:lnSpc>
                <a:spcPct val="115000"/>
              </a:lnSpc>
              <a:spcBef>
                <a:spcPts val="0"/>
              </a:spcBef>
              <a:buClr>
                <a:srgbClr val="0000FF"/>
              </a:buClr>
              <a:buSzTx/>
              <a:buFont typeface="Arial" panose="020B0604020202020204" pitchFamily="34" charset="0"/>
              <a:buChar char="•"/>
            </a:pPr>
            <a:r>
              <a:rPr lang="zh-CN" altLang="en-US" sz="2200" dirty="0">
                <a:solidFill>
                  <a:srgbClr val="00B050"/>
                </a:solidFill>
                <a:latin typeface="+mn-lt"/>
              </a:rPr>
              <a:t>集成</a:t>
            </a:r>
            <a:r>
              <a:rPr lang="en-US" altLang="zh-CN" sz="2200" dirty="0">
                <a:solidFill>
                  <a:srgbClr val="00B050"/>
                </a:solidFill>
                <a:latin typeface="+mn-lt"/>
              </a:rPr>
              <a:t>L2 Cache</a:t>
            </a:r>
            <a:r>
              <a:rPr lang="zh-CN" altLang="en-US" sz="2200" dirty="0">
                <a:solidFill>
                  <a:srgbClr val="00B050"/>
                </a:solidFill>
                <a:latin typeface="+mn-lt"/>
                <a:sym typeface="+mn-ea"/>
              </a:rPr>
              <a:t>，</a:t>
            </a:r>
            <a:r>
              <a:rPr lang="en-US" altLang="zh-CN" sz="2200" dirty="0">
                <a:solidFill>
                  <a:srgbClr val="00B050"/>
                </a:solidFill>
                <a:latin typeface="+mn-lt"/>
              </a:rPr>
              <a:t>陆续增加若干整数指令、完善浮点指令</a:t>
            </a:r>
            <a:endParaRPr lang="en-US" altLang="zh-CN" sz="2200" dirty="0">
              <a:solidFill>
                <a:schemeClr val="tx1"/>
              </a:solidFill>
              <a:latin typeface="+mn-lt"/>
            </a:endParaRPr>
          </a:p>
          <a:p>
            <a:pPr marL="914400" lvl="1" indent="-360045" algn="just" latinLnBrk="0">
              <a:lnSpc>
                <a:spcPct val="115000"/>
              </a:lnSpc>
              <a:spcBef>
                <a:spcPts val="0"/>
              </a:spcBef>
              <a:buClr>
                <a:srgbClr val="0000FF"/>
              </a:buClr>
              <a:buSzTx/>
              <a:buFont typeface="Wingdings" panose="05000000000000000000" pitchFamily="2" charset="2"/>
              <a:buChar char="ü"/>
            </a:pPr>
            <a:r>
              <a:rPr lang="en-US" altLang="zh-CN" sz="2400" dirty="0">
                <a:solidFill>
                  <a:srgbClr val="0000FF"/>
                </a:solidFill>
                <a:latin typeface="+mn-lt"/>
                <a:sym typeface="+mn-ea"/>
              </a:rPr>
              <a:t>Pentium MMX/II</a:t>
            </a:r>
          </a:p>
          <a:p>
            <a:pPr marL="1367790" lvl="1" indent="-360045" algn="just" latinLnBrk="0">
              <a:lnSpc>
                <a:spcPct val="115000"/>
              </a:lnSpc>
              <a:spcBef>
                <a:spcPts val="0"/>
              </a:spcBef>
              <a:buClr>
                <a:srgbClr val="0000FF"/>
              </a:buClr>
              <a:buSzTx/>
              <a:buFont typeface="Arial" panose="020B0604020202020204" pitchFamily="34" charset="0"/>
              <a:buChar char="•"/>
            </a:pPr>
            <a:r>
              <a:rPr lang="zh-CN" altLang="en-US" sz="2200" dirty="0">
                <a:solidFill>
                  <a:schemeClr val="tx1"/>
                </a:solidFill>
                <a:latin typeface="+mn-lt"/>
              </a:rPr>
              <a:t>面向</a:t>
            </a:r>
            <a:r>
              <a:rPr lang="en-US" altLang="zh-CN" sz="2200" dirty="0">
                <a:solidFill>
                  <a:schemeClr val="tx1"/>
                </a:solidFill>
                <a:latin typeface="+mn-lt"/>
              </a:rPr>
              <a:t>多媒体和通信方向，新增多媒体扩展</a:t>
            </a:r>
            <a:r>
              <a:rPr lang="en-US" altLang="zh-CN" sz="2200" dirty="0">
                <a:solidFill>
                  <a:srgbClr val="00B050"/>
                </a:solidFill>
                <a:latin typeface="+mn-lt"/>
                <a:sym typeface="+mn-ea"/>
              </a:rPr>
              <a:t>MMX</a:t>
            </a:r>
            <a:r>
              <a:rPr lang="en-US" altLang="zh-CN" sz="2200" dirty="0">
                <a:solidFill>
                  <a:srgbClr val="00B050"/>
                </a:solidFill>
                <a:latin typeface="+mn-lt"/>
              </a:rPr>
              <a:t>指令</a:t>
            </a:r>
            <a:endParaRPr lang="en-US" altLang="zh-CN" sz="2200" dirty="0">
              <a:solidFill>
                <a:schemeClr val="tx1"/>
              </a:solidFill>
              <a:latin typeface="+mn-lt"/>
            </a:endParaRPr>
          </a:p>
          <a:p>
            <a:pPr marL="914400" lvl="1" indent="-360045" algn="just" latinLnBrk="0">
              <a:lnSpc>
                <a:spcPct val="115000"/>
              </a:lnSpc>
              <a:spcBef>
                <a:spcPts val="0"/>
              </a:spcBef>
              <a:buClr>
                <a:srgbClr val="0000FF"/>
              </a:buClr>
              <a:buSzTx/>
              <a:buFont typeface="Wingdings" panose="05000000000000000000" pitchFamily="2" charset="2"/>
              <a:buChar char="ü"/>
            </a:pPr>
            <a:r>
              <a:rPr lang="en-US" altLang="zh-CN" sz="2400" dirty="0">
                <a:solidFill>
                  <a:srgbClr val="0000FF"/>
                </a:solidFill>
                <a:latin typeface="+mn-lt"/>
              </a:rPr>
              <a:t>Pentium III</a:t>
            </a:r>
          </a:p>
          <a:p>
            <a:pPr marL="1367790" lvl="1" indent="-360045" algn="just" latinLnBrk="0">
              <a:lnSpc>
                <a:spcPct val="115000"/>
              </a:lnSpc>
              <a:spcBef>
                <a:spcPts val="0"/>
              </a:spcBef>
              <a:buClr>
                <a:srgbClr val="0000FF"/>
              </a:buClr>
              <a:buSzTx/>
              <a:buFont typeface="Arial" panose="020B0604020202020204" pitchFamily="34" charset="0"/>
              <a:buChar char="•"/>
            </a:pPr>
            <a:r>
              <a:rPr lang="zh-CN" altLang="en-US" sz="2200" dirty="0">
                <a:solidFill>
                  <a:schemeClr val="tx1"/>
                </a:solidFill>
                <a:latin typeface="+mn-lt"/>
              </a:rPr>
              <a:t>面向</a:t>
            </a:r>
            <a:r>
              <a:rPr lang="en-US" altLang="zh-CN" sz="2200" dirty="0">
                <a:solidFill>
                  <a:schemeClr val="tx1"/>
                </a:solidFill>
                <a:latin typeface="+mn-lt"/>
              </a:rPr>
              <a:t>互联网和三维多媒体</a:t>
            </a:r>
            <a:r>
              <a:rPr lang="zh-CN" altLang="en-US" sz="2200" dirty="0">
                <a:solidFill>
                  <a:schemeClr val="tx1"/>
                </a:solidFill>
                <a:latin typeface="+mn-lt"/>
              </a:rPr>
              <a:t>应用</a:t>
            </a:r>
            <a:r>
              <a:rPr lang="en-US" altLang="zh-CN" sz="2200" dirty="0">
                <a:solidFill>
                  <a:schemeClr val="tx1"/>
                </a:solidFill>
                <a:latin typeface="+mn-lt"/>
              </a:rPr>
              <a:t>，新增</a:t>
            </a:r>
            <a:r>
              <a:rPr lang="en-US" altLang="zh-CN" sz="2200" dirty="0">
                <a:solidFill>
                  <a:srgbClr val="00B050"/>
                </a:solidFill>
                <a:latin typeface="+mn-lt"/>
              </a:rPr>
              <a:t>SSE指令</a:t>
            </a:r>
            <a:r>
              <a:rPr lang="en-US" altLang="zh-CN" sz="2200" dirty="0">
                <a:solidFill>
                  <a:schemeClr val="tx1"/>
                </a:solidFill>
                <a:latin typeface="+mn-lt"/>
              </a:rPr>
              <a:t>，侧重于浮点单精度多媒体运算，提高浮点3D数据的处理能力</a:t>
            </a:r>
          </a:p>
          <a:p>
            <a:pPr marL="1367790" lvl="1" indent="-360045" algn="just" latinLnBrk="0">
              <a:lnSpc>
                <a:spcPct val="115000"/>
              </a:lnSpc>
              <a:spcBef>
                <a:spcPts val="0"/>
              </a:spcBef>
              <a:buClr>
                <a:srgbClr val="0000FF"/>
              </a:buClr>
              <a:buSzTx/>
              <a:buFont typeface="Arial" panose="020B0604020202020204" pitchFamily="34" charset="0"/>
              <a:buChar char="•"/>
            </a:pPr>
            <a:r>
              <a:rPr lang="en-US" altLang="zh-CN" sz="2200" dirty="0">
                <a:solidFill>
                  <a:schemeClr val="tx1"/>
                </a:solidFill>
                <a:latin typeface="+mn-lt"/>
              </a:rPr>
              <a:t>SSE</a:t>
            </a:r>
            <a:r>
              <a:rPr lang="zh-CN" altLang="en-US" sz="2200" dirty="0">
                <a:solidFill>
                  <a:schemeClr val="tx1"/>
                </a:solidFill>
                <a:latin typeface="+mn-lt"/>
              </a:rPr>
              <a:t>指令具有单指令多数据处理能力，一条指令可以同时进行多组数据的操作</a:t>
            </a:r>
          </a:p>
          <a:p>
            <a:pPr marL="914400" lvl="1" indent="-360045" algn="just" latinLnBrk="0">
              <a:lnSpc>
                <a:spcPct val="115000"/>
              </a:lnSpc>
              <a:spcBef>
                <a:spcPts val="0"/>
              </a:spcBef>
              <a:buClr>
                <a:srgbClr val="0000FF"/>
              </a:buClr>
              <a:buSzTx/>
              <a:buFont typeface="Wingdings" panose="05000000000000000000" pitchFamily="2" charset="2"/>
              <a:buChar char="ü"/>
            </a:pPr>
            <a:r>
              <a:rPr lang="en-US" altLang="zh-CN" sz="2400" dirty="0">
                <a:solidFill>
                  <a:srgbClr val="0000FF"/>
                </a:solidFill>
                <a:latin typeface="+mn-lt"/>
              </a:rPr>
              <a:t>Pentium 4</a:t>
            </a:r>
            <a:endParaRPr lang="en-US" altLang="zh-CN" sz="2400" dirty="0">
              <a:solidFill>
                <a:schemeClr val="tx1"/>
              </a:solidFill>
              <a:latin typeface="+mn-lt"/>
            </a:endParaRPr>
          </a:p>
          <a:p>
            <a:pPr marL="1367790" lvl="1" indent="-360045" algn="just" latinLnBrk="0">
              <a:lnSpc>
                <a:spcPct val="115000"/>
              </a:lnSpc>
              <a:spcBef>
                <a:spcPts val="0"/>
              </a:spcBef>
              <a:buClr>
                <a:srgbClr val="0000FF"/>
              </a:buClr>
              <a:buSzTx/>
              <a:buFont typeface="Arial" panose="020B0604020202020204" pitchFamily="34" charset="0"/>
              <a:buChar char="•"/>
            </a:pPr>
            <a:r>
              <a:rPr lang="en-US" altLang="zh-CN" sz="2200" dirty="0">
                <a:solidFill>
                  <a:schemeClr val="tx1"/>
                </a:solidFill>
                <a:latin typeface="+mn-lt"/>
              </a:rPr>
              <a:t>新增</a:t>
            </a:r>
            <a:r>
              <a:rPr lang="en-US" altLang="zh-CN" sz="2200" dirty="0">
                <a:solidFill>
                  <a:srgbClr val="00B050"/>
                </a:solidFill>
                <a:latin typeface="+mn-lt"/>
              </a:rPr>
              <a:t>SSE2指令</a:t>
            </a:r>
            <a:r>
              <a:rPr lang="en-US" altLang="zh-CN" sz="2200" dirty="0">
                <a:solidFill>
                  <a:schemeClr val="tx1"/>
                </a:solidFill>
                <a:latin typeface="+mn-lt"/>
              </a:rPr>
              <a:t>：增强浮点双精度多媒体运算能力</a:t>
            </a:r>
          </a:p>
          <a:p>
            <a:pPr marL="1367790" lvl="1" indent="-360045" algn="just" latinLnBrk="0">
              <a:lnSpc>
                <a:spcPct val="115000"/>
              </a:lnSpc>
              <a:spcBef>
                <a:spcPts val="0"/>
              </a:spcBef>
              <a:buClr>
                <a:srgbClr val="0000FF"/>
              </a:buClr>
              <a:buSzTx/>
              <a:buFont typeface="Arial" panose="020B0604020202020204" pitchFamily="34" charset="0"/>
              <a:buChar char="•"/>
            </a:pPr>
            <a:r>
              <a:rPr lang="en-US" altLang="zh-CN" sz="2200" dirty="0">
                <a:solidFill>
                  <a:schemeClr val="tx1"/>
                </a:solidFill>
                <a:latin typeface="+mn-lt"/>
              </a:rPr>
              <a:t>新增</a:t>
            </a:r>
            <a:r>
              <a:rPr lang="en-US" altLang="zh-CN" sz="2200" dirty="0">
                <a:solidFill>
                  <a:srgbClr val="00B050"/>
                </a:solidFill>
                <a:latin typeface="+mn-lt"/>
              </a:rPr>
              <a:t>SSE3指令</a:t>
            </a:r>
            <a:r>
              <a:rPr lang="en-US" altLang="zh-CN" sz="2200" dirty="0">
                <a:solidFill>
                  <a:schemeClr val="tx1"/>
                </a:solidFill>
                <a:latin typeface="+mn-lt"/>
              </a:rPr>
              <a:t>：增强和完善MMX，SSE和SSE2指令</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1.2.2 IA-32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r>
              <a:rPr lang="en-US" altLang="zh-CN" b="1" dirty="0">
                <a:solidFill>
                  <a:srgbClr val="FF0000"/>
                </a:solidFill>
                <a:latin typeface="+mn-lt"/>
                <a:sym typeface="+mn-ea"/>
              </a:rPr>
              <a:t>I</a:t>
            </a:r>
            <a:r>
              <a:rPr lang="en-US" altLang="zh-CN" dirty="0">
                <a:solidFill>
                  <a:schemeClr val="tx1"/>
                </a:solidFill>
                <a:latin typeface="+mn-lt"/>
                <a:sym typeface="+mn-ea"/>
              </a:rPr>
              <a:t>ntel </a:t>
            </a:r>
            <a:r>
              <a:rPr lang="en-US" altLang="zh-CN" b="1" dirty="0">
                <a:solidFill>
                  <a:srgbClr val="FF0000"/>
                </a:solidFill>
                <a:latin typeface="+mn-lt"/>
                <a:sym typeface="+mn-ea"/>
              </a:rPr>
              <a:t>A</a:t>
            </a:r>
            <a:r>
              <a:rPr lang="en-US" altLang="zh-CN" dirty="0">
                <a:solidFill>
                  <a:schemeClr val="tx1"/>
                </a:solidFill>
                <a:latin typeface="+mn-lt"/>
                <a:sym typeface="+mn-ea"/>
              </a:rPr>
              <a:t>rchitecture</a:t>
            </a:r>
            <a:r>
              <a:rPr lang="en-US" altLang="zh-CN" b="1" dirty="0">
                <a:solidFill>
                  <a:srgbClr val="FF0000"/>
                </a:solidFill>
                <a:latin typeface="+mn-lt"/>
                <a:sym typeface="+mn-ea"/>
              </a:rPr>
              <a:t>-32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a:t>
            </a:r>
          </a:p>
        </p:txBody>
      </p:sp>
      <p:cxnSp>
        <p:nvCxnSpPr>
          <p:cNvPr id="8" name="直接连接符 7"/>
          <p:cNvCxnSpPr/>
          <p:nvPr/>
        </p:nvCxnSpPr>
        <p:spPr bwMode="auto">
          <a:xfrm>
            <a:off x="142844" y="631989"/>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60626" y="620688"/>
            <a:ext cx="8315830" cy="58931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随着互联网、多媒体、</a:t>
            </a:r>
            <a:r>
              <a:rPr lang="en-US" altLang="zh-CN" sz="2800" dirty="0">
                <a:solidFill>
                  <a:schemeClr val="tx1"/>
                </a:solidFill>
                <a:latin typeface="+mn-lt"/>
              </a:rPr>
              <a:t>3D</a:t>
            </a:r>
            <a:r>
              <a:rPr lang="zh-CN" altLang="en-US" sz="2800" dirty="0">
                <a:solidFill>
                  <a:schemeClr val="tx1"/>
                </a:solidFill>
                <a:latin typeface="+mn-lt"/>
              </a:rPr>
              <a:t>视频等技术的发展，</a:t>
            </a:r>
            <a:r>
              <a:rPr lang="en-US" altLang="zh-CN" sz="2800" dirty="0">
                <a:solidFill>
                  <a:srgbClr val="00B050"/>
                </a:solidFill>
                <a:latin typeface="+mn-lt"/>
              </a:rPr>
              <a:t>32</a:t>
            </a:r>
            <a:r>
              <a:rPr lang="zh-CN" altLang="en-US" sz="2800" dirty="0">
                <a:solidFill>
                  <a:srgbClr val="00B050"/>
                </a:solidFill>
                <a:latin typeface="+mn-lt"/>
              </a:rPr>
              <a:t>位单核处理器</a:t>
            </a:r>
            <a:r>
              <a:rPr lang="zh-CN" altLang="en-US" sz="2800" dirty="0">
                <a:solidFill>
                  <a:schemeClr val="tx1"/>
                </a:solidFill>
                <a:latin typeface="+mn-lt"/>
              </a:rPr>
              <a:t>已不能满足对计算机性能的要求</a:t>
            </a:r>
            <a:endParaRPr lang="zh-CN" altLang="en-US"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Intel 64</a:t>
            </a:r>
            <a:r>
              <a:rPr lang="zh-CN" altLang="en-US" sz="2800" dirty="0">
                <a:latin typeface="+mn-lt"/>
              </a:rPr>
              <a:t>结构（</a:t>
            </a:r>
            <a:r>
              <a:rPr lang="en-US" altLang="zh-CN" sz="2800" dirty="0">
                <a:latin typeface="+mn-lt"/>
              </a:rPr>
              <a:t>x64</a:t>
            </a:r>
            <a:r>
              <a:rPr lang="zh-CN" altLang="en-US" sz="2800" dirty="0">
                <a:latin typeface="+mn-lt"/>
              </a:rPr>
              <a:t>）</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扩展存储器技术</a:t>
            </a:r>
            <a:r>
              <a:rPr lang="en-US" altLang="zh-CN" sz="2400" dirty="0">
                <a:solidFill>
                  <a:schemeClr val="tx1"/>
                </a:solidFill>
                <a:latin typeface="+mn-lt"/>
              </a:rPr>
              <a:t>EM64T</a:t>
            </a:r>
            <a:r>
              <a:rPr lang="zh-CN" altLang="en-US" sz="2400" dirty="0">
                <a:solidFill>
                  <a:schemeClr val="tx1"/>
                </a:solidFill>
                <a:latin typeface="+mn-lt"/>
              </a:rPr>
              <a:t>，</a:t>
            </a:r>
            <a:r>
              <a:rPr lang="en-US" altLang="zh-CN" sz="2400" dirty="0">
                <a:solidFill>
                  <a:srgbClr val="00B050"/>
                </a:solidFill>
                <a:latin typeface="+mn-lt"/>
              </a:rPr>
              <a:t>IA-32</a:t>
            </a:r>
            <a:r>
              <a:rPr lang="zh-CN" altLang="en-US" sz="2400" dirty="0">
                <a:solidFill>
                  <a:srgbClr val="00B050"/>
                </a:solidFill>
                <a:latin typeface="+mn-lt"/>
              </a:rPr>
              <a:t>指令系统扩展为</a:t>
            </a:r>
            <a:r>
              <a:rPr lang="en-US" altLang="zh-CN" sz="2400" dirty="0">
                <a:solidFill>
                  <a:srgbClr val="00B050"/>
                </a:solidFill>
                <a:latin typeface="+mn-lt"/>
              </a:rPr>
              <a:t>64</a:t>
            </a:r>
            <a:r>
              <a:rPr lang="zh-CN" altLang="en-US" sz="2400" dirty="0">
                <a:solidFill>
                  <a:srgbClr val="00B050"/>
                </a:solidFill>
                <a:latin typeface="+mn-lt"/>
              </a:rPr>
              <a:t>位，能够兼容</a:t>
            </a:r>
            <a:r>
              <a:rPr lang="en-US" altLang="zh-CN" sz="2400" dirty="0">
                <a:solidFill>
                  <a:srgbClr val="00B050"/>
                </a:solidFill>
                <a:latin typeface="+mn-lt"/>
              </a:rPr>
              <a:t>32</a:t>
            </a:r>
            <a:r>
              <a:rPr lang="zh-CN" altLang="en-US" sz="2400" dirty="0">
                <a:solidFill>
                  <a:srgbClr val="00B050"/>
                </a:solidFill>
                <a:latin typeface="+mn-lt"/>
              </a:rPr>
              <a:t>位指令系统，</a:t>
            </a:r>
            <a:r>
              <a:rPr lang="zh-CN" altLang="en-US" sz="2400" dirty="0">
                <a:solidFill>
                  <a:schemeClr val="tx1"/>
                </a:solidFill>
                <a:latin typeface="+mn-lt"/>
              </a:rPr>
              <a:t>也称为</a:t>
            </a:r>
            <a:r>
              <a:rPr lang="en-US" altLang="zh-CN" sz="2400" dirty="0">
                <a:solidFill>
                  <a:schemeClr val="tx1"/>
                </a:solidFill>
                <a:latin typeface="+mn-lt"/>
              </a:rPr>
              <a:t>x86-64</a:t>
            </a:r>
            <a:r>
              <a:rPr lang="zh-CN" altLang="en-US" sz="2400" dirty="0">
                <a:solidFill>
                  <a:schemeClr val="tx1"/>
                </a:solidFill>
                <a:latin typeface="+mn-lt"/>
              </a:rPr>
              <a:t>或</a:t>
            </a:r>
            <a:r>
              <a:rPr lang="en-US" altLang="zh-CN" sz="2400" dirty="0">
                <a:solidFill>
                  <a:srgbClr val="00B050"/>
                </a:solidFill>
                <a:latin typeface="+mn-lt"/>
              </a:rPr>
              <a:t>x64</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新增</a:t>
            </a:r>
            <a:r>
              <a:rPr lang="en-US" altLang="zh-CN" sz="2400" dirty="0">
                <a:solidFill>
                  <a:schemeClr val="tx1"/>
                </a:solidFill>
                <a:latin typeface="+mn-lt"/>
              </a:rPr>
              <a:t>32</a:t>
            </a:r>
            <a:r>
              <a:rPr lang="zh-CN" altLang="en-US" sz="2400" dirty="0">
                <a:solidFill>
                  <a:schemeClr val="tx1"/>
                </a:solidFill>
                <a:latin typeface="+mn-lt"/>
              </a:rPr>
              <a:t>位扩展工作方式（</a:t>
            </a:r>
            <a:r>
              <a:rPr lang="en-US" altLang="zh-CN" sz="2400" dirty="0">
                <a:solidFill>
                  <a:schemeClr val="tx1"/>
                </a:solidFill>
                <a:latin typeface="+mn-lt"/>
              </a:rPr>
              <a:t>IA-32e</a:t>
            </a:r>
            <a:r>
              <a:rPr lang="zh-CN" altLang="en-US" sz="2400" dirty="0">
                <a:solidFill>
                  <a:schemeClr val="tx1"/>
                </a:solidFill>
                <a:latin typeface="+mn-lt"/>
              </a:rPr>
              <a:t>），</a:t>
            </a:r>
            <a:r>
              <a:rPr lang="en-US" altLang="zh-CN" sz="2400" dirty="0">
                <a:solidFill>
                  <a:schemeClr val="tx1"/>
                </a:solidFill>
                <a:latin typeface="+mn-lt"/>
              </a:rPr>
              <a:t>IA-32e</a:t>
            </a:r>
            <a:r>
              <a:rPr lang="zh-CN" altLang="en-US" sz="2400" dirty="0">
                <a:solidFill>
                  <a:schemeClr val="tx1"/>
                </a:solidFill>
                <a:latin typeface="+mn-lt"/>
              </a:rPr>
              <a:t>除有运行</a:t>
            </a:r>
            <a:r>
              <a:rPr lang="en-US" altLang="zh-CN" sz="2400" dirty="0">
                <a:solidFill>
                  <a:schemeClr val="tx1"/>
                </a:solidFill>
                <a:latin typeface="+mn-lt"/>
              </a:rPr>
              <a:t>32</a:t>
            </a:r>
            <a:r>
              <a:rPr lang="zh-CN" altLang="en-US" sz="2400" dirty="0">
                <a:solidFill>
                  <a:schemeClr val="tx1"/>
                </a:solidFill>
                <a:latin typeface="+mn-lt"/>
              </a:rPr>
              <a:t>位和</a:t>
            </a:r>
            <a:r>
              <a:rPr lang="en-US" altLang="zh-CN" sz="2400" dirty="0">
                <a:solidFill>
                  <a:schemeClr val="tx1"/>
                </a:solidFill>
                <a:latin typeface="+mn-lt"/>
              </a:rPr>
              <a:t>16</a:t>
            </a:r>
            <a:r>
              <a:rPr lang="zh-CN" altLang="en-US" sz="2400" dirty="0">
                <a:solidFill>
                  <a:schemeClr val="tx1"/>
                </a:solidFill>
                <a:latin typeface="+mn-lt"/>
              </a:rPr>
              <a:t>位软件的兼容方式外，还有</a:t>
            </a:r>
            <a:r>
              <a:rPr lang="en-US" altLang="zh-CN" sz="2400" dirty="0">
                <a:solidFill>
                  <a:schemeClr val="tx1"/>
                </a:solidFill>
                <a:latin typeface="+mn-lt"/>
              </a:rPr>
              <a:t>64</a:t>
            </a:r>
            <a:r>
              <a:rPr lang="zh-CN" altLang="en-US" sz="2400" dirty="0">
                <a:solidFill>
                  <a:schemeClr val="tx1"/>
                </a:solidFill>
                <a:latin typeface="+mn-lt"/>
              </a:rPr>
              <a:t>位工作方式</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继续丰富多媒体指令</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处理器集成多核（</a:t>
            </a:r>
            <a:r>
              <a:rPr lang="en-US" altLang="zh-CN" sz="2400" dirty="0">
                <a:solidFill>
                  <a:schemeClr val="tx1"/>
                </a:solidFill>
                <a:latin typeface="+mn-lt"/>
              </a:rPr>
              <a:t>Multi-core</a:t>
            </a:r>
            <a:r>
              <a:rPr lang="zh-CN" altLang="en-US" sz="2400" dirty="0">
                <a:solidFill>
                  <a:schemeClr val="tx1"/>
                </a:solidFill>
                <a:latin typeface="+mn-lt"/>
              </a:rPr>
              <a:t>）技术</a:t>
            </a:r>
          </a:p>
        </p:txBody>
      </p:sp>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1.1.3 Intel 64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p>
        </p:txBody>
      </p:sp>
      <p:cxnSp>
        <p:nvCxnSpPr>
          <p:cNvPr id="8" name="直接连接符 7"/>
          <p:cNvCxnSpPr/>
          <p:nvPr/>
        </p:nvCxnSpPr>
        <p:spPr bwMode="auto">
          <a:xfrm>
            <a:off x="142844" y="67884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13" name="组合 12"/>
          <p:cNvGrpSpPr/>
          <p:nvPr/>
        </p:nvGrpSpPr>
        <p:grpSpPr>
          <a:xfrm>
            <a:off x="933017" y="5241915"/>
            <a:ext cx="7632848" cy="525401"/>
            <a:chOff x="971600" y="3360144"/>
            <a:chExt cx="7488832" cy="525401"/>
          </a:xfrm>
        </p:grpSpPr>
        <p:sp>
          <p:nvSpPr>
            <p:cNvPr id="2" name="Rectangle 31"/>
            <p:cNvSpPr>
              <a:spLocks noChangeArrowheads="1"/>
            </p:cNvSpPr>
            <p:nvPr/>
          </p:nvSpPr>
          <p:spPr bwMode="auto">
            <a:xfrm>
              <a:off x="971600" y="3360144"/>
              <a:ext cx="7488832" cy="52540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pt-BR" altLang="zh-CN" sz="2800" b="1" dirty="0">
                  <a:solidFill>
                    <a:srgbClr val="FF0000"/>
                  </a:solidFill>
                  <a:latin typeface="黑体" panose="02010609060101010101" pitchFamily="49" charset="-122"/>
                  <a:ea typeface="黑体" panose="02010609060101010101" pitchFamily="49" charset="-122"/>
                </a:rPr>
                <a:t> 16</a:t>
              </a:r>
              <a:r>
                <a:rPr lang="zh-CN" altLang="pt-BR" sz="2800" b="1" dirty="0">
                  <a:solidFill>
                    <a:srgbClr val="FF0000"/>
                  </a:solidFill>
                  <a:latin typeface="黑体" panose="02010609060101010101" pitchFamily="49" charset="-122"/>
                  <a:ea typeface="黑体" panose="02010609060101010101" pitchFamily="49" charset="-122"/>
                </a:rPr>
                <a:t>位</a:t>
              </a:r>
              <a:r>
                <a:rPr lang="pt-BR" altLang="zh-CN" sz="2800" b="1" dirty="0">
                  <a:solidFill>
                    <a:srgbClr val="FF0000"/>
                  </a:solidFill>
                  <a:latin typeface="黑体" panose="02010609060101010101" pitchFamily="49" charset="-122"/>
                  <a:ea typeface="黑体" panose="02010609060101010101" pitchFamily="49" charset="-122"/>
                </a:rPr>
                <a:t>x86</a:t>
              </a:r>
              <a:r>
                <a:rPr lang="en-US" altLang="zh-CN" sz="2800" b="1" dirty="0">
                  <a:solidFill>
                    <a:srgbClr val="FF0000"/>
                  </a:solidFill>
                  <a:latin typeface="黑体" panose="02010609060101010101" pitchFamily="49" charset="-122"/>
                  <a:ea typeface="黑体" panose="02010609060101010101" pitchFamily="49" charset="-122"/>
                </a:rPr>
                <a:t>     </a:t>
              </a:r>
              <a:r>
                <a:rPr lang="en-US" altLang="zh-CN" sz="1050" b="1" dirty="0">
                  <a:solidFill>
                    <a:srgbClr val="FF0000"/>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I</a:t>
              </a:r>
              <a:r>
                <a:rPr lang="pt-BR" altLang="zh-CN" sz="2800" b="1" dirty="0">
                  <a:solidFill>
                    <a:srgbClr val="FF0000"/>
                  </a:solidFill>
                  <a:latin typeface="黑体" panose="02010609060101010101" pitchFamily="49" charset="-122"/>
                  <a:ea typeface="黑体" panose="02010609060101010101" pitchFamily="49" charset="-122"/>
                </a:rPr>
                <a:t>A-32(x86) </a:t>
              </a:r>
              <a:r>
                <a:rPr lang="en-US" altLang="zh-CN" sz="2800" b="1" dirty="0">
                  <a:solidFill>
                    <a:srgbClr val="FF0000"/>
                  </a:solidFill>
                  <a:latin typeface="黑体" panose="02010609060101010101" pitchFamily="49" charset="-122"/>
                  <a:ea typeface="黑体" panose="02010609060101010101" pitchFamily="49" charset="-122"/>
                </a:rPr>
                <a:t>    </a:t>
              </a:r>
              <a:r>
                <a:rPr lang="pt-BR" altLang="zh-CN" sz="2800" b="1" dirty="0">
                  <a:solidFill>
                    <a:srgbClr val="FF0000"/>
                  </a:solidFill>
                  <a:latin typeface="黑体" panose="02010609060101010101" pitchFamily="49" charset="-122"/>
                  <a:ea typeface="黑体" panose="02010609060101010101" pitchFamily="49" charset="-122"/>
                </a:rPr>
                <a:t>Intel 64(x64)</a:t>
              </a:r>
            </a:p>
          </p:txBody>
        </p:sp>
        <p:cxnSp>
          <p:nvCxnSpPr>
            <p:cNvPr id="9" name="直接箭头连接符 8"/>
            <p:cNvCxnSpPr/>
            <p:nvPr/>
          </p:nvCxnSpPr>
          <p:spPr bwMode="auto">
            <a:xfrm>
              <a:off x="2639997" y="3650554"/>
              <a:ext cx="684584" cy="0"/>
            </a:xfrm>
            <a:prstGeom prst="straightConnector1">
              <a:avLst/>
            </a:prstGeom>
            <a:noFill/>
            <a:ln w="38100" cap="flat" cmpd="sng" algn="ctr">
              <a:solidFill>
                <a:srgbClr val="FF0000"/>
              </a:solidFill>
              <a:prstDash val="solid"/>
              <a:round/>
              <a:headEnd type="none" w="med" len="med"/>
              <a:tailEnd type="triangle" w="lg" len="lg"/>
            </a:ln>
            <a:effectLst/>
          </p:spPr>
        </p:cxnSp>
        <p:cxnSp>
          <p:nvCxnSpPr>
            <p:cNvPr id="12" name="直接箭头连接符 11"/>
            <p:cNvCxnSpPr/>
            <p:nvPr/>
          </p:nvCxnSpPr>
          <p:spPr bwMode="auto">
            <a:xfrm>
              <a:off x="5254024" y="3645024"/>
              <a:ext cx="684584" cy="0"/>
            </a:xfrm>
            <a:prstGeom prst="straightConnector1">
              <a:avLst/>
            </a:prstGeom>
            <a:noFill/>
            <a:ln w="38100" cap="flat" cmpd="sng" algn="ctr">
              <a:solidFill>
                <a:srgbClr val="FF0000"/>
              </a:solidFill>
              <a:prstDash val="solid"/>
              <a:round/>
              <a:headEnd type="none" w="med" len="med"/>
              <a:tailEnd type="triangle" w="lg" len="lg"/>
            </a:ln>
            <a:effectLst/>
          </p:spPr>
        </p:cxnSp>
      </p:grpSp>
      <p:sp>
        <p:nvSpPr>
          <p:cNvPr id="25604" name="filecab3"/>
          <p:cNvSpPr>
            <a:spLocks noEditPoints="1"/>
          </p:cNvSpPr>
          <p:nvPr/>
        </p:nvSpPr>
        <p:spPr>
          <a:xfrm flipV="1">
            <a:off x="4117975" y="5877560"/>
            <a:ext cx="4389755" cy="696595"/>
          </a:xfrm>
          <a:custGeom>
            <a:avLst/>
            <a:gdLst>
              <a:gd name="txL" fmla="*/ 1000 w 21600"/>
              <a:gd name="txT" fmla="*/ 507 h 21600"/>
              <a:gd name="txR" fmla="*/ 20538 w 21600"/>
              <a:gd name="txB" fmla="*/ 18761 h 21600"/>
            </a:gdLst>
            <a:ahLst/>
            <a:cxnLst>
              <a:cxn ang="0">
                <a:pos x="10800" y="0"/>
              </a:cxn>
              <a:cxn ang="0">
                <a:pos x="0" y="0"/>
              </a:cxn>
              <a:cxn ang="0">
                <a:pos x="0" y="10800"/>
              </a:cxn>
              <a:cxn ang="0">
                <a:pos x="0" y="20367"/>
              </a:cxn>
              <a:cxn ang="0">
                <a:pos x="10800" y="21600"/>
              </a:cxn>
              <a:cxn ang="0">
                <a:pos x="21600" y="20367"/>
              </a:cxn>
              <a:cxn ang="0">
                <a:pos x="21600" y="10800"/>
              </a:cxn>
              <a:cxn ang="0">
                <a:pos x="21600" y="0"/>
              </a:cxn>
            </a:cxnLst>
            <a:rect l="txL" t="txT" r="txR" b="txB"/>
            <a:pathLst>
              <a:path w="21600" h="2160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a:moveTo>
                  <a:pt x="9053" y="19099"/>
                </a:moveTo>
                <a:lnTo>
                  <a:pt x="0" y="19099"/>
                </a:lnTo>
                <a:lnTo>
                  <a:pt x="21600" y="19099"/>
                </a:lnTo>
              </a:path>
            </a:pathLst>
          </a:custGeom>
          <a:solidFill>
            <a:schemeClr val="bg1">
              <a:lumMod val="90000"/>
            </a:schemeClr>
          </a:solidFill>
          <a:ln w="9525" cap="rnd" cmpd="sng">
            <a:solidFill>
              <a:schemeClr val="tx1"/>
            </a:solidFill>
            <a:prstDash val="sysDot"/>
            <a:miter/>
            <a:headEnd type="none" w="med" len="med"/>
            <a:tailEnd type="none" w="med" len="med"/>
          </a:ln>
          <a:effectLst>
            <a:outerShdw dist="107763" dir="2699999" algn="ctr" rotWithShape="0">
              <a:srgbClr val="808080"/>
            </a:outerShdw>
          </a:effectLst>
        </p:spPr>
        <p:txBody>
          <a:bodyPr rot="10800000" anchor="t" anchorCtr="0"/>
          <a:lstStyle/>
          <a:p>
            <a:pPr algn="ctr">
              <a:lnSpc>
                <a:spcPct val="120000"/>
              </a:lnSpc>
            </a:pPr>
            <a:r>
              <a:rPr lang="zh-CN" altLang="en-US" sz="2600" b="1" dirty="0">
                <a:solidFill>
                  <a:schemeClr val="accent2"/>
                </a:solidFill>
                <a:latin typeface="黑体" panose="02010609060101010101" pitchFamily="49" charset="-122"/>
                <a:cs typeface="黑体" panose="02010609060101010101" pitchFamily="49" charset="-122"/>
              </a:rPr>
              <a:t>处理器进入</a:t>
            </a:r>
            <a:r>
              <a:rPr lang="en-US" altLang="zh-CN" sz="2600" b="1" dirty="0">
                <a:solidFill>
                  <a:schemeClr val="accent2"/>
                </a:solidFill>
                <a:latin typeface="黑体" panose="02010609060101010101" pitchFamily="49" charset="-122"/>
                <a:cs typeface="黑体" panose="02010609060101010101" pitchFamily="49" charset="-122"/>
              </a:rPr>
              <a:t>64</a:t>
            </a:r>
            <a:r>
              <a:rPr lang="zh-CN" altLang="en-US" sz="2600" b="1" dirty="0">
                <a:solidFill>
                  <a:schemeClr val="accent2"/>
                </a:solidFill>
                <a:latin typeface="黑体" panose="02010609060101010101" pitchFamily="49" charset="-122"/>
                <a:cs typeface="黑体" panose="02010609060101010101" pitchFamily="49" charset="-122"/>
              </a:rPr>
              <a:t>位多核时代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60626" y="692443"/>
            <a:ext cx="8315830" cy="5893197"/>
          </a:xfrm>
          <a:prstGeom prst="rect">
            <a:avLst/>
          </a:prstGeom>
        </p:spPr>
        <p:txBody>
          <a:bodyPr/>
          <a:lstStyle/>
          <a:p>
            <a:pPr marL="457200" indent="-457200" algn="just" latinLnBrk="0">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多核技术</a:t>
            </a:r>
            <a:r>
              <a:rPr lang="zh-CN" altLang="en-US" sz="2800" dirty="0">
                <a:solidFill>
                  <a:schemeClr val="tx1"/>
                </a:solidFill>
                <a:latin typeface="+mn-lt"/>
                <a:sym typeface="+mn-ea"/>
              </a:rPr>
              <a:t>（</a:t>
            </a:r>
            <a:r>
              <a:rPr lang="en-US" altLang="zh-CN" sz="2800" dirty="0">
                <a:solidFill>
                  <a:schemeClr val="tx1"/>
                </a:solidFill>
                <a:latin typeface="+mn-lt"/>
                <a:sym typeface="+mn-ea"/>
              </a:rPr>
              <a:t>Multi-core</a:t>
            </a:r>
            <a:r>
              <a:rPr lang="zh-CN" altLang="en-US" sz="2800" dirty="0">
                <a:solidFill>
                  <a:schemeClr val="tx1"/>
                </a:solidFill>
                <a:latin typeface="+mn-lt"/>
                <a:sym typeface="+mn-ea"/>
              </a:rPr>
              <a:t>）</a:t>
            </a:r>
            <a:endParaRPr lang="zh-CN" altLang="en-US" sz="2800" dirty="0">
              <a:latin typeface="+mn-lt"/>
            </a:endParaRPr>
          </a:p>
          <a:p>
            <a:pPr marL="914400" lvl="1" indent="-457200" algn="just" latinLnBrk="0">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单纯通过提高时钟频率已很难提升处理器性能，于是多核技术应运而生</a:t>
            </a:r>
          </a:p>
          <a:p>
            <a:pPr marL="914400" lvl="1" indent="-457200" algn="just" latinLnBrk="0">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一个集成电路芯片上存在两个或多个处理器执行核心，依靠多个处理器核心相互协作同时执行多个程序线程以提升性能。</a:t>
            </a:r>
          </a:p>
          <a:p>
            <a:pPr marL="457200" indent="-457200" algn="just" latinLnBrk="0">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sym typeface="+mn-ea"/>
              </a:rPr>
              <a:t>酷睿系列：</a:t>
            </a:r>
            <a:r>
              <a:rPr lang="zh-CN" sz="2800" dirty="0">
                <a:latin typeface="+mn-lt"/>
                <a:sym typeface="+mn-ea"/>
              </a:rPr>
              <a:t>支持</a:t>
            </a:r>
            <a:r>
              <a:rPr lang="en-US" altLang="zh-CN" sz="2800" dirty="0">
                <a:latin typeface="+mn-lt"/>
                <a:sym typeface="+mn-ea"/>
              </a:rPr>
              <a:t>Intel 64</a:t>
            </a:r>
            <a:r>
              <a:rPr lang="zh-CN" altLang="en-US" sz="2800" dirty="0">
                <a:latin typeface="+mn-lt"/>
                <a:sym typeface="+mn-ea"/>
              </a:rPr>
              <a:t>结构的</a:t>
            </a:r>
            <a:r>
              <a:rPr lang="zh-CN" altLang="en-US" sz="2800" dirty="0">
                <a:solidFill>
                  <a:srgbClr val="FF0000"/>
                </a:solidFill>
                <a:latin typeface="+mn-lt"/>
                <a:sym typeface="+mn-ea"/>
              </a:rPr>
              <a:t>多核</a:t>
            </a:r>
            <a:r>
              <a:rPr lang="zh-CN" altLang="en-US" sz="2800" dirty="0">
                <a:latin typeface="+mn-lt"/>
                <a:sym typeface="+mn-ea"/>
              </a:rPr>
              <a:t>处理器</a:t>
            </a:r>
            <a:endParaRPr lang="en-US" altLang="zh-CN" sz="2800" dirty="0">
              <a:solidFill>
                <a:schemeClr val="tx1"/>
              </a:solidFill>
              <a:latin typeface="+mn-lt"/>
            </a:endParaRPr>
          </a:p>
          <a:p>
            <a:pPr marL="914400" lvl="1" indent="-457200" algn="just" latinLnBrk="0">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sym typeface="+mn-ea"/>
              </a:rPr>
              <a:t>酷睿</a:t>
            </a:r>
            <a:r>
              <a:rPr lang="en-US" altLang="zh-CN" sz="2400" dirty="0">
                <a:solidFill>
                  <a:schemeClr val="tx1"/>
                </a:solidFill>
                <a:latin typeface="+mn-lt"/>
                <a:sym typeface="+mn-ea"/>
              </a:rPr>
              <a:t>2</a:t>
            </a:r>
            <a:r>
              <a:rPr lang="zh-CN" altLang="en-US" sz="2400" dirty="0">
                <a:solidFill>
                  <a:schemeClr val="tx1"/>
                </a:solidFill>
                <a:latin typeface="+mn-lt"/>
                <a:sym typeface="+mn-ea"/>
              </a:rPr>
              <a:t>系列补充了</a:t>
            </a:r>
            <a:r>
              <a:rPr lang="en-US" altLang="zh-CN" sz="2400" dirty="0">
                <a:solidFill>
                  <a:schemeClr val="tx1"/>
                </a:solidFill>
                <a:latin typeface="+mn-lt"/>
                <a:sym typeface="+mn-ea"/>
              </a:rPr>
              <a:t>SSE3</a:t>
            </a:r>
            <a:r>
              <a:rPr lang="zh-CN" altLang="en-US" sz="2400" dirty="0">
                <a:solidFill>
                  <a:schemeClr val="tx1"/>
                </a:solidFill>
                <a:latin typeface="+mn-lt"/>
                <a:sym typeface="+mn-ea"/>
              </a:rPr>
              <a:t>指令，新增</a:t>
            </a:r>
            <a:r>
              <a:rPr lang="en-US" altLang="zh-CN" sz="2400" dirty="0">
                <a:solidFill>
                  <a:schemeClr val="tx1"/>
                </a:solidFill>
                <a:latin typeface="+mn-lt"/>
                <a:sym typeface="+mn-ea"/>
              </a:rPr>
              <a:t>SSE4</a:t>
            </a:r>
            <a:r>
              <a:rPr lang="zh-CN" altLang="en-US" sz="2400" dirty="0">
                <a:solidFill>
                  <a:schemeClr val="tx1"/>
                </a:solidFill>
                <a:latin typeface="+mn-lt"/>
                <a:sym typeface="+mn-ea"/>
              </a:rPr>
              <a:t>指令</a:t>
            </a:r>
          </a:p>
          <a:p>
            <a:pPr marL="914400" lvl="1" indent="-457200" algn="just" latinLnBrk="0">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sym typeface="+mn-ea"/>
              </a:rPr>
              <a:t>酷睿</a:t>
            </a:r>
            <a:r>
              <a:rPr lang="en-US" altLang="zh-CN" sz="2400" dirty="0" err="1">
                <a:solidFill>
                  <a:schemeClr val="tx1"/>
                </a:solidFill>
                <a:latin typeface="+mn-lt"/>
                <a:sym typeface="+mn-ea"/>
              </a:rPr>
              <a:t>i</a:t>
            </a:r>
            <a:r>
              <a:rPr lang="zh-CN" altLang="en-US" sz="2400" dirty="0">
                <a:solidFill>
                  <a:schemeClr val="tx1"/>
                </a:solidFill>
                <a:latin typeface="+mn-lt"/>
                <a:sym typeface="+mn-ea"/>
              </a:rPr>
              <a:t>系列处理器</a:t>
            </a:r>
            <a:r>
              <a:rPr lang="en-US" altLang="zh-CN" sz="2400" dirty="0">
                <a:solidFill>
                  <a:schemeClr val="tx1"/>
                </a:solidFill>
                <a:latin typeface="+mn-lt"/>
                <a:sym typeface="+mn-ea"/>
              </a:rPr>
              <a:t>(i7</a:t>
            </a:r>
            <a:r>
              <a:rPr lang="zh-CN" altLang="en-US" sz="2400" dirty="0">
                <a:solidFill>
                  <a:schemeClr val="tx1"/>
                </a:solidFill>
                <a:latin typeface="+mn-lt"/>
                <a:sym typeface="+mn-ea"/>
              </a:rPr>
              <a:t>、</a:t>
            </a:r>
            <a:r>
              <a:rPr lang="en-US" altLang="zh-CN" sz="2400" dirty="0">
                <a:solidFill>
                  <a:schemeClr val="tx1"/>
                </a:solidFill>
                <a:latin typeface="+mn-lt"/>
                <a:sym typeface="+mn-ea"/>
              </a:rPr>
              <a:t>i5</a:t>
            </a:r>
            <a:r>
              <a:rPr lang="zh-CN" altLang="en-US" sz="2400" dirty="0">
                <a:solidFill>
                  <a:schemeClr val="tx1"/>
                </a:solidFill>
                <a:latin typeface="+mn-lt"/>
                <a:sym typeface="+mn-ea"/>
              </a:rPr>
              <a:t>、</a:t>
            </a:r>
            <a:r>
              <a:rPr lang="en-US" altLang="zh-CN" sz="2400" dirty="0">
                <a:solidFill>
                  <a:schemeClr val="tx1"/>
                </a:solidFill>
                <a:latin typeface="+mn-lt"/>
                <a:sym typeface="+mn-ea"/>
              </a:rPr>
              <a:t>i3)</a:t>
            </a:r>
            <a:r>
              <a:rPr lang="zh-CN" altLang="en-US" sz="2400" dirty="0">
                <a:solidFill>
                  <a:schemeClr val="tx1"/>
                </a:solidFill>
                <a:latin typeface="+mn-lt"/>
                <a:sym typeface="+mn-ea"/>
              </a:rPr>
              <a:t>，支持</a:t>
            </a:r>
            <a:r>
              <a:rPr lang="en-US" altLang="zh-CN" sz="2400" dirty="0">
                <a:solidFill>
                  <a:schemeClr val="tx1"/>
                </a:solidFill>
                <a:latin typeface="+mn-lt"/>
                <a:sym typeface="+mn-ea"/>
              </a:rPr>
              <a:t>L3 Cache</a:t>
            </a:r>
            <a:endParaRPr lang="en-US" altLang="zh-CN" sz="2400" dirty="0">
              <a:solidFill>
                <a:schemeClr val="tx1"/>
              </a:solidFill>
              <a:latin typeface="+mn-lt"/>
            </a:endParaRPr>
          </a:p>
          <a:p>
            <a:pPr marL="914400" lvl="1" indent="-457200" algn="just" latinLnBrk="0">
              <a:lnSpc>
                <a:spcPct val="130000"/>
              </a:lnSpc>
              <a:spcBef>
                <a:spcPts val="600"/>
              </a:spcBef>
              <a:buClr>
                <a:srgbClr val="0000FF"/>
              </a:buClr>
              <a:buFont typeface="Wingdings" panose="05000000000000000000" pitchFamily="2" charset="2"/>
              <a:buChar char="ü"/>
            </a:pPr>
            <a:r>
              <a:rPr lang="zh-CN" sz="2400" dirty="0">
                <a:solidFill>
                  <a:schemeClr val="tx1"/>
                </a:solidFill>
                <a:latin typeface="+mn-lt"/>
                <a:sym typeface="+mn-ea"/>
              </a:rPr>
              <a:t>第</a:t>
            </a:r>
            <a:r>
              <a:rPr lang="en-US" altLang="zh-CN" sz="2400" dirty="0">
                <a:solidFill>
                  <a:schemeClr val="tx1"/>
                </a:solidFill>
                <a:latin typeface="+mn-lt"/>
                <a:sym typeface="+mn-ea"/>
              </a:rPr>
              <a:t>4</a:t>
            </a:r>
            <a:r>
              <a:rPr lang="zh-CN" altLang="en-US" sz="2400" dirty="0">
                <a:solidFill>
                  <a:schemeClr val="tx1"/>
                </a:solidFill>
                <a:latin typeface="+mn-lt"/>
                <a:sym typeface="+mn-ea"/>
              </a:rPr>
              <a:t>代</a:t>
            </a:r>
            <a:r>
              <a:rPr lang="en-US" altLang="zh-CN" sz="2400" dirty="0">
                <a:solidFill>
                  <a:schemeClr val="tx1"/>
                </a:solidFill>
                <a:latin typeface="+mn-lt"/>
                <a:sym typeface="+mn-ea"/>
              </a:rPr>
              <a:t>i7</a:t>
            </a:r>
            <a:r>
              <a:rPr lang="zh-CN" altLang="en-US" sz="2400" dirty="0">
                <a:solidFill>
                  <a:schemeClr val="tx1"/>
                </a:solidFill>
                <a:latin typeface="+mn-lt"/>
                <a:sym typeface="+mn-ea"/>
              </a:rPr>
              <a:t>系列具有</a:t>
            </a:r>
            <a:r>
              <a:rPr lang="en-US" altLang="zh-CN" sz="2400" dirty="0">
                <a:solidFill>
                  <a:schemeClr val="tx1"/>
                </a:solidFill>
                <a:latin typeface="+mn-lt"/>
                <a:sym typeface="+mn-ea"/>
              </a:rPr>
              <a:t>4</a:t>
            </a:r>
            <a:r>
              <a:rPr lang="zh-CN" altLang="en-US" sz="2400" dirty="0">
                <a:solidFill>
                  <a:schemeClr val="tx1"/>
                </a:solidFill>
                <a:latin typeface="+mn-lt"/>
                <a:sym typeface="+mn-ea"/>
              </a:rPr>
              <a:t>个处理器核心，支持</a:t>
            </a:r>
            <a:r>
              <a:rPr lang="en-US" altLang="zh-CN" sz="2400" dirty="0">
                <a:solidFill>
                  <a:schemeClr val="tx1"/>
                </a:solidFill>
                <a:latin typeface="+mn-lt"/>
                <a:sym typeface="+mn-ea"/>
              </a:rPr>
              <a:t>8</a:t>
            </a:r>
            <a:r>
              <a:rPr lang="zh-CN" altLang="en-US" sz="2400" dirty="0">
                <a:solidFill>
                  <a:schemeClr val="tx1"/>
                </a:solidFill>
                <a:latin typeface="+mn-lt"/>
                <a:sym typeface="+mn-ea"/>
              </a:rPr>
              <a:t>个线程</a:t>
            </a:r>
            <a:endParaRPr lang="zh-CN" altLang="en-US"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1.1.3 Intel 64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处理器</a:t>
            </a:r>
          </a:p>
        </p:txBody>
      </p:sp>
      <p:cxnSp>
        <p:nvCxnSpPr>
          <p:cNvPr id="8" name="直接连接符 7"/>
          <p:cNvCxnSpPr/>
          <p:nvPr/>
        </p:nvCxnSpPr>
        <p:spPr bwMode="auto">
          <a:xfrm>
            <a:off x="142844" y="67884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8305"/>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国产</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CPU</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Text Box 9"/>
          <p:cNvSpPr txBox="1">
            <a:spLocks noChangeArrowheads="1"/>
          </p:cNvSpPr>
          <p:nvPr/>
        </p:nvSpPr>
        <p:spPr bwMode="auto">
          <a:xfrm>
            <a:off x="827584" y="3203253"/>
            <a:ext cx="1187935"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kumimoji="1" lang="zh-CN" altLang="en-US" sz="1600" dirty="0">
                <a:latin typeface="黑体" panose="02010609060101010101" pitchFamily="49" charset="-122"/>
                <a:ea typeface="黑体" panose="02010609060101010101" pitchFamily="49" charset="-122"/>
              </a:rPr>
              <a:t>龙芯中科</a:t>
            </a:r>
          </a:p>
        </p:txBody>
      </p:sp>
      <p:sp>
        <p:nvSpPr>
          <p:cNvPr id="18" name="Text Box 9"/>
          <p:cNvSpPr txBox="1">
            <a:spLocks noChangeArrowheads="1"/>
          </p:cNvSpPr>
          <p:nvPr/>
        </p:nvSpPr>
        <p:spPr bwMode="auto">
          <a:xfrm>
            <a:off x="3800856" y="3203253"/>
            <a:ext cx="1187935"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zh-CN" altLang="en-US" sz="1600" dirty="0">
                <a:latin typeface="黑体" panose="02010609060101010101" pitchFamily="49" charset="-122"/>
                <a:ea typeface="黑体" panose="02010609060101010101" pitchFamily="49" charset="-122"/>
              </a:rPr>
              <a:t>华为鲲鹏</a:t>
            </a:r>
          </a:p>
        </p:txBody>
      </p:sp>
      <p:sp>
        <p:nvSpPr>
          <p:cNvPr id="19" name="Text Box 9"/>
          <p:cNvSpPr txBox="1">
            <a:spLocks noChangeArrowheads="1"/>
          </p:cNvSpPr>
          <p:nvPr/>
        </p:nvSpPr>
        <p:spPr bwMode="auto">
          <a:xfrm>
            <a:off x="6992884" y="3212976"/>
            <a:ext cx="899903"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zh-CN" altLang="en-US" sz="1600" dirty="0">
                <a:latin typeface="黑体" panose="02010609060101010101" pitchFamily="49" charset="-122"/>
                <a:ea typeface="黑体" panose="02010609060101010101" pitchFamily="49" charset="-122"/>
              </a:rPr>
              <a:t>飞腾</a:t>
            </a:r>
          </a:p>
        </p:txBody>
      </p:sp>
      <p:sp>
        <p:nvSpPr>
          <p:cNvPr id="22" name="Text Box 9"/>
          <p:cNvSpPr txBox="1">
            <a:spLocks noChangeArrowheads="1"/>
          </p:cNvSpPr>
          <p:nvPr/>
        </p:nvSpPr>
        <p:spPr bwMode="auto">
          <a:xfrm>
            <a:off x="828981" y="3747085"/>
            <a:ext cx="899903"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zh-CN" altLang="en-US" sz="1600" dirty="0">
                <a:latin typeface="黑体" panose="02010609060101010101" pitchFamily="49" charset="-122"/>
                <a:ea typeface="黑体" panose="02010609060101010101" pitchFamily="49" charset="-122"/>
              </a:rPr>
              <a:t>兆芯</a:t>
            </a:r>
          </a:p>
        </p:txBody>
      </p:sp>
      <p:sp>
        <p:nvSpPr>
          <p:cNvPr id="24" name="Text Box 9"/>
          <p:cNvSpPr txBox="1">
            <a:spLocks noChangeArrowheads="1"/>
          </p:cNvSpPr>
          <p:nvPr/>
        </p:nvSpPr>
        <p:spPr bwMode="auto">
          <a:xfrm>
            <a:off x="3944871" y="3745498"/>
            <a:ext cx="899903"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zh-CN" altLang="en-US" sz="1600" dirty="0">
                <a:latin typeface="黑体" panose="02010609060101010101" pitchFamily="49" charset="-122"/>
                <a:ea typeface="黑体" panose="02010609060101010101" pitchFamily="49" charset="-122"/>
              </a:rPr>
              <a:t>申威</a:t>
            </a:r>
          </a:p>
        </p:txBody>
      </p:sp>
      <p:sp>
        <p:nvSpPr>
          <p:cNvPr id="25" name="Text Box 9"/>
          <p:cNvSpPr txBox="1">
            <a:spLocks noChangeArrowheads="1"/>
          </p:cNvSpPr>
          <p:nvPr/>
        </p:nvSpPr>
        <p:spPr bwMode="auto">
          <a:xfrm>
            <a:off x="7043262" y="3747085"/>
            <a:ext cx="899903" cy="340735"/>
          </a:xfrm>
          <a:prstGeom prst="rect">
            <a:avLst/>
          </a:prstGeom>
          <a:solidFill>
            <a:schemeClr val="bg1"/>
          </a:solidFill>
          <a:ln>
            <a:noFill/>
          </a:ln>
          <a:effectLst/>
        </p:spPr>
        <p:txBody>
          <a:bodyPr wrap="squar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r>
              <a:rPr lang="zh-CN" altLang="en-US" sz="1600" dirty="0">
                <a:latin typeface="黑体" panose="02010609060101010101" pitchFamily="49" charset="-122"/>
                <a:ea typeface="黑体" panose="02010609060101010101" pitchFamily="49" charset="-122"/>
              </a:rPr>
              <a:t>海光</a:t>
            </a:r>
          </a:p>
        </p:txBody>
      </p:sp>
      <p:pic>
        <p:nvPicPr>
          <p:cNvPr id="27" name="图片 26"/>
          <p:cNvPicPr>
            <a:picLocks noChangeAspect="1"/>
          </p:cNvPicPr>
          <p:nvPr/>
        </p:nvPicPr>
        <p:blipFill>
          <a:blip r:embed="rId5"/>
          <a:stretch>
            <a:fillRect/>
          </a:stretch>
        </p:blipFill>
        <p:spPr>
          <a:xfrm>
            <a:off x="182734" y="4149080"/>
            <a:ext cx="2850619" cy="2044394"/>
          </a:xfrm>
          <a:prstGeom prst="rect">
            <a:avLst/>
          </a:prstGeom>
          <a:ln w="25400">
            <a:solidFill>
              <a:srgbClr val="00B050"/>
            </a:solidFill>
          </a:ln>
        </p:spPr>
      </p:pic>
      <p:pic>
        <p:nvPicPr>
          <p:cNvPr id="31" name="图片 30"/>
          <p:cNvPicPr>
            <a:picLocks noChangeAspect="1"/>
          </p:cNvPicPr>
          <p:nvPr/>
        </p:nvPicPr>
        <p:blipFill>
          <a:blip r:embed="rId6"/>
          <a:stretch>
            <a:fillRect/>
          </a:stretch>
        </p:blipFill>
        <p:spPr>
          <a:xfrm>
            <a:off x="3206600" y="4149080"/>
            <a:ext cx="2730873" cy="2044394"/>
          </a:xfrm>
          <a:prstGeom prst="rect">
            <a:avLst/>
          </a:prstGeom>
          <a:ln w="25400">
            <a:solidFill>
              <a:srgbClr val="00B050"/>
            </a:solidFill>
          </a:ln>
        </p:spPr>
      </p:pic>
      <p:pic>
        <p:nvPicPr>
          <p:cNvPr id="33" name="图片 32"/>
          <p:cNvPicPr>
            <a:picLocks noChangeAspect="1"/>
          </p:cNvPicPr>
          <p:nvPr/>
        </p:nvPicPr>
        <p:blipFill>
          <a:blip r:embed="rId7"/>
          <a:stretch>
            <a:fillRect/>
          </a:stretch>
        </p:blipFill>
        <p:spPr>
          <a:xfrm>
            <a:off x="178858" y="1124744"/>
            <a:ext cx="2779938" cy="2012148"/>
          </a:xfrm>
          <a:prstGeom prst="rect">
            <a:avLst/>
          </a:prstGeom>
          <a:ln w="25400">
            <a:solidFill>
              <a:srgbClr val="00B050"/>
            </a:solidFill>
          </a:ln>
        </p:spPr>
      </p:pic>
      <p:pic>
        <p:nvPicPr>
          <p:cNvPr id="35" name="图片 34"/>
          <p:cNvPicPr>
            <a:picLocks noChangeAspect="1"/>
          </p:cNvPicPr>
          <p:nvPr/>
        </p:nvPicPr>
        <p:blipFill rotWithShape="1">
          <a:blip r:embed="rId8"/>
          <a:srcRect l="10537" b="2549"/>
          <a:stretch>
            <a:fillRect/>
          </a:stretch>
        </p:blipFill>
        <p:spPr>
          <a:xfrm>
            <a:off x="3135062" y="1128820"/>
            <a:ext cx="2805090" cy="2012148"/>
          </a:xfrm>
          <a:prstGeom prst="rect">
            <a:avLst/>
          </a:prstGeom>
          <a:ln w="25400">
            <a:solidFill>
              <a:srgbClr val="00B050"/>
            </a:solidFill>
          </a:ln>
        </p:spPr>
      </p:pic>
      <p:pic>
        <p:nvPicPr>
          <p:cNvPr id="39" name="图片 38"/>
          <p:cNvPicPr>
            <a:picLocks noChangeAspect="1"/>
          </p:cNvPicPr>
          <p:nvPr/>
        </p:nvPicPr>
        <p:blipFill>
          <a:blip r:embed="rId9"/>
          <a:stretch>
            <a:fillRect/>
          </a:stretch>
        </p:blipFill>
        <p:spPr>
          <a:xfrm>
            <a:off x="6156176" y="1128820"/>
            <a:ext cx="2733552" cy="2012148"/>
          </a:xfrm>
          <a:prstGeom prst="rect">
            <a:avLst/>
          </a:prstGeom>
          <a:ln w="25400">
            <a:solidFill>
              <a:srgbClr val="00B050"/>
            </a:solidFill>
          </a:ln>
        </p:spPr>
      </p:pic>
      <p:pic>
        <p:nvPicPr>
          <p:cNvPr id="45" name="图片 44"/>
          <p:cNvPicPr>
            <a:picLocks noChangeAspect="1"/>
          </p:cNvPicPr>
          <p:nvPr/>
        </p:nvPicPr>
        <p:blipFill>
          <a:blip r:embed="rId10"/>
          <a:stretch>
            <a:fillRect/>
          </a:stretch>
        </p:blipFill>
        <p:spPr>
          <a:xfrm>
            <a:off x="6156176" y="4149080"/>
            <a:ext cx="2819604" cy="2044394"/>
          </a:xfrm>
          <a:prstGeom prst="rect">
            <a:avLst/>
          </a:prstGeom>
          <a:ln w="25400">
            <a:solidFill>
              <a:srgbClr val="00B050"/>
            </a:solid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648658" y="711001"/>
            <a:ext cx="8099806" cy="58931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硬件（</a:t>
            </a:r>
            <a:r>
              <a:rPr lang="en-US" altLang="zh-CN" sz="2800" dirty="0">
                <a:solidFill>
                  <a:schemeClr val="tx1"/>
                </a:solidFill>
                <a:latin typeface="+mn-lt"/>
              </a:rPr>
              <a:t>Hardware</a:t>
            </a:r>
            <a:r>
              <a:rPr lang="zh-CN" altLang="en-US" sz="2800" dirty="0">
                <a:solidFill>
                  <a:schemeClr val="tx1"/>
                </a:solidFill>
                <a:latin typeface="+mn-lt"/>
              </a:rPr>
              <a:t>）：物理设备</a:t>
            </a: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软件（</a:t>
            </a:r>
            <a:r>
              <a:rPr lang="en-US" altLang="zh-CN" sz="2800" dirty="0">
                <a:solidFill>
                  <a:schemeClr val="tx1"/>
                </a:solidFill>
                <a:latin typeface="+mn-lt"/>
              </a:rPr>
              <a:t>Software</a:t>
            </a:r>
            <a:r>
              <a:rPr lang="zh-CN" altLang="en-US" sz="2800" dirty="0">
                <a:solidFill>
                  <a:schemeClr val="tx1"/>
                </a:solidFill>
                <a:latin typeface="+mn-lt"/>
              </a:rPr>
              <a:t>）：程序和文档</a:t>
            </a:r>
          </a:p>
        </p:txBody>
      </p:sp>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个人计算机系统</a:t>
            </a: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 name="Group 20"/>
          <p:cNvGrpSpPr/>
          <p:nvPr/>
        </p:nvGrpSpPr>
        <p:grpSpPr bwMode="auto">
          <a:xfrm>
            <a:off x="611560" y="2060848"/>
            <a:ext cx="8001000" cy="4343400"/>
            <a:chOff x="480" y="1488"/>
            <a:chExt cx="5040" cy="2736"/>
          </a:xfrm>
        </p:grpSpPr>
        <p:sp>
          <p:nvSpPr>
            <p:cNvPr id="3" name="Oval 5"/>
            <p:cNvSpPr>
              <a:spLocks noChangeArrowheads="1"/>
            </p:cNvSpPr>
            <p:nvPr/>
          </p:nvSpPr>
          <p:spPr bwMode="auto">
            <a:xfrm>
              <a:off x="1104" y="2160"/>
              <a:ext cx="4080" cy="2064"/>
            </a:xfrm>
            <a:prstGeom prst="ellipse">
              <a:avLst/>
            </a:prstGeom>
            <a:solidFill>
              <a:schemeClr val="accent5">
                <a:lumMod val="75000"/>
              </a:schemeClr>
            </a:solidFill>
            <a:ln w="12700">
              <a:solidFill>
                <a:schemeClr val="hlink"/>
              </a:solidFill>
              <a:round/>
              <a:tailEnd type="none" w="sm" len="sm"/>
            </a:ln>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lang="zh-CN" altLang="en-US" sz="1800">
                <a:latin typeface="Arial" panose="020B0604020202020204" pitchFamily="34" charset="0"/>
                <a:ea typeface="楷体_GB2312" panose="02010609030101010101" pitchFamily="49" charset="-122"/>
              </a:endParaRPr>
            </a:p>
          </p:txBody>
        </p:sp>
        <p:sp>
          <p:nvSpPr>
            <p:cNvPr id="9" name="Oval 6"/>
            <p:cNvSpPr>
              <a:spLocks noChangeArrowheads="1"/>
            </p:cNvSpPr>
            <p:nvPr/>
          </p:nvSpPr>
          <p:spPr bwMode="auto">
            <a:xfrm>
              <a:off x="1776" y="2352"/>
              <a:ext cx="2832" cy="1440"/>
            </a:xfrm>
            <a:prstGeom prst="ellipse">
              <a:avLst/>
            </a:prstGeom>
            <a:solidFill>
              <a:srgbClr val="FFFF99"/>
            </a:solidFill>
            <a:ln w="12700">
              <a:solidFill>
                <a:schemeClr val="hlink"/>
              </a:solidFill>
              <a:round/>
              <a:tailEnd type="none" w="sm" len="sm"/>
            </a:ln>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kumimoji="1" lang="zh-CN" altLang="en-US" sz="2400" b="0">
                <a:latin typeface="Tahoma" panose="020B0604030504040204" pitchFamily="34" charset="0"/>
              </a:endParaRPr>
            </a:p>
          </p:txBody>
        </p:sp>
        <p:sp>
          <p:nvSpPr>
            <p:cNvPr id="10" name="Oval 7"/>
            <p:cNvSpPr>
              <a:spLocks noChangeArrowheads="1"/>
            </p:cNvSpPr>
            <p:nvPr/>
          </p:nvSpPr>
          <p:spPr bwMode="auto">
            <a:xfrm>
              <a:off x="2304" y="2496"/>
              <a:ext cx="1776" cy="816"/>
            </a:xfrm>
            <a:prstGeom prst="ellipse">
              <a:avLst/>
            </a:prstGeom>
            <a:solidFill>
              <a:schemeClr val="tx2">
                <a:lumMod val="60000"/>
                <a:lumOff val="40000"/>
              </a:schemeClr>
            </a:solidFill>
            <a:ln w="12700">
              <a:solidFill>
                <a:schemeClr val="hlink"/>
              </a:solidFill>
              <a:round/>
              <a:tailEnd type="none" w="sm" len="sm"/>
            </a:ln>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FontTx/>
                <a:buNone/>
              </a:pPr>
              <a:endParaRPr lang="zh-CN" altLang="en-US" sz="1800">
                <a:solidFill>
                  <a:schemeClr val="folHlink"/>
                </a:solidFill>
                <a:latin typeface="Arial" panose="020B0604020202020204" pitchFamily="34" charset="0"/>
                <a:ea typeface="楷体_GB2312" panose="02010609030101010101" pitchFamily="49" charset="-122"/>
              </a:endParaRPr>
            </a:p>
          </p:txBody>
        </p:sp>
        <p:sp>
          <p:nvSpPr>
            <p:cNvPr id="11" name="Text Box 8"/>
            <p:cNvSpPr txBox="1">
              <a:spLocks noChangeArrowheads="1"/>
            </p:cNvSpPr>
            <p:nvPr/>
          </p:nvSpPr>
          <p:spPr bwMode="auto">
            <a:xfrm>
              <a:off x="2426" y="2642"/>
              <a:ext cx="1584" cy="57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50000"/>
                </a:spcBef>
                <a:buClrTx/>
                <a:buFontTx/>
                <a:buNone/>
              </a:pPr>
              <a:r>
                <a:rPr kumimoji="1" lang="zh-CN" altLang="en-US" sz="2400" dirty="0">
                  <a:solidFill>
                    <a:srgbClr val="0000FF"/>
                  </a:solidFill>
                  <a:latin typeface="黑体" panose="02010609060101010101" pitchFamily="49" charset="-122"/>
                  <a:ea typeface="黑体" panose="02010609060101010101" pitchFamily="49" charset="-122"/>
                </a:rPr>
                <a:t>运算器   控制器</a:t>
              </a:r>
            </a:p>
            <a:p>
              <a:pPr algn="ctr" eaLnBrk="1" hangingPunct="1">
                <a:buClrTx/>
                <a:buFontTx/>
                <a:buNone/>
              </a:pPr>
              <a:r>
                <a:rPr kumimoji="1" lang="zh-CN" altLang="en-US" sz="2400" dirty="0">
                  <a:solidFill>
                    <a:srgbClr val="0000FF"/>
                  </a:solidFill>
                  <a:latin typeface="黑体" panose="02010609060101010101" pitchFamily="49" charset="-122"/>
                  <a:ea typeface="黑体" panose="02010609060101010101" pitchFamily="49" charset="-122"/>
                </a:rPr>
                <a:t>寄存器组</a:t>
              </a:r>
              <a:r>
                <a:rPr kumimoji="1" lang="zh-CN" altLang="en-US" sz="1800" dirty="0">
                  <a:solidFill>
                    <a:srgbClr val="0000FF"/>
                  </a:solidFill>
                  <a:latin typeface="黑体" panose="02010609060101010101" pitchFamily="49" charset="-122"/>
                  <a:ea typeface="黑体" panose="02010609060101010101" pitchFamily="49" charset="-122"/>
                </a:rPr>
                <a:t>        </a:t>
              </a:r>
            </a:p>
          </p:txBody>
        </p:sp>
        <p:sp>
          <p:nvSpPr>
            <p:cNvPr id="12" name="Text Box 9"/>
            <p:cNvSpPr txBox="1">
              <a:spLocks noChangeArrowheads="1"/>
            </p:cNvSpPr>
            <p:nvPr/>
          </p:nvSpPr>
          <p:spPr bwMode="auto">
            <a:xfrm>
              <a:off x="1927" y="3216"/>
              <a:ext cx="2640" cy="527"/>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5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主存储器              总线</a:t>
              </a:r>
            </a:p>
            <a:p>
              <a:pPr algn="ctr" eaLnBrk="1" hangingPunct="1">
                <a:lnSpc>
                  <a:spcPct val="70000"/>
                </a:lnSpc>
                <a:spcBef>
                  <a:spcPct val="50000"/>
                </a:spcBef>
                <a:buClrTx/>
                <a:buFontTx/>
                <a:buNone/>
              </a:pPr>
              <a:r>
                <a:rPr lang="zh-CN" altLang="en-US" sz="2200" dirty="0">
                  <a:solidFill>
                    <a:srgbClr val="FF0000"/>
                  </a:solidFill>
                  <a:latin typeface="黑体" panose="02010609060101010101" pitchFamily="49" charset="-122"/>
                  <a:ea typeface="黑体" panose="02010609060101010101" pitchFamily="49" charset="-122"/>
                </a:rPr>
                <a:t>输入输出接口电路</a:t>
              </a:r>
            </a:p>
          </p:txBody>
        </p:sp>
        <p:sp>
          <p:nvSpPr>
            <p:cNvPr id="13" name="Text Box 10"/>
            <p:cNvSpPr txBox="1">
              <a:spLocks noChangeArrowheads="1"/>
            </p:cNvSpPr>
            <p:nvPr/>
          </p:nvSpPr>
          <p:spPr bwMode="auto">
            <a:xfrm>
              <a:off x="1927" y="3782"/>
              <a:ext cx="2592" cy="291"/>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buClrTx/>
                <a:buFontTx/>
                <a:buNone/>
              </a:pPr>
              <a:r>
                <a:rPr lang="zh-CN" altLang="en-US" sz="2400" dirty="0">
                  <a:latin typeface="黑体" panose="02010609060101010101" pitchFamily="49" charset="-122"/>
                  <a:ea typeface="黑体" panose="02010609060101010101" pitchFamily="49" charset="-122"/>
                </a:rPr>
                <a:t>外部设备</a:t>
              </a:r>
              <a:r>
                <a:rPr kumimoji="1" lang="zh-CN" altLang="en-US" sz="2400" dirty="0"/>
                <a:t>           </a:t>
              </a:r>
              <a:r>
                <a:rPr lang="zh-CN" altLang="en-US" sz="2400" dirty="0">
                  <a:latin typeface="黑体" panose="02010609060101010101" pitchFamily="49" charset="-122"/>
                  <a:ea typeface="黑体" panose="02010609060101010101" pitchFamily="49" charset="-122"/>
                </a:rPr>
                <a:t>软件</a:t>
              </a:r>
            </a:p>
          </p:txBody>
        </p:sp>
        <p:sp>
          <p:nvSpPr>
            <p:cNvPr id="14" name="Line 11"/>
            <p:cNvSpPr>
              <a:spLocks noChangeShapeType="1"/>
            </p:cNvSpPr>
            <p:nvPr/>
          </p:nvSpPr>
          <p:spPr bwMode="auto">
            <a:xfrm flipV="1">
              <a:off x="3913" y="2395"/>
              <a:ext cx="1008" cy="490"/>
            </a:xfrm>
            <a:prstGeom prst="line">
              <a:avLst/>
            </a:prstGeom>
            <a:noFill/>
            <a:ln w="34925">
              <a:solidFill>
                <a:srgbClr val="FF0000"/>
              </a:solidFill>
              <a:round/>
              <a:headEnd type="triangle"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2"/>
            <p:cNvSpPr txBox="1">
              <a:spLocks noChangeArrowheads="1"/>
            </p:cNvSpPr>
            <p:nvPr/>
          </p:nvSpPr>
          <p:spPr bwMode="auto">
            <a:xfrm>
              <a:off x="4224" y="2064"/>
              <a:ext cx="1296" cy="33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zh-CN" altLang="en-US" sz="2800" dirty="0">
                  <a:solidFill>
                    <a:srgbClr val="0000FF"/>
                  </a:solidFill>
                  <a:latin typeface="+mn-lt"/>
                  <a:ea typeface="黑体" panose="02010609060101010101" pitchFamily="49" charset="-122"/>
                </a:rPr>
                <a:t>微处理器</a:t>
              </a:r>
            </a:p>
          </p:txBody>
        </p:sp>
        <p:sp>
          <p:nvSpPr>
            <p:cNvPr id="16" name="Line 13"/>
            <p:cNvSpPr>
              <a:spLocks noChangeShapeType="1"/>
            </p:cNvSpPr>
            <p:nvPr/>
          </p:nvSpPr>
          <p:spPr bwMode="auto">
            <a:xfrm flipH="1" flipV="1">
              <a:off x="1624" y="2187"/>
              <a:ext cx="610" cy="527"/>
            </a:xfrm>
            <a:prstGeom prst="line">
              <a:avLst/>
            </a:prstGeom>
            <a:noFill/>
            <a:ln w="34925">
              <a:solidFill>
                <a:srgbClr val="FF0000"/>
              </a:solidFill>
              <a:round/>
              <a:headEnd type="triangle" w="lg" len="lg"/>
              <a:tailEnd type="none" w="lg" len="lg"/>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 name="Text Box 14"/>
            <p:cNvSpPr txBox="1">
              <a:spLocks noChangeArrowheads="1"/>
            </p:cNvSpPr>
            <p:nvPr/>
          </p:nvSpPr>
          <p:spPr bwMode="auto">
            <a:xfrm>
              <a:off x="480" y="1872"/>
              <a:ext cx="1344" cy="33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None/>
              </a:pPr>
              <a:r>
                <a:rPr lang="zh-CN" altLang="en-US" sz="2800" dirty="0">
                  <a:solidFill>
                    <a:srgbClr val="0000FF"/>
                  </a:solidFill>
                  <a:highlight>
                    <a:srgbClr val="FFFF00"/>
                  </a:highlight>
                  <a:latin typeface="+mn-lt"/>
                  <a:ea typeface="黑体" panose="02010609060101010101" pitchFamily="49" charset="-122"/>
                </a:rPr>
                <a:t>微型计算机</a:t>
              </a:r>
            </a:p>
          </p:txBody>
        </p:sp>
        <p:sp>
          <p:nvSpPr>
            <p:cNvPr id="18" name="Line 15"/>
            <p:cNvSpPr>
              <a:spLocks noChangeShapeType="1"/>
            </p:cNvSpPr>
            <p:nvPr/>
          </p:nvSpPr>
          <p:spPr bwMode="auto">
            <a:xfrm flipV="1">
              <a:off x="3072" y="1806"/>
              <a:ext cx="0" cy="470"/>
            </a:xfrm>
            <a:prstGeom prst="line">
              <a:avLst/>
            </a:prstGeom>
            <a:noFill/>
            <a:ln w="34925">
              <a:solidFill>
                <a:srgbClr val="FF0000"/>
              </a:solidFill>
              <a:round/>
              <a:head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6"/>
            <p:cNvSpPr txBox="1">
              <a:spLocks noChangeArrowheads="1"/>
            </p:cNvSpPr>
            <p:nvPr/>
          </p:nvSpPr>
          <p:spPr bwMode="auto">
            <a:xfrm>
              <a:off x="2160" y="1488"/>
              <a:ext cx="1872" cy="33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A50021"/>
                  </a:solidFill>
                  <a:miter lim="800000"/>
                  <a:headEnd/>
                  <a:tailEnd type="none" w="sm" len="sm"/>
                </a14:hiddenLine>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lang="zh-CN" altLang="en-US" sz="2800" dirty="0">
                  <a:solidFill>
                    <a:srgbClr val="0000FF"/>
                  </a:solidFill>
                  <a:highlight>
                    <a:srgbClr val="FFFF00"/>
                  </a:highlight>
                  <a:latin typeface="+mn-lt"/>
                  <a:ea typeface="黑体" panose="02010609060101010101" pitchFamily="49" charset="-122"/>
                </a:rPr>
                <a:t>微型计算机系统</a:t>
              </a: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8305"/>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1.2 </a:t>
            </a:r>
            <a:r>
              <a:rPr lang="zh-CN" altLang="en-US" kern="0" dirty="0">
                <a:solidFill>
                  <a:srgbClr val="000000"/>
                </a:solidFill>
                <a:latin typeface="黑体" panose="02010609060101010101" pitchFamily="49" charset="-122"/>
                <a:cs typeface="+mj-cs"/>
              </a:rPr>
              <a:t>冯</a:t>
            </a:r>
            <a:r>
              <a:rPr lang="en-US" altLang="zh-CN" kern="0" dirty="0">
                <a:solidFill>
                  <a:srgbClr val="000000"/>
                </a:solidFill>
                <a:latin typeface="黑体" panose="02010609060101010101" pitchFamily="49" charset="-122"/>
                <a:cs typeface="+mj-cs"/>
              </a:rPr>
              <a:t>·</a:t>
            </a:r>
            <a:r>
              <a:rPr lang="zh-CN" altLang="en-US" kern="0" dirty="0">
                <a:solidFill>
                  <a:srgbClr val="000000"/>
                </a:solidFill>
                <a:latin typeface="黑体" panose="02010609060101010101" pitchFamily="49" charset="-122"/>
                <a:cs typeface="+mj-cs"/>
              </a:rPr>
              <a:t>诺依曼计算机结构</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4" name="Picture 5" descr="第一台电子计算机ENI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196" y="830263"/>
            <a:ext cx="6212859" cy="538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5536782" y="5841980"/>
            <a:ext cx="887079"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zh-CN" sz="1800" b="0" dirty="0">
                <a:solidFill>
                  <a:srgbClr val="0000FF"/>
                </a:solidFill>
                <a:latin typeface="Arial" panose="020B0604020202020204" pitchFamily="34" charset="0"/>
              </a:rPr>
              <a:t>ENIAC</a:t>
            </a:r>
            <a:endParaRPr kumimoji="1" lang="zh-CN" altLang="en-US" sz="1800" b="0" dirty="0">
              <a:solidFill>
                <a:srgbClr val="0000FF"/>
              </a:solidFill>
              <a:latin typeface="Arial" panose="020B0604020202020204" pitchFamily="34" charset="0"/>
            </a:endParaRPr>
          </a:p>
        </p:txBody>
      </p:sp>
      <p:pic>
        <p:nvPicPr>
          <p:cNvPr id="20" name="Picture 7" descr="冯诺依曼"/>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8199" y="830263"/>
            <a:ext cx="239553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9"/>
          <p:cNvSpPr txBox="1">
            <a:spLocks noChangeArrowheads="1"/>
          </p:cNvSpPr>
          <p:nvPr/>
        </p:nvSpPr>
        <p:spPr bwMode="auto">
          <a:xfrm>
            <a:off x="7634536" y="4044951"/>
            <a:ext cx="1335920"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en-US" sz="1800" b="0" dirty="0" err="1">
                <a:solidFill>
                  <a:srgbClr val="0000FF"/>
                </a:solidFill>
                <a:latin typeface="黑体" panose="02010609060101010101" pitchFamily="49" charset="-122"/>
                <a:ea typeface="黑体" panose="02010609060101010101" pitchFamily="49" charset="-122"/>
              </a:rPr>
              <a:t>冯·</a:t>
            </a:r>
            <a:r>
              <a:rPr kumimoji="1" lang="en-US" altLang="zh-CN" sz="1800" b="0" dirty="0" err="1">
                <a:solidFill>
                  <a:srgbClr val="0000FF"/>
                </a:solidFill>
                <a:latin typeface="黑体" panose="02010609060101010101" pitchFamily="49" charset="-122"/>
                <a:ea typeface="黑体" panose="02010609060101010101" pitchFamily="49" charset="-122"/>
              </a:rPr>
              <a:t>诺</a:t>
            </a:r>
            <a:r>
              <a:rPr kumimoji="1" lang="zh-CN" altLang="en-US" sz="1800" b="0" dirty="0">
                <a:solidFill>
                  <a:srgbClr val="0000FF"/>
                </a:solidFill>
                <a:latin typeface="黑体" panose="02010609060101010101" pitchFamily="49" charset="-122"/>
                <a:ea typeface="黑体" panose="02010609060101010101" pitchFamily="49" charset="-122"/>
              </a:rPr>
              <a:t>伊曼</a:t>
            </a:r>
          </a:p>
        </p:txBody>
      </p:sp>
      <p:sp>
        <p:nvSpPr>
          <p:cNvPr id="23" name="Rectangle 10"/>
          <p:cNvSpPr>
            <a:spLocks noChangeArrowheads="1"/>
          </p:cNvSpPr>
          <p:nvPr/>
        </p:nvSpPr>
        <p:spPr bwMode="auto">
          <a:xfrm>
            <a:off x="899592" y="3573016"/>
            <a:ext cx="7632848" cy="2772106"/>
          </a:xfrm>
          <a:prstGeom prst="rect">
            <a:avLst/>
          </a:prstGeom>
          <a:solidFill>
            <a:schemeClr val="bg1"/>
          </a:solidFill>
          <a:ln w="25400">
            <a:solidFill>
              <a:srgbClr val="FF0000"/>
            </a:solidFill>
            <a:miter lim="800000"/>
          </a:ln>
          <a:effectLst/>
        </p:spPr>
        <p:txBody>
          <a:bodyPr wrap="square">
            <a:spAutoFit/>
          </a:bodyPr>
          <a:lstStyle/>
          <a:p>
            <a:pPr algn="ctr" eaLnBrk="1" hangingPunct="1">
              <a:lnSpc>
                <a:spcPct val="130000"/>
              </a:lnSpc>
            </a:pPr>
            <a:r>
              <a:rPr lang="en-US" altLang="en-US" sz="2600" dirty="0" err="1">
                <a:latin typeface="黑体" panose="02010609060101010101" pitchFamily="49" charset="-122"/>
              </a:rPr>
              <a:t>冯·</a:t>
            </a:r>
            <a:r>
              <a:rPr lang="en-US" altLang="zh-CN" sz="2600" dirty="0" err="1">
                <a:latin typeface="黑体" panose="02010609060101010101" pitchFamily="49" charset="-122"/>
              </a:rPr>
              <a:t>诺</a:t>
            </a:r>
            <a:r>
              <a:rPr lang="zh-CN" altLang="en-US" sz="2600" dirty="0">
                <a:latin typeface="黑体" panose="02010609060101010101" pitchFamily="49" charset="-122"/>
              </a:rPr>
              <a:t>伊曼（</a:t>
            </a:r>
            <a:r>
              <a:rPr lang="en-US" altLang="zh-CN" sz="2600" dirty="0">
                <a:latin typeface="黑体" panose="02010609060101010101" pitchFamily="49" charset="-122"/>
              </a:rPr>
              <a:t>1903-1957</a:t>
            </a:r>
            <a:r>
              <a:rPr lang="zh-CN" altLang="en-US" sz="2600" dirty="0">
                <a:latin typeface="黑体" panose="02010609060101010101" pitchFamily="49" charset="-122"/>
              </a:rPr>
              <a:t>）</a:t>
            </a:r>
            <a:endParaRPr lang="en-US" altLang="zh-CN" sz="2600" dirty="0">
              <a:latin typeface="黑体" panose="02010609060101010101" pitchFamily="49" charset="-122"/>
            </a:endParaRPr>
          </a:p>
          <a:p>
            <a:pPr eaLnBrk="1" hangingPunct="1">
              <a:lnSpc>
                <a:spcPct val="130000"/>
              </a:lnSpc>
            </a:pPr>
            <a:r>
              <a:rPr lang="zh-CN" altLang="en-US" sz="2200" dirty="0">
                <a:latin typeface="黑体" panose="02010609060101010101" pitchFamily="49" charset="-122"/>
              </a:rPr>
              <a:t>国籍：</a:t>
            </a:r>
            <a:r>
              <a:rPr lang="zh-CN" altLang="en-US" sz="2200" dirty="0">
                <a:solidFill>
                  <a:schemeClr val="tx1"/>
                </a:solidFill>
                <a:latin typeface="黑体" panose="02010609060101010101" pitchFamily="49" charset="-122"/>
              </a:rPr>
              <a:t>美籍匈牙利裔</a:t>
            </a:r>
            <a:r>
              <a:rPr lang="en-US" altLang="zh-CN" sz="2200" dirty="0">
                <a:solidFill>
                  <a:schemeClr val="tx1"/>
                </a:solidFill>
                <a:latin typeface="黑体" panose="02010609060101010101" pitchFamily="49" charset="-122"/>
              </a:rPr>
              <a:t>(1930</a:t>
            </a:r>
            <a:r>
              <a:rPr lang="zh-CN" altLang="en-US" sz="2200" dirty="0">
                <a:solidFill>
                  <a:schemeClr val="tx1"/>
                </a:solidFill>
                <a:latin typeface="黑体" panose="02010609060101010101" pitchFamily="49" charset="-122"/>
              </a:rPr>
              <a:t>年前往美国</a:t>
            </a:r>
            <a:r>
              <a:rPr lang="en-US" altLang="zh-CN" sz="2200" dirty="0">
                <a:solidFill>
                  <a:schemeClr val="tx1"/>
                </a:solidFill>
                <a:latin typeface="黑体" panose="02010609060101010101" pitchFamily="49" charset="-122"/>
              </a:rPr>
              <a:t>)</a:t>
            </a:r>
          </a:p>
          <a:p>
            <a:pPr eaLnBrk="1" hangingPunct="1">
              <a:lnSpc>
                <a:spcPct val="130000"/>
              </a:lnSpc>
            </a:pPr>
            <a:r>
              <a:rPr lang="zh-CN" altLang="en-US" sz="2200" dirty="0">
                <a:latin typeface="黑体" panose="02010609060101010101" pitchFamily="49" charset="-122"/>
              </a:rPr>
              <a:t>职业：</a:t>
            </a:r>
            <a:r>
              <a:rPr lang="zh-CN" altLang="en-US" sz="2200" dirty="0">
                <a:solidFill>
                  <a:schemeClr val="tx1"/>
                </a:solidFill>
                <a:latin typeface="黑体" panose="02010609060101010101" pitchFamily="49" charset="-122"/>
              </a:rPr>
              <a:t>数学家、计算机科学家、物理学家、化学家</a:t>
            </a:r>
            <a:endParaRPr lang="en-US" altLang="zh-CN" sz="2200" dirty="0">
              <a:solidFill>
                <a:schemeClr val="tx1"/>
              </a:solidFill>
              <a:latin typeface="黑体" panose="02010609060101010101" pitchFamily="49" charset="-122"/>
            </a:endParaRPr>
          </a:p>
          <a:p>
            <a:pPr eaLnBrk="1" hangingPunct="1">
              <a:lnSpc>
                <a:spcPct val="130000"/>
              </a:lnSpc>
            </a:pPr>
            <a:r>
              <a:rPr lang="zh-CN" altLang="en-US" sz="2200" dirty="0">
                <a:latin typeface="黑体" panose="02010609060101010101" pitchFamily="49" charset="-122"/>
              </a:rPr>
              <a:t>主要成就：</a:t>
            </a:r>
            <a:r>
              <a:rPr lang="zh-CN" altLang="en-US" sz="2200" dirty="0">
                <a:solidFill>
                  <a:schemeClr val="tx1"/>
                </a:solidFill>
                <a:latin typeface="黑体" panose="02010609060101010101" pitchFamily="49" charset="-122"/>
              </a:rPr>
              <a:t>冯</a:t>
            </a:r>
            <a:r>
              <a:rPr lang="en-US" altLang="zh-CN" sz="2200" dirty="0">
                <a:solidFill>
                  <a:schemeClr val="tx1"/>
                </a:solidFill>
                <a:latin typeface="黑体" panose="02010609060101010101" pitchFamily="49" charset="-122"/>
              </a:rPr>
              <a:t>·</a:t>
            </a:r>
            <a:r>
              <a:rPr lang="zh-CN" altLang="en-US" sz="2200" dirty="0">
                <a:solidFill>
                  <a:schemeClr val="tx1"/>
                </a:solidFill>
                <a:latin typeface="黑体" panose="02010609060101010101" pitchFamily="49" charset="-122"/>
              </a:rPr>
              <a:t>诺依曼结构、博弈论</a:t>
            </a:r>
            <a:endParaRPr lang="en-US" altLang="zh-CN" sz="2200" dirty="0">
              <a:solidFill>
                <a:schemeClr val="tx1"/>
              </a:solidFill>
              <a:latin typeface="黑体" panose="02010609060101010101" pitchFamily="49" charset="-122"/>
            </a:endParaRPr>
          </a:p>
          <a:p>
            <a:pPr eaLnBrk="1" hangingPunct="1">
              <a:lnSpc>
                <a:spcPct val="130000"/>
              </a:lnSpc>
            </a:pPr>
            <a:r>
              <a:rPr lang="zh-CN" altLang="en-US" sz="2200" dirty="0">
                <a:solidFill>
                  <a:schemeClr val="tx1"/>
                </a:solidFill>
                <a:latin typeface="黑体" panose="02010609060101010101" pitchFamily="49" charset="-122"/>
              </a:rPr>
              <a:t>现代计算机、博弈论、核武器和生化武器等领域内的</a:t>
            </a:r>
            <a:r>
              <a:rPr lang="zh-CN" altLang="en-US" sz="2200" dirty="0">
                <a:latin typeface="黑体" panose="02010609060101010101" pitchFamily="49" charset="-122"/>
              </a:rPr>
              <a:t>科学全才</a:t>
            </a:r>
            <a:r>
              <a:rPr lang="zh-CN" altLang="en-US" sz="2200" dirty="0">
                <a:solidFill>
                  <a:schemeClr val="tx1"/>
                </a:solidFill>
                <a:latin typeface="黑体" panose="02010609060101010101" pitchFamily="49" charset="-122"/>
              </a:rPr>
              <a:t>之一，被称为“</a:t>
            </a:r>
            <a:r>
              <a:rPr lang="zh-CN" altLang="en-US" sz="2200" dirty="0">
                <a:latin typeface="黑体" panose="02010609060101010101" pitchFamily="49" charset="-122"/>
              </a:rPr>
              <a:t>现代计算机之父</a:t>
            </a:r>
            <a:r>
              <a:rPr lang="zh-CN" altLang="en-US" sz="2200" dirty="0">
                <a:solidFill>
                  <a:schemeClr val="tx1"/>
                </a:solidFill>
                <a:latin typeface="黑体" panose="02010609060101010101" pitchFamily="49" charset="-122"/>
              </a:rPr>
              <a:t>”、“</a:t>
            </a:r>
            <a:r>
              <a:rPr lang="zh-CN" altLang="en-US" sz="2200" dirty="0">
                <a:latin typeface="黑体" panose="02010609060101010101" pitchFamily="49" charset="-122"/>
              </a:rPr>
              <a:t>博弈论之父</a:t>
            </a:r>
            <a:r>
              <a:rPr lang="zh-CN" altLang="en-US" sz="2200" dirty="0">
                <a:solidFill>
                  <a:schemeClr val="tx1"/>
                </a:solidFill>
                <a:latin typeface="黑体" panose="02010609060101010101" pitchFamily="49" charset="-122"/>
              </a:rPr>
              <a:t>”</a:t>
            </a:r>
            <a:r>
              <a:rPr lang="zh-CN" altLang="en-US" sz="2200" dirty="0">
                <a:latin typeface="黑体" panose="02010609060101010101"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10146"/>
            <a:ext cx="8352928" cy="4752528"/>
          </a:xfrm>
          <a:prstGeom prst="rect">
            <a:avLst/>
          </a:prstGeom>
        </p:spPr>
        <p:txBody>
          <a:bodyPr/>
          <a:lstStyle/>
          <a:p>
            <a:pPr marL="457200" indent="-457200" algn="just" latinLnBrk="0">
              <a:lnSpc>
                <a:spcPct val="120000"/>
              </a:lnSpc>
              <a:spcBef>
                <a:spcPts val="0"/>
              </a:spcBef>
              <a:buClr>
                <a:srgbClr val="0000FF"/>
              </a:buClr>
              <a:buSzPct val="100000"/>
              <a:buFont typeface="Wingdings" panose="05000000000000000000" pitchFamily="2" charset="2"/>
              <a:buChar char="Ø"/>
              <a:defRPr/>
            </a:pPr>
            <a:r>
              <a:rPr lang="en-US" altLang="zh-CN" sz="2600" dirty="0">
                <a:latin typeface="+mn-lt"/>
              </a:rPr>
              <a:t>5</a:t>
            </a:r>
            <a:r>
              <a:rPr lang="zh-CN" altLang="en-US" sz="2600" dirty="0">
                <a:latin typeface="+mn-lt"/>
              </a:rPr>
              <a:t>大部件组成</a:t>
            </a:r>
          </a:p>
          <a:p>
            <a:pPr marL="914400" lvl="1" indent="-457200" latinLnBrk="0">
              <a:lnSpc>
                <a:spcPct val="12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控制器、运算器</a:t>
            </a:r>
            <a:r>
              <a:rPr lang="zh-CN" altLang="en-US" sz="2400" dirty="0">
                <a:solidFill>
                  <a:schemeClr val="tx1"/>
                </a:solidFill>
                <a:latin typeface="+mn-lt"/>
              </a:rPr>
              <a:t>、存储器、</a:t>
            </a:r>
            <a:r>
              <a:rPr lang="zh-CN" altLang="en-US" sz="2400" dirty="0">
                <a:solidFill>
                  <a:srgbClr val="00B050"/>
                </a:solidFill>
                <a:latin typeface="+mn-lt"/>
              </a:rPr>
              <a:t>输入设备和输出设备</a:t>
            </a:r>
          </a:p>
          <a:p>
            <a:pPr marL="457200" indent="-457200" latinLnBrk="0">
              <a:lnSpc>
                <a:spcPct val="120000"/>
              </a:lnSpc>
              <a:spcBef>
                <a:spcPts val="0"/>
              </a:spcBef>
              <a:buClr>
                <a:srgbClr val="0000FF"/>
              </a:buClr>
              <a:buFont typeface="Wingdings" panose="05000000000000000000" pitchFamily="2" charset="2"/>
              <a:buChar char="Ø"/>
            </a:pPr>
            <a:r>
              <a:rPr lang="en-US" altLang="zh-CN" sz="2600" dirty="0"/>
              <a:t>3</a:t>
            </a:r>
            <a:r>
              <a:rPr lang="zh-CN" altLang="en-US" sz="2600" dirty="0"/>
              <a:t>个硬件子系统</a:t>
            </a:r>
          </a:p>
          <a:p>
            <a:pPr marL="914400" lvl="1" indent="-457200" latinLnBrk="0">
              <a:lnSpc>
                <a:spcPct val="12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处理器</a:t>
            </a:r>
            <a:r>
              <a:rPr lang="zh-CN" altLang="en-US" sz="2400" dirty="0">
                <a:solidFill>
                  <a:schemeClr val="tx1"/>
                </a:solidFill>
                <a:latin typeface="+mn-lt"/>
              </a:rPr>
              <a:t>、存储系统、</a:t>
            </a:r>
            <a:r>
              <a:rPr lang="zh-CN" altLang="en-US" sz="2400" dirty="0">
                <a:solidFill>
                  <a:srgbClr val="00B050"/>
                </a:solidFill>
                <a:latin typeface="+mn-lt"/>
              </a:rPr>
              <a:t>输入输出系统</a:t>
            </a:r>
          </a:p>
        </p:txBody>
      </p:sp>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硬件组成</a:t>
            </a:r>
          </a:p>
        </p:txBody>
      </p:sp>
      <p:cxnSp>
        <p:nvCxnSpPr>
          <p:cNvPr id="8" name="直接连接符 7"/>
          <p:cNvCxnSpPr/>
          <p:nvPr/>
        </p:nvCxnSpPr>
        <p:spPr bwMode="auto">
          <a:xfrm>
            <a:off x="142844" y="62094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9699" name="组合 56323"/>
          <p:cNvGrpSpPr/>
          <p:nvPr/>
        </p:nvGrpSpPr>
        <p:grpSpPr>
          <a:xfrm>
            <a:off x="1489075" y="2466340"/>
            <a:ext cx="5728335" cy="3224530"/>
            <a:chOff x="1008" y="864"/>
            <a:chExt cx="3792" cy="2464"/>
          </a:xfrm>
        </p:grpSpPr>
        <p:sp>
          <p:nvSpPr>
            <p:cNvPr id="29700" name="矩形 56324"/>
            <p:cNvSpPr/>
            <p:nvPr/>
          </p:nvSpPr>
          <p:spPr>
            <a:xfrm>
              <a:off x="3001" y="1867"/>
              <a:ext cx="368" cy="1461"/>
            </a:xfrm>
            <a:prstGeom prst="rect">
              <a:avLst/>
            </a:prstGeom>
            <a:noFill/>
            <a:ln w="28575" cap="flat" cmpd="sng">
              <a:solidFill>
                <a:srgbClr val="000000"/>
              </a:solidFill>
              <a:prstDash val="solid"/>
              <a:miter/>
              <a:headEnd type="none" w="med" len="med"/>
              <a:tailEnd type="none" w="med" len="med"/>
            </a:ln>
          </p:spPr>
          <p:txBody>
            <a:bodyPr lIns="12700" tIns="12700" rIns="12700" bIns="12700" anchor="t" anchorCtr="0"/>
            <a:lstStyle/>
            <a:p>
              <a:pPr algn="ctr" eaLnBrk="0" hangingPunct="0">
                <a:spcBef>
                  <a:spcPts val="600"/>
                </a:spcBef>
              </a:pPr>
              <a:endParaRPr lang="zh-CN" altLang="en-US" sz="2200" dirty="0">
                <a:solidFill>
                  <a:schemeClr val="tx1"/>
                </a:solidFill>
                <a:latin typeface="Times New Roman" panose="02020603050405020304" pitchFamily="18" charset="0"/>
              </a:endParaRPr>
            </a:p>
            <a:p>
              <a:pPr algn="ctr" eaLnBrk="0" hangingPunct="0">
                <a:spcBef>
                  <a:spcPts val="300"/>
                </a:spcBef>
              </a:pPr>
              <a:r>
                <a:rPr lang="en-US" altLang="zh-CN" sz="2200">
                  <a:solidFill>
                    <a:schemeClr val="tx1"/>
                  </a:solidFill>
                  <a:highlight>
                    <a:srgbClr val="FFFF00"/>
                  </a:highlight>
                  <a:latin typeface="Times New Roman" panose="02020603050405020304" pitchFamily="18" charset="0"/>
                </a:rPr>
                <a:t>I/O</a:t>
              </a:r>
            </a:p>
            <a:p>
              <a:pPr algn="ctr" eaLnBrk="0" hangingPunct="0">
                <a:spcBef>
                  <a:spcPts val="300"/>
                </a:spcBef>
              </a:pPr>
              <a:r>
                <a:rPr lang="zh-CN" altLang="en-US" sz="2200" dirty="0">
                  <a:solidFill>
                    <a:schemeClr val="tx1"/>
                  </a:solidFill>
                  <a:highlight>
                    <a:srgbClr val="FFFF00"/>
                  </a:highlight>
                  <a:latin typeface="Times New Roman" panose="02020603050405020304" pitchFamily="18" charset="0"/>
                </a:rPr>
                <a:t>接</a:t>
              </a:r>
            </a:p>
            <a:p>
              <a:pPr algn="ctr" eaLnBrk="0" hangingPunct="0">
                <a:spcBef>
                  <a:spcPts val="300"/>
                </a:spcBef>
              </a:pPr>
              <a:r>
                <a:rPr lang="zh-CN" altLang="en-US" sz="2200" dirty="0">
                  <a:solidFill>
                    <a:schemeClr val="tx1"/>
                  </a:solidFill>
                  <a:highlight>
                    <a:srgbClr val="FFFF00"/>
                  </a:highlight>
                  <a:latin typeface="Times New Roman" panose="02020603050405020304" pitchFamily="18" charset="0"/>
                </a:rPr>
                <a:t>口</a:t>
              </a:r>
            </a:p>
          </p:txBody>
        </p:sp>
        <p:sp>
          <p:nvSpPr>
            <p:cNvPr id="29701" name="矩形 56325"/>
            <p:cNvSpPr/>
            <p:nvPr/>
          </p:nvSpPr>
          <p:spPr>
            <a:xfrm>
              <a:off x="2999" y="1389"/>
              <a:ext cx="915" cy="372"/>
            </a:xfrm>
            <a:prstGeom prst="rect">
              <a:avLst/>
            </a:prstGeom>
            <a:noFill/>
            <a:ln w="28575" cap="flat" cmpd="sng">
              <a:solidFill>
                <a:srgbClr val="000000"/>
              </a:solidFill>
              <a:prstDash val="solid"/>
              <a:miter/>
              <a:headEnd type="none" w="med" len="med"/>
              <a:tailEnd type="none" w="med" len="med"/>
            </a:ln>
          </p:spPr>
          <p:txBody>
            <a:bodyPr lIns="12700" tIns="12700" rIns="12700" bIns="12700" anchor="t" anchorCtr="0"/>
            <a:lstStyle/>
            <a:p>
              <a:pPr algn="ctr" eaLnBrk="0" hangingPunct="0">
                <a:lnSpc>
                  <a:spcPct val="120000"/>
                </a:lnSpc>
                <a:spcBef>
                  <a:spcPts val="300"/>
                </a:spcBef>
              </a:pPr>
              <a:r>
                <a:rPr lang="zh-CN" altLang="en-US" sz="2200" dirty="0">
                  <a:solidFill>
                    <a:schemeClr val="tx1"/>
                  </a:solidFill>
                  <a:highlight>
                    <a:srgbClr val="FFFF00"/>
                  </a:highlight>
                  <a:latin typeface="Times New Roman" panose="02020603050405020304" pitchFamily="18" charset="0"/>
                </a:rPr>
                <a:t>主存储器</a:t>
              </a:r>
            </a:p>
          </p:txBody>
        </p:sp>
        <p:sp>
          <p:nvSpPr>
            <p:cNvPr id="29702" name="矩形 56326"/>
            <p:cNvSpPr/>
            <p:nvPr/>
          </p:nvSpPr>
          <p:spPr>
            <a:xfrm>
              <a:off x="2041" y="864"/>
              <a:ext cx="1089" cy="240"/>
            </a:xfrm>
            <a:prstGeom prst="rect">
              <a:avLst/>
            </a:prstGeom>
            <a:noFill/>
            <a:ln w="28575">
              <a:noFill/>
            </a:ln>
          </p:spPr>
          <p:txBody>
            <a:bodyPr lIns="12700" tIns="12700" rIns="12700" bIns="12700" anchor="t" anchorCtr="0"/>
            <a:lstStyle/>
            <a:p>
              <a:pPr algn="ctr" eaLnBrk="0" hangingPunct="0"/>
              <a:r>
                <a:rPr lang="zh-CN" altLang="en-US" sz="2200" dirty="0">
                  <a:solidFill>
                    <a:schemeClr val="tx1"/>
                  </a:solidFill>
                  <a:latin typeface="Times New Roman" panose="02020603050405020304" pitchFamily="18" charset="0"/>
                </a:rPr>
                <a:t>系统总线</a:t>
              </a:r>
            </a:p>
          </p:txBody>
        </p:sp>
        <p:sp>
          <p:nvSpPr>
            <p:cNvPr id="29703" name="直接连接符 56327"/>
            <p:cNvSpPr/>
            <p:nvPr/>
          </p:nvSpPr>
          <p:spPr>
            <a:xfrm>
              <a:off x="2539" y="1129"/>
              <a:ext cx="0" cy="2165"/>
            </a:xfrm>
            <a:prstGeom prst="line">
              <a:avLst/>
            </a:prstGeom>
            <a:ln w="57150" cap="flat" cmpd="sng">
              <a:solidFill>
                <a:srgbClr val="000000"/>
              </a:solidFill>
              <a:prstDash val="solid"/>
              <a:round/>
              <a:headEnd type="triangle" w="sm" len="sm"/>
              <a:tailEnd type="triangle" w="sm" len="sm"/>
            </a:ln>
          </p:spPr>
        </p:sp>
        <p:grpSp>
          <p:nvGrpSpPr>
            <p:cNvPr id="29704" name="组合 56328"/>
            <p:cNvGrpSpPr/>
            <p:nvPr/>
          </p:nvGrpSpPr>
          <p:grpSpPr>
            <a:xfrm>
              <a:off x="1008" y="1429"/>
              <a:ext cx="1048" cy="1473"/>
              <a:chOff x="1008" y="1429"/>
              <a:chExt cx="1048" cy="1473"/>
            </a:xfrm>
          </p:grpSpPr>
          <p:sp>
            <p:nvSpPr>
              <p:cNvPr id="29705" name="矩形 56329"/>
              <p:cNvSpPr/>
              <p:nvPr/>
            </p:nvSpPr>
            <p:spPr>
              <a:xfrm>
                <a:off x="1288" y="1469"/>
                <a:ext cx="543" cy="226"/>
              </a:xfrm>
              <a:prstGeom prst="rect">
                <a:avLst/>
              </a:prstGeom>
              <a:noFill/>
              <a:ln w="28575">
                <a:noFill/>
              </a:ln>
            </p:spPr>
            <p:txBody>
              <a:bodyPr lIns="12700" tIns="12700" rIns="12700" bIns="12700" anchor="t" anchorCtr="0"/>
              <a:lstStyle/>
              <a:p>
                <a:pPr algn="ctr" eaLnBrk="0" hangingPunct="0">
                  <a:spcBef>
                    <a:spcPts val="300"/>
                  </a:spcBef>
                </a:pPr>
                <a:r>
                  <a:rPr lang="en-US" altLang="zh-CN" sz="2200">
                    <a:solidFill>
                      <a:schemeClr val="tx1"/>
                    </a:solidFill>
                    <a:latin typeface="Times New Roman" panose="02020603050405020304" pitchFamily="18" charset="0"/>
                  </a:rPr>
                  <a:t>CPU</a:t>
                </a:r>
              </a:p>
            </p:txBody>
          </p:sp>
          <p:grpSp>
            <p:nvGrpSpPr>
              <p:cNvPr id="29706" name="组合 56330"/>
              <p:cNvGrpSpPr/>
              <p:nvPr/>
            </p:nvGrpSpPr>
            <p:grpSpPr>
              <a:xfrm>
                <a:off x="1194" y="1808"/>
                <a:ext cx="690" cy="949"/>
                <a:chOff x="0" y="-2"/>
                <a:chExt cx="20000" cy="20002"/>
              </a:xfrm>
            </p:grpSpPr>
            <p:sp>
              <p:nvSpPr>
                <p:cNvPr id="29707" name="矩形 56331"/>
                <p:cNvSpPr/>
                <p:nvPr/>
              </p:nvSpPr>
              <p:spPr>
                <a:xfrm>
                  <a:off x="0" y="14818"/>
                  <a:ext cx="20000" cy="5182"/>
                </a:xfrm>
                <a:prstGeom prst="rect">
                  <a:avLst/>
                </a:prstGeom>
                <a:noFill/>
                <a:ln w="28575" cap="flat" cmpd="sng">
                  <a:solidFill>
                    <a:srgbClr val="000000"/>
                  </a:solidFill>
                  <a:prstDash val="sysDot"/>
                  <a:miter/>
                  <a:headEnd type="none" w="med" len="med"/>
                  <a:tailEnd type="none" w="med" len="med"/>
                </a:ln>
              </p:spPr>
              <p:txBody>
                <a:bodyPr lIns="12700" tIns="12700" rIns="12700" bIns="12700" anchor="t" anchorCtr="0"/>
                <a:lstStyle/>
                <a:p>
                  <a:pPr algn="ctr" eaLnBrk="0" hangingPunct="0">
                    <a:lnSpc>
                      <a:spcPct val="90000"/>
                    </a:lnSpc>
                  </a:pPr>
                  <a:r>
                    <a:rPr lang="zh-CN" altLang="en-US" sz="2200" dirty="0">
                      <a:solidFill>
                        <a:schemeClr val="tx1"/>
                      </a:solidFill>
                      <a:highlight>
                        <a:srgbClr val="FFFF00"/>
                      </a:highlight>
                      <a:latin typeface="Times New Roman" panose="02020603050405020304" pitchFamily="18" charset="0"/>
                    </a:rPr>
                    <a:t>寄存器</a:t>
                  </a:r>
                </a:p>
              </p:txBody>
            </p:sp>
            <p:sp>
              <p:nvSpPr>
                <p:cNvPr id="29708" name="矩形 56332"/>
                <p:cNvSpPr/>
                <p:nvPr/>
              </p:nvSpPr>
              <p:spPr>
                <a:xfrm>
                  <a:off x="0" y="7266"/>
                  <a:ext cx="20000" cy="5185"/>
                </a:xfrm>
                <a:prstGeom prst="rect">
                  <a:avLst/>
                </a:prstGeom>
                <a:noFill/>
                <a:ln w="28575" cap="flat" cmpd="sng">
                  <a:solidFill>
                    <a:srgbClr val="000000"/>
                  </a:solidFill>
                  <a:prstDash val="sysDot"/>
                  <a:miter/>
                  <a:headEnd type="none" w="med" len="med"/>
                  <a:tailEnd type="none" w="med" len="med"/>
                </a:ln>
              </p:spPr>
              <p:txBody>
                <a:bodyPr lIns="12700" tIns="12700" rIns="12700" bIns="12700" anchor="t" anchorCtr="0"/>
                <a:lstStyle/>
                <a:p>
                  <a:pPr algn="ctr" eaLnBrk="0" hangingPunct="0">
                    <a:lnSpc>
                      <a:spcPct val="90000"/>
                    </a:lnSpc>
                  </a:pPr>
                  <a:r>
                    <a:rPr lang="zh-CN" altLang="en-US" sz="2200" dirty="0">
                      <a:solidFill>
                        <a:schemeClr val="tx1"/>
                      </a:solidFill>
                      <a:latin typeface="Times New Roman" panose="02020603050405020304" pitchFamily="18" charset="0"/>
                    </a:rPr>
                    <a:t>控制器</a:t>
                  </a:r>
                </a:p>
              </p:txBody>
            </p:sp>
            <p:sp>
              <p:nvSpPr>
                <p:cNvPr id="29709" name="矩形 56333"/>
                <p:cNvSpPr/>
                <p:nvPr/>
              </p:nvSpPr>
              <p:spPr>
                <a:xfrm>
                  <a:off x="0" y="-2"/>
                  <a:ext cx="20000" cy="5182"/>
                </a:xfrm>
                <a:prstGeom prst="rect">
                  <a:avLst/>
                </a:prstGeom>
                <a:noFill/>
                <a:ln w="28575" cap="flat" cmpd="sng">
                  <a:solidFill>
                    <a:srgbClr val="000000"/>
                  </a:solidFill>
                  <a:prstDash val="sysDot"/>
                  <a:miter/>
                  <a:headEnd type="none" w="med" len="med"/>
                  <a:tailEnd type="none" w="med" len="med"/>
                </a:ln>
              </p:spPr>
              <p:txBody>
                <a:bodyPr lIns="12700" tIns="12700" rIns="12700" bIns="12700" anchor="t" anchorCtr="0"/>
                <a:lstStyle/>
                <a:p>
                  <a:pPr algn="ctr" eaLnBrk="0" hangingPunct="0">
                    <a:lnSpc>
                      <a:spcPct val="90000"/>
                    </a:lnSpc>
                  </a:pPr>
                  <a:r>
                    <a:rPr lang="zh-CN" altLang="en-US" sz="2200" dirty="0">
                      <a:solidFill>
                        <a:schemeClr val="tx1"/>
                      </a:solidFill>
                      <a:latin typeface="Times New Roman" panose="02020603050405020304" pitchFamily="18" charset="0"/>
                    </a:rPr>
                    <a:t>运算器</a:t>
                  </a:r>
                </a:p>
              </p:txBody>
            </p:sp>
          </p:grpSp>
          <p:sp>
            <p:nvSpPr>
              <p:cNvPr id="29710" name="矩形 56334"/>
              <p:cNvSpPr/>
              <p:nvPr/>
            </p:nvSpPr>
            <p:spPr>
              <a:xfrm>
                <a:off x="1008" y="1429"/>
                <a:ext cx="1048" cy="1473"/>
              </a:xfrm>
              <a:prstGeom prst="rect">
                <a:avLst/>
              </a:prstGeom>
              <a:noFill/>
              <a:ln w="28575" cap="flat" cmpd="sng">
                <a:solidFill>
                  <a:srgbClr val="000000"/>
                </a:solidFill>
                <a:prstDash val="solid"/>
                <a:miter/>
                <a:headEnd type="none" w="med" len="med"/>
                <a:tailEnd type="none" w="med" len="med"/>
              </a:ln>
            </p:spPr>
            <p:txBody>
              <a:bodyPr anchor="t" anchorCtr="0"/>
              <a:lstStyle/>
              <a:p>
                <a:pPr eaLnBrk="0" hangingPunct="0"/>
                <a:endParaRPr lang="zh-CN" altLang="en-US" sz="2200">
                  <a:solidFill>
                    <a:schemeClr val="tx1"/>
                  </a:solidFill>
                  <a:latin typeface="Times New Roman" panose="02020603050405020304" pitchFamily="18" charset="0"/>
                </a:endParaRPr>
              </a:p>
            </p:txBody>
          </p:sp>
        </p:grpSp>
        <p:sp>
          <p:nvSpPr>
            <p:cNvPr id="29711" name="直接连接符 56335"/>
            <p:cNvSpPr/>
            <p:nvPr/>
          </p:nvSpPr>
          <p:spPr>
            <a:xfrm>
              <a:off x="2571" y="1574"/>
              <a:ext cx="413" cy="1"/>
            </a:xfrm>
            <a:prstGeom prst="line">
              <a:avLst/>
            </a:prstGeom>
            <a:ln w="57150" cap="flat" cmpd="sng">
              <a:solidFill>
                <a:srgbClr val="000000"/>
              </a:solidFill>
              <a:prstDash val="solid"/>
              <a:round/>
              <a:headEnd type="triangle" w="sm" len="sm"/>
              <a:tailEnd type="triangle" w="sm" len="sm"/>
            </a:ln>
          </p:spPr>
        </p:sp>
        <p:sp>
          <p:nvSpPr>
            <p:cNvPr id="29712" name="直接连接符 56336"/>
            <p:cNvSpPr/>
            <p:nvPr/>
          </p:nvSpPr>
          <p:spPr>
            <a:xfrm>
              <a:off x="2075" y="2131"/>
              <a:ext cx="446" cy="1"/>
            </a:xfrm>
            <a:prstGeom prst="line">
              <a:avLst/>
            </a:prstGeom>
            <a:ln w="57150" cap="flat" cmpd="sng">
              <a:solidFill>
                <a:srgbClr val="000000"/>
              </a:solidFill>
              <a:prstDash val="solid"/>
              <a:round/>
              <a:headEnd type="triangle" w="sm" len="sm"/>
              <a:tailEnd type="triangle" w="sm" len="sm"/>
            </a:ln>
          </p:spPr>
        </p:sp>
        <p:sp>
          <p:nvSpPr>
            <p:cNvPr id="29713" name="直接连接符 56337"/>
            <p:cNvSpPr/>
            <p:nvPr/>
          </p:nvSpPr>
          <p:spPr>
            <a:xfrm>
              <a:off x="2571" y="2503"/>
              <a:ext cx="413" cy="1"/>
            </a:xfrm>
            <a:prstGeom prst="line">
              <a:avLst/>
            </a:prstGeom>
            <a:ln w="57150" cap="flat" cmpd="sng">
              <a:solidFill>
                <a:srgbClr val="000000"/>
              </a:solidFill>
              <a:prstDash val="solid"/>
              <a:round/>
              <a:headEnd type="triangle" w="sm" len="sm"/>
              <a:tailEnd type="triangle" w="sm" len="sm"/>
            </a:ln>
          </p:spPr>
        </p:sp>
        <p:sp>
          <p:nvSpPr>
            <p:cNvPr id="29714" name="矩形 56338"/>
            <p:cNvSpPr/>
            <p:nvPr/>
          </p:nvSpPr>
          <p:spPr>
            <a:xfrm>
              <a:off x="3796" y="1853"/>
              <a:ext cx="1004" cy="373"/>
            </a:xfrm>
            <a:prstGeom prst="rect">
              <a:avLst/>
            </a:prstGeom>
            <a:noFill/>
            <a:ln w="28575" cap="flat" cmpd="sng">
              <a:solidFill>
                <a:srgbClr val="000000"/>
              </a:solidFill>
              <a:prstDash val="solid"/>
              <a:miter/>
              <a:headEnd type="none" w="med" len="med"/>
              <a:tailEnd type="none" w="med" len="med"/>
            </a:ln>
          </p:spPr>
          <p:txBody>
            <a:bodyPr lIns="12700" tIns="12700" rIns="12700" bIns="12700" anchor="t" anchorCtr="0"/>
            <a:lstStyle/>
            <a:p>
              <a:pPr algn="ctr" eaLnBrk="0" hangingPunct="0">
                <a:lnSpc>
                  <a:spcPct val="120000"/>
                </a:lnSpc>
                <a:spcBef>
                  <a:spcPts val="300"/>
                </a:spcBef>
              </a:pPr>
              <a:r>
                <a:rPr lang="zh-CN" altLang="en-US" sz="2200" dirty="0">
                  <a:solidFill>
                    <a:schemeClr val="tx1"/>
                  </a:solidFill>
                  <a:latin typeface="Times New Roman" panose="02020603050405020304" pitchFamily="18" charset="0"/>
                </a:rPr>
                <a:t>辅助存储器</a:t>
              </a:r>
            </a:p>
          </p:txBody>
        </p:sp>
        <p:sp>
          <p:nvSpPr>
            <p:cNvPr id="29715" name="矩形 56339"/>
            <p:cNvSpPr/>
            <p:nvPr/>
          </p:nvSpPr>
          <p:spPr>
            <a:xfrm>
              <a:off x="3796" y="2424"/>
              <a:ext cx="1004" cy="373"/>
            </a:xfrm>
            <a:prstGeom prst="rect">
              <a:avLst/>
            </a:prstGeom>
            <a:noFill/>
            <a:ln w="28575" cap="flat" cmpd="sng">
              <a:solidFill>
                <a:srgbClr val="000000"/>
              </a:solidFill>
              <a:prstDash val="solid"/>
              <a:miter/>
              <a:headEnd type="none" w="med" len="med"/>
              <a:tailEnd type="none" w="med" len="med"/>
            </a:ln>
          </p:spPr>
          <p:txBody>
            <a:bodyPr lIns="12700" tIns="12700" rIns="12700" bIns="12700" anchor="t" anchorCtr="0"/>
            <a:lstStyle/>
            <a:p>
              <a:pPr algn="ctr" eaLnBrk="0" hangingPunct="0">
                <a:lnSpc>
                  <a:spcPct val="120000"/>
                </a:lnSpc>
                <a:spcBef>
                  <a:spcPts val="300"/>
                </a:spcBef>
              </a:pPr>
              <a:r>
                <a:rPr lang="zh-CN" altLang="en-US" sz="2200" dirty="0">
                  <a:solidFill>
                    <a:schemeClr val="tx1"/>
                  </a:solidFill>
                  <a:latin typeface="Times New Roman" panose="02020603050405020304" pitchFamily="18" charset="0"/>
                </a:rPr>
                <a:t>输入设备</a:t>
              </a:r>
            </a:p>
          </p:txBody>
        </p:sp>
        <p:sp>
          <p:nvSpPr>
            <p:cNvPr id="29716" name="矩形 56340"/>
            <p:cNvSpPr/>
            <p:nvPr/>
          </p:nvSpPr>
          <p:spPr>
            <a:xfrm>
              <a:off x="3796" y="2916"/>
              <a:ext cx="1004" cy="372"/>
            </a:xfrm>
            <a:prstGeom prst="rect">
              <a:avLst/>
            </a:prstGeom>
            <a:noFill/>
            <a:ln w="28575" cap="flat" cmpd="sng">
              <a:solidFill>
                <a:srgbClr val="000000"/>
              </a:solidFill>
              <a:prstDash val="solid"/>
              <a:miter/>
              <a:headEnd type="none" w="med" len="med"/>
              <a:tailEnd type="none" w="med" len="med"/>
            </a:ln>
          </p:spPr>
          <p:txBody>
            <a:bodyPr lIns="12700" tIns="12700" rIns="12700" bIns="12700" anchor="t" anchorCtr="0"/>
            <a:lstStyle/>
            <a:p>
              <a:pPr algn="ctr" eaLnBrk="0" hangingPunct="0">
                <a:lnSpc>
                  <a:spcPct val="120000"/>
                </a:lnSpc>
                <a:spcBef>
                  <a:spcPts val="300"/>
                </a:spcBef>
              </a:pPr>
              <a:r>
                <a:rPr lang="zh-CN" altLang="en-US" sz="2200" dirty="0">
                  <a:solidFill>
                    <a:schemeClr val="tx1"/>
                  </a:solidFill>
                  <a:latin typeface="Times New Roman" panose="02020603050405020304" pitchFamily="18" charset="0"/>
                </a:rPr>
                <a:t>输出设备</a:t>
              </a:r>
            </a:p>
          </p:txBody>
        </p:sp>
        <p:sp>
          <p:nvSpPr>
            <p:cNvPr id="29717" name="直接连接符 56341"/>
            <p:cNvSpPr/>
            <p:nvPr/>
          </p:nvSpPr>
          <p:spPr>
            <a:xfrm flipH="1">
              <a:off x="3375" y="2045"/>
              <a:ext cx="410" cy="1"/>
            </a:xfrm>
            <a:prstGeom prst="line">
              <a:avLst/>
            </a:prstGeom>
            <a:ln w="57150" cap="flat" cmpd="sng">
              <a:solidFill>
                <a:srgbClr val="000000"/>
              </a:solidFill>
              <a:prstDash val="solid"/>
              <a:round/>
              <a:headEnd type="triangle" w="sm" len="sm"/>
              <a:tailEnd type="triangle" w="sm" len="sm"/>
            </a:ln>
          </p:spPr>
        </p:sp>
        <p:sp>
          <p:nvSpPr>
            <p:cNvPr id="29718" name="直接连接符 56342"/>
            <p:cNvSpPr/>
            <p:nvPr/>
          </p:nvSpPr>
          <p:spPr>
            <a:xfrm flipH="1">
              <a:off x="3375" y="2616"/>
              <a:ext cx="410" cy="0"/>
            </a:xfrm>
            <a:prstGeom prst="line">
              <a:avLst/>
            </a:prstGeom>
            <a:ln w="57150" cap="flat" cmpd="sng">
              <a:solidFill>
                <a:srgbClr val="000000"/>
              </a:solidFill>
              <a:prstDash val="solid"/>
              <a:round/>
              <a:headEnd type="triangle" w="sm" len="sm"/>
              <a:tailEnd type="triangle" w="sm" len="sm"/>
            </a:ln>
          </p:spPr>
        </p:sp>
        <p:sp>
          <p:nvSpPr>
            <p:cNvPr id="29719" name="直接连接符 56343"/>
            <p:cNvSpPr/>
            <p:nvPr/>
          </p:nvSpPr>
          <p:spPr>
            <a:xfrm flipH="1">
              <a:off x="3375" y="3107"/>
              <a:ext cx="410" cy="1"/>
            </a:xfrm>
            <a:prstGeom prst="line">
              <a:avLst/>
            </a:prstGeom>
            <a:ln w="57150" cap="flat" cmpd="sng">
              <a:solidFill>
                <a:srgbClr val="000000"/>
              </a:solidFill>
              <a:prstDash val="solid"/>
              <a:round/>
              <a:headEnd type="triangle" w="sm" len="sm"/>
              <a:tailEnd type="triangle" w="sm" len="sm"/>
            </a:ln>
          </p:spPr>
        </p:sp>
      </p:grpSp>
      <p:sp>
        <p:nvSpPr>
          <p:cNvPr id="4" name="AutoShape 4"/>
          <p:cNvSpPr>
            <a:spLocks noChangeArrowheads="1"/>
          </p:cNvSpPr>
          <p:nvPr/>
        </p:nvSpPr>
        <p:spPr bwMode="auto">
          <a:xfrm>
            <a:off x="1291590" y="5801995"/>
            <a:ext cx="6848475" cy="1004570"/>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marL="0" indent="0" algn="just" eaLnBrk="1" latinLnBrk="0" hangingPunct="1">
              <a:lnSpc>
                <a:spcPct val="11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汇编语言程序员将硬件抽象为：</a:t>
            </a:r>
          </a:p>
          <a:p>
            <a:pPr marL="0" indent="0" algn="just" eaLnBrk="1" latinLnBrk="0" hangingPunct="1">
              <a:lnSpc>
                <a:spcPct val="110000"/>
              </a:lnSpc>
              <a:spcBef>
                <a:spcPct val="0"/>
              </a:spcBef>
              <a:buClrTx/>
              <a:buFontTx/>
              <a:buNone/>
            </a:pPr>
            <a:r>
              <a:rPr lang="zh-CN" altLang="en-US" sz="24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寄存器、存储器地址和输入输出地址</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43450"/>
            <a:ext cx="9144000" cy="849296"/>
          </a:xfrm>
          <a:prstGeom prst="rect">
            <a:avLst/>
          </a:prstGeom>
        </p:spPr>
        <p:txBody>
          <a:bodyPr>
            <a:normAutofit/>
          </a:bodyPr>
          <a:lstStyle/>
          <a:p>
            <a:pPr lvl="0">
              <a:defRPr/>
            </a:pPr>
            <a:r>
              <a:rPr lang="en-US" altLang="zh-CN" kern="0" noProof="0" dirty="0">
                <a:ln>
                  <a:noFill/>
                </a:ln>
                <a:solidFill>
                  <a:srgbClr val="000000"/>
                </a:solidFill>
                <a:effectLst/>
                <a:uLnTx/>
                <a:uFillTx/>
                <a:latin typeface="黑体" panose="02010609060101010101" pitchFamily="49" charset="-122"/>
                <a:cs typeface="+mj-cs"/>
                <a:sym typeface="+mn-ea"/>
              </a:rPr>
              <a:t>1.2.1 </a:t>
            </a:r>
            <a:r>
              <a:rPr lang="zh-CN" altLang="en-US" kern="0" noProof="0" dirty="0">
                <a:ln>
                  <a:noFill/>
                </a:ln>
                <a:solidFill>
                  <a:srgbClr val="000000"/>
                </a:solidFill>
                <a:effectLst/>
                <a:uLnTx/>
                <a:uFillTx/>
                <a:latin typeface="黑体" panose="02010609060101010101" pitchFamily="49" charset="-122"/>
                <a:cs typeface="+mj-cs"/>
                <a:sym typeface="+mn-ea"/>
              </a:rPr>
              <a:t>硬件组成</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8913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 name="Group 4"/>
          <p:cNvGrpSpPr/>
          <p:nvPr/>
        </p:nvGrpSpPr>
        <p:grpSpPr bwMode="auto">
          <a:xfrm>
            <a:off x="2871345" y="2008278"/>
            <a:ext cx="6049963" cy="4800600"/>
            <a:chOff x="793" y="1006"/>
            <a:chExt cx="3811" cy="3024"/>
          </a:xfrm>
        </p:grpSpPr>
        <p:sp>
          <p:nvSpPr>
            <p:cNvPr id="32" name="Rectangle 5"/>
            <p:cNvSpPr>
              <a:spLocks noChangeArrowheads="1"/>
            </p:cNvSpPr>
            <p:nvPr/>
          </p:nvSpPr>
          <p:spPr bwMode="auto">
            <a:xfrm>
              <a:off x="1824" y="1006"/>
              <a:ext cx="912" cy="3024"/>
            </a:xfrm>
            <a:prstGeom prst="rect">
              <a:avLst/>
            </a:prstGeom>
            <a:solidFill>
              <a:srgbClr val="C0C0C0"/>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969696"/>
                  </a:solidFill>
                  <a:miter lim="800000"/>
                  <a:headEnd/>
                  <a:tailEnd type="none" w="sm" len="sm"/>
                </a14:hiddenLine>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a:spcBef>
                  <a:spcPct val="0"/>
                </a:spcBef>
                <a:buClrTx/>
                <a:buFontTx/>
                <a:buNone/>
              </a:pPr>
              <a:endParaRPr kumimoji="1" lang="zh-CN" altLang="en-US" sz="2000">
                <a:solidFill>
                  <a:schemeClr val="hlink"/>
                </a:solidFill>
                <a:latin typeface="Times New Roman" panose="02020603050405020304" pitchFamily="18" charset="0"/>
                <a:ea typeface="隶书" panose="02010509060101010101" pitchFamily="49" charset="-122"/>
              </a:endParaRPr>
            </a:p>
          </p:txBody>
        </p:sp>
        <p:sp>
          <p:nvSpPr>
            <p:cNvPr id="33" name="Text Box 6"/>
            <p:cNvSpPr txBox="1">
              <a:spLocks noChangeArrowheads="1"/>
            </p:cNvSpPr>
            <p:nvPr/>
          </p:nvSpPr>
          <p:spPr bwMode="auto">
            <a:xfrm>
              <a:off x="1824" y="1054"/>
              <a:ext cx="240" cy="29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969696"/>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4</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5</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6</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7</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8</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9</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10</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11</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12</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13</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14</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15</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16</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17</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18</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19</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20</a:t>
              </a:r>
            </a:p>
          </p:txBody>
        </p:sp>
        <p:sp>
          <p:nvSpPr>
            <p:cNvPr id="34" name="Text Box 7"/>
            <p:cNvSpPr txBox="1">
              <a:spLocks noChangeArrowheads="1"/>
            </p:cNvSpPr>
            <p:nvPr/>
          </p:nvSpPr>
          <p:spPr bwMode="auto">
            <a:xfrm>
              <a:off x="2496" y="1054"/>
              <a:ext cx="240" cy="29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969696"/>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40</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39</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38</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37</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36</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35</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34</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33</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32</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31</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30</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29</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28</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27</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26</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25</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24</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23</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22</a:t>
              </a:r>
            </a:p>
            <a:p>
              <a:pPr algn="l">
                <a:lnSpc>
                  <a:spcPct val="60000"/>
                </a:lnSpc>
                <a:spcBef>
                  <a:spcPct val="50000"/>
                </a:spcBef>
                <a:buClrTx/>
                <a:buFontTx/>
                <a:buNone/>
              </a:pPr>
              <a:r>
                <a:rPr kumimoji="1" lang="en-US" altLang="zh-CN" sz="1400">
                  <a:latin typeface="Times New Roman" panose="02020603050405020304" pitchFamily="18" charset="0"/>
                  <a:ea typeface="隶书" panose="02010509060101010101" pitchFamily="49" charset="-122"/>
                </a:rPr>
                <a:t>21</a:t>
              </a:r>
            </a:p>
          </p:txBody>
        </p:sp>
        <p:sp>
          <p:nvSpPr>
            <p:cNvPr id="35" name="Line 8"/>
            <p:cNvSpPr>
              <a:spLocks noChangeShapeType="1"/>
            </p:cNvSpPr>
            <p:nvPr/>
          </p:nvSpPr>
          <p:spPr bwMode="auto">
            <a:xfrm>
              <a:off x="1440" y="110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9"/>
            <p:cNvSpPr>
              <a:spLocks noChangeShapeType="1"/>
            </p:cNvSpPr>
            <p:nvPr/>
          </p:nvSpPr>
          <p:spPr bwMode="auto">
            <a:xfrm>
              <a:off x="1440" y="124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0"/>
            <p:cNvSpPr>
              <a:spLocks noChangeShapeType="1"/>
            </p:cNvSpPr>
            <p:nvPr/>
          </p:nvSpPr>
          <p:spPr bwMode="auto">
            <a:xfrm>
              <a:off x="2736" y="110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1"/>
            <p:cNvSpPr>
              <a:spLocks noChangeShapeType="1"/>
            </p:cNvSpPr>
            <p:nvPr/>
          </p:nvSpPr>
          <p:spPr bwMode="auto">
            <a:xfrm>
              <a:off x="1440" y="139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2"/>
            <p:cNvSpPr>
              <a:spLocks noChangeShapeType="1"/>
            </p:cNvSpPr>
            <p:nvPr/>
          </p:nvSpPr>
          <p:spPr bwMode="auto">
            <a:xfrm>
              <a:off x="1440" y="153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3"/>
            <p:cNvSpPr>
              <a:spLocks noChangeShapeType="1"/>
            </p:cNvSpPr>
            <p:nvPr/>
          </p:nvSpPr>
          <p:spPr bwMode="auto">
            <a:xfrm>
              <a:off x="1440" y="167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4"/>
            <p:cNvSpPr>
              <a:spLocks noChangeShapeType="1"/>
            </p:cNvSpPr>
            <p:nvPr/>
          </p:nvSpPr>
          <p:spPr bwMode="auto">
            <a:xfrm>
              <a:off x="1440" y="182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5"/>
            <p:cNvSpPr>
              <a:spLocks noChangeShapeType="1"/>
            </p:cNvSpPr>
            <p:nvPr/>
          </p:nvSpPr>
          <p:spPr bwMode="auto">
            <a:xfrm>
              <a:off x="1440" y="196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6"/>
            <p:cNvSpPr>
              <a:spLocks noChangeShapeType="1"/>
            </p:cNvSpPr>
            <p:nvPr/>
          </p:nvSpPr>
          <p:spPr bwMode="auto">
            <a:xfrm>
              <a:off x="1440" y="211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7"/>
            <p:cNvSpPr>
              <a:spLocks noChangeShapeType="1"/>
            </p:cNvSpPr>
            <p:nvPr/>
          </p:nvSpPr>
          <p:spPr bwMode="auto">
            <a:xfrm>
              <a:off x="1440" y="230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8"/>
            <p:cNvSpPr>
              <a:spLocks noChangeShapeType="1"/>
            </p:cNvSpPr>
            <p:nvPr/>
          </p:nvSpPr>
          <p:spPr bwMode="auto">
            <a:xfrm>
              <a:off x="1440" y="244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9"/>
            <p:cNvSpPr>
              <a:spLocks noChangeShapeType="1"/>
            </p:cNvSpPr>
            <p:nvPr/>
          </p:nvSpPr>
          <p:spPr bwMode="auto">
            <a:xfrm>
              <a:off x="1440" y="259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20"/>
            <p:cNvSpPr>
              <a:spLocks noChangeShapeType="1"/>
            </p:cNvSpPr>
            <p:nvPr/>
          </p:nvSpPr>
          <p:spPr bwMode="auto">
            <a:xfrm>
              <a:off x="1440" y="273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21"/>
            <p:cNvSpPr>
              <a:spLocks noChangeShapeType="1"/>
            </p:cNvSpPr>
            <p:nvPr/>
          </p:nvSpPr>
          <p:spPr bwMode="auto">
            <a:xfrm>
              <a:off x="1440" y="287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22"/>
            <p:cNvSpPr>
              <a:spLocks noChangeShapeType="1"/>
            </p:cNvSpPr>
            <p:nvPr/>
          </p:nvSpPr>
          <p:spPr bwMode="auto">
            <a:xfrm>
              <a:off x="1440" y="302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23"/>
            <p:cNvSpPr>
              <a:spLocks noChangeShapeType="1"/>
            </p:cNvSpPr>
            <p:nvPr/>
          </p:nvSpPr>
          <p:spPr bwMode="auto">
            <a:xfrm>
              <a:off x="1440" y="316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24"/>
            <p:cNvSpPr>
              <a:spLocks noChangeShapeType="1"/>
            </p:cNvSpPr>
            <p:nvPr/>
          </p:nvSpPr>
          <p:spPr bwMode="auto">
            <a:xfrm>
              <a:off x="1440" y="331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25"/>
            <p:cNvSpPr>
              <a:spLocks noChangeShapeType="1"/>
            </p:cNvSpPr>
            <p:nvPr/>
          </p:nvSpPr>
          <p:spPr bwMode="auto">
            <a:xfrm>
              <a:off x="1440" y="345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26"/>
            <p:cNvSpPr>
              <a:spLocks noChangeShapeType="1"/>
            </p:cNvSpPr>
            <p:nvPr/>
          </p:nvSpPr>
          <p:spPr bwMode="auto">
            <a:xfrm>
              <a:off x="1440" y="359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27"/>
            <p:cNvSpPr>
              <a:spLocks noChangeShapeType="1"/>
            </p:cNvSpPr>
            <p:nvPr/>
          </p:nvSpPr>
          <p:spPr bwMode="auto">
            <a:xfrm>
              <a:off x="1440" y="374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28"/>
            <p:cNvSpPr>
              <a:spLocks noChangeShapeType="1"/>
            </p:cNvSpPr>
            <p:nvPr/>
          </p:nvSpPr>
          <p:spPr bwMode="auto">
            <a:xfrm>
              <a:off x="1440" y="388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29"/>
            <p:cNvSpPr txBox="1">
              <a:spLocks noChangeArrowheads="1"/>
            </p:cNvSpPr>
            <p:nvPr/>
          </p:nvSpPr>
          <p:spPr bwMode="auto">
            <a:xfrm>
              <a:off x="793" y="1043"/>
              <a:ext cx="649" cy="29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969696"/>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r">
                <a:lnSpc>
                  <a:spcPct val="60000"/>
                </a:lnSpc>
                <a:spcBef>
                  <a:spcPct val="50000"/>
                </a:spcBef>
                <a:buClrTx/>
                <a:buFontTx/>
                <a:buNone/>
              </a:pPr>
              <a:r>
                <a:rPr kumimoji="1" lang="zh-CN" altLang="en-US" sz="1400">
                  <a:solidFill>
                    <a:srgbClr val="193C7D"/>
                  </a:solidFill>
                  <a:latin typeface="Times New Roman" panose="02020603050405020304" pitchFamily="18" charset="0"/>
                  <a:ea typeface="隶书" panose="02010509060101010101" pitchFamily="49" charset="-122"/>
                </a:rPr>
                <a:t> </a:t>
              </a:r>
              <a:r>
                <a:rPr kumimoji="1" lang="en-US" altLang="zh-CN" sz="1400">
                  <a:solidFill>
                    <a:srgbClr val="193C7D"/>
                  </a:solidFill>
                  <a:latin typeface="Times New Roman" panose="02020603050405020304" pitchFamily="18" charset="0"/>
                  <a:ea typeface="隶书" panose="02010509060101010101" pitchFamily="49" charset="-122"/>
                </a:rPr>
                <a:t>GND</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AD14</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AD13</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AD12</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AD11</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AD10</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AD9</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AD8</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AD7</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AD6</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AD5</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AD4</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AD3</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AD2</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AD1</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AD0</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NMI</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INTR</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CLK</a:t>
              </a:r>
            </a:p>
            <a:p>
              <a:pPr algn="r">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  GND</a:t>
              </a:r>
              <a:endParaRPr kumimoji="1" lang="en-US" altLang="zh-CN" sz="1400" baseline="-2000">
                <a:solidFill>
                  <a:srgbClr val="193C7D"/>
                </a:solidFill>
                <a:latin typeface="Times New Roman" panose="02020603050405020304" pitchFamily="18" charset="0"/>
                <a:ea typeface="隶书" panose="02010509060101010101" pitchFamily="49" charset="-122"/>
              </a:endParaRPr>
            </a:p>
          </p:txBody>
        </p:sp>
        <p:sp>
          <p:nvSpPr>
            <p:cNvPr id="57" name="Line 30"/>
            <p:cNvSpPr>
              <a:spLocks noChangeShapeType="1"/>
            </p:cNvSpPr>
            <p:nvPr/>
          </p:nvSpPr>
          <p:spPr bwMode="auto">
            <a:xfrm>
              <a:off x="2736" y="124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31"/>
            <p:cNvSpPr>
              <a:spLocks noChangeShapeType="1"/>
            </p:cNvSpPr>
            <p:nvPr/>
          </p:nvSpPr>
          <p:spPr bwMode="auto">
            <a:xfrm>
              <a:off x="2736" y="139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32"/>
            <p:cNvSpPr>
              <a:spLocks noChangeShapeType="1"/>
            </p:cNvSpPr>
            <p:nvPr/>
          </p:nvSpPr>
          <p:spPr bwMode="auto">
            <a:xfrm>
              <a:off x="2736" y="153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33"/>
            <p:cNvSpPr>
              <a:spLocks noChangeShapeType="1"/>
            </p:cNvSpPr>
            <p:nvPr/>
          </p:nvSpPr>
          <p:spPr bwMode="auto">
            <a:xfrm>
              <a:off x="2736" y="167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34"/>
            <p:cNvSpPr>
              <a:spLocks noChangeShapeType="1"/>
            </p:cNvSpPr>
            <p:nvPr/>
          </p:nvSpPr>
          <p:spPr bwMode="auto">
            <a:xfrm>
              <a:off x="2736" y="182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35"/>
            <p:cNvSpPr>
              <a:spLocks noChangeShapeType="1"/>
            </p:cNvSpPr>
            <p:nvPr/>
          </p:nvSpPr>
          <p:spPr bwMode="auto">
            <a:xfrm>
              <a:off x="2736" y="196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36"/>
            <p:cNvSpPr>
              <a:spLocks noChangeShapeType="1"/>
            </p:cNvSpPr>
            <p:nvPr/>
          </p:nvSpPr>
          <p:spPr bwMode="auto">
            <a:xfrm>
              <a:off x="2736" y="211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37"/>
            <p:cNvSpPr>
              <a:spLocks noChangeShapeType="1"/>
            </p:cNvSpPr>
            <p:nvPr/>
          </p:nvSpPr>
          <p:spPr bwMode="auto">
            <a:xfrm>
              <a:off x="2736" y="230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38"/>
            <p:cNvSpPr>
              <a:spLocks noChangeShapeType="1"/>
            </p:cNvSpPr>
            <p:nvPr/>
          </p:nvSpPr>
          <p:spPr bwMode="auto">
            <a:xfrm>
              <a:off x="2736" y="244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39"/>
            <p:cNvSpPr>
              <a:spLocks noChangeShapeType="1"/>
            </p:cNvSpPr>
            <p:nvPr/>
          </p:nvSpPr>
          <p:spPr bwMode="auto">
            <a:xfrm>
              <a:off x="2736" y="259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40"/>
            <p:cNvSpPr>
              <a:spLocks noChangeShapeType="1"/>
            </p:cNvSpPr>
            <p:nvPr/>
          </p:nvSpPr>
          <p:spPr bwMode="auto">
            <a:xfrm>
              <a:off x="2736" y="273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41"/>
            <p:cNvSpPr>
              <a:spLocks noChangeShapeType="1"/>
            </p:cNvSpPr>
            <p:nvPr/>
          </p:nvSpPr>
          <p:spPr bwMode="auto">
            <a:xfrm>
              <a:off x="2736" y="287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42"/>
            <p:cNvSpPr>
              <a:spLocks noChangeShapeType="1"/>
            </p:cNvSpPr>
            <p:nvPr/>
          </p:nvSpPr>
          <p:spPr bwMode="auto">
            <a:xfrm>
              <a:off x="2736" y="302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43"/>
            <p:cNvSpPr>
              <a:spLocks noChangeShapeType="1"/>
            </p:cNvSpPr>
            <p:nvPr/>
          </p:nvSpPr>
          <p:spPr bwMode="auto">
            <a:xfrm>
              <a:off x="2736" y="316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44"/>
            <p:cNvSpPr>
              <a:spLocks noChangeShapeType="1"/>
            </p:cNvSpPr>
            <p:nvPr/>
          </p:nvSpPr>
          <p:spPr bwMode="auto">
            <a:xfrm>
              <a:off x="2736" y="3310"/>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45"/>
            <p:cNvSpPr>
              <a:spLocks noChangeShapeType="1"/>
            </p:cNvSpPr>
            <p:nvPr/>
          </p:nvSpPr>
          <p:spPr bwMode="auto">
            <a:xfrm>
              <a:off x="2736" y="3454"/>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46"/>
            <p:cNvSpPr>
              <a:spLocks noChangeShapeType="1"/>
            </p:cNvSpPr>
            <p:nvPr/>
          </p:nvSpPr>
          <p:spPr bwMode="auto">
            <a:xfrm>
              <a:off x="2736" y="3598"/>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Line 47"/>
            <p:cNvSpPr>
              <a:spLocks noChangeShapeType="1"/>
            </p:cNvSpPr>
            <p:nvPr/>
          </p:nvSpPr>
          <p:spPr bwMode="auto">
            <a:xfrm>
              <a:off x="2736" y="3742"/>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Line 48"/>
            <p:cNvSpPr>
              <a:spLocks noChangeShapeType="1"/>
            </p:cNvSpPr>
            <p:nvPr/>
          </p:nvSpPr>
          <p:spPr bwMode="auto">
            <a:xfrm>
              <a:off x="2736" y="3886"/>
              <a:ext cx="384" cy="0"/>
            </a:xfrm>
            <a:prstGeom prst="line">
              <a:avLst/>
            </a:prstGeom>
            <a:noFill/>
            <a:ln w="12700">
              <a:solidFill>
                <a:srgbClr val="969696"/>
              </a:solidFill>
              <a:rou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Text Box 49"/>
            <p:cNvSpPr txBox="1">
              <a:spLocks noChangeArrowheads="1"/>
            </p:cNvSpPr>
            <p:nvPr/>
          </p:nvSpPr>
          <p:spPr bwMode="auto">
            <a:xfrm>
              <a:off x="3164" y="1054"/>
              <a:ext cx="1440" cy="29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969696"/>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VCC</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AD15</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A16/S3</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A17/S4</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A18/S5</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A19/S6</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BHE*/S7</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MN / MX*</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RD*</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HOLD      (RQ*/ GT0*)</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HLDA      (RQ1* /GT1*)</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WR*          (LOCK*)</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M / IO*      ( S2*</a:t>
              </a:r>
              <a:r>
                <a:rPr kumimoji="1" lang="en-US" altLang="zh-CN" sz="1400" baseline="-2000">
                  <a:solidFill>
                    <a:srgbClr val="193C7D"/>
                  </a:solidFill>
                  <a:latin typeface="Times New Roman" panose="02020603050405020304" pitchFamily="18" charset="0"/>
                  <a:ea typeface="隶书" panose="02010509060101010101" pitchFamily="49" charset="-122"/>
                </a:rPr>
                <a:t> </a:t>
              </a:r>
              <a:r>
                <a:rPr kumimoji="1" lang="en-US" altLang="zh-CN" sz="1400">
                  <a:solidFill>
                    <a:srgbClr val="193C7D"/>
                  </a:solidFill>
                  <a:latin typeface="Times New Roman" panose="02020603050405020304" pitchFamily="18" charset="0"/>
                  <a:ea typeface="隶书" panose="02010509060101010101" pitchFamily="49" charset="-122"/>
                </a:rPr>
                <a:t>)</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DT / R*      ( S1*</a:t>
              </a:r>
              <a:r>
                <a:rPr kumimoji="1" lang="en-US" altLang="zh-CN" sz="1400" baseline="-2000">
                  <a:solidFill>
                    <a:srgbClr val="193C7D"/>
                  </a:solidFill>
                  <a:latin typeface="Times New Roman" panose="02020603050405020304" pitchFamily="18" charset="0"/>
                  <a:ea typeface="隶书" panose="02010509060101010101" pitchFamily="49" charset="-122"/>
                </a:rPr>
                <a:t> </a:t>
              </a:r>
              <a:r>
                <a:rPr kumimoji="1" lang="en-US" altLang="zh-CN" sz="1400">
                  <a:solidFill>
                    <a:srgbClr val="193C7D"/>
                  </a:solidFill>
                  <a:latin typeface="Times New Roman" panose="02020603050405020304" pitchFamily="18" charset="0"/>
                  <a:ea typeface="隶书" panose="02010509060101010101" pitchFamily="49" charset="-122"/>
                </a:rPr>
                <a:t>)</a:t>
              </a:r>
              <a:endParaRPr kumimoji="1" lang="en-US" altLang="zh-CN" sz="1400" baseline="-2000">
                <a:solidFill>
                  <a:srgbClr val="193C7D"/>
                </a:solidFill>
                <a:latin typeface="Times New Roman" panose="02020603050405020304" pitchFamily="18" charset="0"/>
                <a:ea typeface="隶书" panose="02010509060101010101" pitchFamily="49" charset="-122"/>
              </a:endParaRP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DEN          ( S0</a:t>
              </a:r>
              <a:r>
                <a:rPr kumimoji="1" lang="en-US" altLang="zh-CN" sz="1400" baseline="-2000">
                  <a:solidFill>
                    <a:srgbClr val="193C7D"/>
                  </a:solidFill>
                  <a:latin typeface="Times New Roman" panose="02020603050405020304" pitchFamily="18" charset="0"/>
                  <a:ea typeface="隶书" panose="02010509060101010101" pitchFamily="49" charset="-122"/>
                </a:rPr>
                <a:t> </a:t>
              </a:r>
              <a:r>
                <a:rPr kumimoji="1" lang="en-US" altLang="zh-CN" sz="1400">
                  <a:solidFill>
                    <a:srgbClr val="193C7D"/>
                  </a:solidFill>
                  <a:latin typeface="Times New Roman" panose="02020603050405020304" pitchFamily="18" charset="0"/>
                  <a:ea typeface="隶书" panose="02010509060101010101" pitchFamily="49" charset="-122"/>
                </a:rPr>
                <a:t>)</a:t>
              </a:r>
              <a:endParaRPr kumimoji="1" lang="en-US" altLang="zh-CN" sz="1400" baseline="-2000">
                <a:solidFill>
                  <a:srgbClr val="193C7D"/>
                </a:solidFill>
                <a:latin typeface="Times New Roman" panose="02020603050405020304" pitchFamily="18" charset="0"/>
                <a:ea typeface="隶书" panose="02010509060101010101" pitchFamily="49" charset="-122"/>
              </a:endParaRP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ALE</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INTA</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TEST*</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READY</a:t>
              </a:r>
            </a:p>
            <a:p>
              <a:pPr algn="l">
                <a:lnSpc>
                  <a:spcPct val="60000"/>
                </a:lnSpc>
                <a:spcBef>
                  <a:spcPct val="50000"/>
                </a:spcBef>
                <a:buClrTx/>
                <a:buFontTx/>
                <a:buNone/>
              </a:pPr>
              <a:r>
                <a:rPr kumimoji="1" lang="en-US" altLang="zh-CN" sz="1400">
                  <a:solidFill>
                    <a:srgbClr val="193C7D"/>
                  </a:solidFill>
                  <a:latin typeface="Times New Roman" panose="02020603050405020304" pitchFamily="18" charset="0"/>
                  <a:ea typeface="隶书" panose="02010509060101010101" pitchFamily="49" charset="-122"/>
                </a:rPr>
                <a:t>RESET</a:t>
              </a:r>
            </a:p>
          </p:txBody>
        </p:sp>
        <p:sp>
          <p:nvSpPr>
            <p:cNvPr id="77" name="Text Box 50"/>
            <p:cNvSpPr txBox="1">
              <a:spLocks noChangeArrowheads="1"/>
            </p:cNvSpPr>
            <p:nvPr/>
          </p:nvSpPr>
          <p:spPr bwMode="auto">
            <a:xfrm>
              <a:off x="2064" y="1918"/>
              <a:ext cx="528" cy="17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lnSpc>
                  <a:spcPct val="60000"/>
                </a:lnSpc>
                <a:spcBef>
                  <a:spcPct val="50000"/>
                </a:spcBef>
                <a:buClrTx/>
                <a:buFontTx/>
                <a:buNone/>
              </a:pPr>
              <a:r>
                <a:rPr kumimoji="1" lang="en-US" altLang="zh-CN" sz="2000">
                  <a:solidFill>
                    <a:srgbClr val="663300"/>
                  </a:solidFill>
                  <a:latin typeface="Times New Roman" panose="02020603050405020304" pitchFamily="18" charset="0"/>
                  <a:ea typeface="隶书" panose="02010509060101010101" pitchFamily="49" charset="-122"/>
                </a:rPr>
                <a:t>8086</a:t>
              </a:r>
            </a:p>
          </p:txBody>
        </p:sp>
      </p:grpSp>
      <p:pic>
        <p:nvPicPr>
          <p:cNvPr id="78" name="图片 77"/>
          <p:cNvPicPr>
            <a:picLocks noChangeAspect="1"/>
          </p:cNvPicPr>
          <p:nvPr/>
        </p:nvPicPr>
        <p:blipFill>
          <a:blip r:embed="rId5"/>
          <a:stretch>
            <a:fillRect/>
          </a:stretch>
        </p:blipFill>
        <p:spPr>
          <a:xfrm rot="16200000">
            <a:off x="-67760" y="3274876"/>
            <a:ext cx="4198110" cy="2251652"/>
          </a:xfrm>
          <a:prstGeom prst="rect">
            <a:avLst/>
          </a:prstGeom>
        </p:spPr>
      </p:pic>
      <p:sp>
        <p:nvSpPr>
          <p:cNvPr id="79" name="内容占位符 2"/>
          <p:cNvSpPr txBox="1"/>
          <p:nvPr/>
        </p:nvSpPr>
        <p:spPr>
          <a:xfrm>
            <a:off x="323528" y="671359"/>
            <a:ext cx="8533612" cy="4752528"/>
          </a:xfrm>
          <a:prstGeom prst="rect">
            <a:avLst/>
          </a:prstGeom>
        </p:spPr>
        <p:txBody>
          <a:bodyPr/>
          <a:lstStyle/>
          <a:p>
            <a:pPr marL="457200" indent="-457200" latinLnBrk="0">
              <a:lnSpc>
                <a:spcPct val="110000"/>
              </a:lnSpc>
              <a:spcBef>
                <a:spcPts val="0"/>
              </a:spcBef>
              <a:buClr>
                <a:srgbClr val="0000FF"/>
              </a:buClr>
              <a:buFont typeface="Wingdings" panose="05000000000000000000" pitchFamily="2" charset="2"/>
              <a:buChar char="Ø"/>
            </a:pPr>
            <a:r>
              <a:rPr lang="zh-CN" altLang="en-US" sz="2800" dirty="0"/>
              <a:t>应用</a:t>
            </a:r>
            <a:r>
              <a:rPr lang="zh-CN" altLang="en-US" sz="2800" dirty="0">
                <a:solidFill>
                  <a:srgbClr val="FF0000"/>
                </a:solidFill>
              </a:rPr>
              <a:t>总线</a:t>
            </a:r>
            <a:r>
              <a:rPr lang="zh-CN" altLang="en-US" sz="2800" dirty="0"/>
              <a:t>结构，以简化各个部件的相互连接</a:t>
            </a:r>
            <a:endParaRPr lang="en-US" altLang="zh-CN" sz="2800" dirty="0"/>
          </a:p>
          <a:p>
            <a:pPr marL="914400" lvl="1" indent="-457200" latinLnBrk="0">
              <a:lnSpc>
                <a:spcPct val="110000"/>
              </a:lnSpc>
              <a:spcBef>
                <a:spcPts val="0"/>
              </a:spcBef>
              <a:buClr>
                <a:srgbClr val="0000FF"/>
              </a:buClr>
              <a:buFont typeface="Wingdings" panose="05000000000000000000" pitchFamily="2" charset="2"/>
              <a:buChar char="ü"/>
            </a:pPr>
            <a:r>
              <a:rPr lang="en-US" altLang="zh-CN" sz="2400" dirty="0">
                <a:solidFill>
                  <a:srgbClr val="00B050"/>
                </a:solidFill>
                <a:latin typeface="+mn-lt"/>
              </a:rPr>
              <a:t>8086</a:t>
            </a:r>
            <a:r>
              <a:rPr lang="zh-CN" altLang="en-US" sz="2400" dirty="0">
                <a:solidFill>
                  <a:srgbClr val="00B050"/>
                </a:solidFill>
                <a:latin typeface="+mn-lt"/>
              </a:rPr>
              <a:t>共</a:t>
            </a:r>
            <a:r>
              <a:rPr lang="en-US" altLang="zh-CN" sz="2400" dirty="0">
                <a:solidFill>
                  <a:srgbClr val="00B050"/>
                </a:solidFill>
                <a:latin typeface="+mn-lt"/>
              </a:rPr>
              <a:t>40</a:t>
            </a:r>
            <a:r>
              <a:rPr lang="zh-CN" altLang="en-US" sz="2400" dirty="0">
                <a:solidFill>
                  <a:srgbClr val="00B050"/>
                </a:solidFill>
                <a:latin typeface="+mn-lt"/>
              </a:rPr>
              <a:t>个引脚，大部分与总线相连，但还有部分引脚是用于电源供电、时钟输入、接地等特定功能</a:t>
            </a:r>
          </a:p>
          <a:p>
            <a:pPr marL="914400" lvl="1" indent="-457200">
              <a:lnSpc>
                <a:spcPct val="130000"/>
              </a:lnSpc>
              <a:buClr>
                <a:srgbClr val="0000FF"/>
              </a:buClr>
              <a:buFont typeface="Wingdings" panose="05000000000000000000" pitchFamily="2" charset="2"/>
              <a:buChar char="ü"/>
            </a:pPr>
            <a:endParaRPr lang="zh-CN" altLang="en-US" sz="2400" dirty="0">
              <a:solidFill>
                <a:srgbClr val="00B050"/>
              </a:solidFill>
              <a:latin typeface="+mn-lt"/>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23528" y="692696"/>
            <a:ext cx="8533612" cy="4752528"/>
          </a:xfrm>
          <a:prstGeom prst="rect">
            <a:avLst/>
          </a:prstGeom>
        </p:spPr>
        <p:txBody>
          <a:bodyPr/>
          <a:lstStyle/>
          <a:p>
            <a:pPr marL="457200" indent="-457200">
              <a:lnSpc>
                <a:spcPct val="114000"/>
              </a:lnSpc>
              <a:spcBef>
                <a:spcPts val="0"/>
              </a:spcBef>
              <a:buClr>
                <a:srgbClr val="0000FF"/>
              </a:buClr>
              <a:buFont typeface="Wingdings" panose="05000000000000000000" pitchFamily="2" charset="2"/>
              <a:buChar char="Ø"/>
            </a:pPr>
            <a:r>
              <a:rPr lang="zh-CN" altLang="en-US" sz="2800" dirty="0"/>
              <a:t>存储器（</a:t>
            </a:r>
            <a:r>
              <a:rPr lang="en-US" altLang="zh-CN" sz="2800" dirty="0"/>
              <a:t>Memory</a:t>
            </a:r>
            <a:r>
              <a:rPr lang="zh-CN" altLang="en-US" sz="2800" dirty="0"/>
              <a:t>）是存放</a:t>
            </a:r>
            <a:r>
              <a:rPr lang="zh-CN" altLang="en-US" sz="2800" dirty="0">
                <a:solidFill>
                  <a:srgbClr val="FF0000"/>
                </a:solidFill>
              </a:rPr>
              <a:t>程序和数据</a:t>
            </a:r>
            <a:r>
              <a:rPr lang="zh-CN" altLang="en-US" sz="2800" dirty="0"/>
              <a:t>的部件</a:t>
            </a:r>
          </a:p>
          <a:p>
            <a:pPr marL="914400" lvl="1" indent="-457200">
              <a:lnSpc>
                <a:spcPct val="114000"/>
              </a:lnSpc>
              <a:spcBef>
                <a:spcPts val="0"/>
              </a:spcBef>
              <a:buClr>
                <a:srgbClr val="0000FF"/>
              </a:buClr>
              <a:buFont typeface="Wingdings" panose="05000000000000000000" pitchFamily="2" charset="2"/>
              <a:buChar char="ü"/>
            </a:pPr>
            <a:r>
              <a:rPr lang="zh-CN" altLang="en-US" sz="2400" dirty="0">
                <a:solidFill>
                  <a:schemeClr val="tx1"/>
                </a:solidFill>
                <a:latin typeface="+mn-lt"/>
              </a:rPr>
              <a:t>寄存器（</a:t>
            </a:r>
            <a:r>
              <a:rPr lang="en-US" altLang="zh-CN" sz="2400" dirty="0">
                <a:solidFill>
                  <a:schemeClr val="tx1"/>
                </a:solidFill>
                <a:latin typeface="+mn-lt"/>
              </a:rPr>
              <a:t>Register</a:t>
            </a:r>
            <a:r>
              <a:rPr lang="zh-CN" altLang="en-US" sz="2400" dirty="0">
                <a:solidFill>
                  <a:schemeClr val="tx1"/>
                </a:solidFill>
                <a:latin typeface="+mn-lt"/>
              </a:rPr>
              <a:t>）：在</a:t>
            </a:r>
            <a:r>
              <a:rPr lang="en-US" altLang="zh-CN" sz="2400" dirty="0">
                <a:solidFill>
                  <a:schemeClr val="tx1"/>
                </a:solidFill>
                <a:latin typeface="+mn-lt"/>
              </a:rPr>
              <a:t>CPU</a:t>
            </a:r>
            <a:r>
              <a:rPr lang="zh-CN" altLang="en-US" sz="2400" dirty="0">
                <a:solidFill>
                  <a:schemeClr val="tx1"/>
                </a:solidFill>
                <a:latin typeface="+mn-lt"/>
              </a:rPr>
              <a:t>内部</a:t>
            </a:r>
          </a:p>
          <a:p>
            <a:pPr marL="914400" lvl="1" indent="-457200">
              <a:lnSpc>
                <a:spcPct val="114000"/>
              </a:lnSpc>
              <a:spcBef>
                <a:spcPts val="0"/>
              </a:spcBef>
              <a:buClr>
                <a:srgbClr val="0000FF"/>
              </a:buClr>
              <a:buFont typeface="Wingdings" panose="05000000000000000000" pitchFamily="2" charset="2"/>
              <a:buChar char="ü"/>
            </a:pPr>
            <a:r>
              <a:rPr lang="zh-CN" altLang="en-US" sz="2400" dirty="0">
                <a:solidFill>
                  <a:schemeClr val="tx1"/>
                </a:solidFill>
                <a:latin typeface="+mn-lt"/>
              </a:rPr>
              <a:t>高速缓冲存储器（</a:t>
            </a:r>
            <a:r>
              <a:rPr lang="en-US" altLang="zh-CN" sz="2400" dirty="0">
                <a:solidFill>
                  <a:schemeClr val="tx1"/>
                </a:solidFill>
                <a:latin typeface="+mn-lt"/>
              </a:rPr>
              <a:t>Cache</a:t>
            </a:r>
            <a:r>
              <a:rPr lang="zh-CN" altLang="en-US" sz="2400" dirty="0">
                <a:solidFill>
                  <a:schemeClr val="tx1"/>
                </a:solidFill>
                <a:latin typeface="+mn-lt"/>
              </a:rPr>
              <a:t>）</a:t>
            </a:r>
          </a:p>
          <a:p>
            <a:pPr marL="914400" lvl="1" indent="-457200">
              <a:lnSpc>
                <a:spcPct val="114000"/>
              </a:lnSpc>
              <a:spcBef>
                <a:spcPts val="0"/>
              </a:spcBef>
              <a:buClr>
                <a:srgbClr val="0000FF"/>
              </a:buClr>
              <a:buFont typeface="Wingdings" panose="05000000000000000000" pitchFamily="2" charset="2"/>
              <a:buChar char="ü"/>
            </a:pPr>
            <a:r>
              <a:rPr lang="zh-CN" altLang="en-US" sz="2400" dirty="0">
                <a:solidFill>
                  <a:schemeClr val="tx1"/>
                </a:solidFill>
                <a:latin typeface="+mn-lt"/>
              </a:rPr>
              <a:t>主板上的主存储器（内存</a:t>
            </a:r>
            <a:r>
              <a:rPr lang="en-US" altLang="zh-CN" sz="2400" dirty="0">
                <a:solidFill>
                  <a:schemeClr val="tx1"/>
                </a:solidFill>
                <a:latin typeface="+mn-lt"/>
              </a:rPr>
              <a:t>, Memory</a:t>
            </a:r>
            <a:r>
              <a:rPr lang="zh-CN" altLang="en-US" sz="2400" dirty="0">
                <a:solidFill>
                  <a:schemeClr val="tx1"/>
                </a:solidFill>
                <a:latin typeface="+mn-lt"/>
              </a:rPr>
              <a:t>）</a:t>
            </a:r>
          </a:p>
          <a:p>
            <a:pPr marL="914400" lvl="1" indent="-457200">
              <a:lnSpc>
                <a:spcPct val="114000"/>
              </a:lnSpc>
              <a:spcBef>
                <a:spcPts val="0"/>
              </a:spcBef>
              <a:buClr>
                <a:srgbClr val="0000FF"/>
              </a:buClr>
              <a:buFont typeface="Wingdings" panose="05000000000000000000" pitchFamily="2" charset="2"/>
              <a:buChar char="ü"/>
            </a:pPr>
            <a:r>
              <a:rPr lang="zh-CN" altLang="en-US" sz="2400" dirty="0">
                <a:solidFill>
                  <a:schemeClr val="tx1"/>
                </a:solidFill>
                <a:latin typeface="+mn-lt"/>
              </a:rPr>
              <a:t>以外设形式出现的辅助存储器（硬盘</a:t>
            </a:r>
            <a:r>
              <a:rPr lang="en-US" altLang="zh-CN" sz="2400" dirty="0">
                <a:solidFill>
                  <a:schemeClr val="tx1"/>
                </a:solidFill>
                <a:latin typeface="+mn-lt"/>
              </a:rPr>
              <a:t>, Hard Disk</a:t>
            </a:r>
            <a:r>
              <a:rPr lang="zh-CN" altLang="en-US" sz="2400" dirty="0">
                <a:solidFill>
                  <a:schemeClr val="tx1"/>
                </a:solidFill>
                <a:latin typeface="+mn-lt"/>
              </a:rPr>
              <a:t>）</a:t>
            </a:r>
          </a:p>
          <a:p>
            <a:pPr marL="457200" indent="-457200">
              <a:lnSpc>
                <a:spcPct val="130000"/>
              </a:lnSpc>
              <a:spcBef>
                <a:spcPts val="600"/>
              </a:spcBef>
              <a:buClr>
                <a:srgbClr val="0000FF"/>
              </a:buClr>
              <a:buFont typeface="Wingdings" panose="05000000000000000000" pitchFamily="2" charset="2"/>
              <a:buChar char="Ø"/>
            </a:pPr>
            <a:endParaRPr lang="en-US" altLang="zh-CN" sz="2800" dirty="0"/>
          </a:p>
          <a:p>
            <a:pPr marL="457200" indent="-457200">
              <a:lnSpc>
                <a:spcPct val="130000"/>
              </a:lnSpc>
              <a:spcBef>
                <a:spcPts val="600"/>
              </a:spcBef>
              <a:buClr>
                <a:srgbClr val="0000FF"/>
              </a:buClr>
              <a:buFont typeface="Wingdings" panose="05000000000000000000" pitchFamily="2" charset="2"/>
              <a:buChar char="Ø"/>
            </a:pPr>
            <a:endParaRPr lang="en-US" altLang="zh-CN" sz="2600" dirty="0">
              <a:solidFill>
                <a:srgbClr val="00B050"/>
              </a:solidFill>
              <a:latin typeface="+mn-lt"/>
            </a:endParaRPr>
          </a:p>
          <a:p>
            <a:pPr marL="914400" lvl="1" indent="-457200">
              <a:lnSpc>
                <a:spcPct val="130000"/>
              </a:lnSpc>
              <a:buClr>
                <a:srgbClr val="0000FF"/>
              </a:buClr>
              <a:buFont typeface="Wingdings" panose="05000000000000000000" pitchFamily="2" charset="2"/>
              <a:buChar char="ü"/>
            </a:pPr>
            <a:endParaRPr lang="en-US" altLang="zh-CN" sz="2600" dirty="0">
              <a:solidFill>
                <a:srgbClr val="00B050"/>
              </a:solidFill>
              <a:latin typeface="+mn-lt"/>
            </a:endParaRPr>
          </a:p>
        </p:txBody>
      </p:sp>
      <p:sp>
        <p:nvSpPr>
          <p:cNvPr id="6" name="标题 1"/>
          <p:cNvSpPr txBox="1"/>
          <p:nvPr/>
        </p:nvSpPr>
        <p:spPr>
          <a:xfrm>
            <a:off x="0" y="-28305"/>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存储器</a:t>
            </a:r>
          </a:p>
        </p:txBody>
      </p:sp>
      <p:cxnSp>
        <p:nvCxnSpPr>
          <p:cNvPr id="8" name="直接连接符 7"/>
          <p:cNvCxnSpPr/>
          <p:nvPr/>
        </p:nvCxnSpPr>
        <p:spPr bwMode="auto">
          <a:xfrm>
            <a:off x="142844" y="67884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4" name="图片 3"/>
          <p:cNvPicPr>
            <a:picLocks noChangeAspect="1"/>
          </p:cNvPicPr>
          <p:nvPr/>
        </p:nvPicPr>
        <p:blipFill>
          <a:blip r:embed="rId3"/>
          <a:stretch>
            <a:fillRect/>
          </a:stretch>
        </p:blipFill>
        <p:spPr>
          <a:xfrm>
            <a:off x="738564" y="2924944"/>
            <a:ext cx="6264696" cy="3776197"/>
          </a:xfrm>
          <a:prstGeom prst="rect">
            <a:avLst/>
          </a:prstGeom>
        </p:spPr>
      </p:pic>
      <p:sp>
        <p:nvSpPr>
          <p:cNvPr id="3" name="Text Box 18"/>
          <p:cNvSpPr txBox="1">
            <a:spLocks noChangeArrowheads="1"/>
          </p:cNvSpPr>
          <p:nvPr/>
        </p:nvSpPr>
        <p:spPr bwMode="auto">
          <a:xfrm>
            <a:off x="6287770" y="5384165"/>
            <a:ext cx="2774315" cy="583565"/>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45791" dir="2021404" algn="ctr" rotWithShape="0">
                    <a:srgbClr val="C0C0C0"/>
                  </a:outerShdw>
                </a:effectLst>
              </a14:hiddenEffects>
            </a:ext>
          </a:extLst>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marL="0" indent="0" algn="l" eaLnBrk="1" latinLnBrk="0" hangingPunct="1">
              <a:lnSpc>
                <a:spcPct val="80000"/>
              </a:lnSpc>
              <a:spcBef>
                <a:spcPts val="0"/>
              </a:spcBef>
              <a:buClrTx/>
              <a:buFontTx/>
              <a:buNone/>
            </a:pPr>
            <a:r>
              <a:rPr lang="en-US" sz="2000" dirty="0">
                <a:solidFill>
                  <a:srgbClr val="0000FF"/>
                </a:solidFill>
                <a:latin typeface="+mn-lt"/>
                <a:ea typeface="黑体" panose="02010609060101010101" pitchFamily="49" charset="-122"/>
              </a:rPr>
              <a:t>RAM</a:t>
            </a:r>
          </a:p>
          <a:p>
            <a:pPr marL="0" indent="0" algn="l" eaLnBrk="1" latinLnBrk="0" hangingPunct="1">
              <a:lnSpc>
                <a:spcPct val="80000"/>
              </a:lnSpc>
              <a:spcBef>
                <a:spcPts val="0"/>
              </a:spcBef>
              <a:buClrTx/>
              <a:buFontTx/>
              <a:buNone/>
            </a:pPr>
            <a:r>
              <a:rPr lang="en-US" sz="2000" dirty="0">
                <a:solidFill>
                  <a:srgbClr val="0000FF"/>
                </a:solidFill>
                <a:latin typeface="+mn-lt"/>
                <a:ea typeface="黑体" panose="02010609060101010101" pitchFamily="49" charset="-122"/>
              </a:rPr>
              <a:t>ROM</a:t>
            </a:r>
            <a:r>
              <a:rPr lang="zh-CN" altLang="en-US" sz="2000" dirty="0">
                <a:solidFill>
                  <a:srgbClr val="0000FF"/>
                </a:solidFill>
                <a:latin typeface="+mn-lt"/>
                <a:ea typeface="黑体" panose="02010609060101010101" pitchFamily="49" charset="-122"/>
              </a:rPr>
              <a:t>（</a:t>
            </a:r>
            <a:r>
              <a:rPr lang="en-US" altLang="zh-CN" sz="2000" dirty="0">
                <a:solidFill>
                  <a:srgbClr val="0000FF"/>
                </a:solidFill>
                <a:latin typeface="+mn-lt"/>
                <a:ea typeface="黑体" panose="02010609060101010101" pitchFamily="49" charset="-122"/>
              </a:rPr>
              <a:t>BIOS/</a:t>
            </a:r>
            <a:r>
              <a:rPr lang="zh-CN" altLang="en-US" sz="2000" dirty="0">
                <a:solidFill>
                  <a:srgbClr val="0000FF"/>
                </a:solidFill>
                <a:latin typeface="+mn-lt"/>
                <a:ea typeface="黑体" panose="02010609060101010101" pitchFamily="49" charset="-122"/>
              </a:rPr>
              <a:t>初始化）</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寄存器</a:t>
            </a: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内容占位符 2"/>
          <p:cNvSpPr txBox="1"/>
          <p:nvPr/>
        </p:nvSpPr>
        <p:spPr>
          <a:xfrm>
            <a:off x="311150" y="695960"/>
            <a:ext cx="8564880" cy="5565140"/>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600" dirty="0">
                <a:solidFill>
                  <a:schemeClr val="tx1"/>
                </a:solidFill>
                <a:latin typeface="+mn-lt"/>
              </a:rPr>
              <a:t>处理器内部的高速存储单元</a:t>
            </a: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600" dirty="0">
                <a:solidFill>
                  <a:schemeClr val="tx1"/>
                </a:solidFill>
                <a:latin typeface="+mn-lt"/>
              </a:rPr>
              <a:t>用于暂时存放程序执行过程中的代码和数据</a:t>
            </a: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600" dirty="0">
                <a:solidFill>
                  <a:schemeClr val="tx1"/>
                </a:solidFill>
                <a:latin typeface="+mn-lt"/>
              </a:rPr>
              <a:t>透明寄存器</a:t>
            </a:r>
          </a:p>
          <a:p>
            <a:pPr marL="914400" lvl="1" indent="-457200"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sym typeface="+mn-ea"/>
              </a:rPr>
              <a:t>对应用人员不可见、不能编程直接控制</a:t>
            </a: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可编程（</a:t>
            </a:r>
            <a:r>
              <a:rPr lang="en-US" altLang="zh-CN" sz="2600" dirty="0">
                <a:latin typeface="+mn-lt"/>
              </a:rPr>
              <a:t>Programmable</a:t>
            </a:r>
            <a:r>
              <a:rPr lang="zh-CN" altLang="en-US" sz="2600" dirty="0">
                <a:latin typeface="+mn-lt"/>
              </a:rPr>
              <a:t>）寄存器</a:t>
            </a:r>
          </a:p>
          <a:p>
            <a:pPr marL="914400" lvl="1" indent="-457200" latinLnBrk="0">
              <a:lnSpc>
                <a:spcPct val="130000"/>
              </a:lnSpc>
              <a:spcBef>
                <a:spcPts val="0"/>
              </a:spcBef>
              <a:buClr>
                <a:srgbClr val="0000FF"/>
              </a:buClr>
              <a:buFont typeface="Wingdings" panose="05000000000000000000" pitchFamily="2" charset="2"/>
              <a:buChar char="ü"/>
            </a:pPr>
            <a:r>
              <a:rPr lang="zh-CN" altLang="en-US" sz="2400" dirty="0">
                <a:latin typeface="+mn-lt"/>
                <a:sym typeface="+mn-ea"/>
              </a:rPr>
              <a:t>具有引用名称、供编程使用</a:t>
            </a:r>
          </a:p>
          <a:p>
            <a:pPr marL="914400" lvl="1" indent="-457200" latinLnBrk="0">
              <a:lnSpc>
                <a:spcPct val="130000"/>
              </a:lnSpc>
              <a:spcBef>
                <a:spcPts val="0"/>
              </a:spcBef>
              <a:buClr>
                <a:srgbClr val="0000FF"/>
              </a:buClr>
              <a:buFont typeface="Wingdings" panose="05000000000000000000" pitchFamily="2" charset="2"/>
              <a:buChar char="ü"/>
            </a:pPr>
            <a:r>
              <a:rPr lang="zh-CN" altLang="en-US" sz="2400" dirty="0">
                <a:latin typeface="+mn-lt"/>
                <a:sym typeface="+mn-ea"/>
              </a:rPr>
              <a:t>通用寄存器（</a:t>
            </a:r>
            <a:r>
              <a:rPr lang="en-US" altLang="zh-CN" sz="2400" dirty="0">
                <a:latin typeface="+mn-lt"/>
                <a:sym typeface="+mn-ea"/>
              </a:rPr>
              <a:t>General-Purpose Register</a:t>
            </a:r>
            <a:r>
              <a:rPr lang="zh-CN" altLang="en-US" sz="2400" dirty="0">
                <a:latin typeface="+mn-lt"/>
                <a:sym typeface="+mn-ea"/>
              </a:rPr>
              <a:t>）</a:t>
            </a:r>
            <a:r>
              <a:rPr lang="en-US" altLang="zh-CN" sz="2400" dirty="0">
                <a:latin typeface="+mn-lt"/>
                <a:sym typeface="+mn-ea"/>
              </a:rPr>
              <a:t> </a:t>
            </a:r>
          </a:p>
          <a:p>
            <a:pPr marL="1367790" lvl="1" indent="-457200" latinLnBrk="0">
              <a:lnSpc>
                <a:spcPct val="130000"/>
              </a:lnSpc>
              <a:spcBef>
                <a:spcPts val="0"/>
              </a:spcBef>
              <a:buClr>
                <a:srgbClr val="0000FF"/>
              </a:buClr>
              <a:buFont typeface="Arial" panose="020B0604020202020204" pitchFamily="34" charset="0"/>
              <a:buChar char="•"/>
            </a:pPr>
            <a:r>
              <a:rPr lang="zh-CN" altLang="en-US" sz="2200" dirty="0">
                <a:solidFill>
                  <a:srgbClr val="00B050"/>
                </a:solidFill>
                <a:latin typeface="+mn-lt"/>
                <a:sym typeface="+mn-ea"/>
              </a:rPr>
              <a:t>具有多种用途</a:t>
            </a:r>
          </a:p>
          <a:p>
            <a:pPr marL="1367790" lvl="1" indent="-457200" latinLnBrk="0">
              <a:lnSpc>
                <a:spcPct val="130000"/>
              </a:lnSpc>
              <a:spcBef>
                <a:spcPts val="0"/>
              </a:spcBef>
              <a:buClr>
                <a:srgbClr val="0000FF"/>
              </a:buClr>
              <a:buFont typeface="Arial" panose="020B0604020202020204" pitchFamily="34" charset="0"/>
              <a:buChar char="•"/>
            </a:pPr>
            <a:r>
              <a:rPr lang="zh-CN" altLang="en-US" sz="2200" dirty="0">
                <a:solidFill>
                  <a:srgbClr val="00B050"/>
                </a:solidFill>
                <a:latin typeface="+mn-lt"/>
                <a:sym typeface="+mn-ea"/>
              </a:rPr>
              <a:t>数量较多、使用频度较高</a:t>
            </a:r>
          </a:p>
          <a:p>
            <a:pPr marL="914400" lvl="1" indent="-457200" latinLnBrk="0">
              <a:lnSpc>
                <a:spcPct val="130000"/>
              </a:lnSpc>
              <a:spcBef>
                <a:spcPts val="0"/>
              </a:spcBef>
              <a:buClr>
                <a:srgbClr val="0000FF"/>
              </a:buClr>
              <a:buFont typeface="Wingdings" panose="05000000000000000000" pitchFamily="2" charset="2"/>
              <a:buChar char="ü"/>
            </a:pPr>
            <a:r>
              <a:rPr lang="zh-CN" altLang="en-US" sz="2600" dirty="0">
                <a:sym typeface="+mn-ea"/>
              </a:rPr>
              <a:t>专用寄存器（</a:t>
            </a:r>
            <a:r>
              <a:rPr lang="en-US" altLang="zh-CN" sz="2600" dirty="0">
                <a:sym typeface="+mn-ea"/>
              </a:rPr>
              <a:t>Special-Purpose Registers</a:t>
            </a:r>
            <a:r>
              <a:rPr lang="zh-CN" altLang="en-US" sz="2600" dirty="0">
                <a:sym typeface="+mn-ea"/>
              </a:rPr>
              <a:t>）</a:t>
            </a:r>
          </a:p>
          <a:p>
            <a:pPr marL="1367790" lvl="1" indent="-457200" algn="l" latinLnBrk="0">
              <a:lnSpc>
                <a:spcPct val="130000"/>
              </a:lnSpc>
              <a:spcBef>
                <a:spcPts val="0"/>
              </a:spcBef>
              <a:buClr>
                <a:srgbClr val="0000FF"/>
              </a:buClr>
              <a:buSzTx/>
              <a:buFont typeface="Arial" panose="020B0604020202020204" pitchFamily="34" charset="0"/>
              <a:buChar char="•"/>
            </a:pPr>
            <a:r>
              <a:rPr lang="zh-CN" altLang="en-US" sz="2200" dirty="0">
                <a:solidFill>
                  <a:srgbClr val="00B050"/>
                </a:solidFill>
                <a:latin typeface="+mn-lt"/>
                <a:sym typeface="+mn-ea"/>
              </a:rPr>
              <a:t>各自只用于特定目的</a:t>
            </a:r>
          </a:p>
          <a:p>
            <a:pPr marL="914400" lvl="1" indent="-457200">
              <a:lnSpc>
                <a:spcPct val="114000"/>
              </a:lnSpc>
              <a:spcBef>
                <a:spcPts val="0"/>
              </a:spcBef>
              <a:buClr>
                <a:srgbClr val="0000FF"/>
              </a:buClr>
              <a:buFont typeface="Arial" panose="020B0604020202020204" pitchFamily="34" charset="0"/>
              <a:buChar char="•"/>
            </a:pPr>
            <a:endParaRPr lang="zh-CN" altLang="en-US" sz="2200" dirty="0">
              <a:solidFill>
                <a:srgbClr val="00B050"/>
              </a:solidFill>
              <a:latin typeface="+mn-lt"/>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fig02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20" y="1783090"/>
            <a:ext cx="8064896" cy="488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寄存器</a:t>
            </a: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内容占位符 2"/>
          <p:cNvSpPr txBox="1"/>
          <p:nvPr/>
        </p:nvSpPr>
        <p:spPr>
          <a:xfrm>
            <a:off x="311443" y="695778"/>
            <a:ext cx="8564591" cy="1087312"/>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寄存器就是暂时存放数据的地方，通过编写程序、由处理器执行指令控制</a:t>
            </a:r>
          </a:p>
          <a:p>
            <a:pPr marL="914400" lvl="1" indent="-457200">
              <a:lnSpc>
                <a:spcPct val="130000"/>
              </a:lnSpc>
              <a:buClr>
                <a:srgbClr val="0000FF"/>
              </a:buClr>
              <a:buFont typeface="Wingdings" panose="05000000000000000000" pitchFamily="2" charset="2"/>
              <a:buChar char="ü"/>
            </a:pPr>
            <a:endParaRPr lang="zh-CN" altLang="en-US" sz="2600" dirty="0">
              <a:solidFill>
                <a:schemeClr val="tx1"/>
              </a:solidFill>
              <a:latin typeface="+mn-lt"/>
            </a:endParaRPr>
          </a:p>
        </p:txBody>
      </p:sp>
      <p:sp>
        <p:nvSpPr>
          <p:cNvPr id="5" name="内容占位符 2"/>
          <p:cNvSpPr txBox="1"/>
          <p:nvPr/>
        </p:nvSpPr>
        <p:spPr>
          <a:xfrm>
            <a:off x="7884368" y="3425542"/>
            <a:ext cx="1224136" cy="849296"/>
          </a:xfrm>
          <a:prstGeom prst="rect">
            <a:avLst/>
          </a:prstGeom>
          <a:solidFill>
            <a:schemeClr val="bg1"/>
          </a:solidFill>
        </p:spPr>
        <p:txBody>
          <a:bodyPr/>
          <a:lstStyle/>
          <a:p>
            <a:pPr algn="just">
              <a:lnSpc>
                <a:spcPct val="130000"/>
              </a:lnSpc>
              <a:spcBef>
                <a:spcPts val="0"/>
              </a:spcBef>
              <a:buClr>
                <a:srgbClr val="0000FF"/>
              </a:buClr>
              <a:buSzPct val="85000"/>
              <a:defRPr/>
            </a:pPr>
            <a:r>
              <a:rPr lang="en-US" altLang="zh-CN" sz="2000" dirty="0">
                <a:solidFill>
                  <a:srgbClr val="FF0000"/>
                </a:solidFill>
                <a:latin typeface="+mn-lt"/>
              </a:rPr>
              <a:t>6</a:t>
            </a:r>
            <a:r>
              <a:rPr lang="zh-CN" altLang="en-US" sz="2000" dirty="0">
                <a:solidFill>
                  <a:srgbClr val="FF0000"/>
                </a:solidFill>
                <a:latin typeface="+mn-lt"/>
              </a:rPr>
              <a:t>个</a:t>
            </a:r>
            <a:r>
              <a:rPr lang="en-US" altLang="zh-CN" sz="2000" dirty="0">
                <a:solidFill>
                  <a:srgbClr val="00B050"/>
                </a:solidFill>
                <a:latin typeface="+mn-lt"/>
              </a:rPr>
              <a:t>16</a:t>
            </a:r>
            <a:r>
              <a:rPr lang="zh-CN" altLang="en-US" sz="2000" dirty="0">
                <a:solidFill>
                  <a:srgbClr val="00B050"/>
                </a:solidFill>
                <a:latin typeface="+mn-lt"/>
              </a:rPr>
              <a:t>位</a:t>
            </a:r>
            <a:r>
              <a:rPr lang="zh-CN" altLang="en-US" sz="2000" dirty="0">
                <a:solidFill>
                  <a:srgbClr val="FF0000"/>
                </a:solidFill>
                <a:latin typeface="+mn-lt"/>
              </a:rPr>
              <a:t>段寄存器</a:t>
            </a:r>
          </a:p>
        </p:txBody>
      </p:sp>
      <p:sp>
        <p:nvSpPr>
          <p:cNvPr id="9" name="内容占位符 2"/>
          <p:cNvSpPr txBox="1"/>
          <p:nvPr/>
        </p:nvSpPr>
        <p:spPr>
          <a:xfrm>
            <a:off x="323528" y="5445224"/>
            <a:ext cx="1556559" cy="750902"/>
          </a:xfrm>
          <a:prstGeom prst="rect">
            <a:avLst/>
          </a:prstGeom>
          <a:solidFill>
            <a:schemeClr val="bg1"/>
          </a:solidFill>
        </p:spPr>
        <p:txBody>
          <a:bodyPr/>
          <a:lstStyle/>
          <a:p>
            <a:pPr algn="ctr">
              <a:spcBef>
                <a:spcPts val="0"/>
              </a:spcBef>
              <a:buClr>
                <a:srgbClr val="0000FF"/>
              </a:buClr>
              <a:buSzPct val="85000"/>
              <a:defRPr/>
            </a:pPr>
            <a:r>
              <a:rPr lang="en-US" altLang="zh-CN" sz="2000" dirty="0">
                <a:solidFill>
                  <a:srgbClr val="00B050"/>
                </a:solidFill>
                <a:latin typeface="+mn-lt"/>
              </a:rPr>
              <a:t>32</a:t>
            </a:r>
            <a:r>
              <a:rPr lang="zh-CN" altLang="en-US" sz="2000" dirty="0">
                <a:solidFill>
                  <a:srgbClr val="00B050"/>
                </a:solidFill>
                <a:latin typeface="+mn-lt"/>
              </a:rPr>
              <a:t>位</a:t>
            </a:r>
            <a:endParaRPr lang="en-US" altLang="zh-CN" sz="2000" dirty="0">
              <a:solidFill>
                <a:srgbClr val="00B050"/>
              </a:solidFill>
              <a:latin typeface="+mn-lt"/>
            </a:endParaRPr>
          </a:p>
          <a:p>
            <a:pPr algn="ctr">
              <a:spcBef>
                <a:spcPts val="0"/>
              </a:spcBef>
              <a:buClr>
                <a:srgbClr val="0000FF"/>
              </a:buClr>
              <a:buSzPct val="85000"/>
              <a:defRPr/>
            </a:pPr>
            <a:r>
              <a:rPr lang="zh-CN" altLang="en-US" sz="2000" dirty="0">
                <a:solidFill>
                  <a:srgbClr val="FF0000"/>
                </a:solidFill>
                <a:latin typeface="+mn-lt"/>
              </a:rPr>
              <a:t>标志寄存器</a:t>
            </a:r>
          </a:p>
        </p:txBody>
      </p:sp>
      <p:sp>
        <p:nvSpPr>
          <p:cNvPr id="10" name="内容占位符 2"/>
          <p:cNvSpPr txBox="1"/>
          <p:nvPr/>
        </p:nvSpPr>
        <p:spPr>
          <a:xfrm>
            <a:off x="494286" y="6103570"/>
            <a:ext cx="1276685" cy="462870"/>
          </a:xfrm>
          <a:prstGeom prst="rect">
            <a:avLst/>
          </a:prstGeom>
          <a:solidFill>
            <a:schemeClr val="bg1"/>
          </a:solidFill>
        </p:spPr>
        <p:txBody>
          <a:bodyPr/>
          <a:lstStyle/>
          <a:p>
            <a:pPr algn="just">
              <a:lnSpc>
                <a:spcPct val="130000"/>
              </a:lnSpc>
              <a:spcBef>
                <a:spcPts val="0"/>
              </a:spcBef>
              <a:buClr>
                <a:srgbClr val="0000FF"/>
              </a:buClr>
              <a:buSzPct val="85000"/>
              <a:defRPr/>
            </a:pPr>
            <a:r>
              <a:rPr lang="zh-CN" altLang="en-US" sz="2000" dirty="0">
                <a:solidFill>
                  <a:srgbClr val="FF0000"/>
                </a:solidFill>
                <a:latin typeface="+mn-lt"/>
              </a:rPr>
              <a:t>指令指针</a:t>
            </a:r>
          </a:p>
        </p:txBody>
      </p:sp>
      <p:sp>
        <p:nvSpPr>
          <p:cNvPr id="11" name="内容占位符 2"/>
          <p:cNvSpPr txBox="1"/>
          <p:nvPr/>
        </p:nvSpPr>
        <p:spPr>
          <a:xfrm>
            <a:off x="157281" y="3284984"/>
            <a:ext cx="1462391" cy="849296"/>
          </a:xfrm>
          <a:prstGeom prst="rect">
            <a:avLst/>
          </a:prstGeom>
          <a:solidFill>
            <a:schemeClr val="bg1"/>
          </a:solidFill>
        </p:spPr>
        <p:txBody>
          <a:bodyPr/>
          <a:lstStyle/>
          <a:p>
            <a:pPr algn="ctr">
              <a:lnSpc>
                <a:spcPct val="130000"/>
              </a:lnSpc>
              <a:spcBef>
                <a:spcPts val="0"/>
              </a:spcBef>
              <a:buClr>
                <a:srgbClr val="0000FF"/>
              </a:buClr>
              <a:buSzPct val="85000"/>
              <a:defRPr/>
            </a:pPr>
            <a:r>
              <a:rPr lang="en-US" altLang="zh-CN" sz="2000" dirty="0">
                <a:solidFill>
                  <a:srgbClr val="FF0000"/>
                </a:solidFill>
                <a:latin typeface="+mn-lt"/>
              </a:rPr>
              <a:t>8</a:t>
            </a:r>
            <a:r>
              <a:rPr lang="zh-CN" altLang="en-US" sz="2000" dirty="0">
                <a:solidFill>
                  <a:srgbClr val="FF0000"/>
                </a:solidFill>
                <a:latin typeface="+mn-lt"/>
              </a:rPr>
              <a:t>个</a:t>
            </a:r>
            <a:r>
              <a:rPr lang="en-US" altLang="zh-CN" sz="2000" dirty="0">
                <a:solidFill>
                  <a:srgbClr val="00B050"/>
                </a:solidFill>
                <a:latin typeface="+mn-lt"/>
              </a:rPr>
              <a:t>32</a:t>
            </a:r>
            <a:r>
              <a:rPr lang="zh-CN" altLang="en-US" sz="2000" dirty="0">
                <a:solidFill>
                  <a:srgbClr val="00B050"/>
                </a:solidFill>
                <a:latin typeface="+mn-lt"/>
              </a:rPr>
              <a:t>位</a:t>
            </a:r>
            <a:endParaRPr lang="en-US" altLang="zh-CN" sz="2000" dirty="0">
              <a:solidFill>
                <a:srgbClr val="00B050"/>
              </a:solidFill>
              <a:latin typeface="+mn-lt"/>
            </a:endParaRPr>
          </a:p>
          <a:p>
            <a:pPr algn="ctr">
              <a:lnSpc>
                <a:spcPct val="130000"/>
              </a:lnSpc>
              <a:spcBef>
                <a:spcPts val="0"/>
              </a:spcBef>
              <a:buClr>
                <a:srgbClr val="0000FF"/>
              </a:buClr>
              <a:buSzPct val="85000"/>
              <a:defRPr/>
            </a:pPr>
            <a:r>
              <a:rPr lang="zh-CN" altLang="en-US" sz="2000" dirty="0">
                <a:solidFill>
                  <a:srgbClr val="FF0000"/>
                </a:solidFill>
                <a:latin typeface="+mn-lt"/>
              </a:rPr>
              <a:t>通用寄存器</a:t>
            </a:r>
          </a:p>
        </p:txBody>
      </p:sp>
      <p:sp>
        <p:nvSpPr>
          <p:cNvPr id="13" name="云形 12"/>
          <p:cNvSpPr/>
          <p:nvPr/>
        </p:nvSpPr>
        <p:spPr bwMode="auto">
          <a:xfrm>
            <a:off x="3635896" y="3425542"/>
            <a:ext cx="2520281" cy="1008112"/>
          </a:xfrm>
          <a:prstGeom prst="cloud">
            <a:avLst/>
          </a:prstGeom>
          <a:solidFill>
            <a:schemeClr val="accent3">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eaLnBrk="1" hangingPunct="1"/>
            <a:r>
              <a:rPr lang="en-US" altLang="zh-CN" sz="5400" dirty="0">
                <a:solidFill>
                  <a:srgbClr val="FFFF00"/>
                </a:solidFill>
                <a:effectLst>
                  <a:outerShdw blurRad="38100" dist="38100" dir="2700000" algn="tl">
                    <a:srgbClr val="000000"/>
                  </a:outerShdw>
                </a:effectLst>
                <a:latin typeface="Algerian" panose="04020705040A02060702" pitchFamily="82" charset="0"/>
              </a:rPr>
              <a:t>8</a:t>
            </a:r>
            <a:r>
              <a:rPr lang="en-US" altLang="zh-CN" sz="4800" dirty="0">
                <a:solidFill>
                  <a:srgbClr val="FF0000"/>
                </a:solidFill>
                <a:effectLst>
                  <a:outerShdw blurRad="38100" dist="38100" dir="2700000" algn="tl">
                    <a:srgbClr val="000000"/>
                  </a:outerShdw>
                </a:effectLst>
                <a:latin typeface="Algerian" panose="04020705040A02060702" pitchFamily="82" charset="0"/>
              </a:rPr>
              <a:t>6</a:t>
            </a:r>
            <a:r>
              <a:rPr lang="en-US" altLang="zh-CN" sz="4400" dirty="0">
                <a:solidFill>
                  <a:srgbClr val="FFFF00"/>
                </a:solidFill>
                <a:effectLst>
                  <a:outerShdw blurRad="38100" dist="38100" dir="2700000" algn="tl">
                    <a:srgbClr val="000000"/>
                  </a:outerShdw>
                </a:effectLst>
                <a:latin typeface="Algerian" panose="04020705040A02060702" pitchFamily="82" charset="0"/>
              </a:rPr>
              <a:t>11</a:t>
            </a:r>
            <a:endParaRPr lang="zh-CN" altLang="en-US" sz="4800" dirty="0">
              <a:latin typeface="Algerian" panose="04020705040A02060702" pitchFamily="82"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692696"/>
            <a:ext cx="8352928" cy="6719181"/>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通用寄存器</a:t>
            </a:r>
            <a:endParaRPr lang="zh-CN" altLang="en-US" sz="28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处理器最常使用的整数通用寄存器</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可用于保存整数数据、地址等 </a:t>
            </a: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8</a:t>
            </a:r>
            <a:r>
              <a:rPr lang="zh-CN" altLang="en-US" sz="2800" dirty="0">
                <a:latin typeface="+mn-lt"/>
              </a:rPr>
              <a:t>个</a:t>
            </a:r>
            <a:r>
              <a:rPr lang="en-US" altLang="zh-CN" sz="2800" dirty="0">
                <a:latin typeface="+mn-lt"/>
              </a:rPr>
              <a:t>32</a:t>
            </a:r>
            <a:r>
              <a:rPr lang="zh-CN" altLang="en-US" sz="2800" dirty="0">
                <a:latin typeface="+mn-lt"/>
              </a:rPr>
              <a:t>位通用寄存器</a:t>
            </a:r>
            <a:endParaRPr lang="en-US" altLang="zh-CN" sz="2800" dirty="0">
              <a:latin typeface="+mn-lt"/>
            </a:endParaRPr>
          </a:p>
          <a:p>
            <a:pPr lvl="1" algn="just">
              <a:lnSpc>
                <a:spcPct val="130000"/>
              </a:lnSpc>
              <a:spcBef>
                <a:spcPts val="0"/>
              </a:spcBef>
              <a:buClr>
                <a:srgbClr val="0000FF"/>
              </a:buClr>
            </a:pPr>
            <a:r>
              <a:rPr lang="en-US" altLang="zh-CN" sz="2400" dirty="0">
                <a:solidFill>
                  <a:schemeClr val="tx1"/>
                </a:solidFill>
                <a:latin typeface="+mn-lt"/>
              </a:rPr>
              <a:t>EAX</a:t>
            </a:r>
            <a:r>
              <a:rPr lang="zh-CN" altLang="en-US" sz="2400" dirty="0">
                <a:solidFill>
                  <a:schemeClr val="tx1"/>
                </a:solidFill>
                <a:latin typeface="+mn-lt"/>
              </a:rPr>
              <a:t>，</a:t>
            </a:r>
            <a:r>
              <a:rPr lang="en-US" altLang="zh-CN" sz="2400" dirty="0">
                <a:solidFill>
                  <a:schemeClr val="tx1"/>
                </a:solidFill>
                <a:latin typeface="+mn-lt"/>
              </a:rPr>
              <a:t>EBX</a:t>
            </a:r>
            <a:r>
              <a:rPr lang="zh-CN" altLang="en-US" sz="2400" dirty="0">
                <a:solidFill>
                  <a:schemeClr val="tx1"/>
                </a:solidFill>
                <a:latin typeface="+mn-lt"/>
              </a:rPr>
              <a:t>，</a:t>
            </a:r>
            <a:r>
              <a:rPr lang="en-US" altLang="zh-CN" sz="2400" dirty="0">
                <a:solidFill>
                  <a:schemeClr val="tx1"/>
                </a:solidFill>
                <a:latin typeface="+mn-lt"/>
              </a:rPr>
              <a:t>ECX</a:t>
            </a:r>
            <a:r>
              <a:rPr lang="zh-CN" altLang="en-US" sz="2400" dirty="0">
                <a:solidFill>
                  <a:schemeClr val="tx1"/>
                </a:solidFill>
                <a:latin typeface="+mn-lt"/>
              </a:rPr>
              <a:t>，</a:t>
            </a:r>
            <a:r>
              <a:rPr lang="en-US" altLang="zh-CN" sz="2400" dirty="0">
                <a:solidFill>
                  <a:schemeClr val="tx1"/>
                </a:solidFill>
                <a:latin typeface="+mn-lt"/>
              </a:rPr>
              <a:t>EDX</a:t>
            </a:r>
          </a:p>
          <a:p>
            <a:pPr lvl="1" algn="just">
              <a:lnSpc>
                <a:spcPct val="130000"/>
              </a:lnSpc>
              <a:spcBef>
                <a:spcPts val="0"/>
              </a:spcBef>
              <a:buClr>
                <a:srgbClr val="0000FF"/>
              </a:buClr>
            </a:pPr>
            <a:r>
              <a:rPr lang="en-US" altLang="zh-CN" sz="2400" dirty="0">
                <a:solidFill>
                  <a:schemeClr val="tx1"/>
                </a:solidFill>
                <a:latin typeface="+mn-lt"/>
              </a:rPr>
              <a:t>ESI</a:t>
            </a:r>
            <a:r>
              <a:rPr lang="zh-CN" altLang="en-US" sz="2400" dirty="0">
                <a:solidFill>
                  <a:schemeClr val="tx1"/>
                </a:solidFill>
                <a:latin typeface="+mn-lt"/>
              </a:rPr>
              <a:t>，</a:t>
            </a:r>
            <a:r>
              <a:rPr lang="en-US" altLang="zh-CN" sz="2400" dirty="0">
                <a:solidFill>
                  <a:schemeClr val="tx1"/>
                </a:solidFill>
                <a:latin typeface="+mn-lt"/>
              </a:rPr>
              <a:t>EDI</a:t>
            </a:r>
            <a:r>
              <a:rPr lang="zh-CN" altLang="en-US" sz="2400" dirty="0">
                <a:solidFill>
                  <a:schemeClr val="tx1"/>
                </a:solidFill>
                <a:latin typeface="+mn-lt"/>
              </a:rPr>
              <a:t>，</a:t>
            </a:r>
            <a:r>
              <a:rPr lang="en-US" altLang="zh-CN" sz="2400" dirty="0">
                <a:solidFill>
                  <a:schemeClr val="tx1"/>
                </a:solidFill>
                <a:latin typeface="+mn-lt"/>
              </a:rPr>
              <a:t>EBP</a:t>
            </a:r>
            <a:r>
              <a:rPr lang="zh-CN" altLang="en-US" sz="2400" dirty="0">
                <a:solidFill>
                  <a:schemeClr val="tx1"/>
                </a:solidFill>
                <a:latin typeface="+mn-lt"/>
              </a:rPr>
              <a:t>，</a:t>
            </a:r>
            <a:r>
              <a:rPr lang="en-US" altLang="zh-CN" sz="2400" dirty="0">
                <a:solidFill>
                  <a:schemeClr val="tx1"/>
                </a:solidFill>
                <a:latin typeface="+mn-lt"/>
              </a:rPr>
              <a:t>ESP</a:t>
            </a: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8</a:t>
            </a:r>
            <a:r>
              <a:rPr lang="zh-CN" altLang="en-US" sz="2800" dirty="0">
                <a:latin typeface="+mn-lt"/>
              </a:rPr>
              <a:t>个</a:t>
            </a:r>
            <a:r>
              <a:rPr lang="en-US" altLang="zh-CN" sz="2800" dirty="0">
                <a:latin typeface="+mn-lt"/>
              </a:rPr>
              <a:t>16</a:t>
            </a:r>
            <a:r>
              <a:rPr lang="zh-CN" altLang="en-US" sz="2800" dirty="0">
                <a:latin typeface="+mn-lt"/>
              </a:rPr>
              <a:t>位通用寄存器</a:t>
            </a:r>
            <a:endParaRPr lang="en-US" altLang="zh-CN" sz="2800" dirty="0">
              <a:latin typeface="+mn-lt"/>
            </a:endParaRPr>
          </a:p>
          <a:p>
            <a:pPr lvl="1" algn="just">
              <a:lnSpc>
                <a:spcPct val="130000"/>
              </a:lnSpc>
              <a:spcBef>
                <a:spcPts val="0"/>
              </a:spcBef>
              <a:buClr>
                <a:srgbClr val="0000FF"/>
              </a:buClr>
            </a:pPr>
            <a:r>
              <a:rPr lang="en-US" altLang="zh-CN" sz="2400" dirty="0">
                <a:solidFill>
                  <a:srgbClr val="FF0000"/>
                </a:solidFill>
                <a:latin typeface="+mn-lt"/>
              </a:rPr>
              <a:t>AX</a:t>
            </a:r>
            <a:r>
              <a:rPr lang="zh-CN" altLang="en-US" sz="2400" dirty="0">
                <a:solidFill>
                  <a:srgbClr val="FF0000"/>
                </a:solidFill>
                <a:latin typeface="+mn-lt"/>
              </a:rPr>
              <a:t>，</a:t>
            </a:r>
            <a:r>
              <a:rPr lang="en-US" altLang="zh-CN" sz="2400" dirty="0">
                <a:solidFill>
                  <a:srgbClr val="FF0000"/>
                </a:solidFill>
                <a:latin typeface="+mn-lt"/>
              </a:rPr>
              <a:t>BX</a:t>
            </a:r>
            <a:r>
              <a:rPr lang="zh-CN" altLang="en-US" sz="2400" dirty="0">
                <a:solidFill>
                  <a:srgbClr val="FF0000"/>
                </a:solidFill>
                <a:latin typeface="+mn-lt"/>
              </a:rPr>
              <a:t>，</a:t>
            </a:r>
            <a:r>
              <a:rPr lang="en-US" altLang="zh-CN" sz="2400" dirty="0">
                <a:solidFill>
                  <a:srgbClr val="FF0000"/>
                </a:solidFill>
                <a:latin typeface="+mn-lt"/>
              </a:rPr>
              <a:t>CX</a:t>
            </a:r>
            <a:r>
              <a:rPr lang="zh-CN" altLang="en-US" sz="2400" dirty="0">
                <a:solidFill>
                  <a:srgbClr val="FF0000"/>
                </a:solidFill>
                <a:latin typeface="+mn-lt"/>
              </a:rPr>
              <a:t>，</a:t>
            </a:r>
            <a:r>
              <a:rPr lang="en-US" altLang="zh-CN" sz="2400" dirty="0">
                <a:solidFill>
                  <a:srgbClr val="FF0000"/>
                </a:solidFill>
                <a:latin typeface="+mn-lt"/>
              </a:rPr>
              <a:t>DX</a:t>
            </a:r>
          </a:p>
          <a:p>
            <a:pPr lvl="1" algn="just">
              <a:lnSpc>
                <a:spcPct val="130000"/>
              </a:lnSpc>
              <a:spcBef>
                <a:spcPts val="0"/>
              </a:spcBef>
              <a:buClr>
                <a:srgbClr val="0000FF"/>
              </a:buClr>
            </a:pPr>
            <a:r>
              <a:rPr lang="en-US" altLang="zh-CN" sz="2400" dirty="0">
                <a:solidFill>
                  <a:schemeClr val="tx1"/>
                </a:solidFill>
                <a:latin typeface="+mn-lt"/>
              </a:rPr>
              <a:t>SI</a:t>
            </a:r>
            <a:r>
              <a:rPr lang="zh-CN" altLang="en-US" sz="2400" dirty="0">
                <a:solidFill>
                  <a:schemeClr val="tx1"/>
                </a:solidFill>
                <a:latin typeface="+mn-lt"/>
              </a:rPr>
              <a:t>，</a:t>
            </a:r>
            <a:r>
              <a:rPr lang="en-US" altLang="zh-CN" sz="2400" dirty="0">
                <a:solidFill>
                  <a:schemeClr val="tx1"/>
                </a:solidFill>
                <a:latin typeface="+mn-lt"/>
              </a:rPr>
              <a:t>DI</a:t>
            </a:r>
            <a:r>
              <a:rPr lang="zh-CN" altLang="en-US" sz="2400" dirty="0">
                <a:solidFill>
                  <a:schemeClr val="tx1"/>
                </a:solidFill>
                <a:latin typeface="+mn-lt"/>
              </a:rPr>
              <a:t>，</a:t>
            </a:r>
            <a:r>
              <a:rPr lang="en-US" altLang="zh-CN" sz="2400" dirty="0">
                <a:solidFill>
                  <a:schemeClr val="tx1"/>
                </a:solidFill>
                <a:latin typeface="+mn-lt"/>
              </a:rPr>
              <a:t>BP</a:t>
            </a:r>
            <a:r>
              <a:rPr lang="zh-CN" altLang="en-US" sz="2400" dirty="0">
                <a:solidFill>
                  <a:schemeClr val="tx1"/>
                </a:solidFill>
                <a:latin typeface="+mn-lt"/>
              </a:rPr>
              <a:t>，</a:t>
            </a:r>
            <a:r>
              <a:rPr lang="en-US" altLang="zh-CN" sz="2400" dirty="0">
                <a:solidFill>
                  <a:schemeClr val="tx1"/>
                </a:solidFill>
                <a:latin typeface="+mn-lt"/>
              </a:rPr>
              <a:t>SP</a:t>
            </a:r>
          </a:p>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8</a:t>
            </a:r>
            <a:r>
              <a:rPr lang="zh-CN" altLang="en-US" sz="2800" dirty="0">
                <a:latin typeface="+mn-lt"/>
              </a:rPr>
              <a:t>个</a:t>
            </a:r>
            <a:r>
              <a:rPr lang="en-US" altLang="zh-CN" sz="2800" dirty="0">
                <a:latin typeface="+mn-lt"/>
              </a:rPr>
              <a:t>8</a:t>
            </a:r>
            <a:r>
              <a:rPr lang="zh-CN" altLang="en-US" sz="2800" dirty="0">
                <a:latin typeface="+mn-lt"/>
              </a:rPr>
              <a:t>位通用寄存器</a:t>
            </a:r>
            <a:endParaRPr lang="en-US" altLang="zh-CN" sz="2800" dirty="0">
              <a:latin typeface="+mn-lt"/>
            </a:endParaRPr>
          </a:p>
          <a:p>
            <a:pPr lvl="1" algn="just">
              <a:lnSpc>
                <a:spcPct val="130000"/>
              </a:lnSpc>
              <a:spcBef>
                <a:spcPts val="0"/>
              </a:spcBef>
              <a:buClr>
                <a:srgbClr val="0000FF"/>
              </a:buClr>
            </a:pPr>
            <a:r>
              <a:rPr lang="en-US" altLang="zh-CN" sz="2400" dirty="0">
                <a:solidFill>
                  <a:schemeClr val="tx1"/>
                </a:solidFill>
                <a:latin typeface="+mn-lt"/>
              </a:rPr>
              <a:t>AH</a:t>
            </a:r>
            <a:r>
              <a:rPr lang="zh-CN" altLang="en-US" sz="2400" dirty="0">
                <a:solidFill>
                  <a:schemeClr val="tx1"/>
                </a:solidFill>
                <a:latin typeface="+mn-lt"/>
              </a:rPr>
              <a:t>，</a:t>
            </a:r>
            <a:r>
              <a:rPr lang="en-US" altLang="zh-CN" sz="2400" dirty="0">
                <a:solidFill>
                  <a:schemeClr val="tx1"/>
                </a:solidFill>
                <a:latin typeface="+mn-lt"/>
              </a:rPr>
              <a:t>AL</a:t>
            </a:r>
            <a:r>
              <a:rPr lang="zh-CN" altLang="en-US" sz="2400" dirty="0">
                <a:solidFill>
                  <a:schemeClr val="tx1"/>
                </a:solidFill>
                <a:latin typeface="+mn-lt"/>
              </a:rPr>
              <a:t>，</a:t>
            </a:r>
            <a:r>
              <a:rPr lang="en-US" altLang="zh-CN" sz="2400" dirty="0">
                <a:solidFill>
                  <a:schemeClr val="tx1"/>
                </a:solidFill>
                <a:latin typeface="+mn-lt"/>
              </a:rPr>
              <a:t>BH</a:t>
            </a:r>
            <a:r>
              <a:rPr lang="zh-CN" altLang="en-US" sz="2400" dirty="0">
                <a:solidFill>
                  <a:schemeClr val="tx1"/>
                </a:solidFill>
                <a:latin typeface="+mn-lt"/>
              </a:rPr>
              <a:t>，</a:t>
            </a:r>
            <a:r>
              <a:rPr lang="en-US" altLang="zh-CN" sz="2400" dirty="0">
                <a:solidFill>
                  <a:schemeClr val="tx1"/>
                </a:solidFill>
                <a:latin typeface="+mn-lt"/>
              </a:rPr>
              <a:t>BL</a:t>
            </a:r>
          </a:p>
          <a:p>
            <a:pPr lvl="1" algn="just">
              <a:lnSpc>
                <a:spcPct val="130000"/>
              </a:lnSpc>
              <a:spcBef>
                <a:spcPts val="0"/>
              </a:spcBef>
              <a:buClr>
                <a:srgbClr val="0000FF"/>
              </a:buClr>
            </a:pPr>
            <a:r>
              <a:rPr lang="en-US" altLang="zh-CN" sz="2400" dirty="0">
                <a:solidFill>
                  <a:schemeClr val="tx1"/>
                </a:solidFill>
                <a:latin typeface="+mn-lt"/>
              </a:rPr>
              <a:t>CH</a:t>
            </a:r>
            <a:r>
              <a:rPr lang="zh-CN" altLang="en-US" sz="2400" dirty="0">
                <a:solidFill>
                  <a:schemeClr val="tx1"/>
                </a:solidFill>
                <a:latin typeface="+mn-lt"/>
              </a:rPr>
              <a:t>，</a:t>
            </a:r>
            <a:r>
              <a:rPr lang="en-US" altLang="zh-CN" sz="2400" dirty="0">
                <a:solidFill>
                  <a:schemeClr val="tx1"/>
                </a:solidFill>
                <a:latin typeface="+mn-lt"/>
              </a:rPr>
              <a:t>CL</a:t>
            </a:r>
            <a:r>
              <a:rPr lang="zh-CN" altLang="en-US" sz="2400" dirty="0">
                <a:solidFill>
                  <a:schemeClr val="tx1"/>
                </a:solidFill>
                <a:latin typeface="+mn-lt"/>
              </a:rPr>
              <a:t>，</a:t>
            </a:r>
            <a:r>
              <a:rPr lang="en-US" altLang="zh-CN" sz="2400" dirty="0">
                <a:solidFill>
                  <a:schemeClr val="tx1"/>
                </a:solidFill>
                <a:latin typeface="+mn-lt"/>
              </a:rPr>
              <a:t>DH</a:t>
            </a:r>
            <a:r>
              <a:rPr lang="zh-CN" altLang="en-US" sz="2400" dirty="0">
                <a:solidFill>
                  <a:schemeClr val="tx1"/>
                </a:solidFill>
                <a:latin typeface="+mn-lt"/>
              </a:rPr>
              <a:t>，</a:t>
            </a:r>
            <a:r>
              <a:rPr lang="en-US" altLang="zh-CN" sz="2400" dirty="0">
                <a:solidFill>
                  <a:schemeClr val="tx1"/>
                </a:solidFill>
                <a:latin typeface="+mn-lt"/>
              </a:rPr>
              <a:t>DL</a:t>
            </a:r>
          </a:p>
          <a:p>
            <a:pPr marL="457200" indent="-457200" algn="just">
              <a:lnSpc>
                <a:spcPct val="130000"/>
              </a:lnSpc>
              <a:spcBef>
                <a:spcPts val="0"/>
              </a:spcBef>
              <a:buClr>
                <a:srgbClr val="0000FF"/>
              </a:buClr>
              <a:buSzPct val="85000"/>
              <a:buFont typeface="Wingdings" panose="05000000000000000000" pitchFamily="2" charset="2"/>
              <a:buChar char="Ø"/>
              <a:defRPr/>
            </a:pPr>
            <a:endParaRPr lang="zh-CN" altLang="en-US" sz="28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通用寄存器</a:t>
            </a:r>
            <a:r>
              <a:rPr lang="en-US" altLang="zh-CN" sz="3600" dirty="0">
                <a:solidFill>
                  <a:schemeClr val="tx1"/>
                </a:solidFill>
                <a:latin typeface="+mn-lt"/>
              </a:rPr>
              <a:t>General-Purpose Registers</a:t>
            </a:r>
            <a:endParaRPr kumimoji="1" lang="zh-CN" altLang="en-US" b="0" i="0" u="none" strike="noStrike" kern="0" cap="none" spc="0" normalizeH="0" baseline="0" noProof="0" dirty="0">
              <a:ln>
                <a:noFill/>
              </a:ln>
              <a:solidFill>
                <a:schemeClr val="tx1"/>
              </a:solidFill>
              <a:effectLst/>
              <a:uLnTx/>
              <a:uFillTx/>
              <a:latin typeface="黑体" panose="02010609060101010101" pitchFamily="49" charset="-122"/>
              <a:cs typeface="+mj-cs"/>
            </a:endParaRPr>
          </a:p>
        </p:txBody>
      </p:sp>
      <p:cxnSp>
        <p:nvCxnSpPr>
          <p:cNvPr id="8" name="直接连接符 7"/>
          <p:cNvCxnSpPr/>
          <p:nvPr/>
        </p:nvCxnSpPr>
        <p:spPr bwMode="auto">
          <a:xfrm>
            <a:off x="142844" y="75443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3" name="图片 2"/>
          <p:cNvPicPr>
            <a:picLocks noChangeAspect="1"/>
          </p:cNvPicPr>
          <p:nvPr/>
        </p:nvPicPr>
        <p:blipFill>
          <a:blip r:embed="rId3"/>
          <a:stretch>
            <a:fillRect/>
          </a:stretch>
        </p:blipFill>
        <p:spPr>
          <a:xfrm>
            <a:off x="5076056" y="2544268"/>
            <a:ext cx="3853092" cy="4176462"/>
          </a:xfrm>
          <a:prstGeom prst="rect">
            <a:avLst/>
          </a:prstGeom>
        </p:spPr>
      </p:pic>
      <p:sp>
        <p:nvSpPr>
          <p:cNvPr id="2" name="Rectangle 3"/>
          <p:cNvSpPr>
            <a:spLocks noChangeArrowheads="1"/>
          </p:cNvSpPr>
          <p:nvPr/>
        </p:nvSpPr>
        <p:spPr bwMode="auto">
          <a:xfrm>
            <a:off x="917262" y="2785882"/>
            <a:ext cx="3853092" cy="1001787"/>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457200" lvl="1" indent="-457200">
              <a:lnSpc>
                <a:spcPct val="130000"/>
              </a:lnSpc>
              <a:spcBef>
                <a:spcPts val="0"/>
              </a:spcBef>
              <a:buFontTx/>
              <a:buNone/>
            </a:pP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AX</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BX</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CX</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DX</a:t>
            </a:r>
          </a:p>
          <a:p>
            <a:pPr marL="457200" lvl="1" indent="-457200">
              <a:lnSpc>
                <a:spcPct val="130000"/>
              </a:lnSpc>
              <a:spcBef>
                <a:spcPts val="0"/>
              </a:spcBef>
              <a:buFontTx/>
              <a:buNone/>
            </a:pP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SI</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DI</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BP</a:t>
            </a:r>
            <a:r>
              <a:rPr lang="zh-CN" altLang="en-US" sz="2400" dirty="0">
                <a:solidFill>
                  <a:schemeClr val="tx1"/>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E</a:t>
            </a:r>
            <a:r>
              <a:rPr lang="en-US" altLang="zh-CN" sz="2400" dirty="0">
                <a:solidFill>
                  <a:schemeClr val="tx1"/>
                </a:solidFill>
                <a:latin typeface="+mn-lt"/>
                <a:ea typeface="黑体" panose="02010609060101010101" pitchFamily="49" charset="-122"/>
              </a:rPr>
              <a:t>SP</a:t>
            </a:r>
          </a:p>
        </p:txBody>
      </p:sp>
      <p:sp>
        <p:nvSpPr>
          <p:cNvPr id="4" name="Rectangle 3"/>
          <p:cNvSpPr>
            <a:spLocks noChangeArrowheads="1"/>
          </p:cNvSpPr>
          <p:nvPr/>
        </p:nvSpPr>
        <p:spPr bwMode="auto">
          <a:xfrm>
            <a:off x="917262" y="4293096"/>
            <a:ext cx="3853092" cy="1001787"/>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457200" lvl="1" indent="-457200">
              <a:lnSpc>
                <a:spcPct val="130000"/>
              </a:lnSpc>
              <a:spcBef>
                <a:spcPts val="0"/>
              </a:spcBef>
              <a:buFontTx/>
              <a:buNone/>
            </a:pPr>
            <a:r>
              <a:rPr lang="en-US" altLang="zh-CN" sz="2400">
                <a:solidFill>
                  <a:srgbClr val="FF0000"/>
                </a:solidFill>
                <a:latin typeface="+mn-lt"/>
                <a:ea typeface="黑体" panose="02010609060101010101" pitchFamily="49" charset="-122"/>
              </a:rPr>
              <a:t>AX</a:t>
            </a:r>
            <a:r>
              <a:rPr lang="zh-CN" altLang="en-US" sz="2400">
                <a:solidFill>
                  <a:srgbClr val="FF0000"/>
                </a:solidFill>
                <a:latin typeface="+mn-lt"/>
                <a:ea typeface="黑体" panose="02010609060101010101" pitchFamily="49" charset="-122"/>
              </a:rPr>
              <a:t>，</a:t>
            </a:r>
            <a:r>
              <a:rPr lang="en-US" altLang="zh-CN" sz="2400">
                <a:solidFill>
                  <a:srgbClr val="FF0000"/>
                </a:solidFill>
                <a:latin typeface="+mn-lt"/>
                <a:ea typeface="黑体" panose="02010609060101010101" pitchFamily="49" charset="-122"/>
              </a:rPr>
              <a:t>BX</a:t>
            </a:r>
            <a:r>
              <a:rPr lang="zh-CN" altLang="en-US" sz="2400">
                <a:solidFill>
                  <a:srgbClr val="FF0000"/>
                </a:solidFill>
                <a:latin typeface="+mn-lt"/>
                <a:ea typeface="黑体" panose="02010609060101010101" pitchFamily="49" charset="-122"/>
              </a:rPr>
              <a:t>，</a:t>
            </a:r>
            <a:r>
              <a:rPr lang="en-US" altLang="zh-CN" sz="2400">
                <a:solidFill>
                  <a:srgbClr val="FF0000"/>
                </a:solidFill>
                <a:latin typeface="+mn-lt"/>
                <a:ea typeface="黑体" panose="02010609060101010101" pitchFamily="49" charset="-122"/>
              </a:rPr>
              <a:t>CX</a:t>
            </a:r>
            <a:r>
              <a:rPr lang="zh-CN" altLang="en-US" sz="2400">
                <a:solidFill>
                  <a:srgbClr val="FF0000"/>
                </a:solidFill>
                <a:latin typeface="+mn-lt"/>
                <a:ea typeface="黑体" panose="02010609060101010101" pitchFamily="49" charset="-122"/>
              </a:rPr>
              <a:t>，</a:t>
            </a:r>
            <a:r>
              <a:rPr lang="en-US" altLang="zh-CN" sz="2400">
                <a:solidFill>
                  <a:srgbClr val="FF0000"/>
                </a:solidFill>
                <a:latin typeface="+mn-lt"/>
                <a:ea typeface="黑体" panose="02010609060101010101" pitchFamily="49" charset="-122"/>
              </a:rPr>
              <a:t>DX</a:t>
            </a:r>
          </a:p>
          <a:p>
            <a:pPr marL="457200" lvl="1" indent="-457200">
              <a:lnSpc>
                <a:spcPct val="130000"/>
              </a:lnSpc>
              <a:spcBef>
                <a:spcPts val="0"/>
              </a:spcBef>
              <a:buFontTx/>
              <a:buNone/>
            </a:pPr>
            <a:r>
              <a:rPr lang="en-US" altLang="zh-CN" sz="2400">
                <a:solidFill>
                  <a:schemeClr val="tx1"/>
                </a:solidFill>
                <a:latin typeface="+mn-lt"/>
                <a:ea typeface="黑体" panose="02010609060101010101" pitchFamily="49" charset="-122"/>
              </a:rPr>
              <a:t>SI</a:t>
            </a:r>
            <a:r>
              <a:rPr lang="zh-CN" altLang="en-US" sz="2400">
                <a:solidFill>
                  <a:schemeClr val="tx1"/>
                </a:solidFill>
                <a:latin typeface="+mn-lt"/>
                <a:ea typeface="黑体" panose="02010609060101010101" pitchFamily="49" charset="-122"/>
              </a:rPr>
              <a:t>，</a:t>
            </a:r>
            <a:r>
              <a:rPr lang="en-US" altLang="zh-CN" sz="2400">
                <a:solidFill>
                  <a:schemeClr val="tx1"/>
                </a:solidFill>
                <a:latin typeface="+mn-lt"/>
                <a:ea typeface="黑体" panose="02010609060101010101" pitchFamily="49" charset="-122"/>
              </a:rPr>
              <a:t>DI</a:t>
            </a:r>
            <a:r>
              <a:rPr lang="zh-CN" altLang="en-US" sz="2400">
                <a:solidFill>
                  <a:schemeClr val="tx1"/>
                </a:solidFill>
                <a:latin typeface="+mn-lt"/>
                <a:ea typeface="黑体" panose="02010609060101010101" pitchFamily="49" charset="-122"/>
              </a:rPr>
              <a:t>，</a:t>
            </a:r>
            <a:r>
              <a:rPr lang="en-US" altLang="zh-CN" sz="2400">
                <a:solidFill>
                  <a:schemeClr val="tx1"/>
                </a:solidFill>
                <a:latin typeface="+mn-lt"/>
                <a:ea typeface="黑体" panose="02010609060101010101" pitchFamily="49" charset="-122"/>
              </a:rPr>
              <a:t>BP</a:t>
            </a:r>
            <a:r>
              <a:rPr lang="zh-CN" altLang="en-US" sz="2400">
                <a:solidFill>
                  <a:schemeClr val="tx1"/>
                </a:solidFill>
                <a:latin typeface="+mn-lt"/>
                <a:ea typeface="黑体" panose="02010609060101010101" pitchFamily="49" charset="-122"/>
              </a:rPr>
              <a:t>，</a:t>
            </a:r>
            <a:r>
              <a:rPr lang="en-US" altLang="zh-CN" sz="2400">
                <a:solidFill>
                  <a:schemeClr val="tx1"/>
                </a:solidFill>
                <a:latin typeface="+mn-lt"/>
                <a:ea typeface="黑体" panose="02010609060101010101" pitchFamily="49" charset="-122"/>
              </a:rPr>
              <a:t>SP</a:t>
            </a:r>
            <a:endParaRPr lang="en-US" altLang="zh-CN" sz="2400" dirty="0">
              <a:solidFill>
                <a:schemeClr val="tx1"/>
              </a:solidFill>
              <a:latin typeface="+mn-lt"/>
              <a:ea typeface="黑体" panose="02010609060101010101" pitchFamily="49" charset="-122"/>
            </a:endParaRPr>
          </a:p>
        </p:txBody>
      </p:sp>
      <p:sp>
        <p:nvSpPr>
          <p:cNvPr id="5" name="Rectangle 3"/>
          <p:cNvSpPr>
            <a:spLocks noChangeArrowheads="1"/>
          </p:cNvSpPr>
          <p:nvPr/>
        </p:nvSpPr>
        <p:spPr bwMode="auto">
          <a:xfrm>
            <a:off x="917262" y="5801315"/>
            <a:ext cx="3853092" cy="1001787"/>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457200" lvl="1" indent="-457200">
              <a:lnSpc>
                <a:spcPct val="130000"/>
              </a:lnSpc>
              <a:spcBef>
                <a:spcPts val="0"/>
              </a:spcBef>
              <a:buFontTx/>
              <a:buNone/>
            </a:pPr>
            <a:r>
              <a:rPr lang="en-US" altLang="zh-CN" sz="2400" dirty="0">
                <a:solidFill>
                  <a:srgbClr val="FF0000"/>
                </a:solidFill>
                <a:latin typeface="+mn-lt"/>
                <a:ea typeface="黑体" panose="02010609060101010101" pitchFamily="49" charset="-122"/>
              </a:rPr>
              <a:t>AH</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AL</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BH</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BL</a:t>
            </a:r>
          </a:p>
          <a:p>
            <a:pPr marL="457200" lvl="1" indent="-457200">
              <a:lnSpc>
                <a:spcPct val="130000"/>
              </a:lnSpc>
              <a:spcBef>
                <a:spcPts val="0"/>
              </a:spcBef>
              <a:buFontTx/>
              <a:buNone/>
            </a:pPr>
            <a:r>
              <a:rPr lang="en-US" altLang="zh-CN" sz="2400" dirty="0">
                <a:solidFill>
                  <a:srgbClr val="FF0000"/>
                </a:solidFill>
                <a:latin typeface="+mn-lt"/>
                <a:ea typeface="黑体" panose="02010609060101010101" pitchFamily="49" charset="-122"/>
              </a:rPr>
              <a:t>CH</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CL</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DH</a:t>
            </a:r>
            <a:r>
              <a:rPr lang="zh-CN" altLang="en-US" sz="2400" dirty="0">
                <a:solidFill>
                  <a:srgbClr val="FF0000"/>
                </a:solidFill>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DL</a:t>
            </a:r>
          </a:p>
        </p:txBody>
      </p:sp>
      <p:sp>
        <p:nvSpPr>
          <p:cNvPr id="9" name="矩形 8"/>
          <p:cNvSpPr/>
          <p:nvPr/>
        </p:nvSpPr>
        <p:spPr bwMode="auto">
          <a:xfrm>
            <a:off x="7226022" y="2924944"/>
            <a:ext cx="1152128" cy="1872208"/>
          </a:xfrm>
          <a:prstGeom prst="rect">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cxnSp>
        <p:nvCxnSpPr>
          <p:cNvPr id="11" name="直接连接符 10"/>
          <p:cNvCxnSpPr/>
          <p:nvPr/>
        </p:nvCxnSpPr>
        <p:spPr bwMode="auto">
          <a:xfrm>
            <a:off x="7812360" y="2924944"/>
            <a:ext cx="0" cy="1872208"/>
          </a:xfrm>
          <a:prstGeom prst="line">
            <a:avLst/>
          </a:prstGeom>
          <a:noFill/>
          <a:ln w="25400" cap="flat" cmpd="sng" algn="ctr">
            <a:solidFill>
              <a:srgbClr val="FF0000"/>
            </a:solidFill>
            <a:prstDash val="dash"/>
            <a:round/>
            <a:headEnd type="none" w="med" len="med"/>
            <a:tailEnd type="none" w="med" len="med"/>
          </a:ln>
          <a:effectLst/>
        </p:spPr>
      </p:cxnSp>
      <p:sp>
        <p:nvSpPr>
          <p:cNvPr id="14" name="箭头: 右弧形 13"/>
          <p:cNvSpPr/>
          <p:nvPr/>
        </p:nvSpPr>
        <p:spPr bwMode="auto">
          <a:xfrm>
            <a:off x="3851920" y="4437113"/>
            <a:ext cx="971444" cy="2160240"/>
          </a:xfrm>
          <a:prstGeom prst="curvedLef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4"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692696"/>
            <a:ext cx="8352928" cy="6719181"/>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32</a:t>
            </a:r>
            <a:r>
              <a:rPr lang="zh-CN" altLang="en-US" sz="2800" dirty="0">
                <a:latin typeface="+mn-lt"/>
              </a:rPr>
              <a:t>位通用寄存器的命名</a:t>
            </a:r>
            <a:endParaRPr lang="en-US" altLang="zh-CN"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EAX</a:t>
            </a:r>
            <a:r>
              <a:rPr lang="zh-CN" altLang="en-US" sz="2400" dirty="0">
                <a:solidFill>
                  <a:schemeClr val="tx1"/>
                </a:solidFill>
                <a:latin typeface="+mn-lt"/>
              </a:rPr>
              <a:t>：累加器</a:t>
            </a:r>
            <a:r>
              <a:rPr lang="en-US" altLang="zh-CN" sz="2400" dirty="0">
                <a:solidFill>
                  <a:schemeClr val="tx1"/>
                </a:solidFill>
                <a:latin typeface="+mn-lt"/>
              </a:rPr>
              <a:t>(Accumulator)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用于算术逻辑运算，与外设传送信息</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EBX</a:t>
            </a:r>
            <a:r>
              <a:rPr lang="zh-CN" altLang="en-US" sz="2400" dirty="0">
                <a:solidFill>
                  <a:schemeClr val="tx1"/>
                </a:solidFill>
                <a:latin typeface="+mn-lt"/>
              </a:rPr>
              <a:t>：</a:t>
            </a:r>
            <a:r>
              <a:rPr lang="zh-CN" altLang="en-US" sz="2400" dirty="0">
                <a:solidFill>
                  <a:srgbClr val="FF0000"/>
                </a:solidFill>
                <a:latin typeface="+mn-lt"/>
              </a:rPr>
              <a:t>基址</a:t>
            </a:r>
            <a:r>
              <a:rPr lang="zh-CN" altLang="en-US" sz="2400" dirty="0">
                <a:solidFill>
                  <a:schemeClr val="tx1"/>
                </a:solidFill>
                <a:latin typeface="+mn-lt"/>
              </a:rPr>
              <a:t>寄存器</a:t>
            </a:r>
            <a:r>
              <a:rPr lang="en-US" altLang="zh-CN" sz="2400" dirty="0">
                <a:solidFill>
                  <a:schemeClr val="tx1"/>
                </a:solidFill>
                <a:latin typeface="+mn-lt"/>
              </a:rPr>
              <a:t>(Base Address Register)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存放存储器地址，以方便指向变量或</a:t>
            </a:r>
            <a:r>
              <a:rPr lang="zh-CN" altLang="en-US" sz="2400" dirty="0">
                <a:solidFill>
                  <a:srgbClr val="FF0000"/>
                </a:solidFill>
                <a:latin typeface="+mn-lt"/>
              </a:rPr>
              <a:t>数组</a:t>
            </a:r>
            <a:r>
              <a:rPr lang="zh-CN" altLang="en-US" sz="2400" dirty="0">
                <a:solidFill>
                  <a:schemeClr val="tx1"/>
                </a:solidFill>
                <a:latin typeface="+mn-lt"/>
              </a:rPr>
              <a:t>中的元素</a:t>
            </a: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ECX</a:t>
            </a:r>
            <a:r>
              <a:rPr lang="zh-CN" altLang="en-US" sz="2400" dirty="0">
                <a:solidFill>
                  <a:schemeClr val="tx1"/>
                </a:solidFill>
                <a:latin typeface="+mn-lt"/>
              </a:rPr>
              <a:t>：计数器</a:t>
            </a:r>
            <a:r>
              <a:rPr lang="en-US" altLang="zh-CN" sz="2400" dirty="0">
                <a:solidFill>
                  <a:schemeClr val="tx1"/>
                </a:solidFill>
                <a:latin typeface="+mn-lt"/>
              </a:rPr>
              <a:t>(Counter)</a:t>
            </a:r>
            <a:endParaRPr lang="en-US" altLang="zh-CN" sz="2400" dirty="0">
              <a:solidFill>
                <a:srgbClr val="FF0000"/>
              </a:solidFill>
              <a:latin typeface="+mn-lt"/>
            </a:endParaRPr>
          </a:p>
          <a:p>
            <a:pPr marL="1440180" lvl="1" indent="-457200" algn="just">
              <a:lnSpc>
                <a:spcPct val="130000"/>
              </a:lnSpc>
              <a:buClr>
                <a:srgbClr val="0000FF"/>
              </a:buClr>
              <a:buFont typeface="Arial" panose="020B0604020202020204" pitchFamily="34" charset="0"/>
              <a:buChar char="•"/>
            </a:pPr>
            <a:r>
              <a:rPr lang="zh-CN" altLang="en-US" sz="2400" dirty="0">
                <a:solidFill>
                  <a:srgbClr val="FF0000"/>
                </a:solidFill>
                <a:latin typeface="+mn-lt"/>
              </a:rPr>
              <a:t>循环</a:t>
            </a:r>
            <a:r>
              <a:rPr lang="zh-CN" altLang="en-US" sz="2400" dirty="0">
                <a:solidFill>
                  <a:schemeClr val="tx1"/>
                </a:solidFill>
                <a:latin typeface="+mn-lt"/>
              </a:rPr>
              <a:t>操作等指令中的隐含</a:t>
            </a:r>
            <a:r>
              <a:rPr lang="zh-CN" altLang="en-US" sz="2400" dirty="0">
                <a:solidFill>
                  <a:srgbClr val="FF0000"/>
                </a:solidFill>
                <a:latin typeface="+mn-lt"/>
              </a:rPr>
              <a:t>计数器</a:t>
            </a:r>
            <a:endParaRPr lang="en-US" altLang="zh-CN"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EDX</a:t>
            </a:r>
            <a:r>
              <a:rPr lang="zh-CN" altLang="en-US" sz="2400" dirty="0">
                <a:solidFill>
                  <a:schemeClr val="tx1"/>
                </a:solidFill>
                <a:latin typeface="+mn-lt"/>
              </a:rPr>
              <a:t>：数据寄存器</a:t>
            </a:r>
            <a:r>
              <a:rPr lang="en-US" altLang="zh-CN" sz="2400" dirty="0">
                <a:solidFill>
                  <a:schemeClr val="tx1"/>
                </a:solidFill>
                <a:latin typeface="+mn-lt"/>
              </a:rPr>
              <a:t>(Data Register)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存放数据，低</a:t>
            </a:r>
            <a:r>
              <a:rPr lang="en-US" altLang="zh-CN" sz="2400" dirty="0">
                <a:solidFill>
                  <a:schemeClr val="tx1"/>
                </a:solidFill>
                <a:latin typeface="+mn-lt"/>
              </a:rPr>
              <a:t>16</a:t>
            </a:r>
            <a:r>
              <a:rPr lang="zh-CN" altLang="en-US" sz="2400" dirty="0">
                <a:solidFill>
                  <a:schemeClr val="tx1"/>
                </a:solidFill>
                <a:latin typeface="+mn-lt"/>
              </a:rPr>
              <a:t>位常用来存放外设端口地址</a:t>
            </a:r>
            <a:endParaRPr lang="en-US" altLang="zh-CN" sz="2400" dirty="0">
              <a:solidFill>
                <a:srgbClr val="00B05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ESI</a:t>
            </a:r>
            <a:r>
              <a:rPr lang="zh-CN" altLang="en-US" sz="2400" dirty="0">
                <a:solidFill>
                  <a:schemeClr val="tx1"/>
                </a:solidFill>
                <a:latin typeface="+mn-lt"/>
              </a:rPr>
              <a:t>：</a:t>
            </a:r>
            <a:r>
              <a:rPr lang="zh-CN" altLang="en-US" sz="2400" dirty="0">
                <a:solidFill>
                  <a:srgbClr val="00B050"/>
                </a:solidFill>
                <a:latin typeface="+mn-lt"/>
              </a:rPr>
              <a:t>源</a:t>
            </a:r>
            <a:r>
              <a:rPr lang="zh-CN" altLang="en-US" sz="2400" dirty="0">
                <a:solidFill>
                  <a:schemeClr val="tx1"/>
                </a:solidFill>
                <a:latin typeface="+mn-lt"/>
              </a:rPr>
              <a:t>变址寄存器</a:t>
            </a:r>
            <a:r>
              <a:rPr lang="en-US" altLang="zh-CN" sz="2400" dirty="0">
                <a:solidFill>
                  <a:schemeClr val="tx1"/>
                </a:solidFill>
                <a:latin typeface="+mn-lt"/>
              </a:rPr>
              <a:t>(Source Index Register)</a:t>
            </a: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EDI</a:t>
            </a:r>
            <a:r>
              <a:rPr lang="zh-CN" altLang="en-US" sz="2400" dirty="0">
                <a:solidFill>
                  <a:schemeClr val="tx1"/>
                </a:solidFill>
                <a:latin typeface="+mn-lt"/>
              </a:rPr>
              <a:t>：</a:t>
            </a:r>
            <a:r>
              <a:rPr lang="zh-CN" altLang="en-US" sz="2400" dirty="0">
                <a:solidFill>
                  <a:srgbClr val="00B050"/>
                </a:solidFill>
                <a:latin typeface="+mn-lt"/>
              </a:rPr>
              <a:t>目的</a:t>
            </a:r>
            <a:r>
              <a:rPr lang="zh-CN" altLang="en-US" sz="2400" dirty="0">
                <a:solidFill>
                  <a:schemeClr val="tx1"/>
                </a:solidFill>
                <a:latin typeface="+mn-lt"/>
              </a:rPr>
              <a:t>变址寄存器</a:t>
            </a:r>
            <a:r>
              <a:rPr lang="en-US" altLang="zh-CN" sz="2400" dirty="0">
                <a:solidFill>
                  <a:schemeClr val="tx1"/>
                </a:solidFill>
                <a:latin typeface="+mn-lt"/>
              </a:rPr>
              <a:t>(Destination Index Register)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指向</a:t>
            </a:r>
            <a:r>
              <a:rPr lang="zh-CN" altLang="en-US" sz="2400" dirty="0">
                <a:solidFill>
                  <a:srgbClr val="00B050"/>
                </a:solidFill>
                <a:latin typeface="+mn-lt"/>
              </a:rPr>
              <a:t>字符串或数组</a:t>
            </a:r>
            <a:r>
              <a:rPr lang="zh-CN" altLang="en-US" sz="2400" dirty="0">
                <a:solidFill>
                  <a:schemeClr val="tx1"/>
                </a:solidFill>
                <a:latin typeface="+mn-lt"/>
              </a:rPr>
              <a:t>的</a:t>
            </a:r>
            <a:r>
              <a:rPr lang="zh-CN" altLang="en-US" sz="2400" dirty="0">
                <a:solidFill>
                  <a:srgbClr val="00B050"/>
                </a:solidFill>
                <a:latin typeface="+mn-lt"/>
              </a:rPr>
              <a:t>源、目的</a:t>
            </a:r>
            <a:r>
              <a:rPr lang="zh-CN" altLang="en-US" sz="2400" dirty="0">
                <a:solidFill>
                  <a:schemeClr val="tx1"/>
                </a:solidFill>
                <a:latin typeface="+mn-lt"/>
              </a:rPr>
              <a:t>操作数</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通用寄存器</a:t>
            </a:r>
            <a:r>
              <a:rPr lang="en-US" altLang="zh-CN" sz="3600" dirty="0">
                <a:solidFill>
                  <a:schemeClr val="tx1"/>
                </a:solidFill>
                <a:latin typeface="+mn-lt"/>
              </a:rPr>
              <a:t>General-Purpose Registers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23528" y="776158"/>
            <a:ext cx="8496944" cy="5965210"/>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en-US" altLang="zh-CN" sz="2800" dirty="0">
                <a:latin typeface="+mn-lt"/>
              </a:rPr>
              <a:t>32</a:t>
            </a:r>
            <a:r>
              <a:rPr lang="zh-CN" altLang="en-US" sz="2800" dirty="0">
                <a:latin typeface="+mn-lt"/>
              </a:rPr>
              <a:t>位通用寄存器的命名</a:t>
            </a:r>
            <a:endParaRPr lang="en-US" altLang="zh-CN"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chemeClr val="tx1"/>
                </a:solidFill>
                <a:latin typeface="+mn-lt"/>
              </a:rPr>
              <a:t>EBP</a:t>
            </a:r>
            <a:r>
              <a:rPr lang="zh-CN" altLang="en-US" sz="2400" dirty="0">
                <a:solidFill>
                  <a:schemeClr val="tx1"/>
                </a:solidFill>
                <a:latin typeface="+mn-lt"/>
              </a:rPr>
              <a:t>：基址指针寄存器</a:t>
            </a:r>
            <a:r>
              <a:rPr lang="en-US" altLang="zh-CN" sz="2400" dirty="0">
                <a:solidFill>
                  <a:schemeClr val="tx1"/>
                </a:solidFill>
                <a:latin typeface="+mn-lt"/>
              </a:rPr>
              <a:t>(Base Pointer Register)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默认情况下指向程序</a:t>
            </a:r>
            <a:r>
              <a:rPr lang="zh-CN" altLang="en-US" sz="2400" dirty="0">
                <a:solidFill>
                  <a:srgbClr val="00B050"/>
                </a:solidFill>
                <a:latin typeface="+mn-lt"/>
              </a:rPr>
              <a:t>堆栈</a:t>
            </a:r>
            <a:r>
              <a:rPr lang="en-US" altLang="zh-CN" sz="2400" dirty="0">
                <a:solidFill>
                  <a:srgbClr val="00B050"/>
                </a:solidFill>
                <a:latin typeface="+mn-lt"/>
              </a:rPr>
              <a:t>Stack</a:t>
            </a:r>
            <a:r>
              <a:rPr lang="zh-CN" altLang="en-US" sz="2400" dirty="0">
                <a:solidFill>
                  <a:schemeClr val="tx1"/>
                </a:solidFill>
                <a:latin typeface="+mn-lt"/>
              </a:rPr>
              <a:t>区域的数据，主要用于在</a:t>
            </a:r>
            <a:r>
              <a:rPr lang="zh-CN" altLang="en-US" sz="2400" dirty="0">
                <a:solidFill>
                  <a:srgbClr val="00B050"/>
                </a:solidFill>
                <a:latin typeface="+mn-lt"/>
              </a:rPr>
              <a:t>子程序</a:t>
            </a:r>
            <a:r>
              <a:rPr lang="zh-CN" altLang="en-US" sz="2400" dirty="0">
                <a:solidFill>
                  <a:schemeClr val="tx1"/>
                </a:solidFill>
                <a:latin typeface="+mn-lt"/>
              </a:rPr>
              <a:t>中访问通过堆栈传递的参数和局部变量</a:t>
            </a:r>
            <a:endParaRPr lang="en-US" altLang="zh-CN" sz="24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400" dirty="0">
                <a:solidFill>
                  <a:srgbClr val="FF0000"/>
                </a:solidFill>
                <a:latin typeface="+mn-lt"/>
              </a:rPr>
              <a:t>ESP</a:t>
            </a:r>
            <a:r>
              <a:rPr lang="zh-CN" altLang="en-US" sz="2400" dirty="0">
                <a:solidFill>
                  <a:srgbClr val="FF0000"/>
                </a:solidFill>
                <a:latin typeface="+mn-lt"/>
              </a:rPr>
              <a:t>：堆栈指针寄存器</a:t>
            </a:r>
            <a:r>
              <a:rPr lang="en-US" altLang="zh-CN" sz="2400" dirty="0">
                <a:solidFill>
                  <a:srgbClr val="FF0000"/>
                </a:solidFill>
                <a:latin typeface="+mn-lt"/>
              </a:rPr>
              <a:t>(Stack Pointer Register)</a:t>
            </a: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指向程序</a:t>
            </a:r>
            <a:r>
              <a:rPr lang="zh-CN" altLang="en-US" sz="2400" dirty="0">
                <a:solidFill>
                  <a:srgbClr val="00B050"/>
                </a:solidFill>
                <a:latin typeface="+mn-lt"/>
              </a:rPr>
              <a:t>堆栈</a:t>
            </a:r>
            <a:r>
              <a:rPr lang="zh-CN" altLang="en-US" sz="2400" dirty="0">
                <a:solidFill>
                  <a:schemeClr val="tx1"/>
                </a:solidFill>
                <a:latin typeface="+mn-lt"/>
              </a:rPr>
              <a:t>区域</a:t>
            </a:r>
            <a:r>
              <a:rPr lang="zh-CN" altLang="en-US" sz="2400" dirty="0">
                <a:solidFill>
                  <a:srgbClr val="FF0000"/>
                </a:solidFill>
                <a:latin typeface="+mn-lt"/>
              </a:rPr>
              <a:t>顶部</a:t>
            </a:r>
            <a:r>
              <a:rPr lang="zh-CN" altLang="en-US" sz="2400" dirty="0">
                <a:solidFill>
                  <a:schemeClr val="tx1"/>
                </a:solidFill>
                <a:latin typeface="+mn-lt"/>
              </a:rPr>
              <a:t>的数据，该指针会随着处理器执行堆栈操作的指令自动增加或减少</a:t>
            </a:r>
            <a:endParaRPr lang="en-US" altLang="zh-CN" sz="2400" dirty="0">
              <a:solidFill>
                <a:schemeClr val="tx1"/>
              </a:solidFill>
              <a:latin typeface="+mn-lt"/>
            </a:endParaRPr>
          </a:p>
          <a:p>
            <a:pPr marL="1440180" lvl="1" indent="-457200" algn="just">
              <a:lnSpc>
                <a:spcPct val="130000"/>
              </a:lnSpc>
              <a:buClr>
                <a:srgbClr val="0000FF"/>
              </a:buClr>
              <a:buFont typeface="Arial" panose="020B0604020202020204" pitchFamily="34" charset="0"/>
              <a:buChar char="•"/>
            </a:pPr>
            <a:r>
              <a:rPr lang="zh-CN" altLang="en-US" sz="2400" dirty="0">
                <a:solidFill>
                  <a:schemeClr val="tx1"/>
                </a:solidFill>
                <a:latin typeface="+mn-lt"/>
              </a:rPr>
              <a:t>调用</a:t>
            </a:r>
            <a:r>
              <a:rPr lang="zh-CN" altLang="en-US" sz="2400" dirty="0">
                <a:solidFill>
                  <a:srgbClr val="00B050"/>
                </a:solidFill>
                <a:latin typeface="+mn-lt"/>
              </a:rPr>
              <a:t>子程序</a:t>
            </a:r>
            <a:r>
              <a:rPr lang="zh-CN" altLang="en-US" sz="2400" dirty="0">
                <a:solidFill>
                  <a:schemeClr val="tx1"/>
                </a:solidFill>
                <a:latin typeface="+mn-lt"/>
              </a:rPr>
              <a:t>时，用于传递参数、存放局部变量或临时保存数据</a:t>
            </a:r>
            <a:endParaRPr lang="en-US" altLang="zh-CN"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通用寄存器</a:t>
            </a:r>
            <a:r>
              <a:rPr lang="en-US" altLang="zh-CN" sz="3600" dirty="0">
                <a:solidFill>
                  <a:schemeClr val="tx1"/>
                </a:solidFill>
                <a:latin typeface="+mn-lt"/>
              </a:rPr>
              <a:t>General-Purpose Registers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AutoShape 4"/>
          <p:cNvSpPr>
            <a:spLocks noChangeArrowheads="1"/>
          </p:cNvSpPr>
          <p:nvPr/>
        </p:nvSpPr>
        <p:spPr bwMode="auto">
          <a:xfrm>
            <a:off x="899592" y="5300849"/>
            <a:ext cx="7848872" cy="1080479"/>
          </a:xfrm>
          <a:prstGeom prst="roundRect">
            <a:avLst>
              <a:gd name="adj" fmla="val 16667"/>
            </a:avLst>
          </a:prstGeom>
          <a:solidFill>
            <a:schemeClr val="accent3">
              <a:lumMod val="75000"/>
            </a:schemeClr>
          </a:solidFill>
          <a:ln w="12700">
            <a:solidFill>
              <a:schemeClr val="accent1"/>
            </a:solidFill>
            <a:round/>
          </a:ln>
          <a:effectLst>
            <a:outerShdw dist="35921" dir="2700000" algn="ctr" rotWithShape="0">
              <a:schemeClr val="bg2">
                <a:alpha val="50000"/>
              </a:schemeClr>
            </a:outerShdw>
          </a:effec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ClrTx/>
              <a:buFontTx/>
              <a:buNone/>
            </a:pP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堆栈：以先进后出</a:t>
            </a: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FILO</a:t>
            </a: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方式存储数据的存储区域</a:t>
            </a:r>
            <a:endPar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a:p>
            <a:pPr eaLnBrk="1" hangingPunct="1">
              <a:lnSpc>
                <a:spcPct val="120000"/>
              </a:lnSpc>
              <a:spcBef>
                <a:spcPct val="0"/>
              </a:spcBef>
              <a:buClrTx/>
              <a:buFontTx/>
              <a:buNone/>
            </a:pPr>
            <a:r>
              <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ESP(SP)</a:t>
            </a:r>
            <a:r>
              <a:rPr lang="zh-CN" altLang="en-US"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rPr>
              <a:t>应该作为专用寄存器对待</a:t>
            </a:r>
            <a:endParaRPr lang="en-US" altLang="zh-CN" sz="2600" b="0" dirty="0">
              <a:solidFill>
                <a:srgbClr val="FFFF00"/>
              </a:solidFill>
              <a:effectLst>
                <a:outerShdw blurRad="38100" dist="38100" dir="2700000" algn="tl">
                  <a:srgbClr val="000000"/>
                </a:outerShdw>
              </a:effectLst>
              <a:latin typeface="Arial" panose="020B0604020202020204" pitchFamily="34" charset="0"/>
              <a:ea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通用寄存器</a:t>
            </a:r>
            <a:r>
              <a:rPr lang="zh-CN" altLang="en-US" sz="3600" dirty="0">
                <a:solidFill>
                  <a:schemeClr val="tx1"/>
                </a:solidFill>
                <a:latin typeface="+mn-lt"/>
              </a:rPr>
              <a:t>的名称</a:t>
            </a:r>
            <a:endParaRPr kumimoji="1" lang="zh-CN" altLang="en-US" sz="3600" b="0" i="0" u="none" strike="noStrike" kern="0" cap="none" spc="0" normalizeH="0" baseline="0" noProof="0" dirty="0">
              <a:ln>
                <a:noFill/>
              </a:ln>
              <a:solidFill>
                <a:schemeClr val="tx1"/>
              </a:solidFill>
              <a:effectLst/>
              <a:uLnTx/>
              <a:uFillTx/>
              <a:latin typeface="+mn-lt"/>
              <a:cs typeface="+mj-cs"/>
            </a:endParaRP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83049" name="表格 83048"/>
          <p:cNvGraphicFramePr/>
          <p:nvPr/>
        </p:nvGraphicFramePr>
        <p:xfrm>
          <a:off x="554990" y="1028700"/>
          <a:ext cx="8001000" cy="5229225"/>
        </p:xfrm>
        <a:graphic>
          <a:graphicData uri="http://schemas.openxmlformats.org/drawingml/2006/table">
            <a:tbl>
              <a:tblPr/>
              <a:tblGrid>
                <a:gridCol w="1298575">
                  <a:extLst>
                    <a:ext uri="{9D8B030D-6E8A-4147-A177-3AD203B41FA5}">
                      <a16:colId xmlns:a16="http://schemas.microsoft.com/office/drawing/2014/main" val="20000"/>
                    </a:ext>
                  </a:extLst>
                </a:gridCol>
                <a:gridCol w="3749675">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95325">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ko-KR" sz="2600">
                          <a:latin typeface="Times New Roman" panose="02020603050405020304" pitchFamily="18" charset="0"/>
                          <a:ea typeface="Gulim" pitchFamily="34" charset="-127"/>
                          <a:cs typeface="Times New Roman" panose="02020603050405020304" pitchFamily="18" charset="0"/>
                        </a:rPr>
                        <a:t>E</a:t>
                      </a:r>
                      <a:r>
                        <a:rPr lang="en-US" altLang="ko-KR" sz="2600">
                          <a:solidFill>
                            <a:schemeClr val="hlink"/>
                          </a:solidFill>
                          <a:latin typeface="Times New Roman" panose="02020603050405020304" pitchFamily="18" charset="0"/>
                          <a:ea typeface="Gulim" pitchFamily="34" charset="-127"/>
                          <a:cs typeface="Times New Roman" panose="02020603050405020304" pitchFamily="18" charset="0"/>
                        </a:rPr>
                        <a:t>AX</a:t>
                      </a:r>
                      <a:endParaRPr lang="en-US" altLang="ko-KR" sz="2600" dirty="0">
                        <a:solidFill>
                          <a:schemeClr val="hlink"/>
                        </a:solidFill>
                        <a:latin typeface="Times New Roman" panose="02020603050405020304" pitchFamily="18" charset="0"/>
                        <a:ea typeface="Gulim" pitchFamily="34" charset="-127"/>
                        <a:cs typeface="Times New Roman" panose="02020603050405020304" pitchFamily="18" charset="0"/>
                      </a:endParaRP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Accumulator</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38100" cap="flat" cmpd="sng">
                      <a:solidFill>
                        <a:schemeClr val="tx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累加器</a:t>
                      </a:r>
                    </a:p>
                  </a:txBody>
                  <a:tcPr anchor="ctr" anchorCtr="1">
                    <a:lnL w="12700" cap="flat" cmpd="sng">
                      <a:solidFill>
                        <a:schemeClr val="tx1"/>
                      </a:solidFill>
                      <a:prstDash val="solid"/>
                      <a:headEnd type="none" w="med" len="med"/>
                      <a:tailEnd type="none" w="med" len="med"/>
                    </a:lnL>
                    <a:lnR cap="flat">
                      <a:noFill/>
                    </a:lnR>
                    <a:lnT w="38100" cap="flat" cmpd="sng">
                      <a:solidFill>
                        <a:schemeClr val="tx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cs typeface="Times New Roman" panose="02020603050405020304" pitchFamily="18" charset="0"/>
                        </a:rPr>
                        <a:t>E</a:t>
                      </a:r>
                      <a:r>
                        <a:rPr lang="en-US" altLang="zh-CN" sz="2600">
                          <a:solidFill>
                            <a:schemeClr val="hlink"/>
                          </a:solidFill>
                          <a:latin typeface="Times New Roman" panose="02020603050405020304" pitchFamily="18" charset="0"/>
                          <a:cs typeface="Times New Roman" panose="02020603050405020304" pitchFamily="18" charset="0"/>
                        </a:rPr>
                        <a:t>BX</a:t>
                      </a:r>
                      <a:endParaRPr lang="en-US" altLang="zh-CN" sz="2600" dirty="0">
                        <a:solidFill>
                          <a:schemeClr val="hlink"/>
                        </a:solidFill>
                        <a:latin typeface="Times New Roman" panose="02020603050405020304" pitchFamily="18" charset="0"/>
                        <a:cs typeface="Times New Roman" panose="02020603050405020304" pitchFamily="18" charset="0"/>
                      </a:endParaRP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Base</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基址寄存器</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cs typeface="Times New Roman" panose="02020603050405020304" pitchFamily="18" charset="0"/>
                        </a:rPr>
                        <a:t>E</a:t>
                      </a:r>
                      <a:r>
                        <a:rPr lang="en-US" altLang="zh-CN" sz="2600">
                          <a:solidFill>
                            <a:schemeClr val="hlink"/>
                          </a:solidFill>
                          <a:latin typeface="Times New Roman" panose="02020603050405020304" pitchFamily="18" charset="0"/>
                          <a:cs typeface="Times New Roman" panose="02020603050405020304" pitchFamily="18" charset="0"/>
                        </a:rPr>
                        <a:t>CX</a:t>
                      </a:r>
                      <a:endParaRPr lang="en-US" altLang="zh-CN" sz="2600" dirty="0">
                        <a:solidFill>
                          <a:schemeClr val="hlink"/>
                        </a:solidFill>
                        <a:latin typeface="Times New Roman" panose="02020603050405020304" pitchFamily="18" charset="0"/>
                        <a:cs typeface="Times New Roman" panose="02020603050405020304" pitchFamily="18" charset="0"/>
                      </a:endParaRP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Counter</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计数器</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cs typeface="Times New Roman" panose="02020603050405020304" pitchFamily="18" charset="0"/>
                        </a:rPr>
                        <a:t>E</a:t>
                      </a:r>
                      <a:r>
                        <a:rPr lang="en-US" altLang="zh-CN" sz="2600">
                          <a:solidFill>
                            <a:schemeClr val="hlink"/>
                          </a:solidFill>
                          <a:latin typeface="Times New Roman" panose="02020603050405020304" pitchFamily="18" charset="0"/>
                          <a:cs typeface="Times New Roman" panose="02020603050405020304" pitchFamily="18" charset="0"/>
                        </a:rPr>
                        <a:t>DX</a:t>
                      </a:r>
                      <a:endParaRPr lang="en-US" altLang="zh-CN" sz="2600" dirty="0">
                        <a:solidFill>
                          <a:schemeClr val="hlink"/>
                        </a:solidFill>
                        <a:latin typeface="Times New Roman" panose="02020603050405020304" pitchFamily="18" charset="0"/>
                        <a:cs typeface="Times New Roman" panose="02020603050405020304" pitchFamily="18" charset="0"/>
                      </a:endParaRP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Data</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数据寄存器</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ea typeface="Gulim" pitchFamily="34" charset="-127"/>
                          <a:cs typeface="Times New Roman" panose="02020603050405020304" pitchFamily="18" charset="0"/>
                        </a:rPr>
                        <a:t>E</a:t>
                      </a:r>
                      <a:r>
                        <a:rPr lang="en-US" altLang="zh-CN" sz="2600">
                          <a:solidFill>
                            <a:schemeClr val="hlink"/>
                          </a:solidFill>
                          <a:latin typeface="Times New Roman" panose="02020603050405020304" pitchFamily="18" charset="0"/>
                          <a:ea typeface="Gulim" pitchFamily="34" charset="-127"/>
                          <a:cs typeface="Times New Roman" panose="02020603050405020304" pitchFamily="18" charset="0"/>
                        </a:rPr>
                        <a:t>SI</a:t>
                      </a: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Source Index</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源变址寄存器</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ea typeface="Gulim" pitchFamily="34" charset="-127"/>
                          <a:cs typeface="Times New Roman" panose="02020603050405020304" pitchFamily="18" charset="0"/>
                        </a:rPr>
                        <a:t>E</a:t>
                      </a:r>
                      <a:r>
                        <a:rPr lang="en-US" altLang="zh-CN" sz="2600">
                          <a:solidFill>
                            <a:schemeClr val="hlink"/>
                          </a:solidFill>
                          <a:latin typeface="Times New Roman" panose="02020603050405020304" pitchFamily="18" charset="0"/>
                          <a:ea typeface="Gulim" pitchFamily="34" charset="-127"/>
                          <a:cs typeface="Times New Roman" panose="02020603050405020304" pitchFamily="18" charset="0"/>
                        </a:rPr>
                        <a:t>DI</a:t>
                      </a: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Destination Index</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目的变址寄存器</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ea typeface="Gulim" pitchFamily="34" charset="-127"/>
                          <a:cs typeface="Times New Roman" panose="02020603050405020304" pitchFamily="18" charset="0"/>
                        </a:rPr>
                        <a:t>E</a:t>
                      </a:r>
                      <a:r>
                        <a:rPr lang="en-US" altLang="zh-CN" sz="2600">
                          <a:solidFill>
                            <a:schemeClr val="hlink"/>
                          </a:solidFill>
                          <a:latin typeface="Times New Roman" panose="02020603050405020304" pitchFamily="18" charset="0"/>
                          <a:ea typeface="Gulim" pitchFamily="34" charset="-127"/>
                          <a:cs typeface="Times New Roman" panose="02020603050405020304" pitchFamily="18" charset="0"/>
                        </a:rPr>
                        <a:t>BP</a:t>
                      </a: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Base Pointer</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基址指针</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47700">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latin typeface="Times New Roman" panose="02020603050405020304" pitchFamily="18" charset="0"/>
                          <a:ea typeface="Gulim" pitchFamily="34" charset="-127"/>
                          <a:cs typeface="Times New Roman" panose="02020603050405020304" pitchFamily="18" charset="0"/>
                        </a:rPr>
                        <a:t>E</a:t>
                      </a:r>
                      <a:r>
                        <a:rPr lang="en-US" altLang="zh-CN" sz="2600">
                          <a:solidFill>
                            <a:schemeClr val="hlink"/>
                          </a:solidFill>
                          <a:latin typeface="Times New Roman" panose="02020603050405020304" pitchFamily="18" charset="0"/>
                          <a:ea typeface="Gulim" pitchFamily="34" charset="-127"/>
                          <a:cs typeface="Times New Roman" panose="02020603050405020304" pitchFamily="18" charset="0"/>
                        </a:rPr>
                        <a:t>SP</a:t>
                      </a:r>
                    </a:p>
                  </a:txBody>
                  <a:tcPr anchor="ctr" anchorCtr="1">
                    <a:lnL cap="flat">
                      <a:noFill/>
                    </a:lnL>
                    <a:lnR>
                      <a:noFill/>
                    </a:lnR>
                    <a:lnT w="38100" cap="flat" cmpd="sng">
                      <a:solidFill>
                        <a:schemeClr val="tx1"/>
                      </a:solidFill>
                      <a:prstDash val="solid"/>
                      <a:headEnd type="none" w="med" len="med"/>
                      <a:tailEnd type="none" w="med" len="med"/>
                    </a:lnT>
                    <a:lnB w="38100" cap="flat" cmpd="sng">
                      <a:solidFill>
                        <a:schemeClr val="tx2"/>
                      </a:solidFill>
                      <a:prstDash val="solid"/>
                      <a:headEnd type="none" w="med" len="med"/>
                      <a:tailEnd type="none" w="med" len="med"/>
                    </a:lnB>
                    <a:lnTlToBr>
                      <a:noFill/>
                    </a:lnTlToBr>
                    <a:lnBlToTr>
                      <a:noFill/>
                    </a:lnBlToTr>
                    <a:solidFill>
                      <a:schemeClr val="bg1">
                        <a:lumMod val="90000"/>
                      </a:schemeClr>
                    </a:solid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en-US" altLang="zh-CN" sz="2600">
                          <a:solidFill>
                            <a:schemeClr val="tx2"/>
                          </a:solidFill>
                          <a:latin typeface="Times New Roman" panose="02020603050405020304" pitchFamily="18" charset="0"/>
                          <a:cs typeface="Times New Roman" panose="02020603050405020304" pitchFamily="18" charset="0"/>
                        </a:rPr>
                        <a:t>Stack Pointer</a:t>
                      </a:r>
                      <a:endParaRPr lang="en-US" altLang="zh-CN" sz="2600" dirty="0">
                        <a:solidFill>
                          <a:schemeClr val="tx2"/>
                        </a:solidFill>
                        <a:latin typeface="Times New Roman" panose="02020603050405020304" pitchFamily="18" charset="0"/>
                        <a:cs typeface="Times New Roman" panose="02020603050405020304" pitchFamily="18" charset="0"/>
                      </a:endParaRPr>
                    </a:p>
                  </a:txBody>
                  <a:tcPr anchor="ctr" anchorCtr="1">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2"/>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1"/>
                        </a:buClr>
                        <a:buSzPct val="150000"/>
                        <a:buFontTx/>
                        <a:buChar char="•"/>
                        <a:defRPr sz="2800" b="1" u="none" kern="1200" baseline="0">
                          <a:solidFill>
                            <a:schemeClr val="tx1"/>
                          </a:solidFill>
                          <a:latin typeface="宋体" panose="02010600030101010101" pitchFamily="2" charset="-122"/>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400" b="1" i="0" u="none" kern="1200" baseline="0">
                          <a:solidFill>
                            <a:srgbClr val="663300"/>
                          </a:solidFill>
                          <a:latin typeface="宋体" panose="02010600030101010101" pitchFamily="2" charset="-122"/>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000" b="1" i="0" u="none" kern="1200" baseline="0">
                          <a:solidFill>
                            <a:srgbClr val="008000"/>
                          </a:solidFill>
                          <a:latin typeface="宋体" panose="02010600030101010101" pitchFamily="2" charset="-122"/>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1" i="0" u="none" kern="1200" baseline="0">
                          <a:solidFill>
                            <a:schemeClr val="tx1"/>
                          </a:solidFill>
                          <a:latin typeface="宋体" panose="02010600030101010101" pitchFamily="2" charset="-122"/>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ea typeface="宋体" panose="02010600030101010101" pitchFamily="2" charset="-122"/>
                        </a:defRPr>
                      </a:lvl5pPr>
                    </a:lstStyle>
                    <a:p>
                      <a:pPr marL="0" lvl="0" indent="0">
                        <a:buNone/>
                      </a:pPr>
                      <a:r>
                        <a:rPr lang="zh-CN" altLang="en-US" sz="2600" dirty="0">
                          <a:latin typeface="黑体" panose="02010609060101010101" pitchFamily="49" charset="-122"/>
                          <a:ea typeface="黑体" panose="02010609060101010101" pitchFamily="49" charset="-122"/>
                        </a:rPr>
                        <a:t>堆栈指针</a:t>
                      </a:r>
                    </a:p>
                  </a:txBody>
                  <a:tcPr anchor="ctr" anchorCtr="1">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38100" cap="flat" cmpd="sng">
                      <a:solidFill>
                        <a:schemeClr val="tx2"/>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fig02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036" y="2422255"/>
            <a:ext cx="7684227" cy="456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0" y="-28305"/>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标志寄存器</a:t>
            </a:r>
            <a:r>
              <a:rPr kumimoji="1" lang="en-US" altLang="zh-CN" b="0" i="0" u="none" strike="noStrike" kern="0" cap="none" spc="0" normalizeH="0" baseline="0" noProof="0" dirty="0">
                <a:ln>
                  <a:noFill/>
                </a:ln>
                <a:solidFill>
                  <a:srgbClr val="000000"/>
                </a:solidFill>
                <a:effectLst/>
                <a:uLnTx/>
                <a:uFillTx/>
                <a:latin typeface="+mj-lt"/>
                <a:cs typeface="+mj-cs"/>
              </a:rPr>
              <a:t>Flag Register</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51752"/>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 name="内容占位符 2"/>
          <p:cNvSpPr txBox="1"/>
          <p:nvPr/>
        </p:nvSpPr>
        <p:spPr>
          <a:xfrm>
            <a:off x="311443" y="620688"/>
            <a:ext cx="8564591" cy="2009323"/>
          </a:xfrm>
          <a:prstGeom prst="rect">
            <a:avLst/>
          </a:prstGeom>
        </p:spPr>
        <p:txBody>
          <a:bodyPr/>
          <a:lstStyle/>
          <a:p>
            <a:pPr marL="457200" indent="-457200" algn="just">
              <a:lnSpc>
                <a:spcPct val="120000"/>
              </a:lnSpc>
              <a:spcBef>
                <a:spcPts val="0"/>
              </a:spcBef>
              <a:buClr>
                <a:srgbClr val="0000FF"/>
              </a:buClr>
              <a:buSzPct val="100000"/>
              <a:buFont typeface="Wingdings" panose="05000000000000000000" pitchFamily="2" charset="2"/>
              <a:buChar char="Ø"/>
              <a:defRPr/>
            </a:pPr>
            <a:r>
              <a:rPr lang="zh-CN" altLang="en-US" sz="2800" dirty="0">
                <a:latin typeface="+mn-lt"/>
              </a:rPr>
              <a:t>标志寄存器（</a:t>
            </a:r>
            <a:r>
              <a:rPr lang="en-US" altLang="zh-CN" sz="2800" dirty="0">
                <a:latin typeface="+mn-lt"/>
              </a:rPr>
              <a:t>16</a:t>
            </a:r>
            <a:r>
              <a:rPr lang="zh-CN" altLang="en-US" sz="2800" dirty="0">
                <a:latin typeface="+mn-lt"/>
              </a:rPr>
              <a:t>位</a:t>
            </a:r>
            <a:r>
              <a:rPr lang="en-US" altLang="zh-CN" sz="2800" dirty="0">
                <a:latin typeface="+mn-lt"/>
              </a:rPr>
              <a:t>FLAGS     32</a:t>
            </a:r>
            <a:r>
              <a:rPr lang="zh-CN" altLang="en-US" sz="2800" dirty="0">
                <a:latin typeface="+mn-lt"/>
              </a:rPr>
              <a:t>位</a:t>
            </a:r>
            <a:r>
              <a:rPr lang="en-US" altLang="zh-CN" sz="2800" dirty="0">
                <a:latin typeface="+mn-lt"/>
              </a:rPr>
              <a:t>EFLAGS</a:t>
            </a:r>
            <a:r>
              <a:rPr lang="zh-CN" altLang="en-US" sz="2800" dirty="0">
                <a:latin typeface="+mn-lt"/>
              </a:rPr>
              <a:t>）</a:t>
            </a:r>
          </a:p>
          <a:p>
            <a:pPr marL="914400" lvl="1" indent="-457200" algn="just">
              <a:lnSpc>
                <a:spcPct val="12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状态标志：记录指令执行结果的辅助信息</a:t>
            </a:r>
          </a:p>
          <a:p>
            <a:pPr marL="914400" lvl="1" indent="-457200" algn="just">
              <a:lnSpc>
                <a:spcPct val="12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控制标志：方向标志</a:t>
            </a:r>
            <a:r>
              <a:rPr lang="en-US" altLang="zh-CN" sz="2400" dirty="0">
                <a:solidFill>
                  <a:schemeClr val="tx1"/>
                </a:solidFill>
                <a:latin typeface="+mn-lt"/>
              </a:rPr>
              <a:t>DF</a:t>
            </a:r>
            <a:r>
              <a:rPr lang="zh-CN" altLang="en-US" sz="2400" dirty="0">
                <a:solidFill>
                  <a:schemeClr val="tx1"/>
                </a:solidFill>
                <a:latin typeface="+mn-lt"/>
              </a:rPr>
              <a:t>，仅用于串操作指令</a:t>
            </a:r>
          </a:p>
          <a:p>
            <a:pPr marL="914400" lvl="1" indent="-457200" algn="just">
              <a:lnSpc>
                <a:spcPct val="12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系统标志：控制操作系统或核心管理程序的操作方式</a:t>
            </a:r>
          </a:p>
          <a:p>
            <a:pPr marL="914400" lvl="1" indent="-457200">
              <a:lnSpc>
                <a:spcPct val="130000"/>
              </a:lnSpc>
              <a:buClr>
                <a:srgbClr val="0000FF"/>
              </a:buClr>
              <a:buFont typeface="Wingdings" panose="05000000000000000000" pitchFamily="2" charset="2"/>
              <a:buChar char="ü"/>
            </a:pPr>
            <a:endParaRPr lang="zh-CN" altLang="en-US" sz="2600" dirty="0">
              <a:solidFill>
                <a:schemeClr val="tx1"/>
              </a:solidFill>
              <a:latin typeface="+mn-lt"/>
            </a:endParaRPr>
          </a:p>
        </p:txBody>
      </p:sp>
      <p:cxnSp>
        <p:nvCxnSpPr>
          <p:cNvPr id="12" name="直接箭头连接符 11"/>
          <p:cNvCxnSpPr/>
          <p:nvPr/>
        </p:nvCxnSpPr>
        <p:spPr bwMode="auto">
          <a:xfrm>
            <a:off x="4896036" y="939632"/>
            <a:ext cx="360040" cy="0"/>
          </a:xfrm>
          <a:prstGeom prst="straightConnector1">
            <a:avLst/>
          </a:prstGeom>
          <a:noFill/>
          <a:ln w="31750" cap="flat" cmpd="sng" algn="ctr">
            <a:solidFill>
              <a:srgbClr val="0000FF"/>
            </a:solidFill>
            <a:prstDash val="solid"/>
            <a:round/>
            <a:headEnd type="none" w="med" len="med"/>
            <a:tailEnd type="triangle" w="lg" len="lg"/>
          </a:ln>
          <a:effectLst/>
        </p:spPr>
      </p:cxn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742267"/>
            <a:ext cx="8496944" cy="5855085"/>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用来记录指令（主要是加减运算和逻辑运算指令）执行结果的辅助信息</a:t>
            </a: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600" dirty="0">
                <a:latin typeface="+mn-lt"/>
              </a:rPr>
              <a:t>状态标志有</a:t>
            </a:r>
            <a:r>
              <a:rPr lang="en-US" altLang="zh-CN" sz="2600" dirty="0">
                <a:latin typeface="+mn-lt"/>
              </a:rPr>
              <a:t>6</a:t>
            </a:r>
            <a:r>
              <a:rPr lang="zh-CN" altLang="en-US" sz="2600" dirty="0">
                <a:latin typeface="+mn-lt"/>
              </a:rPr>
              <a:t>个，处理器主要使用其中</a:t>
            </a:r>
            <a:r>
              <a:rPr lang="en-US" altLang="zh-CN" sz="2600" dirty="0">
                <a:latin typeface="+mn-lt"/>
              </a:rPr>
              <a:t>5</a:t>
            </a:r>
            <a:r>
              <a:rPr lang="zh-CN" altLang="en-US" sz="2600" dirty="0">
                <a:latin typeface="+mn-lt"/>
              </a:rPr>
              <a:t>个构成各种条件，分支指令会判断这些条件实现程序</a:t>
            </a:r>
            <a:endParaRPr lang="en-US" altLang="zh-CN" sz="2600" dirty="0">
              <a:solidFill>
                <a:srgbClr val="00B050"/>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状态标志</a:t>
            </a:r>
            <a:r>
              <a:rPr kumimoji="1" lang="en-US" altLang="zh-CN" b="0" i="0" u="none" strike="noStrike" kern="0" cap="none" spc="0" normalizeH="0" baseline="0" noProof="0" dirty="0">
                <a:ln>
                  <a:noFill/>
                </a:ln>
                <a:solidFill>
                  <a:srgbClr val="000000"/>
                </a:solidFill>
                <a:effectLst/>
                <a:uLnTx/>
                <a:uFillTx/>
                <a:latin typeface="+mj-lt"/>
                <a:cs typeface="+mj-cs"/>
              </a:rPr>
              <a:t>Status flags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 name="Group 31"/>
          <p:cNvGrpSpPr/>
          <p:nvPr/>
        </p:nvGrpSpPr>
        <p:grpSpPr bwMode="auto">
          <a:xfrm>
            <a:off x="971600" y="4488572"/>
            <a:ext cx="7707312" cy="827088"/>
            <a:chOff x="877" y="3328"/>
            <a:chExt cx="4855" cy="521"/>
          </a:xfrm>
        </p:grpSpPr>
        <p:sp>
          <p:nvSpPr>
            <p:cNvPr id="3" name="Text Box 5"/>
            <p:cNvSpPr txBox="1">
              <a:spLocks noChangeArrowheads="1"/>
            </p:cNvSpPr>
            <p:nvPr/>
          </p:nvSpPr>
          <p:spPr bwMode="auto">
            <a:xfrm>
              <a:off x="877"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FF0000"/>
                  </a:solidFill>
                  <a:latin typeface="Times New Roman" panose="02020603050405020304" pitchFamily="18" charset="0"/>
                </a:rPr>
                <a:t>OF</a:t>
              </a:r>
            </a:p>
          </p:txBody>
        </p:sp>
        <p:sp>
          <p:nvSpPr>
            <p:cNvPr id="4" name="Text Box 6"/>
            <p:cNvSpPr txBox="1">
              <a:spLocks noChangeArrowheads="1"/>
            </p:cNvSpPr>
            <p:nvPr/>
          </p:nvSpPr>
          <p:spPr bwMode="auto">
            <a:xfrm>
              <a:off x="877"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11</a:t>
              </a:r>
              <a:endParaRPr kumimoji="1" lang="zh-CN" altLang="zh-CN" sz="2400">
                <a:solidFill>
                  <a:srgbClr val="CC3300"/>
                </a:solidFill>
                <a:latin typeface="Times New Roman" panose="02020603050405020304" pitchFamily="18" charset="0"/>
              </a:endParaRPr>
            </a:p>
          </p:txBody>
        </p:sp>
        <p:sp>
          <p:nvSpPr>
            <p:cNvPr id="5" name="Text Box 9"/>
            <p:cNvSpPr txBox="1">
              <a:spLocks noChangeArrowheads="1"/>
            </p:cNvSpPr>
            <p:nvPr/>
          </p:nvSpPr>
          <p:spPr bwMode="auto">
            <a:xfrm>
              <a:off x="1282" y="3578"/>
              <a:ext cx="404"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latin typeface="Times New Roman" panose="02020603050405020304" pitchFamily="18" charset="0"/>
                </a:rPr>
                <a:t>DF</a:t>
              </a:r>
            </a:p>
          </p:txBody>
        </p:sp>
        <p:sp>
          <p:nvSpPr>
            <p:cNvPr id="9" name="Text Box 10"/>
            <p:cNvSpPr txBox="1">
              <a:spLocks noChangeArrowheads="1"/>
            </p:cNvSpPr>
            <p:nvPr/>
          </p:nvSpPr>
          <p:spPr bwMode="auto">
            <a:xfrm>
              <a:off x="1282" y="3328"/>
              <a:ext cx="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10</a:t>
              </a:r>
              <a:endParaRPr kumimoji="1" lang="zh-CN" altLang="zh-CN" sz="2400">
                <a:solidFill>
                  <a:srgbClr val="CC3300"/>
                </a:solidFill>
                <a:latin typeface="Times New Roman" panose="02020603050405020304" pitchFamily="18" charset="0"/>
              </a:endParaRPr>
            </a:p>
          </p:txBody>
        </p:sp>
        <p:sp>
          <p:nvSpPr>
            <p:cNvPr id="10" name="Text Box 11"/>
            <p:cNvSpPr txBox="1">
              <a:spLocks noChangeArrowheads="1"/>
            </p:cNvSpPr>
            <p:nvPr/>
          </p:nvSpPr>
          <p:spPr bwMode="auto">
            <a:xfrm>
              <a:off x="1686"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latin typeface="Times New Roman" panose="02020603050405020304" pitchFamily="18" charset="0"/>
                </a:rPr>
                <a:t>IF</a:t>
              </a:r>
            </a:p>
          </p:txBody>
        </p:sp>
        <p:sp>
          <p:nvSpPr>
            <p:cNvPr id="11" name="Text Box 12"/>
            <p:cNvSpPr txBox="1">
              <a:spLocks noChangeArrowheads="1"/>
            </p:cNvSpPr>
            <p:nvPr/>
          </p:nvSpPr>
          <p:spPr bwMode="auto">
            <a:xfrm>
              <a:off x="1686"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9</a:t>
              </a:r>
              <a:endParaRPr kumimoji="1" lang="zh-CN" altLang="zh-CN" sz="2400">
                <a:solidFill>
                  <a:srgbClr val="CC3300"/>
                </a:solidFill>
                <a:latin typeface="Times New Roman" panose="02020603050405020304" pitchFamily="18" charset="0"/>
              </a:endParaRPr>
            </a:p>
          </p:txBody>
        </p:sp>
        <p:sp>
          <p:nvSpPr>
            <p:cNvPr id="12" name="Text Box 13"/>
            <p:cNvSpPr txBox="1">
              <a:spLocks noChangeArrowheads="1"/>
            </p:cNvSpPr>
            <p:nvPr/>
          </p:nvSpPr>
          <p:spPr bwMode="auto">
            <a:xfrm>
              <a:off x="2091" y="3578"/>
              <a:ext cx="404"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latin typeface="Times New Roman" panose="02020603050405020304" pitchFamily="18" charset="0"/>
                </a:rPr>
                <a:t>TF</a:t>
              </a:r>
            </a:p>
          </p:txBody>
        </p:sp>
        <p:sp>
          <p:nvSpPr>
            <p:cNvPr id="13" name="Text Box 14"/>
            <p:cNvSpPr txBox="1">
              <a:spLocks noChangeArrowheads="1"/>
            </p:cNvSpPr>
            <p:nvPr/>
          </p:nvSpPr>
          <p:spPr bwMode="auto">
            <a:xfrm>
              <a:off x="2091" y="3328"/>
              <a:ext cx="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8</a:t>
              </a:r>
              <a:endParaRPr kumimoji="1" lang="zh-CN" altLang="zh-CN" sz="2400">
                <a:solidFill>
                  <a:srgbClr val="CC3300"/>
                </a:solidFill>
                <a:latin typeface="Times New Roman" panose="02020603050405020304" pitchFamily="18" charset="0"/>
              </a:endParaRPr>
            </a:p>
          </p:txBody>
        </p:sp>
        <p:sp>
          <p:nvSpPr>
            <p:cNvPr id="14" name="Text Box 15"/>
            <p:cNvSpPr txBox="1">
              <a:spLocks noChangeArrowheads="1"/>
            </p:cNvSpPr>
            <p:nvPr/>
          </p:nvSpPr>
          <p:spPr bwMode="auto">
            <a:xfrm>
              <a:off x="2495"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FF0000"/>
                  </a:solidFill>
                  <a:latin typeface="Times New Roman" panose="02020603050405020304" pitchFamily="18" charset="0"/>
                </a:rPr>
                <a:t>SF</a:t>
              </a:r>
            </a:p>
          </p:txBody>
        </p:sp>
        <p:sp>
          <p:nvSpPr>
            <p:cNvPr id="15" name="Text Box 16"/>
            <p:cNvSpPr txBox="1">
              <a:spLocks noChangeArrowheads="1"/>
            </p:cNvSpPr>
            <p:nvPr/>
          </p:nvSpPr>
          <p:spPr bwMode="auto">
            <a:xfrm>
              <a:off x="2495"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7</a:t>
              </a:r>
              <a:endParaRPr kumimoji="1" lang="zh-CN" altLang="zh-CN" sz="2400">
                <a:solidFill>
                  <a:srgbClr val="CC3300"/>
                </a:solidFill>
                <a:latin typeface="Times New Roman" panose="02020603050405020304" pitchFamily="18" charset="0"/>
              </a:endParaRPr>
            </a:p>
          </p:txBody>
        </p:sp>
        <p:sp>
          <p:nvSpPr>
            <p:cNvPr id="16" name="Text Box 17"/>
            <p:cNvSpPr txBox="1">
              <a:spLocks noChangeArrowheads="1"/>
            </p:cNvSpPr>
            <p:nvPr/>
          </p:nvSpPr>
          <p:spPr bwMode="auto">
            <a:xfrm>
              <a:off x="2900"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FF0000"/>
                  </a:solidFill>
                  <a:latin typeface="Times New Roman" panose="02020603050405020304" pitchFamily="18" charset="0"/>
                </a:rPr>
                <a:t>ZF</a:t>
              </a:r>
            </a:p>
          </p:txBody>
        </p:sp>
        <p:sp>
          <p:nvSpPr>
            <p:cNvPr id="17" name="Text Box 18"/>
            <p:cNvSpPr txBox="1">
              <a:spLocks noChangeArrowheads="1"/>
            </p:cNvSpPr>
            <p:nvPr/>
          </p:nvSpPr>
          <p:spPr bwMode="auto">
            <a:xfrm>
              <a:off x="2900"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6</a:t>
              </a:r>
              <a:endParaRPr kumimoji="1" lang="zh-CN" altLang="zh-CN" sz="2400">
                <a:solidFill>
                  <a:srgbClr val="CC3300"/>
                </a:solidFill>
                <a:latin typeface="Times New Roman" panose="02020603050405020304" pitchFamily="18" charset="0"/>
              </a:endParaRPr>
            </a:p>
          </p:txBody>
        </p:sp>
        <p:sp>
          <p:nvSpPr>
            <p:cNvPr id="18" name="Text Box 19"/>
            <p:cNvSpPr txBox="1">
              <a:spLocks noChangeArrowheads="1"/>
            </p:cNvSpPr>
            <p:nvPr/>
          </p:nvSpPr>
          <p:spPr bwMode="auto">
            <a:xfrm>
              <a:off x="3305" y="3578"/>
              <a:ext cx="404"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en-US" sz="2200" dirty="0">
                  <a:latin typeface="Times New Roman" panose="02020603050405020304" pitchFamily="18" charset="0"/>
                </a:rPr>
                <a:t>0</a:t>
              </a:r>
              <a:endParaRPr kumimoji="1" lang="zh-CN" altLang="zh-CN" sz="2200" dirty="0">
                <a:latin typeface="Times New Roman" panose="02020603050405020304" pitchFamily="18" charset="0"/>
              </a:endParaRPr>
            </a:p>
          </p:txBody>
        </p:sp>
        <p:sp>
          <p:nvSpPr>
            <p:cNvPr id="19" name="Text Box 20"/>
            <p:cNvSpPr txBox="1">
              <a:spLocks noChangeArrowheads="1"/>
            </p:cNvSpPr>
            <p:nvPr/>
          </p:nvSpPr>
          <p:spPr bwMode="auto">
            <a:xfrm>
              <a:off x="3305" y="3328"/>
              <a:ext cx="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5</a:t>
              </a:r>
              <a:endParaRPr kumimoji="1" lang="zh-CN" altLang="zh-CN" sz="2400">
                <a:solidFill>
                  <a:srgbClr val="CC3300"/>
                </a:solidFill>
                <a:latin typeface="Times New Roman" panose="02020603050405020304" pitchFamily="18" charset="0"/>
              </a:endParaRPr>
            </a:p>
          </p:txBody>
        </p:sp>
        <p:sp>
          <p:nvSpPr>
            <p:cNvPr id="20" name="Text Box 21"/>
            <p:cNvSpPr txBox="1">
              <a:spLocks noChangeArrowheads="1"/>
            </p:cNvSpPr>
            <p:nvPr/>
          </p:nvSpPr>
          <p:spPr bwMode="auto">
            <a:xfrm>
              <a:off x="3709"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00B050"/>
                  </a:solidFill>
                  <a:latin typeface="Times New Roman" panose="02020603050405020304" pitchFamily="18" charset="0"/>
                </a:rPr>
                <a:t>AF</a:t>
              </a:r>
            </a:p>
          </p:txBody>
        </p:sp>
        <p:sp>
          <p:nvSpPr>
            <p:cNvPr id="21" name="Text Box 22"/>
            <p:cNvSpPr txBox="1">
              <a:spLocks noChangeArrowheads="1"/>
            </p:cNvSpPr>
            <p:nvPr/>
          </p:nvSpPr>
          <p:spPr bwMode="auto">
            <a:xfrm>
              <a:off x="3709"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4</a:t>
              </a:r>
              <a:endParaRPr kumimoji="1" lang="zh-CN" altLang="zh-CN" sz="2400">
                <a:solidFill>
                  <a:srgbClr val="CC3300"/>
                </a:solidFill>
                <a:latin typeface="Times New Roman" panose="02020603050405020304" pitchFamily="18" charset="0"/>
              </a:endParaRPr>
            </a:p>
          </p:txBody>
        </p:sp>
        <p:sp>
          <p:nvSpPr>
            <p:cNvPr id="22" name="Text Box 23"/>
            <p:cNvSpPr txBox="1">
              <a:spLocks noChangeArrowheads="1"/>
            </p:cNvSpPr>
            <p:nvPr/>
          </p:nvSpPr>
          <p:spPr bwMode="auto">
            <a:xfrm>
              <a:off x="4114" y="3578"/>
              <a:ext cx="404"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en-US" sz="2200" dirty="0">
                  <a:latin typeface="Times New Roman" panose="02020603050405020304" pitchFamily="18" charset="0"/>
                </a:rPr>
                <a:t>0</a:t>
              </a:r>
              <a:endParaRPr kumimoji="1" lang="zh-CN" altLang="zh-CN" sz="2200" dirty="0">
                <a:latin typeface="Times New Roman" panose="02020603050405020304" pitchFamily="18" charset="0"/>
              </a:endParaRPr>
            </a:p>
          </p:txBody>
        </p:sp>
        <p:sp>
          <p:nvSpPr>
            <p:cNvPr id="23" name="Text Box 24"/>
            <p:cNvSpPr txBox="1">
              <a:spLocks noChangeArrowheads="1"/>
            </p:cNvSpPr>
            <p:nvPr/>
          </p:nvSpPr>
          <p:spPr bwMode="auto">
            <a:xfrm>
              <a:off x="4114" y="3328"/>
              <a:ext cx="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3</a:t>
              </a:r>
              <a:endParaRPr kumimoji="1" lang="zh-CN" altLang="zh-CN" sz="2400">
                <a:solidFill>
                  <a:srgbClr val="CC3300"/>
                </a:solidFill>
                <a:latin typeface="Times New Roman" panose="02020603050405020304" pitchFamily="18" charset="0"/>
              </a:endParaRPr>
            </a:p>
          </p:txBody>
        </p:sp>
        <p:sp>
          <p:nvSpPr>
            <p:cNvPr id="24" name="Text Box 25"/>
            <p:cNvSpPr txBox="1">
              <a:spLocks noChangeArrowheads="1"/>
            </p:cNvSpPr>
            <p:nvPr/>
          </p:nvSpPr>
          <p:spPr bwMode="auto">
            <a:xfrm>
              <a:off x="4518"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FF0000"/>
                  </a:solidFill>
                  <a:latin typeface="Times New Roman" panose="02020603050405020304" pitchFamily="18" charset="0"/>
                </a:rPr>
                <a:t>PF</a:t>
              </a:r>
            </a:p>
          </p:txBody>
        </p:sp>
        <p:sp>
          <p:nvSpPr>
            <p:cNvPr id="25" name="Text Box 26"/>
            <p:cNvSpPr txBox="1">
              <a:spLocks noChangeArrowheads="1"/>
            </p:cNvSpPr>
            <p:nvPr/>
          </p:nvSpPr>
          <p:spPr bwMode="auto">
            <a:xfrm>
              <a:off x="4518"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2</a:t>
              </a:r>
              <a:endParaRPr kumimoji="1" lang="zh-CN" altLang="zh-CN" sz="2400">
                <a:solidFill>
                  <a:srgbClr val="CC3300"/>
                </a:solidFill>
                <a:latin typeface="Times New Roman" panose="02020603050405020304" pitchFamily="18" charset="0"/>
              </a:endParaRPr>
            </a:p>
          </p:txBody>
        </p:sp>
        <p:sp>
          <p:nvSpPr>
            <p:cNvPr id="26" name="Text Box 27"/>
            <p:cNvSpPr txBox="1">
              <a:spLocks noChangeArrowheads="1"/>
            </p:cNvSpPr>
            <p:nvPr/>
          </p:nvSpPr>
          <p:spPr bwMode="auto">
            <a:xfrm>
              <a:off x="4923" y="3578"/>
              <a:ext cx="404"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en-US" sz="2200" dirty="0">
                  <a:latin typeface="Times New Roman" panose="02020603050405020304" pitchFamily="18" charset="0"/>
                </a:rPr>
                <a:t>1</a:t>
              </a:r>
              <a:endParaRPr kumimoji="1" lang="zh-CN" altLang="zh-CN" sz="2200" dirty="0">
                <a:latin typeface="Times New Roman" panose="02020603050405020304" pitchFamily="18" charset="0"/>
              </a:endParaRPr>
            </a:p>
          </p:txBody>
        </p:sp>
        <p:sp>
          <p:nvSpPr>
            <p:cNvPr id="27" name="Text Box 28"/>
            <p:cNvSpPr txBox="1">
              <a:spLocks noChangeArrowheads="1"/>
            </p:cNvSpPr>
            <p:nvPr/>
          </p:nvSpPr>
          <p:spPr bwMode="auto">
            <a:xfrm>
              <a:off x="4923" y="3328"/>
              <a:ext cx="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1</a:t>
              </a:r>
              <a:endParaRPr kumimoji="1" lang="zh-CN" altLang="zh-CN" sz="2400">
                <a:solidFill>
                  <a:srgbClr val="CC3300"/>
                </a:solidFill>
                <a:latin typeface="Times New Roman" panose="02020603050405020304" pitchFamily="18" charset="0"/>
              </a:endParaRPr>
            </a:p>
          </p:txBody>
        </p:sp>
        <p:sp>
          <p:nvSpPr>
            <p:cNvPr id="28" name="Text Box 29"/>
            <p:cNvSpPr txBox="1">
              <a:spLocks noChangeArrowheads="1"/>
            </p:cNvSpPr>
            <p:nvPr/>
          </p:nvSpPr>
          <p:spPr bwMode="auto">
            <a:xfrm>
              <a:off x="5327" y="3578"/>
              <a:ext cx="405" cy="271"/>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en-US" altLang="zh-CN" sz="2200" dirty="0">
                  <a:solidFill>
                    <a:srgbClr val="FF0000"/>
                  </a:solidFill>
                  <a:latin typeface="Times New Roman" panose="02020603050405020304" pitchFamily="18" charset="0"/>
                </a:rPr>
                <a:t>CF</a:t>
              </a:r>
            </a:p>
          </p:txBody>
        </p:sp>
        <p:sp>
          <p:nvSpPr>
            <p:cNvPr id="29" name="Text Box 30"/>
            <p:cNvSpPr txBox="1">
              <a:spLocks noChangeArrowheads="1"/>
            </p:cNvSpPr>
            <p:nvPr/>
          </p:nvSpPr>
          <p:spPr bwMode="auto">
            <a:xfrm>
              <a:off x="5327" y="3328"/>
              <a:ext cx="4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FontTx/>
                <a:buNone/>
              </a:pPr>
              <a:r>
                <a:rPr kumimoji="1" lang="zh-CN" altLang="zh-CN" sz="2000">
                  <a:latin typeface="Times New Roman" panose="02020603050405020304" pitchFamily="18" charset="0"/>
                </a:rPr>
                <a:t>0</a:t>
              </a:r>
              <a:endParaRPr kumimoji="1" lang="zh-CN" altLang="zh-CN" sz="2400">
                <a:solidFill>
                  <a:srgbClr val="CC3300"/>
                </a:solidFill>
                <a:latin typeface="Times New Roman" panose="02020603050405020304" pitchFamily="18" charset="0"/>
              </a:endParaRPr>
            </a:p>
          </p:txBody>
        </p:sp>
      </p:grpSp>
      <p:sp>
        <p:nvSpPr>
          <p:cNvPr id="30" name="文本框 29"/>
          <p:cNvSpPr txBox="1"/>
          <p:nvPr/>
        </p:nvSpPr>
        <p:spPr>
          <a:xfrm>
            <a:off x="8127395" y="5275402"/>
            <a:ext cx="553999" cy="1446550"/>
          </a:xfrm>
          <a:prstGeom prst="rect">
            <a:avLst/>
          </a:prstGeom>
          <a:noFill/>
        </p:spPr>
        <p:txBody>
          <a:bodyPr vert="horz" wrap="square">
            <a:spAutoFit/>
          </a:bodyPr>
          <a:lstStyle/>
          <a:p>
            <a:pPr eaLnBrk="1" hangingPunct="1"/>
            <a:r>
              <a:rPr lang="zh-CN" altLang="en-US" sz="2200" b="1" dirty="0">
                <a:solidFill>
                  <a:srgbClr val="FF0000"/>
                </a:solidFill>
              </a:rPr>
              <a:t>进位标志</a:t>
            </a:r>
          </a:p>
        </p:txBody>
      </p:sp>
      <p:sp>
        <p:nvSpPr>
          <p:cNvPr id="31" name="文本框 30"/>
          <p:cNvSpPr txBox="1"/>
          <p:nvPr/>
        </p:nvSpPr>
        <p:spPr>
          <a:xfrm>
            <a:off x="6831251" y="5275402"/>
            <a:ext cx="553999" cy="1446550"/>
          </a:xfrm>
          <a:prstGeom prst="rect">
            <a:avLst/>
          </a:prstGeom>
          <a:noFill/>
        </p:spPr>
        <p:txBody>
          <a:bodyPr vert="horz" wrap="square">
            <a:spAutoFit/>
          </a:bodyPr>
          <a:lstStyle/>
          <a:p>
            <a:pPr eaLnBrk="1" hangingPunct="1"/>
            <a:r>
              <a:rPr lang="zh-CN" altLang="en-US" sz="2200" b="1" dirty="0">
                <a:solidFill>
                  <a:srgbClr val="FF0000"/>
                </a:solidFill>
              </a:rPr>
              <a:t>奇偶标志</a:t>
            </a:r>
          </a:p>
        </p:txBody>
      </p:sp>
      <p:sp>
        <p:nvSpPr>
          <p:cNvPr id="32" name="文本框 31"/>
          <p:cNvSpPr txBox="1"/>
          <p:nvPr/>
        </p:nvSpPr>
        <p:spPr>
          <a:xfrm>
            <a:off x="5557172" y="5275402"/>
            <a:ext cx="553999" cy="1446550"/>
          </a:xfrm>
          <a:prstGeom prst="rect">
            <a:avLst/>
          </a:prstGeom>
          <a:noFill/>
        </p:spPr>
        <p:txBody>
          <a:bodyPr vert="horz" wrap="square">
            <a:spAutoFit/>
          </a:bodyPr>
          <a:lstStyle/>
          <a:p>
            <a:pPr eaLnBrk="1" hangingPunct="1"/>
            <a:r>
              <a:rPr lang="zh-CN" altLang="en-US" sz="2200" b="1" dirty="0">
                <a:solidFill>
                  <a:srgbClr val="FF0000"/>
                </a:solidFill>
              </a:rPr>
              <a:t>调整标志</a:t>
            </a:r>
          </a:p>
        </p:txBody>
      </p:sp>
      <p:sp>
        <p:nvSpPr>
          <p:cNvPr id="33" name="文本框 32"/>
          <p:cNvSpPr txBox="1"/>
          <p:nvPr/>
        </p:nvSpPr>
        <p:spPr>
          <a:xfrm>
            <a:off x="4300538" y="5275402"/>
            <a:ext cx="553999" cy="1107996"/>
          </a:xfrm>
          <a:prstGeom prst="rect">
            <a:avLst/>
          </a:prstGeom>
          <a:noFill/>
        </p:spPr>
        <p:txBody>
          <a:bodyPr vert="horz" wrap="square">
            <a:spAutoFit/>
          </a:bodyPr>
          <a:lstStyle/>
          <a:p>
            <a:pPr eaLnBrk="1" hangingPunct="1"/>
            <a:r>
              <a:rPr lang="zh-CN" altLang="en-US" sz="2200" b="1" dirty="0">
                <a:solidFill>
                  <a:srgbClr val="FF0000"/>
                </a:solidFill>
              </a:rPr>
              <a:t>零标志</a:t>
            </a:r>
          </a:p>
        </p:txBody>
      </p:sp>
      <p:sp>
        <p:nvSpPr>
          <p:cNvPr id="34" name="文本框 33"/>
          <p:cNvSpPr txBox="1"/>
          <p:nvPr/>
        </p:nvSpPr>
        <p:spPr>
          <a:xfrm>
            <a:off x="3585250" y="5275402"/>
            <a:ext cx="553999" cy="1446550"/>
          </a:xfrm>
          <a:prstGeom prst="rect">
            <a:avLst/>
          </a:prstGeom>
          <a:noFill/>
        </p:spPr>
        <p:txBody>
          <a:bodyPr vert="horz" wrap="square">
            <a:spAutoFit/>
          </a:bodyPr>
          <a:lstStyle/>
          <a:p>
            <a:pPr eaLnBrk="1" hangingPunct="1"/>
            <a:r>
              <a:rPr lang="zh-CN" altLang="en-US" sz="2200" b="1" dirty="0">
                <a:solidFill>
                  <a:srgbClr val="FF0000"/>
                </a:solidFill>
              </a:rPr>
              <a:t>符号标志</a:t>
            </a:r>
          </a:p>
        </p:txBody>
      </p:sp>
      <p:sp>
        <p:nvSpPr>
          <p:cNvPr id="35" name="文本框 34"/>
          <p:cNvSpPr txBox="1"/>
          <p:nvPr/>
        </p:nvSpPr>
        <p:spPr>
          <a:xfrm>
            <a:off x="1008877" y="5272777"/>
            <a:ext cx="553999" cy="1446550"/>
          </a:xfrm>
          <a:prstGeom prst="rect">
            <a:avLst/>
          </a:prstGeom>
          <a:noFill/>
        </p:spPr>
        <p:txBody>
          <a:bodyPr vert="horz" wrap="square">
            <a:spAutoFit/>
          </a:bodyPr>
          <a:lstStyle/>
          <a:p>
            <a:pPr eaLnBrk="1" hangingPunct="1"/>
            <a:r>
              <a:rPr lang="zh-CN" altLang="en-US" sz="2200" b="1" dirty="0">
                <a:solidFill>
                  <a:srgbClr val="FF0000"/>
                </a:solidFill>
              </a:rPr>
              <a:t>溢出标志</a:t>
            </a:r>
          </a:p>
        </p:txBody>
      </p:sp>
      <p:sp>
        <p:nvSpPr>
          <p:cNvPr id="36" name="Rectangle 3"/>
          <p:cNvSpPr>
            <a:spLocks noChangeArrowheads="1"/>
          </p:cNvSpPr>
          <p:nvPr/>
        </p:nvSpPr>
        <p:spPr bwMode="auto">
          <a:xfrm>
            <a:off x="917261" y="2924944"/>
            <a:ext cx="7806655" cy="1488167"/>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CF</a:t>
            </a:r>
            <a:r>
              <a:rPr lang="zh-CN" altLang="en-US" sz="2400" dirty="0">
                <a:solidFill>
                  <a:schemeClr val="tx1"/>
                </a:solidFill>
                <a:latin typeface="+mn-lt"/>
                <a:ea typeface="黑体" panose="02010609060101010101" pitchFamily="49" charset="-122"/>
              </a:rPr>
              <a:t>：</a:t>
            </a:r>
            <a:r>
              <a:rPr lang="en-US" altLang="zh-CN" sz="2400" dirty="0">
                <a:solidFill>
                  <a:schemeClr val="tx1"/>
                </a:solidFill>
                <a:latin typeface="+mn-lt"/>
                <a:ea typeface="黑体" panose="02010609060101010101" pitchFamily="49" charset="-122"/>
              </a:rPr>
              <a:t>Carry Flag</a:t>
            </a:r>
            <a:r>
              <a:rPr lang="zh-CN" altLang="en-US" sz="2400" dirty="0">
                <a:solidFill>
                  <a:schemeClr val="tx1"/>
                </a:solidFill>
                <a:latin typeface="+mn-lt"/>
                <a:ea typeface="黑体" panose="02010609060101010101" pitchFamily="49" charset="-122"/>
              </a:rPr>
              <a:t>进位标志         </a:t>
            </a:r>
            <a:r>
              <a:rPr lang="en-US" altLang="zh-CN" sz="2400" dirty="0">
                <a:solidFill>
                  <a:schemeClr val="tx1"/>
                </a:solidFill>
                <a:latin typeface="+mn-lt"/>
                <a:ea typeface="黑体" panose="02010609060101010101" pitchFamily="49" charset="-122"/>
              </a:rPr>
              <a:t>PF</a:t>
            </a:r>
            <a:r>
              <a:rPr lang="zh-CN" altLang="en-US" sz="2400" dirty="0">
                <a:solidFill>
                  <a:schemeClr val="tx1"/>
                </a:solidFill>
                <a:latin typeface="+mn-lt"/>
                <a:ea typeface="黑体" panose="02010609060101010101" pitchFamily="49" charset="-122"/>
              </a:rPr>
              <a:t>：</a:t>
            </a:r>
            <a:r>
              <a:rPr lang="en-US" altLang="zh-CN" sz="2400" dirty="0">
                <a:solidFill>
                  <a:schemeClr val="tx1"/>
                </a:solidFill>
                <a:latin typeface="+mn-lt"/>
                <a:ea typeface="黑体" panose="02010609060101010101" pitchFamily="49" charset="-122"/>
              </a:rPr>
              <a:t>Parity Flag</a:t>
            </a:r>
            <a:r>
              <a:rPr lang="zh-CN" altLang="en-US" sz="2400" dirty="0">
                <a:solidFill>
                  <a:schemeClr val="tx1"/>
                </a:solidFill>
                <a:latin typeface="+mn-lt"/>
                <a:ea typeface="黑体" panose="02010609060101010101" pitchFamily="49" charset="-122"/>
              </a:rPr>
              <a:t>奇偶标志</a:t>
            </a:r>
          </a:p>
          <a:p>
            <a:pPr marL="457200" lvl="1" indent="-457200">
              <a:lnSpc>
                <a:spcPct val="130000"/>
              </a:lnSpc>
              <a:spcBef>
                <a:spcPts val="0"/>
              </a:spcBef>
              <a:buFontTx/>
              <a:buNone/>
            </a:pPr>
            <a:r>
              <a:rPr lang="en-US" altLang="zh-CN" sz="2400" dirty="0">
                <a:solidFill>
                  <a:srgbClr val="00B050"/>
                </a:solidFill>
                <a:latin typeface="+mn-lt"/>
                <a:ea typeface="黑体" panose="02010609060101010101" pitchFamily="49" charset="-122"/>
              </a:rPr>
              <a:t>AF</a:t>
            </a:r>
            <a:r>
              <a:rPr lang="zh-CN" altLang="en-US" sz="2400" dirty="0">
                <a:solidFill>
                  <a:srgbClr val="00B050"/>
                </a:solidFill>
                <a:latin typeface="+mn-lt"/>
                <a:ea typeface="黑体" panose="02010609060101010101" pitchFamily="49" charset="-122"/>
              </a:rPr>
              <a:t>：</a:t>
            </a:r>
            <a:r>
              <a:rPr lang="en-US" altLang="zh-CN" sz="2400" dirty="0">
                <a:solidFill>
                  <a:srgbClr val="00B050"/>
                </a:solidFill>
                <a:latin typeface="+mn-lt"/>
                <a:ea typeface="黑体" panose="02010609060101010101" pitchFamily="49" charset="-122"/>
              </a:rPr>
              <a:t>Adjust Flag</a:t>
            </a:r>
            <a:r>
              <a:rPr lang="zh-CN" altLang="en-US" sz="2400" dirty="0">
                <a:solidFill>
                  <a:srgbClr val="00B050"/>
                </a:solidFill>
                <a:latin typeface="+mn-lt"/>
                <a:ea typeface="黑体" panose="02010609060101010101" pitchFamily="49" charset="-122"/>
              </a:rPr>
              <a:t>调整标志       </a:t>
            </a:r>
            <a:r>
              <a:rPr lang="en-US" altLang="zh-CN" sz="2400" dirty="0">
                <a:solidFill>
                  <a:schemeClr val="tx1"/>
                </a:solidFill>
                <a:latin typeface="+mn-lt"/>
                <a:ea typeface="黑体" panose="02010609060101010101" pitchFamily="49" charset="-122"/>
              </a:rPr>
              <a:t>ZF</a:t>
            </a:r>
            <a:r>
              <a:rPr lang="zh-CN" altLang="en-US" sz="2400" dirty="0">
                <a:solidFill>
                  <a:schemeClr val="tx1"/>
                </a:solidFill>
                <a:latin typeface="+mn-lt"/>
                <a:ea typeface="黑体" panose="02010609060101010101" pitchFamily="49" charset="-122"/>
              </a:rPr>
              <a:t>：</a:t>
            </a:r>
            <a:r>
              <a:rPr lang="en-US" altLang="zh-CN" sz="2400" dirty="0">
                <a:solidFill>
                  <a:schemeClr val="tx1"/>
                </a:solidFill>
                <a:latin typeface="+mn-lt"/>
                <a:ea typeface="黑体" panose="02010609060101010101" pitchFamily="49" charset="-122"/>
              </a:rPr>
              <a:t>Zero Flag</a:t>
            </a:r>
            <a:r>
              <a:rPr lang="zh-CN" altLang="en-US" sz="2400" dirty="0">
                <a:solidFill>
                  <a:schemeClr val="tx1"/>
                </a:solidFill>
                <a:latin typeface="+mn-lt"/>
                <a:ea typeface="黑体" panose="02010609060101010101" pitchFamily="49" charset="-122"/>
              </a:rPr>
              <a:t>零标志</a:t>
            </a: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SF</a:t>
            </a:r>
            <a:r>
              <a:rPr lang="zh-CN" altLang="en-US" sz="2400" dirty="0">
                <a:solidFill>
                  <a:schemeClr val="tx1"/>
                </a:solidFill>
                <a:latin typeface="+mn-lt"/>
                <a:ea typeface="黑体" panose="02010609060101010101" pitchFamily="49" charset="-122"/>
              </a:rPr>
              <a:t>：</a:t>
            </a:r>
            <a:r>
              <a:rPr lang="en-US" altLang="zh-CN" sz="2400" dirty="0">
                <a:solidFill>
                  <a:schemeClr val="tx1"/>
                </a:solidFill>
                <a:latin typeface="+mn-lt"/>
                <a:ea typeface="黑体" panose="02010609060101010101" pitchFamily="49" charset="-122"/>
              </a:rPr>
              <a:t>Sign Flag</a:t>
            </a:r>
            <a:r>
              <a:rPr lang="zh-CN" altLang="en-US" sz="2400" dirty="0">
                <a:solidFill>
                  <a:schemeClr val="tx1"/>
                </a:solidFill>
                <a:latin typeface="+mn-lt"/>
                <a:ea typeface="黑体" panose="02010609060101010101" pitchFamily="49" charset="-122"/>
              </a:rPr>
              <a:t>符号标志           </a:t>
            </a:r>
            <a:r>
              <a:rPr lang="en-US" altLang="zh-CN" sz="2400" dirty="0">
                <a:solidFill>
                  <a:schemeClr val="tx1"/>
                </a:solidFill>
                <a:latin typeface="+mn-lt"/>
                <a:ea typeface="黑体" panose="02010609060101010101" pitchFamily="49" charset="-122"/>
              </a:rPr>
              <a:t>OF</a:t>
            </a:r>
            <a:r>
              <a:rPr lang="zh-CN" altLang="en-US" sz="2400" dirty="0">
                <a:solidFill>
                  <a:schemeClr val="tx1"/>
                </a:solidFill>
                <a:latin typeface="+mn-lt"/>
                <a:ea typeface="黑体" panose="02010609060101010101" pitchFamily="49" charset="-122"/>
              </a:rPr>
              <a:t>：</a:t>
            </a:r>
            <a:r>
              <a:rPr lang="en-US" altLang="zh-CN" sz="2400" dirty="0">
                <a:solidFill>
                  <a:schemeClr val="tx1"/>
                </a:solidFill>
                <a:latin typeface="+mn-lt"/>
                <a:ea typeface="黑体" panose="02010609060101010101" pitchFamily="49" charset="-122"/>
              </a:rPr>
              <a:t>Overflow Flag</a:t>
            </a:r>
            <a:r>
              <a:rPr lang="zh-CN" altLang="en-US" sz="2400" dirty="0">
                <a:solidFill>
                  <a:schemeClr val="tx1"/>
                </a:solidFill>
                <a:latin typeface="+mn-lt"/>
                <a:ea typeface="黑体" panose="02010609060101010101" pitchFamily="49" charset="-122"/>
              </a:rPr>
              <a:t>溢出标志</a:t>
            </a:r>
            <a:endParaRPr lang="en-US" altLang="zh-CN" sz="2400" dirty="0">
              <a:solidFill>
                <a:schemeClr val="tx1"/>
              </a:solidFill>
              <a:latin typeface="+mn-lt"/>
              <a:ea typeface="黑体" panose="02010609060101010101" pitchFamily="49" charset="-122"/>
            </a:endParaRPr>
          </a:p>
        </p:txBody>
      </p:sp>
      <p:sp>
        <p:nvSpPr>
          <p:cNvPr id="37" name="云形 36"/>
          <p:cNvSpPr/>
          <p:nvPr/>
        </p:nvSpPr>
        <p:spPr bwMode="auto">
          <a:xfrm>
            <a:off x="2868750" y="4297368"/>
            <a:ext cx="3215070" cy="1008112"/>
          </a:xfrm>
          <a:prstGeom prst="cloud">
            <a:avLst/>
          </a:prstGeom>
          <a:solidFill>
            <a:schemeClr val="accent3">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eaLnBrk="1" hangingPunct="1"/>
            <a:r>
              <a:rPr lang="en-US" altLang="zh-CN" sz="5400" dirty="0" err="1">
                <a:solidFill>
                  <a:srgbClr val="FFFF00"/>
                </a:solidFill>
                <a:effectLst>
                  <a:outerShdw blurRad="38100" dist="38100" dir="2700000" algn="tl">
                    <a:srgbClr val="000000"/>
                  </a:outerShdw>
                </a:effectLst>
                <a:latin typeface="Algerian" panose="04020705040A02060702" pitchFamily="82" charset="0"/>
              </a:rPr>
              <a:t>Z</a:t>
            </a:r>
            <a:r>
              <a:rPr lang="en-US" altLang="zh-CN" sz="4800" dirty="0" err="1">
                <a:solidFill>
                  <a:srgbClr val="FF0000"/>
                </a:solidFill>
                <a:effectLst>
                  <a:outerShdw blurRad="38100" dist="38100" dir="2700000" algn="tl">
                    <a:srgbClr val="000000"/>
                  </a:outerShdw>
                </a:effectLst>
                <a:latin typeface="Algerian" panose="04020705040A02060702" pitchFamily="82" charset="0"/>
              </a:rPr>
              <a:t>cops</a:t>
            </a:r>
            <a:endParaRPr lang="zh-CN" altLang="en-US" sz="4800" dirty="0">
              <a:latin typeface="Algerian" panose="04020705040A02060702" pitchFamily="82"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7"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807684"/>
            <a:ext cx="8208912" cy="5472608"/>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en-US" altLang="zh-CN" sz="2800" dirty="0">
                <a:latin typeface="+mn-lt"/>
              </a:rPr>
              <a:t>IA-32</a:t>
            </a:r>
            <a:r>
              <a:rPr lang="zh-CN" altLang="en-US" sz="2800" dirty="0">
                <a:latin typeface="+mn-lt"/>
              </a:rPr>
              <a:t>处理器只有一个控制标志：方向标志</a:t>
            </a:r>
            <a:r>
              <a:rPr lang="en-US" altLang="zh-CN" sz="2800" dirty="0">
                <a:latin typeface="+mn-lt"/>
              </a:rPr>
              <a:t>DF</a:t>
            </a:r>
            <a:r>
              <a:rPr lang="zh-CN" altLang="en-US" sz="2800" dirty="0">
                <a:latin typeface="+mn-lt"/>
              </a:rPr>
              <a:t>（</a:t>
            </a:r>
            <a:r>
              <a:rPr lang="en-US" altLang="zh-CN" sz="2800" dirty="0">
                <a:latin typeface="+mn-lt"/>
              </a:rPr>
              <a:t>Direction Flag</a:t>
            </a:r>
            <a:r>
              <a:rPr lang="zh-CN" altLang="en-US" sz="2800" dirty="0">
                <a:latin typeface="+mn-lt"/>
              </a:rPr>
              <a:t>）</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仅用于串操作指令，控制地址的变化方向</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设置</a:t>
            </a:r>
            <a:r>
              <a:rPr lang="en-US" altLang="zh-CN" sz="2400" dirty="0">
                <a:solidFill>
                  <a:schemeClr val="tx1"/>
                </a:solidFill>
                <a:latin typeface="+mn-lt"/>
              </a:rPr>
              <a:t>DF</a:t>
            </a:r>
            <a:r>
              <a:rPr lang="zh-CN" altLang="en-US" sz="2400" dirty="0">
                <a:solidFill>
                  <a:schemeClr val="tx1"/>
                </a:solidFill>
                <a:latin typeface="+mn-lt"/>
              </a:rPr>
              <a:t>＝</a:t>
            </a:r>
            <a:r>
              <a:rPr lang="en-US" altLang="zh-CN" sz="2400" dirty="0">
                <a:solidFill>
                  <a:schemeClr val="tx1"/>
                </a:solidFill>
                <a:latin typeface="+mn-lt"/>
              </a:rPr>
              <a:t>0</a:t>
            </a:r>
            <a:r>
              <a:rPr lang="zh-CN" altLang="en-US" sz="2400" dirty="0">
                <a:solidFill>
                  <a:schemeClr val="tx1"/>
                </a:solidFill>
                <a:latin typeface="+mn-lt"/>
              </a:rPr>
              <a:t>，每次串操作后的存储器地址就自动增加，即从低地址向高地址处理数据串</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设置</a:t>
            </a:r>
            <a:r>
              <a:rPr lang="en-US" altLang="zh-CN" sz="2400" dirty="0">
                <a:solidFill>
                  <a:schemeClr val="tx1"/>
                </a:solidFill>
                <a:latin typeface="+mn-lt"/>
              </a:rPr>
              <a:t>DF</a:t>
            </a:r>
            <a:r>
              <a:rPr lang="zh-CN" altLang="en-US" sz="2400" dirty="0">
                <a:solidFill>
                  <a:schemeClr val="tx1"/>
                </a:solidFill>
                <a:latin typeface="+mn-lt"/>
              </a:rPr>
              <a:t>＝</a:t>
            </a:r>
            <a:r>
              <a:rPr lang="en-US" altLang="zh-CN" sz="2400" dirty="0">
                <a:solidFill>
                  <a:schemeClr val="tx1"/>
                </a:solidFill>
                <a:latin typeface="+mn-lt"/>
              </a:rPr>
              <a:t>1</a:t>
            </a:r>
            <a:r>
              <a:rPr lang="zh-CN" altLang="en-US" sz="2400" dirty="0">
                <a:solidFill>
                  <a:schemeClr val="tx1"/>
                </a:solidFill>
                <a:latin typeface="+mn-lt"/>
              </a:rPr>
              <a:t>，每次串操作后的存储器地址就自动减少，即从高地址向低地址处理数据串</a:t>
            </a: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400" dirty="0">
                <a:latin typeface="+mn-lt"/>
              </a:rPr>
              <a:t>执行</a:t>
            </a:r>
            <a:r>
              <a:rPr lang="en-US" altLang="zh-CN" sz="2400" dirty="0">
                <a:latin typeface="+mn-lt"/>
              </a:rPr>
              <a:t>CLD(Clear Direction Flag)</a:t>
            </a:r>
            <a:r>
              <a:rPr lang="zh-CN" altLang="en-US" sz="2400" dirty="0">
                <a:latin typeface="+mn-lt"/>
              </a:rPr>
              <a:t>指令设置</a:t>
            </a:r>
            <a:r>
              <a:rPr lang="en-US" altLang="zh-CN" sz="2400" dirty="0">
                <a:latin typeface="+mn-lt"/>
              </a:rPr>
              <a:t>DF</a:t>
            </a:r>
            <a:r>
              <a:rPr lang="zh-CN" altLang="en-US" sz="2400" dirty="0">
                <a:latin typeface="+mn-lt"/>
              </a:rPr>
              <a:t>＝</a:t>
            </a:r>
            <a:r>
              <a:rPr lang="en-US" altLang="zh-CN" sz="2400" dirty="0">
                <a:latin typeface="+mn-lt"/>
              </a:rPr>
              <a:t>0</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400" dirty="0">
                <a:latin typeface="+mn-lt"/>
              </a:rPr>
              <a:t>执行</a:t>
            </a:r>
            <a:r>
              <a:rPr lang="en-US" altLang="zh-CN" sz="2400" dirty="0">
                <a:latin typeface="+mn-lt"/>
              </a:rPr>
              <a:t>STD(Set Direction Flag)</a:t>
            </a:r>
            <a:r>
              <a:rPr lang="zh-CN" altLang="en-US" sz="2400" dirty="0">
                <a:latin typeface="+mn-lt"/>
              </a:rPr>
              <a:t>指令设置</a:t>
            </a:r>
            <a:r>
              <a:rPr lang="en-US" altLang="zh-CN" sz="2400" dirty="0">
                <a:latin typeface="+mn-lt"/>
              </a:rPr>
              <a:t>DF</a:t>
            </a:r>
            <a:r>
              <a:rPr lang="zh-CN" altLang="en-US" sz="2400" dirty="0">
                <a:latin typeface="+mn-lt"/>
              </a:rPr>
              <a:t>＝</a:t>
            </a:r>
            <a:r>
              <a:rPr lang="en-US" altLang="zh-CN" sz="2400" dirty="0">
                <a:latin typeface="+mn-lt"/>
              </a:rPr>
              <a:t>1 </a:t>
            </a:r>
          </a:p>
          <a:p>
            <a:pPr marL="914400" lvl="1" indent="-457200" algn="just">
              <a:lnSpc>
                <a:spcPct val="130000"/>
              </a:lnSpc>
              <a:buClr>
                <a:srgbClr val="0000FF"/>
              </a:buClr>
              <a:buFont typeface="Wingdings" panose="05000000000000000000" pitchFamily="2" charset="2"/>
              <a:buChar char="ü"/>
            </a:pPr>
            <a:endParaRPr lang="en-US" altLang="zh-CN" sz="2600" dirty="0">
              <a:solidFill>
                <a:schemeClr val="tx1"/>
              </a:solidFill>
              <a:latin typeface="+mn-lt"/>
            </a:endParaRPr>
          </a:p>
          <a:p>
            <a:pPr marL="914400" lvl="1" indent="-457200" algn="just">
              <a:lnSpc>
                <a:spcPct val="130000"/>
              </a:lnSpc>
              <a:buClr>
                <a:srgbClr val="0000FF"/>
              </a:buClr>
              <a:buFont typeface="Wingdings" panose="05000000000000000000" pitchFamily="2" charset="2"/>
              <a:buChar char="ü"/>
            </a:pP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控制标志</a:t>
            </a:r>
            <a:r>
              <a:rPr kumimoji="1" lang="en-US" altLang="zh-CN" b="0" i="0" u="none" strike="noStrike" kern="0" cap="none" spc="0" normalizeH="0" baseline="0" noProof="0" dirty="0">
                <a:ln>
                  <a:noFill/>
                </a:ln>
                <a:solidFill>
                  <a:srgbClr val="000000"/>
                </a:solidFill>
                <a:effectLst/>
                <a:uLnTx/>
                <a:uFillTx/>
                <a:latin typeface="+mj-lt"/>
                <a:cs typeface="+mj-cs"/>
              </a:rPr>
              <a:t>Control flags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50190"/>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705696"/>
            <a:ext cx="8496944" cy="6171353"/>
          </a:xfrm>
          <a:prstGeom prst="rect">
            <a:avLst/>
          </a:prstGeom>
        </p:spPr>
        <p:txBody>
          <a:bodyPr/>
          <a:lstStyle/>
          <a:p>
            <a:pPr marL="457200" indent="-457200" algn="just">
              <a:lnSpc>
                <a:spcPct val="125000"/>
              </a:lnSpc>
              <a:spcBef>
                <a:spcPts val="0"/>
              </a:spcBef>
              <a:buClr>
                <a:srgbClr val="0000FF"/>
              </a:buClr>
              <a:buSzPct val="100000"/>
              <a:buFont typeface="Wingdings" panose="05000000000000000000" pitchFamily="2" charset="2"/>
              <a:buChar char="Ø"/>
              <a:defRPr/>
            </a:pPr>
            <a:r>
              <a:rPr lang="zh-CN" altLang="en-US" sz="2800" dirty="0">
                <a:latin typeface="+mn-lt"/>
              </a:rPr>
              <a:t>控制操作系统或核心管理程序的操作方式</a:t>
            </a:r>
            <a:endParaRPr lang="en-US" altLang="zh-CN" sz="2800" dirty="0">
              <a:latin typeface="+mn-lt"/>
            </a:endParaRPr>
          </a:p>
          <a:p>
            <a:pPr marL="914400" lvl="1" indent="-457200" algn="just">
              <a:lnSpc>
                <a:spcPct val="125000"/>
              </a:lnSpc>
              <a:spcBef>
                <a:spcPts val="0"/>
              </a:spcBef>
              <a:buClr>
                <a:srgbClr val="0000FF"/>
              </a:buClr>
              <a:buFont typeface="Wingdings" panose="05000000000000000000" pitchFamily="2" charset="2"/>
              <a:buChar char="ü"/>
            </a:pPr>
            <a:r>
              <a:rPr lang="zh-CN" altLang="en-US" sz="2600" dirty="0">
                <a:solidFill>
                  <a:srgbClr val="FF0000"/>
                </a:solidFill>
                <a:latin typeface="+mn-lt"/>
              </a:rPr>
              <a:t>中断允许标志</a:t>
            </a:r>
            <a:r>
              <a:rPr lang="en-US" altLang="zh-CN" sz="2600" dirty="0">
                <a:solidFill>
                  <a:srgbClr val="FF0000"/>
                </a:solidFill>
                <a:latin typeface="+mn-lt"/>
              </a:rPr>
              <a:t>IF</a:t>
            </a:r>
            <a:r>
              <a:rPr lang="zh-CN" altLang="en-US" sz="2600" dirty="0">
                <a:solidFill>
                  <a:srgbClr val="FF0000"/>
                </a:solidFill>
                <a:latin typeface="+mn-lt"/>
              </a:rPr>
              <a:t>（</a:t>
            </a:r>
            <a:r>
              <a:rPr lang="en-US" altLang="zh-CN" sz="2600" dirty="0">
                <a:solidFill>
                  <a:srgbClr val="FF0000"/>
                </a:solidFill>
                <a:latin typeface="+mn-lt"/>
              </a:rPr>
              <a:t>Interrupt-enable Flag</a:t>
            </a:r>
            <a:r>
              <a:rPr lang="zh-CN" altLang="en-US" sz="2600" dirty="0">
                <a:solidFill>
                  <a:srgbClr val="FF0000"/>
                </a:solidFill>
                <a:latin typeface="+mn-lt"/>
              </a:rPr>
              <a:t>）</a:t>
            </a:r>
            <a:endParaRPr lang="en-US" altLang="zh-CN" sz="2600" dirty="0">
              <a:solidFill>
                <a:srgbClr val="FF0000"/>
              </a:solidFill>
              <a:latin typeface="+mn-lt"/>
            </a:endParaRP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控制外部可屏蔽中断是否可以被处理器响应</a:t>
            </a:r>
            <a:endParaRPr lang="en-US" altLang="zh-CN" sz="2400" dirty="0">
              <a:solidFill>
                <a:schemeClr val="tx1"/>
              </a:solidFill>
              <a:latin typeface="+mn-lt"/>
            </a:endParaRP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执行</a:t>
            </a:r>
            <a:r>
              <a:rPr lang="en-US" altLang="zh-CN" sz="2400" dirty="0">
                <a:solidFill>
                  <a:schemeClr val="tx1"/>
                </a:solidFill>
                <a:latin typeface="+mn-lt"/>
              </a:rPr>
              <a:t>STI</a:t>
            </a:r>
            <a:r>
              <a:rPr lang="zh-CN" altLang="en-US" sz="2400" dirty="0">
                <a:solidFill>
                  <a:schemeClr val="tx1"/>
                </a:solidFill>
                <a:latin typeface="+mn-lt"/>
              </a:rPr>
              <a:t>指令设置</a:t>
            </a:r>
            <a:r>
              <a:rPr lang="en-US" altLang="zh-CN" sz="2400" dirty="0">
                <a:solidFill>
                  <a:schemeClr val="tx1"/>
                </a:solidFill>
                <a:latin typeface="+mn-lt"/>
              </a:rPr>
              <a:t>IF=1</a:t>
            </a:r>
            <a:r>
              <a:rPr lang="zh-CN" altLang="en-US" sz="2400" dirty="0">
                <a:solidFill>
                  <a:schemeClr val="tx1"/>
                </a:solidFill>
                <a:latin typeface="+mn-lt"/>
              </a:rPr>
              <a:t>，允许中断</a:t>
            </a:r>
            <a:endParaRPr lang="en-US" altLang="zh-CN" sz="2400" dirty="0">
              <a:solidFill>
                <a:schemeClr val="tx1"/>
              </a:solidFill>
              <a:latin typeface="+mn-lt"/>
            </a:endParaRP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执行</a:t>
            </a:r>
            <a:r>
              <a:rPr lang="en-US" altLang="zh-CN" sz="2400" dirty="0">
                <a:solidFill>
                  <a:schemeClr val="tx1"/>
                </a:solidFill>
                <a:latin typeface="+mn-lt"/>
              </a:rPr>
              <a:t>CLI</a:t>
            </a:r>
            <a:r>
              <a:rPr lang="zh-CN" altLang="en-US" sz="2400" dirty="0">
                <a:solidFill>
                  <a:schemeClr val="tx1"/>
                </a:solidFill>
                <a:latin typeface="+mn-lt"/>
              </a:rPr>
              <a:t>指令设置</a:t>
            </a:r>
            <a:r>
              <a:rPr lang="en-US" altLang="zh-CN" sz="2400" dirty="0">
                <a:solidFill>
                  <a:schemeClr val="tx1"/>
                </a:solidFill>
                <a:latin typeface="+mn-lt"/>
              </a:rPr>
              <a:t>IF=0</a:t>
            </a:r>
            <a:r>
              <a:rPr lang="zh-CN" altLang="en-US" sz="2400" dirty="0">
                <a:solidFill>
                  <a:schemeClr val="tx1"/>
                </a:solidFill>
                <a:latin typeface="+mn-lt"/>
              </a:rPr>
              <a:t>，禁止中断</a:t>
            </a:r>
          </a:p>
          <a:p>
            <a:pPr marL="914400" lvl="1" indent="-457200" algn="just">
              <a:lnSpc>
                <a:spcPct val="125000"/>
              </a:lnSpc>
              <a:spcBef>
                <a:spcPts val="0"/>
              </a:spcBef>
              <a:buClr>
                <a:srgbClr val="0000FF"/>
              </a:buClr>
              <a:buFont typeface="Wingdings" panose="05000000000000000000" pitchFamily="2" charset="2"/>
              <a:buChar char="ü"/>
            </a:pPr>
            <a:r>
              <a:rPr lang="zh-CN" altLang="en-US" sz="2600" dirty="0">
                <a:solidFill>
                  <a:schemeClr val="tx1"/>
                </a:solidFill>
                <a:latin typeface="+mn-lt"/>
              </a:rPr>
              <a:t>陷阱标志</a:t>
            </a:r>
            <a:r>
              <a:rPr lang="en-US" altLang="zh-CN" sz="2600" dirty="0">
                <a:solidFill>
                  <a:schemeClr val="tx1"/>
                </a:solidFill>
                <a:latin typeface="+mn-lt"/>
              </a:rPr>
              <a:t>TF</a:t>
            </a:r>
            <a:r>
              <a:rPr lang="zh-CN" altLang="en-US" sz="2600" dirty="0">
                <a:solidFill>
                  <a:schemeClr val="tx1"/>
                </a:solidFill>
                <a:latin typeface="+mn-lt"/>
              </a:rPr>
              <a:t>（</a:t>
            </a:r>
            <a:r>
              <a:rPr lang="en-US" altLang="zh-CN" sz="2600" dirty="0">
                <a:solidFill>
                  <a:schemeClr val="tx1"/>
                </a:solidFill>
                <a:latin typeface="+mn-lt"/>
              </a:rPr>
              <a:t>Trap Flag</a:t>
            </a:r>
            <a:r>
              <a:rPr lang="zh-CN" altLang="en-US" sz="2600" dirty="0">
                <a:solidFill>
                  <a:schemeClr val="tx1"/>
                </a:solidFill>
                <a:latin typeface="+mn-lt"/>
              </a:rPr>
              <a:t>），单步标志</a:t>
            </a:r>
            <a:endParaRPr lang="en-US" altLang="zh-CN" sz="2600" dirty="0">
              <a:solidFill>
                <a:schemeClr val="tx1"/>
              </a:solidFill>
              <a:latin typeface="+mn-lt"/>
            </a:endParaRP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控制处理器是否进入但不操作方式（</a:t>
            </a:r>
            <a:r>
              <a:rPr lang="en-US" altLang="zh-CN" sz="2400" dirty="0">
                <a:solidFill>
                  <a:schemeClr val="tx1"/>
                </a:solidFill>
                <a:latin typeface="+mn-lt"/>
              </a:rPr>
              <a:t>TF=1</a:t>
            </a:r>
            <a:r>
              <a:rPr lang="zh-CN" altLang="en-US" sz="2400" dirty="0">
                <a:solidFill>
                  <a:schemeClr val="tx1"/>
                </a:solidFill>
                <a:latin typeface="+mn-lt"/>
              </a:rPr>
              <a:t>）</a:t>
            </a:r>
            <a:endParaRPr lang="en-US" altLang="zh-CN" sz="2400" dirty="0">
              <a:solidFill>
                <a:schemeClr val="tx1"/>
              </a:solidFill>
              <a:latin typeface="+mn-lt"/>
            </a:endParaRPr>
          </a:p>
          <a:p>
            <a:pPr marL="914400" lvl="1" indent="-457200" algn="just">
              <a:lnSpc>
                <a:spcPct val="125000"/>
              </a:lnSpc>
              <a:spcBef>
                <a:spcPts val="0"/>
              </a:spcBef>
              <a:buClr>
                <a:srgbClr val="0000FF"/>
              </a:buClr>
              <a:buFont typeface="Wingdings" panose="05000000000000000000" pitchFamily="2" charset="2"/>
              <a:buChar char="ü"/>
            </a:pPr>
            <a:r>
              <a:rPr lang="en-US" altLang="zh-CN" sz="2600" dirty="0">
                <a:solidFill>
                  <a:schemeClr val="tx1"/>
                </a:solidFill>
                <a:latin typeface="+mn-lt"/>
              </a:rPr>
              <a:t>I/O</a:t>
            </a:r>
            <a:r>
              <a:rPr lang="zh-CN" altLang="en-US" sz="2600" dirty="0">
                <a:solidFill>
                  <a:schemeClr val="tx1"/>
                </a:solidFill>
                <a:latin typeface="+mn-lt"/>
              </a:rPr>
              <a:t>特权层标志</a:t>
            </a:r>
            <a:r>
              <a:rPr lang="en-US" altLang="zh-CN" sz="2600" dirty="0">
                <a:solidFill>
                  <a:schemeClr val="tx1"/>
                </a:solidFill>
                <a:latin typeface="+mn-lt"/>
              </a:rPr>
              <a:t>IOPL</a:t>
            </a:r>
            <a:r>
              <a:rPr lang="zh-CN" altLang="en-US" sz="2600" dirty="0">
                <a:solidFill>
                  <a:schemeClr val="tx1"/>
                </a:solidFill>
                <a:latin typeface="+mn-lt"/>
              </a:rPr>
              <a:t>、任务嵌套标志</a:t>
            </a:r>
            <a:r>
              <a:rPr lang="en-US" altLang="zh-CN" sz="2600" dirty="0">
                <a:solidFill>
                  <a:schemeClr val="tx1"/>
                </a:solidFill>
                <a:latin typeface="+mn-lt"/>
              </a:rPr>
              <a:t>NT</a:t>
            </a:r>
          </a:p>
          <a:p>
            <a:pPr marL="914400" lvl="1" indent="-457200" algn="just">
              <a:lnSpc>
                <a:spcPct val="125000"/>
              </a:lnSpc>
              <a:spcBef>
                <a:spcPts val="0"/>
              </a:spcBef>
              <a:buClr>
                <a:srgbClr val="0000FF"/>
              </a:buClr>
              <a:buFont typeface="Wingdings" panose="05000000000000000000" pitchFamily="2" charset="2"/>
              <a:buChar char="ü"/>
            </a:pPr>
            <a:r>
              <a:rPr lang="zh-CN" altLang="en-US" sz="2600" dirty="0">
                <a:solidFill>
                  <a:schemeClr val="tx1"/>
                </a:solidFill>
                <a:latin typeface="+mn-lt"/>
              </a:rPr>
              <a:t>虚拟</a:t>
            </a:r>
            <a:r>
              <a:rPr lang="en-US" altLang="zh-CN" sz="2600" dirty="0">
                <a:solidFill>
                  <a:schemeClr val="tx1"/>
                </a:solidFill>
                <a:latin typeface="+mn-lt"/>
              </a:rPr>
              <a:t>8086</a:t>
            </a:r>
            <a:r>
              <a:rPr lang="zh-CN" altLang="en-US" sz="2600" dirty="0">
                <a:solidFill>
                  <a:schemeClr val="tx1"/>
                </a:solidFill>
                <a:latin typeface="+mn-lt"/>
              </a:rPr>
              <a:t>方式标志</a:t>
            </a:r>
            <a:r>
              <a:rPr lang="en-US" altLang="zh-CN" sz="2600" dirty="0">
                <a:solidFill>
                  <a:schemeClr val="tx1"/>
                </a:solidFill>
                <a:latin typeface="+mn-lt"/>
              </a:rPr>
              <a:t>VM</a:t>
            </a:r>
            <a:r>
              <a:rPr lang="zh-CN" altLang="en-US" sz="2600" dirty="0">
                <a:solidFill>
                  <a:schemeClr val="tx1"/>
                </a:solidFill>
                <a:latin typeface="+mn-lt"/>
              </a:rPr>
              <a:t>、恢复标志</a:t>
            </a:r>
            <a:r>
              <a:rPr lang="en-US" altLang="zh-CN" sz="2600" dirty="0">
                <a:solidFill>
                  <a:schemeClr val="tx1"/>
                </a:solidFill>
                <a:latin typeface="+mn-lt"/>
              </a:rPr>
              <a:t>RF</a:t>
            </a:r>
          </a:p>
          <a:p>
            <a:pPr marL="914400" lvl="1" indent="-457200" algn="just">
              <a:lnSpc>
                <a:spcPct val="125000"/>
              </a:lnSpc>
              <a:spcBef>
                <a:spcPts val="0"/>
              </a:spcBef>
              <a:buClr>
                <a:srgbClr val="0000FF"/>
              </a:buClr>
              <a:buFont typeface="Wingdings" panose="05000000000000000000" pitchFamily="2" charset="2"/>
              <a:buChar char="ü"/>
            </a:pPr>
            <a:r>
              <a:rPr lang="zh-CN" altLang="en-US" sz="2600" dirty="0">
                <a:solidFill>
                  <a:schemeClr val="tx1"/>
                </a:solidFill>
                <a:latin typeface="+mn-lt"/>
              </a:rPr>
              <a:t>对齐检测标志</a:t>
            </a:r>
            <a:r>
              <a:rPr lang="en-US" altLang="zh-CN" sz="2600" dirty="0">
                <a:solidFill>
                  <a:schemeClr val="tx1"/>
                </a:solidFill>
                <a:latin typeface="+mn-lt"/>
              </a:rPr>
              <a:t>AC</a:t>
            </a:r>
          </a:p>
          <a:p>
            <a:pPr marL="914400" lvl="1" indent="-457200" algn="just">
              <a:lnSpc>
                <a:spcPct val="125000"/>
              </a:lnSpc>
              <a:spcBef>
                <a:spcPts val="0"/>
              </a:spcBef>
              <a:buClr>
                <a:srgbClr val="0000FF"/>
              </a:buClr>
              <a:buFont typeface="Wingdings" panose="05000000000000000000" pitchFamily="2" charset="2"/>
              <a:buChar char="ü"/>
            </a:pPr>
            <a:r>
              <a:rPr lang="en-US" altLang="zh-CN" sz="2600" dirty="0">
                <a:solidFill>
                  <a:schemeClr val="tx1"/>
                </a:solidFill>
                <a:latin typeface="+mn-lt"/>
              </a:rPr>
              <a:t>CPU</a:t>
            </a:r>
            <a:r>
              <a:rPr lang="zh-CN" altLang="en-US" sz="2600" dirty="0">
                <a:solidFill>
                  <a:schemeClr val="tx1"/>
                </a:solidFill>
                <a:latin typeface="+mn-lt"/>
              </a:rPr>
              <a:t>识别标志</a:t>
            </a:r>
            <a:r>
              <a:rPr lang="en-US" altLang="zh-CN" sz="2600" dirty="0">
                <a:solidFill>
                  <a:schemeClr val="tx1"/>
                </a:solidFill>
                <a:latin typeface="+mn-lt"/>
              </a:rPr>
              <a:t>ID</a:t>
            </a:r>
          </a:p>
          <a:p>
            <a:pPr marL="914400" lvl="1" indent="-457200" algn="just">
              <a:lnSpc>
                <a:spcPct val="125000"/>
              </a:lnSpc>
              <a:spcBef>
                <a:spcPts val="0"/>
              </a:spcBef>
              <a:buClr>
                <a:srgbClr val="0000FF"/>
              </a:buClr>
              <a:buFont typeface="Wingdings" panose="05000000000000000000" pitchFamily="2" charset="2"/>
              <a:buChar char="ü"/>
            </a:pPr>
            <a:r>
              <a:rPr lang="zh-CN" altLang="en-US" sz="2600" dirty="0">
                <a:solidFill>
                  <a:schemeClr val="tx1"/>
                </a:solidFill>
                <a:latin typeface="+mn-lt"/>
              </a:rPr>
              <a:t>虚拟中断标志</a:t>
            </a:r>
            <a:r>
              <a:rPr lang="en-US" altLang="zh-CN" sz="2600" dirty="0">
                <a:solidFill>
                  <a:schemeClr val="tx1"/>
                </a:solidFill>
                <a:latin typeface="+mn-lt"/>
              </a:rPr>
              <a:t>VIF</a:t>
            </a:r>
            <a:r>
              <a:rPr lang="zh-CN" altLang="en-US" sz="2600" dirty="0">
                <a:solidFill>
                  <a:schemeClr val="tx1"/>
                </a:solidFill>
                <a:latin typeface="+mn-lt"/>
              </a:rPr>
              <a:t>、虚拟中断挂起标志</a:t>
            </a:r>
            <a:r>
              <a:rPr lang="en-US" altLang="zh-CN" sz="2600" dirty="0">
                <a:solidFill>
                  <a:schemeClr val="tx1"/>
                </a:solidFill>
                <a:latin typeface="+mn-lt"/>
              </a:rPr>
              <a:t>VIP</a:t>
            </a: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系统标志</a:t>
            </a:r>
            <a:r>
              <a:rPr kumimoji="1" lang="en-US" altLang="zh-CN" b="0" i="0" u="none" strike="noStrike" kern="0" cap="none" spc="0" normalizeH="0" baseline="0" noProof="0" dirty="0">
                <a:ln>
                  <a:noFill/>
                </a:ln>
                <a:solidFill>
                  <a:srgbClr val="000000"/>
                </a:solidFill>
                <a:effectLst/>
                <a:uLnTx/>
                <a:uFillTx/>
                <a:latin typeface="+mj-lt"/>
                <a:cs typeface="+mj-cs"/>
              </a:rPr>
              <a:t>System flags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14998"/>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51520" y="678182"/>
            <a:ext cx="8568952" cy="5760640"/>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3000" dirty="0">
                <a:latin typeface="+mn-lt"/>
              </a:rPr>
              <a:t>段寄存器</a:t>
            </a:r>
          </a:p>
          <a:p>
            <a:pPr marL="914400" lvl="1" indent="-457200" algn="just">
              <a:lnSpc>
                <a:spcPct val="130000"/>
              </a:lnSpc>
              <a:spcBef>
                <a:spcPts val="0"/>
              </a:spcBef>
              <a:buClr>
                <a:srgbClr val="0000FF"/>
              </a:buClr>
              <a:buFont typeface="Wingdings" panose="05000000000000000000" pitchFamily="2" charset="2"/>
              <a:buChar char="ü"/>
            </a:pPr>
            <a:r>
              <a:rPr lang="zh-CN" altLang="en-US" sz="2600" dirty="0">
                <a:solidFill>
                  <a:schemeClr val="tx1"/>
                </a:solidFill>
                <a:latin typeface="+mn-lt"/>
              </a:rPr>
              <a:t>模块化程序设计思想，将相关代码或数据放在一起</a:t>
            </a:r>
            <a:endParaRPr lang="en-US" altLang="zh-CN" sz="2600" dirty="0">
              <a:solidFill>
                <a:schemeClr val="tx1"/>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en-US" altLang="zh-CN" sz="2600" dirty="0">
                <a:solidFill>
                  <a:srgbClr val="FF0000"/>
                </a:solidFill>
                <a:latin typeface="+mn-lt"/>
              </a:rPr>
              <a:t>16</a:t>
            </a:r>
            <a:r>
              <a:rPr lang="zh-CN" altLang="en-US" sz="2600" dirty="0">
                <a:solidFill>
                  <a:srgbClr val="FF0000"/>
                </a:solidFill>
                <a:latin typeface="+mn-lt"/>
              </a:rPr>
              <a:t>位段寄存器用来确定该段在主存中的起始地址</a:t>
            </a:r>
          </a:p>
          <a:p>
            <a:pPr marL="914400" lvl="1" indent="-457200" algn="just">
              <a:lnSpc>
                <a:spcPct val="130000"/>
              </a:lnSpc>
              <a:buClr>
                <a:srgbClr val="0000FF"/>
              </a:buClr>
              <a:buFont typeface="Wingdings" panose="05000000000000000000" pitchFamily="2" charset="2"/>
              <a:buChar char="ü"/>
            </a:pP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段寄存器</a:t>
            </a:r>
            <a:r>
              <a:rPr kumimoji="1" lang="en-US" altLang="zh-CN" b="0" i="0" u="none" strike="noStrike" kern="0" cap="none" spc="0" normalizeH="0" baseline="0" noProof="0" dirty="0">
                <a:ln>
                  <a:noFill/>
                </a:ln>
                <a:solidFill>
                  <a:srgbClr val="000000"/>
                </a:solidFill>
                <a:effectLst/>
                <a:uLnTx/>
                <a:uFillTx/>
                <a:latin typeface="+mj-lt"/>
                <a:cs typeface="+mj-cs"/>
              </a:rPr>
              <a:t>Segment Registers</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06648"/>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 name="Rectangle 3"/>
          <p:cNvSpPr>
            <a:spLocks noChangeArrowheads="1"/>
          </p:cNvSpPr>
          <p:nvPr/>
        </p:nvSpPr>
        <p:spPr bwMode="auto">
          <a:xfrm>
            <a:off x="1326644" y="2348880"/>
            <a:ext cx="7183494" cy="4392488"/>
          </a:xfrm>
          <a:prstGeom prst="rect">
            <a:avLst/>
          </a:prstGeom>
          <a:solidFill>
            <a:srgbClr val="DDEEFF"/>
          </a:solidFill>
          <a:ln w="9525">
            <a:noFill/>
            <a:miter lim="800000"/>
          </a:ln>
        </p:spPr>
        <p:txBody>
          <a:bodyPr/>
          <a:lstStyle>
            <a:lvl1pPr marL="342900" indent="-342900" algn="l" defTabSz="762000" eaLnBrk="0" hangingPunct="0">
              <a:spcBef>
                <a:spcPct val="20000"/>
              </a:spcBef>
              <a:buChar char="•"/>
              <a:defRPr kumimoji="1" sz="4400">
                <a:solidFill>
                  <a:srgbClr val="4D4D4D"/>
                </a:solidFill>
                <a:latin typeface="Times New Roman" panose="02020603050405020304" pitchFamily="18" charset="0"/>
                <a:ea typeface="宋体" panose="02010600030101010101" pitchFamily="2" charset="-122"/>
              </a:defRPr>
            </a:lvl1pPr>
            <a:lvl2pPr marL="742950" indent="-28575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2pPr>
            <a:lvl3pPr marL="11430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3pPr>
            <a:lvl4pPr marL="15621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4pPr>
            <a:lvl5pPr marL="1981200" indent="-228600" algn="l" defTabSz="762000" eaLnBrk="0" hangingPunct="0">
              <a:spcBef>
                <a:spcPct val="20000"/>
              </a:spcBef>
              <a:buChar char="•"/>
              <a:defRPr kumimoji="1" sz="3600">
                <a:solidFill>
                  <a:srgbClr val="4D4D4D"/>
                </a:solidFill>
                <a:latin typeface="Times New Roman" panose="02020603050405020304" pitchFamily="18" charset="0"/>
                <a:ea typeface="宋体" panose="02010600030101010101" pitchFamily="2" charset="-122"/>
              </a:defRPr>
            </a:lvl5pPr>
            <a:lvl6pPr marL="24384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6pPr>
            <a:lvl7pPr marL="28956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7pPr>
            <a:lvl8pPr marL="33528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8pPr>
            <a:lvl9pPr marL="3810000" indent="-228600" defTabSz="762000" eaLnBrk="0" fontAlgn="base" hangingPunct="0">
              <a:spcBef>
                <a:spcPct val="20000"/>
              </a:spcBef>
              <a:spcAft>
                <a:spcPct val="0"/>
              </a:spcAft>
              <a:buChar char="•"/>
              <a:defRPr kumimoji="1" sz="3600">
                <a:solidFill>
                  <a:srgbClr val="4D4D4D"/>
                </a:solidFill>
                <a:latin typeface="Times New Roman" panose="02020603050405020304" pitchFamily="18" charset="0"/>
                <a:ea typeface="宋体" panose="02010600030101010101" pitchFamily="2" charset="-122"/>
              </a:defRPr>
            </a:lvl9pPr>
          </a:lstStyle>
          <a:p>
            <a:pPr marL="457200" lvl="1" indent="-457200">
              <a:lnSpc>
                <a:spcPct val="130000"/>
              </a:lnSpc>
              <a:spcBef>
                <a:spcPts val="0"/>
              </a:spcBef>
              <a:buFontTx/>
              <a:buNone/>
            </a:pPr>
            <a:r>
              <a:rPr lang="zh-CN" altLang="en-US" sz="2400" dirty="0">
                <a:solidFill>
                  <a:schemeClr val="tx1"/>
                </a:solidFill>
                <a:highlight>
                  <a:srgbClr val="FFFF00"/>
                </a:highlight>
                <a:latin typeface="+mn-lt"/>
                <a:ea typeface="黑体" panose="02010609060101010101" pitchFamily="49" charset="-122"/>
              </a:rPr>
              <a:t>代码段</a:t>
            </a:r>
            <a:r>
              <a:rPr lang="en-US" altLang="zh-CN" sz="2400" dirty="0">
                <a:solidFill>
                  <a:schemeClr val="tx1"/>
                </a:solidFill>
                <a:highlight>
                  <a:srgbClr val="FFFF00"/>
                </a:highlight>
                <a:latin typeface="+mn-lt"/>
                <a:ea typeface="黑体" panose="02010609060101010101" pitchFamily="49" charset="-122"/>
              </a:rPr>
              <a:t>CS </a:t>
            </a:r>
            <a:r>
              <a:rPr lang="en-US" altLang="zh-CN" sz="2400" dirty="0">
                <a:solidFill>
                  <a:schemeClr val="tx1"/>
                </a:solidFill>
                <a:latin typeface="+mn-lt"/>
                <a:ea typeface="黑体" panose="02010609060101010101" pitchFamily="49" charset="-122"/>
              </a:rPr>
              <a:t>(Code Segment) </a:t>
            </a:r>
            <a:r>
              <a:rPr lang="zh-CN" altLang="en-US" sz="2400" dirty="0">
                <a:solidFill>
                  <a:schemeClr val="tx1"/>
                </a:solidFill>
                <a:latin typeface="+mn-lt"/>
                <a:ea typeface="黑体" panose="02010609060101010101" pitchFamily="49" charset="-122"/>
              </a:rPr>
              <a:t>：</a:t>
            </a:r>
            <a:endParaRPr lang="en-US" altLang="zh-CN" sz="2400" dirty="0">
              <a:solidFill>
                <a:schemeClr val="tx1"/>
              </a:solidFill>
              <a:latin typeface="+mn-lt"/>
              <a:ea typeface="黑体" panose="02010609060101010101" pitchFamily="49" charset="-122"/>
            </a:endParaRP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        </a:t>
            </a:r>
            <a:r>
              <a:rPr lang="zh-CN" altLang="en-US" sz="2400" dirty="0">
                <a:solidFill>
                  <a:schemeClr val="tx1"/>
                </a:solidFill>
                <a:latin typeface="+mn-lt"/>
                <a:ea typeface="黑体" panose="02010609060101010101" pitchFamily="49" charset="-122"/>
              </a:rPr>
              <a:t>当前代码段的起始位置</a:t>
            </a:r>
            <a:endParaRPr lang="en-US" altLang="zh-CN" sz="2400" dirty="0">
              <a:solidFill>
                <a:schemeClr val="tx1"/>
              </a:solidFill>
              <a:latin typeface="+mn-lt"/>
              <a:ea typeface="黑体" panose="02010609060101010101" pitchFamily="49" charset="-122"/>
            </a:endParaRPr>
          </a:p>
          <a:p>
            <a:pPr marL="457200" lvl="1" indent="-457200">
              <a:lnSpc>
                <a:spcPct val="130000"/>
              </a:lnSpc>
              <a:spcBef>
                <a:spcPts val="0"/>
              </a:spcBef>
              <a:buFontTx/>
              <a:buNone/>
            </a:pPr>
            <a:r>
              <a:rPr lang="zh-CN" altLang="en-US" sz="2400" dirty="0">
                <a:solidFill>
                  <a:schemeClr val="tx1"/>
                </a:solidFill>
                <a:highlight>
                  <a:srgbClr val="FFFF00"/>
                </a:highlight>
                <a:latin typeface="+mn-lt"/>
                <a:ea typeface="黑体" panose="02010609060101010101" pitchFamily="49" charset="-122"/>
              </a:rPr>
              <a:t>堆栈段</a:t>
            </a:r>
            <a:r>
              <a:rPr lang="en-US" altLang="zh-CN" sz="2400" dirty="0">
                <a:solidFill>
                  <a:schemeClr val="tx1"/>
                </a:solidFill>
                <a:highlight>
                  <a:srgbClr val="FFFF00"/>
                </a:highlight>
                <a:latin typeface="+mn-lt"/>
                <a:ea typeface="黑体" panose="02010609060101010101" pitchFamily="49" charset="-122"/>
              </a:rPr>
              <a:t>SS </a:t>
            </a:r>
            <a:r>
              <a:rPr lang="en-US" altLang="zh-CN" sz="2400" dirty="0">
                <a:solidFill>
                  <a:schemeClr val="tx1"/>
                </a:solidFill>
                <a:latin typeface="+mn-lt"/>
                <a:ea typeface="黑体" panose="02010609060101010101" pitchFamily="49" charset="-122"/>
              </a:rPr>
              <a:t>(Stack Segment) </a:t>
            </a:r>
            <a:r>
              <a:rPr lang="zh-CN" altLang="en-US" sz="2400" dirty="0">
                <a:solidFill>
                  <a:schemeClr val="tx1"/>
                </a:solidFill>
                <a:latin typeface="+mn-lt"/>
                <a:ea typeface="黑体" panose="02010609060101010101" pitchFamily="49" charset="-122"/>
              </a:rPr>
              <a:t>：</a:t>
            </a:r>
            <a:endParaRPr lang="en-US" altLang="zh-CN" sz="2400" dirty="0">
              <a:solidFill>
                <a:schemeClr val="tx1"/>
              </a:solidFill>
              <a:latin typeface="+mn-lt"/>
              <a:ea typeface="黑体" panose="02010609060101010101" pitchFamily="49" charset="-122"/>
            </a:endParaRP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        </a:t>
            </a:r>
            <a:r>
              <a:rPr lang="zh-CN" altLang="en-US" sz="2400" dirty="0">
                <a:solidFill>
                  <a:schemeClr val="tx1"/>
                </a:solidFill>
                <a:latin typeface="+mn-lt"/>
                <a:ea typeface="黑体" panose="02010609060101010101" pitchFamily="49" charset="-122"/>
              </a:rPr>
              <a:t>当前堆栈段的起始位置</a:t>
            </a:r>
          </a:p>
          <a:p>
            <a:pPr marL="457200" lvl="1" indent="-457200">
              <a:lnSpc>
                <a:spcPct val="130000"/>
              </a:lnSpc>
              <a:spcBef>
                <a:spcPts val="0"/>
              </a:spcBef>
              <a:buFontTx/>
              <a:buNone/>
            </a:pPr>
            <a:r>
              <a:rPr lang="zh-CN" altLang="en-US" sz="2400" dirty="0">
                <a:solidFill>
                  <a:schemeClr val="tx1"/>
                </a:solidFill>
                <a:highlight>
                  <a:srgbClr val="FFFF00"/>
                </a:highlight>
                <a:latin typeface="+mn-lt"/>
                <a:ea typeface="黑体" panose="02010609060101010101" pitchFamily="49" charset="-122"/>
              </a:rPr>
              <a:t>数据段</a:t>
            </a:r>
            <a:r>
              <a:rPr lang="en-US" altLang="zh-CN" sz="2400" dirty="0">
                <a:solidFill>
                  <a:schemeClr val="tx1"/>
                </a:solidFill>
                <a:highlight>
                  <a:srgbClr val="FFFF00"/>
                </a:highlight>
                <a:latin typeface="+mn-lt"/>
                <a:ea typeface="黑体" panose="02010609060101010101" pitchFamily="49" charset="-122"/>
              </a:rPr>
              <a:t>DS </a:t>
            </a:r>
            <a:r>
              <a:rPr lang="en-US" altLang="zh-CN" sz="2400" dirty="0">
                <a:solidFill>
                  <a:schemeClr val="tx1"/>
                </a:solidFill>
                <a:latin typeface="+mn-lt"/>
                <a:ea typeface="黑体" panose="02010609060101010101" pitchFamily="49" charset="-122"/>
              </a:rPr>
              <a:t>(Data Segment) </a:t>
            </a:r>
            <a:r>
              <a:rPr lang="zh-CN" altLang="en-US" sz="2400" dirty="0">
                <a:solidFill>
                  <a:schemeClr val="tx1"/>
                </a:solidFill>
                <a:latin typeface="+mn-lt"/>
                <a:ea typeface="黑体" panose="02010609060101010101" pitchFamily="49" charset="-122"/>
              </a:rPr>
              <a:t>：</a:t>
            </a:r>
            <a:endParaRPr lang="en-US" altLang="zh-CN" sz="2400" dirty="0">
              <a:solidFill>
                <a:schemeClr val="tx1"/>
              </a:solidFill>
              <a:latin typeface="+mn-lt"/>
              <a:ea typeface="黑体" panose="02010609060101010101" pitchFamily="49" charset="-122"/>
            </a:endParaRP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        </a:t>
            </a:r>
            <a:r>
              <a:rPr lang="zh-CN" altLang="en-US" sz="2400" dirty="0">
                <a:solidFill>
                  <a:schemeClr val="tx1"/>
                </a:solidFill>
                <a:latin typeface="+mn-lt"/>
                <a:ea typeface="黑体" panose="02010609060101010101" pitchFamily="49" charset="-122"/>
              </a:rPr>
              <a:t>当前数据段的起始位置</a:t>
            </a:r>
          </a:p>
          <a:p>
            <a:pPr marL="457200" lvl="1" indent="-457200">
              <a:lnSpc>
                <a:spcPct val="130000"/>
              </a:lnSpc>
              <a:spcBef>
                <a:spcPts val="0"/>
              </a:spcBef>
              <a:buFontTx/>
              <a:buNone/>
            </a:pPr>
            <a:r>
              <a:rPr lang="zh-CN" altLang="en-US" sz="2400" dirty="0">
                <a:solidFill>
                  <a:schemeClr val="tx1"/>
                </a:solidFill>
                <a:highlight>
                  <a:srgbClr val="FFFF00"/>
                </a:highlight>
                <a:latin typeface="+mn-lt"/>
                <a:ea typeface="黑体" panose="02010609060101010101" pitchFamily="49" charset="-122"/>
              </a:rPr>
              <a:t>附加段</a:t>
            </a:r>
            <a:r>
              <a:rPr lang="en-US" altLang="zh-CN" sz="2400" dirty="0">
                <a:solidFill>
                  <a:schemeClr val="tx1"/>
                </a:solidFill>
                <a:highlight>
                  <a:srgbClr val="FFFF00"/>
                </a:highlight>
                <a:latin typeface="+mn-lt"/>
                <a:ea typeface="黑体" panose="02010609060101010101" pitchFamily="49" charset="-122"/>
              </a:rPr>
              <a:t>ES </a:t>
            </a:r>
            <a:r>
              <a:rPr lang="en-US" altLang="zh-CN" sz="2400" dirty="0">
                <a:solidFill>
                  <a:schemeClr val="tx1"/>
                </a:solidFill>
                <a:latin typeface="+mn-lt"/>
                <a:ea typeface="黑体" panose="02010609060101010101" pitchFamily="49" charset="-122"/>
              </a:rPr>
              <a:t>(Extra Segment) </a:t>
            </a:r>
            <a:r>
              <a:rPr lang="zh-CN" altLang="en-US" sz="2400" dirty="0">
                <a:solidFill>
                  <a:schemeClr val="tx1"/>
                </a:solidFill>
                <a:latin typeface="+mn-lt"/>
                <a:ea typeface="黑体" panose="02010609060101010101" pitchFamily="49" charset="-122"/>
              </a:rPr>
              <a:t>：</a:t>
            </a:r>
            <a:endParaRPr lang="en-US" altLang="zh-CN" sz="2400" dirty="0">
              <a:solidFill>
                <a:schemeClr val="tx1"/>
              </a:solidFill>
              <a:latin typeface="+mn-lt"/>
              <a:ea typeface="黑体" panose="02010609060101010101" pitchFamily="49" charset="-122"/>
            </a:endParaRP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        </a:t>
            </a:r>
            <a:r>
              <a:rPr lang="zh-CN" altLang="en-US" sz="2400" dirty="0">
                <a:solidFill>
                  <a:schemeClr val="tx1"/>
                </a:solidFill>
                <a:latin typeface="+mn-lt"/>
                <a:ea typeface="黑体" panose="02010609060101010101" pitchFamily="49" charset="-122"/>
              </a:rPr>
              <a:t>当前附加段的起始位置</a:t>
            </a:r>
          </a:p>
          <a:p>
            <a:pPr marL="457200" lvl="1" indent="-457200">
              <a:lnSpc>
                <a:spcPct val="130000"/>
              </a:lnSpc>
              <a:spcBef>
                <a:spcPts val="0"/>
              </a:spcBef>
              <a:buFontTx/>
              <a:buNone/>
            </a:pPr>
            <a:r>
              <a:rPr lang="en-US" altLang="zh-CN" sz="2400" dirty="0">
                <a:solidFill>
                  <a:schemeClr val="tx1"/>
                </a:solidFill>
                <a:latin typeface="+mn-lt"/>
                <a:ea typeface="黑体" panose="02010609060101010101" pitchFamily="49" charset="-122"/>
              </a:rPr>
              <a:t>IA-32</a:t>
            </a:r>
            <a:r>
              <a:rPr lang="zh-CN" altLang="en-US" sz="2400" dirty="0">
                <a:solidFill>
                  <a:schemeClr val="tx1"/>
                </a:solidFill>
                <a:latin typeface="+mn-lt"/>
                <a:ea typeface="黑体" panose="02010609060101010101" pitchFamily="49" charset="-122"/>
              </a:rPr>
              <a:t>增加</a:t>
            </a:r>
            <a:r>
              <a:rPr lang="en-US" altLang="zh-CN" sz="2400" dirty="0">
                <a:solidFill>
                  <a:schemeClr val="tx1"/>
                </a:solidFill>
                <a:highlight>
                  <a:srgbClr val="FFFF00"/>
                </a:highlight>
                <a:latin typeface="+mn-lt"/>
                <a:ea typeface="黑体" panose="02010609060101010101" pitchFamily="49" charset="-122"/>
              </a:rPr>
              <a:t>FS</a:t>
            </a:r>
            <a:r>
              <a:rPr lang="zh-CN" altLang="en-US" sz="2400" dirty="0">
                <a:solidFill>
                  <a:schemeClr val="tx1"/>
                </a:solidFill>
                <a:highlight>
                  <a:srgbClr val="FFFF00"/>
                </a:highlight>
                <a:latin typeface="+mn-lt"/>
                <a:ea typeface="黑体" panose="02010609060101010101" pitchFamily="49" charset="-122"/>
              </a:rPr>
              <a:t>和</a:t>
            </a:r>
            <a:r>
              <a:rPr lang="en-US" altLang="zh-CN" sz="2400" dirty="0">
                <a:solidFill>
                  <a:schemeClr val="tx1"/>
                </a:solidFill>
                <a:highlight>
                  <a:srgbClr val="FFFF00"/>
                </a:highlight>
                <a:latin typeface="+mn-lt"/>
                <a:ea typeface="黑体" panose="02010609060101010101" pitchFamily="49" charset="-122"/>
              </a:rPr>
              <a:t>GS</a:t>
            </a:r>
            <a:r>
              <a:rPr lang="zh-CN" altLang="en-US" sz="2400" dirty="0">
                <a:solidFill>
                  <a:schemeClr val="tx1"/>
                </a:solidFill>
                <a:latin typeface="+mn-lt"/>
                <a:ea typeface="黑体" panose="02010609060101010101" pitchFamily="49" charset="-122"/>
              </a:rPr>
              <a:t>，都属于数据段性质的段寄存器</a:t>
            </a:r>
          </a:p>
        </p:txBody>
      </p:sp>
      <p:pic>
        <p:nvPicPr>
          <p:cNvPr id="3" name="图片 2"/>
          <p:cNvPicPr>
            <a:picLocks noChangeAspect="1"/>
          </p:cNvPicPr>
          <p:nvPr/>
        </p:nvPicPr>
        <p:blipFill>
          <a:blip r:embed="rId3"/>
          <a:stretch>
            <a:fillRect/>
          </a:stretch>
        </p:blipFill>
        <p:spPr>
          <a:xfrm>
            <a:off x="5521970" y="2348880"/>
            <a:ext cx="3226494" cy="3166224"/>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4704"/>
            <a:ext cx="8208912" cy="5472608"/>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指令指针寄存器</a:t>
            </a:r>
            <a:r>
              <a:rPr lang="en-US" altLang="zh-CN" sz="2800" dirty="0">
                <a:latin typeface="+mn-lt"/>
              </a:rPr>
              <a:t>EIP(Extended Instruction Pointer)</a:t>
            </a:r>
            <a:endParaRPr lang="zh-CN" altLang="en-US" sz="28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rgbClr val="00B050"/>
                </a:solidFill>
                <a:latin typeface="+mn-lt"/>
              </a:rPr>
              <a:t>保存将要执行的指令在主存的地址</a:t>
            </a:r>
            <a:endParaRPr lang="en-US" altLang="zh-CN" sz="2400" dirty="0">
              <a:solidFill>
                <a:srgbClr val="00B05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在</a:t>
            </a:r>
            <a:r>
              <a:rPr lang="en-US" altLang="zh-CN" sz="2400" dirty="0">
                <a:solidFill>
                  <a:schemeClr val="tx1"/>
                </a:solidFill>
                <a:latin typeface="+mn-lt"/>
              </a:rPr>
              <a:t>IA-32</a:t>
            </a:r>
            <a:r>
              <a:rPr lang="zh-CN" altLang="en-US" sz="2400" dirty="0">
                <a:solidFill>
                  <a:schemeClr val="tx1"/>
                </a:solidFill>
                <a:latin typeface="+mn-lt"/>
              </a:rPr>
              <a:t>的</a:t>
            </a:r>
            <a:r>
              <a:rPr lang="en-US" altLang="zh-CN" sz="2400" dirty="0">
                <a:solidFill>
                  <a:schemeClr val="tx1"/>
                </a:solidFill>
                <a:latin typeface="+mn-lt"/>
              </a:rPr>
              <a:t>32</a:t>
            </a:r>
            <a:r>
              <a:rPr lang="zh-CN" altLang="en-US" sz="2400" dirty="0">
                <a:solidFill>
                  <a:schemeClr val="tx1"/>
                </a:solidFill>
                <a:latin typeface="+mn-lt"/>
              </a:rPr>
              <a:t>位环境，使用</a:t>
            </a:r>
            <a:r>
              <a:rPr lang="en-US" altLang="zh-CN" sz="2400" dirty="0">
                <a:solidFill>
                  <a:srgbClr val="00B050"/>
                </a:solidFill>
                <a:latin typeface="+mn-lt"/>
              </a:rPr>
              <a:t>32</a:t>
            </a:r>
            <a:r>
              <a:rPr lang="zh-CN" altLang="en-US" sz="2400" dirty="0">
                <a:solidFill>
                  <a:srgbClr val="00B050"/>
                </a:solidFill>
                <a:latin typeface="+mn-lt"/>
              </a:rPr>
              <a:t>位</a:t>
            </a:r>
            <a:r>
              <a:rPr lang="zh-CN" altLang="en-US" sz="2400" dirty="0">
                <a:solidFill>
                  <a:schemeClr val="tx1"/>
                </a:solidFill>
                <a:latin typeface="+mn-lt"/>
              </a:rPr>
              <a:t>指令指针</a:t>
            </a:r>
            <a:r>
              <a:rPr lang="en-US" altLang="zh-CN" sz="2400" dirty="0">
                <a:solidFill>
                  <a:srgbClr val="00B050"/>
                </a:solidFill>
                <a:latin typeface="+mn-lt"/>
              </a:rPr>
              <a:t>EIP</a:t>
            </a:r>
            <a:r>
              <a:rPr lang="zh-CN" altLang="en-US" sz="2400" dirty="0">
                <a:solidFill>
                  <a:srgbClr val="000000"/>
                </a:solidFill>
                <a:latin typeface="+mn-lt"/>
              </a:rPr>
              <a:t>；</a:t>
            </a:r>
            <a:r>
              <a:rPr lang="zh-CN" altLang="en-US" sz="2400" dirty="0">
                <a:solidFill>
                  <a:schemeClr val="tx1"/>
                </a:solidFill>
                <a:latin typeface="+mn-lt"/>
              </a:rPr>
              <a:t>在</a:t>
            </a:r>
            <a:r>
              <a:rPr lang="en-US" altLang="zh-CN" sz="2400" dirty="0">
                <a:solidFill>
                  <a:schemeClr val="tx1"/>
                </a:solidFill>
                <a:latin typeface="+mn-lt"/>
              </a:rPr>
              <a:t>16</a:t>
            </a:r>
            <a:r>
              <a:rPr lang="zh-CN" altLang="en-US" sz="2400" dirty="0">
                <a:solidFill>
                  <a:schemeClr val="tx1"/>
                </a:solidFill>
                <a:latin typeface="+mn-lt"/>
              </a:rPr>
              <a:t>位的实地址工作方式下，只使用</a:t>
            </a:r>
            <a:r>
              <a:rPr lang="zh-CN" altLang="en-US" sz="2400" dirty="0">
                <a:solidFill>
                  <a:srgbClr val="00B050"/>
                </a:solidFill>
                <a:latin typeface="+mn-lt"/>
              </a:rPr>
              <a:t>低</a:t>
            </a:r>
            <a:r>
              <a:rPr lang="en-US" altLang="zh-CN" sz="2400" dirty="0">
                <a:solidFill>
                  <a:srgbClr val="00B050"/>
                </a:solidFill>
                <a:latin typeface="+mn-lt"/>
              </a:rPr>
              <a:t>16</a:t>
            </a:r>
            <a:r>
              <a:rPr lang="zh-CN" altLang="en-US" sz="2400" dirty="0">
                <a:solidFill>
                  <a:srgbClr val="00B050"/>
                </a:solidFill>
                <a:latin typeface="+mn-lt"/>
              </a:rPr>
              <a:t>位</a:t>
            </a:r>
            <a:r>
              <a:rPr lang="en-US" altLang="zh-CN" sz="2400" dirty="0">
                <a:solidFill>
                  <a:srgbClr val="00B050"/>
                </a:solidFill>
                <a:latin typeface="+mn-lt"/>
              </a:rPr>
              <a:t>IP</a:t>
            </a:r>
            <a:r>
              <a:rPr lang="zh-CN" altLang="en-US" sz="2400" dirty="0">
                <a:solidFill>
                  <a:schemeClr val="tx1"/>
                </a:solidFill>
                <a:latin typeface="+mn-lt"/>
              </a:rPr>
              <a:t>，高</a:t>
            </a:r>
            <a:r>
              <a:rPr lang="en-US" altLang="zh-CN" sz="2400" dirty="0">
                <a:solidFill>
                  <a:schemeClr val="tx1"/>
                </a:solidFill>
                <a:latin typeface="+mn-lt"/>
              </a:rPr>
              <a:t>16</a:t>
            </a:r>
            <a:r>
              <a:rPr lang="zh-CN" altLang="en-US" sz="2400" dirty="0">
                <a:solidFill>
                  <a:schemeClr val="tx1"/>
                </a:solidFill>
                <a:latin typeface="+mn-lt"/>
              </a:rPr>
              <a:t>位为</a:t>
            </a:r>
            <a:r>
              <a:rPr lang="en-US" altLang="zh-CN" sz="2400" dirty="0">
                <a:solidFill>
                  <a:schemeClr val="tx1"/>
                </a:solidFill>
                <a:latin typeface="+mn-lt"/>
              </a:rPr>
              <a:t>0</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顺序执行时自动增量（加上该指令的字节数），指向下一条指令</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分支、调用等操作时执行控制转移指令修改，引起程序转移到指定的指令执行</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出现中断或异常时被处理器赋值而相应改变</a:t>
            </a: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4.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指令指针寄存器</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AutoShape 5"/>
          <p:cNvSpPr>
            <a:spLocks noChangeArrowheads="1"/>
          </p:cNvSpPr>
          <p:nvPr/>
        </p:nvSpPr>
        <p:spPr bwMode="auto">
          <a:xfrm>
            <a:off x="5724128" y="116632"/>
            <a:ext cx="3312368" cy="720080"/>
          </a:xfrm>
          <a:prstGeom prst="cloudCallout">
            <a:avLst>
              <a:gd name="adj1" fmla="val -27877"/>
              <a:gd name="adj2" fmla="val 75723"/>
            </a:avLst>
          </a:prstGeom>
          <a:solidFill>
            <a:schemeClr val="bg1">
              <a:lumMod val="90000"/>
            </a:schemeClr>
          </a:solidFill>
          <a:ln w="9525">
            <a:solidFill>
              <a:schemeClr val="accent1"/>
            </a:solid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Tx/>
              <a:buNone/>
            </a:pPr>
            <a:r>
              <a:rPr lang="zh-CN" altLang="en-US" sz="2400" dirty="0">
                <a:latin typeface="黑体" panose="02010609060101010101" pitchFamily="49" charset="-122"/>
                <a:ea typeface="黑体" panose="02010609060101010101" pitchFamily="49" charset="-122"/>
              </a:rPr>
              <a:t>程序计数器</a:t>
            </a:r>
            <a:r>
              <a:rPr lang="en-US" altLang="zh-CN" sz="2400" dirty="0">
                <a:latin typeface="黑体" panose="02010609060101010101" pitchFamily="49" charset="-122"/>
                <a:ea typeface="黑体" panose="02010609060101010101" pitchFamily="49" charset="-122"/>
              </a:rPr>
              <a:t>PC</a:t>
            </a:r>
            <a:endParaRPr lang="zh-CN" altLang="en-US" sz="2400" dirty="0">
              <a:latin typeface="黑体" panose="02010609060101010101" pitchFamily="49" charset="-122"/>
              <a:ea typeface="黑体" panose="02010609060101010101" pitchFamily="49" charset="-122"/>
            </a:endParaRPr>
          </a:p>
        </p:txBody>
      </p:sp>
      <p:grpSp>
        <p:nvGrpSpPr>
          <p:cNvPr id="45060" name="组合 88079"/>
          <p:cNvGrpSpPr/>
          <p:nvPr/>
        </p:nvGrpSpPr>
        <p:grpSpPr>
          <a:xfrm>
            <a:off x="2074545" y="5495812"/>
            <a:ext cx="5107305" cy="1339724"/>
            <a:chOff x="1407" y="2843"/>
            <a:chExt cx="3211" cy="978"/>
          </a:xfrm>
        </p:grpSpPr>
        <p:sp>
          <p:nvSpPr>
            <p:cNvPr id="45061" name="文本框 88068"/>
            <p:cNvSpPr txBox="1"/>
            <p:nvPr/>
          </p:nvSpPr>
          <p:spPr>
            <a:xfrm>
              <a:off x="1407" y="2843"/>
              <a:ext cx="325" cy="291"/>
            </a:xfrm>
            <a:prstGeom prst="rect">
              <a:avLst/>
            </a:prstGeom>
            <a:noFill/>
            <a:ln w="28575">
              <a:noFill/>
            </a:ln>
          </p:spPr>
          <p:txBody>
            <a:bodyPr anchor="t" anchorCtr="0">
              <a:spAutoFit/>
            </a:bodyPr>
            <a:lstStyle/>
            <a:p>
              <a:pPr algn="ctr">
                <a:spcBef>
                  <a:spcPct val="50000"/>
                </a:spcBef>
              </a:pPr>
              <a:r>
                <a:rPr lang="zh-CN" altLang="en-US" sz="2000" b="1" dirty="0">
                  <a:latin typeface="Times New Roman" panose="02020603050405020304" pitchFamily="18" charset="0"/>
                </a:rPr>
                <a:t>3</a:t>
              </a:r>
              <a:r>
                <a:rPr lang="en-US" altLang="zh-CN" sz="2000" b="1">
                  <a:latin typeface="Times New Roman" panose="02020603050405020304" pitchFamily="18" charset="0"/>
                </a:rPr>
                <a:t>1</a:t>
              </a:r>
              <a:endParaRPr lang="zh-CN" altLang="zh-CN" sz="2400" b="1" dirty="0">
                <a:solidFill>
                  <a:srgbClr val="CC3300"/>
                </a:solidFill>
                <a:latin typeface="Times New Roman" panose="02020603050405020304" pitchFamily="18" charset="0"/>
              </a:endParaRPr>
            </a:p>
          </p:txBody>
        </p:sp>
        <p:sp>
          <p:nvSpPr>
            <p:cNvPr id="45062" name="文本框 88070"/>
            <p:cNvSpPr txBox="1"/>
            <p:nvPr/>
          </p:nvSpPr>
          <p:spPr>
            <a:xfrm>
              <a:off x="2705" y="2843"/>
              <a:ext cx="609" cy="291"/>
            </a:xfrm>
            <a:prstGeom prst="rect">
              <a:avLst/>
            </a:prstGeom>
            <a:noFill/>
            <a:ln w="28575">
              <a:noFill/>
            </a:ln>
          </p:spPr>
          <p:txBody>
            <a:bodyPr anchor="t" anchorCtr="0">
              <a:spAutoFit/>
            </a:bodyPr>
            <a:lstStyle/>
            <a:p>
              <a:pPr algn="ctr">
                <a:spcBef>
                  <a:spcPct val="50000"/>
                </a:spcBef>
              </a:pPr>
              <a:r>
                <a:rPr lang="zh-CN" altLang="en-US" sz="2000" b="1" dirty="0">
                  <a:latin typeface="Times New Roman" panose="02020603050405020304" pitchFamily="18" charset="0"/>
                </a:rPr>
                <a:t>1</a:t>
              </a:r>
              <a:r>
                <a:rPr lang="en-US" altLang="zh-CN" sz="2000" b="1">
                  <a:latin typeface="Times New Roman" panose="02020603050405020304" pitchFamily="18" charset="0"/>
                </a:rPr>
                <a:t>6 15</a:t>
              </a:r>
              <a:endParaRPr lang="zh-CN" altLang="zh-CN" sz="2400" b="1" dirty="0">
                <a:solidFill>
                  <a:srgbClr val="CC3300"/>
                </a:solidFill>
                <a:latin typeface="Times New Roman" panose="02020603050405020304" pitchFamily="18" charset="0"/>
              </a:endParaRPr>
            </a:p>
          </p:txBody>
        </p:sp>
        <p:sp>
          <p:nvSpPr>
            <p:cNvPr id="45063" name="文本框 88071"/>
            <p:cNvSpPr txBox="1"/>
            <p:nvPr/>
          </p:nvSpPr>
          <p:spPr>
            <a:xfrm>
              <a:off x="1476" y="3113"/>
              <a:ext cx="1542" cy="290"/>
            </a:xfrm>
            <a:prstGeom prst="rect">
              <a:avLst/>
            </a:prstGeom>
            <a:noFill/>
            <a:ln w="28575" cap="sq" cmpd="sng">
              <a:solidFill>
                <a:schemeClr val="tx1"/>
              </a:solidFill>
              <a:prstDash val="solid"/>
              <a:miter/>
              <a:headEnd type="none" w="sm" len="sm"/>
              <a:tailEnd type="none" w="sm" len="sm"/>
            </a:ln>
          </p:spPr>
          <p:txBody>
            <a:bodyPr anchor="t" anchorCtr="0">
              <a:spAutoFit/>
            </a:bodyPr>
            <a:lstStyle/>
            <a:p>
              <a:pPr algn="ctr">
                <a:spcBef>
                  <a:spcPct val="50000"/>
                </a:spcBef>
              </a:pPr>
              <a:endParaRPr lang="zh-CN" altLang="zh-CN" sz="2400" b="1" dirty="0">
                <a:solidFill>
                  <a:schemeClr val="hlink"/>
                </a:solidFill>
                <a:latin typeface="Times New Roman" panose="02020603050405020304" pitchFamily="18" charset="0"/>
              </a:endParaRPr>
            </a:p>
          </p:txBody>
        </p:sp>
        <p:sp>
          <p:nvSpPr>
            <p:cNvPr id="45064" name="文本框 88073"/>
            <p:cNvSpPr txBox="1"/>
            <p:nvPr/>
          </p:nvSpPr>
          <p:spPr>
            <a:xfrm>
              <a:off x="3018" y="3113"/>
              <a:ext cx="1497" cy="291"/>
            </a:xfrm>
            <a:prstGeom prst="rect">
              <a:avLst/>
            </a:prstGeom>
            <a:noFill/>
            <a:ln w="28575" cap="sq" cmpd="sng">
              <a:solidFill>
                <a:schemeClr val="tx1"/>
              </a:solidFill>
              <a:prstDash val="solid"/>
              <a:miter/>
              <a:headEnd type="none" w="sm" len="sm"/>
              <a:tailEnd type="none" w="sm" len="sm"/>
            </a:ln>
          </p:spPr>
          <p:txBody>
            <a:bodyPr anchor="t" anchorCtr="0">
              <a:noAutofit/>
            </a:bodyPr>
            <a:lstStyle/>
            <a:p>
              <a:pPr algn="ctr">
                <a:spcBef>
                  <a:spcPct val="50000"/>
                </a:spcBef>
              </a:pPr>
              <a:r>
                <a:rPr lang="en-US" altLang="zh-CN" sz="2000" b="1">
                  <a:solidFill>
                    <a:schemeClr val="hlink"/>
                  </a:solidFill>
                  <a:latin typeface="Times New Roman" panose="02020603050405020304" pitchFamily="18" charset="0"/>
                </a:rPr>
                <a:t>IP</a:t>
              </a:r>
              <a:endParaRPr lang="en-US" altLang="zh-CN" sz="2000" b="1" dirty="0">
                <a:solidFill>
                  <a:schemeClr val="hlink"/>
                </a:solidFill>
                <a:latin typeface="Times New Roman" panose="02020603050405020304" pitchFamily="18" charset="0"/>
              </a:endParaRPr>
            </a:p>
          </p:txBody>
        </p:sp>
        <p:sp>
          <p:nvSpPr>
            <p:cNvPr id="45065" name="文本框 88074"/>
            <p:cNvSpPr txBox="1"/>
            <p:nvPr/>
          </p:nvSpPr>
          <p:spPr>
            <a:xfrm>
              <a:off x="4308" y="2843"/>
              <a:ext cx="310" cy="291"/>
            </a:xfrm>
            <a:prstGeom prst="rect">
              <a:avLst/>
            </a:prstGeom>
            <a:noFill/>
            <a:ln w="28575">
              <a:noFill/>
            </a:ln>
          </p:spPr>
          <p:txBody>
            <a:bodyPr anchor="t" anchorCtr="0">
              <a:spAutoFit/>
            </a:bodyPr>
            <a:lstStyle/>
            <a:p>
              <a:pPr algn="ctr">
                <a:spcBef>
                  <a:spcPct val="50000"/>
                </a:spcBef>
              </a:pPr>
              <a:r>
                <a:rPr lang="zh-CN" altLang="zh-CN" sz="2000" b="1" dirty="0">
                  <a:latin typeface="Times New Roman" panose="02020603050405020304" pitchFamily="18" charset="0"/>
                </a:rPr>
                <a:t>0</a:t>
              </a:r>
              <a:endParaRPr lang="zh-CN" altLang="zh-CN" sz="2400" b="1" dirty="0">
                <a:solidFill>
                  <a:srgbClr val="CC3300"/>
                </a:solidFill>
                <a:latin typeface="Times New Roman" panose="02020603050405020304" pitchFamily="18" charset="0"/>
              </a:endParaRPr>
            </a:p>
          </p:txBody>
        </p:sp>
        <p:sp>
          <p:nvSpPr>
            <p:cNvPr id="45066" name="右大括号 88077"/>
            <p:cNvSpPr/>
            <p:nvPr/>
          </p:nvSpPr>
          <p:spPr>
            <a:xfrm rot="5400000">
              <a:off x="2959" y="2062"/>
              <a:ext cx="136" cy="2904"/>
            </a:xfrm>
            <a:prstGeom prst="rightBrace">
              <a:avLst>
                <a:gd name="adj1" fmla="val 99569"/>
                <a:gd name="adj2" fmla="val 50670"/>
              </a:avLst>
            </a:prstGeom>
            <a:noFill/>
            <a:ln w="28575"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45067" name="文本框 88078"/>
            <p:cNvSpPr txBox="1"/>
            <p:nvPr/>
          </p:nvSpPr>
          <p:spPr>
            <a:xfrm>
              <a:off x="2709" y="3530"/>
              <a:ext cx="605" cy="291"/>
            </a:xfrm>
            <a:prstGeom prst="rect">
              <a:avLst/>
            </a:prstGeom>
            <a:noFill/>
            <a:ln w="28575">
              <a:noFill/>
            </a:ln>
          </p:spPr>
          <p:txBody>
            <a:bodyPr anchor="t" anchorCtr="0">
              <a:spAutoFit/>
            </a:bodyPr>
            <a:lstStyle/>
            <a:p>
              <a:pPr algn="ctr">
                <a:spcBef>
                  <a:spcPct val="50000"/>
                </a:spcBef>
              </a:pPr>
              <a:r>
                <a:rPr lang="en-US" altLang="zh-CN" sz="2000" b="1">
                  <a:solidFill>
                    <a:srgbClr val="CC3300"/>
                  </a:solidFill>
                  <a:latin typeface="Times New Roman" panose="02020603050405020304" pitchFamily="18" charset="0"/>
                </a:rPr>
                <a:t>EIP</a:t>
              </a:r>
              <a:endParaRPr lang="en-US" altLang="zh-CN" sz="2000" b="1" dirty="0">
                <a:solidFill>
                  <a:srgbClr val="CC3300"/>
                </a:solidFill>
                <a:latin typeface="Times New Roman" panose="02020603050405020304" pitchFamily="18" charset="0"/>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539552" y="635000"/>
            <a:ext cx="8134424" cy="3658096"/>
          </a:xfrm>
          <a:prstGeom prst="rect">
            <a:avLst/>
          </a:prstGeom>
          <a:noFill/>
        </p:spPr>
        <p:txBody>
          <a:bodyPr vert="horz" wrap="square" rtlCol="0" anchor="ctr" anchorCtr="0">
            <a:noAutofit/>
          </a:bodyPr>
          <a:lstStyle/>
          <a:p>
            <a:pPr algn="just">
              <a:lnSpc>
                <a:spcPct val="150000"/>
              </a:lnSpc>
            </a:pPr>
            <a:r>
              <a:rPr lang="en-US" altLang="zh-CN" sz="2800" dirty="0">
                <a:solidFill>
                  <a:srgbClr val="000000"/>
                </a:solidFill>
                <a:latin typeface="黑体" panose="02010609060101010101" pitchFamily="49" charset="-122"/>
                <a:sym typeface="微软雅黑" panose="020B0503020204020204" charset="-122"/>
              </a:rPr>
              <a:t>IA-32</a:t>
            </a:r>
            <a:r>
              <a:rPr lang="zh-CN" altLang="en-US" sz="2800" dirty="0">
                <a:solidFill>
                  <a:srgbClr val="000000"/>
                </a:solidFill>
                <a:latin typeface="黑体" panose="02010609060101010101" pitchFamily="49" charset="-122"/>
                <a:sym typeface="微软雅黑" panose="020B0503020204020204" charset="-122"/>
              </a:rPr>
              <a:t>处理器有</a:t>
            </a:r>
            <a:r>
              <a:rPr lang="en-US" altLang="zh-CN" sz="2800" dirty="0">
                <a:solidFill>
                  <a:srgbClr val="000000"/>
                </a:solidFill>
                <a:latin typeface="黑体" panose="02010609060101010101" pitchFamily="49" charset="-122"/>
                <a:sym typeface="微软雅黑" panose="020B0503020204020204" charset="-122"/>
              </a:rPr>
              <a:t>8</a:t>
            </a:r>
            <a:r>
              <a:rPr lang="zh-CN" altLang="en-US" sz="2800" dirty="0">
                <a:solidFill>
                  <a:srgbClr val="000000"/>
                </a:solidFill>
                <a:latin typeface="黑体" panose="02010609060101010101" pitchFamily="49" charset="-122"/>
                <a:sym typeface="微软雅黑" panose="020B0503020204020204" charset="-122"/>
              </a:rPr>
              <a:t>个</a:t>
            </a:r>
            <a:r>
              <a:rPr lang="en-US" altLang="zh-CN" sz="2800" dirty="0">
                <a:solidFill>
                  <a:srgbClr val="000000"/>
                </a:solidFill>
                <a:latin typeface="黑体" panose="02010609060101010101" pitchFamily="49" charset="-122"/>
                <a:sym typeface="微软雅黑" panose="020B0503020204020204" charset="-122"/>
              </a:rPr>
              <a:t>32</a:t>
            </a:r>
            <a:r>
              <a:rPr lang="zh-CN" altLang="en-US" sz="2800" dirty="0">
                <a:solidFill>
                  <a:srgbClr val="000000"/>
                </a:solidFill>
                <a:latin typeface="黑体" panose="02010609060101010101" pitchFamily="49" charset="-122"/>
                <a:sym typeface="微软雅黑" panose="020B0503020204020204" charset="-122"/>
              </a:rPr>
              <a:t>位通用寄存器，其中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1]</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2]</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3]</a:t>
            </a:r>
            <a:r>
              <a:rPr lang="zh-CN" altLang="en-US" sz="2800" dirty="0">
                <a:solidFill>
                  <a:srgbClr val="000000"/>
                </a:solidFill>
                <a:latin typeface="黑体" panose="02010609060101010101" pitchFamily="49" charset="-122"/>
                <a:sym typeface="微软雅黑" panose="020B0503020204020204" charset="-122"/>
              </a:rPr>
              <a:t> 和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4]</a:t>
            </a:r>
            <a:r>
              <a:rPr lang="zh-CN" altLang="en-US" sz="2800" dirty="0">
                <a:solidFill>
                  <a:srgbClr val="000000"/>
                </a:solidFill>
                <a:latin typeface="黑体" panose="02010609060101010101" pitchFamily="49" charset="-122"/>
                <a:sym typeface="微软雅黑" panose="020B0503020204020204" charset="-122"/>
              </a:rPr>
              <a:t> ，可以分成</a:t>
            </a:r>
            <a:r>
              <a:rPr lang="en-US" altLang="zh-CN" sz="2800" dirty="0">
                <a:solidFill>
                  <a:srgbClr val="000000"/>
                </a:solidFill>
                <a:latin typeface="黑体" panose="02010609060101010101" pitchFamily="49" charset="-122"/>
                <a:sym typeface="微软雅黑" panose="020B0503020204020204" charset="-122"/>
              </a:rPr>
              <a:t>16</a:t>
            </a:r>
            <a:r>
              <a:rPr lang="zh-CN" altLang="en-US" sz="2800" dirty="0">
                <a:solidFill>
                  <a:srgbClr val="000000"/>
                </a:solidFill>
                <a:latin typeface="黑体" panose="02010609060101010101" pitchFamily="49" charset="-122"/>
                <a:sym typeface="微软雅黑" panose="020B0503020204020204" charset="-122"/>
              </a:rPr>
              <a:t>位和</a:t>
            </a:r>
            <a:r>
              <a:rPr lang="en-US" altLang="zh-CN" sz="2800" dirty="0">
                <a:solidFill>
                  <a:srgbClr val="000000"/>
                </a:solidFill>
                <a:latin typeface="黑体" panose="02010609060101010101" pitchFamily="49" charset="-122"/>
                <a:sym typeface="微软雅黑" panose="020B0503020204020204" charset="-122"/>
              </a:rPr>
              <a:t>8</a:t>
            </a:r>
            <a:r>
              <a:rPr lang="zh-CN" altLang="en-US" sz="2800" dirty="0">
                <a:solidFill>
                  <a:srgbClr val="000000"/>
                </a:solidFill>
                <a:latin typeface="黑体" panose="02010609060101010101" pitchFamily="49" charset="-122"/>
                <a:sym typeface="微软雅黑" panose="020B0503020204020204" charset="-122"/>
              </a:rPr>
              <a:t>位操作。还有另外</a:t>
            </a:r>
            <a:r>
              <a:rPr lang="en-US" altLang="zh-CN" sz="2800" dirty="0">
                <a:solidFill>
                  <a:srgbClr val="000000"/>
                </a:solidFill>
                <a:latin typeface="黑体" panose="02010609060101010101" pitchFamily="49" charset="-122"/>
                <a:sym typeface="微软雅黑" panose="020B0503020204020204" charset="-122"/>
              </a:rPr>
              <a:t>4</a:t>
            </a:r>
            <a:r>
              <a:rPr lang="zh-CN" altLang="en-US" sz="2800" dirty="0">
                <a:solidFill>
                  <a:srgbClr val="000000"/>
                </a:solidFill>
                <a:latin typeface="黑体" panose="02010609060101010101" pitchFamily="49" charset="-122"/>
                <a:sym typeface="微软雅黑" panose="020B0503020204020204" charset="-122"/>
              </a:rPr>
              <a:t>个是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5]</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6]</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7]</a:t>
            </a:r>
            <a:r>
              <a:rPr lang="zh-CN" altLang="en-US" sz="2800" dirty="0">
                <a:solidFill>
                  <a:srgbClr val="000000"/>
                </a:solidFill>
                <a:latin typeface="黑体" panose="02010609060101010101" pitchFamily="49" charset="-122"/>
                <a:sym typeface="微软雅黑" panose="020B0503020204020204" charset="-122"/>
              </a:rPr>
              <a:t> 和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8]</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a:t>
            </a:r>
          </a:p>
        </p:txBody>
      </p:sp>
      <p:sp>
        <p:nvSpPr>
          <p:cNvPr id="5" name="矩形: 圆角 4"/>
          <p:cNvSpPr/>
          <p:nvPr>
            <p:custDataLst>
              <p:tags r:id="rId3"/>
            </p:custDataLst>
          </p:nvPr>
        </p:nvSpPr>
        <p:spPr bwMode="auto">
          <a:xfrm>
            <a:off x="6172200" y="5177760"/>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8</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360" y="692785"/>
            <a:ext cx="8138795" cy="5904865"/>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400" dirty="0">
                <a:solidFill>
                  <a:schemeClr val="tx1"/>
                </a:solidFill>
                <a:latin typeface="+mn-lt"/>
              </a:rPr>
              <a:t>主板上的内存条</a:t>
            </a:r>
            <a:r>
              <a:rPr lang="en-US" altLang="zh-CN" sz="2400" dirty="0">
                <a:solidFill>
                  <a:schemeClr val="tx1"/>
                </a:solidFill>
                <a:latin typeface="+mn-lt"/>
              </a:rPr>
              <a:t>RAM</a:t>
            </a:r>
            <a:r>
              <a:rPr lang="zh-CN" altLang="en-US" sz="2400" dirty="0">
                <a:solidFill>
                  <a:schemeClr val="tx1"/>
                </a:solidFill>
                <a:latin typeface="+mn-lt"/>
              </a:rPr>
              <a:t>和</a:t>
            </a:r>
            <a:r>
              <a:rPr lang="en-US" altLang="zh-CN" sz="2400" dirty="0">
                <a:solidFill>
                  <a:schemeClr val="tx1"/>
                </a:solidFill>
                <a:latin typeface="+mn-lt"/>
              </a:rPr>
              <a:t>ROM</a:t>
            </a:r>
            <a:r>
              <a:rPr lang="zh-CN" altLang="en-US" sz="2400" dirty="0">
                <a:solidFill>
                  <a:schemeClr val="tx1"/>
                </a:solidFill>
                <a:latin typeface="+mn-lt"/>
              </a:rPr>
              <a:t>芯片构成主存，保存正在运行使用的指令和数据，处理器从主存读取指令，在执行指令的过程中读写数据。</a:t>
            </a: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400" dirty="0">
                <a:solidFill>
                  <a:srgbClr val="0000FF"/>
                </a:solidFill>
                <a:latin typeface="+mn-lt"/>
              </a:rPr>
              <a:t>存储器以字节为基本存储单位</a:t>
            </a:r>
            <a:r>
              <a:rPr lang="zh-CN" altLang="en-US" sz="2400" dirty="0">
                <a:solidFill>
                  <a:schemeClr val="tx1"/>
                </a:solidFill>
                <a:latin typeface="+mn-lt"/>
              </a:rPr>
              <a:t>，每个存储单元分配一个唯一的地址，即</a:t>
            </a:r>
            <a:r>
              <a:rPr lang="zh-CN" altLang="en-US" sz="2400" dirty="0">
                <a:solidFill>
                  <a:srgbClr val="FF0000"/>
                </a:solidFill>
                <a:latin typeface="+mn-lt"/>
              </a:rPr>
              <a:t>物理地址</a:t>
            </a: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400" dirty="0">
                <a:solidFill>
                  <a:schemeClr val="tx1"/>
                </a:solidFill>
                <a:latin typeface="+mn-lt"/>
              </a:rPr>
              <a:t>物理地址空间从</a:t>
            </a:r>
            <a:r>
              <a:rPr lang="en-US" altLang="zh-CN" sz="2400" dirty="0">
                <a:solidFill>
                  <a:schemeClr val="tx1"/>
                </a:solidFill>
                <a:latin typeface="+mn-lt"/>
              </a:rPr>
              <a:t>0</a:t>
            </a:r>
            <a:r>
              <a:rPr lang="zh-CN" altLang="en-US" sz="2400" dirty="0">
                <a:solidFill>
                  <a:schemeClr val="tx1"/>
                </a:solidFill>
                <a:latin typeface="+mn-lt"/>
              </a:rPr>
              <a:t>开始顺序编排，直到处理器支持的最大存储单元</a:t>
            </a:r>
          </a:p>
          <a:p>
            <a:pPr marL="914400" lvl="1" indent="-457200" algn="just" latinLnBrk="0">
              <a:lnSpc>
                <a:spcPct val="130000"/>
              </a:lnSpc>
              <a:spcBef>
                <a:spcPts val="0"/>
              </a:spcBef>
              <a:buClr>
                <a:srgbClr val="0000FF"/>
              </a:buClr>
              <a:buFont typeface="Wingdings" panose="05000000000000000000" pitchFamily="2" charset="2"/>
              <a:buChar char="ü"/>
            </a:pPr>
            <a:r>
              <a:rPr lang="en-US" altLang="zh-CN" sz="2200" dirty="0">
                <a:solidFill>
                  <a:schemeClr val="tx1"/>
                </a:solidFill>
                <a:latin typeface="+mn-lt"/>
              </a:rPr>
              <a:t>8086</a:t>
            </a:r>
            <a:r>
              <a:rPr lang="zh-CN" altLang="en-US" sz="2200" dirty="0">
                <a:solidFill>
                  <a:schemeClr val="tx1"/>
                </a:solidFill>
                <a:latin typeface="+mn-lt"/>
              </a:rPr>
              <a:t>处理器支持</a:t>
            </a:r>
            <a:r>
              <a:rPr lang="en-US" altLang="zh-CN" sz="2200" dirty="0">
                <a:solidFill>
                  <a:schemeClr val="tx1"/>
                </a:solidFill>
                <a:latin typeface="+mn-lt"/>
              </a:rPr>
              <a:t>1MB</a:t>
            </a:r>
            <a:r>
              <a:rPr lang="zh-CN" altLang="en-US" sz="2200" dirty="0">
                <a:solidFill>
                  <a:schemeClr val="tx1"/>
                </a:solidFill>
                <a:latin typeface="+mn-lt"/>
              </a:rPr>
              <a:t>存储器：</a:t>
            </a:r>
            <a:r>
              <a:rPr lang="en-US" altLang="zh-CN" sz="2200" dirty="0">
                <a:solidFill>
                  <a:schemeClr val="tx1"/>
                </a:solidFill>
                <a:latin typeface="+mn-lt"/>
              </a:rPr>
              <a:t>00000H</a:t>
            </a:r>
            <a:r>
              <a:rPr lang="zh-CN" altLang="en-US" sz="2200" dirty="0">
                <a:solidFill>
                  <a:schemeClr val="tx1"/>
                </a:solidFill>
                <a:latin typeface="+mn-lt"/>
              </a:rPr>
              <a:t>～</a:t>
            </a:r>
            <a:r>
              <a:rPr lang="en-US" altLang="zh-CN" sz="2200" dirty="0">
                <a:solidFill>
                  <a:schemeClr val="tx1"/>
                </a:solidFill>
                <a:latin typeface="+mn-lt"/>
              </a:rPr>
              <a:t>FFFFFH</a:t>
            </a:r>
          </a:p>
          <a:p>
            <a:pPr marL="914400" lvl="1" indent="-457200" algn="just" latinLnBrk="0">
              <a:lnSpc>
                <a:spcPct val="130000"/>
              </a:lnSpc>
              <a:spcBef>
                <a:spcPts val="0"/>
              </a:spcBef>
              <a:buClr>
                <a:srgbClr val="0000FF"/>
              </a:buClr>
              <a:buFont typeface="Wingdings" panose="05000000000000000000" pitchFamily="2" charset="2"/>
              <a:buChar char="ü"/>
            </a:pPr>
            <a:r>
              <a:rPr lang="en-US" altLang="zh-CN" sz="2200" dirty="0">
                <a:solidFill>
                  <a:schemeClr val="tx1"/>
                </a:solidFill>
                <a:latin typeface="+mn-lt"/>
              </a:rPr>
              <a:t>IA-32</a:t>
            </a:r>
            <a:r>
              <a:rPr lang="zh-CN" altLang="en-US" sz="2200" dirty="0">
                <a:solidFill>
                  <a:schemeClr val="tx1"/>
                </a:solidFill>
                <a:latin typeface="+mn-lt"/>
              </a:rPr>
              <a:t>处理器支持</a:t>
            </a:r>
            <a:r>
              <a:rPr lang="en-US" altLang="zh-CN" sz="2200" dirty="0">
                <a:solidFill>
                  <a:schemeClr val="tx1"/>
                </a:solidFill>
                <a:latin typeface="+mn-lt"/>
              </a:rPr>
              <a:t>4GB</a:t>
            </a:r>
            <a:r>
              <a:rPr lang="zh-CN" altLang="en-US" sz="2200" dirty="0">
                <a:solidFill>
                  <a:schemeClr val="tx1"/>
                </a:solidFill>
                <a:latin typeface="+mn-lt"/>
              </a:rPr>
              <a:t>存储器：</a:t>
            </a:r>
            <a:r>
              <a:rPr lang="en-US" altLang="zh-CN" sz="2200" dirty="0">
                <a:solidFill>
                  <a:schemeClr val="tx1"/>
                </a:solidFill>
                <a:latin typeface="+mn-lt"/>
              </a:rPr>
              <a:t>00000000H</a:t>
            </a:r>
            <a:r>
              <a:rPr lang="zh-CN" altLang="en-US" sz="2200" dirty="0">
                <a:solidFill>
                  <a:schemeClr val="tx1"/>
                </a:solidFill>
                <a:latin typeface="+mn-lt"/>
              </a:rPr>
              <a:t>～</a:t>
            </a:r>
            <a:r>
              <a:rPr lang="en-US" altLang="zh-CN" sz="2200" dirty="0">
                <a:solidFill>
                  <a:schemeClr val="tx1"/>
                </a:solidFill>
                <a:latin typeface="+mn-lt"/>
              </a:rPr>
              <a:t>FFFFFFFFH</a:t>
            </a:r>
          </a:p>
          <a:p>
            <a:pPr lvl="1" indent="-457200" algn="just" latinLnBrk="0">
              <a:lnSpc>
                <a:spcPct val="130000"/>
              </a:lnSpc>
              <a:spcBef>
                <a:spcPts val="0"/>
              </a:spcBef>
              <a:buClr>
                <a:srgbClr val="0000FF"/>
              </a:buClr>
              <a:buSzTx/>
              <a:buFont typeface="Wingdings" panose="05000000000000000000" pitchFamily="2" charset="2"/>
              <a:buChar char="Ø"/>
              <a:defRPr/>
            </a:pPr>
            <a:r>
              <a:rPr lang="zh-CN" altLang="en-US" sz="2400" dirty="0">
                <a:solidFill>
                  <a:schemeClr val="tx1"/>
                </a:solidFill>
                <a:latin typeface="+mn-lt"/>
              </a:rPr>
              <a:t>操作系统利用存储管理单元进行存储管理，</a:t>
            </a:r>
            <a:r>
              <a:rPr lang="zh-CN" altLang="en-US" sz="2400" dirty="0">
                <a:solidFill>
                  <a:srgbClr val="0000FF"/>
                </a:solidFill>
                <a:latin typeface="+mn-lt"/>
              </a:rPr>
              <a:t>程序不直接寻址物理存储器</a:t>
            </a:r>
            <a:endParaRPr lang="zh-CN" altLang="en-US" sz="2400" dirty="0">
              <a:solidFill>
                <a:schemeClr val="tx1"/>
              </a:solidFill>
              <a:latin typeface="+mn-lt"/>
            </a:endParaRPr>
          </a:p>
          <a:p>
            <a:pPr lvl="1" indent="-457200" algn="just" latinLnBrk="0">
              <a:lnSpc>
                <a:spcPct val="130000"/>
              </a:lnSpc>
              <a:spcBef>
                <a:spcPts val="0"/>
              </a:spcBef>
              <a:buClr>
                <a:srgbClr val="0000FF"/>
              </a:buClr>
              <a:buSzTx/>
              <a:buFont typeface="Wingdings" panose="05000000000000000000" pitchFamily="2" charset="2"/>
              <a:buChar char="Ø"/>
              <a:defRPr/>
            </a:pPr>
            <a:r>
              <a:rPr lang="zh-CN" altLang="en-US" sz="2400" dirty="0">
                <a:solidFill>
                  <a:schemeClr val="tx1"/>
                </a:solidFill>
                <a:latin typeface="+mn-lt"/>
              </a:rPr>
              <a:t>IA-32处理器提供</a:t>
            </a:r>
            <a:r>
              <a:rPr lang="zh-CN" altLang="en-US" sz="2400" dirty="0">
                <a:solidFill>
                  <a:srgbClr val="0000FF"/>
                </a:solidFill>
                <a:latin typeface="+mn-lt"/>
              </a:rPr>
              <a:t>3种存储模型</a:t>
            </a:r>
            <a:r>
              <a:rPr lang="zh-CN" altLang="en-US" sz="2400" dirty="0">
                <a:solidFill>
                  <a:schemeClr val="tx1"/>
                </a:solidFill>
                <a:latin typeface="+mn-lt"/>
              </a:rPr>
              <a:t>，用于程序访问存储器</a:t>
            </a:r>
          </a:p>
          <a:p>
            <a:pPr marL="914400" lvl="1" indent="-457200" algn="just" latinLnBrk="0">
              <a:lnSpc>
                <a:spcPct val="130000"/>
              </a:lnSpc>
              <a:spcBef>
                <a:spcPts val="0"/>
              </a:spcBef>
              <a:buClr>
                <a:srgbClr val="0000FF"/>
              </a:buClr>
              <a:buFont typeface="Wingdings" panose="05000000000000000000" pitchFamily="2" charset="2"/>
              <a:buChar char="ü"/>
            </a:pPr>
            <a:endParaRPr lang="zh-CN" altLang="en-US" sz="22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存储器组织</a:t>
            </a: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存储器地址空间</a:t>
            </a:r>
            <a:endPar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54276" name="组合 101444"/>
          <p:cNvGrpSpPr/>
          <p:nvPr/>
        </p:nvGrpSpPr>
        <p:grpSpPr>
          <a:xfrm>
            <a:off x="1689735" y="1348105"/>
            <a:ext cx="6027738" cy="4557713"/>
            <a:chOff x="1266" y="822"/>
            <a:chExt cx="3797" cy="2871"/>
          </a:xfrm>
        </p:grpSpPr>
        <p:sp>
          <p:nvSpPr>
            <p:cNvPr id="54277" name="矩形 101381"/>
            <p:cNvSpPr/>
            <p:nvPr/>
          </p:nvSpPr>
          <p:spPr>
            <a:xfrm>
              <a:off x="2326" y="849"/>
              <a:ext cx="765" cy="2806"/>
            </a:xfrm>
            <a:prstGeom prst="rect">
              <a:avLst/>
            </a:prstGeom>
            <a:noFill/>
            <a:ln w="28575" cap="flat" cmpd="sng">
              <a:solidFill>
                <a:srgbClr val="000000"/>
              </a:solidFill>
              <a:prstDash val="solid"/>
              <a:miter/>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54278" name="矩形 101386"/>
            <p:cNvSpPr/>
            <p:nvPr/>
          </p:nvSpPr>
          <p:spPr>
            <a:xfrm>
              <a:off x="1266" y="822"/>
              <a:ext cx="1079" cy="282"/>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FFFFFFFFH</a:t>
              </a:r>
            </a:p>
          </p:txBody>
        </p:sp>
        <p:sp>
          <p:nvSpPr>
            <p:cNvPr id="54279" name="矩形 101391"/>
            <p:cNvSpPr/>
            <p:nvPr/>
          </p:nvSpPr>
          <p:spPr>
            <a:xfrm>
              <a:off x="1357" y="3436"/>
              <a:ext cx="1005" cy="255"/>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00000000H</a:t>
              </a:r>
            </a:p>
          </p:txBody>
        </p:sp>
        <p:sp>
          <p:nvSpPr>
            <p:cNvPr id="54280" name="直接连接符 101415"/>
            <p:cNvSpPr/>
            <p:nvPr/>
          </p:nvSpPr>
          <p:spPr>
            <a:xfrm>
              <a:off x="2326" y="3436"/>
              <a:ext cx="765" cy="0"/>
            </a:xfrm>
            <a:prstGeom prst="line">
              <a:avLst/>
            </a:prstGeom>
            <a:ln w="28575" cap="flat" cmpd="sng">
              <a:solidFill>
                <a:schemeClr val="tx1"/>
              </a:solidFill>
              <a:prstDash val="solid"/>
              <a:round/>
              <a:headEnd type="none" w="med" len="med"/>
              <a:tailEnd type="none" w="med" len="med"/>
            </a:ln>
          </p:spPr>
        </p:sp>
        <p:sp>
          <p:nvSpPr>
            <p:cNvPr id="54281" name="矩形 101416"/>
            <p:cNvSpPr/>
            <p:nvPr/>
          </p:nvSpPr>
          <p:spPr>
            <a:xfrm>
              <a:off x="1357" y="3202"/>
              <a:ext cx="1005" cy="255"/>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00000001H</a:t>
              </a:r>
            </a:p>
          </p:txBody>
        </p:sp>
        <p:sp>
          <p:nvSpPr>
            <p:cNvPr id="54282" name="矩形 101417"/>
            <p:cNvSpPr/>
            <p:nvPr/>
          </p:nvSpPr>
          <p:spPr>
            <a:xfrm>
              <a:off x="1357" y="2975"/>
              <a:ext cx="1005" cy="255"/>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00000002H</a:t>
              </a:r>
            </a:p>
          </p:txBody>
        </p:sp>
        <p:sp>
          <p:nvSpPr>
            <p:cNvPr id="54283" name="矩形 101418"/>
            <p:cNvSpPr/>
            <p:nvPr/>
          </p:nvSpPr>
          <p:spPr>
            <a:xfrm>
              <a:off x="1357" y="2738"/>
              <a:ext cx="1005" cy="255"/>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00000003H</a:t>
              </a:r>
            </a:p>
          </p:txBody>
        </p:sp>
        <p:sp>
          <p:nvSpPr>
            <p:cNvPr id="54284" name="矩形 101419"/>
            <p:cNvSpPr/>
            <p:nvPr/>
          </p:nvSpPr>
          <p:spPr>
            <a:xfrm>
              <a:off x="1357" y="2483"/>
              <a:ext cx="1005" cy="255"/>
            </a:xfrm>
            <a:prstGeom prst="rect">
              <a:avLst/>
            </a:prstGeom>
            <a:noFill/>
            <a:ln w="9525">
              <a:noFill/>
            </a:ln>
          </p:spPr>
          <p:txBody>
            <a:bodyPr lIns="12700" tIns="12700" rIns="12700" bIns="12700" anchor="t" anchorCtr="0"/>
            <a:lstStyle/>
            <a:p>
              <a:pPr algn="just" eaLnBrk="0" hangingPunct="0"/>
              <a:r>
                <a:rPr lang="en-US" altLang="zh-CN" sz="2400">
                  <a:latin typeface="Times New Roman" panose="02020603050405020304" pitchFamily="18" charset="0"/>
                </a:rPr>
                <a:t>00000004H</a:t>
              </a:r>
            </a:p>
          </p:txBody>
        </p:sp>
        <p:sp>
          <p:nvSpPr>
            <p:cNvPr id="54285" name="直接连接符 101420"/>
            <p:cNvSpPr/>
            <p:nvPr/>
          </p:nvSpPr>
          <p:spPr>
            <a:xfrm>
              <a:off x="2326" y="3202"/>
              <a:ext cx="765" cy="0"/>
            </a:xfrm>
            <a:prstGeom prst="line">
              <a:avLst/>
            </a:prstGeom>
            <a:ln w="28575" cap="flat" cmpd="sng">
              <a:solidFill>
                <a:schemeClr val="tx1"/>
              </a:solidFill>
              <a:prstDash val="solid"/>
              <a:round/>
              <a:headEnd type="none" w="med" len="med"/>
              <a:tailEnd type="none" w="med" len="med"/>
            </a:ln>
          </p:spPr>
        </p:sp>
        <p:sp>
          <p:nvSpPr>
            <p:cNvPr id="54286" name="直接连接符 101421"/>
            <p:cNvSpPr/>
            <p:nvPr/>
          </p:nvSpPr>
          <p:spPr>
            <a:xfrm>
              <a:off x="2326" y="2975"/>
              <a:ext cx="765" cy="0"/>
            </a:xfrm>
            <a:prstGeom prst="line">
              <a:avLst/>
            </a:prstGeom>
            <a:ln w="28575" cap="flat" cmpd="sng">
              <a:solidFill>
                <a:schemeClr val="tx1"/>
              </a:solidFill>
              <a:prstDash val="solid"/>
              <a:round/>
              <a:headEnd type="none" w="med" len="med"/>
              <a:tailEnd type="none" w="med" len="med"/>
            </a:ln>
          </p:spPr>
        </p:sp>
        <p:sp>
          <p:nvSpPr>
            <p:cNvPr id="54287" name="直接连接符 101422"/>
            <p:cNvSpPr/>
            <p:nvPr/>
          </p:nvSpPr>
          <p:spPr>
            <a:xfrm>
              <a:off x="2326" y="2748"/>
              <a:ext cx="765" cy="0"/>
            </a:xfrm>
            <a:prstGeom prst="line">
              <a:avLst/>
            </a:prstGeom>
            <a:ln w="28575" cap="flat" cmpd="sng">
              <a:solidFill>
                <a:schemeClr val="tx1"/>
              </a:solidFill>
              <a:prstDash val="solid"/>
              <a:round/>
              <a:headEnd type="none" w="med" len="med"/>
              <a:tailEnd type="none" w="med" len="med"/>
            </a:ln>
          </p:spPr>
        </p:sp>
        <p:sp>
          <p:nvSpPr>
            <p:cNvPr id="54288" name="直接连接符 101423"/>
            <p:cNvSpPr/>
            <p:nvPr/>
          </p:nvSpPr>
          <p:spPr>
            <a:xfrm>
              <a:off x="2326" y="2521"/>
              <a:ext cx="765" cy="0"/>
            </a:xfrm>
            <a:prstGeom prst="line">
              <a:avLst/>
            </a:prstGeom>
            <a:ln w="28575" cap="flat" cmpd="sng">
              <a:solidFill>
                <a:schemeClr val="tx1"/>
              </a:solidFill>
              <a:prstDash val="solid"/>
              <a:round/>
              <a:headEnd type="none" w="med" len="med"/>
              <a:tailEnd type="none" w="med" len="med"/>
            </a:ln>
          </p:spPr>
        </p:sp>
        <p:sp>
          <p:nvSpPr>
            <p:cNvPr id="54289" name="直接连接符 101424"/>
            <p:cNvSpPr/>
            <p:nvPr/>
          </p:nvSpPr>
          <p:spPr>
            <a:xfrm>
              <a:off x="2326" y="1075"/>
              <a:ext cx="765" cy="0"/>
            </a:xfrm>
            <a:prstGeom prst="line">
              <a:avLst/>
            </a:prstGeom>
            <a:ln w="28575" cap="flat" cmpd="sng">
              <a:solidFill>
                <a:schemeClr val="tx1"/>
              </a:solidFill>
              <a:prstDash val="solid"/>
              <a:round/>
              <a:headEnd type="none" w="med" len="med"/>
              <a:tailEnd type="none" w="med" len="med"/>
            </a:ln>
          </p:spPr>
        </p:sp>
        <p:sp>
          <p:nvSpPr>
            <p:cNvPr id="54290" name="右大括号 101425"/>
            <p:cNvSpPr/>
            <p:nvPr/>
          </p:nvSpPr>
          <p:spPr>
            <a:xfrm>
              <a:off x="4260" y="2866"/>
              <a:ext cx="188" cy="685"/>
            </a:xfrm>
            <a:prstGeom prst="rightBrace">
              <a:avLst>
                <a:gd name="adj1" fmla="val 30296"/>
                <a:gd name="adj2" fmla="val 50000"/>
              </a:avLst>
            </a:prstGeom>
            <a:noFill/>
            <a:ln w="28575"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54291" name="文本框 101426"/>
            <p:cNvSpPr txBox="1"/>
            <p:nvPr/>
          </p:nvSpPr>
          <p:spPr>
            <a:xfrm>
              <a:off x="4448" y="3071"/>
              <a:ext cx="615" cy="290"/>
            </a:xfrm>
            <a:prstGeom prst="rect">
              <a:avLst/>
            </a:prstGeom>
            <a:noFill/>
            <a:ln w="12700">
              <a:noFill/>
            </a:ln>
          </p:spPr>
          <p:txBody>
            <a:bodyPr anchor="t" anchorCtr="0">
              <a:spAutoFit/>
            </a:bodyPr>
            <a:lstStyle/>
            <a:p>
              <a:r>
                <a:rPr lang="zh-CN" altLang="en-US" sz="2400" b="1" dirty="0">
                  <a:solidFill>
                    <a:srgbClr val="008000"/>
                  </a:solidFill>
                  <a:latin typeface="黑体" panose="02010609060101010101" pitchFamily="49" charset="-122"/>
                </a:rPr>
                <a:t>双字</a:t>
              </a:r>
            </a:p>
          </p:txBody>
        </p:sp>
        <p:sp>
          <p:nvSpPr>
            <p:cNvPr id="54292" name="文本框 101427"/>
            <p:cNvSpPr txBox="1"/>
            <p:nvPr/>
          </p:nvSpPr>
          <p:spPr>
            <a:xfrm>
              <a:off x="3295" y="3403"/>
              <a:ext cx="651" cy="290"/>
            </a:xfrm>
            <a:prstGeom prst="rect">
              <a:avLst/>
            </a:prstGeom>
            <a:noFill/>
            <a:ln w="12700">
              <a:noFill/>
            </a:ln>
          </p:spPr>
          <p:txBody>
            <a:bodyPr anchor="t" anchorCtr="0">
              <a:spAutoFit/>
            </a:bodyPr>
            <a:lstStyle/>
            <a:p>
              <a:r>
                <a:rPr lang="zh-CN" altLang="en-US" sz="2400" b="1" dirty="0">
                  <a:solidFill>
                    <a:srgbClr val="008000"/>
                  </a:solidFill>
                  <a:latin typeface="黑体" panose="02010609060101010101" pitchFamily="49" charset="-122"/>
                </a:rPr>
                <a:t>字节</a:t>
              </a:r>
            </a:p>
          </p:txBody>
        </p:sp>
        <p:sp>
          <p:nvSpPr>
            <p:cNvPr id="54293" name="文本框 101429"/>
            <p:cNvSpPr txBox="1"/>
            <p:nvPr/>
          </p:nvSpPr>
          <p:spPr>
            <a:xfrm>
              <a:off x="3919" y="3299"/>
              <a:ext cx="308" cy="290"/>
            </a:xfrm>
            <a:prstGeom prst="rect">
              <a:avLst/>
            </a:prstGeom>
            <a:noFill/>
            <a:ln w="12700">
              <a:noFill/>
            </a:ln>
          </p:spPr>
          <p:txBody>
            <a:bodyPr wrap="none" anchor="t" anchorCtr="0">
              <a:spAutoFit/>
            </a:bodyPr>
            <a:lstStyle/>
            <a:p>
              <a:r>
                <a:rPr lang="zh-CN" altLang="en-US" sz="2400" b="1" dirty="0">
                  <a:solidFill>
                    <a:srgbClr val="008000"/>
                  </a:solidFill>
                  <a:latin typeface="黑体" panose="02010609060101010101" pitchFamily="49" charset="-122"/>
                </a:rPr>
                <a:t>字</a:t>
              </a:r>
            </a:p>
          </p:txBody>
        </p:sp>
        <p:sp>
          <p:nvSpPr>
            <p:cNvPr id="54294" name="右大括号 101430"/>
            <p:cNvSpPr/>
            <p:nvPr/>
          </p:nvSpPr>
          <p:spPr>
            <a:xfrm>
              <a:off x="3758" y="3310"/>
              <a:ext cx="188" cy="288"/>
            </a:xfrm>
            <a:prstGeom prst="rightBrace">
              <a:avLst>
                <a:gd name="adj1" fmla="val 12737"/>
                <a:gd name="adj2" fmla="val 50000"/>
              </a:avLst>
            </a:prstGeom>
            <a:noFill/>
            <a:ln w="28575"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54295" name="文本框 101431"/>
            <p:cNvSpPr txBox="1"/>
            <p:nvPr/>
          </p:nvSpPr>
          <p:spPr>
            <a:xfrm>
              <a:off x="3295" y="3202"/>
              <a:ext cx="624" cy="290"/>
            </a:xfrm>
            <a:prstGeom prst="rect">
              <a:avLst/>
            </a:prstGeom>
            <a:noFill/>
            <a:ln w="12700">
              <a:noFill/>
            </a:ln>
          </p:spPr>
          <p:txBody>
            <a:bodyPr anchor="t" anchorCtr="0">
              <a:spAutoFit/>
            </a:bodyPr>
            <a:lstStyle/>
            <a:p>
              <a:r>
                <a:rPr lang="zh-CN" altLang="en-US" sz="2400" b="1" dirty="0">
                  <a:solidFill>
                    <a:srgbClr val="008000"/>
                  </a:solidFill>
                  <a:latin typeface="黑体" panose="02010609060101010101" pitchFamily="49" charset="-122"/>
                </a:rPr>
                <a:t>字节</a:t>
              </a:r>
              <a:endParaRPr lang="zh-CN" altLang="en-US" sz="2400" b="1" dirty="0">
                <a:solidFill>
                  <a:srgbClr val="008000"/>
                </a:solidFill>
                <a:latin typeface="楷体_GB2312" panose="02010609030101010101" pitchFamily="49" charset="-122"/>
                <a:ea typeface="楷体_GB2312" panose="02010609030101010101" pitchFamily="49" charset="-122"/>
              </a:endParaRPr>
            </a:p>
          </p:txBody>
        </p:sp>
        <p:grpSp>
          <p:nvGrpSpPr>
            <p:cNvPr id="54296" name="组合 101433"/>
            <p:cNvGrpSpPr/>
            <p:nvPr/>
          </p:nvGrpSpPr>
          <p:grpSpPr>
            <a:xfrm>
              <a:off x="3119" y="3350"/>
              <a:ext cx="176" cy="201"/>
              <a:chOff x="2761" y="3414"/>
              <a:chExt cx="299" cy="201"/>
            </a:xfrm>
          </p:grpSpPr>
          <p:sp>
            <p:nvSpPr>
              <p:cNvPr id="54297" name="直接连接符 101428"/>
              <p:cNvSpPr/>
              <p:nvPr/>
            </p:nvSpPr>
            <p:spPr>
              <a:xfrm flipH="1">
                <a:off x="2761" y="3615"/>
                <a:ext cx="299" cy="0"/>
              </a:xfrm>
              <a:prstGeom prst="line">
                <a:avLst/>
              </a:prstGeom>
              <a:ln w="19050" cap="flat" cmpd="sng">
                <a:solidFill>
                  <a:schemeClr val="tx1"/>
                </a:solidFill>
                <a:prstDash val="solid"/>
                <a:round/>
                <a:headEnd type="none" w="med" len="med"/>
                <a:tailEnd type="triangle" w="med" len="med"/>
              </a:ln>
            </p:spPr>
          </p:sp>
          <p:sp>
            <p:nvSpPr>
              <p:cNvPr id="54298" name="直接连接符 101432"/>
              <p:cNvSpPr/>
              <p:nvPr/>
            </p:nvSpPr>
            <p:spPr>
              <a:xfrm flipH="1">
                <a:off x="2761" y="3414"/>
                <a:ext cx="299" cy="0"/>
              </a:xfrm>
              <a:prstGeom prst="line">
                <a:avLst/>
              </a:prstGeom>
              <a:ln w="19050" cap="flat" cmpd="sng">
                <a:solidFill>
                  <a:schemeClr val="tx1"/>
                </a:solidFill>
                <a:prstDash val="solid"/>
                <a:round/>
                <a:headEnd type="none" w="med" len="med"/>
                <a:tailEnd type="triangle" w="med" len="med"/>
              </a:ln>
            </p:spPr>
          </p:sp>
        </p:grpSp>
        <p:sp>
          <p:nvSpPr>
            <p:cNvPr id="54299" name="文本框 101436"/>
            <p:cNvSpPr txBox="1"/>
            <p:nvPr/>
          </p:nvSpPr>
          <p:spPr>
            <a:xfrm>
              <a:off x="3295" y="2949"/>
              <a:ext cx="624" cy="290"/>
            </a:xfrm>
            <a:prstGeom prst="rect">
              <a:avLst/>
            </a:prstGeom>
            <a:noFill/>
            <a:ln w="12700">
              <a:noFill/>
            </a:ln>
          </p:spPr>
          <p:txBody>
            <a:bodyPr anchor="t" anchorCtr="0">
              <a:spAutoFit/>
            </a:bodyPr>
            <a:lstStyle/>
            <a:p>
              <a:r>
                <a:rPr lang="zh-CN" altLang="en-US" sz="2400" b="1" dirty="0">
                  <a:solidFill>
                    <a:srgbClr val="008000"/>
                  </a:solidFill>
                  <a:latin typeface="黑体" panose="02010609060101010101" pitchFamily="49" charset="-122"/>
                </a:rPr>
                <a:t>字节</a:t>
              </a:r>
              <a:endParaRPr lang="zh-CN" altLang="en-US" sz="2400" b="1" dirty="0">
                <a:solidFill>
                  <a:srgbClr val="008000"/>
                </a:solidFill>
                <a:latin typeface="楷体_GB2312" panose="02010609030101010101" pitchFamily="49" charset="-122"/>
                <a:ea typeface="楷体_GB2312" panose="02010609030101010101" pitchFamily="49" charset="-122"/>
              </a:endParaRPr>
            </a:p>
          </p:txBody>
        </p:sp>
        <p:sp>
          <p:nvSpPr>
            <p:cNvPr id="54300" name="文本框 101437"/>
            <p:cNvSpPr txBox="1"/>
            <p:nvPr/>
          </p:nvSpPr>
          <p:spPr>
            <a:xfrm>
              <a:off x="3919" y="2845"/>
              <a:ext cx="308" cy="290"/>
            </a:xfrm>
            <a:prstGeom prst="rect">
              <a:avLst/>
            </a:prstGeom>
            <a:noFill/>
            <a:ln w="12700">
              <a:noFill/>
            </a:ln>
          </p:spPr>
          <p:txBody>
            <a:bodyPr wrap="none" anchor="t" anchorCtr="0">
              <a:spAutoFit/>
            </a:bodyPr>
            <a:lstStyle/>
            <a:p>
              <a:r>
                <a:rPr lang="zh-CN" altLang="en-US" sz="2400" b="1" dirty="0">
                  <a:solidFill>
                    <a:srgbClr val="008000"/>
                  </a:solidFill>
                  <a:latin typeface="黑体" panose="02010609060101010101" pitchFamily="49" charset="-122"/>
                </a:rPr>
                <a:t>字</a:t>
              </a:r>
            </a:p>
          </p:txBody>
        </p:sp>
        <p:sp>
          <p:nvSpPr>
            <p:cNvPr id="54301" name="右大括号 101438"/>
            <p:cNvSpPr/>
            <p:nvPr/>
          </p:nvSpPr>
          <p:spPr>
            <a:xfrm>
              <a:off x="3758" y="2856"/>
              <a:ext cx="188" cy="288"/>
            </a:xfrm>
            <a:prstGeom prst="rightBrace">
              <a:avLst>
                <a:gd name="adj1" fmla="val 12737"/>
                <a:gd name="adj2" fmla="val 50000"/>
              </a:avLst>
            </a:prstGeom>
            <a:noFill/>
            <a:ln w="28575"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54302" name="文本框 101439"/>
            <p:cNvSpPr txBox="1"/>
            <p:nvPr/>
          </p:nvSpPr>
          <p:spPr>
            <a:xfrm>
              <a:off x="3295" y="2748"/>
              <a:ext cx="624" cy="290"/>
            </a:xfrm>
            <a:prstGeom prst="rect">
              <a:avLst/>
            </a:prstGeom>
            <a:noFill/>
            <a:ln w="12700">
              <a:noFill/>
            </a:ln>
          </p:spPr>
          <p:txBody>
            <a:bodyPr anchor="t" anchorCtr="0">
              <a:spAutoFit/>
            </a:bodyPr>
            <a:lstStyle/>
            <a:p>
              <a:r>
                <a:rPr lang="zh-CN" altLang="en-US" sz="2400" b="1" dirty="0">
                  <a:solidFill>
                    <a:srgbClr val="008000"/>
                  </a:solidFill>
                  <a:latin typeface="黑体" panose="02010609060101010101" pitchFamily="49" charset="-122"/>
                </a:rPr>
                <a:t>字节</a:t>
              </a:r>
            </a:p>
          </p:txBody>
        </p:sp>
        <p:grpSp>
          <p:nvGrpSpPr>
            <p:cNvPr id="54303" name="组合 101440"/>
            <p:cNvGrpSpPr/>
            <p:nvPr/>
          </p:nvGrpSpPr>
          <p:grpSpPr>
            <a:xfrm>
              <a:off x="3119" y="2896"/>
              <a:ext cx="176" cy="201"/>
              <a:chOff x="2761" y="3414"/>
              <a:chExt cx="299" cy="201"/>
            </a:xfrm>
          </p:grpSpPr>
          <p:sp>
            <p:nvSpPr>
              <p:cNvPr id="54304" name="直接连接符 101441"/>
              <p:cNvSpPr/>
              <p:nvPr/>
            </p:nvSpPr>
            <p:spPr>
              <a:xfrm flipH="1">
                <a:off x="2761" y="3615"/>
                <a:ext cx="299" cy="0"/>
              </a:xfrm>
              <a:prstGeom prst="line">
                <a:avLst/>
              </a:prstGeom>
              <a:ln w="19050" cap="flat" cmpd="sng">
                <a:solidFill>
                  <a:schemeClr val="tx1"/>
                </a:solidFill>
                <a:prstDash val="solid"/>
                <a:round/>
                <a:headEnd type="none" w="med" len="med"/>
                <a:tailEnd type="triangle" w="med" len="med"/>
              </a:ln>
            </p:spPr>
          </p:sp>
          <p:sp>
            <p:nvSpPr>
              <p:cNvPr id="54305" name="直接连接符 101442"/>
              <p:cNvSpPr/>
              <p:nvPr/>
            </p:nvSpPr>
            <p:spPr>
              <a:xfrm flipH="1">
                <a:off x="2761" y="3414"/>
                <a:ext cx="299" cy="0"/>
              </a:xfrm>
              <a:prstGeom prst="line">
                <a:avLst/>
              </a:prstGeom>
              <a:ln w="19050" cap="flat" cmpd="sng">
                <a:solidFill>
                  <a:schemeClr val="tx1"/>
                </a:solidFill>
                <a:prstDash val="solid"/>
                <a:round/>
                <a:headEnd type="none" w="med" len="med"/>
                <a:tailEnd type="triangle" w="med" len="med"/>
              </a:ln>
            </p:spPr>
          </p:sp>
        </p:gr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29235" y="692785"/>
            <a:ext cx="8771890" cy="5904865"/>
          </a:xfrm>
          <a:prstGeom prst="rect">
            <a:avLst/>
          </a:prstGeom>
        </p:spPr>
        <p:txBody>
          <a:bodyPr/>
          <a:lstStyle/>
          <a:p>
            <a:pPr marL="457200" indent="-457200" algn="just" latinLnBrk="0">
              <a:lnSpc>
                <a:spcPct val="120000"/>
              </a:lnSpc>
              <a:spcBef>
                <a:spcPts val="0"/>
              </a:spcBef>
              <a:buClr>
                <a:srgbClr val="0000FF"/>
              </a:buClr>
              <a:buSzPct val="100000"/>
              <a:buFont typeface="Wingdings" panose="05000000000000000000" pitchFamily="2" charset="2"/>
              <a:buChar char="Ø"/>
              <a:defRPr/>
            </a:pPr>
            <a:r>
              <a:rPr lang="en-US" altLang="zh-CN" sz="2800" dirty="0">
                <a:solidFill>
                  <a:schemeClr val="tx1"/>
                </a:solidFill>
                <a:latin typeface="+mn-lt"/>
              </a:rPr>
              <a:t>IA-32</a:t>
            </a:r>
            <a:r>
              <a:rPr lang="zh-CN" altLang="en-US" sz="2800" dirty="0">
                <a:solidFill>
                  <a:schemeClr val="tx1"/>
                </a:solidFill>
                <a:latin typeface="+mn-lt"/>
              </a:rPr>
              <a:t>提供</a:t>
            </a:r>
            <a:r>
              <a:rPr lang="en-US" altLang="zh-CN" sz="2800" dirty="0">
                <a:solidFill>
                  <a:schemeClr val="tx1"/>
                </a:solidFill>
                <a:latin typeface="+mn-lt"/>
              </a:rPr>
              <a:t>3</a:t>
            </a:r>
            <a:r>
              <a:rPr lang="zh-CN" altLang="en-US" sz="2800" dirty="0">
                <a:solidFill>
                  <a:schemeClr val="tx1"/>
                </a:solidFill>
                <a:latin typeface="+mn-lt"/>
              </a:rPr>
              <a:t>种存储模型，用于程序访问存储器</a:t>
            </a:r>
          </a:p>
          <a:p>
            <a:pPr marL="914400" lvl="1" indent="-457200" algn="just" latinLnBrk="0">
              <a:lnSpc>
                <a:spcPct val="120000"/>
              </a:lnSpc>
              <a:spcBef>
                <a:spcPts val="0"/>
              </a:spcBef>
              <a:buClr>
                <a:srgbClr val="0000FF"/>
              </a:buClr>
              <a:buFont typeface="Wingdings" panose="05000000000000000000" pitchFamily="2" charset="2"/>
              <a:buChar char="ü"/>
            </a:pPr>
            <a:r>
              <a:rPr lang="zh-CN" altLang="en-US" sz="2600" dirty="0">
                <a:latin typeface="+mn-lt"/>
              </a:rPr>
              <a:t>平展存储模型</a:t>
            </a:r>
            <a:r>
              <a:rPr lang="en-US" altLang="zh-CN" sz="2600" dirty="0">
                <a:latin typeface="+mn-lt"/>
              </a:rPr>
              <a:t>Flat Memory Model</a:t>
            </a:r>
          </a:p>
          <a:p>
            <a:pPr marL="1440180" lvl="1" indent="-457200" algn="just" latinLnBrk="0">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存储器是一个连续的地址空间，即线性地址空间</a:t>
            </a:r>
          </a:p>
          <a:p>
            <a:pPr marL="1440180" lvl="1" indent="-457200" algn="just" latinLnBrk="0">
              <a:lnSpc>
                <a:spcPct val="120000"/>
              </a:lnSpc>
              <a:spcBef>
                <a:spcPts val="0"/>
              </a:spcBef>
              <a:buClr>
                <a:srgbClr val="0000FF"/>
              </a:buClr>
              <a:buFont typeface="Arial" panose="020B0604020202020204" pitchFamily="34" charset="0"/>
              <a:buChar char="•"/>
            </a:pPr>
            <a:r>
              <a:rPr lang="en-US" altLang="zh-CN" sz="2400" dirty="0">
                <a:solidFill>
                  <a:schemeClr val="tx1"/>
                </a:solidFill>
                <a:latin typeface="+mn-lt"/>
              </a:rPr>
              <a:t>IA-32</a:t>
            </a:r>
            <a:r>
              <a:rPr lang="zh-CN" altLang="en-US" sz="2400" dirty="0">
                <a:solidFill>
                  <a:schemeClr val="tx1"/>
                </a:solidFill>
                <a:latin typeface="+mn-lt"/>
              </a:rPr>
              <a:t>处理器支持</a:t>
            </a:r>
            <a:r>
              <a:rPr lang="en-US" altLang="zh-CN" sz="2400" dirty="0">
                <a:solidFill>
                  <a:schemeClr val="tx1"/>
                </a:solidFill>
                <a:latin typeface="+mn-lt"/>
              </a:rPr>
              <a:t>4GB</a:t>
            </a:r>
            <a:r>
              <a:rPr lang="zh-CN" altLang="en-US" sz="2400" dirty="0">
                <a:solidFill>
                  <a:schemeClr val="tx1"/>
                </a:solidFill>
                <a:latin typeface="+mn-lt"/>
              </a:rPr>
              <a:t>容量线性地址空间（</a:t>
            </a:r>
            <a:r>
              <a:rPr lang="zh-CN" altLang="en-US" sz="2400" dirty="0">
                <a:solidFill>
                  <a:srgbClr val="FF0000"/>
                </a:solidFill>
                <a:latin typeface="+mn-lt"/>
              </a:rPr>
              <a:t>线性地址）</a:t>
            </a:r>
            <a:endParaRPr lang="en-US" altLang="zh-CN" sz="2400" dirty="0">
              <a:solidFill>
                <a:srgbClr val="FF0000"/>
              </a:solidFill>
              <a:latin typeface="+mn-lt"/>
            </a:endParaRPr>
          </a:p>
          <a:p>
            <a:pPr marL="914400" lvl="1" indent="-457200" algn="just" latinLnBrk="0">
              <a:lnSpc>
                <a:spcPct val="120000"/>
              </a:lnSpc>
              <a:spcBef>
                <a:spcPts val="0"/>
              </a:spcBef>
              <a:buClr>
                <a:srgbClr val="0000FF"/>
              </a:buClr>
              <a:buFont typeface="Wingdings" panose="05000000000000000000" pitchFamily="2" charset="2"/>
              <a:buChar char="ü"/>
            </a:pPr>
            <a:r>
              <a:rPr lang="zh-CN" altLang="en-US" sz="2600" dirty="0">
                <a:latin typeface="+mn-lt"/>
              </a:rPr>
              <a:t>段式存储模型</a:t>
            </a:r>
            <a:r>
              <a:rPr lang="en-US" altLang="zh-CN" sz="2600" dirty="0">
                <a:latin typeface="+mn-lt"/>
              </a:rPr>
              <a:t>Segmented Memory Model</a:t>
            </a:r>
          </a:p>
          <a:p>
            <a:pPr marL="1440180" lvl="1" indent="-457200" algn="just" latinLnBrk="0">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代码、数据和堆栈位于分开的段中</a:t>
            </a:r>
          </a:p>
          <a:p>
            <a:pPr marL="1440180" lvl="1" indent="-457200" algn="just" latinLnBrk="0">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程序利用</a:t>
            </a:r>
            <a:r>
              <a:rPr lang="zh-CN" altLang="en-US" sz="2400" dirty="0">
                <a:solidFill>
                  <a:srgbClr val="FF0000"/>
                </a:solidFill>
                <a:latin typeface="+mn-lt"/>
              </a:rPr>
              <a:t>逻辑地址</a:t>
            </a:r>
            <a:r>
              <a:rPr lang="zh-CN" altLang="en-US" sz="2400" dirty="0">
                <a:solidFill>
                  <a:schemeClr val="tx1"/>
                </a:solidFill>
                <a:latin typeface="+mn-lt"/>
              </a:rPr>
              <a:t>寻址段中的每个字节单元，，每个段都可以达到</a:t>
            </a:r>
            <a:r>
              <a:rPr lang="en-US" altLang="zh-CN" sz="2400" dirty="0">
                <a:solidFill>
                  <a:schemeClr val="tx1"/>
                </a:solidFill>
                <a:latin typeface="+mn-lt"/>
              </a:rPr>
              <a:t>4GB</a:t>
            </a:r>
            <a:r>
              <a:rPr lang="zh-CN" altLang="en-US" sz="2400" dirty="0">
                <a:solidFill>
                  <a:schemeClr val="tx1"/>
                </a:solidFill>
                <a:latin typeface="+mn-lt"/>
              </a:rPr>
              <a:t>容量</a:t>
            </a:r>
          </a:p>
          <a:p>
            <a:pPr marL="1440180" lvl="1" indent="-457200" algn="just" latinLnBrk="0">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所有段都被映射到线性地址空间，</a:t>
            </a:r>
            <a:r>
              <a:rPr lang="zh-CN" altLang="en-US" sz="2400" dirty="0">
                <a:solidFill>
                  <a:srgbClr val="FF0000"/>
                </a:solidFill>
                <a:latin typeface="+mn-lt"/>
              </a:rPr>
              <a:t>程序访问一个存储单元时，处理器会将逻辑地址转换成线性地址</a:t>
            </a:r>
            <a:endParaRPr lang="en-US" altLang="zh-CN" sz="2400" dirty="0">
              <a:solidFill>
                <a:srgbClr val="FF0000"/>
              </a:solidFill>
              <a:latin typeface="+mn-lt"/>
            </a:endParaRPr>
          </a:p>
          <a:p>
            <a:pPr marL="914400" lvl="1" indent="-457200" algn="just" latinLnBrk="0">
              <a:lnSpc>
                <a:spcPct val="120000"/>
              </a:lnSpc>
              <a:spcBef>
                <a:spcPts val="0"/>
              </a:spcBef>
              <a:buClr>
                <a:srgbClr val="0000FF"/>
              </a:buClr>
              <a:buFont typeface="Wingdings" panose="05000000000000000000" pitchFamily="2" charset="2"/>
              <a:buChar char="ü"/>
            </a:pPr>
            <a:r>
              <a:rPr lang="zh-CN" altLang="en-US" sz="2600" dirty="0">
                <a:latin typeface="+mn-lt"/>
              </a:rPr>
              <a:t>实地址存储模型</a:t>
            </a:r>
            <a:r>
              <a:rPr lang="en-US" altLang="zh-CN" sz="2600" dirty="0">
                <a:latin typeface="+mn-lt"/>
              </a:rPr>
              <a:t>Real-address Memory Model</a:t>
            </a:r>
          </a:p>
          <a:p>
            <a:pPr marL="1440180" lvl="1" indent="-457200" algn="just" latinLnBrk="0">
              <a:lnSpc>
                <a:spcPct val="120000"/>
              </a:lnSpc>
              <a:spcBef>
                <a:spcPts val="0"/>
              </a:spcBef>
              <a:buClr>
                <a:srgbClr val="0000FF"/>
              </a:buClr>
              <a:buFont typeface="Arial" panose="020B0604020202020204" pitchFamily="34" charset="0"/>
              <a:buChar char="•"/>
            </a:pPr>
            <a:r>
              <a:rPr lang="en-US" altLang="zh-CN" sz="2400" dirty="0">
                <a:solidFill>
                  <a:schemeClr val="tx1"/>
                </a:solidFill>
                <a:latin typeface="+mn-lt"/>
              </a:rPr>
              <a:t>8086</a:t>
            </a:r>
            <a:r>
              <a:rPr lang="zh-CN" altLang="en-US" sz="2400" dirty="0">
                <a:solidFill>
                  <a:schemeClr val="tx1"/>
                </a:solidFill>
                <a:latin typeface="+mn-lt"/>
              </a:rPr>
              <a:t>的存储模型，</a:t>
            </a:r>
            <a:r>
              <a:rPr lang="en-US" altLang="zh-CN" sz="2400" dirty="0">
                <a:solidFill>
                  <a:schemeClr val="tx1"/>
                </a:solidFill>
                <a:latin typeface="+mn-lt"/>
                <a:sym typeface="+mn-ea"/>
              </a:rPr>
              <a:t>IA-32</a:t>
            </a:r>
            <a:r>
              <a:rPr lang="zh-CN" altLang="en-US" sz="2400" dirty="0">
                <a:solidFill>
                  <a:schemeClr val="tx1"/>
                </a:solidFill>
                <a:latin typeface="+mn-lt"/>
                <a:sym typeface="+mn-ea"/>
              </a:rPr>
              <a:t>为了向前兼容所以支持</a:t>
            </a:r>
          </a:p>
          <a:p>
            <a:pPr marL="1440180" lvl="1" indent="-457200" algn="just" latinLnBrk="0">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线性地址空间最大</a:t>
            </a:r>
            <a:r>
              <a:rPr lang="en-US" altLang="zh-CN" sz="2400" dirty="0">
                <a:solidFill>
                  <a:schemeClr val="tx1"/>
                </a:solidFill>
                <a:latin typeface="+mn-lt"/>
              </a:rPr>
              <a:t>1MB</a:t>
            </a:r>
            <a:r>
              <a:rPr lang="zh-CN" altLang="en-US" sz="2400" dirty="0">
                <a:solidFill>
                  <a:schemeClr val="tx1"/>
                </a:solidFill>
                <a:latin typeface="+mn-lt"/>
              </a:rPr>
              <a:t>，由最大</a:t>
            </a:r>
            <a:r>
              <a:rPr lang="en-US" altLang="zh-CN" sz="2400" dirty="0">
                <a:solidFill>
                  <a:schemeClr val="tx1"/>
                </a:solidFill>
                <a:latin typeface="+mn-lt"/>
              </a:rPr>
              <a:t>64KB</a:t>
            </a:r>
            <a:r>
              <a:rPr lang="zh-CN" altLang="en-US" sz="2400" dirty="0">
                <a:solidFill>
                  <a:schemeClr val="tx1"/>
                </a:solidFill>
                <a:latin typeface="+mn-lt"/>
              </a:rPr>
              <a:t>的多个段组成</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存储模型</a:t>
            </a:r>
            <a:r>
              <a:rPr kumimoji="1" lang="en-US" altLang="zh-CN" b="0" i="0" u="none" strike="noStrike" kern="0" cap="none" spc="0" normalizeH="0" baseline="0" noProof="0" dirty="0">
                <a:ln>
                  <a:noFill/>
                </a:ln>
                <a:solidFill>
                  <a:srgbClr val="000000"/>
                </a:solidFill>
                <a:effectLst/>
                <a:uLnTx/>
                <a:uFillTx/>
                <a:latin typeface="+mj-lt"/>
                <a:cs typeface="+mj-cs"/>
              </a:rPr>
              <a:t>Memory Model</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42844" y="65332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42528" y="692696"/>
            <a:ext cx="8645376" cy="5904656"/>
          </a:xfrm>
          <a:prstGeom prst="rect">
            <a:avLst/>
          </a:prstGeom>
        </p:spPr>
        <p:txBody>
          <a:bodyPr/>
          <a:lstStyle/>
          <a:p>
            <a:pPr marL="457200" indent="-457200" algn="just">
              <a:lnSpc>
                <a:spcPct val="126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支持</a:t>
            </a:r>
            <a:r>
              <a:rPr lang="en-US" altLang="zh-CN" sz="2800" dirty="0">
                <a:solidFill>
                  <a:schemeClr val="tx1"/>
                </a:solidFill>
                <a:latin typeface="+mn-lt"/>
              </a:rPr>
              <a:t>3</a:t>
            </a:r>
            <a:r>
              <a:rPr lang="zh-CN" altLang="en-US" sz="2800" dirty="0">
                <a:solidFill>
                  <a:schemeClr val="tx1"/>
                </a:solidFill>
                <a:latin typeface="+mn-lt"/>
              </a:rPr>
              <a:t>种工作方式，决定可使用的指令和存储模型</a:t>
            </a:r>
          </a:p>
          <a:p>
            <a:pPr marL="914400" lvl="1" indent="-457200" algn="just">
              <a:lnSpc>
                <a:spcPct val="126000"/>
              </a:lnSpc>
              <a:spcBef>
                <a:spcPts val="0"/>
              </a:spcBef>
              <a:buClr>
                <a:srgbClr val="0000FF"/>
              </a:buClr>
              <a:buFont typeface="Wingdings" panose="05000000000000000000" pitchFamily="2" charset="2"/>
              <a:buChar char="ü"/>
            </a:pPr>
            <a:r>
              <a:rPr lang="zh-CN" altLang="en-US" sz="2500" dirty="0">
                <a:latin typeface="+mn-lt"/>
              </a:rPr>
              <a:t>保护方式（</a:t>
            </a:r>
            <a:r>
              <a:rPr lang="en-US" altLang="zh-CN" sz="2500" dirty="0">
                <a:latin typeface="+mn-lt"/>
              </a:rPr>
              <a:t>Protected Mode</a:t>
            </a:r>
            <a:r>
              <a:rPr lang="zh-CN" altLang="en-US" sz="2500" dirty="0">
                <a:latin typeface="+mn-lt"/>
              </a:rPr>
              <a:t>）</a:t>
            </a:r>
            <a:r>
              <a:rPr lang="en-US" altLang="zh-CN" sz="2500" dirty="0">
                <a:latin typeface="+mn-lt"/>
              </a:rPr>
              <a:t>— </a:t>
            </a:r>
            <a:r>
              <a:rPr lang="zh-CN" altLang="en-US" sz="2500" dirty="0">
                <a:latin typeface="+mn-lt"/>
              </a:rPr>
              <a:t>常态工作方式</a:t>
            </a:r>
            <a:endParaRPr lang="en-US" altLang="zh-CN" sz="2500" dirty="0">
              <a:latin typeface="+mn-lt"/>
            </a:endParaRP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chemeClr val="tx1"/>
                </a:solidFill>
                <a:latin typeface="+mn-lt"/>
              </a:rPr>
              <a:t>使用全部</a:t>
            </a:r>
            <a:r>
              <a:rPr lang="en-US" altLang="zh-CN" sz="2200" dirty="0">
                <a:solidFill>
                  <a:schemeClr val="tx1"/>
                </a:solidFill>
                <a:latin typeface="+mn-lt"/>
              </a:rPr>
              <a:t>32</a:t>
            </a:r>
            <a:r>
              <a:rPr lang="zh-CN" altLang="en-US" sz="2200" dirty="0">
                <a:solidFill>
                  <a:schemeClr val="tx1"/>
                </a:solidFill>
                <a:latin typeface="+mn-lt"/>
              </a:rPr>
              <a:t>条地址总线，可寻址</a:t>
            </a:r>
            <a:r>
              <a:rPr lang="en-US" altLang="zh-CN" sz="2200" dirty="0">
                <a:solidFill>
                  <a:schemeClr val="tx1"/>
                </a:solidFill>
                <a:latin typeface="+mn-lt"/>
              </a:rPr>
              <a:t>4GB</a:t>
            </a:r>
            <a:r>
              <a:rPr lang="zh-CN" altLang="en-US" sz="2200" dirty="0">
                <a:solidFill>
                  <a:schemeClr val="tx1"/>
                </a:solidFill>
                <a:latin typeface="+mn-lt"/>
              </a:rPr>
              <a:t>物理存储器</a:t>
            </a: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chemeClr val="tx1"/>
                </a:solidFill>
                <a:latin typeface="+mn-lt"/>
              </a:rPr>
              <a:t>具有强大的段页式存储管理以及特权与保护能力</a:t>
            </a: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rgbClr val="FF0000"/>
                </a:solidFill>
                <a:latin typeface="+mn-lt"/>
              </a:rPr>
              <a:t>使用平展或段式存储模型</a:t>
            </a: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rgbClr val="00B050"/>
                </a:solidFill>
                <a:latin typeface="+mn-lt"/>
              </a:rPr>
              <a:t>虚拟</a:t>
            </a:r>
            <a:r>
              <a:rPr lang="en-US" altLang="zh-CN" sz="2200" dirty="0">
                <a:solidFill>
                  <a:srgbClr val="00B050"/>
                </a:solidFill>
                <a:latin typeface="+mn-lt"/>
              </a:rPr>
              <a:t>8086</a:t>
            </a:r>
            <a:r>
              <a:rPr lang="zh-CN" altLang="en-US" sz="2200" dirty="0">
                <a:solidFill>
                  <a:srgbClr val="00B050"/>
                </a:solidFill>
                <a:latin typeface="+mn-lt"/>
              </a:rPr>
              <a:t>方式</a:t>
            </a:r>
            <a:r>
              <a:rPr lang="zh-CN" altLang="en-US" sz="2200" dirty="0">
                <a:solidFill>
                  <a:schemeClr val="tx1"/>
                </a:solidFill>
                <a:latin typeface="+mn-lt"/>
              </a:rPr>
              <a:t>：保护方式下的类似实地址方式的运行环境</a:t>
            </a:r>
          </a:p>
          <a:p>
            <a:pPr marL="914400" lvl="1" indent="-457200" algn="just">
              <a:lnSpc>
                <a:spcPct val="126000"/>
              </a:lnSpc>
              <a:spcBef>
                <a:spcPts val="0"/>
              </a:spcBef>
              <a:buClr>
                <a:srgbClr val="0000FF"/>
              </a:buClr>
              <a:buFont typeface="Wingdings" panose="05000000000000000000" pitchFamily="2" charset="2"/>
              <a:buChar char="ü"/>
            </a:pPr>
            <a:r>
              <a:rPr lang="zh-CN" altLang="en-US" sz="2500" dirty="0">
                <a:latin typeface="+mn-lt"/>
              </a:rPr>
              <a:t>实地址方式（</a:t>
            </a:r>
            <a:r>
              <a:rPr lang="en-US" altLang="zh-CN" sz="2500" dirty="0">
                <a:latin typeface="+mn-lt"/>
              </a:rPr>
              <a:t>Real-address Mode</a:t>
            </a:r>
            <a:r>
              <a:rPr lang="zh-CN" altLang="en-US" sz="2500" dirty="0">
                <a:latin typeface="+mn-lt"/>
              </a:rPr>
              <a:t>）</a:t>
            </a:r>
            <a:r>
              <a:rPr lang="en-US" altLang="zh-CN" sz="2500" dirty="0">
                <a:latin typeface="+mn-lt"/>
                <a:sym typeface="+mn-ea"/>
              </a:rPr>
              <a:t>— </a:t>
            </a:r>
            <a:r>
              <a:rPr lang="zh-CN" altLang="en-US" sz="2500" dirty="0">
                <a:latin typeface="+mn-lt"/>
                <a:sym typeface="+mn-ea"/>
              </a:rPr>
              <a:t>处理器复位</a:t>
            </a:r>
            <a:endParaRPr lang="en-US" altLang="zh-CN" sz="2500" dirty="0">
              <a:latin typeface="+mn-lt"/>
            </a:endParaRP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chemeClr val="tx1"/>
                </a:solidFill>
                <a:latin typeface="+mn-lt"/>
              </a:rPr>
              <a:t>仅使用地址总线的低</a:t>
            </a:r>
            <a:r>
              <a:rPr lang="en-US" altLang="zh-CN" sz="2200" dirty="0">
                <a:solidFill>
                  <a:schemeClr val="tx1"/>
                </a:solidFill>
                <a:latin typeface="+mn-lt"/>
              </a:rPr>
              <a:t>20</a:t>
            </a:r>
            <a:r>
              <a:rPr lang="zh-CN" altLang="en-US" sz="2200" dirty="0">
                <a:solidFill>
                  <a:schemeClr val="tx1"/>
                </a:solidFill>
                <a:latin typeface="+mn-lt"/>
              </a:rPr>
              <a:t>位，只能寻址</a:t>
            </a:r>
            <a:r>
              <a:rPr lang="en-US" altLang="zh-CN" sz="2200" dirty="0">
                <a:solidFill>
                  <a:schemeClr val="tx1"/>
                </a:solidFill>
                <a:latin typeface="+mn-lt"/>
              </a:rPr>
              <a:t>1MB</a:t>
            </a:r>
            <a:r>
              <a:rPr lang="zh-CN" altLang="en-US" sz="2200" dirty="0">
                <a:solidFill>
                  <a:schemeClr val="tx1"/>
                </a:solidFill>
                <a:latin typeface="+mn-lt"/>
              </a:rPr>
              <a:t>存储器</a:t>
            </a:r>
            <a:endParaRPr lang="en-US" altLang="zh-CN" sz="2200" dirty="0">
              <a:solidFill>
                <a:schemeClr val="tx1"/>
              </a:solidFill>
              <a:latin typeface="+mn-lt"/>
            </a:endParaRP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chemeClr val="tx1"/>
                </a:solidFill>
                <a:latin typeface="+mn-lt"/>
              </a:rPr>
              <a:t>只支持分段管理，每个段不超过</a:t>
            </a:r>
            <a:r>
              <a:rPr lang="en-US" altLang="zh-CN" sz="2200" dirty="0">
                <a:solidFill>
                  <a:schemeClr val="tx1"/>
                </a:solidFill>
                <a:latin typeface="+mn-lt"/>
              </a:rPr>
              <a:t>64KB</a:t>
            </a: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rgbClr val="00B050"/>
                </a:solidFill>
                <a:highlight>
                  <a:srgbClr val="FFFF00"/>
                </a:highlight>
                <a:latin typeface="+mn-lt"/>
              </a:rPr>
              <a:t>可使用</a:t>
            </a:r>
            <a:r>
              <a:rPr lang="en-US" altLang="zh-CN" sz="2200" dirty="0">
                <a:solidFill>
                  <a:srgbClr val="00B050"/>
                </a:solidFill>
                <a:highlight>
                  <a:srgbClr val="FFFF00"/>
                </a:highlight>
                <a:latin typeface="+mn-lt"/>
              </a:rPr>
              <a:t>32</a:t>
            </a:r>
            <a:r>
              <a:rPr lang="zh-CN" altLang="en-US" sz="2200" dirty="0">
                <a:solidFill>
                  <a:srgbClr val="00B050"/>
                </a:solidFill>
                <a:highlight>
                  <a:srgbClr val="FFFF00"/>
                </a:highlight>
                <a:latin typeface="+mn-lt"/>
              </a:rPr>
              <a:t>位寄存器</a:t>
            </a:r>
            <a:r>
              <a:rPr lang="zh-CN" altLang="en-US" sz="2200" dirty="0">
                <a:solidFill>
                  <a:schemeClr val="tx1"/>
                </a:solidFill>
                <a:latin typeface="+mn-lt"/>
              </a:rPr>
              <a:t>等，相当于可进行</a:t>
            </a:r>
            <a:r>
              <a:rPr lang="en-US" altLang="zh-CN" sz="2200" dirty="0">
                <a:solidFill>
                  <a:schemeClr val="tx1"/>
                </a:solidFill>
                <a:latin typeface="+mn-lt"/>
              </a:rPr>
              <a:t>32</a:t>
            </a:r>
            <a:r>
              <a:rPr lang="zh-CN" altLang="en-US" sz="2200" dirty="0">
                <a:solidFill>
                  <a:schemeClr val="tx1"/>
                </a:solidFill>
                <a:latin typeface="+mn-lt"/>
              </a:rPr>
              <a:t>位处理的</a:t>
            </a:r>
            <a:r>
              <a:rPr lang="en-US" altLang="zh-CN" sz="2200" dirty="0">
                <a:solidFill>
                  <a:schemeClr val="tx1"/>
                </a:solidFill>
                <a:latin typeface="+mn-lt"/>
              </a:rPr>
              <a:t>8086</a:t>
            </a: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rgbClr val="FF0000"/>
                </a:solidFill>
                <a:latin typeface="+mn-lt"/>
              </a:rPr>
              <a:t>只能支持实地址存储模型</a:t>
            </a:r>
          </a:p>
          <a:p>
            <a:pPr marL="914400" lvl="1" indent="-457200" algn="just">
              <a:lnSpc>
                <a:spcPct val="126000"/>
              </a:lnSpc>
              <a:spcBef>
                <a:spcPts val="0"/>
              </a:spcBef>
              <a:buClr>
                <a:srgbClr val="0000FF"/>
              </a:buClr>
              <a:buFont typeface="Wingdings" panose="05000000000000000000" pitchFamily="2" charset="2"/>
              <a:buChar char="ü"/>
            </a:pPr>
            <a:r>
              <a:rPr lang="zh-CN" altLang="en-US" sz="2500" dirty="0">
                <a:latin typeface="+mn-lt"/>
              </a:rPr>
              <a:t>系统管理方式（</a:t>
            </a:r>
            <a:r>
              <a:rPr lang="en-US" altLang="zh-CN" sz="2500" dirty="0">
                <a:latin typeface="+mn-lt"/>
              </a:rPr>
              <a:t>System Management Mode</a:t>
            </a:r>
            <a:r>
              <a:rPr lang="zh-CN" altLang="en-US" sz="2500" dirty="0">
                <a:latin typeface="+mn-lt"/>
              </a:rPr>
              <a:t>）</a:t>
            </a:r>
            <a:endParaRPr lang="zh-CN" altLang="en-US" sz="2500" dirty="0">
              <a:solidFill>
                <a:schemeClr val="tx1"/>
              </a:solidFill>
              <a:latin typeface="+mn-lt"/>
            </a:endParaRPr>
          </a:p>
          <a:p>
            <a:pPr marL="1440180" lvl="1" indent="-457200" algn="just">
              <a:lnSpc>
                <a:spcPct val="126000"/>
              </a:lnSpc>
              <a:spcBef>
                <a:spcPts val="0"/>
              </a:spcBef>
              <a:buClr>
                <a:srgbClr val="0000FF"/>
              </a:buClr>
              <a:buFont typeface="Arial" panose="020B0604020202020204" pitchFamily="34" charset="0"/>
              <a:buChar char="•"/>
            </a:pPr>
            <a:r>
              <a:rPr lang="zh-CN" altLang="en-US" sz="2200" dirty="0">
                <a:solidFill>
                  <a:schemeClr val="tx1"/>
                </a:solidFill>
                <a:latin typeface="+mn-lt"/>
              </a:rPr>
              <a:t>实现节能和系统安全管理</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工作方式</a:t>
            </a:r>
            <a:r>
              <a:rPr kumimoji="1" lang="en-US" altLang="zh-CN" b="0" i="0" u="none" strike="noStrike" kern="0" cap="none" spc="0" normalizeH="0" baseline="0" noProof="0" dirty="0">
                <a:ln>
                  <a:noFill/>
                </a:ln>
                <a:solidFill>
                  <a:srgbClr val="000000"/>
                </a:solidFill>
                <a:effectLst/>
                <a:uLnTx/>
                <a:uFillTx/>
                <a:latin typeface="+mj-lt"/>
                <a:cs typeface="+mj-cs"/>
              </a:rPr>
              <a:t>Processor Modes</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42844" y="695489"/>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395536" y="652113"/>
            <a:ext cx="8352928" cy="3442072"/>
          </a:xfrm>
          <a:prstGeom prst="rect">
            <a:avLst/>
          </a:prstGeom>
          <a:noFill/>
        </p:spPr>
        <p:txBody>
          <a:bodyPr vert="horz" wrap="square" rtlCol="0" anchor="ctr" anchorCtr="0">
            <a:noAutofit/>
          </a:bodyPr>
          <a:lstStyle/>
          <a:p>
            <a:pPr algn="just">
              <a:lnSpc>
                <a:spcPct val="150000"/>
              </a:lnSpc>
            </a:pPr>
            <a:r>
              <a:rPr lang="en-US" altLang="zh-CN" sz="2800" dirty="0">
                <a:solidFill>
                  <a:srgbClr val="000000"/>
                </a:solidFill>
                <a:latin typeface="黑体" panose="02010609060101010101" pitchFamily="49" charset="-122"/>
                <a:sym typeface="微软雅黑" panose="020B0503020204020204" charset="-122"/>
              </a:rPr>
              <a:t>IA-32</a:t>
            </a:r>
            <a:r>
              <a:rPr lang="zh-CN" altLang="en-US" sz="2800" dirty="0">
                <a:solidFill>
                  <a:srgbClr val="000000"/>
                </a:solidFill>
                <a:latin typeface="黑体" panose="02010609060101010101" pitchFamily="49" charset="-122"/>
                <a:sym typeface="微软雅黑" panose="020B0503020204020204" charset="-122"/>
              </a:rPr>
              <a:t>处理器在保护模式采用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1]</a:t>
            </a:r>
            <a:r>
              <a:rPr lang="zh-CN" altLang="en-US" sz="2800" dirty="0">
                <a:solidFill>
                  <a:srgbClr val="000000"/>
                </a:solidFill>
                <a:latin typeface="黑体" panose="02010609060101010101" pitchFamily="49" charset="-122"/>
                <a:sym typeface="微软雅黑" panose="020B0503020204020204" charset="-122"/>
              </a:rPr>
              <a:t> 存储模型，而在实地址模式下则采用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2]</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存储模型。</a:t>
            </a:r>
          </a:p>
        </p:txBody>
      </p:sp>
      <p:sp>
        <p:nvSpPr>
          <p:cNvPr id="5" name="矩形: 圆角 4"/>
          <p:cNvSpPr/>
          <p:nvPr>
            <p:custDataLst>
              <p:tags r:id="rId3"/>
            </p:custDataLst>
          </p:nvPr>
        </p:nvSpPr>
        <p:spPr bwMode="auto">
          <a:xfrm>
            <a:off x="6341318" y="5321776"/>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692696"/>
            <a:ext cx="8136904" cy="5472608"/>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程序员编程时采用</a:t>
            </a:r>
            <a:r>
              <a:rPr lang="zh-CN" altLang="en-US" sz="2800" dirty="0">
                <a:solidFill>
                  <a:srgbClr val="FF0000"/>
                </a:solidFill>
                <a:latin typeface="+mn-lt"/>
              </a:rPr>
              <a:t>逻辑地址</a:t>
            </a: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逻辑地址＝段基地址∶偏移地址</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段基地址</a:t>
            </a:r>
            <a:r>
              <a:rPr lang="en-US" altLang="zh-CN" sz="2400" dirty="0">
                <a:solidFill>
                  <a:srgbClr val="FF0000"/>
                </a:solidFill>
                <a:latin typeface="+mn-lt"/>
              </a:rPr>
              <a:t>(Segment Base Address) </a:t>
            </a:r>
            <a:r>
              <a:rPr lang="zh-CN" altLang="en-US" sz="2400" dirty="0">
                <a:solidFill>
                  <a:schemeClr val="tx1"/>
                </a:solidFill>
                <a:latin typeface="+mn-lt"/>
              </a:rPr>
              <a:t>＝ 段在主存中的</a:t>
            </a:r>
            <a:r>
              <a:rPr lang="zh-CN" altLang="en-US" sz="2400" dirty="0">
                <a:solidFill>
                  <a:srgbClr val="FF0000"/>
                </a:solidFill>
                <a:latin typeface="+mn-lt"/>
              </a:rPr>
              <a:t>起始地址</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00B050"/>
                </a:solidFill>
                <a:latin typeface="+mn-lt"/>
              </a:rPr>
              <a:t>偏移地址</a:t>
            </a:r>
            <a:r>
              <a:rPr lang="en-US" altLang="zh-CN" sz="2400" dirty="0">
                <a:solidFill>
                  <a:srgbClr val="00B050"/>
                </a:solidFill>
                <a:latin typeface="+mn-lt"/>
              </a:rPr>
              <a:t>(Offset Address) </a:t>
            </a:r>
            <a:r>
              <a:rPr lang="zh-CN" altLang="en-US" sz="2400" dirty="0">
                <a:solidFill>
                  <a:schemeClr val="tx1"/>
                </a:solidFill>
                <a:latin typeface="+mn-lt"/>
              </a:rPr>
              <a:t>＝ 段内位置、距离段基地址的</a:t>
            </a:r>
            <a:r>
              <a:rPr lang="zh-CN" altLang="en-US" sz="2400" dirty="0">
                <a:solidFill>
                  <a:srgbClr val="00B050"/>
                </a:solidFill>
                <a:latin typeface="+mn-lt"/>
              </a:rPr>
              <a:t>位移量</a:t>
            </a: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一个存储单元可以有多个逻辑地址，但只有一个唯一的物理地址</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逻辑地址</a:t>
            </a:r>
            <a:r>
              <a:rPr kumimoji="1" lang="en-US" altLang="zh-CN" b="0" i="0" u="none" strike="noStrike" kern="0" cap="none" spc="0" normalizeH="0" baseline="0" noProof="0" dirty="0">
                <a:ln>
                  <a:noFill/>
                </a:ln>
                <a:solidFill>
                  <a:srgbClr val="000000"/>
                </a:solidFill>
                <a:effectLst/>
                <a:uLnTx/>
                <a:uFillTx/>
                <a:latin typeface="+mj-lt"/>
                <a:cs typeface="+mj-cs"/>
              </a:rPr>
              <a:t>Logical Address</a:t>
            </a:r>
          </a:p>
          <a:p>
            <a:pPr lvl="0">
              <a:defRPr/>
            </a:pP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 name="Group 16"/>
          <p:cNvGrpSpPr/>
          <p:nvPr/>
        </p:nvGrpSpPr>
        <p:grpSpPr bwMode="auto">
          <a:xfrm>
            <a:off x="971600" y="4941168"/>
            <a:ext cx="7488832" cy="957263"/>
            <a:chOff x="725" y="2893"/>
            <a:chExt cx="4420" cy="603"/>
          </a:xfrm>
        </p:grpSpPr>
        <p:sp>
          <p:nvSpPr>
            <p:cNvPr id="4" name="AutoShape 6"/>
            <p:cNvSpPr>
              <a:spLocks noChangeArrowheads="1"/>
            </p:cNvSpPr>
            <p:nvPr/>
          </p:nvSpPr>
          <p:spPr bwMode="auto">
            <a:xfrm>
              <a:off x="725" y="3224"/>
              <a:ext cx="1191" cy="272"/>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p:spPr>
          <p:txBody>
            <a:bodyPr lIns="90000" tIns="46800" rIns="90000" bIns="46800">
              <a:spAutoFit/>
            </a:bodyPr>
            <a:lstStyle/>
            <a:p>
              <a:pPr algn="ctr" eaLnBrk="1" hangingPunct="1">
                <a:lnSpc>
                  <a:spcPct val="80000"/>
                </a:lnSpc>
                <a:defRPr/>
              </a:pPr>
              <a:r>
                <a:rPr lang="zh-CN" altLang="en-US" sz="2400" b="1" dirty="0">
                  <a:solidFill>
                    <a:schemeClr val="bg1"/>
                  </a:solidFill>
                  <a:effectLst>
                    <a:outerShdw blurRad="38100" dist="38100" dir="2700000" algn="tl">
                      <a:srgbClr val="000000"/>
                    </a:outerShdw>
                  </a:effectLst>
                  <a:latin typeface="黑体" panose="02010609060101010101" pitchFamily="49" charset="-122"/>
                </a:rPr>
                <a:t>逻辑地址</a:t>
              </a:r>
            </a:p>
          </p:txBody>
        </p:sp>
        <p:sp>
          <p:nvSpPr>
            <p:cNvPr id="5" name="AutoShape 7"/>
            <p:cNvSpPr>
              <a:spLocks noChangeArrowheads="1"/>
            </p:cNvSpPr>
            <p:nvPr/>
          </p:nvSpPr>
          <p:spPr bwMode="auto">
            <a:xfrm>
              <a:off x="2258" y="3222"/>
              <a:ext cx="1106" cy="272"/>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p:spPr>
          <p:txBody>
            <a:bodyPr lIns="90000" tIns="46800" rIns="90000" bIns="46800">
              <a:spAutoFit/>
            </a:bodyPr>
            <a:lstStyle/>
            <a:p>
              <a:pPr algn="ctr" eaLnBrk="1" hangingPunct="1">
                <a:lnSpc>
                  <a:spcPct val="80000"/>
                </a:lnSpc>
                <a:defRPr/>
              </a:pPr>
              <a:r>
                <a:rPr lang="zh-CN" altLang="en-US" sz="2400" b="1" dirty="0">
                  <a:solidFill>
                    <a:schemeClr val="bg1"/>
                  </a:solidFill>
                  <a:effectLst>
                    <a:outerShdw blurRad="38100" dist="38100" dir="2700000" algn="tl">
                      <a:srgbClr val="000000"/>
                    </a:outerShdw>
                  </a:effectLst>
                  <a:latin typeface="黑体" panose="02010609060101010101" pitchFamily="49" charset="-122"/>
                </a:rPr>
                <a:t>线性地址</a:t>
              </a:r>
            </a:p>
          </p:txBody>
        </p:sp>
        <p:sp>
          <p:nvSpPr>
            <p:cNvPr id="9" name="AutoShape 8"/>
            <p:cNvSpPr>
              <a:spLocks noChangeArrowheads="1"/>
            </p:cNvSpPr>
            <p:nvPr/>
          </p:nvSpPr>
          <p:spPr bwMode="auto">
            <a:xfrm>
              <a:off x="3786" y="3222"/>
              <a:ext cx="1083" cy="272"/>
            </a:xfrm>
            <a:prstGeom prst="flowChartAlternateProcess">
              <a:avLst/>
            </a:prstGeom>
            <a:gradFill rotWithShape="1">
              <a:gsLst>
                <a:gs pos="0">
                  <a:schemeClr val="accent1">
                    <a:gamma/>
                    <a:shade val="54510"/>
                    <a:invGamma/>
                  </a:schemeClr>
                </a:gs>
                <a:gs pos="50000">
                  <a:schemeClr val="accent1"/>
                </a:gs>
                <a:gs pos="100000">
                  <a:schemeClr val="accent1">
                    <a:gamma/>
                    <a:shade val="54510"/>
                    <a:invGamma/>
                  </a:schemeClr>
                </a:gs>
              </a:gsLst>
              <a:lin ang="18900000" scaled="1"/>
            </a:gradFill>
            <a:ln w="9525">
              <a:solidFill>
                <a:schemeClr val="folHlink"/>
              </a:solidFill>
              <a:miter lim="800000"/>
              <a:headEnd type="none" w="sm" len="sm"/>
              <a:tailEnd type="none" w="sm" len="sm"/>
            </a:ln>
            <a:effectLst/>
          </p:spPr>
          <p:txBody>
            <a:bodyPr lIns="90000" tIns="46800" rIns="90000" bIns="46800">
              <a:spAutoFit/>
            </a:bodyPr>
            <a:lstStyle/>
            <a:p>
              <a:pPr algn="ctr" eaLnBrk="1" hangingPunct="1">
                <a:lnSpc>
                  <a:spcPct val="80000"/>
                </a:lnSpc>
                <a:defRPr/>
              </a:pPr>
              <a:r>
                <a:rPr lang="zh-CN" altLang="en-US" sz="2400" b="1" dirty="0">
                  <a:solidFill>
                    <a:schemeClr val="bg1"/>
                  </a:solidFill>
                  <a:effectLst>
                    <a:outerShdw blurRad="38100" dist="38100" dir="2700000" algn="tl">
                      <a:srgbClr val="000000"/>
                    </a:outerShdw>
                  </a:effectLst>
                  <a:latin typeface="黑体" panose="02010609060101010101" pitchFamily="49" charset="-122"/>
                </a:rPr>
                <a:t>物理地址</a:t>
              </a:r>
            </a:p>
          </p:txBody>
        </p:sp>
        <p:sp>
          <p:nvSpPr>
            <p:cNvPr id="10" name="Line 9"/>
            <p:cNvSpPr>
              <a:spLocks noChangeShapeType="1"/>
            </p:cNvSpPr>
            <p:nvPr/>
          </p:nvSpPr>
          <p:spPr bwMode="auto">
            <a:xfrm>
              <a:off x="1916" y="3370"/>
              <a:ext cx="341" cy="0"/>
            </a:xfrm>
            <a:prstGeom prst="line">
              <a:avLst/>
            </a:prstGeom>
            <a:noFill/>
            <a:ln w="28575">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1" name="Line 10"/>
            <p:cNvSpPr>
              <a:spLocks noChangeShapeType="1"/>
            </p:cNvSpPr>
            <p:nvPr/>
          </p:nvSpPr>
          <p:spPr bwMode="auto">
            <a:xfrm>
              <a:off x="3363" y="3370"/>
              <a:ext cx="423" cy="0"/>
            </a:xfrm>
            <a:prstGeom prst="line">
              <a:avLst/>
            </a:prstGeom>
            <a:noFill/>
            <a:ln w="28575">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12" name="Line 11"/>
            <p:cNvSpPr>
              <a:spLocks noChangeShapeType="1"/>
            </p:cNvSpPr>
            <p:nvPr/>
          </p:nvSpPr>
          <p:spPr bwMode="auto">
            <a:xfrm>
              <a:off x="4862" y="3357"/>
              <a:ext cx="283" cy="0"/>
            </a:xfrm>
            <a:prstGeom prst="line">
              <a:avLst/>
            </a:prstGeom>
            <a:noFill/>
            <a:ln w="28575">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13" name="Text Box 13"/>
            <p:cNvSpPr txBox="1">
              <a:spLocks noChangeArrowheads="1"/>
            </p:cNvSpPr>
            <p:nvPr/>
          </p:nvSpPr>
          <p:spPr bwMode="auto">
            <a:xfrm>
              <a:off x="895" y="2893"/>
              <a:ext cx="83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400" b="0" dirty="0">
                  <a:solidFill>
                    <a:srgbClr val="0000FF"/>
                  </a:solidFill>
                  <a:latin typeface="+mn-lt"/>
                  <a:ea typeface="黑体" panose="02010609060101010101" pitchFamily="49" charset="-122"/>
                </a:rPr>
                <a:t>编程使用</a:t>
              </a:r>
            </a:p>
          </p:txBody>
        </p:sp>
        <p:sp>
          <p:nvSpPr>
            <p:cNvPr id="14" name="Text Box 14"/>
            <p:cNvSpPr txBox="1">
              <a:spLocks noChangeArrowheads="1"/>
            </p:cNvSpPr>
            <p:nvPr/>
          </p:nvSpPr>
          <p:spPr bwMode="auto">
            <a:xfrm>
              <a:off x="2298" y="2893"/>
              <a:ext cx="10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400" b="0" dirty="0">
                  <a:solidFill>
                    <a:srgbClr val="0000FF"/>
                  </a:solidFill>
                  <a:latin typeface="+mn-lt"/>
                  <a:ea typeface="黑体" panose="02010609060101010101" pitchFamily="49" charset="-122"/>
                </a:rPr>
                <a:t>处理器转换</a:t>
              </a:r>
            </a:p>
          </p:txBody>
        </p:sp>
        <p:sp>
          <p:nvSpPr>
            <p:cNvPr id="15" name="Text Box 15"/>
            <p:cNvSpPr txBox="1">
              <a:spLocks noChangeArrowheads="1"/>
            </p:cNvSpPr>
            <p:nvPr/>
          </p:nvSpPr>
          <p:spPr bwMode="auto">
            <a:xfrm>
              <a:off x="3737" y="2893"/>
              <a:ext cx="11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400" b="0" dirty="0">
                  <a:solidFill>
                    <a:srgbClr val="0000FF"/>
                  </a:solidFill>
                  <a:latin typeface="+mn-lt"/>
                  <a:ea typeface="黑体" panose="02010609060101010101" pitchFamily="49" charset="-122"/>
                </a:rPr>
                <a:t>地址总线输出</a:t>
              </a:r>
            </a:p>
          </p:txBody>
        </p:sp>
      </p:grpSp>
      <p:sp>
        <p:nvSpPr>
          <p:cNvPr id="16" name="文本框 15"/>
          <p:cNvSpPr txBox="1"/>
          <p:nvPr/>
        </p:nvSpPr>
        <p:spPr>
          <a:xfrm>
            <a:off x="953484" y="5975501"/>
            <a:ext cx="2144145" cy="461665"/>
          </a:xfrm>
          <a:prstGeom prst="rect">
            <a:avLst/>
          </a:prstGeom>
          <a:noFill/>
        </p:spPr>
        <p:txBody>
          <a:bodyPr wrap="square">
            <a:spAutoFit/>
          </a:bodyPr>
          <a:lstStyle/>
          <a:p>
            <a:r>
              <a:rPr lang="en-US" altLang="zh-CN" sz="2400" dirty="0">
                <a:solidFill>
                  <a:srgbClr val="00B050"/>
                </a:solidFill>
              </a:rPr>
              <a:t>Logical address</a:t>
            </a:r>
            <a:endParaRPr lang="zh-CN" altLang="en-US" sz="2400" dirty="0">
              <a:solidFill>
                <a:srgbClr val="00B050"/>
              </a:solidFill>
            </a:endParaRPr>
          </a:p>
        </p:txBody>
      </p:sp>
      <p:sp>
        <p:nvSpPr>
          <p:cNvPr id="17" name="文本框 16"/>
          <p:cNvSpPr txBox="1"/>
          <p:nvPr/>
        </p:nvSpPr>
        <p:spPr>
          <a:xfrm>
            <a:off x="3491880" y="5978676"/>
            <a:ext cx="2144145" cy="461665"/>
          </a:xfrm>
          <a:prstGeom prst="rect">
            <a:avLst/>
          </a:prstGeom>
          <a:noFill/>
        </p:spPr>
        <p:txBody>
          <a:bodyPr wrap="square">
            <a:spAutoFit/>
          </a:bodyPr>
          <a:lstStyle/>
          <a:p>
            <a:r>
              <a:rPr lang="en-US" altLang="zh-CN" sz="2400" dirty="0">
                <a:solidFill>
                  <a:srgbClr val="00B050"/>
                </a:solidFill>
              </a:rPr>
              <a:t>Linear address</a:t>
            </a:r>
            <a:endParaRPr lang="zh-CN" altLang="en-US" sz="2400" dirty="0">
              <a:solidFill>
                <a:srgbClr val="00B050"/>
              </a:solidFill>
            </a:endParaRPr>
          </a:p>
        </p:txBody>
      </p:sp>
      <p:sp>
        <p:nvSpPr>
          <p:cNvPr id="19" name="文本框 18"/>
          <p:cNvSpPr txBox="1"/>
          <p:nvPr/>
        </p:nvSpPr>
        <p:spPr>
          <a:xfrm>
            <a:off x="6032651" y="5969141"/>
            <a:ext cx="2229785" cy="461665"/>
          </a:xfrm>
          <a:prstGeom prst="rect">
            <a:avLst/>
          </a:prstGeom>
          <a:noFill/>
        </p:spPr>
        <p:txBody>
          <a:bodyPr wrap="square">
            <a:spAutoFit/>
          </a:bodyPr>
          <a:lstStyle/>
          <a:p>
            <a:r>
              <a:rPr lang="en-US" altLang="zh-CN" sz="2400" dirty="0">
                <a:solidFill>
                  <a:srgbClr val="00B050"/>
                </a:solidFill>
              </a:rPr>
              <a:t>Physical address</a:t>
            </a:r>
            <a:endParaRPr lang="zh-CN" altLang="en-US" sz="2400" dirty="0">
              <a:solidFill>
                <a:srgbClr val="00B050"/>
              </a:solidFill>
            </a:endParaRPr>
          </a:p>
        </p:txBody>
      </p:sp>
      <p:sp>
        <p:nvSpPr>
          <p:cNvPr id="3" name="文本框 2"/>
          <p:cNvSpPr txBox="1"/>
          <p:nvPr/>
        </p:nvSpPr>
        <p:spPr>
          <a:xfrm>
            <a:off x="5541146" y="5271756"/>
            <a:ext cx="613338" cy="830997"/>
          </a:xfrm>
          <a:prstGeom prst="rect">
            <a:avLst/>
          </a:prstGeom>
          <a:noFill/>
        </p:spPr>
        <p:txBody>
          <a:bodyPr wrap="square">
            <a:spAutoFit/>
          </a:bodyPr>
          <a:lstStyle/>
          <a:p>
            <a:r>
              <a:rPr lang="zh-CN" altLang="en-US" sz="2400" dirty="0">
                <a:solidFill>
                  <a:srgbClr val="FF0000"/>
                </a:solidFill>
              </a:rPr>
              <a:t>分页</a:t>
            </a:r>
          </a:p>
        </p:txBody>
      </p:sp>
      <p:sp>
        <p:nvSpPr>
          <p:cNvPr id="18" name="文本框 17"/>
          <p:cNvSpPr txBox="1"/>
          <p:nvPr/>
        </p:nvSpPr>
        <p:spPr>
          <a:xfrm>
            <a:off x="3022558" y="5273450"/>
            <a:ext cx="613338" cy="830997"/>
          </a:xfrm>
          <a:prstGeom prst="rect">
            <a:avLst/>
          </a:prstGeom>
          <a:noFill/>
        </p:spPr>
        <p:txBody>
          <a:bodyPr wrap="square">
            <a:spAutoFit/>
          </a:bodyPr>
          <a:lstStyle/>
          <a:p>
            <a:r>
              <a:rPr lang="zh-CN" altLang="en-US" sz="2400" dirty="0">
                <a:solidFill>
                  <a:srgbClr val="FF0000"/>
                </a:solidFill>
              </a:rPr>
              <a:t>分段</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逻辑地址与物理地址</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3" name="Group 8"/>
          <p:cNvGrpSpPr/>
          <p:nvPr/>
        </p:nvGrpSpPr>
        <p:grpSpPr bwMode="auto">
          <a:xfrm>
            <a:off x="395536" y="980728"/>
            <a:ext cx="8281045" cy="5337362"/>
            <a:chOff x="113" y="572"/>
            <a:chExt cx="5534" cy="3402"/>
          </a:xfrm>
        </p:grpSpPr>
        <p:sp>
          <p:nvSpPr>
            <p:cNvPr id="16" name="Rectangle 9"/>
            <p:cNvSpPr>
              <a:spLocks noChangeArrowheads="1"/>
            </p:cNvSpPr>
            <p:nvPr/>
          </p:nvSpPr>
          <p:spPr bwMode="auto">
            <a:xfrm>
              <a:off x="113" y="572"/>
              <a:ext cx="5534" cy="340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endParaRPr lang="zh-CN" altLang="en-US" sz="1800" b="0">
                <a:latin typeface="Arial" panose="020B0604020202020204" pitchFamily="34" charset="0"/>
              </a:endParaRPr>
            </a:p>
          </p:txBody>
        </p:sp>
        <p:grpSp>
          <p:nvGrpSpPr>
            <p:cNvPr id="17" name="Group 10"/>
            <p:cNvGrpSpPr/>
            <p:nvPr/>
          </p:nvGrpSpPr>
          <p:grpSpPr bwMode="auto">
            <a:xfrm>
              <a:off x="113" y="592"/>
              <a:ext cx="5534" cy="3110"/>
              <a:chOff x="113" y="592"/>
              <a:chExt cx="5534" cy="3110"/>
            </a:xfrm>
          </p:grpSpPr>
          <p:sp>
            <p:nvSpPr>
              <p:cNvPr id="18" name="Rectangle 11"/>
              <p:cNvSpPr>
                <a:spLocks noChangeArrowheads="1"/>
              </p:cNvSpPr>
              <p:nvPr/>
            </p:nvSpPr>
            <p:spPr bwMode="auto">
              <a:xfrm>
                <a:off x="3968" y="1698"/>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108</a:t>
                </a:r>
              </a:p>
            </p:txBody>
          </p:sp>
          <p:sp>
            <p:nvSpPr>
              <p:cNvPr id="19" name="Rectangle 12"/>
              <p:cNvSpPr>
                <a:spLocks noChangeArrowheads="1"/>
              </p:cNvSpPr>
              <p:nvPr/>
            </p:nvSpPr>
            <p:spPr bwMode="auto">
              <a:xfrm>
                <a:off x="3968" y="1372"/>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208</a:t>
                </a:r>
              </a:p>
            </p:txBody>
          </p:sp>
          <p:sp>
            <p:nvSpPr>
              <p:cNvPr id="20" name="Rectangle 13"/>
              <p:cNvSpPr>
                <a:spLocks noChangeArrowheads="1"/>
              </p:cNvSpPr>
              <p:nvPr/>
            </p:nvSpPr>
            <p:spPr bwMode="auto">
              <a:xfrm>
                <a:off x="3968" y="1009"/>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308</a:t>
                </a:r>
              </a:p>
            </p:txBody>
          </p:sp>
          <p:sp>
            <p:nvSpPr>
              <p:cNvPr id="21" name="Rectangle 14"/>
              <p:cNvSpPr>
                <a:spLocks noChangeArrowheads="1"/>
              </p:cNvSpPr>
              <p:nvPr/>
            </p:nvSpPr>
            <p:spPr bwMode="auto">
              <a:xfrm>
                <a:off x="2880" y="1698"/>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106</a:t>
                </a:r>
              </a:p>
            </p:txBody>
          </p:sp>
          <p:sp>
            <p:nvSpPr>
              <p:cNvPr id="22" name="Rectangle 15"/>
              <p:cNvSpPr>
                <a:spLocks noChangeArrowheads="1"/>
              </p:cNvSpPr>
              <p:nvPr/>
            </p:nvSpPr>
            <p:spPr bwMode="auto">
              <a:xfrm>
                <a:off x="2880" y="1372"/>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206</a:t>
                </a:r>
              </a:p>
            </p:txBody>
          </p:sp>
          <p:sp>
            <p:nvSpPr>
              <p:cNvPr id="23" name="Rectangle 16"/>
              <p:cNvSpPr>
                <a:spLocks noChangeArrowheads="1"/>
              </p:cNvSpPr>
              <p:nvPr/>
            </p:nvSpPr>
            <p:spPr bwMode="auto">
              <a:xfrm>
                <a:off x="2880" y="1009"/>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306</a:t>
                </a:r>
              </a:p>
            </p:txBody>
          </p:sp>
          <p:sp>
            <p:nvSpPr>
              <p:cNvPr id="24" name="Rectangle 17"/>
              <p:cNvSpPr>
                <a:spLocks noChangeArrowheads="1"/>
              </p:cNvSpPr>
              <p:nvPr/>
            </p:nvSpPr>
            <p:spPr bwMode="auto">
              <a:xfrm>
                <a:off x="3424" y="1698"/>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107</a:t>
                </a:r>
              </a:p>
            </p:txBody>
          </p:sp>
          <p:sp>
            <p:nvSpPr>
              <p:cNvPr id="25" name="Rectangle 18"/>
              <p:cNvSpPr>
                <a:spLocks noChangeArrowheads="1"/>
              </p:cNvSpPr>
              <p:nvPr/>
            </p:nvSpPr>
            <p:spPr bwMode="auto">
              <a:xfrm>
                <a:off x="3424" y="1372"/>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207</a:t>
                </a:r>
              </a:p>
            </p:txBody>
          </p:sp>
          <p:sp>
            <p:nvSpPr>
              <p:cNvPr id="26" name="Rectangle 19"/>
              <p:cNvSpPr>
                <a:spLocks noChangeArrowheads="1"/>
              </p:cNvSpPr>
              <p:nvPr/>
            </p:nvSpPr>
            <p:spPr bwMode="auto">
              <a:xfrm>
                <a:off x="3424" y="1009"/>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307</a:t>
                </a:r>
              </a:p>
            </p:txBody>
          </p:sp>
          <p:sp>
            <p:nvSpPr>
              <p:cNvPr id="27" name="Rectangle 20"/>
              <p:cNvSpPr>
                <a:spLocks noChangeArrowheads="1"/>
              </p:cNvSpPr>
              <p:nvPr/>
            </p:nvSpPr>
            <p:spPr bwMode="auto">
              <a:xfrm>
                <a:off x="4513" y="1698"/>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109</a:t>
                </a:r>
              </a:p>
            </p:txBody>
          </p:sp>
          <p:sp>
            <p:nvSpPr>
              <p:cNvPr id="28" name="Rectangle 21"/>
              <p:cNvSpPr>
                <a:spLocks noChangeArrowheads="1"/>
              </p:cNvSpPr>
              <p:nvPr/>
            </p:nvSpPr>
            <p:spPr bwMode="auto">
              <a:xfrm>
                <a:off x="4513" y="1372"/>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209</a:t>
                </a:r>
              </a:p>
            </p:txBody>
          </p:sp>
          <p:sp>
            <p:nvSpPr>
              <p:cNvPr id="29" name="Rectangle 22"/>
              <p:cNvSpPr>
                <a:spLocks noChangeArrowheads="1"/>
              </p:cNvSpPr>
              <p:nvPr/>
            </p:nvSpPr>
            <p:spPr bwMode="auto">
              <a:xfrm>
                <a:off x="4513" y="1009"/>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309</a:t>
                </a:r>
              </a:p>
            </p:txBody>
          </p:sp>
          <p:sp>
            <p:nvSpPr>
              <p:cNvPr id="30" name="Rectangle 23"/>
              <p:cNvSpPr>
                <a:spLocks noChangeArrowheads="1"/>
              </p:cNvSpPr>
              <p:nvPr/>
            </p:nvSpPr>
            <p:spPr bwMode="auto">
              <a:xfrm>
                <a:off x="5058" y="1698"/>
                <a:ext cx="589"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110</a:t>
                </a:r>
                <a:endParaRPr lang="zh-CN" altLang="en-US" sz="2800" b="0" dirty="0">
                  <a:latin typeface="+mj-lt"/>
                </a:endParaRPr>
              </a:p>
            </p:txBody>
          </p:sp>
          <p:sp>
            <p:nvSpPr>
              <p:cNvPr id="31" name="Rectangle 24"/>
              <p:cNvSpPr>
                <a:spLocks noChangeArrowheads="1"/>
              </p:cNvSpPr>
              <p:nvPr/>
            </p:nvSpPr>
            <p:spPr bwMode="auto">
              <a:xfrm>
                <a:off x="2335" y="1698"/>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105</a:t>
                </a:r>
                <a:endParaRPr lang="zh-CN" altLang="en-US" sz="2800" b="0" dirty="0">
                  <a:latin typeface="+mj-lt"/>
                </a:endParaRPr>
              </a:p>
            </p:txBody>
          </p:sp>
          <p:sp>
            <p:nvSpPr>
              <p:cNvPr id="32" name="Rectangle 25"/>
              <p:cNvSpPr>
                <a:spLocks noChangeArrowheads="1"/>
              </p:cNvSpPr>
              <p:nvPr/>
            </p:nvSpPr>
            <p:spPr bwMode="auto">
              <a:xfrm>
                <a:off x="1791" y="1698"/>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104</a:t>
                </a:r>
                <a:endParaRPr lang="zh-CN" altLang="en-US" sz="2800" b="0" dirty="0">
                  <a:latin typeface="+mj-lt"/>
                </a:endParaRPr>
              </a:p>
            </p:txBody>
          </p:sp>
          <p:sp>
            <p:nvSpPr>
              <p:cNvPr id="33" name="Rectangle 26"/>
              <p:cNvSpPr>
                <a:spLocks noChangeArrowheads="1"/>
              </p:cNvSpPr>
              <p:nvPr/>
            </p:nvSpPr>
            <p:spPr bwMode="auto">
              <a:xfrm>
                <a:off x="1247" y="1698"/>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103</a:t>
                </a:r>
                <a:endParaRPr lang="zh-CN" altLang="en-US" sz="2800" b="0" dirty="0">
                  <a:latin typeface="+mj-lt"/>
                </a:endParaRPr>
              </a:p>
            </p:txBody>
          </p:sp>
          <p:sp>
            <p:nvSpPr>
              <p:cNvPr id="34" name="Rectangle 27"/>
              <p:cNvSpPr>
                <a:spLocks noChangeArrowheads="1"/>
              </p:cNvSpPr>
              <p:nvPr/>
            </p:nvSpPr>
            <p:spPr bwMode="auto">
              <a:xfrm>
                <a:off x="657" y="1698"/>
                <a:ext cx="590"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102</a:t>
                </a:r>
                <a:endParaRPr lang="zh-CN" altLang="en-US" sz="2800" b="0" dirty="0">
                  <a:latin typeface="+mj-lt"/>
                </a:endParaRPr>
              </a:p>
            </p:txBody>
          </p:sp>
          <p:sp>
            <p:nvSpPr>
              <p:cNvPr id="35" name="Rectangle 28"/>
              <p:cNvSpPr>
                <a:spLocks noChangeArrowheads="1"/>
              </p:cNvSpPr>
              <p:nvPr/>
            </p:nvSpPr>
            <p:spPr bwMode="auto">
              <a:xfrm>
                <a:off x="113" y="1698"/>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101</a:t>
                </a:r>
              </a:p>
            </p:txBody>
          </p:sp>
          <p:sp>
            <p:nvSpPr>
              <p:cNvPr id="36" name="Rectangle 29"/>
              <p:cNvSpPr>
                <a:spLocks noChangeArrowheads="1"/>
              </p:cNvSpPr>
              <p:nvPr/>
            </p:nvSpPr>
            <p:spPr bwMode="auto">
              <a:xfrm>
                <a:off x="5058" y="1372"/>
                <a:ext cx="589"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210</a:t>
                </a:r>
                <a:endParaRPr lang="zh-CN" altLang="en-US" sz="2800" b="0" dirty="0">
                  <a:latin typeface="+mj-lt"/>
                </a:endParaRPr>
              </a:p>
            </p:txBody>
          </p:sp>
          <p:sp>
            <p:nvSpPr>
              <p:cNvPr id="37" name="Rectangle 30"/>
              <p:cNvSpPr>
                <a:spLocks noChangeArrowheads="1"/>
              </p:cNvSpPr>
              <p:nvPr/>
            </p:nvSpPr>
            <p:spPr bwMode="auto">
              <a:xfrm>
                <a:off x="2335" y="1372"/>
                <a:ext cx="545" cy="326"/>
              </a:xfrm>
              <a:prstGeom prst="rect">
                <a:avLst/>
              </a:prstGeom>
              <a:solidFill>
                <a:schemeClr val="accent5">
                  <a:lumMod val="9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solidFill>
                      <a:srgbClr val="FF0000"/>
                    </a:solidFill>
                    <a:latin typeface="+mj-lt"/>
                  </a:rPr>
                  <a:t>205</a:t>
                </a:r>
                <a:endParaRPr lang="zh-CN" altLang="en-US" sz="2800" b="0" dirty="0">
                  <a:solidFill>
                    <a:srgbClr val="FF0000"/>
                  </a:solidFill>
                  <a:latin typeface="+mj-lt"/>
                </a:endParaRPr>
              </a:p>
            </p:txBody>
          </p:sp>
          <p:sp>
            <p:nvSpPr>
              <p:cNvPr id="38" name="Rectangle 31"/>
              <p:cNvSpPr>
                <a:spLocks noChangeArrowheads="1"/>
              </p:cNvSpPr>
              <p:nvPr/>
            </p:nvSpPr>
            <p:spPr bwMode="auto">
              <a:xfrm>
                <a:off x="1791" y="1372"/>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204</a:t>
                </a:r>
                <a:endParaRPr lang="zh-CN" altLang="en-US" sz="2800" b="0" dirty="0">
                  <a:latin typeface="+mj-lt"/>
                </a:endParaRPr>
              </a:p>
            </p:txBody>
          </p:sp>
          <p:sp>
            <p:nvSpPr>
              <p:cNvPr id="39" name="Rectangle 32"/>
              <p:cNvSpPr>
                <a:spLocks noChangeArrowheads="1"/>
              </p:cNvSpPr>
              <p:nvPr/>
            </p:nvSpPr>
            <p:spPr bwMode="auto">
              <a:xfrm>
                <a:off x="1247" y="1372"/>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203</a:t>
                </a:r>
                <a:endParaRPr lang="zh-CN" altLang="en-US" sz="2800" b="0" dirty="0">
                  <a:latin typeface="+mj-lt"/>
                </a:endParaRPr>
              </a:p>
            </p:txBody>
          </p:sp>
          <p:sp>
            <p:nvSpPr>
              <p:cNvPr id="40" name="Rectangle 33"/>
              <p:cNvSpPr>
                <a:spLocks noChangeArrowheads="1"/>
              </p:cNvSpPr>
              <p:nvPr/>
            </p:nvSpPr>
            <p:spPr bwMode="auto">
              <a:xfrm>
                <a:off x="657" y="1372"/>
                <a:ext cx="590"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202</a:t>
                </a:r>
                <a:endParaRPr lang="zh-CN" altLang="en-US" sz="2800" b="0" dirty="0">
                  <a:latin typeface="+mj-lt"/>
                </a:endParaRPr>
              </a:p>
            </p:txBody>
          </p:sp>
          <p:sp>
            <p:nvSpPr>
              <p:cNvPr id="41" name="Rectangle 34"/>
              <p:cNvSpPr>
                <a:spLocks noChangeArrowheads="1"/>
              </p:cNvSpPr>
              <p:nvPr/>
            </p:nvSpPr>
            <p:spPr bwMode="auto">
              <a:xfrm>
                <a:off x="113" y="1372"/>
                <a:ext cx="544" cy="326"/>
              </a:xfrm>
              <a:prstGeom prst="rect">
                <a:avLst/>
              </a:prstGeom>
              <a:solidFill>
                <a:schemeClr val="bg1">
                  <a:lumMod val="9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201</a:t>
                </a:r>
              </a:p>
            </p:txBody>
          </p:sp>
          <p:sp>
            <p:nvSpPr>
              <p:cNvPr id="42" name="Rectangle 35"/>
              <p:cNvSpPr>
                <a:spLocks noChangeArrowheads="1"/>
              </p:cNvSpPr>
              <p:nvPr/>
            </p:nvSpPr>
            <p:spPr bwMode="auto">
              <a:xfrm>
                <a:off x="5058" y="1009"/>
                <a:ext cx="589"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310</a:t>
                </a:r>
                <a:endParaRPr lang="zh-CN" altLang="en-US" sz="2800" b="0" dirty="0">
                  <a:latin typeface="+mj-lt"/>
                </a:endParaRPr>
              </a:p>
            </p:txBody>
          </p:sp>
          <p:sp>
            <p:nvSpPr>
              <p:cNvPr id="43" name="Rectangle 36"/>
              <p:cNvSpPr>
                <a:spLocks noChangeArrowheads="1"/>
              </p:cNvSpPr>
              <p:nvPr/>
            </p:nvSpPr>
            <p:spPr bwMode="auto">
              <a:xfrm>
                <a:off x="2335" y="1009"/>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305</a:t>
                </a:r>
                <a:endParaRPr lang="zh-CN" altLang="en-US" sz="2800" b="0" dirty="0">
                  <a:latin typeface="+mj-lt"/>
                </a:endParaRPr>
              </a:p>
            </p:txBody>
          </p:sp>
          <p:sp>
            <p:nvSpPr>
              <p:cNvPr id="44" name="Rectangle 37"/>
              <p:cNvSpPr>
                <a:spLocks noChangeArrowheads="1"/>
              </p:cNvSpPr>
              <p:nvPr/>
            </p:nvSpPr>
            <p:spPr bwMode="auto">
              <a:xfrm>
                <a:off x="1791" y="1009"/>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304</a:t>
                </a:r>
                <a:endParaRPr lang="zh-CN" altLang="en-US" sz="2800" b="0" dirty="0">
                  <a:latin typeface="+mj-lt"/>
                </a:endParaRPr>
              </a:p>
            </p:txBody>
          </p:sp>
          <p:sp>
            <p:nvSpPr>
              <p:cNvPr id="45" name="Rectangle 38"/>
              <p:cNvSpPr>
                <a:spLocks noChangeArrowheads="1"/>
              </p:cNvSpPr>
              <p:nvPr/>
            </p:nvSpPr>
            <p:spPr bwMode="auto">
              <a:xfrm>
                <a:off x="1247" y="1009"/>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303</a:t>
                </a:r>
                <a:endParaRPr lang="zh-CN" altLang="en-US" sz="2800" b="0" dirty="0">
                  <a:latin typeface="+mj-lt"/>
                </a:endParaRPr>
              </a:p>
            </p:txBody>
          </p:sp>
          <p:sp>
            <p:nvSpPr>
              <p:cNvPr id="46" name="Rectangle 39"/>
              <p:cNvSpPr>
                <a:spLocks noChangeArrowheads="1"/>
              </p:cNvSpPr>
              <p:nvPr/>
            </p:nvSpPr>
            <p:spPr bwMode="auto">
              <a:xfrm>
                <a:off x="657" y="1009"/>
                <a:ext cx="590"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302</a:t>
                </a:r>
                <a:endParaRPr lang="zh-CN" altLang="en-US" sz="2800" b="0" dirty="0">
                  <a:latin typeface="+mj-lt"/>
                </a:endParaRPr>
              </a:p>
            </p:txBody>
          </p:sp>
          <p:sp>
            <p:nvSpPr>
              <p:cNvPr id="47" name="Rectangle 40"/>
              <p:cNvSpPr>
                <a:spLocks noChangeArrowheads="1"/>
              </p:cNvSpPr>
              <p:nvPr/>
            </p:nvSpPr>
            <p:spPr bwMode="auto">
              <a:xfrm>
                <a:off x="113" y="1009"/>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301</a:t>
                </a:r>
              </a:p>
            </p:txBody>
          </p:sp>
          <p:sp>
            <p:nvSpPr>
              <p:cNvPr id="48" name="Line 41"/>
              <p:cNvSpPr>
                <a:spLocks noChangeShapeType="1"/>
              </p:cNvSpPr>
              <p:nvPr/>
            </p:nvSpPr>
            <p:spPr bwMode="auto">
              <a:xfrm>
                <a:off x="113" y="1372"/>
                <a:ext cx="385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42"/>
              <p:cNvSpPr>
                <a:spLocks noChangeShapeType="1"/>
              </p:cNvSpPr>
              <p:nvPr/>
            </p:nvSpPr>
            <p:spPr bwMode="auto">
              <a:xfrm>
                <a:off x="113" y="1009"/>
                <a:ext cx="0" cy="101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43"/>
              <p:cNvSpPr>
                <a:spLocks noChangeShapeType="1"/>
              </p:cNvSpPr>
              <p:nvPr/>
            </p:nvSpPr>
            <p:spPr bwMode="auto">
              <a:xfrm>
                <a:off x="657"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44"/>
              <p:cNvSpPr>
                <a:spLocks noChangeShapeType="1"/>
              </p:cNvSpPr>
              <p:nvPr/>
            </p:nvSpPr>
            <p:spPr bwMode="auto">
              <a:xfrm>
                <a:off x="1247"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45"/>
              <p:cNvSpPr>
                <a:spLocks noChangeShapeType="1"/>
              </p:cNvSpPr>
              <p:nvPr/>
            </p:nvSpPr>
            <p:spPr bwMode="auto">
              <a:xfrm>
                <a:off x="1791"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46"/>
              <p:cNvSpPr>
                <a:spLocks noChangeShapeType="1"/>
              </p:cNvSpPr>
              <p:nvPr/>
            </p:nvSpPr>
            <p:spPr bwMode="auto">
              <a:xfrm>
                <a:off x="2335"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47"/>
              <p:cNvSpPr>
                <a:spLocks noChangeShapeType="1"/>
              </p:cNvSpPr>
              <p:nvPr/>
            </p:nvSpPr>
            <p:spPr bwMode="auto">
              <a:xfrm>
                <a:off x="2880"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48"/>
              <p:cNvSpPr>
                <a:spLocks noChangeShapeType="1"/>
              </p:cNvSpPr>
              <p:nvPr/>
            </p:nvSpPr>
            <p:spPr bwMode="auto">
              <a:xfrm>
                <a:off x="5647" y="1009"/>
                <a:ext cx="0" cy="101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49"/>
              <p:cNvSpPr>
                <a:spLocks noChangeShapeType="1"/>
              </p:cNvSpPr>
              <p:nvPr/>
            </p:nvSpPr>
            <p:spPr bwMode="auto">
              <a:xfrm>
                <a:off x="113" y="1698"/>
                <a:ext cx="385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57" name="Line 50"/>
              <p:cNvSpPr>
                <a:spLocks noChangeShapeType="1"/>
              </p:cNvSpPr>
              <p:nvPr/>
            </p:nvSpPr>
            <p:spPr bwMode="auto">
              <a:xfrm>
                <a:off x="5058"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51"/>
              <p:cNvSpPr>
                <a:spLocks noChangeShapeType="1"/>
              </p:cNvSpPr>
              <p:nvPr/>
            </p:nvSpPr>
            <p:spPr bwMode="auto">
              <a:xfrm>
                <a:off x="3968" y="1009"/>
                <a:ext cx="0" cy="1015"/>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52"/>
              <p:cNvSpPr>
                <a:spLocks noChangeShapeType="1"/>
              </p:cNvSpPr>
              <p:nvPr/>
            </p:nvSpPr>
            <p:spPr bwMode="auto">
              <a:xfrm>
                <a:off x="3424" y="1009"/>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53"/>
              <p:cNvSpPr>
                <a:spLocks noChangeShapeType="1"/>
              </p:cNvSpPr>
              <p:nvPr/>
            </p:nvSpPr>
            <p:spPr bwMode="auto">
              <a:xfrm>
                <a:off x="4513" y="1009"/>
                <a:ext cx="0" cy="1015"/>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54"/>
              <p:cNvSpPr>
                <a:spLocks noChangeShapeType="1"/>
              </p:cNvSpPr>
              <p:nvPr/>
            </p:nvSpPr>
            <p:spPr bwMode="auto">
              <a:xfrm>
                <a:off x="3968" y="1009"/>
                <a:ext cx="545" cy="0"/>
              </a:xfrm>
              <a:prstGeom prst="line">
                <a:avLst/>
              </a:prstGeom>
              <a:noFill/>
              <a:ln w="28575"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55"/>
              <p:cNvSpPr>
                <a:spLocks noChangeShapeType="1"/>
              </p:cNvSpPr>
              <p:nvPr/>
            </p:nvSpPr>
            <p:spPr bwMode="auto">
              <a:xfrm>
                <a:off x="113" y="1009"/>
                <a:ext cx="385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56"/>
              <p:cNvSpPr>
                <a:spLocks noChangeShapeType="1"/>
              </p:cNvSpPr>
              <p:nvPr/>
            </p:nvSpPr>
            <p:spPr bwMode="auto">
              <a:xfrm>
                <a:off x="4513" y="1009"/>
                <a:ext cx="113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57"/>
              <p:cNvSpPr>
                <a:spLocks noChangeShapeType="1"/>
              </p:cNvSpPr>
              <p:nvPr/>
            </p:nvSpPr>
            <p:spPr bwMode="auto">
              <a:xfrm>
                <a:off x="3968" y="1372"/>
                <a:ext cx="545" cy="0"/>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58"/>
              <p:cNvSpPr>
                <a:spLocks noChangeShapeType="1"/>
              </p:cNvSpPr>
              <p:nvPr/>
            </p:nvSpPr>
            <p:spPr bwMode="auto">
              <a:xfrm>
                <a:off x="4513" y="1372"/>
                <a:ext cx="113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66" name="Line 59"/>
              <p:cNvSpPr>
                <a:spLocks noChangeShapeType="1"/>
              </p:cNvSpPr>
              <p:nvPr/>
            </p:nvSpPr>
            <p:spPr bwMode="auto">
              <a:xfrm>
                <a:off x="3968" y="1698"/>
                <a:ext cx="545" cy="0"/>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60"/>
              <p:cNvSpPr>
                <a:spLocks noChangeShapeType="1"/>
              </p:cNvSpPr>
              <p:nvPr/>
            </p:nvSpPr>
            <p:spPr bwMode="auto">
              <a:xfrm>
                <a:off x="4513" y="1698"/>
                <a:ext cx="113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68" name="Line 61"/>
              <p:cNvSpPr>
                <a:spLocks noChangeShapeType="1"/>
              </p:cNvSpPr>
              <p:nvPr/>
            </p:nvSpPr>
            <p:spPr bwMode="auto">
              <a:xfrm>
                <a:off x="3968" y="2024"/>
                <a:ext cx="545" cy="0"/>
              </a:xfrm>
              <a:prstGeom prst="line">
                <a:avLst/>
              </a:prstGeom>
              <a:noFill/>
              <a:ln w="28575"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62"/>
              <p:cNvSpPr>
                <a:spLocks noChangeShapeType="1"/>
              </p:cNvSpPr>
              <p:nvPr/>
            </p:nvSpPr>
            <p:spPr bwMode="auto">
              <a:xfrm>
                <a:off x="113" y="2024"/>
                <a:ext cx="385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70" name="Line 63"/>
              <p:cNvSpPr>
                <a:spLocks noChangeShapeType="1"/>
              </p:cNvSpPr>
              <p:nvPr/>
            </p:nvSpPr>
            <p:spPr bwMode="auto">
              <a:xfrm>
                <a:off x="4513" y="2024"/>
                <a:ext cx="113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Rectangle 64"/>
              <p:cNvSpPr>
                <a:spLocks noChangeArrowheads="1"/>
              </p:cNvSpPr>
              <p:nvPr/>
            </p:nvSpPr>
            <p:spPr bwMode="auto">
              <a:xfrm>
                <a:off x="3968" y="3376"/>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08</a:t>
                </a:r>
              </a:p>
            </p:txBody>
          </p:sp>
          <p:sp>
            <p:nvSpPr>
              <p:cNvPr id="72" name="Rectangle 65"/>
              <p:cNvSpPr>
                <a:spLocks noChangeArrowheads="1"/>
              </p:cNvSpPr>
              <p:nvPr/>
            </p:nvSpPr>
            <p:spPr bwMode="auto">
              <a:xfrm>
                <a:off x="3968" y="3050"/>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18</a:t>
                </a:r>
              </a:p>
            </p:txBody>
          </p:sp>
          <p:sp>
            <p:nvSpPr>
              <p:cNvPr id="73" name="Rectangle 66"/>
              <p:cNvSpPr>
                <a:spLocks noChangeArrowheads="1"/>
              </p:cNvSpPr>
              <p:nvPr/>
            </p:nvSpPr>
            <p:spPr bwMode="auto">
              <a:xfrm>
                <a:off x="3968" y="2687"/>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28</a:t>
                </a:r>
              </a:p>
            </p:txBody>
          </p:sp>
          <p:sp>
            <p:nvSpPr>
              <p:cNvPr id="74" name="Rectangle 67"/>
              <p:cNvSpPr>
                <a:spLocks noChangeArrowheads="1"/>
              </p:cNvSpPr>
              <p:nvPr/>
            </p:nvSpPr>
            <p:spPr bwMode="auto">
              <a:xfrm>
                <a:off x="2880" y="3376"/>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06</a:t>
                </a:r>
              </a:p>
            </p:txBody>
          </p:sp>
          <p:sp>
            <p:nvSpPr>
              <p:cNvPr id="75" name="Rectangle 68"/>
              <p:cNvSpPr>
                <a:spLocks noChangeArrowheads="1"/>
              </p:cNvSpPr>
              <p:nvPr/>
            </p:nvSpPr>
            <p:spPr bwMode="auto">
              <a:xfrm>
                <a:off x="2880" y="3050"/>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16</a:t>
                </a:r>
              </a:p>
            </p:txBody>
          </p:sp>
          <p:sp>
            <p:nvSpPr>
              <p:cNvPr id="76" name="Rectangle 69"/>
              <p:cNvSpPr>
                <a:spLocks noChangeArrowheads="1"/>
              </p:cNvSpPr>
              <p:nvPr/>
            </p:nvSpPr>
            <p:spPr bwMode="auto">
              <a:xfrm>
                <a:off x="2880" y="2687"/>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26</a:t>
                </a:r>
              </a:p>
            </p:txBody>
          </p:sp>
          <p:sp>
            <p:nvSpPr>
              <p:cNvPr id="77" name="Rectangle 70"/>
              <p:cNvSpPr>
                <a:spLocks noChangeArrowheads="1"/>
              </p:cNvSpPr>
              <p:nvPr/>
            </p:nvSpPr>
            <p:spPr bwMode="auto">
              <a:xfrm>
                <a:off x="3424" y="3376"/>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07</a:t>
                </a:r>
              </a:p>
            </p:txBody>
          </p:sp>
          <p:sp>
            <p:nvSpPr>
              <p:cNvPr id="78" name="Rectangle 71"/>
              <p:cNvSpPr>
                <a:spLocks noChangeArrowheads="1"/>
              </p:cNvSpPr>
              <p:nvPr/>
            </p:nvSpPr>
            <p:spPr bwMode="auto">
              <a:xfrm>
                <a:off x="3424" y="3050"/>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17</a:t>
                </a:r>
              </a:p>
            </p:txBody>
          </p:sp>
          <p:sp>
            <p:nvSpPr>
              <p:cNvPr id="79" name="Rectangle 72"/>
              <p:cNvSpPr>
                <a:spLocks noChangeArrowheads="1"/>
              </p:cNvSpPr>
              <p:nvPr/>
            </p:nvSpPr>
            <p:spPr bwMode="auto">
              <a:xfrm>
                <a:off x="3424" y="2687"/>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27</a:t>
                </a:r>
              </a:p>
            </p:txBody>
          </p:sp>
          <p:sp>
            <p:nvSpPr>
              <p:cNvPr id="80" name="Rectangle 73"/>
              <p:cNvSpPr>
                <a:spLocks noChangeArrowheads="1"/>
              </p:cNvSpPr>
              <p:nvPr/>
            </p:nvSpPr>
            <p:spPr bwMode="auto">
              <a:xfrm>
                <a:off x="4513" y="3376"/>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09</a:t>
                </a:r>
              </a:p>
            </p:txBody>
          </p:sp>
          <p:sp>
            <p:nvSpPr>
              <p:cNvPr id="81" name="Rectangle 74"/>
              <p:cNvSpPr>
                <a:spLocks noChangeArrowheads="1"/>
              </p:cNvSpPr>
              <p:nvPr/>
            </p:nvSpPr>
            <p:spPr bwMode="auto">
              <a:xfrm>
                <a:off x="4513" y="3050"/>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19</a:t>
                </a:r>
              </a:p>
            </p:txBody>
          </p:sp>
          <p:sp>
            <p:nvSpPr>
              <p:cNvPr id="82" name="Rectangle 75"/>
              <p:cNvSpPr>
                <a:spLocks noChangeArrowheads="1"/>
              </p:cNvSpPr>
              <p:nvPr/>
            </p:nvSpPr>
            <p:spPr bwMode="auto">
              <a:xfrm>
                <a:off x="4513" y="2687"/>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29</a:t>
                </a:r>
              </a:p>
            </p:txBody>
          </p:sp>
          <p:sp>
            <p:nvSpPr>
              <p:cNvPr id="83" name="Rectangle 76"/>
              <p:cNvSpPr>
                <a:spLocks noChangeArrowheads="1"/>
              </p:cNvSpPr>
              <p:nvPr/>
            </p:nvSpPr>
            <p:spPr bwMode="auto">
              <a:xfrm>
                <a:off x="5058" y="3376"/>
                <a:ext cx="589"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10</a:t>
                </a:r>
                <a:endParaRPr lang="zh-CN" altLang="en-US" sz="2800" b="0" dirty="0">
                  <a:latin typeface="+mj-lt"/>
                </a:endParaRPr>
              </a:p>
            </p:txBody>
          </p:sp>
          <p:sp>
            <p:nvSpPr>
              <p:cNvPr id="84" name="Rectangle 77"/>
              <p:cNvSpPr>
                <a:spLocks noChangeArrowheads="1"/>
              </p:cNvSpPr>
              <p:nvPr/>
            </p:nvSpPr>
            <p:spPr bwMode="auto">
              <a:xfrm>
                <a:off x="2335" y="3376"/>
                <a:ext cx="545"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05</a:t>
                </a:r>
                <a:endParaRPr lang="zh-CN" altLang="en-US" sz="2800" b="0" dirty="0">
                  <a:latin typeface="+mj-lt"/>
                </a:endParaRPr>
              </a:p>
            </p:txBody>
          </p:sp>
          <p:sp>
            <p:nvSpPr>
              <p:cNvPr id="85" name="Rectangle 78"/>
              <p:cNvSpPr>
                <a:spLocks noChangeArrowheads="1"/>
              </p:cNvSpPr>
              <p:nvPr/>
            </p:nvSpPr>
            <p:spPr bwMode="auto">
              <a:xfrm>
                <a:off x="1791" y="3376"/>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04</a:t>
                </a:r>
                <a:endParaRPr lang="zh-CN" altLang="en-US" sz="2800" b="0" dirty="0">
                  <a:latin typeface="+mj-lt"/>
                </a:endParaRPr>
              </a:p>
            </p:txBody>
          </p:sp>
          <p:sp>
            <p:nvSpPr>
              <p:cNvPr id="86" name="Rectangle 79"/>
              <p:cNvSpPr>
                <a:spLocks noChangeArrowheads="1"/>
              </p:cNvSpPr>
              <p:nvPr/>
            </p:nvSpPr>
            <p:spPr bwMode="auto">
              <a:xfrm>
                <a:off x="1247" y="3376"/>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03</a:t>
                </a:r>
                <a:endParaRPr lang="zh-CN" altLang="en-US" sz="2800" b="0" dirty="0">
                  <a:latin typeface="+mj-lt"/>
                </a:endParaRPr>
              </a:p>
            </p:txBody>
          </p:sp>
          <p:sp>
            <p:nvSpPr>
              <p:cNvPr id="87" name="Rectangle 80"/>
              <p:cNvSpPr>
                <a:spLocks noChangeArrowheads="1"/>
              </p:cNvSpPr>
              <p:nvPr/>
            </p:nvSpPr>
            <p:spPr bwMode="auto">
              <a:xfrm>
                <a:off x="657" y="3376"/>
                <a:ext cx="590"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02</a:t>
                </a:r>
                <a:endParaRPr lang="zh-CN" altLang="en-US" sz="2800" b="0" dirty="0">
                  <a:latin typeface="+mj-lt"/>
                </a:endParaRPr>
              </a:p>
            </p:txBody>
          </p:sp>
          <p:sp>
            <p:nvSpPr>
              <p:cNvPr id="88" name="Rectangle 81"/>
              <p:cNvSpPr>
                <a:spLocks noChangeArrowheads="1"/>
              </p:cNvSpPr>
              <p:nvPr/>
            </p:nvSpPr>
            <p:spPr bwMode="auto">
              <a:xfrm>
                <a:off x="113" y="3376"/>
                <a:ext cx="544" cy="326"/>
              </a:xfrm>
              <a:prstGeom prst="rect">
                <a:avLst/>
              </a:prstGeom>
              <a:solidFill>
                <a:schemeClr val="bg1">
                  <a:lumMod val="9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None/>
                </a:pPr>
                <a:r>
                  <a:rPr lang="en-US" altLang="zh-CN" sz="2800" b="0" dirty="0">
                    <a:latin typeface="+mj-lt"/>
                  </a:rPr>
                  <a:t>01</a:t>
                </a:r>
              </a:p>
            </p:txBody>
          </p:sp>
          <p:sp>
            <p:nvSpPr>
              <p:cNvPr id="89" name="Rectangle 82"/>
              <p:cNvSpPr>
                <a:spLocks noChangeArrowheads="1"/>
              </p:cNvSpPr>
              <p:nvPr/>
            </p:nvSpPr>
            <p:spPr bwMode="auto">
              <a:xfrm>
                <a:off x="5058" y="3050"/>
                <a:ext cx="589"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20</a:t>
                </a:r>
                <a:endParaRPr lang="zh-CN" altLang="en-US" sz="2800" b="0" dirty="0">
                  <a:latin typeface="+mj-lt"/>
                </a:endParaRPr>
              </a:p>
            </p:txBody>
          </p:sp>
          <p:sp>
            <p:nvSpPr>
              <p:cNvPr id="90" name="Rectangle 83"/>
              <p:cNvSpPr>
                <a:spLocks noChangeArrowheads="1"/>
              </p:cNvSpPr>
              <p:nvPr/>
            </p:nvSpPr>
            <p:spPr bwMode="auto">
              <a:xfrm>
                <a:off x="2335" y="3050"/>
                <a:ext cx="545" cy="326"/>
              </a:xfrm>
              <a:prstGeom prst="rect">
                <a:avLst/>
              </a:prstGeom>
              <a:solidFill>
                <a:schemeClr val="accent5">
                  <a:lumMod val="9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solidFill>
                      <a:srgbClr val="FF0000"/>
                    </a:solidFill>
                    <a:latin typeface="+mj-lt"/>
                  </a:rPr>
                  <a:t>15</a:t>
                </a:r>
                <a:endParaRPr lang="zh-CN" altLang="en-US" sz="2800" b="0" dirty="0">
                  <a:solidFill>
                    <a:srgbClr val="FF0000"/>
                  </a:solidFill>
                  <a:latin typeface="+mj-lt"/>
                </a:endParaRPr>
              </a:p>
            </p:txBody>
          </p:sp>
          <p:sp>
            <p:nvSpPr>
              <p:cNvPr id="91" name="Rectangle 84"/>
              <p:cNvSpPr>
                <a:spLocks noChangeArrowheads="1"/>
              </p:cNvSpPr>
              <p:nvPr/>
            </p:nvSpPr>
            <p:spPr bwMode="auto">
              <a:xfrm>
                <a:off x="1791" y="3050"/>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14</a:t>
                </a:r>
                <a:endParaRPr lang="zh-CN" altLang="en-US" sz="2800" b="0" dirty="0">
                  <a:latin typeface="+mj-lt"/>
                </a:endParaRPr>
              </a:p>
            </p:txBody>
          </p:sp>
          <p:sp>
            <p:nvSpPr>
              <p:cNvPr id="92" name="Rectangle 85"/>
              <p:cNvSpPr>
                <a:spLocks noChangeArrowheads="1"/>
              </p:cNvSpPr>
              <p:nvPr/>
            </p:nvSpPr>
            <p:spPr bwMode="auto">
              <a:xfrm>
                <a:off x="1247" y="3050"/>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13</a:t>
                </a:r>
                <a:endParaRPr lang="zh-CN" altLang="en-US" sz="2800" b="0" dirty="0">
                  <a:latin typeface="+mj-lt"/>
                </a:endParaRPr>
              </a:p>
            </p:txBody>
          </p:sp>
          <p:sp>
            <p:nvSpPr>
              <p:cNvPr id="93" name="Rectangle 86"/>
              <p:cNvSpPr>
                <a:spLocks noChangeArrowheads="1"/>
              </p:cNvSpPr>
              <p:nvPr/>
            </p:nvSpPr>
            <p:spPr bwMode="auto">
              <a:xfrm>
                <a:off x="657" y="3050"/>
                <a:ext cx="590"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12</a:t>
                </a:r>
                <a:endParaRPr lang="zh-CN" altLang="en-US" sz="2800" b="0" dirty="0">
                  <a:latin typeface="+mj-lt"/>
                </a:endParaRPr>
              </a:p>
            </p:txBody>
          </p:sp>
          <p:sp>
            <p:nvSpPr>
              <p:cNvPr id="94" name="Rectangle 87"/>
              <p:cNvSpPr>
                <a:spLocks noChangeArrowheads="1"/>
              </p:cNvSpPr>
              <p:nvPr/>
            </p:nvSpPr>
            <p:spPr bwMode="auto">
              <a:xfrm>
                <a:off x="113" y="3050"/>
                <a:ext cx="54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11</a:t>
                </a:r>
              </a:p>
            </p:txBody>
          </p:sp>
          <p:sp>
            <p:nvSpPr>
              <p:cNvPr id="95" name="Rectangle 88"/>
              <p:cNvSpPr>
                <a:spLocks noChangeArrowheads="1"/>
              </p:cNvSpPr>
              <p:nvPr/>
            </p:nvSpPr>
            <p:spPr bwMode="auto">
              <a:xfrm>
                <a:off x="5058" y="2687"/>
                <a:ext cx="589"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30</a:t>
                </a:r>
                <a:endParaRPr lang="zh-CN" altLang="en-US" sz="2800" b="0" dirty="0">
                  <a:latin typeface="+mj-lt"/>
                </a:endParaRPr>
              </a:p>
            </p:txBody>
          </p:sp>
          <p:sp>
            <p:nvSpPr>
              <p:cNvPr id="96" name="Rectangle 89"/>
              <p:cNvSpPr>
                <a:spLocks noChangeArrowheads="1"/>
              </p:cNvSpPr>
              <p:nvPr/>
            </p:nvSpPr>
            <p:spPr bwMode="auto">
              <a:xfrm>
                <a:off x="2335" y="2687"/>
                <a:ext cx="545"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25</a:t>
                </a:r>
                <a:endParaRPr lang="zh-CN" altLang="en-US" sz="2800" b="0" dirty="0">
                  <a:latin typeface="+mj-lt"/>
                </a:endParaRPr>
              </a:p>
            </p:txBody>
          </p:sp>
          <p:sp>
            <p:nvSpPr>
              <p:cNvPr id="97" name="Rectangle 90"/>
              <p:cNvSpPr>
                <a:spLocks noChangeArrowheads="1"/>
              </p:cNvSpPr>
              <p:nvPr/>
            </p:nvSpPr>
            <p:spPr bwMode="auto">
              <a:xfrm>
                <a:off x="1791" y="2687"/>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24</a:t>
                </a:r>
                <a:endParaRPr lang="zh-CN" altLang="en-US" sz="2800" b="0" dirty="0">
                  <a:latin typeface="+mj-lt"/>
                </a:endParaRPr>
              </a:p>
            </p:txBody>
          </p:sp>
          <p:sp>
            <p:nvSpPr>
              <p:cNvPr id="98" name="Rectangle 91"/>
              <p:cNvSpPr>
                <a:spLocks noChangeArrowheads="1"/>
              </p:cNvSpPr>
              <p:nvPr/>
            </p:nvSpPr>
            <p:spPr bwMode="auto">
              <a:xfrm>
                <a:off x="1247" y="2687"/>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23</a:t>
                </a:r>
                <a:endParaRPr lang="zh-CN" altLang="en-US" sz="2800" b="0" dirty="0">
                  <a:latin typeface="+mj-lt"/>
                </a:endParaRPr>
              </a:p>
            </p:txBody>
          </p:sp>
          <p:sp>
            <p:nvSpPr>
              <p:cNvPr id="99" name="Rectangle 92"/>
              <p:cNvSpPr>
                <a:spLocks noChangeArrowheads="1"/>
              </p:cNvSpPr>
              <p:nvPr/>
            </p:nvSpPr>
            <p:spPr bwMode="auto">
              <a:xfrm>
                <a:off x="657" y="2687"/>
                <a:ext cx="590"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22</a:t>
                </a:r>
                <a:endParaRPr lang="zh-CN" altLang="en-US" sz="2800" b="0" dirty="0">
                  <a:latin typeface="+mj-lt"/>
                </a:endParaRPr>
              </a:p>
            </p:txBody>
          </p:sp>
          <p:sp>
            <p:nvSpPr>
              <p:cNvPr id="100" name="Rectangle 93"/>
              <p:cNvSpPr>
                <a:spLocks noChangeArrowheads="1"/>
              </p:cNvSpPr>
              <p:nvPr/>
            </p:nvSpPr>
            <p:spPr bwMode="auto">
              <a:xfrm>
                <a:off x="113" y="2687"/>
                <a:ext cx="544" cy="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r>
                  <a:rPr lang="en-US" altLang="zh-CN" sz="2800" b="0" dirty="0">
                    <a:latin typeface="+mj-lt"/>
                  </a:rPr>
                  <a:t>21</a:t>
                </a:r>
              </a:p>
            </p:txBody>
          </p:sp>
          <p:sp>
            <p:nvSpPr>
              <p:cNvPr id="101" name="Line 94"/>
              <p:cNvSpPr>
                <a:spLocks noChangeShapeType="1"/>
              </p:cNvSpPr>
              <p:nvPr/>
            </p:nvSpPr>
            <p:spPr bwMode="auto">
              <a:xfrm>
                <a:off x="113" y="3050"/>
                <a:ext cx="385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 name="Line 95"/>
              <p:cNvSpPr>
                <a:spLocks noChangeShapeType="1"/>
              </p:cNvSpPr>
              <p:nvPr/>
            </p:nvSpPr>
            <p:spPr bwMode="auto">
              <a:xfrm>
                <a:off x="113" y="2687"/>
                <a:ext cx="0" cy="101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96"/>
              <p:cNvSpPr>
                <a:spLocks noChangeShapeType="1"/>
              </p:cNvSpPr>
              <p:nvPr/>
            </p:nvSpPr>
            <p:spPr bwMode="auto">
              <a:xfrm>
                <a:off x="657"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Line 97"/>
              <p:cNvSpPr>
                <a:spLocks noChangeShapeType="1"/>
              </p:cNvSpPr>
              <p:nvPr/>
            </p:nvSpPr>
            <p:spPr bwMode="auto">
              <a:xfrm>
                <a:off x="1247"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 name="Line 98"/>
              <p:cNvSpPr>
                <a:spLocks noChangeShapeType="1"/>
              </p:cNvSpPr>
              <p:nvPr/>
            </p:nvSpPr>
            <p:spPr bwMode="auto">
              <a:xfrm>
                <a:off x="1791"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99"/>
              <p:cNvSpPr>
                <a:spLocks noChangeShapeType="1"/>
              </p:cNvSpPr>
              <p:nvPr/>
            </p:nvSpPr>
            <p:spPr bwMode="auto">
              <a:xfrm>
                <a:off x="2335"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100"/>
              <p:cNvSpPr>
                <a:spLocks noChangeShapeType="1"/>
              </p:cNvSpPr>
              <p:nvPr/>
            </p:nvSpPr>
            <p:spPr bwMode="auto">
              <a:xfrm>
                <a:off x="2880"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Line 101"/>
              <p:cNvSpPr>
                <a:spLocks noChangeShapeType="1"/>
              </p:cNvSpPr>
              <p:nvPr/>
            </p:nvSpPr>
            <p:spPr bwMode="auto">
              <a:xfrm>
                <a:off x="5647" y="2687"/>
                <a:ext cx="0" cy="101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 name="Line 102"/>
              <p:cNvSpPr>
                <a:spLocks noChangeShapeType="1"/>
              </p:cNvSpPr>
              <p:nvPr/>
            </p:nvSpPr>
            <p:spPr bwMode="auto">
              <a:xfrm>
                <a:off x="113" y="3376"/>
                <a:ext cx="385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10" name="Line 103"/>
              <p:cNvSpPr>
                <a:spLocks noChangeShapeType="1"/>
              </p:cNvSpPr>
              <p:nvPr/>
            </p:nvSpPr>
            <p:spPr bwMode="auto">
              <a:xfrm>
                <a:off x="5058"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104"/>
              <p:cNvSpPr>
                <a:spLocks noChangeShapeType="1"/>
              </p:cNvSpPr>
              <p:nvPr/>
            </p:nvSpPr>
            <p:spPr bwMode="auto">
              <a:xfrm>
                <a:off x="3968" y="2687"/>
                <a:ext cx="0" cy="1015"/>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105"/>
              <p:cNvSpPr>
                <a:spLocks noChangeShapeType="1"/>
              </p:cNvSpPr>
              <p:nvPr/>
            </p:nvSpPr>
            <p:spPr bwMode="auto">
              <a:xfrm>
                <a:off x="3424" y="2687"/>
                <a:ext cx="0" cy="101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Line 106"/>
              <p:cNvSpPr>
                <a:spLocks noChangeShapeType="1"/>
              </p:cNvSpPr>
              <p:nvPr/>
            </p:nvSpPr>
            <p:spPr bwMode="auto">
              <a:xfrm>
                <a:off x="4513" y="2687"/>
                <a:ext cx="0" cy="1015"/>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 name="Line 107"/>
              <p:cNvSpPr>
                <a:spLocks noChangeShapeType="1"/>
              </p:cNvSpPr>
              <p:nvPr/>
            </p:nvSpPr>
            <p:spPr bwMode="auto">
              <a:xfrm>
                <a:off x="3968" y="2687"/>
                <a:ext cx="545" cy="0"/>
              </a:xfrm>
              <a:prstGeom prst="line">
                <a:avLst/>
              </a:prstGeom>
              <a:noFill/>
              <a:ln w="28575"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108"/>
              <p:cNvSpPr>
                <a:spLocks noChangeShapeType="1"/>
              </p:cNvSpPr>
              <p:nvPr/>
            </p:nvSpPr>
            <p:spPr bwMode="auto">
              <a:xfrm>
                <a:off x="113" y="2687"/>
                <a:ext cx="385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16" name="Line 109"/>
              <p:cNvSpPr>
                <a:spLocks noChangeShapeType="1"/>
              </p:cNvSpPr>
              <p:nvPr/>
            </p:nvSpPr>
            <p:spPr bwMode="auto">
              <a:xfrm>
                <a:off x="4513" y="2687"/>
                <a:ext cx="113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Line 110"/>
              <p:cNvSpPr>
                <a:spLocks noChangeShapeType="1"/>
              </p:cNvSpPr>
              <p:nvPr/>
            </p:nvSpPr>
            <p:spPr bwMode="auto">
              <a:xfrm>
                <a:off x="3968" y="3050"/>
                <a:ext cx="545" cy="0"/>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111"/>
              <p:cNvSpPr>
                <a:spLocks noChangeShapeType="1"/>
              </p:cNvSpPr>
              <p:nvPr/>
            </p:nvSpPr>
            <p:spPr bwMode="auto">
              <a:xfrm>
                <a:off x="4513" y="3050"/>
                <a:ext cx="113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Line 112"/>
              <p:cNvSpPr>
                <a:spLocks noChangeShapeType="1"/>
              </p:cNvSpPr>
              <p:nvPr/>
            </p:nvSpPr>
            <p:spPr bwMode="auto">
              <a:xfrm>
                <a:off x="3968" y="3376"/>
                <a:ext cx="545" cy="0"/>
              </a:xfrm>
              <a:prstGeom prst="line">
                <a:avLst/>
              </a:prstGeom>
              <a:noFill/>
              <a:ln w="12700"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20" name="Line 113"/>
              <p:cNvSpPr>
                <a:spLocks noChangeShapeType="1"/>
              </p:cNvSpPr>
              <p:nvPr/>
            </p:nvSpPr>
            <p:spPr bwMode="auto">
              <a:xfrm>
                <a:off x="4513" y="3376"/>
                <a:ext cx="113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 name="Line 114"/>
              <p:cNvSpPr>
                <a:spLocks noChangeShapeType="1"/>
              </p:cNvSpPr>
              <p:nvPr/>
            </p:nvSpPr>
            <p:spPr bwMode="auto">
              <a:xfrm>
                <a:off x="3968" y="3702"/>
                <a:ext cx="545" cy="0"/>
              </a:xfrm>
              <a:prstGeom prst="line">
                <a:avLst/>
              </a:prstGeom>
              <a:noFill/>
              <a:ln w="28575" cap="rnd">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 name="Line 115"/>
              <p:cNvSpPr>
                <a:spLocks noChangeShapeType="1"/>
              </p:cNvSpPr>
              <p:nvPr/>
            </p:nvSpPr>
            <p:spPr bwMode="auto">
              <a:xfrm>
                <a:off x="113" y="3702"/>
                <a:ext cx="385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23" name="Line 116"/>
              <p:cNvSpPr>
                <a:spLocks noChangeShapeType="1"/>
              </p:cNvSpPr>
              <p:nvPr/>
            </p:nvSpPr>
            <p:spPr bwMode="auto">
              <a:xfrm>
                <a:off x="4513" y="3702"/>
                <a:ext cx="113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 name="Text Box 117"/>
              <p:cNvSpPr txBox="1">
                <a:spLocks noChangeArrowheads="1"/>
              </p:cNvSpPr>
              <p:nvPr/>
            </p:nvSpPr>
            <p:spPr bwMode="auto">
              <a:xfrm>
                <a:off x="385" y="592"/>
                <a:ext cx="3736" cy="3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800" dirty="0">
                    <a:solidFill>
                      <a:srgbClr val="0000FF"/>
                    </a:solidFill>
                    <a:latin typeface="+mn-lt"/>
                    <a:ea typeface="黑体" panose="02010609060101010101" pitchFamily="49" charset="-122"/>
                  </a:rPr>
                  <a:t>逻辑地址＝</a:t>
                </a:r>
                <a:r>
                  <a:rPr lang="en-US" altLang="zh-CN" sz="2800" dirty="0">
                    <a:solidFill>
                      <a:srgbClr val="0000FF"/>
                    </a:solidFill>
                    <a:latin typeface="+mn-lt"/>
                    <a:ea typeface="黑体" panose="02010609060101010101" pitchFamily="49" charset="-122"/>
                  </a:rPr>
                  <a:t>2</a:t>
                </a:r>
                <a:r>
                  <a:rPr lang="zh-CN" altLang="en-US" sz="2800" dirty="0">
                    <a:solidFill>
                      <a:srgbClr val="0000FF"/>
                    </a:solidFill>
                    <a:latin typeface="+mn-lt"/>
                    <a:ea typeface="黑体" panose="02010609060101010101" pitchFamily="49" charset="-122"/>
                  </a:rPr>
                  <a:t>：</a:t>
                </a:r>
                <a:r>
                  <a:rPr lang="en-US" altLang="zh-CN" sz="2800" dirty="0">
                    <a:solidFill>
                      <a:srgbClr val="0000FF"/>
                    </a:solidFill>
                    <a:latin typeface="+mn-lt"/>
                    <a:ea typeface="黑体" panose="02010609060101010101" pitchFamily="49" charset="-122"/>
                  </a:rPr>
                  <a:t>05</a:t>
                </a:r>
                <a:r>
                  <a:rPr lang="zh-CN" altLang="en-US" sz="2800" dirty="0">
                    <a:solidFill>
                      <a:srgbClr val="0000FF"/>
                    </a:solidFill>
                    <a:latin typeface="+mn-lt"/>
                    <a:ea typeface="黑体" panose="02010609060101010101" pitchFamily="49" charset="-122"/>
                  </a:rPr>
                  <a:t>（</a:t>
                </a:r>
                <a:r>
                  <a:rPr lang="en-US" altLang="zh-CN" sz="2800" dirty="0">
                    <a:solidFill>
                      <a:srgbClr val="0000FF"/>
                    </a:solidFill>
                    <a:latin typeface="+mn-lt"/>
                    <a:ea typeface="黑体" panose="02010609060101010101" pitchFamily="49" charset="-122"/>
                  </a:rPr>
                  <a:t>2</a:t>
                </a:r>
                <a:r>
                  <a:rPr lang="zh-CN" altLang="en-US" sz="2800" dirty="0">
                    <a:solidFill>
                      <a:srgbClr val="0000FF"/>
                    </a:solidFill>
                    <a:latin typeface="+mn-lt"/>
                    <a:ea typeface="黑体" panose="02010609060101010101" pitchFamily="49" charset="-122"/>
                  </a:rPr>
                  <a:t>层</a:t>
                </a:r>
                <a:r>
                  <a:rPr lang="en-US" altLang="zh-CN" sz="2800" dirty="0">
                    <a:solidFill>
                      <a:srgbClr val="0000FF"/>
                    </a:solidFill>
                    <a:latin typeface="+mn-lt"/>
                    <a:ea typeface="黑体" panose="02010609060101010101" pitchFamily="49" charset="-122"/>
                  </a:rPr>
                  <a:t>05</a:t>
                </a:r>
                <a:r>
                  <a:rPr lang="zh-CN" altLang="en-US" sz="2800" dirty="0">
                    <a:solidFill>
                      <a:srgbClr val="0000FF"/>
                    </a:solidFill>
                    <a:latin typeface="+mn-lt"/>
                    <a:ea typeface="黑体" panose="02010609060101010101" pitchFamily="49" charset="-122"/>
                  </a:rPr>
                  <a:t>号房间）</a:t>
                </a:r>
                <a:endParaRPr lang="zh-CN" altLang="en-US" sz="2800" dirty="0">
                  <a:latin typeface="Arial" panose="020B0604020202020204" pitchFamily="34" charset="0"/>
                </a:endParaRPr>
              </a:p>
            </p:txBody>
          </p:sp>
          <p:sp>
            <p:nvSpPr>
              <p:cNvPr id="125" name="Text Box 118"/>
              <p:cNvSpPr txBox="1">
                <a:spLocks noChangeArrowheads="1"/>
              </p:cNvSpPr>
              <p:nvPr/>
            </p:nvSpPr>
            <p:spPr bwMode="auto">
              <a:xfrm>
                <a:off x="385" y="2270"/>
                <a:ext cx="3255" cy="3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800" dirty="0">
                    <a:solidFill>
                      <a:srgbClr val="0000FF"/>
                    </a:solidFill>
                    <a:latin typeface="+mn-lt"/>
                    <a:ea typeface="黑体" panose="02010609060101010101" pitchFamily="49" charset="-122"/>
                  </a:rPr>
                  <a:t>物理地址＝</a:t>
                </a:r>
                <a:r>
                  <a:rPr lang="en-US" altLang="zh-CN" sz="2800" dirty="0">
                    <a:solidFill>
                      <a:srgbClr val="0000FF"/>
                    </a:solidFill>
                    <a:latin typeface="+mn-lt"/>
                    <a:ea typeface="黑体" panose="02010609060101010101" pitchFamily="49" charset="-122"/>
                  </a:rPr>
                  <a:t>15</a:t>
                </a:r>
                <a:r>
                  <a:rPr lang="zh-CN" altLang="en-US" sz="2800" dirty="0">
                    <a:solidFill>
                      <a:srgbClr val="0000FF"/>
                    </a:solidFill>
                    <a:latin typeface="+mn-lt"/>
                    <a:ea typeface="黑体" panose="02010609060101010101" pitchFamily="49" charset="-122"/>
                  </a:rPr>
                  <a:t>（第</a:t>
                </a:r>
                <a:r>
                  <a:rPr lang="en-US" altLang="zh-CN" sz="2800" dirty="0">
                    <a:solidFill>
                      <a:srgbClr val="0000FF"/>
                    </a:solidFill>
                    <a:latin typeface="+mn-lt"/>
                    <a:ea typeface="黑体" panose="02010609060101010101" pitchFamily="49" charset="-122"/>
                  </a:rPr>
                  <a:t>15</a:t>
                </a:r>
                <a:r>
                  <a:rPr lang="zh-CN" altLang="en-US" sz="2800" dirty="0">
                    <a:solidFill>
                      <a:srgbClr val="0000FF"/>
                    </a:solidFill>
                    <a:latin typeface="+mn-lt"/>
                    <a:ea typeface="黑体" panose="02010609060101010101" pitchFamily="49" charset="-122"/>
                  </a:rPr>
                  <a:t>号房间）</a:t>
                </a:r>
              </a:p>
            </p:txBody>
          </p:sp>
        </p:grpSp>
      </p:grpSp>
      <p:grpSp>
        <p:nvGrpSpPr>
          <p:cNvPr id="4" name="组合 3"/>
          <p:cNvGrpSpPr/>
          <p:nvPr/>
        </p:nvGrpSpPr>
        <p:grpSpPr>
          <a:xfrm>
            <a:off x="6114707" y="980728"/>
            <a:ext cx="2561874" cy="538148"/>
            <a:chOff x="971602" y="3360144"/>
            <a:chExt cx="6237613" cy="525401"/>
          </a:xfrm>
        </p:grpSpPr>
        <p:sp>
          <p:nvSpPr>
            <p:cNvPr id="5" name="Rectangle 31"/>
            <p:cNvSpPr>
              <a:spLocks noChangeArrowheads="1"/>
            </p:cNvSpPr>
            <p:nvPr/>
          </p:nvSpPr>
          <p:spPr bwMode="auto">
            <a:xfrm>
              <a:off x="971602" y="3360144"/>
              <a:ext cx="6237613" cy="52540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zh-CN" altLang="en-US" sz="2800" b="1" dirty="0">
                  <a:solidFill>
                    <a:srgbClr val="FF0000"/>
                  </a:solidFill>
                  <a:latin typeface="黑体" panose="02010609060101010101" pitchFamily="49" charset="-122"/>
                  <a:ea typeface="黑体" panose="02010609060101010101" pitchFamily="49" charset="-122"/>
                </a:rPr>
                <a:t>分段</a:t>
              </a:r>
              <a:r>
                <a:rPr lang="en-US" altLang="zh-CN" sz="2800" b="1" dirty="0">
                  <a:solidFill>
                    <a:srgbClr val="FF0000"/>
                  </a:solidFill>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分层</a:t>
              </a:r>
              <a:endParaRPr lang="pt-BR" altLang="zh-CN" sz="2800" b="1" dirty="0">
                <a:solidFill>
                  <a:srgbClr val="FF0000"/>
                </a:solidFill>
                <a:latin typeface="黑体" panose="02010609060101010101" pitchFamily="49" charset="-122"/>
                <a:ea typeface="黑体" panose="02010609060101010101" pitchFamily="49" charset="-122"/>
              </a:endParaRPr>
            </a:p>
          </p:txBody>
        </p:sp>
        <p:cxnSp>
          <p:nvCxnSpPr>
            <p:cNvPr id="7" name="直接箭头连接符 6"/>
            <p:cNvCxnSpPr/>
            <p:nvPr/>
          </p:nvCxnSpPr>
          <p:spPr bwMode="auto">
            <a:xfrm>
              <a:off x="3343796" y="3650554"/>
              <a:ext cx="1414272" cy="0"/>
            </a:xfrm>
            <a:prstGeom prst="straightConnector1">
              <a:avLst/>
            </a:prstGeom>
            <a:noFill/>
            <a:ln w="38100" cap="flat" cmpd="sng" algn="ctr">
              <a:solidFill>
                <a:srgbClr val="FF0000"/>
              </a:solidFill>
              <a:prstDash val="solid"/>
              <a:round/>
              <a:headEnd type="none" w="med" len="med"/>
              <a:tailEnd type="triangle" w="lg" len="lg"/>
            </a:ln>
            <a:effectLst/>
          </p:spPr>
        </p:cxn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539552" y="635000"/>
            <a:ext cx="8136904" cy="3226048"/>
          </a:xfrm>
          <a:prstGeom prst="rect">
            <a:avLst/>
          </a:prstGeom>
          <a:noFill/>
        </p:spPr>
        <p:txBody>
          <a:bodyPr vert="horz" wrap="square" rtlCol="0" anchor="ctr" anchorCtr="0">
            <a:noAutofit/>
          </a:bodyPr>
          <a:lstStyle/>
          <a:p>
            <a:pPr algn="just">
              <a:lnSpc>
                <a:spcPct val="150000"/>
              </a:lnSpc>
            </a:pPr>
            <a:r>
              <a:rPr lang="zh-CN" altLang="en-US" sz="2800" dirty="0">
                <a:solidFill>
                  <a:srgbClr val="000000"/>
                </a:solidFill>
                <a:latin typeface="黑体" panose="02010609060101010101" pitchFamily="49" charset="-122"/>
                <a:sym typeface="微软雅黑" panose="020B0503020204020204" charset="-122"/>
              </a:rPr>
              <a:t>逻辑地址由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1]</a:t>
            </a:r>
            <a:r>
              <a:rPr lang="zh-CN" altLang="en-US" sz="2800" dirty="0">
                <a:solidFill>
                  <a:srgbClr val="000000"/>
                </a:solidFill>
                <a:latin typeface="黑体" panose="02010609060101010101" pitchFamily="49" charset="-122"/>
                <a:sym typeface="微软雅黑" panose="020B0503020204020204" charset="-122"/>
              </a:rPr>
              <a:t> 和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2]</a:t>
            </a:r>
            <a:r>
              <a:rPr lang="zh-CN" altLang="en-US" sz="2800" dirty="0">
                <a:solidFill>
                  <a:srgbClr val="000000"/>
                </a:solidFill>
                <a:latin typeface="黑体" panose="02010609060101010101" pitchFamily="49" charset="-122"/>
                <a:sym typeface="微软雅黑" panose="020B0503020204020204" charset="-122"/>
              </a:rPr>
              <a:t> 两部分组成。代码段中下一条要执行的指令由 </a:t>
            </a:r>
            <a:r>
              <a:rPr lang="en-US" altLang="zh-CN" sz="2800" dirty="0">
                <a:solidFill>
                  <a:srgbClr val="000000"/>
                </a:solidFill>
                <a:latin typeface="黑体" panose="02010609060101010101" pitchFamily="49" charset="-122"/>
                <a:sym typeface="微软雅黑" panose="020B0503020204020204" charset="-122"/>
              </a:rPr>
              <a:t>CS </a:t>
            </a:r>
            <a:r>
              <a:rPr lang="zh-CN" altLang="en-US" sz="2800" dirty="0">
                <a:solidFill>
                  <a:srgbClr val="000000"/>
                </a:solidFill>
                <a:latin typeface="黑体" panose="02010609060101010101" pitchFamily="49" charset="-122"/>
                <a:sym typeface="微软雅黑" panose="020B0503020204020204" charset="-122"/>
              </a:rPr>
              <a:t>和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3]</a:t>
            </a:r>
            <a:r>
              <a:rPr lang="zh-CN" altLang="en-US" sz="2800" dirty="0">
                <a:solidFill>
                  <a:srgbClr val="000000"/>
                </a:solidFill>
                <a:latin typeface="黑体" panose="02010609060101010101" pitchFamily="49" charset="-122"/>
                <a:sym typeface="微软雅黑" panose="020B0503020204020204" charset="-122"/>
              </a:rPr>
              <a:t> 寄存器指示，后者在实地址模型中起作用的仅有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4]</a:t>
            </a:r>
            <a:r>
              <a:rPr lang="pt-BR"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寄存器部分。</a:t>
            </a:r>
          </a:p>
        </p:txBody>
      </p:sp>
      <p:sp>
        <p:nvSpPr>
          <p:cNvPr id="5" name="矩形: 圆角 4"/>
          <p:cNvSpPr/>
          <p:nvPr>
            <p:custDataLst>
              <p:tags r:id="rId3"/>
            </p:custDataLst>
          </p:nvPr>
        </p:nvSpPr>
        <p:spPr bwMode="auto">
          <a:xfrm>
            <a:off x="6172200" y="5517232"/>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4</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764704"/>
            <a:ext cx="8352928" cy="5904656"/>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编写应用程序时，涉及三类基本段：</a:t>
            </a:r>
          </a:p>
          <a:p>
            <a:pPr marL="914400" lvl="1" indent="-457200" algn="just">
              <a:lnSpc>
                <a:spcPct val="130000"/>
              </a:lnSpc>
              <a:spcBef>
                <a:spcPts val="0"/>
              </a:spcBef>
              <a:buClr>
                <a:srgbClr val="0000FF"/>
              </a:buClr>
              <a:buFont typeface="Wingdings" panose="05000000000000000000" pitchFamily="2" charset="2"/>
              <a:buChar char="ü"/>
            </a:pPr>
            <a:r>
              <a:rPr lang="zh-CN" altLang="en-US" sz="2600" dirty="0">
                <a:latin typeface="+mn-lt"/>
              </a:rPr>
              <a:t>代码段</a:t>
            </a:r>
            <a:r>
              <a:rPr lang="en-US" altLang="zh-CN" sz="2600" dirty="0">
                <a:latin typeface="+mn-lt"/>
              </a:rPr>
              <a:t>Code Segment</a:t>
            </a:r>
            <a:r>
              <a:rPr lang="zh-CN" altLang="en-US" sz="2600" dirty="0">
                <a:latin typeface="+mn-lt"/>
              </a:rPr>
              <a:t>：存放指令代码</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段基地址：代码段寄存器</a:t>
            </a:r>
            <a:r>
              <a:rPr lang="en-US" altLang="zh-CN" sz="2400" b="1" dirty="0">
                <a:solidFill>
                  <a:srgbClr val="FF0000"/>
                </a:solidFill>
                <a:latin typeface="+mn-lt"/>
              </a:rPr>
              <a:t>CS</a:t>
            </a:r>
            <a:r>
              <a:rPr lang="zh-CN" altLang="en-US" sz="2400" dirty="0">
                <a:solidFill>
                  <a:schemeClr val="tx1"/>
                </a:solidFill>
                <a:latin typeface="+mn-lt"/>
              </a:rPr>
              <a:t>指示</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偏移地址：指令指针寄存器</a:t>
            </a:r>
            <a:r>
              <a:rPr lang="en-US" altLang="zh-CN" sz="2400" b="1" dirty="0">
                <a:solidFill>
                  <a:srgbClr val="FF0000"/>
                </a:solidFill>
                <a:latin typeface="+mn-lt"/>
              </a:rPr>
              <a:t>EIP</a:t>
            </a:r>
            <a:r>
              <a:rPr lang="zh-CN" altLang="en-US" sz="2400" dirty="0">
                <a:solidFill>
                  <a:schemeClr val="tx1"/>
                </a:solidFill>
                <a:latin typeface="+mn-lt"/>
              </a:rPr>
              <a:t>保存</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处理器利用</a:t>
            </a:r>
            <a:r>
              <a:rPr lang="en-US" altLang="zh-CN" sz="2400" b="1" dirty="0">
                <a:solidFill>
                  <a:srgbClr val="FF0000"/>
                </a:solidFill>
                <a:latin typeface="+mn-lt"/>
              </a:rPr>
              <a:t>CS:EIP</a:t>
            </a:r>
            <a:r>
              <a:rPr lang="zh-CN" altLang="en-US" sz="2400" dirty="0">
                <a:solidFill>
                  <a:schemeClr val="tx1"/>
                </a:solidFill>
                <a:latin typeface="+mn-lt"/>
              </a:rPr>
              <a:t>取得下一条要执行的指令</a:t>
            </a:r>
          </a:p>
          <a:p>
            <a:pPr marL="914400" lvl="1" indent="-457200" algn="just">
              <a:lnSpc>
                <a:spcPct val="130000"/>
              </a:lnSpc>
              <a:spcBef>
                <a:spcPts val="0"/>
              </a:spcBef>
              <a:buClr>
                <a:srgbClr val="0000FF"/>
              </a:buClr>
              <a:buFont typeface="Wingdings" panose="05000000000000000000" pitchFamily="2" charset="2"/>
              <a:buChar char="ü"/>
            </a:pPr>
            <a:r>
              <a:rPr lang="zh-CN" altLang="en-US" sz="2600" dirty="0">
                <a:latin typeface="+mn-lt"/>
              </a:rPr>
              <a:t>数据段</a:t>
            </a:r>
            <a:r>
              <a:rPr lang="en-US" altLang="zh-CN" sz="2600" dirty="0">
                <a:latin typeface="+mn-lt"/>
              </a:rPr>
              <a:t>Data Segment</a:t>
            </a:r>
            <a:r>
              <a:rPr lang="zh-CN" altLang="en-US" sz="2600" dirty="0">
                <a:latin typeface="+mn-lt"/>
              </a:rPr>
              <a:t>：存放数据</a:t>
            </a:r>
            <a:endParaRPr lang="en-US" altLang="zh-CN" sz="2600" dirty="0">
              <a:latin typeface="+mn-lt"/>
            </a:endParaRP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段基地址：数据段寄存器</a:t>
            </a:r>
            <a:r>
              <a:rPr lang="en-US" altLang="zh-CN" sz="2400" b="1" dirty="0">
                <a:solidFill>
                  <a:srgbClr val="00B050"/>
                </a:solidFill>
                <a:latin typeface="+mn-lt"/>
              </a:rPr>
              <a:t>DS</a:t>
            </a:r>
            <a:r>
              <a:rPr lang="zh-CN" altLang="en-US" sz="2400" dirty="0">
                <a:solidFill>
                  <a:schemeClr val="tx1"/>
                </a:solidFill>
                <a:latin typeface="+mn-lt"/>
              </a:rPr>
              <a:t>指示（或其他数据段性质的段寄存器</a:t>
            </a:r>
            <a:r>
              <a:rPr lang="en-US" altLang="zh-CN" sz="2400" b="1" dirty="0">
                <a:solidFill>
                  <a:srgbClr val="00B050"/>
                </a:solidFill>
                <a:latin typeface="+mn-lt"/>
              </a:rPr>
              <a:t>ES/FS/GS</a:t>
            </a:r>
            <a:r>
              <a:rPr lang="zh-CN" altLang="en-US" sz="2400" dirty="0">
                <a:solidFill>
                  <a:schemeClr val="tx1"/>
                </a:solidFill>
                <a:latin typeface="+mn-lt"/>
              </a:rPr>
              <a:t>）</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偏移地址：各种</a:t>
            </a:r>
            <a:r>
              <a:rPr lang="zh-CN" altLang="en-US" sz="2400" b="1" dirty="0">
                <a:solidFill>
                  <a:srgbClr val="00B050"/>
                </a:solidFill>
                <a:latin typeface="+mn-lt"/>
              </a:rPr>
              <a:t>存储器寻址方式</a:t>
            </a:r>
            <a:r>
              <a:rPr lang="zh-CN" altLang="en-US" sz="2400" dirty="0">
                <a:solidFill>
                  <a:schemeClr val="tx1"/>
                </a:solidFill>
                <a:latin typeface="+mn-lt"/>
              </a:rPr>
              <a:t>计算出来</a:t>
            </a:r>
          </a:p>
          <a:p>
            <a:pPr marL="914400" lvl="1" indent="-457200" algn="just">
              <a:lnSpc>
                <a:spcPct val="130000"/>
              </a:lnSpc>
              <a:spcBef>
                <a:spcPts val="0"/>
              </a:spcBef>
              <a:buClr>
                <a:srgbClr val="0000FF"/>
              </a:buClr>
              <a:buFont typeface="Wingdings" panose="05000000000000000000" pitchFamily="2" charset="2"/>
              <a:buChar char="ü"/>
            </a:pPr>
            <a:r>
              <a:rPr lang="zh-CN" altLang="en-US" sz="2600" dirty="0">
                <a:latin typeface="+mn-lt"/>
              </a:rPr>
              <a:t>堆栈段</a:t>
            </a:r>
            <a:r>
              <a:rPr lang="en-US" altLang="zh-CN" sz="2600" dirty="0">
                <a:latin typeface="+mn-lt"/>
              </a:rPr>
              <a:t>Stack Segment</a:t>
            </a:r>
            <a:r>
              <a:rPr lang="zh-CN" altLang="en-US" sz="2600" dirty="0">
                <a:latin typeface="+mn-lt"/>
              </a:rPr>
              <a:t>：程序使用的堆栈</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段基地址：堆栈段寄存器</a:t>
            </a:r>
            <a:r>
              <a:rPr lang="en-US" altLang="zh-CN" sz="2400" b="1" dirty="0">
                <a:solidFill>
                  <a:srgbClr val="FF0000"/>
                </a:solidFill>
                <a:latin typeface="+mn-lt"/>
              </a:rPr>
              <a:t>SS</a:t>
            </a:r>
            <a:r>
              <a:rPr lang="zh-CN" altLang="en-US" sz="2400" dirty="0">
                <a:solidFill>
                  <a:schemeClr val="tx1"/>
                </a:solidFill>
                <a:latin typeface="+mn-lt"/>
              </a:rPr>
              <a:t>指示</a:t>
            </a:r>
          </a:p>
          <a:p>
            <a:pPr marL="1440180" lvl="1" indent="-457200" algn="just">
              <a:lnSpc>
                <a:spcPct val="125000"/>
              </a:lnSpc>
              <a:buClr>
                <a:srgbClr val="0000FF"/>
              </a:buClr>
              <a:buFont typeface="Arial" panose="020B0604020202020204" pitchFamily="34" charset="0"/>
              <a:buChar char="•"/>
            </a:pPr>
            <a:r>
              <a:rPr lang="zh-CN" altLang="en-US" sz="2400" dirty="0">
                <a:solidFill>
                  <a:schemeClr val="tx1"/>
                </a:solidFill>
                <a:latin typeface="+mn-lt"/>
              </a:rPr>
              <a:t>偏移地址：堆栈指针寄存器</a:t>
            </a:r>
            <a:r>
              <a:rPr lang="en-US" altLang="zh-CN" sz="2400" b="1" dirty="0">
                <a:solidFill>
                  <a:srgbClr val="FF0000"/>
                </a:solidFill>
                <a:latin typeface="+mn-lt"/>
              </a:rPr>
              <a:t>ESP</a:t>
            </a:r>
            <a:r>
              <a:rPr lang="zh-CN" altLang="en-US" sz="2400" dirty="0">
                <a:solidFill>
                  <a:schemeClr val="tx1"/>
                </a:solidFill>
                <a:latin typeface="+mn-lt"/>
              </a:rPr>
              <a:t>保存</a:t>
            </a: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基本段及其逻辑地址</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40960" y="742267"/>
            <a:ext cx="8335496" cy="5279021"/>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solidFill>
                  <a:schemeClr val="tx1"/>
                </a:solidFill>
                <a:latin typeface="+mn-lt"/>
              </a:rPr>
              <a:t>逻辑地址</a:t>
            </a:r>
            <a:r>
              <a:rPr lang="en-US" altLang="zh-CN" sz="2800" dirty="0">
                <a:solidFill>
                  <a:schemeClr val="tx1"/>
                </a:solidFill>
                <a:latin typeface="+mn-lt"/>
              </a:rPr>
              <a:t>=</a:t>
            </a:r>
            <a:r>
              <a:rPr lang="zh-CN" altLang="en-US" sz="2800" dirty="0">
                <a:latin typeface="+mn-lt"/>
              </a:rPr>
              <a:t>段基地址</a:t>
            </a:r>
            <a:r>
              <a:rPr lang="zh-CN" altLang="en-US" sz="2800" dirty="0">
                <a:solidFill>
                  <a:schemeClr val="tx1"/>
                </a:solidFill>
                <a:latin typeface="+mn-lt"/>
              </a:rPr>
              <a:t>：偏移地址</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段基地址部分由</a:t>
            </a:r>
            <a:r>
              <a:rPr lang="en-US" altLang="zh-CN" sz="2400" dirty="0">
                <a:solidFill>
                  <a:schemeClr val="tx1"/>
                </a:solidFill>
                <a:latin typeface="+mn-lt"/>
              </a:rPr>
              <a:t>16</a:t>
            </a:r>
            <a:r>
              <a:rPr lang="zh-CN" altLang="en-US" sz="2400" dirty="0">
                <a:solidFill>
                  <a:schemeClr val="tx1"/>
                </a:solidFill>
                <a:latin typeface="+mn-lt"/>
              </a:rPr>
              <a:t>位的</a:t>
            </a:r>
            <a:r>
              <a:rPr lang="zh-CN" altLang="en-US" sz="2400" dirty="0">
                <a:latin typeface="+mn-lt"/>
              </a:rPr>
              <a:t>段寄存器</a:t>
            </a:r>
            <a:r>
              <a:rPr lang="zh-CN" altLang="en-US" sz="2400" dirty="0">
                <a:solidFill>
                  <a:schemeClr val="tx1"/>
                </a:solidFill>
                <a:latin typeface="+mn-lt"/>
              </a:rPr>
              <a:t>确定，段寄存器保存</a:t>
            </a:r>
            <a:r>
              <a:rPr lang="en-US" altLang="zh-CN" sz="2400" dirty="0">
                <a:solidFill>
                  <a:schemeClr val="tx1"/>
                </a:solidFill>
                <a:latin typeface="+mn-lt"/>
              </a:rPr>
              <a:t>16</a:t>
            </a:r>
            <a:r>
              <a:rPr lang="zh-CN" altLang="en-US" sz="2400" dirty="0">
                <a:solidFill>
                  <a:schemeClr val="tx1"/>
                </a:solidFill>
                <a:latin typeface="+mn-lt"/>
              </a:rPr>
              <a:t>位</a:t>
            </a:r>
            <a:r>
              <a:rPr lang="zh-CN" altLang="en-US" sz="2400" dirty="0">
                <a:latin typeface="+mn-lt"/>
              </a:rPr>
              <a:t>段选择器</a:t>
            </a:r>
            <a:r>
              <a:rPr lang="en-US" altLang="zh-CN" sz="2400" dirty="0">
                <a:latin typeface="+mn-lt"/>
              </a:rPr>
              <a:t>(Segment Selector)</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段选择器指向对应的</a:t>
            </a:r>
            <a:r>
              <a:rPr lang="en-US" altLang="zh-CN" sz="2400" dirty="0">
                <a:solidFill>
                  <a:schemeClr val="tx1"/>
                </a:solidFill>
                <a:latin typeface="+mn-lt"/>
              </a:rPr>
              <a:t>64</a:t>
            </a:r>
            <a:r>
              <a:rPr lang="zh-CN" altLang="en-US" sz="2400" dirty="0">
                <a:solidFill>
                  <a:schemeClr val="tx1"/>
                </a:solidFill>
                <a:latin typeface="+mn-lt"/>
              </a:rPr>
              <a:t>位</a:t>
            </a:r>
            <a:r>
              <a:rPr lang="zh-CN" altLang="en-US" sz="2400" dirty="0">
                <a:latin typeface="+mn-lt"/>
              </a:rPr>
              <a:t>段描述符</a:t>
            </a:r>
            <a:r>
              <a:rPr lang="en-US" altLang="zh-CN" sz="2400" dirty="0">
                <a:latin typeface="+mn-lt"/>
              </a:rPr>
              <a:t>(Segment Descriptor)</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段描述符是保护模式引入的数据结构，包括</a:t>
            </a:r>
            <a:r>
              <a:rPr lang="zh-CN" altLang="en-US" sz="2400" dirty="0">
                <a:latin typeface="+mn-lt"/>
              </a:rPr>
              <a:t>段基地址</a:t>
            </a:r>
            <a:r>
              <a:rPr lang="en-US" altLang="zh-CN" sz="2400" dirty="0">
                <a:latin typeface="+mn-lt"/>
              </a:rPr>
              <a:t>(Segment Base Address)</a:t>
            </a:r>
            <a:r>
              <a:rPr lang="zh-CN" altLang="en-US" sz="2400" dirty="0">
                <a:solidFill>
                  <a:schemeClr val="tx1"/>
                </a:solidFill>
                <a:latin typeface="+mn-lt"/>
              </a:rPr>
              <a:t>、</a:t>
            </a:r>
            <a:r>
              <a:rPr lang="zh-CN" altLang="en-US" sz="2400" dirty="0">
                <a:latin typeface="+mn-lt"/>
              </a:rPr>
              <a:t>段长度</a:t>
            </a:r>
            <a:r>
              <a:rPr lang="en-US" altLang="zh-CN" sz="2400" dirty="0">
                <a:latin typeface="+mn-lt"/>
              </a:rPr>
              <a:t>(Segment Limit)</a:t>
            </a:r>
            <a:r>
              <a:rPr lang="zh-CN" altLang="en-US" sz="2400" dirty="0">
                <a:solidFill>
                  <a:schemeClr val="tx1"/>
                </a:solidFill>
                <a:latin typeface="+mn-lt"/>
              </a:rPr>
              <a:t>和该段的</a:t>
            </a:r>
            <a:r>
              <a:rPr lang="zh-CN" altLang="en-US" sz="2400" dirty="0">
                <a:latin typeface="+mn-lt"/>
              </a:rPr>
              <a:t>访问权限</a:t>
            </a:r>
            <a:r>
              <a:rPr lang="en-US" altLang="zh-CN" sz="2400" dirty="0">
                <a:latin typeface="+mn-lt"/>
              </a:rPr>
              <a:t>(Access Rights)</a:t>
            </a:r>
            <a:endParaRPr lang="zh-CN" altLang="en-US" sz="2400" dirty="0">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段选择器</a:t>
            </a:r>
            <a:r>
              <a:rPr kumimoji="1" lang="en-US" altLang="zh-CN" b="0" i="0" u="none" strike="noStrike" kern="0" cap="none" spc="0" normalizeH="0" baseline="0" noProof="0" dirty="0">
                <a:ln>
                  <a:noFill/>
                </a:ln>
                <a:solidFill>
                  <a:srgbClr val="000000"/>
                </a:solidFill>
                <a:effectLst/>
                <a:uLnTx/>
                <a:uFillTx/>
                <a:latin typeface="+mj-lt"/>
                <a:cs typeface="+mj-cs"/>
              </a:rPr>
              <a:t>Segment Selector</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42844"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22" name="Group 62"/>
          <p:cNvGrpSpPr/>
          <p:nvPr/>
        </p:nvGrpSpPr>
        <p:grpSpPr bwMode="auto">
          <a:xfrm>
            <a:off x="764421" y="4293096"/>
            <a:ext cx="7911965" cy="2140358"/>
            <a:chOff x="660" y="2590"/>
            <a:chExt cx="4338" cy="1554"/>
          </a:xfrm>
        </p:grpSpPr>
        <p:sp>
          <p:nvSpPr>
            <p:cNvPr id="24" name="Line 8"/>
            <p:cNvSpPr>
              <a:spLocks noChangeShapeType="1"/>
            </p:cNvSpPr>
            <p:nvPr/>
          </p:nvSpPr>
          <p:spPr bwMode="auto">
            <a:xfrm>
              <a:off x="1622" y="3478"/>
              <a:ext cx="413" cy="0"/>
            </a:xfrm>
            <a:prstGeom prst="line">
              <a:avLst/>
            </a:prstGeom>
            <a:noFill/>
            <a:ln w="38100">
              <a:solidFill>
                <a:srgbClr val="0066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5" name="Line 9"/>
            <p:cNvSpPr>
              <a:spLocks noChangeShapeType="1"/>
            </p:cNvSpPr>
            <p:nvPr/>
          </p:nvSpPr>
          <p:spPr bwMode="auto">
            <a:xfrm>
              <a:off x="2999" y="3464"/>
              <a:ext cx="856" cy="0"/>
            </a:xfrm>
            <a:prstGeom prst="line">
              <a:avLst/>
            </a:prstGeom>
            <a:noFill/>
            <a:ln w="38100">
              <a:solidFill>
                <a:srgbClr val="0066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26" name="Text Box 11"/>
            <p:cNvSpPr txBox="1">
              <a:spLocks noChangeArrowheads="1"/>
            </p:cNvSpPr>
            <p:nvPr/>
          </p:nvSpPr>
          <p:spPr bwMode="auto">
            <a:xfrm>
              <a:off x="660" y="2604"/>
              <a:ext cx="112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FF0000"/>
                  </a:solidFill>
                  <a:latin typeface="黑体" panose="02010609060101010101" pitchFamily="49" charset="-122"/>
                  <a:ea typeface="黑体" panose="02010609060101010101" pitchFamily="49" charset="-122"/>
                </a:rPr>
                <a:t>16</a:t>
              </a:r>
              <a:r>
                <a:rPr lang="zh-CN" altLang="en-US" sz="2400" b="0" dirty="0">
                  <a:solidFill>
                    <a:srgbClr val="FF0000"/>
                  </a:solidFill>
                  <a:latin typeface="黑体" panose="02010609060101010101" pitchFamily="49" charset="-122"/>
                  <a:ea typeface="黑体" panose="02010609060101010101" pitchFamily="49" charset="-122"/>
                </a:rPr>
                <a:t>位段寄存器</a:t>
              </a:r>
            </a:p>
          </p:txBody>
        </p:sp>
        <p:sp>
          <p:nvSpPr>
            <p:cNvPr id="27" name="Text Box 12"/>
            <p:cNvSpPr txBox="1">
              <a:spLocks noChangeArrowheads="1"/>
            </p:cNvSpPr>
            <p:nvPr/>
          </p:nvSpPr>
          <p:spPr bwMode="auto">
            <a:xfrm>
              <a:off x="2003" y="2597"/>
              <a:ext cx="112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en-US" altLang="zh-CN" sz="2400" b="0" dirty="0">
                  <a:solidFill>
                    <a:srgbClr val="FF0000"/>
                  </a:solidFill>
                  <a:latin typeface="黑体" panose="02010609060101010101" pitchFamily="49" charset="-122"/>
                  <a:ea typeface="黑体" panose="02010609060101010101" pitchFamily="49" charset="-122"/>
                </a:rPr>
                <a:t>64</a:t>
              </a:r>
              <a:r>
                <a:rPr lang="zh-CN" altLang="en-US" sz="2400" b="0" dirty="0">
                  <a:solidFill>
                    <a:srgbClr val="FF0000"/>
                  </a:solidFill>
                  <a:latin typeface="黑体" panose="02010609060101010101" pitchFamily="49" charset="-122"/>
                  <a:ea typeface="黑体" panose="02010609060101010101" pitchFamily="49" charset="-122"/>
                </a:rPr>
                <a:t>位段描述符</a:t>
              </a:r>
            </a:p>
          </p:txBody>
        </p:sp>
        <p:sp>
          <p:nvSpPr>
            <p:cNvPr id="28" name="Text Box 13"/>
            <p:cNvSpPr txBox="1">
              <a:spLocks noChangeArrowheads="1"/>
            </p:cNvSpPr>
            <p:nvPr/>
          </p:nvSpPr>
          <p:spPr bwMode="auto">
            <a:xfrm>
              <a:off x="3803" y="2590"/>
              <a:ext cx="1114"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None/>
              </a:pPr>
              <a:r>
                <a:rPr lang="zh-CN" altLang="en-US" sz="2400" b="0" dirty="0">
                  <a:solidFill>
                    <a:srgbClr val="FF0000"/>
                  </a:solidFill>
                  <a:latin typeface="黑体" panose="02010609060101010101" pitchFamily="49" charset="-122"/>
                  <a:ea typeface="黑体" panose="02010609060101010101" pitchFamily="49" charset="-122"/>
                </a:rPr>
                <a:t>主存储器空间</a:t>
              </a:r>
            </a:p>
          </p:txBody>
        </p:sp>
        <p:sp>
          <p:nvSpPr>
            <p:cNvPr id="29" name="Rectangle 18"/>
            <p:cNvSpPr>
              <a:spLocks noChangeArrowheads="1"/>
            </p:cNvSpPr>
            <p:nvPr/>
          </p:nvSpPr>
          <p:spPr bwMode="auto">
            <a:xfrm>
              <a:off x="2228" y="3642"/>
              <a:ext cx="102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endParaRPr lang="zh-CN" altLang="en-US" sz="2000"/>
            </a:p>
          </p:txBody>
        </p:sp>
        <p:sp>
          <p:nvSpPr>
            <p:cNvPr id="30" name="Rectangle 17"/>
            <p:cNvSpPr>
              <a:spLocks noChangeArrowheads="1"/>
            </p:cNvSpPr>
            <p:nvPr/>
          </p:nvSpPr>
          <p:spPr bwMode="auto">
            <a:xfrm>
              <a:off x="2020" y="3308"/>
              <a:ext cx="1021" cy="32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18900000" scaled="1"/>
            </a:gradFill>
            <a:ln>
              <a:noFill/>
            </a:ln>
            <a:effectLst/>
          </p:spPr>
          <p:txBody>
            <a:bodyPr/>
            <a:lstStyle>
              <a:lvl1pPr algn="just">
                <a:spcBef>
                  <a:spcPct val="20000"/>
                </a:spcBef>
                <a:buClr>
                  <a:schemeClr val="folHlink"/>
                </a:buClr>
                <a:buFont typeface="Wingdings" panose="05000000000000000000" pitchFamily="2" charset="2"/>
                <a:buChar char="Ø"/>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buBlip>
                  <a:blip r:embed="rId3"/>
                </a:buBlip>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buBlip>
                  <a:blip r:embed="rId4"/>
                </a:buBlip>
                <a:defRPr sz="22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defRPr/>
              </a:pPr>
              <a:r>
                <a:rPr lang="zh-CN" altLang="en-US" sz="2400" dirty="0">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段基地址</a:t>
              </a:r>
            </a:p>
          </p:txBody>
        </p:sp>
        <p:sp>
          <p:nvSpPr>
            <p:cNvPr id="31" name="Rectangle 16"/>
            <p:cNvSpPr>
              <a:spLocks noChangeArrowheads="1"/>
            </p:cNvSpPr>
            <p:nvPr/>
          </p:nvSpPr>
          <p:spPr bwMode="auto">
            <a:xfrm>
              <a:off x="2228" y="3067"/>
              <a:ext cx="102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endParaRPr lang="zh-CN" altLang="en-US" sz="2000"/>
            </a:p>
          </p:txBody>
        </p:sp>
        <p:sp>
          <p:nvSpPr>
            <p:cNvPr id="32" name="Line 19"/>
            <p:cNvSpPr>
              <a:spLocks noChangeShapeType="1"/>
            </p:cNvSpPr>
            <p:nvPr/>
          </p:nvSpPr>
          <p:spPr bwMode="auto">
            <a:xfrm>
              <a:off x="2027" y="3069"/>
              <a:ext cx="1021"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2"/>
            <p:cNvSpPr>
              <a:spLocks noChangeShapeType="1"/>
            </p:cNvSpPr>
            <p:nvPr/>
          </p:nvSpPr>
          <p:spPr bwMode="auto">
            <a:xfrm>
              <a:off x="2027" y="3893"/>
              <a:ext cx="1021"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23"/>
            <p:cNvSpPr>
              <a:spLocks noChangeShapeType="1"/>
            </p:cNvSpPr>
            <p:nvPr/>
          </p:nvSpPr>
          <p:spPr bwMode="auto">
            <a:xfrm>
              <a:off x="2027" y="3069"/>
              <a:ext cx="0" cy="824"/>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24"/>
            <p:cNvSpPr>
              <a:spLocks noChangeShapeType="1"/>
            </p:cNvSpPr>
            <p:nvPr/>
          </p:nvSpPr>
          <p:spPr bwMode="auto">
            <a:xfrm>
              <a:off x="3048" y="3069"/>
              <a:ext cx="0" cy="824"/>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Rectangle 50"/>
            <p:cNvSpPr>
              <a:spLocks noChangeArrowheads="1"/>
            </p:cNvSpPr>
            <p:nvPr/>
          </p:nvSpPr>
          <p:spPr bwMode="auto">
            <a:xfrm>
              <a:off x="3617" y="3071"/>
              <a:ext cx="133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endParaRPr lang="zh-CN" altLang="en-US" sz="2000"/>
            </a:p>
          </p:txBody>
        </p:sp>
        <p:sp>
          <p:nvSpPr>
            <p:cNvPr id="37" name="Rectangle 47"/>
            <p:cNvSpPr>
              <a:spLocks noChangeArrowheads="1"/>
            </p:cNvSpPr>
            <p:nvPr/>
          </p:nvSpPr>
          <p:spPr bwMode="auto">
            <a:xfrm>
              <a:off x="3666" y="3648"/>
              <a:ext cx="133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endParaRPr lang="zh-CN" altLang="en-US" sz="2000"/>
            </a:p>
          </p:txBody>
        </p:sp>
        <p:sp>
          <p:nvSpPr>
            <p:cNvPr id="38" name="Rectangle 38"/>
            <p:cNvSpPr>
              <a:spLocks noChangeArrowheads="1"/>
            </p:cNvSpPr>
            <p:nvPr/>
          </p:nvSpPr>
          <p:spPr bwMode="auto">
            <a:xfrm>
              <a:off x="3617" y="3895"/>
              <a:ext cx="133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pPr>
              <a:endParaRPr lang="zh-CN" altLang="en-US" sz="2000"/>
            </a:p>
          </p:txBody>
        </p:sp>
      </p:grpSp>
      <p:sp>
        <p:nvSpPr>
          <p:cNvPr id="39" name="Rectangle 17"/>
          <p:cNvSpPr>
            <a:spLocks noChangeArrowheads="1"/>
          </p:cNvSpPr>
          <p:nvPr/>
        </p:nvSpPr>
        <p:spPr bwMode="auto">
          <a:xfrm>
            <a:off x="6600975" y="5279779"/>
            <a:ext cx="1862175" cy="449007"/>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18900000" scaled="1"/>
          </a:gradFill>
          <a:ln>
            <a:noFill/>
          </a:ln>
          <a:effectLst/>
        </p:spPr>
        <p:txBody>
          <a:bodyPr/>
          <a:lstStyle>
            <a:lvl1pPr algn="just">
              <a:spcBef>
                <a:spcPct val="20000"/>
              </a:spcBef>
              <a:buClr>
                <a:schemeClr val="folHlink"/>
              </a:buClr>
              <a:buFont typeface="Wingdings" panose="05000000000000000000" pitchFamily="2" charset="2"/>
              <a:buChar char="Ø"/>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buBlip>
                <a:blip r:embed="rId3"/>
              </a:buBlip>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buBlip>
                <a:blip r:embed="rId4"/>
              </a:buBlip>
              <a:defRPr sz="22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defRPr/>
            </a:pPr>
            <a:r>
              <a:rPr lang="zh-CN" altLang="en-US" sz="2400" dirty="0">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数据或指令</a:t>
            </a:r>
          </a:p>
        </p:txBody>
      </p:sp>
      <p:sp>
        <p:nvSpPr>
          <p:cNvPr id="40" name="Line 19"/>
          <p:cNvSpPr>
            <a:spLocks noChangeShapeType="1"/>
          </p:cNvSpPr>
          <p:nvPr/>
        </p:nvSpPr>
        <p:spPr bwMode="auto">
          <a:xfrm>
            <a:off x="6600975" y="4950078"/>
            <a:ext cx="1862175"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22"/>
          <p:cNvSpPr>
            <a:spLocks noChangeShapeType="1"/>
          </p:cNvSpPr>
          <p:nvPr/>
        </p:nvSpPr>
        <p:spPr bwMode="auto">
          <a:xfrm>
            <a:off x="6600975" y="6084991"/>
            <a:ext cx="1862175"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13"/>
          <p:cNvSpPr txBox="1">
            <a:spLocks noChangeArrowheads="1"/>
          </p:cNvSpPr>
          <p:nvPr/>
        </p:nvSpPr>
        <p:spPr bwMode="auto">
          <a:xfrm>
            <a:off x="5229292" y="4969355"/>
            <a:ext cx="1217000" cy="9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ctr" eaLnBrk="1" hangingPunct="1">
              <a:lnSpc>
                <a:spcPct val="150000"/>
              </a:lnSpc>
              <a:spcBef>
                <a:spcPct val="0"/>
              </a:spcBef>
              <a:buClrTx/>
              <a:buFontTx/>
              <a:buNone/>
            </a:pPr>
            <a:r>
              <a:rPr lang="zh-CN" altLang="en-US" sz="2000" dirty="0">
                <a:solidFill>
                  <a:schemeClr val="bg2"/>
                </a:solidFill>
                <a:latin typeface="+mn-lt"/>
                <a:ea typeface="黑体" panose="02010609060101010101" pitchFamily="49" charset="-122"/>
              </a:rPr>
              <a:t>加上</a:t>
            </a:r>
            <a:endParaRPr lang="en-US" altLang="zh-CN" sz="2000" dirty="0">
              <a:solidFill>
                <a:schemeClr val="bg2"/>
              </a:solidFill>
              <a:latin typeface="+mn-lt"/>
              <a:ea typeface="黑体" panose="02010609060101010101" pitchFamily="49" charset="-122"/>
            </a:endParaRPr>
          </a:p>
          <a:p>
            <a:pPr algn="ctr" eaLnBrk="1" hangingPunct="1">
              <a:lnSpc>
                <a:spcPct val="150000"/>
              </a:lnSpc>
              <a:spcBef>
                <a:spcPct val="0"/>
              </a:spcBef>
              <a:buClrTx/>
              <a:buFontTx/>
              <a:buNone/>
            </a:pPr>
            <a:r>
              <a:rPr lang="zh-CN" altLang="en-US" sz="2000" dirty="0">
                <a:solidFill>
                  <a:schemeClr val="bg2"/>
                </a:solidFill>
                <a:latin typeface="+mn-lt"/>
                <a:ea typeface="黑体" panose="02010609060101010101" pitchFamily="49" charset="-122"/>
              </a:rPr>
              <a:t>偏移地址</a:t>
            </a:r>
          </a:p>
        </p:txBody>
      </p:sp>
      <p:sp>
        <p:nvSpPr>
          <p:cNvPr id="43" name="Line 19"/>
          <p:cNvSpPr>
            <a:spLocks noChangeShapeType="1"/>
          </p:cNvSpPr>
          <p:nvPr/>
        </p:nvSpPr>
        <p:spPr bwMode="auto">
          <a:xfrm>
            <a:off x="6600975" y="4950078"/>
            <a:ext cx="1862175"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3"/>
          <p:cNvSpPr>
            <a:spLocks noChangeShapeType="1"/>
          </p:cNvSpPr>
          <p:nvPr/>
        </p:nvSpPr>
        <p:spPr bwMode="auto">
          <a:xfrm>
            <a:off x="6591921" y="4950078"/>
            <a:ext cx="0" cy="113491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4"/>
          <p:cNvSpPr>
            <a:spLocks noChangeShapeType="1"/>
          </p:cNvSpPr>
          <p:nvPr/>
        </p:nvSpPr>
        <p:spPr bwMode="auto">
          <a:xfrm>
            <a:off x="8463150" y="4950078"/>
            <a:ext cx="0" cy="113491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Text Box 11"/>
          <p:cNvSpPr txBox="1">
            <a:spLocks noChangeArrowheads="1"/>
          </p:cNvSpPr>
          <p:nvPr/>
        </p:nvSpPr>
        <p:spPr bwMode="auto">
          <a:xfrm>
            <a:off x="3698343" y="490450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000" dirty="0">
                <a:latin typeface="黑体" panose="02010609060101010101" pitchFamily="49" charset="-122"/>
                <a:ea typeface="黑体" panose="02010609060101010101" pitchFamily="49" charset="-122"/>
              </a:rPr>
              <a:t>段长度</a:t>
            </a:r>
          </a:p>
        </p:txBody>
      </p:sp>
      <p:sp>
        <p:nvSpPr>
          <p:cNvPr id="50" name="Text Box 11"/>
          <p:cNvSpPr txBox="1">
            <a:spLocks noChangeArrowheads="1"/>
          </p:cNvSpPr>
          <p:nvPr/>
        </p:nvSpPr>
        <p:spPr bwMode="auto">
          <a:xfrm>
            <a:off x="3571024" y="5692798"/>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lang="zh-CN" altLang="en-US" sz="2000" dirty="0">
                <a:latin typeface="黑体" panose="02010609060101010101" pitchFamily="49" charset="-122"/>
                <a:ea typeface="黑体" panose="02010609060101010101" pitchFamily="49" charset="-122"/>
              </a:rPr>
              <a:t>访问权限</a:t>
            </a:r>
          </a:p>
        </p:txBody>
      </p:sp>
      <p:sp>
        <p:nvSpPr>
          <p:cNvPr id="51" name="Rectangle 17"/>
          <p:cNvSpPr>
            <a:spLocks noChangeArrowheads="1"/>
          </p:cNvSpPr>
          <p:nvPr/>
        </p:nvSpPr>
        <p:spPr bwMode="auto">
          <a:xfrm>
            <a:off x="904719" y="5243791"/>
            <a:ext cx="1624553" cy="46140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18900000" scaled="1"/>
          </a:gradFill>
          <a:ln>
            <a:noFill/>
          </a:ln>
          <a:effectLst/>
        </p:spPr>
        <p:txBody>
          <a:bodyPr/>
          <a:lstStyle>
            <a:lvl1pPr algn="just">
              <a:spcBef>
                <a:spcPct val="20000"/>
              </a:spcBef>
              <a:buClr>
                <a:schemeClr val="folHlink"/>
              </a:buClr>
              <a:buFont typeface="Wingdings" panose="05000000000000000000" pitchFamily="2" charset="2"/>
              <a:buChar char="Ø"/>
              <a:defRPr sz="2800" b="1">
                <a:solidFill>
                  <a:schemeClr val="tx1"/>
                </a:solidFill>
                <a:latin typeface="宋体" panose="02010600030101010101" pitchFamily="2" charset="-122"/>
                <a:ea typeface="宋体" panose="02010600030101010101" pitchFamily="2" charset="-122"/>
              </a:defRPr>
            </a:lvl1pPr>
            <a:lvl2pPr algn="just">
              <a:spcBef>
                <a:spcPct val="20000"/>
              </a:spcBef>
              <a:buClr>
                <a:schemeClr val="accent1"/>
              </a:buClr>
              <a:buSzPct val="70000"/>
              <a:buFont typeface="Wingdings" panose="05000000000000000000" pitchFamily="2" charset="2"/>
              <a:buBlip>
                <a:blip r:embed="rId3"/>
              </a:buBlip>
              <a:defRPr sz="2400" b="1">
                <a:solidFill>
                  <a:srgbClr val="193C7D"/>
                </a:solidFill>
                <a:latin typeface="宋体" panose="02010600030101010101" pitchFamily="2" charset="-122"/>
                <a:ea typeface="宋体" panose="02010600030101010101" pitchFamily="2" charset="-122"/>
              </a:defRPr>
            </a:lvl2pPr>
            <a:lvl3pPr algn="just">
              <a:spcBef>
                <a:spcPct val="20000"/>
              </a:spcBef>
              <a:buClr>
                <a:schemeClr val="folHlink"/>
              </a:buClr>
              <a:buSzPct val="65000"/>
              <a:buFont typeface="Wingdings" panose="05000000000000000000" pitchFamily="2" charset="2"/>
              <a:buBlip>
                <a:blip r:embed="rId4"/>
              </a:buBlip>
              <a:defRPr sz="2200" b="1">
                <a:solidFill>
                  <a:schemeClr val="tx2"/>
                </a:solidFill>
                <a:latin typeface="宋体" panose="02010600030101010101" pitchFamily="2" charset="-122"/>
                <a:ea typeface="宋体" panose="02010600030101010101" pitchFamily="2" charset="-122"/>
              </a:defRPr>
            </a:lvl3pPr>
            <a:lvl4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4pPr>
            <a:lvl5pPr algn="just">
              <a:spcBef>
                <a:spcPct val="20000"/>
              </a:spcBef>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5pPr>
            <a:lvl6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6pPr>
            <a:lvl7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7pPr>
            <a:lvl8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8pPr>
            <a:lvl9pPr algn="just" fontAlgn="base">
              <a:spcBef>
                <a:spcPct val="20000"/>
              </a:spcBef>
              <a:spcAft>
                <a:spcPct val="0"/>
              </a:spcAft>
              <a:buClr>
                <a:schemeClr val="accent1"/>
              </a:buClr>
              <a:buFont typeface="Wingdings" panose="05000000000000000000" pitchFamily="2" charset="2"/>
              <a:buChar char="§"/>
              <a:defRPr b="1">
                <a:solidFill>
                  <a:schemeClr val="tx1"/>
                </a:solidFill>
                <a:latin typeface="宋体" panose="02010600030101010101" pitchFamily="2" charset="-122"/>
                <a:ea typeface="宋体" panose="02010600030101010101" pitchFamily="2" charset="-122"/>
              </a:defRPr>
            </a:lvl9pPr>
          </a:lstStyle>
          <a:p>
            <a:pPr algn="ctr" eaLnBrk="1" hangingPunct="1">
              <a:buFont typeface="Wingdings" panose="05000000000000000000" pitchFamily="2" charset="2"/>
              <a:buNone/>
              <a:defRPr/>
            </a:pPr>
            <a:r>
              <a:rPr lang="zh-CN" altLang="en-US" sz="2400" dirty="0">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段选择器</a:t>
            </a:r>
            <a:endParaRPr lang="en-US" altLang="zh-CN" sz="2400" dirty="0">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702221"/>
            <a:ext cx="8352928" cy="5279021"/>
          </a:xfrm>
          <a:prstGeom prst="rect">
            <a:avLst/>
          </a:prstGeom>
        </p:spPr>
        <p:txBody>
          <a:bodyPr/>
          <a:lstStyle/>
          <a:p>
            <a:pPr marL="457200" indent="-457200" algn="just">
              <a:lnSpc>
                <a:spcPct val="130000"/>
              </a:lnSpc>
              <a:spcBef>
                <a:spcPts val="300"/>
              </a:spcBef>
              <a:buClr>
                <a:srgbClr val="0000FF"/>
              </a:buClr>
              <a:buSzPct val="100000"/>
              <a:buFont typeface="Wingdings" panose="05000000000000000000" pitchFamily="2" charset="2"/>
              <a:buChar char="Ø"/>
              <a:defRPr/>
            </a:pPr>
            <a:r>
              <a:rPr lang="zh-CN" altLang="en-US" sz="2800" dirty="0">
                <a:latin typeface="+mn-lt"/>
              </a:rPr>
              <a:t>存储模型不同，段寄存器的内容也不同</a:t>
            </a:r>
            <a:endParaRPr lang="en-US" altLang="zh-CN" sz="2800" dirty="0">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rgbClr val="FF0000"/>
                </a:solidFill>
                <a:latin typeface="+mn-lt"/>
              </a:rPr>
              <a:t>平展存储模型</a:t>
            </a:r>
            <a:r>
              <a:rPr lang="zh-CN" altLang="en-US" sz="2400" dirty="0">
                <a:solidFill>
                  <a:schemeClr val="tx1"/>
                </a:solidFill>
                <a:latin typeface="+mn-lt"/>
              </a:rPr>
              <a:t>：</a:t>
            </a:r>
            <a:r>
              <a:rPr lang="en-US" altLang="zh-CN" sz="2400" dirty="0">
                <a:solidFill>
                  <a:schemeClr val="tx1"/>
                </a:solidFill>
                <a:latin typeface="+mn-lt"/>
              </a:rPr>
              <a:t>6</a:t>
            </a:r>
            <a:r>
              <a:rPr lang="zh-CN" altLang="en-US" sz="2400" dirty="0">
                <a:solidFill>
                  <a:schemeClr val="tx1"/>
                </a:solidFill>
                <a:latin typeface="+mn-lt"/>
              </a:rPr>
              <a:t>个段寄存器都指向线性地址空间的地址</a:t>
            </a:r>
            <a:r>
              <a:rPr lang="en-US" altLang="zh-CN" sz="2400" dirty="0">
                <a:solidFill>
                  <a:schemeClr val="tx1"/>
                </a:solidFill>
                <a:latin typeface="+mn-lt"/>
              </a:rPr>
              <a:t>0</a:t>
            </a:r>
            <a:r>
              <a:rPr lang="zh-CN" altLang="en-US" sz="2400" dirty="0">
                <a:solidFill>
                  <a:schemeClr val="tx1"/>
                </a:solidFill>
                <a:latin typeface="+mn-lt"/>
              </a:rPr>
              <a:t>位置，即段基地址等于</a:t>
            </a:r>
            <a:r>
              <a:rPr lang="en-US" altLang="zh-CN" sz="2400" dirty="0">
                <a:solidFill>
                  <a:schemeClr val="tx1"/>
                </a:solidFill>
                <a:latin typeface="+mn-lt"/>
              </a:rPr>
              <a:t>0</a:t>
            </a:r>
            <a:endParaRPr lang="zh-CN" altLang="en-US" sz="2400" dirty="0">
              <a:solidFill>
                <a:schemeClr val="tx1"/>
              </a:solidFill>
              <a:latin typeface="+mn-lt"/>
            </a:endParaRP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rgbClr val="FF0000"/>
                </a:solidFill>
                <a:latin typeface="+mn-lt"/>
              </a:rPr>
              <a:t>段式存储模型</a:t>
            </a:r>
            <a:r>
              <a:rPr lang="zh-CN" altLang="en-US" sz="2400" dirty="0">
                <a:solidFill>
                  <a:schemeClr val="tx1"/>
                </a:solidFill>
                <a:latin typeface="+mn-lt"/>
              </a:rPr>
              <a:t>：段寄存器保存不同的段选择器，指向线性地址空间不同的段</a:t>
            </a:r>
          </a:p>
          <a:p>
            <a:pPr marL="914400" lvl="1" indent="-457200" algn="just">
              <a:lnSpc>
                <a:spcPct val="130000"/>
              </a:lnSpc>
              <a:spcBef>
                <a:spcPts val="300"/>
              </a:spcBef>
              <a:buClr>
                <a:srgbClr val="0000FF"/>
              </a:buClr>
              <a:buFont typeface="Wingdings" panose="05000000000000000000" pitchFamily="2" charset="2"/>
              <a:buChar char="ü"/>
            </a:pPr>
            <a:r>
              <a:rPr lang="zh-CN" altLang="en-US" sz="2400" dirty="0">
                <a:solidFill>
                  <a:srgbClr val="FF0000"/>
                </a:solidFill>
                <a:latin typeface="+mn-lt"/>
              </a:rPr>
              <a:t>实地址存储模型</a:t>
            </a:r>
            <a:r>
              <a:rPr lang="zh-CN" altLang="en-US" sz="2400" dirty="0">
                <a:solidFill>
                  <a:schemeClr val="tx1"/>
                </a:solidFill>
                <a:latin typeface="+mn-lt"/>
              </a:rPr>
              <a:t>：直接保存段基地址的高</a:t>
            </a:r>
            <a:r>
              <a:rPr lang="en-US" altLang="zh-CN" sz="2400" dirty="0">
                <a:solidFill>
                  <a:schemeClr val="tx1"/>
                </a:solidFill>
                <a:latin typeface="+mn-lt"/>
              </a:rPr>
              <a:t>16</a:t>
            </a:r>
            <a:r>
              <a:rPr lang="zh-CN" altLang="en-US" sz="2400" dirty="0">
                <a:solidFill>
                  <a:schemeClr val="tx1"/>
                </a:solidFill>
                <a:latin typeface="+mn-lt"/>
              </a:rPr>
              <a:t>位</a:t>
            </a:r>
            <a:r>
              <a:rPr lang="en-US" altLang="zh-CN" sz="2400" dirty="0">
                <a:solidFill>
                  <a:schemeClr val="tx1"/>
                </a:solidFill>
                <a:latin typeface="+mn-lt"/>
              </a:rPr>
              <a:t>(</a:t>
            </a:r>
            <a:r>
              <a:rPr lang="zh-CN" altLang="en-US" sz="2400" dirty="0">
                <a:solidFill>
                  <a:schemeClr val="tx1"/>
                </a:solidFill>
                <a:latin typeface="+mn-lt"/>
              </a:rPr>
              <a:t>低</a:t>
            </a:r>
            <a:r>
              <a:rPr lang="en-US" altLang="zh-CN" sz="2400" dirty="0">
                <a:solidFill>
                  <a:schemeClr val="tx1"/>
                </a:solidFill>
                <a:latin typeface="+mn-lt"/>
              </a:rPr>
              <a:t>4</a:t>
            </a:r>
            <a:r>
              <a:rPr lang="zh-CN" altLang="en-US" sz="2400" dirty="0">
                <a:solidFill>
                  <a:schemeClr val="tx1"/>
                </a:solidFill>
                <a:latin typeface="+mn-lt"/>
              </a:rPr>
              <a:t>位</a:t>
            </a:r>
            <a:r>
              <a:rPr lang="en-US" altLang="zh-CN" sz="2400" dirty="0">
                <a:solidFill>
                  <a:schemeClr val="tx1"/>
                </a:solidFill>
                <a:latin typeface="+mn-lt"/>
              </a:rPr>
              <a:t>0)</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处理器的工作方式决定了程序可使用存储模型</a:t>
            </a: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zh-CN" altLang="en-US"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段选择器</a:t>
            </a:r>
          </a:p>
        </p:txBody>
      </p:sp>
      <p:cxnSp>
        <p:nvCxnSpPr>
          <p:cNvPr id="8" name="直接连接符 7"/>
          <p:cNvCxnSpPr/>
          <p:nvPr/>
        </p:nvCxnSpPr>
        <p:spPr bwMode="auto">
          <a:xfrm>
            <a:off x="142844" y="715581"/>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grpSp>
        <p:nvGrpSpPr>
          <p:cNvPr id="53" name="Group 15"/>
          <p:cNvGrpSpPr/>
          <p:nvPr/>
        </p:nvGrpSpPr>
        <p:grpSpPr bwMode="auto">
          <a:xfrm>
            <a:off x="1331640" y="4509120"/>
            <a:ext cx="3733803" cy="2046290"/>
            <a:chOff x="1549" y="553"/>
            <a:chExt cx="2352" cy="1289"/>
          </a:xfrm>
        </p:grpSpPr>
        <p:sp>
          <p:nvSpPr>
            <p:cNvPr id="54" name="Text Box 16"/>
            <p:cNvSpPr txBox="1">
              <a:spLocks noChangeArrowheads="1"/>
            </p:cNvSpPr>
            <p:nvPr/>
          </p:nvSpPr>
          <p:spPr bwMode="auto">
            <a:xfrm>
              <a:off x="1549" y="1052"/>
              <a:ext cx="896"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20000"/>
                </a:spcBef>
                <a:buClr>
                  <a:srgbClr val="CC99FF"/>
                </a:buClr>
                <a:buFont typeface="Monotype Sorts" pitchFamily="2" charset="2"/>
                <a:buNone/>
              </a:pPr>
              <a:r>
                <a:rPr lang="zh-CN" altLang="en-US" sz="2400" b="1" dirty="0">
                  <a:solidFill>
                    <a:schemeClr val="tx1"/>
                  </a:solidFill>
                  <a:latin typeface="+mn-lt"/>
                </a:rPr>
                <a:t>工作方式</a:t>
              </a:r>
            </a:p>
          </p:txBody>
        </p:sp>
        <p:sp>
          <p:nvSpPr>
            <p:cNvPr id="55" name="Text Box 17"/>
            <p:cNvSpPr txBox="1">
              <a:spLocks noChangeArrowheads="1"/>
            </p:cNvSpPr>
            <p:nvPr/>
          </p:nvSpPr>
          <p:spPr bwMode="auto">
            <a:xfrm>
              <a:off x="2624" y="553"/>
              <a:ext cx="1091"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20000"/>
                </a:spcBef>
                <a:buClr>
                  <a:srgbClr val="CC99FF"/>
                </a:buClr>
                <a:buFont typeface="Monotype Sorts" pitchFamily="2" charset="2"/>
                <a:buNone/>
              </a:pPr>
              <a:r>
                <a:rPr lang="zh-CN" altLang="en-US" sz="2400" b="1" dirty="0">
                  <a:solidFill>
                    <a:srgbClr val="00B050"/>
                  </a:solidFill>
                  <a:latin typeface="+mn-lt"/>
                </a:rPr>
                <a:t>实地址方式</a:t>
              </a:r>
              <a:endParaRPr lang="en-US" altLang="zh-CN" sz="2400" dirty="0">
                <a:solidFill>
                  <a:srgbClr val="00B050"/>
                </a:solidFill>
                <a:latin typeface="微软雅黑" panose="020B0503020204020204" charset="-122"/>
                <a:ea typeface="微软雅黑" panose="020B0503020204020204" charset="-122"/>
                <a:cs typeface="Times New Roman" panose="02020603050405020304" pitchFamily="18" charset="0"/>
              </a:endParaRPr>
            </a:p>
          </p:txBody>
        </p:sp>
        <p:sp>
          <p:nvSpPr>
            <p:cNvPr id="56" name="Text Box 18"/>
            <p:cNvSpPr txBox="1">
              <a:spLocks noChangeArrowheads="1"/>
            </p:cNvSpPr>
            <p:nvPr/>
          </p:nvSpPr>
          <p:spPr bwMode="auto">
            <a:xfrm>
              <a:off x="2615" y="1551"/>
              <a:ext cx="1286"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20000"/>
                </a:spcBef>
                <a:buClr>
                  <a:srgbClr val="CC99FF"/>
                </a:buClr>
                <a:buFont typeface="Monotype Sorts" pitchFamily="2" charset="2"/>
                <a:buNone/>
              </a:pPr>
              <a:r>
                <a:rPr lang="zh-CN" altLang="en-US" sz="2400" b="1" dirty="0">
                  <a:solidFill>
                    <a:srgbClr val="00B050"/>
                  </a:solidFill>
                  <a:latin typeface="+mn-lt"/>
                </a:rPr>
                <a:t>系统管理方式</a:t>
              </a:r>
              <a:endParaRPr lang="en-US" altLang="zh-CN" sz="2400" dirty="0">
                <a:solidFill>
                  <a:srgbClr val="00B050"/>
                </a:solidFill>
                <a:latin typeface="微软雅黑" panose="020B0503020204020204" charset="-122"/>
                <a:ea typeface="微软雅黑" panose="020B0503020204020204" charset="-122"/>
                <a:cs typeface="Times New Roman" panose="02020603050405020304" pitchFamily="18" charset="0"/>
              </a:endParaRPr>
            </a:p>
          </p:txBody>
        </p:sp>
        <p:sp>
          <p:nvSpPr>
            <p:cNvPr id="57" name="Text Box 19"/>
            <p:cNvSpPr txBox="1">
              <a:spLocks noChangeArrowheads="1"/>
            </p:cNvSpPr>
            <p:nvPr/>
          </p:nvSpPr>
          <p:spPr bwMode="auto">
            <a:xfrm>
              <a:off x="2624" y="1074"/>
              <a:ext cx="896"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20000"/>
                </a:spcBef>
                <a:buClr>
                  <a:srgbClr val="CC99FF"/>
                </a:buClr>
                <a:buFont typeface="Monotype Sorts" pitchFamily="2" charset="2"/>
                <a:buNone/>
              </a:pPr>
              <a:r>
                <a:rPr lang="zh-CN" altLang="en-US" sz="2400" b="1" dirty="0">
                  <a:solidFill>
                    <a:srgbClr val="00B050"/>
                  </a:solidFill>
                  <a:latin typeface="+mn-lt"/>
                </a:rPr>
                <a:t>保护方式</a:t>
              </a:r>
              <a:endParaRPr lang="zh-CN" altLang="en-US" sz="1800" b="1" dirty="0">
                <a:solidFill>
                  <a:srgbClr val="00B050"/>
                </a:solidFill>
                <a:latin typeface="+mn-lt"/>
              </a:endParaRPr>
            </a:p>
          </p:txBody>
        </p:sp>
        <p:sp>
          <p:nvSpPr>
            <p:cNvPr id="58" name="AutoShape 20"/>
            <p:cNvSpPr/>
            <p:nvPr/>
          </p:nvSpPr>
          <p:spPr bwMode="auto">
            <a:xfrm>
              <a:off x="2419" y="710"/>
              <a:ext cx="162" cy="990"/>
            </a:xfrm>
            <a:prstGeom prst="leftBrace">
              <a:avLst>
                <a:gd name="adj1" fmla="val 31250"/>
                <a:gd name="adj2" fmla="val 50000"/>
              </a:avLst>
            </a:prstGeom>
            <a:noFill/>
            <a:ln w="38100">
              <a:solidFill>
                <a:srgbClr val="FF6600"/>
              </a:solidFill>
              <a:round/>
            </a:ln>
            <a:effectLst/>
            <a:extLst>
              <a:ext uri="{909E8E84-426E-40DD-AFC4-6F175D3DCCD1}">
                <a14:hiddenFill xmlns:a14="http://schemas.microsoft.com/office/drawing/2010/main">
                  <a:solidFill>
                    <a:srgbClr val="0000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mn-lt"/>
              </a:endParaRPr>
            </a:p>
          </p:txBody>
        </p:sp>
      </p:grpSp>
      <p:grpSp>
        <p:nvGrpSpPr>
          <p:cNvPr id="59" name="Group 21"/>
          <p:cNvGrpSpPr/>
          <p:nvPr/>
        </p:nvGrpSpPr>
        <p:grpSpPr bwMode="auto">
          <a:xfrm>
            <a:off x="4759230" y="5067370"/>
            <a:ext cx="2428959" cy="1042989"/>
            <a:chOff x="4136" y="1396"/>
            <a:chExt cx="1089" cy="657"/>
          </a:xfrm>
        </p:grpSpPr>
        <p:sp>
          <p:nvSpPr>
            <p:cNvPr id="60" name="Text Box 22"/>
            <p:cNvSpPr txBox="1">
              <a:spLocks noChangeArrowheads="1"/>
            </p:cNvSpPr>
            <p:nvPr/>
          </p:nvSpPr>
          <p:spPr bwMode="auto">
            <a:xfrm>
              <a:off x="4299" y="1396"/>
              <a:ext cx="915" cy="268"/>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buClr>
                  <a:srgbClr val="CC99FF"/>
                </a:buClr>
                <a:buFont typeface="Monotype Sorts" pitchFamily="2" charset="2"/>
                <a:buNone/>
              </a:pPr>
              <a:r>
                <a:rPr lang="zh-CN" altLang="en-US" sz="2400" b="1" dirty="0">
                  <a:solidFill>
                    <a:srgbClr val="FF0000"/>
                  </a:solidFill>
                  <a:latin typeface="+mn-lt"/>
                </a:rPr>
                <a:t>平展存储模型</a:t>
              </a:r>
              <a:endParaRPr lang="en-US" altLang="zh-CN" sz="240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61" name="Text Box 23"/>
            <p:cNvSpPr txBox="1">
              <a:spLocks noChangeArrowheads="1"/>
            </p:cNvSpPr>
            <p:nvPr/>
          </p:nvSpPr>
          <p:spPr bwMode="auto">
            <a:xfrm>
              <a:off x="4310" y="1785"/>
              <a:ext cx="915" cy="268"/>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buClr>
                  <a:srgbClr val="CC99FF"/>
                </a:buClr>
                <a:buFont typeface="Monotype Sorts" pitchFamily="2" charset="2"/>
                <a:buNone/>
              </a:pPr>
              <a:r>
                <a:rPr lang="zh-CN" altLang="en-US" sz="2400" b="1" dirty="0">
                  <a:solidFill>
                    <a:srgbClr val="FF0000"/>
                  </a:solidFill>
                  <a:latin typeface="+mn-lt"/>
                </a:rPr>
                <a:t>段式存储模型</a:t>
              </a:r>
              <a:endParaRPr lang="en-US" altLang="zh-CN" sz="240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62" name="AutoShape 24"/>
            <p:cNvSpPr/>
            <p:nvPr/>
          </p:nvSpPr>
          <p:spPr bwMode="auto">
            <a:xfrm>
              <a:off x="4136" y="1496"/>
              <a:ext cx="115" cy="441"/>
            </a:xfrm>
            <a:prstGeom prst="leftBrace">
              <a:avLst>
                <a:gd name="adj1" fmla="val 21211"/>
                <a:gd name="adj2" fmla="val 50000"/>
              </a:avLst>
            </a:prstGeom>
            <a:noFill/>
            <a:ln w="38100">
              <a:solidFill>
                <a:srgbClr val="FF6600"/>
              </a:solidFill>
              <a:round/>
            </a:ln>
            <a:effectLst/>
            <a:extLst>
              <a:ext uri="{909E8E84-426E-40DD-AFC4-6F175D3DCCD1}">
                <a14:hiddenFill xmlns:a14="http://schemas.microsoft.com/office/drawing/2010/main">
                  <a:solidFill>
                    <a:srgbClr val="0000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mn-lt"/>
              </a:endParaRPr>
            </a:p>
          </p:txBody>
        </p:sp>
      </p:grpSp>
      <p:sp>
        <p:nvSpPr>
          <p:cNvPr id="70" name="Line 8"/>
          <p:cNvSpPr>
            <a:spLocks noChangeShapeType="1"/>
          </p:cNvSpPr>
          <p:nvPr/>
        </p:nvSpPr>
        <p:spPr bwMode="auto">
          <a:xfrm>
            <a:off x="4822231" y="4752244"/>
            <a:ext cx="657298" cy="0"/>
          </a:xfrm>
          <a:prstGeom prst="line">
            <a:avLst/>
          </a:prstGeom>
          <a:noFill/>
          <a:ln w="38100">
            <a:solidFill>
              <a:srgbClr val="FF6600"/>
            </a:solidFill>
            <a:rou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71" name="Text Box 22"/>
          <p:cNvSpPr txBox="1">
            <a:spLocks noChangeArrowheads="1"/>
          </p:cNvSpPr>
          <p:nvPr/>
        </p:nvSpPr>
        <p:spPr bwMode="auto">
          <a:xfrm>
            <a:off x="5508104" y="4509716"/>
            <a:ext cx="2350323" cy="424732"/>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buClr>
                <a:srgbClr val="CC99FF"/>
              </a:buClr>
              <a:buFont typeface="Monotype Sorts" pitchFamily="2" charset="2"/>
              <a:buNone/>
            </a:pPr>
            <a:r>
              <a:rPr lang="zh-CN" altLang="en-US" sz="2400" b="1" dirty="0">
                <a:solidFill>
                  <a:srgbClr val="FF0000"/>
                </a:solidFill>
                <a:latin typeface="+mn-lt"/>
              </a:rPr>
              <a:t>实地址存储模型</a:t>
            </a:r>
            <a:endParaRPr lang="en-US" altLang="zh-CN" sz="240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68660" y="734244"/>
            <a:ext cx="8307796" cy="5279021"/>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保护方式下将逻辑地址转换为物理地址分为两个阶段</a:t>
            </a:r>
            <a:endParaRPr lang="en-US" altLang="zh-CN" sz="26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逻辑地址映射到线性地址：</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保护方式下，可使用平展或段式存储模型</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rgbClr val="00B050"/>
                </a:solidFill>
                <a:latin typeface="+mn-lt"/>
              </a:rPr>
              <a:t>平展存储模型</a:t>
            </a:r>
            <a:r>
              <a:rPr lang="zh-CN" altLang="en-US" sz="2400" dirty="0">
                <a:solidFill>
                  <a:schemeClr val="tx1"/>
                </a:solidFill>
                <a:latin typeface="+mn-lt"/>
              </a:rPr>
              <a:t>：段基地址为</a:t>
            </a:r>
            <a:r>
              <a:rPr lang="en-US" altLang="zh-CN" sz="2400" dirty="0">
                <a:solidFill>
                  <a:schemeClr val="tx1"/>
                </a:solidFill>
                <a:latin typeface="+mn-lt"/>
              </a:rPr>
              <a:t>0</a:t>
            </a:r>
            <a:r>
              <a:rPr lang="zh-CN" altLang="en-US" sz="2400" dirty="0">
                <a:solidFill>
                  <a:schemeClr val="tx1"/>
                </a:solidFill>
                <a:latin typeface="+mn-lt"/>
              </a:rPr>
              <a:t>，偏移地址等于线性地址</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rgbClr val="00B050"/>
                </a:solidFill>
                <a:latin typeface="+mn-lt"/>
              </a:rPr>
              <a:t>段式存储模型（段选择器）</a:t>
            </a:r>
            <a:r>
              <a:rPr lang="zh-CN" altLang="en-US" sz="2400" dirty="0">
                <a:solidFill>
                  <a:schemeClr val="tx1"/>
                </a:solidFill>
                <a:latin typeface="+mn-lt"/>
              </a:rPr>
              <a:t>：段基地址和偏移地址都是</a:t>
            </a:r>
            <a:r>
              <a:rPr lang="en-US" altLang="zh-CN" sz="2400" dirty="0">
                <a:solidFill>
                  <a:schemeClr val="tx1"/>
                </a:solidFill>
                <a:latin typeface="+mn-lt"/>
              </a:rPr>
              <a:t>32</a:t>
            </a:r>
            <a:r>
              <a:rPr lang="zh-CN" altLang="en-US" sz="2400" dirty="0">
                <a:solidFill>
                  <a:schemeClr val="tx1"/>
                </a:solidFill>
                <a:latin typeface="+mn-lt"/>
              </a:rPr>
              <a:t>位，段基地址加上偏移地址形成线性地址</a:t>
            </a:r>
            <a:endParaRPr lang="zh-CN" altLang="en-US" sz="2400" dirty="0">
              <a:solidFill>
                <a:srgbClr val="FF0000"/>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线性地址映射到物理地址：</a:t>
            </a:r>
            <a:endParaRPr lang="en-US" altLang="zh-CN" sz="2600" dirty="0">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不使用</a:t>
            </a:r>
            <a:r>
              <a:rPr lang="zh-CN" altLang="en-US" sz="2400" dirty="0">
                <a:solidFill>
                  <a:srgbClr val="00B050"/>
                </a:solidFill>
                <a:latin typeface="+mn-lt"/>
              </a:rPr>
              <a:t>分页机制</a:t>
            </a:r>
            <a:r>
              <a:rPr lang="en-US" altLang="zh-CN" sz="2400" dirty="0">
                <a:solidFill>
                  <a:srgbClr val="00B050"/>
                </a:solidFill>
                <a:latin typeface="+mn-lt"/>
              </a:rPr>
              <a:t>(Paging mechanism)</a:t>
            </a:r>
            <a:r>
              <a:rPr lang="zh-CN" altLang="en-US" sz="2400" dirty="0">
                <a:solidFill>
                  <a:schemeClr val="tx1"/>
                </a:solidFill>
                <a:latin typeface="+mn-lt"/>
              </a:rPr>
              <a:t>：线性地址即物理地址</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使用分页机制：线性地址经分页机制变成物理地址</a:t>
            </a: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zh-CN" altLang="en-US" sz="28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zh-CN" altLang="en-US"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保护方式的地址转换</a:t>
            </a:r>
          </a:p>
        </p:txBody>
      </p:sp>
      <p:cxnSp>
        <p:nvCxnSpPr>
          <p:cNvPr id="8" name="直接连接符 7"/>
          <p:cNvCxnSpPr/>
          <p:nvPr/>
        </p:nvCxnSpPr>
        <p:spPr bwMode="auto">
          <a:xfrm>
            <a:off x="142844" y="70986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467544" y="764704"/>
            <a:ext cx="8208912" cy="5798506"/>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可寻址主存空间</a:t>
            </a:r>
            <a:r>
              <a:rPr lang="en-US" altLang="zh-CN" sz="2600" dirty="0">
                <a:latin typeface="+mn-lt"/>
              </a:rPr>
              <a:t>1MB(</a:t>
            </a:r>
            <a:r>
              <a:rPr lang="zh-CN" altLang="en-US" sz="2600" dirty="0">
                <a:latin typeface="+mn-lt"/>
              </a:rPr>
              <a:t>＝</a:t>
            </a:r>
            <a:r>
              <a:rPr lang="en-US" altLang="zh-CN" sz="2600" dirty="0">
                <a:latin typeface="+mn-lt"/>
              </a:rPr>
              <a:t>2</a:t>
            </a:r>
            <a:r>
              <a:rPr lang="en-US" altLang="zh-CN" sz="2600" baseline="30000" dirty="0">
                <a:latin typeface="+mn-lt"/>
              </a:rPr>
              <a:t>20</a:t>
            </a:r>
            <a:r>
              <a:rPr lang="en-US" altLang="zh-CN" sz="2600" dirty="0">
                <a:latin typeface="+mn-lt"/>
              </a:rPr>
              <a:t>B)</a:t>
            </a:r>
            <a:r>
              <a:rPr lang="zh-CN" altLang="en-US" sz="2600" dirty="0">
                <a:latin typeface="+mn-lt"/>
              </a:rPr>
              <a:t>，仅使用地址总线的低</a:t>
            </a:r>
            <a:r>
              <a:rPr lang="en-US" altLang="zh-CN" sz="2600" dirty="0">
                <a:latin typeface="+mn-lt"/>
              </a:rPr>
              <a:t>20</a:t>
            </a:r>
            <a:r>
              <a:rPr lang="zh-CN" altLang="en-US" sz="2600" dirty="0">
                <a:latin typeface="+mn-lt"/>
              </a:rPr>
              <a:t>位</a:t>
            </a:r>
            <a:endParaRPr lang="en-US" altLang="zh-CN" sz="2600" dirty="0">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实地址存储模型也进行分段管理，但有两个限制：</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每个段最大为</a:t>
            </a:r>
            <a:r>
              <a:rPr lang="en-US" altLang="zh-CN" sz="2400" dirty="0">
                <a:solidFill>
                  <a:schemeClr val="tx1"/>
                </a:solidFill>
                <a:latin typeface="+mn-lt"/>
              </a:rPr>
              <a:t>64KB</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段只能开始于低</a:t>
            </a:r>
            <a:r>
              <a:rPr lang="en-US" altLang="zh-CN" sz="2400" dirty="0">
                <a:solidFill>
                  <a:schemeClr val="tx1"/>
                </a:solidFill>
                <a:latin typeface="+mn-lt"/>
              </a:rPr>
              <a:t>4</a:t>
            </a:r>
            <a:r>
              <a:rPr lang="zh-CN" altLang="en-US" sz="2400" dirty="0">
                <a:solidFill>
                  <a:schemeClr val="tx1"/>
                </a:solidFill>
                <a:latin typeface="+mn-lt"/>
              </a:rPr>
              <a:t>位地址全为</a:t>
            </a:r>
            <a:r>
              <a:rPr lang="en-US" altLang="zh-CN" sz="2400" dirty="0">
                <a:solidFill>
                  <a:schemeClr val="tx1"/>
                </a:solidFill>
                <a:latin typeface="+mn-lt"/>
              </a:rPr>
              <a:t>0</a:t>
            </a:r>
            <a:r>
              <a:rPr lang="zh-CN" altLang="en-US" sz="2400" dirty="0">
                <a:solidFill>
                  <a:schemeClr val="tx1"/>
                </a:solidFill>
                <a:latin typeface="+mn-lt"/>
              </a:rPr>
              <a:t>的物理地址处</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逻辑地址＝段基地址∶偏移地址</a:t>
            </a: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rgbClr val="00B050"/>
                </a:solidFill>
                <a:latin typeface="+mn-lt"/>
              </a:rPr>
              <a:t>16</a:t>
            </a:r>
            <a:r>
              <a:rPr lang="zh-CN" altLang="en-US" sz="2400" dirty="0">
                <a:solidFill>
                  <a:srgbClr val="00B050"/>
                </a:solidFill>
                <a:latin typeface="+mn-lt"/>
              </a:rPr>
              <a:t>位段基地址</a:t>
            </a:r>
            <a:r>
              <a:rPr lang="zh-CN" altLang="en-US" sz="2400" dirty="0">
                <a:solidFill>
                  <a:schemeClr val="tx1"/>
                </a:solidFill>
                <a:latin typeface="+mn-lt"/>
              </a:rPr>
              <a:t>：段寄存器保存段起始地址的高</a:t>
            </a:r>
            <a:r>
              <a:rPr lang="en-US" altLang="zh-CN" sz="2400" dirty="0">
                <a:solidFill>
                  <a:schemeClr val="tx1"/>
                </a:solidFill>
                <a:latin typeface="+mn-lt"/>
              </a:rPr>
              <a:t>16</a:t>
            </a:r>
            <a:r>
              <a:rPr lang="zh-CN" altLang="en-US" sz="2400" dirty="0">
                <a:solidFill>
                  <a:schemeClr val="tx1"/>
                </a:solidFill>
                <a:latin typeface="+mn-lt"/>
              </a:rPr>
              <a:t>位</a:t>
            </a: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rgbClr val="00B050"/>
                </a:solidFill>
                <a:latin typeface="+mn-lt"/>
              </a:rPr>
              <a:t>16</a:t>
            </a:r>
            <a:r>
              <a:rPr lang="zh-CN" altLang="en-US" sz="2400" dirty="0">
                <a:solidFill>
                  <a:srgbClr val="00B050"/>
                </a:solidFill>
                <a:latin typeface="+mn-lt"/>
              </a:rPr>
              <a:t>位偏移地址</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600" dirty="0">
                <a:latin typeface="+mn-lt"/>
              </a:rPr>
              <a:t>物理地址＝</a:t>
            </a:r>
            <a:r>
              <a:rPr lang="zh-CN" altLang="en-US" sz="2600" dirty="0">
                <a:solidFill>
                  <a:srgbClr val="FF0000"/>
                </a:solidFill>
                <a:latin typeface="+mn-lt"/>
              </a:rPr>
              <a:t>段基地址</a:t>
            </a:r>
            <a:r>
              <a:rPr lang="en-US" altLang="zh-CN" sz="2600" dirty="0">
                <a:solidFill>
                  <a:srgbClr val="FF0000"/>
                </a:solidFill>
                <a:latin typeface="+mn-lt"/>
              </a:rPr>
              <a:t>×16</a:t>
            </a:r>
            <a:r>
              <a:rPr lang="zh-CN" altLang="en-US" sz="2600" dirty="0">
                <a:latin typeface="+mn-lt"/>
              </a:rPr>
              <a:t>＋偏移地址</a:t>
            </a: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zh-CN" altLang="en-US"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实地址方式的地址转换</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Rounded Rectangular Callout 2"/>
          <p:cNvSpPr/>
          <p:nvPr/>
        </p:nvSpPr>
        <p:spPr bwMode="auto">
          <a:xfrm>
            <a:off x="4346713" y="6021288"/>
            <a:ext cx="1521431" cy="517308"/>
          </a:xfrm>
          <a:prstGeom prst="wedgeRoundRectCallout">
            <a:avLst>
              <a:gd name="adj1" fmla="val -39787"/>
              <a:gd name="adj2" fmla="val -110871"/>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endParaRPr lang="en-US" altLang="zh-CN" sz="2800" dirty="0">
              <a:solidFill>
                <a:srgbClr val="00B050"/>
              </a:solidFill>
              <a:ea typeface="黑体" panose="02010609060101010101" pitchFamily="49" charset="-122"/>
            </a:endParaRPr>
          </a:p>
          <a:p>
            <a:pPr algn="ct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左移</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4</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位</a:t>
            </a:r>
            <a:endPar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lgn="ctr"/>
            <a:endParaRPr lang="zh-CN" altLang="en-US" sz="2800" dirty="0">
              <a:solidFill>
                <a:srgbClr val="00B05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实地址方式的地址转换</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Picture 118" descr="fig02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14" y="921280"/>
            <a:ext cx="8892480" cy="5388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连接符 19"/>
          <p:cNvCxnSpPr/>
          <p:nvPr/>
        </p:nvCxnSpPr>
        <p:spPr bwMode="auto">
          <a:xfrm>
            <a:off x="5017300" y="4414136"/>
            <a:ext cx="4006394" cy="0"/>
          </a:xfrm>
          <a:prstGeom prst="line">
            <a:avLst/>
          </a:prstGeom>
          <a:noFill/>
          <a:ln w="31750" cap="flat" cmpd="sng" algn="ctr">
            <a:solidFill>
              <a:srgbClr val="FF0000"/>
            </a:solidFill>
            <a:prstDash val="solid"/>
            <a:round/>
            <a:headEnd type="none" w="med" len="med"/>
            <a:tailEnd type="none" w="med" len="med"/>
          </a:ln>
          <a:effectLst/>
        </p:spPr>
      </p:cxnSp>
      <p:cxnSp>
        <p:nvCxnSpPr>
          <p:cNvPr id="25" name="直接连接符 24"/>
          <p:cNvCxnSpPr/>
          <p:nvPr/>
        </p:nvCxnSpPr>
        <p:spPr bwMode="auto">
          <a:xfrm>
            <a:off x="5017300" y="4715420"/>
            <a:ext cx="1426908" cy="0"/>
          </a:xfrm>
          <a:prstGeom prst="line">
            <a:avLst/>
          </a:prstGeom>
          <a:noFill/>
          <a:ln w="31750" cap="flat" cmpd="sng" algn="ctr">
            <a:solidFill>
              <a:srgbClr val="FF0000"/>
            </a:solidFill>
            <a:prstDash val="solid"/>
            <a:round/>
            <a:headEnd type="none" w="med" len="med"/>
            <a:tailEnd type="none" w="med" len="med"/>
          </a:ln>
          <a:effectLst/>
        </p:spPr>
      </p:cxnSp>
      <p:cxnSp>
        <p:nvCxnSpPr>
          <p:cNvPr id="31" name="直接连接符 30"/>
          <p:cNvCxnSpPr/>
          <p:nvPr/>
        </p:nvCxnSpPr>
        <p:spPr bwMode="auto">
          <a:xfrm>
            <a:off x="7740352" y="4113321"/>
            <a:ext cx="0" cy="1296144"/>
          </a:xfrm>
          <a:prstGeom prst="line">
            <a:avLst/>
          </a:prstGeom>
          <a:noFill/>
          <a:ln w="25400" cap="flat" cmpd="sng" algn="ctr">
            <a:solidFill>
              <a:srgbClr val="00B050"/>
            </a:solidFill>
            <a:prstDash val="dash"/>
            <a:round/>
            <a:headEnd type="none" w="med" len="med"/>
            <a:tailEnd type="none" w="med" len="med"/>
          </a:ln>
          <a:effectLst/>
        </p:spPr>
      </p:cxnSp>
      <p:sp>
        <p:nvSpPr>
          <p:cNvPr id="34" name="矩形: 圆角 33"/>
          <p:cNvSpPr/>
          <p:nvPr/>
        </p:nvSpPr>
        <p:spPr bwMode="auto">
          <a:xfrm>
            <a:off x="5001580" y="4073212"/>
            <a:ext cx="4075121" cy="1346886"/>
          </a:xfrm>
          <a:prstGeom prst="roundRect">
            <a:avLst/>
          </a:prstGeom>
          <a:noFill/>
          <a:ln w="9525" cap="flat" cmpd="sng" algn="ctr">
            <a:solidFill>
              <a:schemeClr val="accent1"/>
            </a:solidFill>
            <a:prstDash val="dash"/>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3" name="Rounded Rectangular Callout 2"/>
          <p:cNvSpPr/>
          <p:nvPr/>
        </p:nvSpPr>
        <p:spPr bwMode="auto">
          <a:xfrm>
            <a:off x="3300320" y="1060758"/>
            <a:ext cx="5688632" cy="1090678"/>
          </a:xfrm>
          <a:prstGeom prst="wedgeRoundRectCallout">
            <a:avLst>
              <a:gd name="adj1" fmla="val -23182"/>
              <a:gd name="adj2" fmla="val -44676"/>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just">
              <a:spcBef>
                <a:spcPts val="600"/>
              </a:spcBef>
              <a:buClr>
                <a:srgbClr val="0000FF"/>
              </a:buClr>
              <a:buSzPct val="100000"/>
              <a:defRPr/>
            </a:pP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20</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位</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 </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      </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16</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位              </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16</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位                   </a:t>
            </a:r>
            <a:endPar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lgn="just">
              <a:spcBef>
                <a:spcPts val="600"/>
              </a:spcBef>
              <a:buClr>
                <a:srgbClr val="0000FF"/>
              </a:buClr>
              <a:buSzPct val="100000"/>
              <a:defRPr/>
            </a:pP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物理地址＝段基地址</a:t>
            </a:r>
            <a:r>
              <a:rPr lang="zh-CN" altLang="en-US" sz="24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左移</a:t>
            </a:r>
            <a:r>
              <a:rPr lang="en-US" altLang="zh-CN" sz="24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4</a:t>
            </a:r>
            <a:r>
              <a:rPr lang="zh-CN" altLang="en-US" sz="24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位</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＋偏移地址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395536" y="635000"/>
            <a:ext cx="8494464" cy="3442072"/>
          </a:xfrm>
          <a:prstGeom prst="rect">
            <a:avLst/>
          </a:prstGeom>
          <a:noFill/>
        </p:spPr>
        <p:txBody>
          <a:bodyPr vert="horz" wrap="square" rtlCol="0" anchor="ctr" anchorCtr="0">
            <a:noAutofit/>
          </a:bodyPr>
          <a:lstStyle/>
          <a:p>
            <a:pPr>
              <a:lnSpc>
                <a:spcPct val="150000"/>
              </a:lnSpc>
            </a:pPr>
            <a:r>
              <a:rPr lang="zh-CN" altLang="en-US" sz="2800" dirty="0">
                <a:solidFill>
                  <a:srgbClr val="000000"/>
                </a:solidFill>
                <a:latin typeface="黑体" panose="02010609060101010101" pitchFamily="49" charset="-122"/>
                <a:sym typeface="微软雅黑" panose="020B0503020204020204" charset="-122"/>
              </a:rPr>
              <a:t>在实地址工作方式下，逻辑地址“</a:t>
            </a:r>
            <a:r>
              <a:rPr lang="en-US" altLang="zh-CN" sz="2800" dirty="0">
                <a:solidFill>
                  <a:srgbClr val="000000"/>
                </a:solidFill>
                <a:latin typeface="黑体" panose="02010609060101010101" pitchFamily="49" charset="-122"/>
                <a:sym typeface="微软雅黑" panose="020B0503020204020204" charset="-122"/>
              </a:rPr>
              <a:t>7380H∶0400H”</a:t>
            </a:r>
            <a:r>
              <a:rPr lang="zh-CN" altLang="en-US" sz="2800" dirty="0">
                <a:solidFill>
                  <a:srgbClr val="000000"/>
                </a:solidFill>
                <a:latin typeface="黑体" panose="02010609060101010101" pitchFamily="49" charset="-122"/>
                <a:sym typeface="微软雅黑" panose="020B0503020204020204" charset="-122"/>
              </a:rPr>
              <a:t>表示的物理地址是</a:t>
            </a:r>
            <a:r>
              <a:rPr lang="zh-CN" altLang="en-US" sz="2800" dirty="0">
                <a:solidFill>
                  <a:srgbClr val="639EF4"/>
                </a:solidFill>
                <a:latin typeface="黑体" panose="02010609060101010101" pitchFamily="49" charset="-122"/>
                <a:sym typeface="微软雅黑" panose="020B0503020204020204" charset="-122"/>
              </a:rPr>
              <a:t> </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1]</a:t>
            </a:r>
            <a:r>
              <a:rPr lang="en-US" altLang="zh-CN" sz="2800" dirty="0">
                <a:solidFill>
                  <a:srgbClr val="000000"/>
                </a:solidFill>
                <a:latin typeface="黑体" panose="02010609060101010101" pitchFamily="49" charset="-122"/>
                <a:sym typeface="微软雅黑" panose="020B0503020204020204" charset="-122"/>
              </a:rPr>
              <a:t> </a:t>
            </a:r>
            <a:r>
              <a:rPr lang="zh-CN" altLang="en-US" sz="2800" dirty="0">
                <a:solidFill>
                  <a:srgbClr val="000000"/>
                </a:solidFill>
                <a:latin typeface="黑体" panose="02010609060101010101" pitchFamily="49" charset="-122"/>
                <a:sym typeface="微软雅黑" panose="020B0503020204020204" charset="-122"/>
              </a:rPr>
              <a:t>，并且该段起始于</a:t>
            </a:r>
            <a:r>
              <a:rPr lang="en-US" altLang="zh-CN" sz="2800" dirty="0">
                <a:solidFill>
                  <a:srgbClr val="639EF4"/>
                </a:solidFill>
                <a:latin typeface="黑体" panose="02010609060101010101" pitchFamily="49" charset="-122"/>
                <a:sym typeface="微软雅黑" panose="020B0503020204020204" charset="-122"/>
              </a:rPr>
              <a:t>[</a:t>
            </a:r>
            <a:r>
              <a:rPr lang="zh-CN" altLang="en-US" sz="2800" dirty="0">
                <a:solidFill>
                  <a:srgbClr val="639EF4"/>
                </a:solidFill>
                <a:latin typeface="黑体" panose="02010609060101010101" pitchFamily="49" charset="-122"/>
                <a:sym typeface="微软雅黑" panose="020B0503020204020204" charset="-122"/>
              </a:rPr>
              <a:t>填空</a:t>
            </a:r>
            <a:r>
              <a:rPr lang="en-US" altLang="zh-CN" sz="2800" dirty="0">
                <a:solidFill>
                  <a:srgbClr val="639EF4"/>
                </a:solidFill>
                <a:latin typeface="黑体" panose="02010609060101010101" pitchFamily="49" charset="-122"/>
                <a:sym typeface="微软雅黑" panose="020B0503020204020204" charset="-122"/>
              </a:rPr>
              <a:t>2]</a:t>
            </a:r>
            <a:r>
              <a:rPr lang="zh-CN" altLang="en-US" sz="2800" dirty="0">
                <a:solidFill>
                  <a:srgbClr val="000000"/>
                </a:solidFill>
                <a:latin typeface="黑体" panose="02010609060101010101" pitchFamily="49" charset="-122"/>
                <a:sym typeface="微软雅黑" panose="020B0503020204020204" charset="-122"/>
              </a:rPr>
              <a:t>物理地址。</a:t>
            </a:r>
          </a:p>
        </p:txBody>
      </p:sp>
      <p:sp>
        <p:nvSpPr>
          <p:cNvPr id="5" name="矩形: 圆角 4"/>
          <p:cNvSpPr/>
          <p:nvPr>
            <p:custDataLst>
              <p:tags r:id="rId3"/>
            </p:custDataLst>
          </p:nvPr>
        </p:nvSpPr>
        <p:spPr bwMode="auto">
          <a:xfrm>
            <a:off x="6341318" y="5321776"/>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sym typeface="微软雅黑" panose="020B0503020204020204" charset="-122"/>
              </a:rPr>
              <a:t>作答</a:t>
            </a: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7"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a:ln>
                  <a:noFill/>
                </a:ln>
                <a:solidFill>
                  <a:srgbClr val="0000FF"/>
                </a:solidFill>
                <a:effectLst/>
                <a:latin typeface="Times New Roman" panose="02020603050405020304" pitchFamily="18" charset="0"/>
                <a:ea typeface="黑体" panose="02010609060101010101" pitchFamily="49" charset="-122"/>
              </a:endParaRPr>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1.2.4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程序设计语言</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4515" name="文本占位符 68610"/>
          <p:cNvSpPr>
            <a:spLocks noGrp="1"/>
          </p:cNvSpPr>
          <p:nvPr/>
        </p:nvSpPr>
        <p:spPr>
          <a:xfrm>
            <a:off x="240030" y="770890"/>
            <a:ext cx="8504555" cy="5682446"/>
          </a:xfrm>
          <a:prstGeom prst="rect">
            <a:avLst/>
          </a:prstGeom>
          <a:noFill/>
          <a:ln w="9525">
            <a:noFill/>
          </a:ln>
        </p:spPr>
        <p:txBody>
          <a:bodyPr anchor="t" anchorCtr="0"/>
          <a:lstStyle>
            <a:lvl1pPr marL="342900" lvl="0" indent="-342900" algn="just" defTabSz="914400" rtl="0" eaLnBrk="1" fontAlgn="base" latinLnBrk="0" hangingPunct="1">
              <a:lnSpc>
                <a:spcPct val="100000"/>
              </a:lnSpc>
              <a:spcBef>
                <a:spcPct val="20000"/>
              </a:spcBef>
              <a:spcAft>
                <a:spcPct val="0"/>
              </a:spcAft>
              <a:buClr>
                <a:schemeClr val="accent1"/>
              </a:buClr>
              <a:buSzPct val="150000"/>
              <a:buChar char="•"/>
              <a:defRPr sz="3200" b="1" i="0" u="none" kern="1200" baseline="0">
                <a:solidFill>
                  <a:schemeClr val="tx1"/>
                </a:solidFill>
                <a:latin typeface="+mn-lt"/>
                <a:ea typeface="+mn-ea"/>
                <a:cs typeface="+mn-cs"/>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800" b="1" i="0" u="none" kern="1200" baseline="0">
                <a:solidFill>
                  <a:srgbClr val="663300"/>
                </a:solidFill>
                <a:latin typeface="+mn-lt"/>
                <a:ea typeface="+mn-ea"/>
                <a:cs typeface="+mn-cs"/>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400" b="1" i="0" u="none" kern="1200" baseline="0">
                <a:solidFill>
                  <a:srgbClr val="008000"/>
                </a:solidFill>
                <a:latin typeface="+mn-lt"/>
                <a:ea typeface="+mn-ea"/>
                <a:cs typeface="+mn-cs"/>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1"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9pPr>
          </a:lstStyle>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800" b="0" dirty="0">
                <a:solidFill>
                  <a:srgbClr val="0000FF"/>
                </a:solidFill>
                <a:ea typeface="黑体" panose="02010609060101010101" pitchFamily="49" charset="-122"/>
              </a:rPr>
              <a:t>机器语言（Machine Language）</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底层的计算机语言，对应机器指令</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形成目标（代码）程序</a:t>
            </a:r>
          </a:p>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800" b="0" dirty="0">
                <a:solidFill>
                  <a:srgbClr val="0000FF"/>
                </a:solidFill>
                <a:ea typeface="黑体" panose="02010609060101010101" pitchFamily="49" charset="-122"/>
              </a:rPr>
              <a:t>汇编语言（Assembly Language）</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将机器指令用助记符号代替而形成的一种语言</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需要汇编程序“</a:t>
            </a:r>
            <a:r>
              <a:rPr lang="zh-CN" altLang="en-US" sz="2400" b="0" dirty="0">
                <a:solidFill>
                  <a:srgbClr val="00B050"/>
                </a:solidFill>
                <a:ea typeface="黑体" panose="02010609060101010101" pitchFamily="49" charset="-122"/>
              </a:rPr>
              <a:t>汇编</a:t>
            </a:r>
            <a:r>
              <a:rPr lang="zh-CN" altLang="en-US" sz="2400" b="0" dirty="0">
                <a:solidFill>
                  <a:schemeClr val="tx1"/>
                </a:solidFill>
                <a:ea typeface="黑体" panose="02010609060101010101" pitchFamily="49" charset="-122"/>
              </a:rPr>
              <a:t>”(翻译)</a:t>
            </a:r>
            <a:endParaRPr lang="en-US" altLang="zh-CN" sz="2400" b="0" dirty="0">
              <a:solidFill>
                <a:schemeClr val="tx1"/>
              </a:solidFill>
              <a:ea typeface="黑体" panose="02010609060101010101" pitchFamily="49" charset="-122"/>
            </a:endParaRPr>
          </a:p>
          <a:p>
            <a:pPr marL="914400" lvl="1" indent="-457200" eaLnBrk="0" hangingPunct="0">
              <a:lnSpc>
                <a:spcPct val="130000"/>
              </a:lnSpc>
              <a:spcBef>
                <a:spcPts val="600"/>
              </a:spcBef>
              <a:buClr>
                <a:srgbClr val="0000FF"/>
              </a:buClr>
              <a:buSzTx/>
              <a:buFont typeface="Wingdings" panose="05000000000000000000" pitchFamily="2" charset="2"/>
              <a:buChar char="ü"/>
            </a:pPr>
            <a:r>
              <a:rPr lang="zh-CN" altLang="en-US" sz="2400" b="0" dirty="0">
                <a:solidFill>
                  <a:schemeClr val="tx1"/>
                </a:solidFill>
                <a:ea typeface="黑体" panose="02010609060101010101" pitchFamily="49" charset="-122"/>
              </a:rPr>
              <a:t>对大小写不敏感</a:t>
            </a:r>
          </a:p>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800" b="0" dirty="0">
                <a:solidFill>
                  <a:srgbClr val="0000FF"/>
                </a:solidFill>
                <a:ea typeface="黑体" panose="02010609060101010101" pitchFamily="49" charset="-122"/>
              </a:rPr>
              <a:t>高级语言（High Level Language）</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面向问题的程序设计语言</a:t>
            </a: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rPr>
              <a:t>需要“</a:t>
            </a:r>
            <a:r>
              <a:rPr lang="zh-CN" altLang="en-US" sz="2400" b="0" dirty="0">
                <a:solidFill>
                  <a:srgbClr val="00B050"/>
                </a:solidFill>
                <a:ea typeface="黑体" panose="02010609060101010101" pitchFamily="49" charset="-122"/>
              </a:rPr>
              <a:t>编译</a:t>
            </a:r>
            <a:r>
              <a:rPr lang="zh-CN" altLang="en-US" sz="2400" b="0" dirty="0">
                <a:solidFill>
                  <a:schemeClr val="tx1"/>
                </a:solidFill>
                <a:ea typeface="黑体" panose="02010609060101010101" pitchFamily="49" charset="-122"/>
              </a:rPr>
              <a:t>”或“</a:t>
            </a:r>
            <a:r>
              <a:rPr lang="zh-CN" altLang="en-US" sz="2400" b="0" dirty="0">
                <a:solidFill>
                  <a:srgbClr val="00B050"/>
                </a:solidFill>
                <a:ea typeface="黑体" panose="02010609060101010101" pitchFamily="49" charset="-122"/>
              </a:rPr>
              <a:t>解释</a:t>
            </a:r>
            <a:r>
              <a:rPr lang="zh-CN" altLang="en-US" sz="2400" b="0" dirty="0">
                <a:solidFill>
                  <a:schemeClr val="tx1"/>
                </a:solidFill>
                <a:ea typeface="黑体" panose="02010609060101010101" pitchFamily="49" charset="-122"/>
              </a:rPr>
              <a:t>”后执行</a:t>
            </a:r>
          </a:p>
        </p:txBody>
      </p:sp>
      <p:sp>
        <p:nvSpPr>
          <p:cNvPr id="68612" name="流程图: 可选过程 68611">
            <a:hlinkClick r:id="rId3" action="ppaction://hlinksldjump"/>
          </p:cNvPr>
          <p:cNvSpPr/>
          <p:nvPr/>
        </p:nvSpPr>
        <p:spPr>
          <a:xfrm>
            <a:off x="6012180" y="1557655"/>
            <a:ext cx="2675890" cy="861952"/>
          </a:xfrm>
          <a:prstGeom prst="flowChartAlternateProcess">
            <a:avLst/>
          </a:prstGeom>
          <a:solidFill>
            <a:schemeClr val="bg1">
              <a:lumMod val="90000"/>
            </a:schemeClr>
          </a:solidFill>
          <a:ln w="9525" cap="flat" cmpd="sng">
            <a:solidFill>
              <a:schemeClr val="folHlink"/>
            </a:solidFill>
            <a:prstDash val="solid"/>
            <a:miter/>
            <a:headEnd type="none" w="sm" len="sm"/>
            <a:tailEnd type="none" w="sm" len="sm"/>
          </a:ln>
          <a:effectLst>
            <a:outerShdw dist="35921" dir="2699999" algn="ctr" rotWithShape="0">
              <a:schemeClr val="bg2"/>
            </a:outerShdw>
          </a:effectLst>
        </p:spPr>
        <p:txBody>
          <a:bodyPr wrap="square" lIns="90000" tIns="46800" rIns="90000" bIns="46800">
            <a:spAutoFit/>
          </a:bodyPr>
          <a:lstStyle/>
          <a:p>
            <a:pPr marL="0" marR="0" indent="0" algn="ctr" defTabSz="914400" rtl="0" eaLnBrk="1" fontAlgn="base" latinLnBrk="0" hangingPunct="1">
              <a:lnSpc>
                <a:spcPct val="80000"/>
              </a:lnSpc>
              <a:spcBef>
                <a:spcPct val="0"/>
              </a:spcBef>
              <a:spcAft>
                <a:spcPct val="0"/>
              </a:spcAft>
              <a:buClrTx/>
              <a:buSzTx/>
              <a:buFontTx/>
              <a:buNone/>
            </a:pPr>
            <a:r>
              <a:rPr kumimoji="0" lang="zh-CN" altLang="en-US" sz="2800" b="0" i="0" u="none" strike="noStrike" kern="1200" cap="none" spc="0" normalizeH="0" baseline="0" noProof="1">
                <a:solidFill>
                  <a:srgbClr val="FF0000"/>
                </a:solidFill>
                <a:effectLst>
                  <a:outerShdw blurRad="38100" dist="38100" dir="2700000">
                    <a:srgbClr val="000000"/>
                  </a:outerShdw>
                </a:effectLst>
                <a:latin typeface="Arial" panose="020B0604020202020204" pitchFamily="34" charset="0"/>
                <a:ea typeface="隶书" panose="02010509060101010101" pitchFamily="49" charset="-122"/>
                <a:cs typeface="+mn-cs"/>
              </a:rPr>
              <a:t>指令是处理器的母语</a:t>
            </a:r>
          </a:p>
        </p:txBody>
      </p:sp>
      <p:sp>
        <p:nvSpPr>
          <p:cNvPr id="64517" name="filecab3"/>
          <p:cNvSpPr>
            <a:spLocks noEditPoints="1"/>
          </p:cNvSpPr>
          <p:nvPr/>
        </p:nvSpPr>
        <p:spPr>
          <a:xfrm flipV="1">
            <a:off x="6012180" y="3789040"/>
            <a:ext cx="2675890" cy="1152525"/>
          </a:xfrm>
          <a:custGeom>
            <a:avLst/>
            <a:gdLst>
              <a:gd name="txL" fmla="*/ 1000 w 21600"/>
              <a:gd name="txT" fmla="*/ 507 h 21600"/>
              <a:gd name="txR" fmla="*/ 20538 w 21600"/>
              <a:gd name="txB" fmla="*/ 18761 h 21600"/>
            </a:gdLst>
            <a:ahLst/>
            <a:cxnLst>
              <a:cxn ang="0">
                <a:pos x="10800" y="0"/>
              </a:cxn>
              <a:cxn ang="0">
                <a:pos x="0" y="0"/>
              </a:cxn>
              <a:cxn ang="0">
                <a:pos x="0" y="10800"/>
              </a:cxn>
              <a:cxn ang="0">
                <a:pos x="0" y="20367"/>
              </a:cxn>
              <a:cxn ang="0">
                <a:pos x="10800" y="21600"/>
              </a:cxn>
              <a:cxn ang="0">
                <a:pos x="21600" y="20367"/>
              </a:cxn>
              <a:cxn ang="0">
                <a:pos x="21600" y="10800"/>
              </a:cxn>
              <a:cxn ang="0">
                <a:pos x="21600" y="0"/>
              </a:cxn>
            </a:cxnLst>
            <a:rect l="txL" t="txT" r="txR" b="txB"/>
            <a:pathLst>
              <a:path w="21600" h="2160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a:moveTo>
                  <a:pt x="9053" y="19099"/>
                </a:moveTo>
                <a:lnTo>
                  <a:pt x="0" y="19099"/>
                </a:lnTo>
                <a:lnTo>
                  <a:pt x="21600" y="19099"/>
                </a:lnTo>
              </a:path>
            </a:pathLst>
          </a:custGeom>
          <a:solidFill>
            <a:schemeClr val="bg1">
              <a:lumMod val="90000"/>
            </a:schemeClr>
          </a:solidFill>
          <a:ln w="9525" cap="rnd" cmpd="sng">
            <a:solidFill>
              <a:schemeClr val="tx1"/>
            </a:solidFill>
            <a:prstDash val="sysDot"/>
            <a:miter/>
            <a:headEnd type="none" w="med" len="med"/>
            <a:tailEnd type="none" w="med" len="med"/>
          </a:ln>
          <a:effectLst>
            <a:outerShdw dist="107763" dir="2699999" algn="ctr" rotWithShape="0">
              <a:srgbClr val="808080"/>
            </a:outerShdw>
          </a:effectLst>
        </p:spPr>
        <p:txBody>
          <a:bodyPr rot="10800000" anchor="t" anchorCtr="0"/>
          <a:lstStyle/>
          <a:p>
            <a:pPr>
              <a:lnSpc>
                <a:spcPct val="120000"/>
              </a:lnSpc>
            </a:pPr>
            <a:r>
              <a:rPr lang="en-US" altLang="zh-CN" sz="2400" b="1" err="1">
                <a:solidFill>
                  <a:schemeClr val="accent2"/>
                </a:solidFill>
                <a:latin typeface="Arial" panose="020B0604020202020204" pitchFamily="34" charset="0"/>
                <a:ea typeface="楷体_GB2312" panose="02010609030101010101" pitchFamily="49" charset="-122"/>
              </a:rPr>
              <a:t>mov</a:t>
            </a:r>
            <a:r>
              <a:rPr lang="en-US" altLang="zh-CN" sz="2400" b="1">
                <a:solidFill>
                  <a:schemeClr val="accent2"/>
                </a:solidFill>
                <a:latin typeface="Arial" panose="020B0604020202020204" pitchFamily="34" charset="0"/>
                <a:ea typeface="楷体_GB2312" panose="02010609030101010101" pitchFamily="49" charset="-122"/>
              </a:rPr>
              <a:t> eax,100</a:t>
            </a:r>
          </a:p>
          <a:p>
            <a:pPr>
              <a:lnSpc>
                <a:spcPct val="120000"/>
              </a:lnSpc>
            </a:pPr>
            <a:r>
              <a:rPr lang="en-US" altLang="zh-CN" sz="2400" b="1">
                <a:solidFill>
                  <a:schemeClr val="accent2"/>
                </a:solidFill>
                <a:latin typeface="Arial" panose="020B0604020202020204" pitchFamily="34" charset="0"/>
                <a:ea typeface="楷体_GB2312" panose="02010609030101010101" pitchFamily="49" charset="-122"/>
              </a:rPr>
              <a:t>add eax,256</a:t>
            </a:r>
            <a:endParaRPr lang="en-US" altLang="zh-CN" sz="2400" b="1" dirty="0">
              <a:solidFill>
                <a:schemeClr val="accent2"/>
              </a:solidFill>
              <a:latin typeface="Arial" panose="020B0604020202020204" pitchFamily="34" charset="0"/>
              <a:ea typeface="楷体_GB2312" panose="0201060903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汇编语言的优缺点</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4515" name="文本占位符 68610"/>
          <p:cNvSpPr>
            <a:spLocks noGrp="1"/>
          </p:cNvSpPr>
          <p:nvPr/>
        </p:nvSpPr>
        <p:spPr>
          <a:xfrm>
            <a:off x="240030" y="770890"/>
            <a:ext cx="8504555" cy="5520055"/>
          </a:xfrm>
          <a:prstGeom prst="rect">
            <a:avLst/>
          </a:prstGeom>
          <a:noFill/>
          <a:ln w="9525">
            <a:noFill/>
          </a:ln>
        </p:spPr>
        <p:txBody>
          <a:bodyPr anchor="t" anchorCtr="0"/>
          <a:lstStyle>
            <a:lvl1pPr marL="342900" lvl="0" indent="-342900" algn="just" defTabSz="914400" rtl="0" eaLnBrk="1" fontAlgn="base" latinLnBrk="0" hangingPunct="1">
              <a:lnSpc>
                <a:spcPct val="100000"/>
              </a:lnSpc>
              <a:spcBef>
                <a:spcPct val="20000"/>
              </a:spcBef>
              <a:spcAft>
                <a:spcPct val="0"/>
              </a:spcAft>
              <a:buClr>
                <a:schemeClr val="accent1"/>
              </a:buClr>
              <a:buSzPct val="150000"/>
              <a:buChar char="•"/>
              <a:defRPr sz="3200" b="1" i="0" u="none" kern="1200" baseline="0">
                <a:solidFill>
                  <a:schemeClr val="tx1"/>
                </a:solidFill>
                <a:latin typeface="+mn-lt"/>
                <a:ea typeface="+mn-ea"/>
                <a:cs typeface="+mn-cs"/>
              </a:defRPr>
            </a:lvl1pPr>
            <a:lvl2pPr marL="742950" lvl="1" indent="-285750" algn="just"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n"/>
              <a:defRPr sz="2800" b="1" i="0" u="none" kern="1200" baseline="0">
                <a:solidFill>
                  <a:srgbClr val="663300"/>
                </a:solidFill>
                <a:latin typeface="+mn-lt"/>
                <a:ea typeface="+mn-ea"/>
                <a:cs typeface="+mn-cs"/>
              </a:defRPr>
            </a:lvl2pPr>
            <a:lvl3pPr marL="114300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sz="2400" b="1" i="0" u="none" kern="1200" baseline="0">
                <a:solidFill>
                  <a:srgbClr val="008000"/>
                </a:solidFill>
                <a:latin typeface="+mn-lt"/>
                <a:ea typeface="+mn-ea"/>
                <a:cs typeface="+mn-cs"/>
              </a:defRPr>
            </a:lvl3pPr>
            <a:lvl4pPr marL="1600200" lvl="3" indent="-2286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1"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ea typeface="+mn-ea"/>
                <a:cs typeface="+mn-cs"/>
              </a:defRPr>
            </a:lvl9pPr>
          </a:lstStyle>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600" b="0" dirty="0">
                <a:solidFill>
                  <a:srgbClr val="0000FF"/>
                </a:solidFill>
                <a:ea typeface="黑体" panose="02010609060101010101" pitchFamily="49" charset="-122"/>
                <a:sym typeface="+mn-ea"/>
              </a:rPr>
              <a:t>汇编语言与处理器密切相关，可移植性较差</a:t>
            </a:r>
            <a:endParaRPr lang="zh-CN" altLang="en-US" sz="2600" b="0" dirty="0">
              <a:solidFill>
                <a:srgbClr val="0000FF"/>
              </a:solidFill>
              <a:ea typeface="黑体" panose="02010609060101010101" pitchFamily="49" charset="-122"/>
            </a:endParaRP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sym typeface="+mn-ea"/>
              </a:rPr>
              <a:t>高级语言与具体计算机无关，便于移植</a:t>
            </a:r>
            <a:endParaRPr lang="zh-CN" altLang="en-US" sz="2400" b="0" dirty="0">
              <a:solidFill>
                <a:schemeClr val="tx1"/>
              </a:solidFill>
              <a:ea typeface="黑体" panose="02010609060101010101" pitchFamily="49" charset="-122"/>
            </a:endParaRPr>
          </a:p>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600" b="0" dirty="0">
                <a:solidFill>
                  <a:srgbClr val="0000FF"/>
                </a:solidFill>
                <a:ea typeface="黑体" panose="02010609060101010101" pitchFamily="49" charset="-122"/>
                <a:sym typeface="+mn-ea"/>
              </a:rPr>
              <a:t>汇编语言功能有限、涉及硬件细节，编写困难</a:t>
            </a:r>
            <a:endParaRPr lang="zh-CN" altLang="en-US" sz="2600" b="0" dirty="0">
              <a:solidFill>
                <a:srgbClr val="0000FF"/>
              </a:solidFill>
              <a:ea typeface="黑体" panose="02010609060101010101" pitchFamily="49" charset="-122"/>
            </a:endParaRP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sym typeface="+mn-ea"/>
              </a:rPr>
              <a:t>高级语言功能强大，语法自然，容易掌握和应用</a:t>
            </a:r>
            <a:endParaRPr lang="zh-CN" altLang="en-US" sz="2400" b="0" dirty="0">
              <a:solidFill>
                <a:schemeClr val="tx1"/>
              </a:solidFill>
              <a:ea typeface="黑体" panose="02010609060101010101" pitchFamily="49" charset="-122"/>
            </a:endParaRPr>
          </a:p>
          <a:p>
            <a:pPr marL="457200" indent="-457200" algn="just" eaLnBrk="0" hangingPunct="0">
              <a:lnSpc>
                <a:spcPct val="130000"/>
              </a:lnSpc>
              <a:spcBef>
                <a:spcPts val="600"/>
              </a:spcBef>
              <a:buClr>
                <a:srgbClr val="0000FF"/>
              </a:buClr>
              <a:buSzTx/>
              <a:buFont typeface="Wingdings" panose="05000000000000000000" pitchFamily="2" charset="2"/>
              <a:buChar char="Ø"/>
              <a:defRPr/>
            </a:pPr>
            <a:r>
              <a:rPr lang="zh-CN" altLang="en-US" sz="2600" b="0" dirty="0">
                <a:solidFill>
                  <a:srgbClr val="0000FF"/>
                </a:solidFill>
                <a:ea typeface="黑体" panose="02010609060101010101" pitchFamily="49" charset="-122"/>
                <a:sym typeface="+mn-ea"/>
              </a:rPr>
              <a:t>汇编语言的优势：直接、有效地控制硬件，容易产生运行速度快、指令序列短小的高效率目标程序</a:t>
            </a:r>
            <a:endParaRPr lang="zh-CN" altLang="en-US" sz="2600" b="0" dirty="0">
              <a:solidFill>
                <a:srgbClr val="0000FF"/>
              </a:solidFill>
              <a:ea typeface="黑体" panose="02010609060101010101" pitchFamily="49" charset="-122"/>
            </a:endParaRPr>
          </a:p>
          <a:p>
            <a:pPr marL="914400" lvl="1" indent="-457200" algn="just" eaLnBrk="0" hangingPunct="0">
              <a:lnSpc>
                <a:spcPct val="130000"/>
              </a:lnSpc>
              <a:spcBef>
                <a:spcPts val="600"/>
              </a:spcBef>
              <a:buClr>
                <a:srgbClr val="0000FF"/>
              </a:buClr>
              <a:buSzTx/>
              <a:buChar char="ü"/>
            </a:pPr>
            <a:r>
              <a:rPr lang="zh-CN" altLang="en-US" sz="2400" b="0" dirty="0">
                <a:solidFill>
                  <a:schemeClr val="tx1"/>
                </a:solidFill>
                <a:ea typeface="黑体" panose="02010609060101010101" pitchFamily="49" charset="-122"/>
                <a:sym typeface="+mn-ea"/>
              </a:rPr>
              <a:t>高级语言不易直接控制计算机的各种操作，编译程序产生的目标程序往往比较庞大</a:t>
            </a:r>
            <a:endParaRPr lang="zh-CN" altLang="en-US" sz="2400" b="0" dirty="0">
              <a:solidFill>
                <a:schemeClr val="tx1"/>
              </a:solidFill>
              <a:ea typeface="黑体" panose="02010609060101010101" pitchFamily="49" charset="-122"/>
            </a:endParaRPr>
          </a:p>
        </p:txBody>
      </p:sp>
      <p:sp>
        <p:nvSpPr>
          <p:cNvPr id="107524" name="流程图: 可选过程 107523">
            <a:hlinkClick r:id="rId3" action="ppaction://hlinksldjump"/>
          </p:cNvPr>
          <p:cNvSpPr/>
          <p:nvPr/>
        </p:nvSpPr>
        <p:spPr>
          <a:xfrm>
            <a:off x="4427538" y="5528310"/>
            <a:ext cx="4194175" cy="482600"/>
          </a:xfrm>
          <a:prstGeom prst="flowChartAlternateProcess">
            <a:avLst/>
          </a:prstGeom>
          <a:solidFill>
            <a:schemeClr val="bg1">
              <a:lumMod val="90000"/>
            </a:schemeClr>
          </a:solidFill>
          <a:ln w="9525" cap="flat" cmpd="sng">
            <a:solidFill>
              <a:schemeClr val="folHlink"/>
            </a:solidFill>
            <a:prstDash val="solid"/>
            <a:miter/>
            <a:headEnd type="none" w="sm" len="sm"/>
            <a:tailEnd type="none" w="sm" len="sm"/>
          </a:ln>
          <a:effectLst>
            <a:outerShdw dist="35921" dir="2699999" algn="ctr" rotWithShape="0">
              <a:schemeClr val="bg2"/>
            </a:outerShdw>
          </a:effectLst>
        </p:spPr>
        <p:txBody>
          <a:bodyPr lIns="90000" tIns="46800" rIns="90000" bIns="46800">
            <a:spAutoFit/>
          </a:bodyPr>
          <a:lstStyle/>
          <a:p>
            <a:pPr marL="0" marR="0" indent="0" algn="ctr" defTabSz="914400" rtl="0" eaLnBrk="1" fontAlgn="base" latinLnBrk="0" hangingPunct="1">
              <a:lnSpc>
                <a:spcPct val="80000"/>
              </a:lnSpc>
              <a:spcBef>
                <a:spcPct val="0"/>
              </a:spcBef>
              <a:spcAft>
                <a:spcPct val="0"/>
              </a:spcAft>
              <a:buClrTx/>
              <a:buSzTx/>
              <a:buFontTx/>
              <a:buNone/>
            </a:pPr>
            <a:r>
              <a:rPr kumimoji="0" lang="zh-CN" altLang="en-US" sz="2800" b="0" i="0" u="none" strike="noStrike" kern="1200" cap="none" spc="0" normalizeH="0" baseline="0" noProof="1">
                <a:solidFill>
                  <a:schemeClr val="bg1"/>
                </a:solidFill>
                <a:effectLst>
                  <a:outerShdw blurRad="38100" dist="38100" dir="2700000">
                    <a:srgbClr val="000000"/>
                  </a:outerShdw>
                </a:effectLst>
                <a:latin typeface="Arial" panose="020B0604020202020204" pitchFamily="34" charset="0"/>
                <a:ea typeface="隶书" panose="02010509060101010101" pitchFamily="49" charset="-122"/>
                <a:cs typeface="+mn-cs"/>
              </a:rPr>
              <a:t>混合编程、取长补短</a:t>
            </a:r>
          </a:p>
        </p:txBody>
      </p:sp>
      <p:grpSp>
        <p:nvGrpSpPr>
          <p:cNvPr id="67589" name="组合 107527"/>
          <p:cNvGrpSpPr/>
          <p:nvPr/>
        </p:nvGrpSpPr>
        <p:grpSpPr>
          <a:xfrm>
            <a:off x="901700" y="5301298"/>
            <a:ext cx="2922588" cy="762000"/>
            <a:chOff x="3820" y="816"/>
            <a:chExt cx="1841" cy="480"/>
          </a:xfrm>
        </p:grpSpPr>
        <p:sp>
          <p:nvSpPr>
            <p:cNvPr id="67590" name="矩形 107528"/>
            <p:cNvSpPr/>
            <p:nvPr/>
          </p:nvSpPr>
          <p:spPr>
            <a:xfrm>
              <a:off x="4416" y="816"/>
              <a:ext cx="576" cy="480"/>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EAEAEA"/>
                    </a:solidFill>
                    <a:prstDash val="solid"/>
                    <a:round/>
                    <a:headEnd type="none" w="med" len="med"/>
                    <a:tailEnd type="none" w="med" len="med"/>
                  </a:ln>
                  <a:gradFill rotWithShape="0">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80000"/>
                      </a:srgbClr>
                    </a:outerShdw>
                  </a:effectLst>
                  <a:latin typeface="宋体" panose="02010600030101010101" pitchFamily="2" charset="-122"/>
                  <a:ea typeface="宋体" panose="02010600030101010101" pitchFamily="2" charset="-122"/>
                </a:rPr>
                <a:t>？</a:t>
              </a:r>
            </a:p>
          </p:txBody>
        </p:sp>
        <p:sp>
          <p:nvSpPr>
            <p:cNvPr id="67591" name="文本框 107529"/>
            <p:cNvSpPr txBox="1"/>
            <p:nvPr/>
          </p:nvSpPr>
          <p:spPr>
            <a:xfrm>
              <a:off x="3820" y="960"/>
              <a:ext cx="1841" cy="291"/>
            </a:xfrm>
            <a:prstGeom prst="rect">
              <a:avLst/>
            </a:prstGeom>
            <a:noFill/>
            <a:ln w="28575">
              <a:noFill/>
            </a:ln>
          </p:spPr>
          <p:txBody>
            <a:bodyPr wrap="none" lIns="90000" tIns="46800" rIns="90000" bIns="46800" anchor="t" anchorCtr="0">
              <a:spAutoFit/>
            </a:bodyPr>
            <a:lstStyle/>
            <a:p>
              <a:pPr algn="ctr"/>
              <a:r>
                <a:rPr lang="zh-CN" altLang="en-US" sz="2400" dirty="0">
                  <a:solidFill>
                    <a:srgbClr val="00B050"/>
                  </a:solidFill>
                  <a:latin typeface="黑体" panose="02010609060101010101" pitchFamily="49" charset="-122"/>
                </a:rPr>
                <a:t>学习汇编语言的意义</a:t>
              </a:r>
            </a:p>
          </p:txBody>
        </p:sp>
      </p:gr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77256"/>
            <a:ext cx="8280920" cy="5798506"/>
          </a:xfrm>
          <a:prstGeom prst="rect">
            <a:avLst/>
          </a:prstGeom>
        </p:spPr>
        <p:txBody>
          <a:bodyPr/>
          <a:lstStyle/>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汇编语言程序</a:t>
            </a:r>
            <a:r>
              <a:rPr lang="en-US" altLang="zh-CN" sz="2800" dirty="0">
                <a:latin typeface="+mn-lt"/>
              </a:rPr>
              <a:t>(Assembly Language Program)</a:t>
            </a:r>
            <a:endParaRPr lang="zh-CN" altLang="en-US" sz="28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用汇编语言书写的程序</a:t>
            </a:r>
            <a:endParaRPr lang="en-US" altLang="zh-CN" sz="2400" dirty="0">
              <a:solidFill>
                <a:schemeClr val="tx1"/>
              </a:solidFill>
              <a:latin typeface="+mn-lt"/>
            </a:endParaRPr>
          </a:p>
          <a:p>
            <a:pPr marL="457200" indent="-457200" algn="just" latinLnBrk="0">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汇编程序</a:t>
            </a:r>
            <a:r>
              <a:rPr lang="en-US" altLang="zh-CN" sz="2800" dirty="0">
                <a:latin typeface="+mn-lt"/>
              </a:rPr>
              <a:t>(Assembler)</a:t>
            </a:r>
            <a:endParaRPr lang="zh-CN" altLang="en-US" sz="2800" dirty="0">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将汇编语言程序转换成机器代码的程序</a:t>
            </a: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sym typeface="+mn-ea"/>
              </a:rPr>
              <a:t>微软宏汇编程序</a:t>
            </a:r>
            <a:r>
              <a:rPr lang="en-US" altLang="zh-CN" sz="2400" b="1" dirty="0">
                <a:solidFill>
                  <a:srgbClr val="FF0000"/>
                </a:solidFill>
                <a:latin typeface="+mn-lt"/>
                <a:sym typeface="+mn-ea"/>
              </a:rPr>
              <a:t>MASM</a:t>
            </a:r>
            <a:r>
              <a:rPr lang="zh-CN" altLang="en-US" sz="2400" dirty="0">
                <a:solidFill>
                  <a:schemeClr val="tx1"/>
                </a:solidFill>
                <a:latin typeface="+mn-lt"/>
                <a:sym typeface="+mn-ea"/>
              </a:rPr>
              <a:t>：</a:t>
            </a:r>
            <a:r>
              <a:rPr lang="en-US" altLang="zh-CN" sz="2400" dirty="0">
                <a:solidFill>
                  <a:schemeClr val="tx1"/>
                </a:solidFill>
                <a:latin typeface="+mn-lt"/>
                <a:sym typeface="+mn-ea"/>
              </a:rPr>
              <a:t>Microsoft Macro Assembler</a:t>
            </a:r>
            <a:endParaRPr lang="en-US" altLang="zh-CN" sz="2400" dirty="0">
              <a:solidFill>
                <a:schemeClr val="tx1"/>
              </a:solidFill>
              <a:latin typeface="+mn-lt"/>
            </a:endParaRPr>
          </a:p>
          <a:p>
            <a:pPr marL="914400" lvl="1" indent="-457200" algn="just" latinLnBrk="0">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sym typeface="+mn-ea"/>
              </a:rPr>
              <a:t>通用网络汇编程序</a:t>
            </a:r>
            <a:r>
              <a:rPr lang="en-US" altLang="zh-CN" sz="2400" b="1" dirty="0">
                <a:solidFill>
                  <a:srgbClr val="FF0000"/>
                </a:solidFill>
                <a:latin typeface="+mn-lt"/>
                <a:sym typeface="+mn-ea"/>
              </a:rPr>
              <a:t>NASM</a:t>
            </a:r>
            <a:r>
              <a:rPr lang="zh-CN" altLang="en-US" sz="2400" dirty="0">
                <a:solidFill>
                  <a:schemeClr val="tx1"/>
                </a:solidFill>
                <a:latin typeface="+mn-lt"/>
                <a:sym typeface="+mn-ea"/>
              </a:rPr>
              <a:t>：</a:t>
            </a:r>
            <a:r>
              <a:rPr lang="en-US" altLang="zh-CN" sz="2400" dirty="0">
                <a:solidFill>
                  <a:schemeClr val="tx1"/>
                </a:solidFill>
                <a:latin typeface="+mn-lt"/>
                <a:sym typeface="+mn-ea"/>
              </a:rPr>
              <a:t>Netwide Assembler</a:t>
            </a:r>
            <a:endParaRPr lang="en-US" altLang="zh-CN" sz="2400" dirty="0">
              <a:solidFill>
                <a:schemeClr val="tx1"/>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汇编程序</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74756" name="图片 114691" descr="01-1-d"/>
          <p:cNvPicPr>
            <a:picLocks noChangeAspect="1"/>
          </p:cNvPicPr>
          <p:nvPr/>
        </p:nvPicPr>
        <p:blipFill>
          <a:blip r:embed="rId3"/>
          <a:stretch>
            <a:fillRect/>
          </a:stretch>
        </p:blipFill>
        <p:spPr>
          <a:xfrm>
            <a:off x="4799068" y="4221088"/>
            <a:ext cx="3804290" cy="1892756"/>
          </a:xfrm>
          <a:prstGeom prst="rect">
            <a:avLst/>
          </a:prstGeom>
          <a:noFill/>
          <a:ln w="9525">
            <a:noFill/>
          </a:ln>
        </p:spPr>
      </p:pic>
      <p:sp>
        <p:nvSpPr>
          <p:cNvPr id="74757" name="filecab3"/>
          <p:cNvSpPr>
            <a:spLocks noEditPoints="1"/>
          </p:cNvSpPr>
          <p:nvPr/>
        </p:nvSpPr>
        <p:spPr>
          <a:xfrm flipV="1">
            <a:off x="611560" y="4470008"/>
            <a:ext cx="3948430" cy="1087120"/>
          </a:xfrm>
          <a:custGeom>
            <a:avLst/>
            <a:gdLst>
              <a:gd name="txL" fmla="*/ 1000 w 21600"/>
              <a:gd name="txT" fmla="*/ 507 h 21600"/>
              <a:gd name="txR" fmla="*/ 20538 w 21600"/>
              <a:gd name="txB" fmla="*/ 18761 h 21600"/>
            </a:gdLst>
            <a:ahLst/>
            <a:cxnLst>
              <a:cxn ang="0">
                <a:pos x="10800" y="0"/>
              </a:cxn>
              <a:cxn ang="0">
                <a:pos x="0" y="0"/>
              </a:cxn>
              <a:cxn ang="0">
                <a:pos x="0" y="10800"/>
              </a:cxn>
              <a:cxn ang="0">
                <a:pos x="0" y="20367"/>
              </a:cxn>
              <a:cxn ang="0">
                <a:pos x="10800" y="21600"/>
              </a:cxn>
              <a:cxn ang="0">
                <a:pos x="21600" y="20367"/>
              </a:cxn>
              <a:cxn ang="0">
                <a:pos x="21600" y="10800"/>
              </a:cxn>
              <a:cxn ang="0">
                <a:pos x="21600" y="0"/>
              </a:cxn>
            </a:cxnLst>
            <a:rect l="txL" t="txT" r="txR" b="txB"/>
            <a:pathLst>
              <a:path w="21600" h="21600">
                <a:moveTo>
                  <a:pt x="10788" y="0"/>
                </a:moveTo>
                <a:lnTo>
                  <a:pt x="0" y="0"/>
                </a:lnTo>
                <a:lnTo>
                  <a:pt x="0" y="10800"/>
                </a:lnTo>
                <a:lnTo>
                  <a:pt x="0" y="19099"/>
                </a:lnTo>
                <a:lnTo>
                  <a:pt x="8466" y="19099"/>
                </a:lnTo>
                <a:lnTo>
                  <a:pt x="8490" y="19440"/>
                </a:lnTo>
                <a:lnTo>
                  <a:pt x="8537" y="20008"/>
                </a:lnTo>
                <a:lnTo>
                  <a:pt x="8607" y="20349"/>
                </a:lnTo>
                <a:lnTo>
                  <a:pt x="8701" y="20691"/>
                </a:lnTo>
                <a:lnTo>
                  <a:pt x="8842" y="21145"/>
                </a:lnTo>
                <a:lnTo>
                  <a:pt x="9053" y="21373"/>
                </a:lnTo>
                <a:lnTo>
                  <a:pt x="9264" y="21600"/>
                </a:lnTo>
                <a:lnTo>
                  <a:pt x="9545" y="21600"/>
                </a:lnTo>
                <a:lnTo>
                  <a:pt x="10718" y="21600"/>
                </a:lnTo>
                <a:lnTo>
                  <a:pt x="11891" y="21600"/>
                </a:lnTo>
                <a:lnTo>
                  <a:pt x="12266" y="21600"/>
                </a:lnTo>
                <a:lnTo>
                  <a:pt x="12477" y="21429"/>
                </a:lnTo>
                <a:lnTo>
                  <a:pt x="12618" y="21202"/>
                </a:lnTo>
                <a:lnTo>
                  <a:pt x="12758" y="20861"/>
                </a:lnTo>
                <a:lnTo>
                  <a:pt x="12922" y="20349"/>
                </a:lnTo>
                <a:lnTo>
                  <a:pt x="12993" y="19952"/>
                </a:lnTo>
                <a:lnTo>
                  <a:pt x="13016" y="19440"/>
                </a:lnTo>
                <a:lnTo>
                  <a:pt x="13063" y="19099"/>
                </a:lnTo>
                <a:lnTo>
                  <a:pt x="21600" y="19099"/>
                </a:lnTo>
                <a:lnTo>
                  <a:pt x="21600" y="10800"/>
                </a:lnTo>
                <a:lnTo>
                  <a:pt x="21600" y="0"/>
                </a:lnTo>
                <a:lnTo>
                  <a:pt x="10788" y="0"/>
                </a:lnTo>
                <a:close/>
                <a:moveTo>
                  <a:pt x="9053" y="19099"/>
                </a:moveTo>
                <a:lnTo>
                  <a:pt x="9053" y="19440"/>
                </a:lnTo>
                <a:lnTo>
                  <a:pt x="9076" y="19611"/>
                </a:lnTo>
                <a:lnTo>
                  <a:pt x="9123" y="19781"/>
                </a:lnTo>
                <a:lnTo>
                  <a:pt x="9193" y="20008"/>
                </a:lnTo>
                <a:lnTo>
                  <a:pt x="9264" y="20179"/>
                </a:lnTo>
                <a:lnTo>
                  <a:pt x="9334" y="20293"/>
                </a:lnTo>
                <a:lnTo>
                  <a:pt x="9405" y="20349"/>
                </a:lnTo>
                <a:lnTo>
                  <a:pt x="9545" y="20349"/>
                </a:lnTo>
                <a:lnTo>
                  <a:pt x="11891" y="20349"/>
                </a:lnTo>
                <a:lnTo>
                  <a:pt x="12031" y="20349"/>
                </a:lnTo>
                <a:lnTo>
                  <a:pt x="12172" y="20236"/>
                </a:lnTo>
                <a:lnTo>
                  <a:pt x="12266" y="20179"/>
                </a:lnTo>
                <a:lnTo>
                  <a:pt x="12336" y="20008"/>
                </a:lnTo>
                <a:lnTo>
                  <a:pt x="12383" y="19838"/>
                </a:lnTo>
                <a:lnTo>
                  <a:pt x="12430" y="19611"/>
                </a:lnTo>
                <a:lnTo>
                  <a:pt x="12477" y="19440"/>
                </a:lnTo>
                <a:lnTo>
                  <a:pt x="12477" y="19099"/>
                </a:lnTo>
                <a:lnTo>
                  <a:pt x="9053" y="19099"/>
                </a:lnTo>
                <a:close/>
              </a:path>
              <a:path w="21600" h="21600">
                <a:moveTo>
                  <a:pt x="9053" y="19099"/>
                </a:moveTo>
                <a:lnTo>
                  <a:pt x="0" y="19099"/>
                </a:lnTo>
                <a:lnTo>
                  <a:pt x="21600" y="19099"/>
                </a:lnTo>
              </a:path>
            </a:pathLst>
          </a:custGeom>
          <a:solidFill>
            <a:schemeClr val="bg1">
              <a:lumMod val="90000"/>
            </a:schemeClr>
          </a:solidFill>
          <a:ln w="9525" cap="rnd" cmpd="sng">
            <a:solidFill>
              <a:schemeClr val="tx1"/>
            </a:solidFill>
            <a:prstDash val="sysDot"/>
            <a:miter/>
            <a:headEnd type="none" w="med" len="med"/>
            <a:tailEnd type="none" w="med" len="med"/>
          </a:ln>
          <a:effectLst>
            <a:outerShdw dist="107763" dir="2699999" algn="ctr" rotWithShape="0">
              <a:srgbClr val="808080"/>
            </a:outerShdw>
          </a:effectLst>
        </p:spPr>
        <p:txBody>
          <a:bodyPr rot="10800000" anchor="t" anchorCtr="0"/>
          <a:lstStyle/>
          <a:p>
            <a:pPr algn="ctr">
              <a:spcBef>
                <a:spcPct val="20000"/>
              </a:spcBef>
            </a:pPr>
            <a:r>
              <a:rPr lang="en-US" altLang="zh-CN" sz="2400" dirty="0" err="1">
                <a:solidFill>
                  <a:schemeClr val="accent2"/>
                </a:solidFill>
                <a:latin typeface="黑体" panose="02010609060101010101" pitchFamily="49" charset="-122"/>
              </a:rPr>
              <a:t>汇编语言程序与汇编程序</a:t>
            </a:r>
            <a:endParaRPr lang="en-US" altLang="zh-CN" sz="2400" dirty="0">
              <a:solidFill>
                <a:schemeClr val="accent2"/>
              </a:solidFill>
              <a:latin typeface="黑体" panose="02010609060101010101" pitchFamily="49" charset="-122"/>
            </a:endParaRPr>
          </a:p>
          <a:p>
            <a:pPr algn="ctr">
              <a:spcBef>
                <a:spcPct val="20000"/>
              </a:spcBef>
            </a:pPr>
            <a:r>
              <a:rPr lang="en-US" altLang="zh-CN" sz="2400" dirty="0" err="1">
                <a:solidFill>
                  <a:schemeClr val="accent2"/>
                </a:solidFill>
                <a:latin typeface="黑体" panose="02010609060101010101" pitchFamily="49" charset="-122"/>
              </a:rPr>
              <a:t>是两个</a:t>
            </a:r>
            <a:r>
              <a:rPr lang="zh-CN" altLang="en-US" sz="2400" dirty="0">
                <a:solidFill>
                  <a:schemeClr val="accent2"/>
                </a:solidFill>
                <a:latin typeface="黑体" panose="02010609060101010101" pitchFamily="49" charset="-122"/>
              </a:rPr>
              <a:t>不同的概念</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42369"/>
            <a:ext cx="8280920" cy="5798506"/>
          </a:xfrm>
          <a:prstGeom prst="rect">
            <a:avLst/>
          </a:prstGeom>
        </p:spPr>
        <p:txBody>
          <a:bodyPr/>
          <a:lstStyle/>
          <a:p>
            <a:pPr marL="457200" indent="-457200" algn="just">
              <a:lnSpc>
                <a:spcPct val="120000"/>
              </a:lnSpc>
              <a:spcBef>
                <a:spcPts val="0"/>
              </a:spcBef>
              <a:buClr>
                <a:srgbClr val="0000FF"/>
              </a:buClr>
              <a:buSzPct val="100000"/>
              <a:buFont typeface="Wingdings" panose="05000000000000000000" pitchFamily="2" charset="2"/>
              <a:buChar char="Ø"/>
              <a:defRPr/>
            </a:pPr>
            <a:r>
              <a:rPr lang="en-US" altLang="zh-CN" sz="2800" dirty="0">
                <a:solidFill>
                  <a:schemeClr val="tx1"/>
                </a:solidFill>
                <a:latin typeface="+mn-lt"/>
              </a:rPr>
              <a:t>IA-32</a:t>
            </a:r>
            <a:r>
              <a:rPr lang="zh-CN" altLang="en-US" sz="2800" dirty="0">
                <a:solidFill>
                  <a:schemeClr val="tx1"/>
                </a:solidFill>
                <a:latin typeface="+mn-lt"/>
              </a:rPr>
              <a:t>指令系统采用可变长度指令格式</a:t>
            </a:r>
          </a:p>
          <a:p>
            <a:pPr marL="457200" indent="-457200" algn="just">
              <a:lnSpc>
                <a:spcPct val="120000"/>
              </a:lnSpc>
              <a:spcBef>
                <a:spcPts val="0"/>
              </a:spcBef>
              <a:buClr>
                <a:srgbClr val="0000FF"/>
              </a:buClr>
              <a:buSzPct val="100000"/>
              <a:buFont typeface="Wingdings" panose="05000000000000000000" pitchFamily="2" charset="2"/>
              <a:buChar char="Ø"/>
              <a:defRPr/>
            </a:pPr>
            <a:r>
              <a:rPr lang="zh-CN" altLang="en-US" sz="2800" dirty="0"/>
              <a:t>指令由操作码和操作数</a:t>
            </a:r>
            <a:r>
              <a:rPr lang="zh-CN" altLang="en-US" sz="2800" dirty="0">
                <a:sym typeface="+mn-ea"/>
              </a:rPr>
              <a:t>（地址码）</a:t>
            </a:r>
            <a:r>
              <a:rPr lang="zh-CN" altLang="en-US" sz="2800" dirty="0"/>
              <a:t>组成</a:t>
            </a:r>
            <a:endParaRPr lang="zh-CN" altLang="en-US" sz="2800" dirty="0">
              <a:latin typeface="+mn-lt"/>
            </a:endParaRPr>
          </a:p>
          <a:p>
            <a:pPr marL="914400" lvl="1" indent="-457200" algn="just">
              <a:lnSpc>
                <a:spcPct val="120000"/>
              </a:lnSpc>
              <a:spcBef>
                <a:spcPts val="0"/>
              </a:spcBef>
              <a:buClr>
                <a:srgbClr val="0000FF"/>
              </a:buClr>
              <a:buFont typeface="Wingdings" panose="05000000000000000000" pitchFamily="2" charset="2"/>
              <a:buChar char="ü"/>
            </a:pPr>
            <a:r>
              <a:rPr lang="zh-CN" altLang="en-US" sz="2600" dirty="0">
                <a:latin typeface="+mn-lt"/>
              </a:rPr>
              <a:t>操作码</a:t>
            </a:r>
            <a:r>
              <a:rPr lang="en-US" altLang="zh-CN" sz="2600" dirty="0">
                <a:latin typeface="+mn-lt"/>
              </a:rPr>
              <a:t>(Opcode)</a:t>
            </a:r>
            <a:r>
              <a:rPr lang="zh-CN" altLang="en-US" sz="2600" dirty="0">
                <a:latin typeface="+mn-lt"/>
              </a:rPr>
              <a:t>：指令执行的操作</a:t>
            </a:r>
          </a:p>
          <a:p>
            <a:pPr marL="1440180" lvl="1" indent="-457200" algn="just">
              <a:lnSpc>
                <a:spcPct val="120000"/>
              </a:lnSpc>
              <a:spcBef>
                <a:spcPts val="0"/>
              </a:spcBef>
              <a:buClr>
                <a:srgbClr val="0000FF"/>
              </a:buClr>
              <a:buFont typeface="Arial" panose="020B0604020202020204" pitchFamily="34" charset="0"/>
              <a:buChar char="•"/>
            </a:pPr>
            <a:r>
              <a:rPr lang="en-US" altLang="zh-CN" sz="2400" dirty="0">
                <a:solidFill>
                  <a:schemeClr val="tx1"/>
                </a:solidFill>
              </a:rPr>
              <a:t>1</a:t>
            </a:r>
            <a:r>
              <a:rPr lang="zh-CN" altLang="en-US" sz="2400" dirty="0">
                <a:solidFill>
                  <a:schemeClr val="tx1"/>
                </a:solidFill>
              </a:rPr>
              <a:t>～</a:t>
            </a:r>
            <a:r>
              <a:rPr lang="en-US" altLang="zh-CN" sz="2400" dirty="0">
                <a:solidFill>
                  <a:schemeClr val="tx1"/>
                </a:solidFill>
              </a:rPr>
              <a:t>3</a:t>
            </a:r>
            <a:r>
              <a:rPr lang="zh-CN" altLang="en-US" sz="2400" dirty="0">
                <a:solidFill>
                  <a:schemeClr val="tx1"/>
                </a:solidFill>
              </a:rPr>
              <a:t>字节的主要操作码</a:t>
            </a:r>
            <a:endParaRPr lang="en-US" altLang="zh-CN" sz="2400" dirty="0">
              <a:solidFill>
                <a:schemeClr val="tx1"/>
              </a:solidFill>
            </a:endParaRPr>
          </a:p>
          <a:p>
            <a:pPr marL="1440180" lvl="1" indent="-457200" algn="just">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可选的指令前缀（用于扩展指令功能）</a:t>
            </a:r>
          </a:p>
          <a:p>
            <a:pPr marL="914400" lvl="1" indent="-457200" algn="just">
              <a:lnSpc>
                <a:spcPct val="120000"/>
              </a:lnSpc>
              <a:spcBef>
                <a:spcPts val="0"/>
              </a:spcBef>
              <a:buClr>
                <a:srgbClr val="0000FF"/>
              </a:buClr>
              <a:buFont typeface="Wingdings" panose="05000000000000000000" pitchFamily="2" charset="2"/>
              <a:buChar char="ü"/>
            </a:pPr>
            <a:r>
              <a:rPr lang="zh-CN" altLang="en-US" sz="2600" dirty="0">
                <a:latin typeface="+mn-lt"/>
              </a:rPr>
              <a:t>操作数</a:t>
            </a:r>
            <a:r>
              <a:rPr lang="en-US" altLang="zh-CN" sz="2600" dirty="0">
                <a:latin typeface="+mn-lt"/>
              </a:rPr>
              <a:t>(Operand)</a:t>
            </a:r>
            <a:r>
              <a:rPr lang="zh-CN" altLang="en-US" sz="2600" dirty="0">
                <a:latin typeface="+mn-lt"/>
              </a:rPr>
              <a:t>：主要以</a:t>
            </a:r>
            <a:r>
              <a:rPr lang="zh-CN" altLang="en-US" sz="2800" dirty="0"/>
              <a:t>寄存器名或地址形式指明数据的来源</a:t>
            </a:r>
            <a:endParaRPr lang="zh-CN" altLang="en-US" sz="2600" dirty="0">
              <a:latin typeface="+mn-lt"/>
            </a:endParaRPr>
          </a:p>
          <a:p>
            <a:pPr marL="1440180" lvl="1" indent="-457200" algn="just">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可选的寻址方式（包括</a:t>
            </a:r>
            <a:r>
              <a:rPr lang="en-US" altLang="zh-CN" sz="2400" dirty="0" err="1">
                <a:solidFill>
                  <a:schemeClr val="tx1"/>
                </a:solidFill>
                <a:latin typeface="+mn-lt"/>
              </a:rPr>
              <a:t>ModR</a:t>
            </a:r>
            <a:r>
              <a:rPr lang="en-US" altLang="zh-CN" sz="2400" dirty="0">
                <a:solidFill>
                  <a:schemeClr val="tx1"/>
                </a:solidFill>
                <a:latin typeface="+mn-lt"/>
              </a:rPr>
              <a:t>/M</a:t>
            </a:r>
            <a:r>
              <a:rPr lang="zh-CN" altLang="en-US" sz="2400" dirty="0">
                <a:solidFill>
                  <a:schemeClr val="tx1"/>
                </a:solidFill>
                <a:latin typeface="+mn-lt"/>
              </a:rPr>
              <a:t>和</a:t>
            </a:r>
            <a:r>
              <a:rPr lang="en-US" altLang="zh-CN" sz="2400" dirty="0">
                <a:solidFill>
                  <a:schemeClr val="tx1"/>
                </a:solidFill>
                <a:latin typeface="+mn-lt"/>
              </a:rPr>
              <a:t>SIB</a:t>
            </a:r>
            <a:r>
              <a:rPr lang="zh-CN" altLang="en-US" sz="2400" dirty="0">
                <a:solidFill>
                  <a:schemeClr val="tx1"/>
                </a:solidFill>
                <a:latin typeface="+mn-lt"/>
              </a:rPr>
              <a:t>字段）</a:t>
            </a:r>
          </a:p>
          <a:p>
            <a:pPr marL="1440180" lvl="1" indent="-457200" algn="just">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可选的位移量</a:t>
            </a:r>
          </a:p>
          <a:p>
            <a:pPr marL="1440180" lvl="1" indent="-457200" algn="just">
              <a:lnSpc>
                <a:spcPct val="120000"/>
              </a:lnSpc>
              <a:spcBef>
                <a:spcPts val="0"/>
              </a:spcBef>
              <a:buClr>
                <a:srgbClr val="0000FF"/>
              </a:buClr>
              <a:buFont typeface="Arial" panose="020B0604020202020204" pitchFamily="34" charset="0"/>
              <a:buChar char="•"/>
            </a:pPr>
            <a:r>
              <a:rPr lang="zh-CN" altLang="en-US" sz="2400" dirty="0">
                <a:solidFill>
                  <a:schemeClr val="tx1"/>
                </a:solidFill>
                <a:latin typeface="+mn-lt"/>
              </a:rPr>
              <a:t>可选的立即数</a:t>
            </a:r>
          </a:p>
          <a:p>
            <a:pPr marL="914400" lvl="1" indent="-457200" algn="just">
              <a:lnSpc>
                <a:spcPct val="130000"/>
              </a:lnSpc>
              <a:spcBef>
                <a:spcPts val="0"/>
              </a:spcBef>
              <a:buClr>
                <a:srgbClr val="0000FF"/>
              </a:buClr>
              <a:buFont typeface="Wingdings" panose="05000000000000000000" pitchFamily="2" charset="2"/>
              <a:buChar char="ü"/>
            </a:pPr>
            <a:endParaRPr lang="zh-CN" altLang="en-US" sz="28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1.3.1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指令代码格式</a:t>
            </a:r>
          </a:p>
        </p:txBody>
      </p:sp>
      <p:cxnSp>
        <p:nvCxnSpPr>
          <p:cNvPr id="8" name="直接连接符 7"/>
          <p:cNvCxnSpPr/>
          <p:nvPr/>
        </p:nvCxnSpPr>
        <p:spPr bwMode="auto">
          <a:xfrm>
            <a:off x="142844" y="692883"/>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3" name="Picture 4" descr="fig0209"/>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12478" y="5402692"/>
            <a:ext cx="8380002" cy="1318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51520" y="743438"/>
            <a:ext cx="8496944" cy="6133690"/>
          </a:xfrm>
          <a:prstGeom prst="rect">
            <a:avLst/>
          </a:prstGeom>
        </p:spPr>
        <p:txBody>
          <a:bodyPr/>
          <a:lstStyle/>
          <a:p>
            <a:pPr marL="457200" indent="-457200" algn="just">
              <a:lnSpc>
                <a:spcPct val="130000"/>
              </a:lnSpc>
              <a:spcBef>
                <a:spcPts val="0"/>
              </a:spcBef>
              <a:buClr>
                <a:srgbClr val="0000FF"/>
              </a:buClr>
              <a:buSzPct val="85000"/>
              <a:buFont typeface="Wingdings" panose="05000000000000000000" pitchFamily="2" charset="2"/>
              <a:buChar char="Ø"/>
              <a:defRPr/>
            </a:pPr>
            <a:r>
              <a:rPr lang="zh-CN" altLang="en-US" sz="2800" dirty="0">
                <a:latin typeface="+mn-lt"/>
              </a:rPr>
              <a:t>数据传送指令</a:t>
            </a:r>
            <a:r>
              <a:rPr lang="en-US" altLang="zh-CN" sz="2800" dirty="0">
                <a:latin typeface="+mn-lt"/>
              </a:rPr>
              <a:t>MOV</a:t>
            </a:r>
            <a:r>
              <a:rPr lang="zh-CN" altLang="en-US" sz="2800" dirty="0">
                <a:latin typeface="+mn-lt"/>
              </a:rPr>
              <a:t>（取自</a:t>
            </a:r>
            <a:r>
              <a:rPr lang="en-US" altLang="zh-CN" sz="2800" dirty="0">
                <a:latin typeface="+mn-lt"/>
              </a:rPr>
              <a:t>Move</a:t>
            </a:r>
            <a:r>
              <a:rPr lang="zh-CN" altLang="en-US" sz="2800" dirty="0">
                <a:latin typeface="+mn-lt"/>
              </a:rPr>
              <a:t>）</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将数据从一个位置传送到另一个位置</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类似高级语言的赋值语句，其语句形式：</a:t>
            </a:r>
            <a:endParaRPr lang="en-US" altLang="zh-CN" sz="2400" dirty="0">
              <a:solidFill>
                <a:schemeClr val="tx1"/>
              </a:solidFill>
              <a:latin typeface="+mn-lt"/>
            </a:endParaRPr>
          </a:p>
          <a:p>
            <a:pPr lvl="1" algn="just">
              <a:lnSpc>
                <a:spcPct val="130000"/>
              </a:lnSpc>
              <a:spcBef>
                <a:spcPts val="0"/>
              </a:spcBef>
              <a:buClr>
                <a:srgbClr val="0000FF"/>
              </a:buClr>
            </a:pPr>
            <a:endParaRPr lang="en-US" altLang="zh-CN" sz="2400" dirty="0">
              <a:solidFill>
                <a:schemeClr val="tx1"/>
              </a:solidFill>
              <a:latin typeface="+mn-lt"/>
            </a:endParaRPr>
          </a:p>
          <a:p>
            <a:pPr>
              <a:lnSpc>
                <a:spcPct val="130000"/>
              </a:lnSpc>
              <a:spcBef>
                <a:spcPts val="0"/>
              </a:spcBef>
            </a:pPr>
            <a:r>
              <a:rPr lang="zh-CN" altLang="en-US" sz="2600" dirty="0">
                <a:solidFill>
                  <a:schemeClr val="tx1"/>
                </a:solidFill>
                <a:latin typeface="+mn-lt"/>
              </a:rPr>
              <a:t>           </a:t>
            </a:r>
            <a:r>
              <a:rPr lang="zh-CN" altLang="en-US" sz="2400" dirty="0">
                <a:solidFill>
                  <a:schemeClr val="tx1"/>
                </a:solidFill>
                <a:latin typeface="+mn-lt"/>
              </a:rPr>
              <a:t>源操作数</a:t>
            </a:r>
            <a:r>
              <a:rPr lang="en-US" altLang="zh-CN" sz="2400" dirty="0" err="1">
                <a:solidFill>
                  <a:schemeClr val="tx1"/>
                </a:solidFill>
                <a:latin typeface="+mn-lt"/>
              </a:rPr>
              <a:t>src</a:t>
            </a:r>
            <a:r>
              <a:rPr lang="zh-CN" altLang="en-US" sz="2400" dirty="0">
                <a:solidFill>
                  <a:schemeClr val="tx1"/>
                </a:solidFill>
                <a:latin typeface="+mn-lt"/>
              </a:rPr>
              <a:t>：被传送的数据或数据所在的位置</a:t>
            </a:r>
            <a:endParaRPr lang="en-US" altLang="zh-CN" sz="2400" dirty="0">
              <a:solidFill>
                <a:schemeClr val="tx1"/>
              </a:solidFill>
              <a:latin typeface="+mn-lt"/>
            </a:endParaRPr>
          </a:p>
          <a:p>
            <a:pPr>
              <a:lnSpc>
                <a:spcPct val="130000"/>
              </a:lnSpc>
              <a:spcBef>
                <a:spcPts val="0"/>
              </a:spcBef>
            </a:pPr>
            <a:r>
              <a:rPr lang="zh-CN" altLang="en-US" sz="2400" dirty="0">
                <a:solidFill>
                  <a:schemeClr val="tx1"/>
                </a:solidFill>
                <a:latin typeface="+mn-lt"/>
              </a:rPr>
              <a:t>            目的操作数</a:t>
            </a:r>
            <a:r>
              <a:rPr lang="en-US" altLang="zh-CN" sz="2400" dirty="0" err="1">
                <a:solidFill>
                  <a:schemeClr val="tx1"/>
                </a:solidFill>
                <a:latin typeface="+mn-lt"/>
              </a:rPr>
              <a:t>dest</a:t>
            </a:r>
            <a:r>
              <a:rPr lang="zh-CN" altLang="en-US" sz="2400" dirty="0">
                <a:solidFill>
                  <a:schemeClr val="tx1"/>
                </a:solidFill>
                <a:latin typeface="+mn-lt"/>
              </a:rPr>
              <a:t>：数据将要传送到的位置</a:t>
            </a:r>
          </a:p>
          <a:p>
            <a:pPr lvl="1" algn="just">
              <a:lnSpc>
                <a:spcPct val="130000"/>
              </a:lnSpc>
              <a:buClr>
                <a:srgbClr val="0000FF"/>
              </a:buClr>
            </a:pPr>
            <a:endParaRPr lang="zh-CN" altLang="en-US" sz="2600" dirty="0">
              <a:solidFill>
                <a:schemeClr val="tx1"/>
              </a:solidFill>
              <a:latin typeface="+mn-lt"/>
            </a:endParaRPr>
          </a:p>
        </p:txBody>
      </p:sp>
      <p:sp>
        <p:nvSpPr>
          <p:cNvPr id="6" name="标题 1"/>
          <p:cNvSpPr txBox="1"/>
          <p:nvPr/>
        </p:nvSpPr>
        <p:spPr>
          <a:xfrm>
            <a:off x="0" y="-24"/>
            <a:ext cx="9144000" cy="849296"/>
          </a:xfrm>
          <a:prstGeom prst="rect">
            <a:avLst/>
          </a:prstGeom>
        </p:spPr>
        <p:txBody>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MOV</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使用最多、最基本的数据传送指令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矩形 2"/>
          <p:cNvSpPr/>
          <p:nvPr/>
        </p:nvSpPr>
        <p:spPr>
          <a:xfrm>
            <a:off x="1270266" y="3810283"/>
            <a:ext cx="7315522" cy="2725746"/>
          </a:xfrm>
          <a:prstGeom prst="rect">
            <a:avLst/>
          </a:prstGeom>
          <a:solidFill>
            <a:srgbClr val="DDEEFF"/>
          </a:solidFill>
          <a:ln w="25400">
            <a:noFill/>
          </a:ln>
        </p:spPr>
        <p:txBody>
          <a:bodyPr wrap="square">
            <a:spAutoFit/>
          </a:bodyPr>
          <a:lstStyle/>
          <a:p>
            <a:pPr>
              <a:lnSpc>
                <a:spcPct val="130000"/>
              </a:lnSpc>
            </a:pPr>
            <a:r>
              <a:rPr lang="en-US" altLang="zh-CN" sz="2200" b="1" dirty="0">
                <a:solidFill>
                  <a:srgbClr val="00B050"/>
                </a:solidFill>
                <a:latin typeface="+mn-lt"/>
              </a:rPr>
              <a:t>mov </a:t>
            </a:r>
            <a:r>
              <a:rPr lang="en-US" altLang="zh-CN" sz="2200" b="1" dirty="0" err="1">
                <a:solidFill>
                  <a:srgbClr val="00B050"/>
                </a:solidFill>
                <a:latin typeface="+mn-lt"/>
              </a:rPr>
              <a:t>eax,ebx</a:t>
            </a:r>
            <a:r>
              <a:rPr lang="en-US" altLang="zh-CN" sz="2200" dirty="0">
                <a:solidFill>
                  <a:srgbClr val="000000"/>
                </a:solidFill>
                <a:latin typeface="+mn-lt"/>
              </a:rPr>
              <a:t>	                        </a:t>
            </a:r>
            <a:r>
              <a:rPr lang="zh-CN" altLang="en-US" sz="2200" dirty="0">
                <a:latin typeface="+mn-lt"/>
              </a:rPr>
              <a:t>机器代码</a:t>
            </a:r>
            <a:r>
              <a:rPr lang="en-US" altLang="zh-CN" sz="2200" dirty="0">
                <a:latin typeface="+mn-lt"/>
              </a:rPr>
              <a:t>8B C3</a:t>
            </a:r>
          </a:p>
          <a:p>
            <a:pPr>
              <a:lnSpc>
                <a:spcPct val="130000"/>
              </a:lnSpc>
            </a:pPr>
            <a:r>
              <a:rPr lang="zh-CN" altLang="en-US" sz="2200" dirty="0">
                <a:solidFill>
                  <a:srgbClr val="000000"/>
                </a:solidFill>
                <a:latin typeface="+mn-lt"/>
              </a:rPr>
              <a:t>将</a:t>
            </a:r>
            <a:r>
              <a:rPr lang="en-US" altLang="zh-CN" sz="2200" dirty="0">
                <a:solidFill>
                  <a:srgbClr val="000000"/>
                </a:solidFill>
                <a:latin typeface="+mn-lt"/>
              </a:rPr>
              <a:t>EBX</a:t>
            </a:r>
            <a:r>
              <a:rPr lang="zh-CN" altLang="en-US" sz="2200" dirty="0">
                <a:solidFill>
                  <a:srgbClr val="000000"/>
                </a:solidFill>
                <a:latin typeface="+mn-lt"/>
              </a:rPr>
              <a:t>的数据传送到</a:t>
            </a:r>
            <a:r>
              <a:rPr lang="en-US" altLang="zh-CN" sz="2200" dirty="0">
                <a:solidFill>
                  <a:srgbClr val="000000"/>
                </a:solidFill>
                <a:latin typeface="+mn-lt"/>
              </a:rPr>
              <a:t>EAX</a:t>
            </a:r>
          </a:p>
          <a:p>
            <a:pPr>
              <a:lnSpc>
                <a:spcPct val="130000"/>
              </a:lnSpc>
            </a:pPr>
            <a:r>
              <a:rPr lang="en-US" altLang="zh-CN" sz="2200" b="1" dirty="0">
                <a:solidFill>
                  <a:srgbClr val="00B050"/>
                </a:solidFill>
                <a:latin typeface="+mn-lt"/>
              </a:rPr>
              <a:t>mov </a:t>
            </a:r>
            <a:r>
              <a:rPr lang="en-US" altLang="zh-CN" sz="2200" b="1" dirty="0" err="1">
                <a:solidFill>
                  <a:srgbClr val="00B050"/>
                </a:solidFill>
                <a:latin typeface="+mn-lt"/>
              </a:rPr>
              <a:t>eax</a:t>
            </a:r>
            <a:r>
              <a:rPr lang="en-US" altLang="zh-CN" sz="2200" b="1" dirty="0">
                <a:solidFill>
                  <a:srgbClr val="00B050"/>
                </a:solidFill>
                <a:latin typeface="+mn-lt"/>
              </a:rPr>
              <a:t>,[</a:t>
            </a:r>
            <a:r>
              <a:rPr lang="en-US" altLang="zh-CN" sz="2200" b="1" dirty="0" err="1">
                <a:solidFill>
                  <a:srgbClr val="00B050"/>
                </a:solidFill>
                <a:latin typeface="+mn-lt"/>
              </a:rPr>
              <a:t>ebx</a:t>
            </a:r>
            <a:r>
              <a:rPr lang="en-US" altLang="zh-CN" sz="2200" b="1" dirty="0">
                <a:solidFill>
                  <a:srgbClr val="00B050"/>
                </a:solidFill>
                <a:latin typeface="+mn-lt"/>
              </a:rPr>
              <a:t>]</a:t>
            </a:r>
            <a:r>
              <a:rPr lang="en-US" altLang="zh-CN" sz="2200" dirty="0">
                <a:solidFill>
                  <a:srgbClr val="000000"/>
                </a:solidFill>
                <a:latin typeface="+mn-lt"/>
              </a:rPr>
              <a:t>	                        </a:t>
            </a:r>
            <a:r>
              <a:rPr lang="zh-CN" altLang="en-US" sz="2200" dirty="0">
                <a:latin typeface="+mn-lt"/>
              </a:rPr>
              <a:t>机器代码</a:t>
            </a:r>
            <a:r>
              <a:rPr lang="en-US" altLang="zh-CN" sz="2200" dirty="0">
                <a:latin typeface="+mn-lt"/>
              </a:rPr>
              <a:t>8B 03</a:t>
            </a:r>
          </a:p>
          <a:p>
            <a:pPr>
              <a:lnSpc>
                <a:spcPct val="130000"/>
              </a:lnSpc>
            </a:pPr>
            <a:r>
              <a:rPr lang="zh-CN" altLang="en-US" sz="2200" dirty="0">
                <a:solidFill>
                  <a:srgbClr val="000000"/>
                </a:solidFill>
                <a:latin typeface="+mn-lt"/>
              </a:rPr>
              <a:t>将由</a:t>
            </a:r>
            <a:r>
              <a:rPr lang="en-US" altLang="zh-CN" sz="2200" dirty="0">
                <a:solidFill>
                  <a:srgbClr val="000000"/>
                </a:solidFill>
                <a:latin typeface="+mn-lt"/>
              </a:rPr>
              <a:t>EBX</a:t>
            </a:r>
            <a:r>
              <a:rPr lang="zh-CN" altLang="en-US" sz="2200" dirty="0">
                <a:solidFill>
                  <a:srgbClr val="000000"/>
                </a:solidFill>
                <a:latin typeface="+mn-lt"/>
              </a:rPr>
              <a:t>指明偏移地址的存储器内的数据传送到</a:t>
            </a:r>
            <a:r>
              <a:rPr lang="en-US" altLang="zh-CN" sz="2200" dirty="0">
                <a:solidFill>
                  <a:srgbClr val="000000"/>
                </a:solidFill>
                <a:latin typeface="+mn-lt"/>
              </a:rPr>
              <a:t>EAX</a:t>
            </a:r>
          </a:p>
          <a:p>
            <a:pPr>
              <a:lnSpc>
                <a:spcPct val="130000"/>
              </a:lnSpc>
            </a:pPr>
            <a:r>
              <a:rPr lang="en-US" altLang="zh-CN" sz="2400" b="1" dirty="0">
                <a:solidFill>
                  <a:srgbClr val="00B050"/>
                </a:solidFill>
                <a:latin typeface="+mn-lt"/>
              </a:rPr>
              <a:t>mov </a:t>
            </a:r>
            <a:r>
              <a:rPr lang="en-US" altLang="zh-CN" sz="2400" b="1" dirty="0" err="1">
                <a:solidFill>
                  <a:srgbClr val="00B050"/>
                </a:solidFill>
                <a:latin typeface="+mn-lt"/>
              </a:rPr>
              <a:t>eax</a:t>
            </a:r>
            <a:r>
              <a:rPr lang="en-US" altLang="zh-CN" sz="2400" b="1" dirty="0">
                <a:solidFill>
                  <a:srgbClr val="00B050"/>
                </a:solidFill>
                <a:latin typeface="+mn-lt"/>
              </a:rPr>
              <a:t>,[</a:t>
            </a:r>
            <a:r>
              <a:rPr lang="en-US" altLang="zh-CN" sz="2400" b="1" dirty="0" err="1">
                <a:solidFill>
                  <a:srgbClr val="00B050"/>
                </a:solidFill>
                <a:latin typeface="+mn-lt"/>
              </a:rPr>
              <a:t>ebx+esi</a:t>
            </a:r>
            <a:r>
              <a:rPr lang="en-US" altLang="zh-CN" sz="2400" b="1" dirty="0">
                <a:solidFill>
                  <a:srgbClr val="00B050"/>
                </a:solidFill>
                <a:latin typeface="+mn-lt"/>
              </a:rPr>
              <a:t>*4+80h]   </a:t>
            </a:r>
            <a:r>
              <a:rPr lang="zh-CN" altLang="en-US" sz="2200" dirty="0">
                <a:latin typeface="+mn-lt"/>
              </a:rPr>
              <a:t>机器代码</a:t>
            </a:r>
            <a:r>
              <a:rPr lang="en-US" altLang="zh-CN" sz="2200" dirty="0">
                <a:latin typeface="+mn-lt"/>
              </a:rPr>
              <a:t>8B 84 B3 80 00 00 00</a:t>
            </a:r>
          </a:p>
          <a:p>
            <a:pPr>
              <a:lnSpc>
                <a:spcPct val="130000"/>
              </a:lnSpc>
            </a:pPr>
            <a:r>
              <a:rPr lang="zh-CN" altLang="en-US" sz="2200" dirty="0">
                <a:solidFill>
                  <a:srgbClr val="000000"/>
                </a:solidFill>
                <a:latin typeface="+mn-lt"/>
              </a:rPr>
              <a:t>计算出偏移地址，将主存中该地址的数据传送到</a:t>
            </a:r>
            <a:r>
              <a:rPr lang="en-US" altLang="zh-CN" sz="2200" dirty="0">
                <a:solidFill>
                  <a:srgbClr val="000000"/>
                </a:solidFill>
                <a:latin typeface="+mn-lt"/>
              </a:rPr>
              <a:t>EAX</a:t>
            </a:r>
            <a:endParaRPr lang="zh-CN" altLang="en-US" sz="2200" dirty="0">
              <a:solidFill>
                <a:srgbClr val="000000"/>
              </a:solidFill>
              <a:latin typeface="+mn-lt"/>
            </a:endParaRPr>
          </a:p>
        </p:txBody>
      </p:sp>
      <p:sp>
        <p:nvSpPr>
          <p:cNvPr id="4" name="矩形 3"/>
          <p:cNvSpPr/>
          <p:nvPr/>
        </p:nvSpPr>
        <p:spPr>
          <a:xfrm>
            <a:off x="1270266" y="2291616"/>
            <a:ext cx="7315522" cy="523220"/>
          </a:xfrm>
          <a:prstGeom prst="rect">
            <a:avLst/>
          </a:prstGeom>
          <a:solidFill>
            <a:srgbClr val="DDEEFF"/>
          </a:solidFill>
          <a:ln w="25400">
            <a:noFill/>
          </a:ln>
        </p:spPr>
        <p:txBody>
          <a:bodyPr wrap="square">
            <a:spAutoFit/>
          </a:bodyPr>
          <a:lstStyle/>
          <a:p>
            <a:pPr marL="0" lvl="1" algn="ctr">
              <a:spcBef>
                <a:spcPts val="600"/>
              </a:spcBef>
              <a:spcAft>
                <a:spcPts val="600"/>
              </a:spcAft>
              <a:buClr>
                <a:srgbClr val="0000FF"/>
              </a:buClr>
            </a:pPr>
            <a:r>
              <a:rPr lang="en-US" altLang="zh-CN" sz="2800" b="1" dirty="0">
                <a:solidFill>
                  <a:srgbClr val="FF0000"/>
                </a:solidFill>
                <a:latin typeface="+mn-lt"/>
              </a:rPr>
              <a:t>mov </a:t>
            </a:r>
            <a:r>
              <a:rPr lang="en-US" altLang="zh-CN" sz="2800" b="1" dirty="0" err="1">
                <a:solidFill>
                  <a:srgbClr val="FF0000"/>
                </a:solidFill>
                <a:latin typeface="+mn-lt"/>
              </a:rPr>
              <a:t>dest</a:t>
            </a:r>
            <a:r>
              <a:rPr lang="en-US" altLang="zh-CN" sz="2800" b="1" dirty="0">
                <a:solidFill>
                  <a:srgbClr val="FF0000"/>
                </a:solidFill>
                <a:latin typeface="+mn-lt"/>
              </a:rPr>
              <a:t>, </a:t>
            </a:r>
            <a:r>
              <a:rPr lang="en-US" altLang="zh-CN" sz="2800" b="1" dirty="0" err="1">
                <a:solidFill>
                  <a:srgbClr val="FF0000"/>
                </a:solidFill>
                <a:latin typeface="+mn-lt"/>
              </a:rPr>
              <a:t>src</a:t>
            </a:r>
            <a:endParaRPr lang="en-US" altLang="zh-CN" sz="2800" b="1" dirty="0">
              <a:solidFill>
                <a:srgbClr val="FF0000"/>
              </a:solidFill>
              <a:latin typeface="+mn-lt"/>
            </a:endParaRPr>
          </a:p>
        </p:txBody>
      </p:sp>
      <p:sp>
        <p:nvSpPr>
          <p:cNvPr id="5" name="Rounded Rectangular Callout 2"/>
          <p:cNvSpPr/>
          <p:nvPr/>
        </p:nvSpPr>
        <p:spPr bwMode="auto">
          <a:xfrm>
            <a:off x="4427984" y="2994529"/>
            <a:ext cx="4157803" cy="757766"/>
          </a:xfrm>
          <a:prstGeom prst="wedgeRoundRectCallout">
            <a:avLst>
              <a:gd name="adj1" fmla="val -35575"/>
              <a:gd name="adj2" fmla="val -91887"/>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endParaRPr lang="en-US" altLang="zh-CN" sz="2800" dirty="0">
              <a:solidFill>
                <a:srgbClr val="00B050"/>
              </a:solidFill>
              <a:ea typeface="黑体" panose="02010609060101010101" pitchFamily="49" charset="-122"/>
            </a:endParaRPr>
          </a:p>
          <a:p>
            <a:pPr algn="ct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相当于</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C</a:t>
            </a: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语言中的赋值语句：</a:t>
            </a:r>
          </a:p>
          <a:p>
            <a:pPr algn="ctr"/>
            <a:r>
              <a:rPr lang="en-US" altLang="zh-CN" sz="2400" b="1" dirty="0" err="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dest</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a:t>
            </a:r>
            <a:r>
              <a:rPr lang="en-US" altLang="zh-CN" sz="2400" b="1" dirty="0" err="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src</a:t>
            </a:r>
            <a:r>
              <a:rPr lang="en-US" altLang="zh-CN"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a:t>
            </a:r>
          </a:p>
          <a:p>
            <a:pPr algn="ctr"/>
            <a:endParaRPr lang="zh-CN" altLang="en-US" sz="2800" dirty="0">
              <a:solidFill>
                <a:srgbClr val="00B05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1"/>
          <p:cNvSpPr>
            <a:spLocks noGrp="1"/>
          </p:cNvSpPr>
          <p:nvPr>
            <p:ph type="sldNum" sz="quarter" idx="4294967295"/>
          </p:nvPr>
        </p:nvSpPr>
        <p:spPr>
          <a:xfrm>
            <a:off x="0" y="6477000"/>
            <a:ext cx="533400" cy="304800"/>
          </a:xfrm>
        </p:spPr>
        <p:txBody>
          <a:bodyPr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buSzTx/>
            </a:pPr>
            <a:fld id="{9A0DB2DC-4C9A-4742-B13C-FB6460FD3503}" type="slidenum">
              <a:rPr lang="ko-KR" altLang="en-US" sz="900" b="1" dirty="0">
                <a:solidFill>
                  <a:schemeClr val="tx2"/>
                </a:solidFill>
                <a:latin typeface="黑体" panose="02010609060101010101" pitchFamily="49" charset="-122"/>
                <a:ea typeface="黑体" panose="02010609060101010101" pitchFamily="49" charset="-122"/>
              </a:rPr>
              <a:t>55</a:t>
            </a:fld>
            <a:endParaRPr lang="ko-KR" altLang="en-US" sz="900" b="1" dirty="0">
              <a:solidFill>
                <a:schemeClr val="tx2"/>
              </a:solidFill>
              <a:latin typeface="黑体" panose="02010609060101010101" pitchFamily="49" charset="-122"/>
              <a:ea typeface="黑体" panose="02010609060101010101" pitchFamily="49" charset="-122"/>
            </a:endParaRPr>
          </a:p>
        </p:txBody>
      </p:sp>
      <p:sp>
        <p:nvSpPr>
          <p:cNvPr id="124936" name="线形标注 1(带边框和强调线) 124935"/>
          <p:cNvSpPr/>
          <p:nvPr/>
        </p:nvSpPr>
        <p:spPr>
          <a:xfrm>
            <a:off x="5004435" y="4002405"/>
            <a:ext cx="2409190" cy="460375"/>
          </a:xfrm>
          <a:prstGeom prst="accentBorderCallout1">
            <a:avLst>
              <a:gd name="adj1" fmla="val 21491"/>
              <a:gd name="adj2" fmla="val -2968"/>
              <a:gd name="adj3" fmla="val 21491"/>
              <a:gd name="adj4" fmla="val -55412"/>
            </a:avLst>
          </a:prstGeom>
          <a:solidFill>
            <a:schemeClr val="accent1"/>
          </a:solidFill>
          <a:ln w="19050" cap="sq" cmpd="sng">
            <a:solidFill>
              <a:schemeClr val="tx1"/>
            </a:solidFill>
            <a:prstDash val="solid"/>
            <a:miter/>
            <a:headEnd type="none" w="sm" len="sm"/>
            <a:tailEnd type="none" w="sm" len="sm"/>
          </a:ln>
        </p:spPr>
        <p:txBody>
          <a:bodyPr wrap="square" anchor="t" anchorCtr="0">
            <a:spAutoFit/>
          </a:bodyPr>
          <a:lstStyle/>
          <a:p>
            <a:pPr algn="ctr"/>
            <a:r>
              <a:rPr lang="zh-CN" altLang="en-US" sz="2400" b="1" dirty="0">
                <a:latin typeface="Times New Roman" panose="02020603050405020304" pitchFamily="18" charset="0"/>
              </a:rPr>
              <a:t>源操作数 </a:t>
            </a:r>
            <a:r>
              <a:rPr lang="en-US" altLang="zh-CN" sz="2400" b="1" err="1">
                <a:latin typeface="Times New Roman" panose="02020603050405020304" pitchFamily="18" charset="0"/>
              </a:rPr>
              <a:t>src</a:t>
            </a:r>
          </a:p>
        </p:txBody>
      </p:sp>
      <p:sp>
        <p:nvSpPr>
          <p:cNvPr id="124937" name="线形标注 1(带边框和强调线) 124936"/>
          <p:cNvSpPr/>
          <p:nvPr/>
        </p:nvSpPr>
        <p:spPr>
          <a:xfrm>
            <a:off x="4989830" y="2338388"/>
            <a:ext cx="2405063" cy="460375"/>
          </a:xfrm>
          <a:prstGeom prst="accentBorderCallout1">
            <a:avLst>
              <a:gd name="adj1" fmla="val 13213"/>
              <a:gd name="adj2" fmla="val -2375"/>
              <a:gd name="adj3" fmla="val 13213"/>
              <a:gd name="adj4" fmla="val -44556"/>
            </a:avLst>
          </a:prstGeom>
          <a:solidFill>
            <a:schemeClr val="accent1"/>
          </a:solidFill>
          <a:ln w="19050" cap="sq" cmpd="sng">
            <a:solidFill>
              <a:schemeClr val="tx1"/>
            </a:solidFill>
            <a:prstDash val="solid"/>
            <a:miter/>
            <a:headEnd type="none" w="sm" len="sm"/>
            <a:tailEnd type="none" w="sm" len="sm"/>
          </a:ln>
        </p:spPr>
        <p:txBody>
          <a:bodyPr anchor="t" anchorCtr="0">
            <a:spAutoFit/>
          </a:bodyPr>
          <a:lstStyle/>
          <a:p>
            <a:pPr algn="ctr"/>
            <a:r>
              <a:rPr lang="zh-CN" altLang="en-US" sz="2400" b="1" dirty="0">
                <a:latin typeface="Times New Roman" panose="02020603050405020304" pitchFamily="18" charset="0"/>
              </a:rPr>
              <a:t>目的操作数 </a:t>
            </a:r>
            <a:r>
              <a:rPr lang="en-US" altLang="zh-CN" sz="2400" b="1" err="1">
                <a:latin typeface="Times New Roman" panose="02020603050405020304" pitchFamily="18" charset="0"/>
              </a:rPr>
              <a:t>dest</a:t>
            </a:r>
          </a:p>
        </p:txBody>
      </p:sp>
      <p:sp>
        <p:nvSpPr>
          <p:cNvPr id="87046" name="椭圆 124937"/>
          <p:cNvSpPr/>
          <p:nvPr/>
        </p:nvSpPr>
        <p:spPr>
          <a:xfrm>
            <a:off x="2228850" y="2146697"/>
            <a:ext cx="1485900" cy="800100"/>
          </a:xfrm>
          <a:prstGeom prst="ellipse">
            <a:avLst/>
          </a:prstGeom>
          <a:solidFill>
            <a:schemeClr val="accent1"/>
          </a:solidFill>
          <a:ln w="12700" cap="sq" cmpd="sng">
            <a:solidFill>
              <a:schemeClr val="folHlink"/>
            </a:solidFill>
            <a:prstDash val="solid"/>
            <a:round/>
            <a:headEnd type="none" w="sm" len="sm"/>
            <a:tailEnd type="none" w="sm" len="sm"/>
          </a:ln>
        </p:spPr>
        <p:txBody>
          <a:bodyPr anchor="t" anchorCtr="0"/>
          <a:lstStyle/>
          <a:p>
            <a:pPr eaLnBrk="0" hangingPunct="0"/>
            <a:endParaRPr lang="zh-CN" altLang="en-US" sz="2700">
              <a:latin typeface="Times New Roman" panose="02020603050405020304" pitchFamily="18" charset="0"/>
            </a:endParaRPr>
          </a:p>
        </p:txBody>
      </p:sp>
      <p:sp>
        <p:nvSpPr>
          <p:cNvPr id="124939" name="文本框 124938"/>
          <p:cNvSpPr txBox="1"/>
          <p:nvPr/>
        </p:nvSpPr>
        <p:spPr>
          <a:xfrm>
            <a:off x="2571750" y="2341960"/>
            <a:ext cx="857250" cy="460375"/>
          </a:xfrm>
          <a:prstGeom prst="rect">
            <a:avLst/>
          </a:prstGeom>
          <a:solidFill>
            <a:schemeClr val="bg1">
              <a:lumMod val="90000"/>
            </a:schemeClr>
          </a:solidFill>
          <a:ln w="12700">
            <a:noFill/>
          </a:ln>
        </p:spPr>
        <p:txBody>
          <a:bodyPr anchor="t" anchorCtr="0">
            <a:spAutoFit/>
          </a:bodyPr>
          <a:lstStyle/>
          <a:p>
            <a:pPr algn="ctr">
              <a:spcBef>
                <a:spcPct val="50000"/>
              </a:spcBef>
            </a:pPr>
            <a:r>
              <a:rPr lang="en-US" altLang="zh-CN" sz="2400" b="1">
                <a:solidFill>
                  <a:schemeClr val="tx2"/>
                </a:solidFill>
                <a:latin typeface="Times New Roman" panose="02020603050405020304" pitchFamily="18" charset="0"/>
              </a:rPr>
              <a:t>30H</a:t>
            </a:r>
          </a:p>
        </p:txBody>
      </p:sp>
      <p:sp>
        <p:nvSpPr>
          <p:cNvPr id="87048" name="椭圆 124939"/>
          <p:cNvSpPr/>
          <p:nvPr/>
        </p:nvSpPr>
        <p:spPr>
          <a:xfrm>
            <a:off x="2228850" y="3718322"/>
            <a:ext cx="1485900" cy="800100"/>
          </a:xfrm>
          <a:prstGeom prst="ellipse">
            <a:avLst/>
          </a:prstGeom>
          <a:solidFill>
            <a:schemeClr val="accent1"/>
          </a:solidFill>
          <a:ln w="12700" cap="sq" cmpd="sng">
            <a:solidFill>
              <a:schemeClr val="folHlink"/>
            </a:solidFill>
            <a:prstDash val="solid"/>
            <a:round/>
            <a:headEnd type="none" w="sm" len="sm"/>
            <a:tailEnd type="none" w="sm" len="sm"/>
          </a:ln>
        </p:spPr>
        <p:txBody>
          <a:bodyPr anchor="t" anchorCtr="0"/>
          <a:lstStyle/>
          <a:p>
            <a:pPr eaLnBrk="0" hangingPunct="0"/>
            <a:endParaRPr lang="zh-CN" altLang="en-US" sz="2700">
              <a:latin typeface="Times New Roman" panose="02020603050405020304" pitchFamily="18" charset="0"/>
            </a:endParaRPr>
          </a:p>
        </p:txBody>
      </p:sp>
      <p:sp>
        <p:nvSpPr>
          <p:cNvPr id="124941" name="文本框 124940"/>
          <p:cNvSpPr txBox="1"/>
          <p:nvPr/>
        </p:nvSpPr>
        <p:spPr>
          <a:xfrm>
            <a:off x="2571750" y="3913585"/>
            <a:ext cx="857250" cy="460375"/>
          </a:xfrm>
          <a:prstGeom prst="rect">
            <a:avLst/>
          </a:prstGeom>
          <a:solidFill>
            <a:schemeClr val="bg1">
              <a:lumMod val="90000"/>
            </a:schemeClr>
          </a:solidFill>
          <a:ln w="12700">
            <a:noFill/>
          </a:ln>
        </p:spPr>
        <p:txBody>
          <a:bodyPr anchor="t" anchorCtr="0">
            <a:spAutoFit/>
          </a:bodyPr>
          <a:lstStyle/>
          <a:p>
            <a:pPr algn="ctr">
              <a:spcBef>
                <a:spcPct val="50000"/>
              </a:spcBef>
            </a:pPr>
            <a:r>
              <a:rPr lang="en-US" altLang="zh-CN" sz="2400" b="1">
                <a:solidFill>
                  <a:schemeClr val="tx2"/>
                </a:solidFill>
                <a:latin typeface="Times New Roman" panose="02020603050405020304" pitchFamily="18" charset="0"/>
              </a:rPr>
              <a:t>30H</a:t>
            </a:r>
          </a:p>
        </p:txBody>
      </p:sp>
      <p:sp>
        <p:nvSpPr>
          <p:cNvPr id="124942" name="任意多边形 124941"/>
          <p:cNvSpPr/>
          <p:nvPr/>
        </p:nvSpPr>
        <p:spPr>
          <a:xfrm rot="-5400000" flipV="1">
            <a:off x="2400300" y="3113485"/>
            <a:ext cx="1143000" cy="342900"/>
          </a:xfrm>
          <a:custGeom>
            <a:avLst/>
            <a:gdLst/>
            <a:ahLst/>
            <a:cxnLst>
              <a:cxn ang="270">
                <a:pos x="17035" y="0"/>
              </a:cxn>
              <a:cxn ang="180">
                <a:pos x="0" y="10800"/>
              </a:cxn>
              <a:cxn ang="90">
                <a:pos x="17035" y="21600"/>
              </a:cxn>
              <a:cxn ang="0">
                <a:pos x="21600" y="10800"/>
              </a:cxn>
            </a:cxnLst>
            <a:rect l="0" t="0" r="0" b="0"/>
            <a:pathLst>
              <a:path w="21600" h="21600">
                <a:moveTo>
                  <a:pt x="17035" y="0"/>
                </a:moveTo>
                <a:lnTo>
                  <a:pt x="17035" y="7125"/>
                </a:lnTo>
                <a:lnTo>
                  <a:pt x="3375" y="7125"/>
                </a:lnTo>
                <a:lnTo>
                  <a:pt x="3375" y="14475"/>
                </a:lnTo>
                <a:lnTo>
                  <a:pt x="17035" y="14475"/>
                </a:lnTo>
                <a:lnTo>
                  <a:pt x="17035" y="21600"/>
                </a:lnTo>
                <a:lnTo>
                  <a:pt x="21600" y="10800"/>
                </a:lnTo>
                <a:close/>
              </a:path>
              <a:path w="21600" h="21600">
                <a:moveTo>
                  <a:pt x="1350" y="7125"/>
                </a:moveTo>
                <a:lnTo>
                  <a:pt x="1350" y="14475"/>
                </a:lnTo>
                <a:lnTo>
                  <a:pt x="2700" y="14475"/>
                </a:lnTo>
                <a:lnTo>
                  <a:pt x="2700" y="7125"/>
                </a:lnTo>
                <a:close/>
              </a:path>
              <a:path w="21600" h="21600">
                <a:moveTo>
                  <a:pt x="0" y="7125"/>
                </a:moveTo>
                <a:lnTo>
                  <a:pt x="0" y="14475"/>
                </a:lnTo>
                <a:lnTo>
                  <a:pt x="675" y="14475"/>
                </a:lnTo>
                <a:lnTo>
                  <a:pt x="675" y="7125"/>
                </a:lnTo>
                <a:close/>
              </a:path>
            </a:pathLst>
          </a:custGeom>
          <a:gradFill rotWithShape="0">
            <a:gsLst>
              <a:gs pos="0">
                <a:srgbClr val="339933"/>
              </a:gs>
              <a:gs pos="100000">
                <a:schemeClr val="folHlink"/>
              </a:gs>
            </a:gsLst>
            <a:lin ang="5400000" scaled="1"/>
            <a:tileRect/>
          </a:gradFill>
          <a:ln w="12700" cap="sq" cmpd="sng">
            <a:solidFill>
              <a:srgbClr val="0000CC"/>
            </a:solidFill>
            <a:prstDash val="solid"/>
            <a:miter/>
            <a:headEnd type="none" w="sm" len="sm"/>
            <a:tailEnd type="none" w="sm" len="sm"/>
          </a:ln>
        </p:spPr>
        <p:txBody>
          <a:bodyPr/>
          <a:lstStyle/>
          <a:p>
            <a:endParaRPr lang="zh-CN" altLang="en-US" sz="2700"/>
          </a:p>
        </p:txBody>
      </p:sp>
      <p:sp>
        <p:nvSpPr>
          <p:cNvPr id="124943" name="线形标注 1(带强调线) 124942"/>
          <p:cNvSpPr/>
          <p:nvPr/>
        </p:nvSpPr>
        <p:spPr>
          <a:xfrm>
            <a:off x="4975860" y="3183890"/>
            <a:ext cx="2437765" cy="460374"/>
          </a:xfrm>
          <a:prstGeom prst="accentCallout1">
            <a:avLst>
              <a:gd name="adj1" fmla="val 11727"/>
              <a:gd name="adj2" fmla="val -2472"/>
              <a:gd name="adj3" fmla="val 153745"/>
              <a:gd name="adj4" fmla="val -61597"/>
            </a:avLst>
          </a:prstGeom>
          <a:solidFill>
            <a:schemeClr val="bg1">
              <a:lumMod val="90000"/>
            </a:schemeClr>
          </a:solidFill>
          <a:ln w="28575" cap="sq" cmpd="sng">
            <a:solidFill>
              <a:schemeClr val="tx2"/>
            </a:solidFill>
            <a:prstDash val="solid"/>
            <a:miter/>
            <a:headEnd type="none" w="sm" len="sm"/>
            <a:tailEnd type="none" w="sm" len="sm"/>
          </a:ln>
        </p:spPr>
        <p:txBody>
          <a:bodyPr wrap="square" anchor="t" anchorCtr="0">
            <a:spAutoFit/>
          </a:bodyPr>
          <a:lstStyle/>
          <a:p>
            <a:pPr algn="ctr">
              <a:spcBef>
                <a:spcPct val="50000"/>
              </a:spcBef>
            </a:pPr>
            <a:r>
              <a:rPr lang="zh-CN" altLang="en-US" sz="2400" b="1" dirty="0">
                <a:solidFill>
                  <a:schemeClr val="tx2"/>
                </a:solidFill>
                <a:latin typeface="Times New Roman" panose="02020603050405020304" pitchFamily="18" charset="0"/>
              </a:rPr>
              <a:t>被传送的数据</a:t>
            </a:r>
          </a:p>
        </p:txBody>
      </p:sp>
      <p:sp>
        <p:nvSpPr>
          <p:cNvPr id="6" name="标题 1"/>
          <p:cNvSpPr txBox="1"/>
          <p:nvPr/>
        </p:nvSpPr>
        <p:spPr>
          <a:xfrm>
            <a:off x="107315" y="71755"/>
            <a:ext cx="5135880" cy="848995"/>
          </a:xfrm>
          <a:prstGeom prst="rect">
            <a:avLst/>
          </a:prstGeom>
        </p:spPr>
        <p:txBody>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传送指令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MOV</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的功能演示</a:t>
            </a:r>
          </a:p>
        </p:txBody>
      </p:sp>
      <p:cxnSp>
        <p:nvCxnSpPr>
          <p:cNvPr id="8" name="直接连接符 7"/>
          <p:cNvCxnSpPr/>
          <p:nvPr/>
        </p:nvCxnSpPr>
        <p:spPr bwMode="auto">
          <a:xfrm>
            <a:off x="142844" y="76470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1000"/>
                                  </p:stCondLst>
                                  <p:childTnLst>
                                    <p:set>
                                      <p:cBhvr>
                                        <p:cTn id="6" dur="1" fill="hold">
                                          <p:stCondLst>
                                            <p:cond delay="0"/>
                                          </p:stCondLst>
                                        </p:cTn>
                                        <p:tgtEl>
                                          <p:spTgt spid="124936"/>
                                        </p:tgtEl>
                                        <p:attrNameLst>
                                          <p:attrName>style.visibility</p:attrName>
                                        </p:attrNameLst>
                                      </p:cBhvr>
                                      <p:to>
                                        <p:strVal val="visible"/>
                                      </p:to>
                                    </p:set>
                                    <p:animEffect transition="in" filter="slide(fromRight)">
                                      <p:cBhvr>
                                        <p:cTn id="7" dur="500"/>
                                        <p:tgtEl>
                                          <p:spTgt spid="124936"/>
                                        </p:tgtEl>
                                      </p:cBhvr>
                                    </p:animEffect>
                                  </p:childTnLst>
                                </p:cTn>
                              </p:par>
                            </p:childTnLst>
                          </p:cTn>
                        </p:par>
                        <p:par>
                          <p:cTn id="8" fill="hold">
                            <p:stCondLst>
                              <p:cond delay="1500"/>
                            </p:stCondLst>
                            <p:childTnLst>
                              <p:par>
                                <p:cTn id="9" presetID="2" presetClass="entr" presetSubtype="2" fill="hold" grpId="0" nodeType="afterEffect">
                                  <p:stCondLst>
                                    <p:cond delay="0"/>
                                  </p:stCondLst>
                                  <p:childTnLst>
                                    <p:set>
                                      <p:cBhvr>
                                        <p:cTn id="10" dur="1" fill="hold">
                                          <p:stCondLst>
                                            <p:cond delay="0"/>
                                          </p:stCondLst>
                                        </p:cTn>
                                        <p:tgtEl>
                                          <p:spTgt spid="124937"/>
                                        </p:tgtEl>
                                        <p:attrNameLst>
                                          <p:attrName>style.visibility</p:attrName>
                                        </p:attrNameLst>
                                      </p:cBhvr>
                                      <p:to>
                                        <p:strVal val="visible"/>
                                      </p:to>
                                    </p:set>
                                    <p:anim calcmode="lin" valueType="num">
                                      <p:cBhvr additive="base">
                                        <p:cTn id="11" dur="500" fill="hold"/>
                                        <p:tgtEl>
                                          <p:spTgt spid="124937"/>
                                        </p:tgtEl>
                                        <p:attrNameLst>
                                          <p:attrName>ppt_x</p:attrName>
                                        </p:attrNameLst>
                                      </p:cBhvr>
                                      <p:tavLst>
                                        <p:tav tm="0">
                                          <p:val>
                                            <p:strVal val="1+#ppt_w/2"/>
                                          </p:val>
                                        </p:tav>
                                        <p:tav tm="100000">
                                          <p:val>
                                            <p:strVal val="#ppt_x"/>
                                          </p:val>
                                        </p:tav>
                                      </p:tavLst>
                                    </p:anim>
                                    <p:anim calcmode="lin" valueType="num">
                                      <p:cBhvr additive="base">
                                        <p:cTn id="12" dur="500" fill="hold"/>
                                        <p:tgtEl>
                                          <p:spTgt spid="12493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2000" fill="hold">
                                          <p:stCondLst>
                                            <p:cond delay="0"/>
                                          </p:stCondLst>
                                        </p:cTn>
                                        <p:tgtEl>
                                          <p:spTgt spid="124943"/>
                                        </p:tgtEl>
                                        <p:attrNameLst>
                                          <p:attrName>style.visibility</p:attrName>
                                        </p:attrNameLst>
                                      </p:cBhvr>
                                      <p:to>
                                        <p:strVal val="visible"/>
                                      </p:to>
                                    </p:set>
                                    <p:anim calcmode="lin" valueType="num">
                                      <p:cBhvr>
                                        <p:cTn id="17" dur="2000" fill="hold"/>
                                        <p:tgtEl>
                                          <p:spTgt spid="124943"/>
                                        </p:tgtEl>
                                        <p:attrNameLst>
                                          <p:attrName>ppt_w</p:attrName>
                                        </p:attrNameLst>
                                      </p:cBhvr>
                                      <p:tavLst>
                                        <p:tav tm="0">
                                          <p:val>
                                            <p:fltVal val="0"/>
                                          </p:val>
                                        </p:tav>
                                        <p:tav tm="100000">
                                          <p:val>
                                            <p:strVal val="#ppt_w"/>
                                          </p:val>
                                        </p:tav>
                                      </p:tavLst>
                                    </p:anim>
                                    <p:anim calcmode="lin" valueType="num">
                                      <p:cBhvr>
                                        <p:cTn id="18" dur="2000" fill="hold"/>
                                        <p:tgtEl>
                                          <p:spTgt spid="124943"/>
                                        </p:tgtEl>
                                        <p:attrNameLst>
                                          <p:attrName>ppt_h</p:attrName>
                                        </p:attrNameLst>
                                      </p:cBhvr>
                                      <p:tavLst>
                                        <p:tav tm="0">
                                          <p:val>
                                            <p:strVal val="#ppt_h"/>
                                          </p:val>
                                        </p:tav>
                                        <p:tav tm="100000">
                                          <p:val>
                                            <p:strVal val="#ppt_h"/>
                                          </p:val>
                                        </p:tav>
                                      </p:tavLst>
                                    </p:anim>
                                  </p:childTnLst>
                                </p:cTn>
                              </p:par>
                              <p:par>
                                <p:cTn id="19" presetID="4" presetClass="entr" presetSubtype="16" fill="hold" grpId="0" nodeType="withEffect">
                                  <p:stCondLst>
                                    <p:cond delay="0"/>
                                  </p:stCondLst>
                                  <p:childTnLst>
                                    <p:set>
                                      <p:cBhvr>
                                        <p:cTn id="20" dur="2000" fill="hold">
                                          <p:stCondLst>
                                            <p:cond delay="0"/>
                                          </p:stCondLst>
                                        </p:cTn>
                                        <p:tgtEl>
                                          <p:spTgt spid="124941"/>
                                        </p:tgtEl>
                                        <p:attrNameLst>
                                          <p:attrName>style.visibility</p:attrName>
                                        </p:attrNameLst>
                                      </p:cBhvr>
                                      <p:to>
                                        <p:strVal val="visible"/>
                                      </p:to>
                                    </p:set>
                                    <p:animEffect transition="in" filter="box(in)">
                                      <p:cBhvr>
                                        <p:cTn id="21" dur="2000"/>
                                        <p:tgtEl>
                                          <p:spTgt spid="124941"/>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4" fill="hold" nodeType="clickEffect">
                                  <p:stCondLst>
                                    <p:cond delay="1000"/>
                                  </p:stCondLst>
                                  <p:childTnLst>
                                    <p:set>
                                      <p:cBhvr>
                                        <p:cTn id="25" dur="1" fill="hold">
                                          <p:stCondLst>
                                            <p:cond delay="0"/>
                                          </p:stCondLst>
                                        </p:cTn>
                                        <p:tgtEl>
                                          <p:spTgt spid="124942"/>
                                        </p:tgtEl>
                                        <p:attrNameLst>
                                          <p:attrName>style.visibility</p:attrName>
                                        </p:attrNameLst>
                                      </p:cBhvr>
                                      <p:to>
                                        <p:strVal val="visible"/>
                                      </p:to>
                                    </p:set>
                                    <p:anim calcmode="lin" valueType="num">
                                      <p:cBhvr>
                                        <p:cTn id="26" dur="500" fill="hold"/>
                                        <p:tgtEl>
                                          <p:spTgt spid="124942"/>
                                        </p:tgtEl>
                                        <p:attrNameLst>
                                          <p:attrName>ppt_x</p:attrName>
                                        </p:attrNameLst>
                                      </p:cBhvr>
                                      <p:tavLst>
                                        <p:tav tm="0">
                                          <p:val>
                                            <p:strVal val="#ppt_x"/>
                                          </p:val>
                                        </p:tav>
                                        <p:tav tm="100000">
                                          <p:val>
                                            <p:strVal val="#ppt_x"/>
                                          </p:val>
                                        </p:tav>
                                      </p:tavLst>
                                    </p:anim>
                                    <p:anim calcmode="lin" valueType="num">
                                      <p:cBhvr>
                                        <p:cTn id="27" dur="500" fill="hold"/>
                                        <p:tgtEl>
                                          <p:spTgt spid="124942"/>
                                        </p:tgtEl>
                                        <p:attrNameLst>
                                          <p:attrName>ppt_y</p:attrName>
                                        </p:attrNameLst>
                                      </p:cBhvr>
                                      <p:tavLst>
                                        <p:tav tm="0">
                                          <p:val>
                                            <p:strVal val="#ppt_y+#ppt_h/2"/>
                                          </p:val>
                                        </p:tav>
                                        <p:tav tm="100000">
                                          <p:val>
                                            <p:strVal val="#ppt_y"/>
                                          </p:val>
                                        </p:tav>
                                      </p:tavLst>
                                    </p:anim>
                                    <p:anim calcmode="lin" valueType="num">
                                      <p:cBhvr>
                                        <p:cTn id="28" dur="500" fill="hold"/>
                                        <p:tgtEl>
                                          <p:spTgt spid="124942"/>
                                        </p:tgtEl>
                                        <p:attrNameLst>
                                          <p:attrName>ppt_w</p:attrName>
                                        </p:attrNameLst>
                                      </p:cBhvr>
                                      <p:tavLst>
                                        <p:tav tm="0">
                                          <p:val>
                                            <p:strVal val="#ppt_w"/>
                                          </p:val>
                                        </p:tav>
                                        <p:tav tm="100000">
                                          <p:val>
                                            <p:strVal val="#ppt_w"/>
                                          </p:val>
                                        </p:tav>
                                      </p:tavLst>
                                    </p:anim>
                                    <p:anim calcmode="lin" valueType="num">
                                      <p:cBhvr>
                                        <p:cTn id="29" dur="500" fill="hold"/>
                                        <p:tgtEl>
                                          <p:spTgt spid="124942"/>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24939"/>
                                        </p:tgtEl>
                                        <p:attrNameLst>
                                          <p:attrName>style.visibility</p:attrName>
                                        </p:attrNameLst>
                                      </p:cBhvr>
                                      <p:to>
                                        <p:strVal val="visible"/>
                                      </p:to>
                                    </p:set>
                                    <p:animEffect transition="in" filter="box(in)">
                                      <p:cBhvr>
                                        <p:cTn id="34" dur="500"/>
                                        <p:tgtEl>
                                          <p:spTgt spid="124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6" grpId="0" bldLvl="0" animBg="1"/>
      <p:bldP spid="124937" grpId="0" bldLvl="0" animBg="1"/>
      <p:bldP spid="124941" grpId="0" bldLvl="0" animBg="1"/>
      <p:bldP spid="12494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64704"/>
            <a:ext cx="8064896" cy="5798506"/>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汇编语言程序由语句序列构成</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一个语句常占一行（</a:t>
            </a:r>
            <a:r>
              <a:rPr lang="en-US" altLang="zh-CN" sz="2400" dirty="0">
                <a:solidFill>
                  <a:schemeClr val="tx1"/>
                </a:solidFill>
                <a:latin typeface="+mn-lt"/>
              </a:rPr>
              <a:t>MASM</a:t>
            </a:r>
            <a:r>
              <a:rPr lang="zh-CN" altLang="en-US" sz="2400" dirty="0">
                <a:solidFill>
                  <a:schemeClr val="tx1"/>
                </a:solidFill>
                <a:latin typeface="+mn-lt"/>
              </a:rPr>
              <a:t>有续行符“</a:t>
            </a:r>
            <a:r>
              <a:rPr lang="en-US" altLang="zh-CN" sz="2400" dirty="0">
                <a:solidFill>
                  <a:schemeClr val="tx1"/>
                </a:solidFill>
                <a:latin typeface="+mn-lt"/>
              </a:rPr>
              <a:t>\”</a:t>
            </a:r>
            <a:r>
              <a:rPr lang="zh-CN" altLang="en-US" sz="2400" dirty="0">
                <a:solidFill>
                  <a:schemeClr val="tx1"/>
                </a:solidFill>
                <a:latin typeface="+mn-lt"/>
              </a:rPr>
              <a:t>）</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一个语句不超过</a:t>
            </a:r>
            <a:r>
              <a:rPr lang="en-US" altLang="zh-CN" sz="2400" dirty="0">
                <a:solidFill>
                  <a:schemeClr val="tx1"/>
                </a:solidFill>
                <a:latin typeface="+mn-lt"/>
              </a:rPr>
              <a:t>132</a:t>
            </a:r>
            <a:r>
              <a:rPr lang="zh-CN" altLang="en-US" sz="2400" dirty="0">
                <a:solidFill>
                  <a:schemeClr val="tx1"/>
                </a:solidFill>
                <a:latin typeface="+mn-lt"/>
              </a:rPr>
              <a:t>个字符，</a:t>
            </a:r>
            <a:r>
              <a:rPr lang="en-US" altLang="zh-CN" sz="2400" dirty="0">
                <a:solidFill>
                  <a:schemeClr val="tx1"/>
                </a:solidFill>
                <a:latin typeface="+mn-lt"/>
              </a:rPr>
              <a:t>4</a:t>
            </a:r>
            <a:r>
              <a:rPr lang="zh-CN" altLang="en-US" sz="2400" dirty="0">
                <a:solidFill>
                  <a:schemeClr val="tx1"/>
                </a:solidFill>
                <a:latin typeface="+mn-lt"/>
              </a:rPr>
              <a:t>个部分</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执行性语句：</a:t>
            </a:r>
            <a:r>
              <a:rPr lang="zh-CN" altLang="en-US" sz="2800" dirty="0">
                <a:solidFill>
                  <a:srgbClr val="FF0000"/>
                </a:solidFill>
                <a:latin typeface="+mn-lt"/>
              </a:rPr>
              <a:t>硬指令</a:t>
            </a:r>
            <a:r>
              <a:rPr lang="en-US" altLang="zh-CN" sz="2800" dirty="0">
                <a:solidFill>
                  <a:srgbClr val="FF0000"/>
                </a:solidFill>
                <a:latin typeface="+mn-lt"/>
              </a:rPr>
              <a:t>(Instructions)</a:t>
            </a:r>
            <a:endParaRPr lang="zh-CN" altLang="en-US" sz="2800" dirty="0">
              <a:solidFill>
                <a:srgbClr val="FF0000"/>
              </a:solidFill>
              <a:latin typeface="+mn-lt"/>
            </a:endParaRP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表达处理器指令的语句，汇编后对应一条指令代码</a:t>
            </a:r>
            <a:endParaRPr lang="en-US" altLang="zh-CN" sz="24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endParaRPr lang="en-US" altLang="zh-CN" sz="2800" dirty="0">
              <a:solidFill>
                <a:schemeClr val="tx1"/>
              </a:solidFill>
              <a:latin typeface="+mn-lt"/>
            </a:endParaRP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说明性语句：</a:t>
            </a:r>
            <a:r>
              <a:rPr lang="zh-CN" altLang="en-US" sz="2800" dirty="0">
                <a:solidFill>
                  <a:srgbClr val="FF0000"/>
                </a:solidFill>
                <a:latin typeface="+mn-lt"/>
              </a:rPr>
              <a:t>伪指令</a:t>
            </a:r>
            <a:r>
              <a:rPr lang="en-US" altLang="zh-CN" sz="2800" dirty="0">
                <a:solidFill>
                  <a:srgbClr val="FF0000"/>
                </a:solidFill>
                <a:latin typeface="+mn-lt"/>
              </a:rPr>
              <a:t>(Directives)</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说明</a:t>
            </a:r>
            <a:r>
              <a:rPr lang="zh-CN" altLang="en-US" sz="2400" dirty="0">
                <a:solidFill>
                  <a:srgbClr val="FF0000"/>
                </a:solidFill>
                <a:latin typeface="+mn-lt"/>
              </a:rPr>
              <a:t>变量如何定义</a:t>
            </a:r>
            <a:r>
              <a:rPr lang="zh-CN" altLang="en-US" sz="2400" dirty="0">
                <a:solidFill>
                  <a:schemeClr val="tx1"/>
                </a:solidFill>
                <a:latin typeface="+mn-lt"/>
              </a:rPr>
              <a:t>，控制汇编方式等</a:t>
            </a: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1.3.2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语句格式</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矩形 1"/>
          <p:cNvSpPr/>
          <p:nvPr/>
        </p:nvSpPr>
        <p:spPr>
          <a:xfrm>
            <a:off x="1062967" y="3740721"/>
            <a:ext cx="7315522" cy="520848"/>
          </a:xfrm>
          <a:prstGeom prst="rect">
            <a:avLst/>
          </a:prstGeom>
          <a:solidFill>
            <a:srgbClr val="DDEEFF"/>
          </a:solidFill>
          <a:ln w="25400">
            <a:noFill/>
          </a:ln>
        </p:spPr>
        <p:txBody>
          <a:bodyPr wrap="square">
            <a:spAutoFit/>
          </a:bodyPr>
          <a:lstStyle/>
          <a:p>
            <a:pPr>
              <a:lnSpc>
                <a:spcPct val="130000"/>
              </a:lnSpc>
            </a:pPr>
            <a:r>
              <a:rPr lang="zh-CN" altLang="en-US" sz="2400" b="1" dirty="0">
                <a:solidFill>
                  <a:srgbClr val="00B050"/>
                </a:solidFill>
                <a:latin typeface="+mn-lt"/>
              </a:rPr>
              <a:t>标号</a:t>
            </a:r>
            <a:r>
              <a:rPr lang="en-US" altLang="zh-CN" sz="2400" b="1" dirty="0">
                <a:solidFill>
                  <a:srgbClr val="FF0000"/>
                </a:solidFill>
                <a:latin typeface="+mn-lt"/>
              </a:rPr>
              <a:t>:</a:t>
            </a:r>
            <a:r>
              <a:rPr lang="en-US" altLang="zh-CN" sz="2400" b="1" dirty="0">
                <a:solidFill>
                  <a:srgbClr val="00B050"/>
                </a:solidFill>
                <a:latin typeface="+mn-lt"/>
              </a:rPr>
              <a:t>    </a:t>
            </a:r>
            <a:r>
              <a:rPr lang="zh-CN" altLang="en-US" sz="2400" b="1" dirty="0">
                <a:solidFill>
                  <a:srgbClr val="00B050"/>
                </a:solidFill>
                <a:latin typeface="+mn-lt"/>
              </a:rPr>
              <a:t>硬指令助记符    操作数</a:t>
            </a:r>
            <a:r>
              <a:rPr lang="en-US" altLang="zh-CN" sz="2400" b="1" dirty="0">
                <a:solidFill>
                  <a:srgbClr val="00B050"/>
                </a:solidFill>
                <a:latin typeface="+mn-lt"/>
              </a:rPr>
              <a:t>,</a:t>
            </a:r>
            <a:r>
              <a:rPr lang="zh-CN" altLang="en-US" sz="2400" b="1" dirty="0">
                <a:solidFill>
                  <a:srgbClr val="00B050"/>
                </a:solidFill>
                <a:latin typeface="+mn-lt"/>
              </a:rPr>
              <a:t>操作数	         </a:t>
            </a:r>
            <a:r>
              <a:rPr lang="en-US" altLang="zh-CN" sz="2400" b="1" dirty="0">
                <a:solidFill>
                  <a:srgbClr val="00B050"/>
                </a:solidFill>
                <a:latin typeface="+mn-lt"/>
              </a:rPr>
              <a:t>;</a:t>
            </a:r>
            <a:r>
              <a:rPr lang="zh-CN" altLang="en-US" sz="2400" b="1" dirty="0">
                <a:solidFill>
                  <a:srgbClr val="00B050"/>
                </a:solidFill>
                <a:latin typeface="+mn-lt"/>
              </a:rPr>
              <a:t>注释</a:t>
            </a:r>
          </a:p>
        </p:txBody>
      </p:sp>
      <p:sp>
        <p:nvSpPr>
          <p:cNvPr id="3" name="矩形 2"/>
          <p:cNvSpPr/>
          <p:nvPr/>
        </p:nvSpPr>
        <p:spPr>
          <a:xfrm>
            <a:off x="1062967" y="5608163"/>
            <a:ext cx="7315522" cy="520848"/>
          </a:xfrm>
          <a:prstGeom prst="rect">
            <a:avLst/>
          </a:prstGeom>
          <a:solidFill>
            <a:srgbClr val="DDEEFF"/>
          </a:solidFill>
          <a:ln w="25400">
            <a:noFill/>
          </a:ln>
        </p:spPr>
        <p:txBody>
          <a:bodyPr wrap="square">
            <a:spAutoFit/>
          </a:bodyPr>
          <a:lstStyle/>
          <a:p>
            <a:pPr>
              <a:lnSpc>
                <a:spcPct val="130000"/>
              </a:lnSpc>
            </a:pPr>
            <a:r>
              <a:rPr lang="zh-CN" altLang="en-US" sz="2400" b="1" dirty="0">
                <a:solidFill>
                  <a:srgbClr val="00B050"/>
                </a:solidFill>
                <a:latin typeface="+mn-lt"/>
              </a:rPr>
              <a:t>名字     伪指令助记符    参数</a:t>
            </a:r>
            <a:r>
              <a:rPr lang="en-US" altLang="zh-CN" sz="2400" b="1" dirty="0">
                <a:solidFill>
                  <a:srgbClr val="00B050"/>
                </a:solidFill>
                <a:latin typeface="+mn-lt"/>
              </a:rPr>
              <a:t>,</a:t>
            </a:r>
            <a:r>
              <a:rPr lang="zh-CN" altLang="en-US" sz="2400" b="1" dirty="0">
                <a:solidFill>
                  <a:srgbClr val="00B050"/>
                </a:solidFill>
                <a:latin typeface="+mn-lt"/>
              </a:rPr>
              <a:t>参数</a:t>
            </a:r>
            <a:r>
              <a:rPr lang="en-US" altLang="zh-CN" sz="2400" b="1" dirty="0">
                <a:solidFill>
                  <a:srgbClr val="00B050"/>
                </a:solidFill>
                <a:latin typeface="+mn-lt"/>
              </a:rPr>
              <a:t>,……              ;</a:t>
            </a:r>
            <a:r>
              <a:rPr lang="zh-CN" altLang="en-US" sz="2400" b="1" dirty="0">
                <a:solidFill>
                  <a:srgbClr val="00B050"/>
                </a:solidFill>
                <a:latin typeface="+mn-lt"/>
              </a:rPr>
              <a:t>注释</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76220" y="768460"/>
            <a:ext cx="8172244" cy="479142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助记符：帮助记忆指令功能的符号</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硬指令助记符对应处理器指令，表示一种处理器操作</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伪指令助记符表达一个汇编过程中的命令</a:t>
            </a:r>
            <a:endParaRPr lang="en-US" altLang="zh-CN"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硬指令示例：传送指令 </a:t>
            </a:r>
            <a:r>
              <a:rPr lang="en-US" altLang="zh-CN" sz="2800" dirty="0">
                <a:latin typeface="+mn-lt"/>
              </a:rPr>
              <a:t>MOV</a:t>
            </a: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32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伪指令示例：字节变量定义</a:t>
            </a:r>
            <a:r>
              <a:rPr lang="en-US" altLang="zh-CN" sz="2800" dirty="0">
                <a:latin typeface="+mn-lt"/>
              </a:rPr>
              <a:t>BYTE</a:t>
            </a:r>
            <a:endParaRPr lang="zh-CN" altLang="en-US" sz="28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助记符：</a:t>
            </a:r>
            <a:r>
              <a:rPr lang="en-US" altLang="zh-CN" sz="2400" b="1" dirty="0">
                <a:solidFill>
                  <a:srgbClr val="FF0000"/>
                </a:solidFill>
                <a:latin typeface="+mn-lt"/>
              </a:rPr>
              <a:t>BYTE</a:t>
            </a:r>
            <a:r>
              <a:rPr lang="en-US" altLang="zh-CN" sz="2400" dirty="0">
                <a:solidFill>
                  <a:schemeClr val="tx1"/>
                </a:solidFill>
                <a:latin typeface="+mn-lt"/>
              </a:rPr>
              <a:t> </a:t>
            </a:r>
            <a:r>
              <a:rPr lang="zh-CN" altLang="en-US" sz="2400" dirty="0">
                <a:solidFill>
                  <a:schemeClr val="tx1"/>
                </a:solidFill>
                <a:latin typeface="+mn-lt"/>
              </a:rPr>
              <a:t>（或</a:t>
            </a:r>
            <a:r>
              <a:rPr lang="en-US" altLang="zh-CN" sz="2400" dirty="0">
                <a:solidFill>
                  <a:schemeClr val="tx1"/>
                </a:solidFill>
                <a:latin typeface="+mn-lt"/>
              </a:rPr>
              <a:t>DB</a:t>
            </a:r>
            <a:r>
              <a:rPr lang="zh-CN" altLang="en-US" sz="2400" dirty="0">
                <a:solidFill>
                  <a:schemeClr val="tx1"/>
                </a:solidFill>
                <a:latin typeface="+mn-lt"/>
              </a:rPr>
              <a:t>：</a:t>
            </a:r>
            <a:r>
              <a:rPr lang="en-US" altLang="zh-CN" sz="2400" dirty="0">
                <a:solidFill>
                  <a:schemeClr val="tx1"/>
                </a:solidFill>
                <a:latin typeface="+mn-lt"/>
              </a:rPr>
              <a:t>Define Byte</a:t>
            </a:r>
            <a:r>
              <a:rPr lang="zh-CN" altLang="en-US" sz="2400" dirty="0">
                <a:solidFill>
                  <a:schemeClr val="tx1"/>
                </a:solidFill>
                <a:latin typeface="+mn-lt"/>
              </a:rPr>
              <a:t>）</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功能：在主存中占用若干的存储空间，用于保存变量值，该变量以字节为单位存取</a:t>
            </a:r>
          </a:p>
          <a:p>
            <a:pPr marL="914400" lvl="1" indent="-457200" algn="just">
              <a:lnSpc>
                <a:spcPct val="130000"/>
              </a:lnSpc>
              <a:spcBef>
                <a:spcPts val="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助记符</a:t>
            </a:r>
            <a:r>
              <a:rPr kumimoji="1" lang="en-US" altLang="zh-CN" b="0" i="0" u="none" strike="noStrike" kern="0" cap="none" spc="0" normalizeH="0" baseline="0" noProof="0" dirty="0">
                <a:ln>
                  <a:noFill/>
                </a:ln>
                <a:solidFill>
                  <a:srgbClr val="000000"/>
                </a:solidFill>
                <a:effectLst/>
                <a:uLnTx/>
                <a:uFillTx/>
                <a:latin typeface="+mj-lt"/>
                <a:cs typeface="+mj-cs"/>
              </a:rPr>
              <a:t>Mnemonics </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18137" y="76088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矩形 4"/>
          <p:cNvSpPr/>
          <p:nvPr/>
        </p:nvSpPr>
        <p:spPr>
          <a:xfrm>
            <a:off x="1115616" y="5612557"/>
            <a:ext cx="7488832" cy="520848"/>
          </a:xfrm>
          <a:prstGeom prst="rect">
            <a:avLst/>
          </a:prstGeom>
          <a:solidFill>
            <a:srgbClr val="DDEEFF"/>
          </a:solidFill>
          <a:ln w="25400">
            <a:noFill/>
          </a:ln>
        </p:spPr>
        <p:txBody>
          <a:bodyPr wrap="square">
            <a:spAutoFit/>
          </a:bodyPr>
          <a:lstStyle/>
          <a:p>
            <a:pPr>
              <a:lnSpc>
                <a:spcPct val="130000"/>
              </a:lnSpc>
            </a:pPr>
            <a:r>
              <a:rPr lang="nb-NO" altLang="zh-CN" sz="2400" b="1" dirty="0">
                <a:solidFill>
                  <a:srgbClr val="00B050"/>
                </a:solidFill>
                <a:latin typeface="+mn-lt"/>
              </a:rPr>
              <a:t>msg   byte   'Hello, Assembly!',13,10,0</a:t>
            </a:r>
          </a:p>
        </p:txBody>
      </p:sp>
      <p:sp>
        <p:nvSpPr>
          <p:cNvPr id="3" name="矩形 2"/>
          <p:cNvSpPr/>
          <p:nvPr/>
        </p:nvSpPr>
        <p:spPr>
          <a:xfrm>
            <a:off x="1115616" y="2924944"/>
            <a:ext cx="7488832" cy="520848"/>
          </a:xfrm>
          <a:prstGeom prst="rect">
            <a:avLst/>
          </a:prstGeom>
          <a:solidFill>
            <a:srgbClr val="DDEEFF"/>
          </a:solidFill>
          <a:ln w="25400">
            <a:noFill/>
          </a:ln>
        </p:spPr>
        <p:txBody>
          <a:bodyPr wrap="square">
            <a:spAutoFit/>
          </a:bodyPr>
          <a:lstStyle/>
          <a:p>
            <a:pPr>
              <a:lnSpc>
                <a:spcPct val="130000"/>
              </a:lnSpc>
            </a:pPr>
            <a:r>
              <a:rPr lang="en-US" altLang="zh-CN" sz="2400" b="1" dirty="0">
                <a:solidFill>
                  <a:srgbClr val="00B050"/>
                </a:solidFill>
                <a:latin typeface="+mn-lt"/>
              </a:rPr>
              <a:t>mov </a:t>
            </a:r>
            <a:r>
              <a:rPr lang="en-US" altLang="zh-CN" sz="2400" b="1" dirty="0" err="1">
                <a:solidFill>
                  <a:srgbClr val="00B050"/>
                </a:solidFill>
                <a:latin typeface="+mn-lt"/>
              </a:rPr>
              <a:t>eax</a:t>
            </a:r>
            <a:r>
              <a:rPr lang="en-US" altLang="zh-CN" sz="2400" b="1" dirty="0">
                <a:solidFill>
                  <a:srgbClr val="00B050"/>
                </a:solidFill>
                <a:latin typeface="+mn-lt"/>
              </a:rPr>
              <a:t>, offset msg                 </a:t>
            </a:r>
            <a:r>
              <a:rPr lang="en-US" altLang="zh-CN" sz="2400" dirty="0">
                <a:solidFill>
                  <a:srgbClr val="00B050"/>
                </a:solidFill>
                <a:latin typeface="+mn-lt"/>
              </a:rPr>
              <a:t>;</a:t>
            </a:r>
            <a:r>
              <a:rPr lang="en-US" altLang="zh-CN" sz="2400" dirty="0" err="1">
                <a:solidFill>
                  <a:srgbClr val="00B050"/>
                </a:solidFill>
                <a:latin typeface="+mn-lt"/>
              </a:rPr>
              <a:t>eax</a:t>
            </a:r>
            <a:r>
              <a:rPr lang="zh-CN" altLang="en-US" sz="2400" dirty="0">
                <a:solidFill>
                  <a:srgbClr val="00B050"/>
                </a:solidFill>
                <a:latin typeface="+mn-lt"/>
              </a:rPr>
              <a:t>获得</a:t>
            </a:r>
            <a:r>
              <a:rPr lang="en-US" altLang="zh-CN" sz="2400" dirty="0">
                <a:solidFill>
                  <a:srgbClr val="00B050"/>
                </a:solidFill>
                <a:latin typeface="+mn-lt"/>
              </a:rPr>
              <a:t>msg</a:t>
            </a:r>
            <a:r>
              <a:rPr lang="zh-CN" altLang="en-US" sz="2400" dirty="0">
                <a:solidFill>
                  <a:srgbClr val="00B050"/>
                </a:solidFill>
                <a:latin typeface="+mn-lt"/>
              </a:rPr>
              <a:t>的偏移地址</a:t>
            </a:r>
            <a:endParaRPr lang="en-US" altLang="zh-CN" sz="2400" dirty="0">
              <a:solidFill>
                <a:srgbClr val="00B050"/>
              </a:solidFill>
              <a:latin typeface="+mn-lt"/>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76220" y="700271"/>
            <a:ext cx="8064896" cy="2721197"/>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标号：执行性语句中</a:t>
            </a:r>
          </a:p>
          <a:p>
            <a:pPr marL="914400" lvl="1" indent="-457200" algn="just">
              <a:lnSpc>
                <a:spcPct val="130000"/>
              </a:lnSpc>
              <a:spcBef>
                <a:spcPts val="0"/>
              </a:spcBef>
              <a:buClr>
                <a:srgbClr val="0000FF"/>
              </a:buClr>
              <a:buFont typeface="Wingdings" panose="05000000000000000000" pitchFamily="2" charset="2"/>
              <a:buChar char="ü"/>
            </a:pPr>
            <a:endParaRPr lang="en-US" altLang="zh-CN" sz="32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冒号分隔</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表示处理器指令在主存中的逻辑地址</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指示分支、循环等程序的目的地址</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标号与名字</a:t>
            </a:r>
          </a:p>
        </p:txBody>
      </p:sp>
      <p:cxnSp>
        <p:nvCxnSpPr>
          <p:cNvPr id="8" name="直接连接符 7"/>
          <p:cNvCxnSpPr/>
          <p:nvPr/>
        </p:nvCxnSpPr>
        <p:spPr bwMode="auto">
          <a:xfrm>
            <a:off x="118137" y="69269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内容占位符 2"/>
          <p:cNvSpPr txBox="1"/>
          <p:nvPr/>
        </p:nvSpPr>
        <p:spPr>
          <a:xfrm>
            <a:off x="576220" y="3299436"/>
            <a:ext cx="8064896" cy="2232248"/>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名字：说明性语句中</a:t>
            </a: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zh-CN" altLang="en-US" sz="3200" dirty="0">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空格或制表符分隔</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变量名、段名、子程序名等</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反映变量、段和子程序等的逻辑地址</a:t>
            </a:r>
          </a:p>
        </p:txBody>
      </p:sp>
      <p:sp>
        <p:nvSpPr>
          <p:cNvPr id="4" name="矩形 3"/>
          <p:cNvSpPr/>
          <p:nvPr/>
        </p:nvSpPr>
        <p:spPr>
          <a:xfrm>
            <a:off x="711584" y="1325026"/>
            <a:ext cx="7713508" cy="520848"/>
          </a:xfrm>
          <a:prstGeom prst="rect">
            <a:avLst/>
          </a:prstGeom>
          <a:solidFill>
            <a:srgbClr val="DDEEFF"/>
          </a:solidFill>
          <a:ln w="25400">
            <a:noFill/>
          </a:ln>
        </p:spPr>
        <p:txBody>
          <a:bodyPr wrap="square">
            <a:spAutoFit/>
          </a:bodyPr>
          <a:lstStyle/>
          <a:p>
            <a:pPr>
              <a:lnSpc>
                <a:spcPct val="130000"/>
              </a:lnSpc>
            </a:pPr>
            <a:r>
              <a:rPr lang="zh-CN" altLang="en-US" sz="2400" b="1" dirty="0">
                <a:solidFill>
                  <a:srgbClr val="00B050"/>
                </a:solidFill>
                <a:highlight>
                  <a:srgbClr val="FFFF00"/>
                </a:highlight>
                <a:latin typeface="+mn-lt"/>
              </a:rPr>
              <a:t>标号</a:t>
            </a:r>
            <a:r>
              <a:rPr lang="en-US" altLang="zh-CN" sz="2400" b="1" dirty="0">
                <a:solidFill>
                  <a:srgbClr val="FF0000"/>
                </a:solidFill>
                <a:latin typeface="+mn-lt"/>
              </a:rPr>
              <a:t>:</a:t>
            </a:r>
            <a:r>
              <a:rPr lang="en-US" altLang="zh-CN" sz="2400" b="1" dirty="0">
                <a:solidFill>
                  <a:srgbClr val="00B050"/>
                </a:solidFill>
                <a:latin typeface="+mn-lt"/>
              </a:rPr>
              <a:t>    </a:t>
            </a:r>
            <a:r>
              <a:rPr lang="zh-CN" altLang="en-US" sz="2400" b="1" dirty="0">
                <a:solidFill>
                  <a:srgbClr val="00B050"/>
                </a:solidFill>
                <a:latin typeface="+mn-lt"/>
              </a:rPr>
              <a:t>硬指令</a:t>
            </a:r>
            <a:r>
              <a:rPr lang="zh-CN" altLang="en-US" sz="2400" b="1" dirty="0">
                <a:solidFill>
                  <a:srgbClr val="00B050"/>
                </a:solidFill>
                <a:highlight>
                  <a:srgbClr val="FFFF00"/>
                </a:highlight>
                <a:latin typeface="+mn-lt"/>
              </a:rPr>
              <a:t>助记符</a:t>
            </a:r>
            <a:r>
              <a:rPr lang="zh-CN" altLang="en-US" sz="2400" b="1" dirty="0">
                <a:solidFill>
                  <a:srgbClr val="00B050"/>
                </a:solidFill>
                <a:latin typeface="+mn-lt"/>
              </a:rPr>
              <a:t>    操作数</a:t>
            </a:r>
            <a:r>
              <a:rPr lang="en-US" altLang="zh-CN" sz="2400" b="1" dirty="0">
                <a:solidFill>
                  <a:srgbClr val="00B050"/>
                </a:solidFill>
                <a:latin typeface="+mn-lt"/>
              </a:rPr>
              <a:t>,</a:t>
            </a:r>
            <a:r>
              <a:rPr lang="zh-CN" altLang="en-US" sz="2400" b="1" dirty="0">
                <a:solidFill>
                  <a:srgbClr val="00B050"/>
                </a:solidFill>
                <a:latin typeface="+mn-lt"/>
              </a:rPr>
              <a:t>操作数	        </a:t>
            </a:r>
            <a:r>
              <a:rPr lang="en-US" altLang="zh-CN" sz="2400" b="1" dirty="0">
                <a:solidFill>
                  <a:srgbClr val="00B050"/>
                </a:solidFill>
                <a:latin typeface="+mn-lt"/>
              </a:rPr>
              <a:t>;</a:t>
            </a:r>
            <a:r>
              <a:rPr lang="zh-CN" altLang="en-US" sz="2400" b="1" dirty="0">
                <a:solidFill>
                  <a:srgbClr val="00B050"/>
                </a:solidFill>
                <a:latin typeface="+mn-lt"/>
              </a:rPr>
              <a:t>注释</a:t>
            </a:r>
          </a:p>
        </p:txBody>
      </p:sp>
      <p:sp>
        <p:nvSpPr>
          <p:cNvPr id="5" name="矩形 4"/>
          <p:cNvSpPr/>
          <p:nvPr/>
        </p:nvSpPr>
        <p:spPr>
          <a:xfrm>
            <a:off x="711584" y="3941349"/>
            <a:ext cx="7713508" cy="520848"/>
          </a:xfrm>
          <a:prstGeom prst="rect">
            <a:avLst/>
          </a:prstGeom>
          <a:solidFill>
            <a:srgbClr val="DDEEFF"/>
          </a:solidFill>
          <a:ln w="25400">
            <a:noFill/>
          </a:ln>
        </p:spPr>
        <p:txBody>
          <a:bodyPr wrap="square">
            <a:spAutoFit/>
          </a:bodyPr>
          <a:lstStyle/>
          <a:p>
            <a:pPr>
              <a:lnSpc>
                <a:spcPct val="130000"/>
              </a:lnSpc>
            </a:pPr>
            <a:r>
              <a:rPr lang="zh-CN" altLang="en-US" sz="2400" b="1" dirty="0">
                <a:solidFill>
                  <a:srgbClr val="00B050"/>
                </a:solidFill>
                <a:highlight>
                  <a:srgbClr val="FFFF00"/>
                </a:highlight>
                <a:latin typeface="+mn-lt"/>
              </a:rPr>
              <a:t>名字</a:t>
            </a:r>
            <a:r>
              <a:rPr lang="zh-CN" altLang="en-US" sz="2400" b="1" dirty="0">
                <a:solidFill>
                  <a:srgbClr val="00B050"/>
                </a:solidFill>
                <a:latin typeface="+mn-lt"/>
              </a:rPr>
              <a:t>     伪指令</a:t>
            </a:r>
            <a:r>
              <a:rPr lang="zh-CN" altLang="en-US" sz="2400" b="1" dirty="0">
                <a:solidFill>
                  <a:srgbClr val="00B050"/>
                </a:solidFill>
                <a:highlight>
                  <a:srgbClr val="FFFF00"/>
                </a:highlight>
                <a:latin typeface="+mn-lt"/>
              </a:rPr>
              <a:t>助记符</a:t>
            </a:r>
            <a:r>
              <a:rPr lang="zh-CN" altLang="en-US" sz="2400" b="1" dirty="0">
                <a:solidFill>
                  <a:srgbClr val="00B050"/>
                </a:solidFill>
                <a:latin typeface="+mn-lt"/>
              </a:rPr>
              <a:t>    参数</a:t>
            </a:r>
            <a:r>
              <a:rPr lang="en-US" altLang="zh-CN" sz="2400" b="1" dirty="0">
                <a:solidFill>
                  <a:srgbClr val="00B050"/>
                </a:solidFill>
                <a:latin typeface="+mn-lt"/>
              </a:rPr>
              <a:t>,</a:t>
            </a:r>
            <a:r>
              <a:rPr lang="zh-CN" altLang="en-US" sz="2400" b="1" dirty="0">
                <a:solidFill>
                  <a:srgbClr val="00B050"/>
                </a:solidFill>
                <a:latin typeface="+mn-lt"/>
              </a:rPr>
              <a:t>参数</a:t>
            </a:r>
            <a:r>
              <a:rPr lang="en-US" altLang="zh-CN" sz="2400" b="1" dirty="0">
                <a:solidFill>
                  <a:srgbClr val="00B050"/>
                </a:solidFill>
                <a:latin typeface="+mn-lt"/>
              </a:rPr>
              <a:t>,……              ;</a:t>
            </a:r>
            <a:r>
              <a:rPr lang="zh-CN" altLang="en-US" sz="2400" b="1" dirty="0">
                <a:solidFill>
                  <a:srgbClr val="00B050"/>
                </a:solidFill>
                <a:latin typeface="+mn-lt"/>
              </a:rPr>
              <a:t>注释</a:t>
            </a:r>
          </a:p>
        </p:txBody>
      </p:sp>
      <p:sp>
        <p:nvSpPr>
          <p:cNvPr id="9" name="Rounded Rectangular Callout 2"/>
          <p:cNvSpPr/>
          <p:nvPr/>
        </p:nvSpPr>
        <p:spPr bwMode="auto">
          <a:xfrm>
            <a:off x="711584" y="6046373"/>
            <a:ext cx="7713508" cy="559148"/>
          </a:xfrm>
          <a:prstGeom prst="wedgeRoundRectCallout">
            <a:avLst>
              <a:gd name="adj1" fmla="val -23182"/>
              <a:gd name="adj2" fmla="val -44676"/>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标号和名字是用户自定义的标识符</a:t>
            </a:r>
          </a:p>
        </p:txBody>
      </p:sp>
      <p:sp>
        <p:nvSpPr>
          <p:cNvPr id="10" name="AutoShape 5"/>
          <p:cNvSpPr>
            <a:spLocks noChangeArrowheads="1"/>
          </p:cNvSpPr>
          <p:nvPr/>
        </p:nvSpPr>
        <p:spPr bwMode="auto">
          <a:xfrm>
            <a:off x="6600073" y="4636255"/>
            <a:ext cx="1788351" cy="1152773"/>
          </a:xfrm>
          <a:prstGeom prst="cloudCallout">
            <a:avLst>
              <a:gd name="adj1" fmla="val -59032"/>
              <a:gd name="adj2" fmla="val 74807"/>
            </a:avLst>
          </a:prstGeom>
          <a:solidFill>
            <a:schemeClr val="bg1">
              <a:lumMod val="90000"/>
            </a:schemeClr>
          </a:solidFill>
          <a:ln w="9525">
            <a:solidFill>
              <a:schemeClr val="accent1"/>
            </a:solidFill>
            <a:round/>
          </a:ln>
          <a:effectLst>
            <a:outerShdw dist="35921" dir="2700000" algn="ctr" rotWithShape="0">
              <a:schemeClr val="bg2"/>
            </a:outerShdw>
          </a:effec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Tx/>
              <a:buNone/>
            </a:pPr>
            <a:r>
              <a:rPr lang="zh-CN" altLang="en-US" sz="2400" dirty="0">
                <a:solidFill>
                  <a:srgbClr val="FF0000"/>
                </a:solidFill>
                <a:latin typeface="黑体" panose="02010609060101010101" pitchFamily="49" charset="-122"/>
                <a:ea typeface="黑体" panose="02010609060101010101" pitchFamily="49" charset="-122"/>
              </a:rPr>
              <a:t>标识符</a:t>
            </a:r>
            <a:endParaRPr lang="en-US" altLang="zh-CN" sz="2400" dirty="0">
              <a:solidFill>
                <a:srgbClr val="FF0000"/>
              </a:solidFill>
              <a:latin typeface="黑体" panose="02010609060101010101" pitchFamily="49" charset="-122"/>
              <a:ea typeface="黑体" panose="02010609060101010101" pitchFamily="49" charset="-122"/>
            </a:endParaRPr>
          </a:p>
          <a:p>
            <a:pPr eaLnBrk="1" hangingPunct="1">
              <a:spcBef>
                <a:spcPct val="0"/>
              </a:spcBef>
              <a:buClrTx/>
              <a:buFontTx/>
              <a:buNone/>
            </a:pPr>
            <a:r>
              <a:rPr lang="zh-CN" altLang="en-US" sz="2400" dirty="0">
                <a:solidFill>
                  <a:srgbClr val="FF0000"/>
                </a:solidFill>
                <a:latin typeface="黑体" panose="02010609060101010101" pitchFamily="49" charset="-122"/>
                <a:ea typeface="黑体" panose="02010609060101010101" pitchFamily="49" charset="-122"/>
              </a:rPr>
              <a:t>助记符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692696"/>
            <a:ext cx="8208912" cy="5798506"/>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标识符的规则</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最多由</a:t>
            </a:r>
            <a:r>
              <a:rPr lang="en-US" altLang="zh-CN" sz="2400" dirty="0">
                <a:solidFill>
                  <a:schemeClr val="tx1"/>
                </a:solidFill>
                <a:latin typeface="+mn-lt"/>
              </a:rPr>
              <a:t>31</a:t>
            </a:r>
            <a:r>
              <a:rPr lang="zh-CN" altLang="en-US" sz="2400" dirty="0">
                <a:solidFill>
                  <a:schemeClr val="tx1"/>
                </a:solidFill>
                <a:latin typeface="+mn-lt"/>
              </a:rPr>
              <a:t>个字母、数字及规定的特殊符号（如</a:t>
            </a:r>
            <a:r>
              <a:rPr lang="en-US" altLang="zh-CN" sz="2400" dirty="0">
                <a:solidFill>
                  <a:schemeClr val="tx1"/>
                </a:solidFill>
                <a:latin typeface="+mn-lt"/>
              </a:rPr>
              <a:t>_</a:t>
            </a:r>
            <a:r>
              <a:rPr lang="zh-CN" altLang="en-US" sz="2400" dirty="0">
                <a:solidFill>
                  <a:schemeClr val="tx1"/>
                </a:solidFill>
                <a:latin typeface="+mn-lt"/>
              </a:rPr>
              <a:t>、</a:t>
            </a:r>
            <a:r>
              <a:rPr lang="en-US" altLang="zh-CN" sz="2400" dirty="0">
                <a:solidFill>
                  <a:schemeClr val="tx1"/>
                </a:solidFill>
                <a:latin typeface="+mn-lt"/>
              </a:rPr>
              <a:t>$</a:t>
            </a:r>
            <a:r>
              <a:rPr lang="zh-CN" altLang="en-US" sz="2400" dirty="0">
                <a:solidFill>
                  <a:schemeClr val="tx1"/>
                </a:solidFill>
                <a:latin typeface="+mn-lt"/>
              </a:rPr>
              <a:t>）组成，</a:t>
            </a:r>
            <a:r>
              <a:rPr lang="zh-CN" altLang="en-US" sz="2400" dirty="0">
                <a:solidFill>
                  <a:srgbClr val="FF0000"/>
                </a:solidFill>
                <a:latin typeface="+mn-lt"/>
              </a:rPr>
              <a:t>不能以数字开头</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一个源程序中，用户定义的每个标识符必须唯一</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rgbClr val="FF0000"/>
                </a:solidFill>
                <a:latin typeface="+mn-lt"/>
              </a:rPr>
              <a:t>不能是</a:t>
            </a:r>
            <a:r>
              <a:rPr lang="zh-CN" altLang="en-US" sz="2400" dirty="0">
                <a:solidFill>
                  <a:schemeClr val="tx1"/>
                </a:solidFill>
                <a:latin typeface="+mn-lt"/>
              </a:rPr>
              <a:t>汇编语言程序采用的</a:t>
            </a:r>
            <a:r>
              <a:rPr lang="zh-CN" altLang="en-US" sz="2400" dirty="0">
                <a:solidFill>
                  <a:srgbClr val="FF0000"/>
                </a:solidFill>
                <a:latin typeface="+mn-lt"/>
              </a:rPr>
              <a:t>保留字</a:t>
            </a: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保留字</a:t>
            </a:r>
            <a:r>
              <a:rPr lang="en-US" altLang="zh-CN" sz="2800" dirty="0">
                <a:latin typeface="+mn-lt"/>
              </a:rPr>
              <a:t>(Reserved Word)</a:t>
            </a:r>
            <a:r>
              <a:rPr lang="zh-CN" altLang="en-US" sz="2800" dirty="0">
                <a:latin typeface="+mn-lt"/>
              </a:rPr>
              <a:t>是编程语言本身需要使用的具有特定含义的标识符，也称为关键字</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硬指令助记符： </a:t>
            </a:r>
            <a:r>
              <a:rPr lang="en-US" altLang="zh-CN" sz="2400" dirty="0">
                <a:solidFill>
                  <a:schemeClr val="tx1"/>
                </a:solidFill>
                <a:latin typeface="+mn-lt"/>
              </a:rPr>
              <a:t>MOV</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伪指令助记符： </a:t>
            </a:r>
            <a:r>
              <a:rPr lang="en-US" altLang="zh-CN" sz="2400" dirty="0">
                <a:solidFill>
                  <a:schemeClr val="tx1"/>
                </a:solidFill>
                <a:latin typeface="+mn-lt"/>
              </a:rPr>
              <a:t>BYTE</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操作符： </a:t>
            </a:r>
            <a:r>
              <a:rPr lang="en-US" altLang="zh-CN" sz="2400" dirty="0">
                <a:solidFill>
                  <a:schemeClr val="tx1"/>
                </a:solidFill>
                <a:latin typeface="+mn-lt"/>
              </a:rPr>
              <a:t>OFFSET</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寄存器名： </a:t>
            </a:r>
            <a:r>
              <a:rPr lang="en-US" altLang="zh-CN" sz="2400" dirty="0">
                <a:solidFill>
                  <a:schemeClr val="tx1"/>
                </a:solidFill>
                <a:latin typeface="+mn-lt"/>
              </a:rPr>
              <a:t>EAX</a:t>
            </a: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标识符</a:t>
            </a:r>
            <a:r>
              <a:rPr kumimoji="1" lang="en-US" altLang="zh-CN" b="0" i="0" u="none" strike="noStrike" kern="0" cap="none" spc="0" normalizeH="0" baseline="0" noProof="0" dirty="0">
                <a:ln>
                  <a:noFill/>
                </a:ln>
                <a:solidFill>
                  <a:srgbClr val="000000"/>
                </a:solidFill>
                <a:effectLst/>
                <a:uLnTx/>
                <a:uFillTx/>
                <a:latin typeface="+mj-lt"/>
                <a:cs typeface="+mj-cs"/>
              </a:rPr>
              <a:t>Identifier</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01624"/>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Rounded Rectangular Callout 2"/>
          <p:cNvSpPr/>
          <p:nvPr/>
        </p:nvSpPr>
        <p:spPr bwMode="auto">
          <a:xfrm>
            <a:off x="4788024" y="4293096"/>
            <a:ext cx="3816424" cy="1863280"/>
          </a:xfrm>
          <a:prstGeom prst="wedgeRoundRectCallout">
            <a:avLst>
              <a:gd name="adj1" fmla="val -23182"/>
              <a:gd name="adj2" fmla="val -44676"/>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默认情况不区分大小写</a:t>
            </a:r>
            <a:endPar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lnSpc>
                <a:spcPct val="130000"/>
              </a:lnSpc>
            </a:pPr>
            <a:r>
              <a:rPr lang="en-US" altLang="zh-CN"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OPTION CASEMAP:NONE </a:t>
            </a:r>
          </a:p>
          <a:p>
            <a:pPr>
              <a:lnSpc>
                <a:spcPct val="130000"/>
              </a:lnSpc>
            </a:pP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该伪指令告知</a:t>
            </a:r>
            <a:r>
              <a:rPr lang="en-US" altLang="zh-CN"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MASM</a:t>
            </a:r>
            <a:r>
              <a:rPr lang="zh-CN" altLang="en-US" sz="22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要区分标志符的大小写</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76220" y="768460"/>
            <a:ext cx="8028228" cy="5328655"/>
          </a:xfrm>
          <a:prstGeom prst="rect">
            <a:avLst/>
          </a:prstGeom>
        </p:spPr>
        <p:txBody>
          <a:bodyPr/>
          <a:lstStyle/>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处理器指令的操作数：表示参与操作的对象</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可以是具体的常量</a:t>
            </a:r>
            <a:r>
              <a:rPr lang="en-US" altLang="zh-CN" sz="2400" dirty="0">
                <a:solidFill>
                  <a:schemeClr val="tx1"/>
                </a:solidFill>
                <a:latin typeface="+mn-lt"/>
              </a:rPr>
              <a:t>(Constant)</a:t>
            </a:r>
            <a:r>
              <a:rPr lang="zh-CN" altLang="en-US" sz="2400" dirty="0">
                <a:solidFill>
                  <a:schemeClr val="tx1"/>
                </a:solidFill>
                <a:latin typeface="+mn-lt"/>
              </a:rPr>
              <a:t>、保存在寄存器的数据或保存在存储器中的</a:t>
            </a:r>
            <a:r>
              <a:rPr lang="zh-CN" altLang="en-US" sz="2400" dirty="0">
                <a:solidFill>
                  <a:srgbClr val="FF0000"/>
                </a:solidFill>
                <a:latin typeface="+mn-lt"/>
              </a:rPr>
              <a:t>变量</a:t>
            </a:r>
            <a:r>
              <a:rPr lang="en-US" altLang="zh-CN" sz="2400" dirty="0">
                <a:solidFill>
                  <a:srgbClr val="FF0000"/>
                </a:solidFill>
                <a:latin typeface="+mn-lt"/>
              </a:rPr>
              <a:t>(Variable)</a:t>
            </a:r>
            <a:endParaRPr lang="zh-CN" altLang="en-US" sz="2400" dirty="0">
              <a:solidFill>
                <a:srgbClr val="FF0000"/>
              </a:solidFill>
              <a:latin typeface="+mn-lt"/>
            </a:endParaRP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在双操作数的指令中，</a:t>
            </a:r>
            <a:r>
              <a:rPr lang="zh-CN" altLang="en-US" sz="2400" dirty="0">
                <a:latin typeface="+mn-lt"/>
              </a:rPr>
              <a:t>逗号前</a:t>
            </a:r>
            <a:r>
              <a:rPr lang="zh-CN" altLang="en-US" sz="2400" dirty="0">
                <a:solidFill>
                  <a:schemeClr val="tx1"/>
                </a:solidFill>
                <a:latin typeface="+mn-lt"/>
              </a:rPr>
              <a:t>是</a:t>
            </a:r>
            <a:r>
              <a:rPr lang="zh-CN" altLang="en-US" sz="2400" dirty="0">
                <a:latin typeface="+mn-lt"/>
              </a:rPr>
              <a:t>目的操作数</a:t>
            </a:r>
            <a:r>
              <a:rPr lang="en-US" altLang="zh-CN" sz="2400" dirty="0">
                <a:solidFill>
                  <a:schemeClr val="tx1"/>
                </a:solidFill>
                <a:latin typeface="+mn-lt"/>
              </a:rPr>
              <a:t>(Destination Operand)</a:t>
            </a:r>
            <a:r>
              <a:rPr lang="zh-CN" altLang="en-US" sz="2400" dirty="0">
                <a:solidFill>
                  <a:schemeClr val="tx1"/>
                </a:solidFill>
                <a:latin typeface="+mn-lt"/>
              </a:rPr>
              <a:t>，</a:t>
            </a:r>
            <a:r>
              <a:rPr lang="zh-CN" altLang="en-US" sz="2400" dirty="0">
                <a:latin typeface="+mn-lt"/>
              </a:rPr>
              <a:t>逗号后</a:t>
            </a:r>
            <a:r>
              <a:rPr lang="zh-CN" altLang="en-US" sz="2400" dirty="0">
                <a:solidFill>
                  <a:schemeClr val="tx1"/>
                </a:solidFill>
                <a:latin typeface="+mn-lt"/>
              </a:rPr>
              <a:t>是</a:t>
            </a:r>
            <a:r>
              <a:rPr lang="zh-CN" altLang="en-US" sz="2400" dirty="0">
                <a:latin typeface="+mn-lt"/>
              </a:rPr>
              <a:t>源操作数</a:t>
            </a:r>
            <a:r>
              <a:rPr lang="en-US" altLang="zh-CN" sz="2400" dirty="0">
                <a:solidFill>
                  <a:schemeClr val="tx1"/>
                </a:solidFill>
                <a:latin typeface="+mn-lt"/>
              </a:rPr>
              <a:t>(Source Operand)</a:t>
            </a:r>
            <a:endParaRPr lang="zh-CN" altLang="en-US" sz="2400" dirty="0">
              <a:solidFill>
                <a:schemeClr val="tx1"/>
              </a:solidFill>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endParaRPr lang="en-US" altLang="zh-CN" sz="2800" dirty="0">
              <a:latin typeface="+mn-lt"/>
            </a:endParaRPr>
          </a:p>
          <a:p>
            <a:pPr marL="457200" indent="-457200" algn="just">
              <a:lnSpc>
                <a:spcPct val="130000"/>
              </a:lnSpc>
              <a:spcBef>
                <a:spcPts val="0"/>
              </a:spcBef>
              <a:buClr>
                <a:srgbClr val="0000FF"/>
              </a:buClr>
              <a:buSzPct val="100000"/>
              <a:buFont typeface="Wingdings" panose="05000000000000000000" pitchFamily="2" charset="2"/>
              <a:buChar char="Ø"/>
              <a:defRPr/>
            </a:pPr>
            <a:r>
              <a:rPr lang="zh-CN" altLang="en-US" sz="2800" dirty="0">
                <a:latin typeface="+mn-lt"/>
              </a:rPr>
              <a:t>伪指令的参数：</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常量、变量名、表达式等</a:t>
            </a:r>
          </a:p>
          <a:p>
            <a:pPr marL="914400" lvl="1" indent="-457200" algn="just">
              <a:lnSpc>
                <a:spcPct val="130000"/>
              </a:lnSpc>
              <a:spcBef>
                <a:spcPts val="0"/>
              </a:spcBef>
              <a:buClr>
                <a:srgbClr val="0000FF"/>
              </a:buClr>
              <a:buFont typeface="Wingdings" panose="05000000000000000000" pitchFamily="2" charset="2"/>
              <a:buChar char="ü"/>
            </a:pPr>
            <a:r>
              <a:rPr lang="zh-CN" altLang="en-US" sz="2400" dirty="0">
                <a:solidFill>
                  <a:schemeClr val="tx1"/>
                </a:solidFill>
                <a:latin typeface="+mn-lt"/>
              </a:rPr>
              <a:t>可以有多个，参数之间用逗号分隔</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3.</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操作数</a:t>
            </a:r>
            <a:r>
              <a:rPr kumimoji="1" lang="en-US" altLang="zh-CN" b="0" i="0" u="none" strike="noStrike" kern="0" cap="none" spc="0" normalizeH="0" baseline="0" noProof="0" dirty="0">
                <a:ln>
                  <a:noFill/>
                </a:ln>
                <a:solidFill>
                  <a:srgbClr val="000000"/>
                </a:solidFill>
                <a:effectLst/>
                <a:uLnTx/>
                <a:uFillTx/>
                <a:latin typeface="+mj-lt"/>
                <a:cs typeface="+mj-cs"/>
              </a:rPr>
              <a:t>Operands</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和参数</a:t>
            </a:r>
            <a:r>
              <a:rPr kumimoji="1" lang="en-US" altLang="zh-CN" b="0" i="0" u="none" strike="noStrike" kern="0" cap="none" spc="0" normalizeH="0" baseline="0" noProof="0" dirty="0">
                <a:ln>
                  <a:noFill/>
                </a:ln>
                <a:solidFill>
                  <a:srgbClr val="000000"/>
                </a:solidFill>
                <a:effectLst/>
                <a:uLnTx/>
                <a:uFillTx/>
                <a:latin typeface="+mj-lt"/>
                <a:cs typeface="+mj-cs"/>
              </a:rPr>
              <a:t>Arguments</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18137" y="76088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矩形 4"/>
          <p:cNvSpPr/>
          <p:nvPr/>
        </p:nvSpPr>
        <p:spPr>
          <a:xfrm>
            <a:off x="1115616" y="5978756"/>
            <a:ext cx="7488832" cy="520848"/>
          </a:xfrm>
          <a:prstGeom prst="rect">
            <a:avLst/>
          </a:prstGeom>
          <a:solidFill>
            <a:srgbClr val="DDEEFF"/>
          </a:solidFill>
          <a:ln w="25400">
            <a:noFill/>
          </a:ln>
        </p:spPr>
        <p:txBody>
          <a:bodyPr wrap="square">
            <a:spAutoFit/>
          </a:bodyPr>
          <a:lstStyle/>
          <a:p>
            <a:pPr>
              <a:lnSpc>
                <a:spcPct val="130000"/>
              </a:lnSpc>
            </a:pPr>
            <a:r>
              <a:rPr lang="nb-NO" altLang="zh-CN" sz="2400" b="1" dirty="0">
                <a:solidFill>
                  <a:srgbClr val="00B050"/>
                </a:solidFill>
                <a:latin typeface="+mn-lt"/>
              </a:rPr>
              <a:t>msg   byte   'Hello, Assembly !',13,10,0</a:t>
            </a:r>
          </a:p>
        </p:txBody>
      </p:sp>
      <p:sp>
        <p:nvSpPr>
          <p:cNvPr id="3" name="矩形 2"/>
          <p:cNvSpPr/>
          <p:nvPr/>
        </p:nvSpPr>
        <p:spPr>
          <a:xfrm>
            <a:off x="1115616" y="3780932"/>
            <a:ext cx="7488832" cy="1000980"/>
          </a:xfrm>
          <a:prstGeom prst="rect">
            <a:avLst/>
          </a:prstGeom>
          <a:solidFill>
            <a:srgbClr val="DDEEFF"/>
          </a:solidFill>
          <a:ln w="25400">
            <a:noFill/>
          </a:ln>
        </p:spPr>
        <p:txBody>
          <a:bodyPr wrap="square">
            <a:spAutoFit/>
          </a:bodyPr>
          <a:lstStyle/>
          <a:p>
            <a:pPr>
              <a:lnSpc>
                <a:spcPct val="130000"/>
              </a:lnSpc>
            </a:pPr>
            <a:r>
              <a:rPr lang="en-US" altLang="zh-CN" sz="2400" b="1" dirty="0">
                <a:solidFill>
                  <a:srgbClr val="00B050"/>
                </a:solidFill>
                <a:latin typeface="+mn-lt"/>
              </a:rPr>
              <a:t>mov </a:t>
            </a:r>
            <a:r>
              <a:rPr lang="en-US" altLang="zh-CN" sz="2400" b="1" dirty="0" err="1">
                <a:solidFill>
                  <a:srgbClr val="00B050"/>
                </a:solidFill>
                <a:latin typeface="+mn-lt"/>
              </a:rPr>
              <a:t>eax</a:t>
            </a:r>
            <a:r>
              <a:rPr lang="en-US" altLang="zh-CN" sz="2400" b="1" dirty="0">
                <a:solidFill>
                  <a:srgbClr val="00B050"/>
                </a:solidFill>
                <a:latin typeface="+mn-lt"/>
              </a:rPr>
              <a:t>, offset msg                 </a:t>
            </a:r>
            <a:r>
              <a:rPr lang="en-US" altLang="zh-CN" sz="2400" dirty="0">
                <a:solidFill>
                  <a:srgbClr val="00B050"/>
                </a:solidFill>
                <a:latin typeface="+mn-lt"/>
              </a:rPr>
              <a:t>;</a:t>
            </a:r>
            <a:r>
              <a:rPr lang="en-US" altLang="zh-CN" sz="2400" b="1" dirty="0">
                <a:solidFill>
                  <a:srgbClr val="FF0000"/>
                </a:solidFill>
                <a:latin typeface="+mn-lt"/>
              </a:rPr>
              <a:t>offset msg</a:t>
            </a:r>
            <a:r>
              <a:rPr lang="zh-CN" altLang="en-US" sz="2400" dirty="0">
                <a:solidFill>
                  <a:srgbClr val="00B050"/>
                </a:solidFill>
                <a:latin typeface="+mn-lt"/>
              </a:rPr>
              <a:t>是</a:t>
            </a:r>
            <a:r>
              <a:rPr lang="zh-CN" altLang="en-US" sz="2400" b="1" dirty="0">
                <a:solidFill>
                  <a:srgbClr val="FF0000"/>
                </a:solidFill>
                <a:latin typeface="+mn-lt"/>
              </a:rPr>
              <a:t>常量</a:t>
            </a:r>
            <a:r>
              <a:rPr lang="zh-CN" altLang="en-US" sz="2400" dirty="0">
                <a:solidFill>
                  <a:srgbClr val="00B050"/>
                </a:solidFill>
                <a:latin typeface="+mn-lt"/>
              </a:rPr>
              <a:t>形式的源操作数，经汇编后得到一个具体的偏移地址</a:t>
            </a:r>
            <a:endParaRPr lang="en-US" altLang="zh-CN" sz="2400" dirty="0">
              <a:solidFill>
                <a:srgbClr val="00B050"/>
              </a:solidFill>
              <a:latin typeface="+mn-lt"/>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64704"/>
            <a:ext cx="8064896" cy="5798506"/>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语句中</a:t>
            </a:r>
            <a:r>
              <a:rPr lang="zh-CN" altLang="en-US" sz="2800" dirty="0">
                <a:solidFill>
                  <a:srgbClr val="FF0000"/>
                </a:solidFill>
                <a:latin typeface="+mn-lt"/>
              </a:rPr>
              <a:t>分号</a:t>
            </a:r>
            <a:r>
              <a:rPr lang="zh-CN" altLang="en-US" sz="2800" dirty="0">
                <a:latin typeface="+mn-lt"/>
              </a:rPr>
              <a:t>后的内容是注释</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对指令或程序进行说明</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汇编程序不对它们做任何处理</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注释利于阅读，应养成书写注释的好习惯</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语句的</a:t>
            </a:r>
            <a:r>
              <a:rPr lang="en-US" altLang="zh-CN" sz="2800" dirty="0">
                <a:latin typeface="+mn-lt"/>
              </a:rPr>
              <a:t>4</a:t>
            </a:r>
            <a:r>
              <a:rPr lang="zh-CN" altLang="en-US" sz="2800" dirty="0">
                <a:latin typeface="+mn-lt"/>
              </a:rPr>
              <a:t>个组成部分要用分隔符分开</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标号后的</a:t>
            </a:r>
            <a:r>
              <a:rPr lang="zh-CN" altLang="en-US" sz="2400" dirty="0">
                <a:solidFill>
                  <a:srgbClr val="FF0000"/>
                </a:solidFill>
                <a:latin typeface="+mn-lt"/>
              </a:rPr>
              <a:t>冒号</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注释前的</a:t>
            </a:r>
            <a:r>
              <a:rPr lang="zh-CN" altLang="en-US" sz="2400" dirty="0">
                <a:solidFill>
                  <a:srgbClr val="FF0000"/>
                </a:solidFill>
                <a:latin typeface="+mn-lt"/>
              </a:rPr>
              <a:t>分号</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操作数间和参数间的</a:t>
            </a:r>
            <a:r>
              <a:rPr lang="zh-CN" altLang="en-US" sz="2400" dirty="0">
                <a:solidFill>
                  <a:srgbClr val="FF0000"/>
                </a:solidFill>
                <a:latin typeface="+mn-lt"/>
              </a:rPr>
              <a:t>逗号</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分隔其他部分采用一个或多个</a:t>
            </a:r>
            <a:r>
              <a:rPr lang="zh-CN" altLang="en-US" sz="2400" dirty="0">
                <a:solidFill>
                  <a:srgbClr val="FF0000"/>
                </a:solidFill>
                <a:latin typeface="+mn-lt"/>
              </a:rPr>
              <a:t>空格或制表符</a:t>
            </a:r>
          </a:p>
          <a:p>
            <a:pPr marL="914400" lvl="1" indent="-457200" algn="just">
              <a:lnSpc>
                <a:spcPct val="130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注释使用英文或中文均可</a:t>
            </a: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4.</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注释</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Rounded Rectangular Callout 2"/>
          <p:cNvSpPr/>
          <p:nvPr/>
        </p:nvSpPr>
        <p:spPr bwMode="auto">
          <a:xfrm>
            <a:off x="4825714" y="4015697"/>
            <a:ext cx="3096344" cy="669338"/>
          </a:xfrm>
          <a:prstGeom prst="wedgeRoundRectCallout">
            <a:avLst>
              <a:gd name="adj1" fmla="val -32484"/>
              <a:gd name="adj2" fmla="val -114843"/>
              <a:gd name="adj3" fmla="val 16667"/>
            </a:avLst>
          </a:prstGeom>
          <a:solidFill>
            <a:srgbClr val="7276BB"/>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a:endParaRPr lang="en-US" altLang="zh-CN" sz="2800" dirty="0">
              <a:solidFill>
                <a:srgbClr val="00B050"/>
              </a:solidFill>
              <a:ea typeface="黑体" panose="02010609060101010101" pitchFamily="49" charset="-122"/>
            </a:endParaRPr>
          </a:p>
          <a:p>
            <a:pPr algn="ctr"/>
            <a:r>
              <a:rPr lang="zh-CN" altLang="en-US" sz="2400" b="1"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分隔符都是英文标点</a:t>
            </a:r>
          </a:p>
          <a:p>
            <a:pPr algn="ctr"/>
            <a:endParaRPr lang="zh-CN" altLang="en-US" sz="2800" dirty="0">
              <a:solidFill>
                <a:srgbClr val="00B05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1.3.3 </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源程序模板</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教材</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Rectangle 7"/>
          <p:cNvSpPr>
            <a:spLocks noChangeArrowheads="1"/>
          </p:cNvSpPr>
          <p:nvPr/>
        </p:nvSpPr>
        <p:spPr bwMode="auto">
          <a:xfrm>
            <a:off x="665312" y="936752"/>
            <a:ext cx="8083152" cy="4940520"/>
          </a:xfrm>
          <a:prstGeom prst="rect">
            <a:avLst/>
          </a:prstGeom>
          <a:ln>
            <a:solidFill>
              <a:srgbClr val="00B050"/>
            </a:solidFill>
          </a:ln>
          <a:extLst>
            <a:ext uri="{909E8E84-426E-40DD-AFC4-6F175D3DCCD1}">
              <a14:hiddenFill xmlns:a14="http://schemas.microsoft.com/office/drawing/2010/main">
                <a:solidFill>
                  <a:srgbClr val="0000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wrap="square">
            <a:spAutoFit/>
          </a:bodyPr>
          <a:lstStyle/>
          <a:p>
            <a:pPr>
              <a:lnSpc>
                <a:spcPct val="130000"/>
              </a:lnSpc>
              <a:spcBef>
                <a:spcPts val="600"/>
              </a:spcBef>
            </a:pPr>
            <a:r>
              <a:rPr lang="en-US" altLang="zh-CN" sz="2400" b="1" dirty="0"/>
              <a:t>; eg0000.asm</a:t>
            </a:r>
          </a:p>
          <a:p>
            <a:pPr>
              <a:lnSpc>
                <a:spcPct val="130000"/>
              </a:lnSpc>
              <a:spcBef>
                <a:spcPts val="600"/>
              </a:spcBef>
            </a:pPr>
            <a:r>
              <a:rPr lang="en-US" altLang="zh-CN" sz="2400" b="1" dirty="0">
                <a:solidFill>
                  <a:srgbClr val="FF0000"/>
                </a:solidFill>
                <a:latin typeface="+mj-lt"/>
                <a:ea typeface="黑体" panose="02010609060101010101" pitchFamily="49" charset="-122"/>
              </a:rPr>
              <a:t>include io32.inc</a:t>
            </a:r>
            <a:r>
              <a:rPr lang="en-US" altLang="zh-CN" sz="2400" dirty="0">
                <a:solidFill>
                  <a:srgbClr val="006600"/>
                </a:solidFill>
                <a:latin typeface="黑体" panose="02010609060101010101" pitchFamily="49" charset="-122"/>
                <a:ea typeface="黑体" panose="02010609060101010101" pitchFamily="49" charset="-122"/>
              </a:rPr>
              <a:t>	   </a:t>
            </a:r>
            <a:r>
              <a:rPr lang="en-US" altLang="zh-CN" sz="1800" dirty="0">
                <a:solidFill>
                  <a:srgbClr val="006600"/>
                </a:solidFill>
                <a:latin typeface="黑体" panose="02010609060101010101" pitchFamily="49" charset="-122"/>
                <a:ea typeface="黑体" panose="02010609060101010101" pitchFamily="49" charset="-122"/>
              </a:rPr>
              <a:t> </a:t>
            </a:r>
            <a:r>
              <a:rPr lang="en-US" altLang="zh-CN" sz="2000" dirty="0">
                <a:solidFill>
                  <a:srgbClr val="006600"/>
                </a:solidFill>
                <a:latin typeface="黑体" panose="02010609060101010101" pitchFamily="49" charset="-122"/>
                <a:ea typeface="黑体" panose="02010609060101010101" pitchFamily="49" charset="-122"/>
              </a:rPr>
              <a:t> </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包含</a:t>
            </a:r>
            <a:r>
              <a:rPr lang="en-US" altLang="zh-CN" sz="2400" dirty="0">
                <a:solidFill>
                  <a:srgbClr val="006600"/>
                </a:solidFill>
                <a:latin typeface="黑体" panose="02010609060101010101" pitchFamily="49" charset="-122"/>
                <a:ea typeface="黑体" panose="02010609060101010101" pitchFamily="49" charset="-122"/>
              </a:rPr>
              <a:t>32</a:t>
            </a:r>
            <a:r>
              <a:rPr lang="zh-CN" altLang="en-US" sz="2400" dirty="0">
                <a:solidFill>
                  <a:srgbClr val="006600"/>
                </a:solidFill>
                <a:latin typeface="黑体" panose="02010609060101010101" pitchFamily="49" charset="-122"/>
                <a:ea typeface="黑体" panose="02010609060101010101" pitchFamily="49" charset="-122"/>
              </a:rPr>
              <a:t>位输入输出文件</a:t>
            </a:r>
          </a:p>
          <a:p>
            <a:pPr>
              <a:lnSpc>
                <a:spcPct val="130000"/>
              </a:lnSpc>
              <a:spcBef>
                <a:spcPts val="600"/>
              </a:spcBef>
            </a:pPr>
            <a:r>
              <a:rPr lang="en-US" altLang="zh-CN" sz="2400" b="1" dirty="0">
                <a:solidFill>
                  <a:srgbClr val="0000FF"/>
                </a:solidFill>
                <a:latin typeface="+mj-lt"/>
                <a:ea typeface="黑体" panose="02010609060101010101" pitchFamily="49" charset="-122"/>
              </a:rPr>
              <a:t>.data</a:t>
            </a:r>
            <a:r>
              <a:rPr lang="en-US" altLang="zh-CN" sz="2400" dirty="0">
                <a:solidFill>
                  <a:srgbClr val="006600"/>
                </a:solidFill>
                <a:latin typeface="黑体" panose="02010609060101010101" pitchFamily="49" charset="-122"/>
                <a:ea typeface="黑体" panose="02010609060101010101" pitchFamily="49" charset="-122"/>
              </a:rPr>
              <a:t>	              </a:t>
            </a:r>
            <a:r>
              <a:rPr lang="en-US" altLang="zh-CN" sz="1800" dirty="0">
                <a:solidFill>
                  <a:srgbClr val="006600"/>
                </a:solidFill>
                <a:latin typeface="黑体" panose="02010609060101010101" pitchFamily="49" charset="-122"/>
                <a:ea typeface="黑体" panose="02010609060101010101" pitchFamily="49" charset="-122"/>
              </a:rPr>
              <a:t> </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定义数据段</a:t>
            </a:r>
          </a:p>
          <a:p>
            <a:pPr>
              <a:lnSpc>
                <a:spcPct val="130000"/>
              </a:lnSpc>
              <a:spcBef>
                <a:spcPts val="600"/>
              </a:spcBef>
            </a:pPr>
            <a:r>
              <a:rPr lang="zh-CN" altLang="en-US" sz="2400" dirty="0">
                <a:solidFill>
                  <a:srgbClr val="006600"/>
                </a:solidFill>
                <a:latin typeface="黑体" panose="02010609060101010101" pitchFamily="49" charset="-122"/>
                <a:ea typeface="黑体" panose="02010609060101010101" pitchFamily="49" charset="-122"/>
              </a:rPr>
              <a:t>	</a:t>
            </a:r>
            <a:r>
              <a:rPr lang="en-US" altLang="zh-CN" sz="2400" b="1" dirty="0">
                <a:solidFill>
                  <a:srgbClr val="0000FF"/>
                </a:solidFill>
                <a:latin typeface="+mj-lt"/>
                <a:ea typeface="黑体" panose="02010609060101010101" pitchFamily="49" charset="-122"/>
              </a:rPr>
              <a:t>……</a:t>
            </a:r>
            <a:r>
              <a:rPr lang="en-US" altLang="zh-CN" sz="2400" dirty="0">
                <a:solidFill>
                  <a:srgbClr val="0000FF"/>
                </a:solidFill>
                <a:latin typeface="黑体" panose="02010609060101010101" pitchFamily="49" charset="-122"/>
                <a:ea typeface="黑体" panose="02010609060101010101" pitchFamily="49" charset="-122"/>
              </a:rPr>
              <a:t>	        </a:t>
            </a:r>
            <a:r>
              <a:rPr lang="en-US" altLang="zh-CN" sz="1800" dirty="0">
                <a:solidFill>
                  <a:srgbClr val="0000FF"/>
                </a:solidFill>
                <a:latin typeface="黑体" panose="02010609060101010101" pitchFamily="49" charset="-122"/>
                <a:ea typeface="黑体" panose="02010609060101010101" pitchFamily="49" charset="-122"/>
              </a:rPr>
              <a:t> </a:t>
            </a:r>
            <a:r>
              <a:rPr lang="en-US" altLang="zh-CN" sz="2400" dirty="0">
                <a:solidFill>
                  <a:srgbClr val="0000FF"/>
                </a:solidFill>
                <a:latin typeface="黑体" panose="02010609060101010101" pitchFamily="49" charset="-122"/>
                <a:ea typeface="黑体" panose="02010609060101010101" pitchFamily="49" charset="-122"/>
              </a:rPr>
              <a:t>   </a:t>
            </a:r>
            <a:r>
              <a:rPr lang="en-US" altLang="zh-CN" sz="2400" dirty="0">
                <a:solidFill>
                  <a:srgbClr val="006600"/>
                </a:solidFill>
                <a:latin typeface="黑体" panose="02010609060101010101" pitchFamily="49" charset="-122"/>
                <a:ea typeface="黑体" panose="02010609060101010101" pitchFamily="49" charset="-122"/>
              </a:rPr>
              <a:t>; </a:t>
            </a:r>
            <a:r>
              <a:rPr lang="zh-CN" altLang="en-US" sz="2400" dirty="0">
                <a:solidFill>
                  <a:srgbClr val="006600"/>
                </a:solidFill>
                <a:latin typeface="黑体" panose="02010609060101010101" pitchFamily="49" charset="-122"/>
                <a:ea typeface="黑体" panose="02010609060101010101" pitchFamily="49" charset="-122"/>
              </a:rPr>
              <a:t>数据定义（数据待填）</a:t>
            </a:r>
          </a:p>
          <a:p>
            <a:pPr>
              <a:lnSpc>
                <a:spcPct val="130000"/>
              </a:lnSpc>
              <a:spcBef>
                <a:spcPts val="600"/>
              </a:spcBef>
            </a:pPr>
            <a:r>
              <a:rPr lang="en-US" altLang="zh-CN" sz="2400" b="1" dirty="0">
                <a:solidFill>
                  <a:srgbClr val="0000FF"/>
                </a:solidFill>
                <a:latin typeface="+mj-lt"/>
                <a:ea typeface="黑体" panose="02010609060101010101" pitchFamily="49" charset="-122"/>
              </a:rPr>
              <a:t>.code</a:t>
            </a:r>
            <a:r>
              <a:rPr lang="en-US" altLang="zh-CN" sz="2400" dirty="0">
                <a:solidFill>
                  <a:srgbClr val="0000FF"/>
                </a:solidFill>
                <a:latin typeface="黑体" panose="02010609060101010101" pitchFamily="49" charset="-122"/>
                <a:ea typeface="黑体" panose="02010609060101010101" pitchFamily="49" charset="-122"/>
              </a:rPr>
              <a:t>	                  </a:t>
            </a:r>
            <a:r>
              <a:rPr lang="en-US" altLang="zh-CN" sz="2400" dirty="0">
                <a:solidFill>
                  <a:srgbClr val="006600"/>
                </a:solidFill>
                <a:latin typeface="黑体" panose="02010609060101010101" pitchFamily="49" charset="-122"/>
                <a:ea typeface="黑体" panose="02010609060101010101" pitchFamily="49" charset="-122"/>
              </a:rPr>
              <a:t>; </a:t>
            </a:r>
            <a:r>
              <a:rPr lang="zh-CN" altLang="en-US" sz="2400" dirty="0">
                <a:solidFill>
                  <a:srgbClr val="006600"/>
                </a:solidFill>
                <a:latin typeface="黑体" panose="02010609060101010101" pitchFamily="49" charset="-122"/>
                <a:ea typeface="黑体" panose="02010609060101010101" pitchFamily="49" charset="-122"/>
              </a:rPr>
              <a:t>定义代码段</a:t>
            </a:r>
          </a:p>
          <a:p>
            <a:pPr>
              <a:lnSpc>
                <a:spcPct val="130000"/>
              </a:lnSpc>
              <a:spcBef>
                <a:spcPts val="600"/>
              </a:spcBef>
            </a:pPr>
            <a:r>
              <a:rPr lang="en-US" altLang="zh-CN" sz="2400" b="1" dirty="0">
                <a:solidFill>
                  <a:srgbClr val="FF0000"/>
                </a:solidFill>
                <a:latin typeface="+mj-lt"/>
                <a:ea typeface="黑体" panose="02010609060101010101" pitchFamily="49" charset="-122"/>
              </a:rPr>
              <a:t>start:</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程序执行起始位置</a:t>
            </a:r>
          </a:p>
          <a:p>
            <a:pPr>
              <a:lnSpc>
                <a:spcPct val="130000"/>
              </a:lnSpc>
              <a:spcBef>
                <a:spcPts val="600"/>
              </a:spcBef>
            </a:pPr>
            <a:r>
              <a:rPr lang="zh-CN" altLang="en-US" sz="2400" dirty="0">
                <a:solidFill>
                  <a:srgbClr val="006600"/>
                </a:solidFill>
                <a:latin typeface="黑体" panose="02010609060101010101" pitchFamily="49" charset="-122"/>
                <a:ea typeface="黑体" panose="02010609060101010101" pitchFamily="49" charset="-122"/>
              </a:rPr>
              <a:t>	</a:t>
            </a:r>
            <a:r>
              <a:rPr lang="en-US" altLang="zh-CN" sz="2400" b="1" dirty="0">
                <a:solidFill>
                  <a:srgbClr val="0000FF"/>
                </a:solidFill>
                <a:latin typeface="+mj-lt"/>
                <a:ea typeface="黑体" panose="02010609060101010101" pitchFamily="49" charset="-122"/>
              </a:rPr>
              <a:t>……</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主程序（指令待填）</a:t>
            </a:r>
          </a:p>
          <a:p>
            <a:pPr>
              <a:lnSpc>
                <a:spcPct val="130000"/>
              </a:lnSpc>
              <a:spcBef>
                <a:spcPts val="600"/>
              </a:spcBef>
            </a:pPr>
            <a:r>
              <a:rPr lang="zh-CN" altLang="en-US" sz="2400" dirty="0">
                <a:solidFill>
                  <a:srgbClr val="006600"/>
                </a:solidFill>
                <a:latin typeface="黑体" panose="02010609060101010101" pitchFamily="49" charset="-122"/>
                <a:ea typeface="黑体" panose="02010609060101010101" pitchFamily="49" charset="-122"/>
              </a:rPr>
              <a:t>	</a:t>
            </a:r>
            <a:r>
              <a:rPr lang="en-US" altLang="zh-CN" sz="2400" b="1" dirty="0">
                <a:solidFill>
                  <a:srgbClr val="FF0000"/>
                </a:solidFill>
                <a:latin typeface="+mj-lt"/>
                <a:ea typeface="黑体" panose="02010609060101010101" pitchFamily="49" charset="-122"/>
              </a:rPr>
              <a:t>exit 0</a:t>
            </a:r>
            <a:r>
              <a:rPr lang="en-US" altLang="zh-CN" sz="2400" dirty="0">
                <a:solidFill>
                  <a:srgbClr val="FF0000"/>
                </a:solidFill>
                <a:latin typeface="黑体" panose="02010609060101010101" pitchFamily="49" charset="-122"/>
                <a:ea typeface="黑体" panose="02010609060101010101" pitchFamily="49" charset="-122"/>
              </a:rPr>
              <a:t>	</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程序正常执行结束</a:t>
            </a:r>
          </a:p>
          <a:p>
            <a:pPr>
              <a:lnSpc>
                <a:spcPct val="130000"/>
              </a:lnSpc>
              <a:spcBef>
                <a:spcPts val="600"/>
              </a:spcBef>
            </a:pPr>
            <a:r>
              <a:rPr lang="en-US" altLang="zh-CN" sz="2400" b="1" dirty="0">
                <a:solidFill>
                  <a:srgbClr val="0000FF"/>
                </a:solidFill>
                <a:latin typeface="+mj-lt"/>
                <a:ea typeface="黑体" panose="02010609060101010101" pitchFamily="49" charset="-122"/>
              </a:rPr>
              <a:t>	end </a:t>
            </a:r>
            <a:r>
              <a:rPr lang="en-US" altLang="zh-CN" sz="2400" b="1" dirty="0">
                <a:solidFill>
                  <a:srgbClr val="FF0000"/>
                </a:solidFill>
                <a:latin typeface="+mj-lt"/>
                <a:ea typeface="黑体" panose="02010609060101010101" pitchFamily="49" charset="-122"/>
              </a:rPr>
              <a:t>start</a:t>
            </a:r>
            <a:r>
              <a:rPr lang="en-US" altLang="zh-CN" sz="2400" dirty="0">
                <a:solidFill>
                  <a:srgbClr val="006600"/>
                </a:solidFill>
                <a:latin typeface="黑体" panose="02010609060101010101" pitchFamily="49" charset="-122"/>
                <a:ea typeface="黑体" panose="02010609060101010101" pitchFamily="49" charset="-122"/>
              </a:rPr>
              <a:t>	      ; </a:t>
            </a:r>
            <a:r>
              <a:rPr lang="zh-CN" altLang="en-US" sz="2400" dirty="0">
                <a:solidFill>
                  <a:srgbClr val="006600"/>
                </a:solidFill>
                <a:latin typeface="黑体" panose="02010609060101010101" pitchFamily="49" charset="-122"/>
                <a:ea typeface="黑体" panose="02010609060101010101" pitchFamily="49" charset="-122"/>
              </a:rPr>
              <a:t>汇编结束</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95536" y="798846"/>
            <a:ext cx="8208912" cy="5798506"/>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对常量定义、过程说明、共享的子程序库等内容进行声明（相当于</a:t>
            </a:r>
            <a:r>
              <a:rPr lang="en-US" altLang="zh-CN" sz="2800" dirty="0">
                <a:latin typeface="+mn-lt"/>
              </a:rPr>
              <a:t>C</a:t>
            </a:r>
            <a:r>
              <a:rPr lang="zh-CN" altLang="en-US" sz="2800" dirty="0">
                <a:latin typeface="+mn-lt"/>
              </a:rPr>
              <a:t>语言中包含</a:t>
            </a:r>
            <a:r>
              <a:rPr lang="zh-CN" altLang="en-US" sz="2800" dirty="0">
                <a:solidFill>
                  <a:srgbClr val="FF0000"/>
                </a:solidFill>
                <a:latin typeface="+mn-lt"/>
              </a:rPr>
              <a:t>头文件</a:t>
            </a:r>
            <a:r>
              <a:rPr lang="zh-CN" altLang="en-US" sz="2800" dirty="0">
                <a:latin typeface="+mn-lt"/>
              </a:rPr>
              <a:t>的作用）</a:t>
            </a:r>
          </a:p>
          <a:p>
            <a:pPr marL="914400" lvl="1" indent="-457200" algn="just">
              <a:lnSpc>
                <a:spcPct val="130000"/>
              </a:lnSpc>
              <a:spcBef>
                <a:spcPts val="600"/>
              </a:spcBef>
              <a:buClr>
                <a:srgbClr val="0000FF"/>
              </a:buClr>
              <a:buFont typeface="Wingdings" panose="05000000000000000000" pitchFamily="2" charset="2"/>
              <a:buChar char="ü"/>
            </a:pPr>
            <a:r>
              <a:rPr lang="en-US" altLang="zh-CN" sz="2400" dirty="0">
                <a:solidFill>
                  <a:schemeClr val="tx1"/>
                </a:solidFill>
                <a:latin typeface="+mn-lt"/>
              </a:rPr>
              <a:t>IO32.INC</a:t>
            </a:r>
            <a:r>
              <a:rPr lang="zh-CN" altLang="en-US" sz="2400" dirty="0">
                <a:solidFill>
                  <a:schemeClr val="tx1"/>
                </a:solidFill>
                <a:latin typeface="+mn-lt"/>
              </a:rPr>
              <a:t>是配合教材</a:t>
            </a:r>
            <a:r>
              <a:rPr lang="en-US" altLang="zh-CN" sz="2400" dirty="0">
                <a:solidFill>
                  <a:schemeClr val="tx1"/>
                </a:solidFill>
                <a:latin typeface="+mn-lt"/>
              </a:rPr>
              <a:t>MASM6.15</a:t>
            </a:r>
            <a:r>
              <a:rPr lang="zh-CN" altLang="en-US" sz="2400" dirty="0">
                <a:solidFill>
                  <a:schemeClr val="tx1"/>
                </a:solidFill>
                <a:latin typeface="+mn-lt"/>
              </a:rPr>
              <a:t>的包含文件</a:t>
            </a:r>
          </a:p>
          <a:p>
            <a:pPr marL="457200" indent="-457200" algn="just">
              <a:lnSpc>
                <a:spcPct val="130000"/>
              </a:lnSpc>
              <a:spcBef>
                <a:spcPts val="1200"/>
              </a:spcBef>
              <a:buClr>
                <a:srgbClr val="0000FF"/>
              </a:buClr>
              <a:buSzPct val="100000"/>
              <a:buFont typeface="Wingdings" panose="05000000000000000000" pitchFamily="2" charset="2"/>
              <a:buChar char="Ø"/>
              <a:defRPr/>
            </a:pPr>
            <a:r>
              <a:rPr lang="en-US" altLang="zh-CN" sz="2800" dirty="0">
                <a:latin typeface="+mn-lt"/>
              </a:rPr>
              <a:t>.INC</a:t>
            </a:r>
            <a:r>
              <a:rPr lang="zh-CN" altLang="en-US" sz="2800" dirty="0">
                <a:latin typeface="+mn-lt"/>
              </a:rPr>
              <a:t>文件前</a:t>
            </a:r>
            <a:r>
              <a:rPr lang="en-US" altLang="zh-CN" sz="2800" dirty="0">
                <a:latin typeface="+mn-lt"/>
              </a:rPr>
              <a:t>3</a:t>
            </a:r>
            <a:r>
              <a:rPr lang="zh-CN" altLang="en-US" sz="2800" dirty="0">
                <a:latin typeface="+mn-lt"/>
              </a:rPr>
              <a:t>个语句：</a:t>
            </a:r>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1.</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包含伪指令</a:t>
            </a: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INCLUDE</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矩形 1"/>
          <p:cNvSpPr/>
          <p:nvPr/>
        </p:nvSpPr>
        <p:spPr>
          <a:xfrm>
            <a:off x="971600" y="3291882"/>
            <a:ext cx="7632848" cy="2441374"/>
          </a:xfrm>
          <a:prstGeom prst="rect">
            <a:avLst/>
          </a:prstGeom>
          <a:solidFill>
            <a:srgbClr val="DDEEFF"/>
          </a:solidFill>
          <a:ln w="25400">
            <a:noFill/>
          </a:ln>
        </p:spPr>
        <p:txBody>
          <a:bodyPr wrap="square">
            <a:spAutoFit/>
          </a:bodyPr>
          <a:lstStyle/>
          <a:p>
            <a:pPr>
              <a:lnSpc>
                <a:spcPct val="130000"/>
              </a:lnSpc>
            </a:pPr>
            <a:r>
              <a:rPr lang="en-US" altLang="zh-CN" sz="2400" b="1" dirty="0">
                <a:solidFill>
                  <a:srgbClr val="00B050"/>
                </a:solidFill>
                <a:latin typeface="+mn-lt"/>
              </a:rPr>
              <a:t>.686	</a:t>
            </a:r>
            <a:r>
              <a:rPr lang="en-US" altLang="zh-CN" sz="2400" dirty="0">
                <a:solidFill>
                  <a:schemeClr val="tx1"/>
                </a:solidFill>
                <a:latin typeface="+mn-lt"/>
              </a:rPr>
              <a:t>; 32</a:t>
            </a:r>
            <a:r>
              <a:rPr lang="zh-CN" altLang="en-US" sz="2400" dirty="0">
                <a:solidFill>
                  <a:schemeClr val="tx1"/>
                </a:solidFill>
                <a:latin typeface="+mn-lt"/>
              </a:rPr>
              <a:t>位指令，除特权指令外的</a:t>
            </a:r>
            <a:r>
              <a:rPr lang="en-US" altLang="zh-CN" sz="2400" dirty="0">
                <a:solidFill>
                  <a:schemeClr val="tx1"/>
                </a:solidFill>
                <a:latin typeface="+mn-lt"/>
              </a:rPr>
              <a:t>Pentium Pro</a:t>
            </a:r>
            <a:r>
              <a:rPr lang="zh-CN" altLang="en-US" sz="2400" dirty="0">
                <a:solidFill>
                  <a:schemeClr val="tx1"/>
                </a:solidFill>
                <a:latin typeface="+mn-lt"/>
              </a:rPr>
              <a:t>指令</a:t>
            </a:r>
          </a:p>
          <a:p>
            <a:pPr>
              <a:lnSpc>
                <a:spcPct val="130000"/>
              </a:lnSpc>
            </a:pPr>
            <a:r>
              <a:rPr lang="en-US" altLang="zh-CN" sz="2400" b="1" dirty="0">
                <a:solidFill>
                  <a:srgbClr val="00B050"/>
                </a:solidFill>
                <a:latin typeface="+mn-lt"/>
              </a:rPr>
              <a:t>.model flat, </a:t>
            </a:r>
            <a:r>
              <a:rPr lang="en-US" altLang="zh-CN" sz="2400" b="1" dirty="0" err="1">
                <a:solidFill>
                  <a:srgbClr val="00B050"/>
                </a:solidFill>
                <a:latin typeface="+mn-lt"/>
              </a:rPr>
              <a:t>stdcall</a:t>
            </a:r>
            <a:endParaRPr lang="en-US" altLang="zh-CN" sz="2400" b="1" dirty="0">
              <a:solidFill>
                <a:srgbClr val="00B050"/>
              </a:solidFill>
              <a:latin typeface="+mn-lt"/>
            </a:endParaRPr>
          </a:p>
          <a:p>
            <a:pPr>
              <a:lnSpc>
                <a:spcPct val="130000"/>
              </a:lnSpc>
            </a:pPr>
            <a:r>
              <a:rPr lang="en-US" altLang="zh-CN" sz="2400" dirty="0">
                <a:solidFill>
                  <a:schemeClr val="tx1"/>
                </a:solidFill>
                <a:latin typeface="+mn-lt"/>
              </a:rPr>
              <a:t>; </a:t>
            </a:r>
            <a:r>
              <a:rPr lang="zh-CN" altLang="en-US" sz="2400" dirty="0">
                <a:solidFill>
                  <a:schemeClr val="tx1"/>
                </a:solidFill>
                <a:latin typeface="+mn-lt"/>
              </a:rPr>
              <a:t>选择平展模型，标准调用规范</a:t>
            </a:r>
            <a:r>
              <a:rPr lang="en-US" altLang="zh-CN" sz="2400" dirty="0">
                <a:solidFill>
                  <a:schemeClr val="tx1"/>
                </a:solidFill>
                <a:latin typeface="+mn-lt"/>
              </a:rPr>
              <a:t>(</a:t>
            </a:r>
            <a:r>
              <a:rPr lang="zh-CN" altLang="en-US" sz="2400" dirty="0">
                <a:solidFill>
                  <a:schemeClr val="tx1"/>
                </a:solidFill>
                <a:latin typeface="+mn-lt"/>
              </a:rPr>
              <a:t>函数参数从右往左压入</a:t>
            </a:r>
            <a:r>
              <a:rPr lang="en-US" altLang="zh-CN" sz="2400" dirty="0">
                <a:solidFill>
                  <a:schemeClr val="tx1"/>
                </a:solidFill>
                <a:latin typeface="+mn-lt"/>
              </a:rPr>
              <a:t>)</a:t>
            </a:r>
            <a:r>
              <a:rPr lang="zh-CN" altLang="en-US" sz="2400" dirty="0">
                <a:solidFill>
                  <a:schemeClr val="tx1"/>
                </a:solidFill>
                <a:latin typeface="+mn-lt"/>
              </a:rPr>
              <a:t> </a:t>
            </a:r>
          </a:p>
          <a:p>
            <a:pPr>
              <a:lnSpc>
                <a:spcPct val="130000"/>
              </a:lnSpc>
            </a:pPr>
            <a:r>
              <a:rPr lang="en-US" altLang="zh-CN" sz="2400" b="1" dirty="0">
                <a:solidFill>
                  <a:srgbClr val="00B050"/>
                </a:solidFill>
                <a:latin typeface="+mn-lt"/>
              </a:rPr>
              <a:t>option </a:t>
            </a:r>
            <a:r>
              <a:rPr lang="en-US" altLang="zh-CN" sz="2400" b="1" dirty="0" err="1">
                <a:solidFill>
                  <a:srgbClr val="00B050"/>
                </a:solidFill>
                <a:latin typeface="+mn-lt"/>
              </a:rPr>
              <a:t>casemap:none</a:t>
            </a:r>
            <a:endParaRPr lang="en-US" altLang="zh-CN" sz="2400" b="1" dirty="0">
              <a:solidFill>
                <a:srgbClr val="00B050"/>
              </a:solidFill>
              <a:latin typeface="+mn-lt"/>
            </a:endParaRPr>
          </a:p>
          <a:p>
            <a:pPr>
              <a:lnSpc>
                <a:spcPct val="130000"/>
              </a:lnSpc>
            </a:pPr>
            <a:r>
              <a:rPr lang="en-US" altLang="zh-CN" sz="2400" dirty="0">
                <a:solidFill>
                  <a:schemeClr val="tx1"/>
                </a:solidFill>
                <a:latin typeface="+mn-lt"/>
              </a:rPr>
              <a:t>;</a:t>
            </a:r>
            <a:r>
              <a:rPr lang="zh-CN" altLang="en-US" sz="2400" dirty="0">
                <a:solidFill>
                  <a:schemeClr val="tx1"/>
                </a:solidFill>
                <a:latin typeface="+mn-lt"/>
              </a:rPr>
              <a:t>告知</a:t>
            </a:r>
            <a:r>
              <a:rPr lang="en-US" altLang="zh-CN" sz="2400" dirty="0">
                <a:solidFill>
                  <a:schemeClr val="tx1"/>
                </a:solidFill>
                <a:latin typeface="+mn-lt"/>
              </a:rPr>
              <a:t>MASM</a:t>
            </a:r>
            <a:r>
              <a:rPr lang="zh-CN" altLang="en-US" sz="2400" dirty="0">
                <a:solidFill>
                  <a:schemeClr val="tx1"/>
                </a:solidFill>
                <a:latin typeface="+mn-lt"/>
              </a:rPr>
              <a:t>区分用户定义标识符的大小写</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539552" y="774329"/>
            <a:ext cx="8064896" cy="5798506"/>
          </a:xfrm>
          <a:prstGeom prst="rect">
            <a:avLst/>
          </a:prstGeom>
        </p:spPr>
        <p:txBody>
          <a:bodyPr/>
          <a:lstStyle/>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数据段定义伪指令</a:t>
            </a:r>
            <a:r>
              <a:rPr lang="en-US" altLang="zh-CN" sz="2800" dirty="0">
                <a:latin typeface="+mn-lt"/>
              </a:rPr>
              <a:t>.DATA</a:t>
            </a:r>
            <a:r>
              <a:rPr lang="zh-CN" altLang="en-US" sz="2800" dirty="0">
                <a:latin typeface="+mn-lt"/>
              </a:rPr>
              <a:t>创建一个数据段</a:t>
            </a:r>
          </a:p>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代码段定义伪指令</a:t>
            </a:r>
            <a:r>
              <a:rPr lang="en-US" altLang="zh-CN" sz="2800" dirty="0">
                <a:latin typeface="+mn-lt"/>
              </a:rPr>
              <a:t>.CODE</a:t>
            </a:r>
            <a:r>
              <a:rPr lang="zh-CN" altLang="en-US" sz="2800" dirty="0">
                <a:latin typeface="+mn-lt"/>
              </a:rPr>
              <a:t>创建一个代码段</a:t>
            </a:r>
          </a:p>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堆栈段由操作系统维护，用户不必设置</a:t>
            </a:r>
          </a:p>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程序开始执行的位置</a:t>
            </a:r>
          </a:p>
          <a:p>
            <a:pPr marL="914400" lvl="1" indent="-457200" algn="just">
              <a:lnSpc>
                <a:spcPct val="125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应用一个标号（例如：</a:t>
            </a:r>
            <a:r>
              <a:rPr lang="en-US" altLang="zh-CN" sz="2400" dirty="0">
                <a:solidFill>
                  <a:schemeClr val="tx1"/>
                </a:solidFill>
                <a:latin typeface="+mn-lt"/>
              </a:rPr>
              <a:t>start</a:t>
            </a:r>
            <a:r>
              <a:rPr lang="zh-CN" altLang="en-US" sz="2400" dirty="0">
                <a:solidFill>
                  <a:schemeClr val="tx1"/>
                </a:solidFill>
                <a:latin typeface="+mn-lt"/>
              </a:rPr>
              <a:t>、</a:t>
            </a:r>
            <a:r>
              <a:rPr lang="en-US" altLang="zh-CN" sz="2400" dirty="0">
                <a:solidFill>
                  <a:schemeClr val="tx1"/>
                </a:solidFill>
                <a:latin typeface="+mn-lt"/>
              </a:rPr>
              <a:t>main</a:t>
            </a:r>
            <a:r>
              <a:rPr lang="zh-CN" altLang="en-US" sz="2400" dirty="0">
                <a:solidFill>
                  <a:schemeClr val="tx1"/>
                </a:solidFill>
                <a:latin typeface="+mn-lt"/>
              </a:rPr>
              <a:t>）</a:t>
            </a:r>
          </a:p>
          <a:p>
            <a:pPr marL="914400" lvl="1" indent="-457200" algn="just">
              <a:lnSpc>
                <a:spcPct val="125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汇编结束</a:t>
            </a:r>
            <a:r>
              <a:rPr lang="en-US" altLang="zh-CN" sz="2400" dirty="0">
                <a:solidFill>
                  <a:schemeClr val="tx1"/>
                </a:solidFill>
                <a:latin typeface="+mn-lt"/>
              </a:rPr>
              <a:t>END</a:t>
            </a:r>
            <a:r>
              <a:rPr lang="zh-CN" altLang="en-US" sz="2400" dirty="0">
                <a:solidFill>
                  <a:schemeClr val="tx1"/>
                </a:solidFill>
                <a:latin typeface="+mn-lt"/>
              </a:rPr>
              <a:t>指令的参数</a:t>
            </a:r>
          </a:p>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应用程序执行结束</a:t>
            </a:r>
          </a:p>
          <a:p>
            <a:pPr marL="914400" lvl="1" indent="-457200" algn="just">
              <a:lnSpc>
                <a:spcPct val="125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返回操作系统，将控制权交还给操作系统</a:t>
            </a:r>
          </a:p>
          <a:p>
            <a:pPr marL="914400" lvl="1" indent="-457200" algn="just">
              <a:lnSpc>
                <a:spcPct val="125000"/>
              </a:lnSpc>
              <a:spcBef>
                <a:spcPts val="600"/>
              </a:spcBef>
              <a:buClr>
                <a:srgbClr val="0000FF"/>
              </a:buClr>
              <a:buFont typeface="Wingdings" panose="05000000000000000000" pitchFamily="2" charset="2"/>
              <a:buChar char="ü"/>
            </a:pPr>
            <a:r>
              <a:rPr lang="zh-CN" altLang="en-US" sz="2400" dirty="0">
                <a:solidFill>
                  <a:schemeClr val="tx1"/>
                </a:solidFill>
                <a:latin typeface="+mn-lt"/>
              </a:rPr>
              <a:t>提供给操作系统一个返回代码，</a:t>
            </a:r>
            <a:r>
              <a:rPr lang="en-US" altLang="zh-CN" sz="2400" dirty="0">
                <a:solidFill>
                  <a:schemeClr val="tx1"/>
                </a:solidFill>
                <a:latin typeface="+mn-lt"/>
              </a:rPr>
              <a:t>0</a:t>
            </a:r>
            <a:r>
              <a:rPr lang="zh-CN" altLang="en-US" sz="2400" dirty="0">
                <a:solidFill>
                  <a:schemeClr val="tx1"/>
                </a:solidFill>
                <a:latin typeface="+mn-lt"/>
              </a:rPr>
              <a:t>表示执行正确</a:t>
            </a:r>
            <a:endParaRPr lang="en-US" altLang="zh-CN" sz="2400" dirty="0">
              <a:solidFill>
                <a:schemeClr val="tx1"/>
              </a:solidFill>
              <a:latin typeface="+mn-lt"/>
            </a:endParaRPr>
          </a:p>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源程序汇编结束</a:t>
            </a:r>
            <a:r>
              <a:rPr lang="en-US" altLang="zh-CN" sz="2800" dirty="0">
                <a:latin typeface="+mn-lt"/>
              </a:rPr>
              <a:t>END</a:t>
            </a:r>
            <a:r>
              <a:rPr lang="zh-CN" altLang="en-US" sz="2800" dirty="0">
                <a:latin typeface="+mn-lt"/>
              </a:rPr>
              <a:t>语句</a:t>
            </a:r>
            <a:endParaRPr lang="zh-CN" altLang="en-US" sz="2000" dirty="0"/>
          </a:p>
          <a:p>
            <a:pPr marL="914400" lvl="1" indent="-457200" algn="just">
              <a:lnSpc>
                <a:spcPct val="130000"/>
              </a:lnSpc>
              <a:spcBef>
                <a:spcPts val="600"/>
              </a:spcBef>
              <a:buClr>
                <a:srgbClr val="0000FF"/>
              </a:buClr>
              <a:buFont typeface="Wingdings" panose="05000000000000000000" pitchFamily="2" charset="2"/>
              <a:buChar char="ü"/>
            </a:pPr>
            <a:endParaRPr lang="zh-CN" altLang="en-US" sz="2400" dirty="0">
              <a:solidFill>
                <a:schemeClr val="tx1"/>
              </a:solidFill>
              <a:latin typeface="+mn-lt"/>
            </a:endParaRPr>
          </a:p>
        </p:txBody>
      </p:sp>
      <p:sp>
        <p:nvSpPr>
          <p:cNvPr id="6" name="标题 1"/>
          <p:cNvSpPr txBox="1"/>
          <p:nvPr/>
        </p:nvSpPr>
        <p:spPr>
          <a:xfrm>
            <a:off x="0" y="-24"/>
            <a:ext cx="9144000" cy="849296"/>
          </a:xfrm>
          <a:prstGeom prst="rect">
            <a:avLst/>
          </a:prstGeom>
        </p:spPr>
        <p:txBody>
          <a:bodyPr>
            <a:normAutofit/>
          </a:bodyPr>
          <a:lstStyle/>
          <a:p>
            <a:pPr lvl="0">
              <a:defRPr/>
            </a:pPr>
            <a:r>
              <a:rPr kumimoji="1" lang="en-US" altLang="zh-CN" b="0" i="0" u="none" strike="noStrike" kern="0" cap="none" spc="0" normalizeH="0" baseline="0" noProof="0" dirty="0">
                <a:ln>
                  <a:noFill/>
                </a:ln>
                <a:solidFill>
                  <a:srgbClr val="000000"/>
                </a:solidFill>
                <a:effectLst/>
                <a:uLnTx/>
                <a:uFillTx/>
                <a:latin typeface="黑体" panose="02010609060101010101" pitchFamily="49" charset="-122"/>
                <a:cs typeface="+mj-cs"/>
              </a:rPr>
              <a:t>2.</a:t>
            </a: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段的简化定义</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信息显示程序</a:t>
            </a:r>
            <a:r>
              <a:rPr lang="en-US" altLang="zh-CN" kern="0" dirty="0">
                <a:solidFill>
                  <a:srgbClr val="000000"/>
                </a:solidFill>
                <a:latin typeface="黑体" panose="02010609060101010101" pitchFamily="49" charset="-122"/>
                <a:cs typeface="+mj-cs"/>
              </a:rPr>
              <a:t>-</a:t>
            </a:r>
            <a:r>
              <a:rPr lang="zh-CN" altLang="en-US" kern="0" dirty="0">
                <a:solidFill>
                  <a:srgbClr val="000000"/>
                </a:solidFill>
                <a:latin typeface="黑体" panose="02010609060101010101" pitchFamily="49" charset="-122"/>
                <a:cs typeface="+mj-cs"/>
              </a:rPr>
              <a:t>教材</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 name="Rectangle 7"/>
          <p:cNvSpPr>
            <a:spLocks noChangeArrowheads="1"/>
          </p:cNvSpPr>
          <p:nvPr/>
        </p:nvSpPr>
        <p:spPr bwMode="auto">
          <a:xfrm>
            <a:off x="806678" y="1412776"/>
            <a:ext cx="7725762" cy="4974439"/>
          </a:xfrm>
          <a:prstGeom prst="rect">
            <a:avLst/>
          </a:prstGeom>
          <a:ln>
            <a:solidFill>
              <a:srgbClr val="00B050"/>
            </a:solidFill>
          </a:ln>
          <a:extLst>
            <a:ext uri="{909E8E84-426E-40DD-AFC4-6F175D3DCCD1}">
              <a14:hiddenFill xmlns:a14="http://schemas.microsoft.com/office/drawing/2010/main">
                <a:solidFill>
                  <a:srgbClr val="0000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wrap="square">
            <a:spAutoFit/>
          </a:bodyPr>
          <a:lstStyle/>
          <a:p>
            <a:pPr eaLnBrk="1" hangingPunct="1">
              <a:lnSpc>
                <a:spcPct val="130000"/>
              </a:lnSpc>
              <a:buFont typeface="Wingdings" panose="05000000000000000000" pitchFamily="2" charset="2"/>
              <a:buNone/>
            </a:pPr>
            <a:r>
              <a:rPr lang="en-US" altLang="zh-CN" sz="2200" dirty="0">
                <a:solidFill>
                  <a:schemeClr val="tx1"/>
                </a:solidFill>
              </a:rPr>
              <a:t>;</a:t>
            </a:r>
            <a:r>
              <a:rPr lang="zh-CN" altLang="en-US" sz="2200" kern="0" dirty="0">
                <a:solidFill>
                  <a:srgbClr val="000000"/>
                </a:solidFill>
                <a:latin typeface="黑体" panose="02010609060101010101" pitchFamily="49" charset="-122"/>
              </a:rPr>
              <a:t> </a:t>
            </a:r>
            <a:r>
              <a:rPr lang="en-US" altLang="zh-CN" sz="2200" dirty="0">
                <a:solidFill>
                  <a:schemeClr val="tx1"/>
                </a:solidFill>
              </a:rPr>
              <a:t>eg0201.asm</a:t>
            </a:r>
          </a:p>
          <a:p>
            <a:pPr eaLnBrk="1" hangingPunct="1">
              <a:lnSpc>
                <a:spcPct val="130000"/>
              </a:lnSpc>
              <a:buFont typeface="Wingdings" panose="05000000000000000000" pitchFamily="2" charset="2"/>
              <a:buNone/>
            </a:pPr>
            <a:r>
              <a:rPr lang="en-US" altLang="zh-CN" sz="2200" b="1" dirty="0">
                <a:solidFill>
                  <a:srgbClr val="0000FF"/>
                </a:solidFill>
              </a:rPr>
              <a:t>include io32.inc</a:t>
            </a:r>
            <a:endParaRPr lang="zh-CN" altLang="en-US" sz="2200" b="1" dirty="0">
              <a:solidFill>
                <a:srgbClr val="0000FF"/>
              </a:solidFill>
            </a:endParaRPr>
          </a:p>
          <a:p>
            <a:pPr>
              <a:lnSpc>
                <a:spcPct val="150000"/>
              </a:lnSpc>
            </a:pPr>
            <a:r>
              <a:rPr lang="en-US" altLang="zh-CN" sz="2200" b="1" dirty="0"/>
              <a:t>.data                           </a:t>
            </a:r>
            <a:r>
              <a:rPr lang="en-US" altLang="zh-CN" sz="2200" b="1" dirty="0">
                <a:solidFill>
                  <a:srgbClr val="FF0000"/>
                </a:solidFill>
                <a:ea typeface="黑体" panose="02010609060101010101" pitchFamily="49" charset="-122"/>
              </a:rPr>
              <a:t>;</a:t>
            </a:r>
            <a:r>
              <a:rPr lang="zh-CN" altLang="en-US" sz="2200" b="1" dirty="0">
                <a:solidFill>
                  <a:srgbClr val="FF0000"/>
                </a:solidFill>
                <a:ea typeface="黑体" panose="02010609060101010101" pitchFamily="49" charset="-122"/>
              </a:rPr>
              <a:t>在数据段给出这个字符串形式的信息</a:t>
            </a:r>
          </a:p>
          <a:p>
            <a:pPr algn="just">
              <a:lnSpc>
                <a:spcPct val="150000"/>
              </a:lnSpc>
            </a:pPr>
            <a:r>
              <a:rPr lang="en-US" altLang="zh-CN" sz="2200" b="1" dirty="0"/>
              <a:t>       msg byte 'Hello,Assembly!',13,10,0 </a:t>
            </a:r>
            <a:r>
              <a:rPr lang="en-US" altLang="zh-CN" sz="1400" b="1" dirty="0"/>
              <a:t> </a:t>
            </a:r>
            <a:r>
              <a:rPr lang="en-US" altLang="zh-CN" sz="2200" dirty="0">
                <a:solidFill>
                  <a:schemeClr val="tx1"/>
                </a:solidFill>
                <a:ea typeface="黑体" panose="02010609060101010101" pitchFamily="49" charset="-122"/>
              </a:rPr>
              <a:t>;</a:t>
            </a:r>
            <a:r>
              <a:rPr lang="zh-CN" altLang="en-US" sz="2200" dirty="0">
                <a:solidFill>
                  <a:schemeClr val="tx1"/>
                </a:solidFill>
                <a:ea typeface="黑体" panose="02010609060101010101" pitchFamily="49" charset="-122"/>
              </a:rPr>
              <a:t>定义要显示的字符串</a:t>
            </a:r>
          </a:p>
          <a:p>
            <a:pPr>
              <a:lnSpc>
                <a:spcPct val="150000"/>
              </a:lnSpc>
            </a:pPr>
            <a:r>
              <a:rPr lang="en-US" altLang="zh-CN" sz="2200" b="1" dirty="0"/>
              <a:t>.code                          </a:t>
            </a:r>
            <a:r>
              <a:rPr lang="en-US" altLang="zh-CN" sz="2200" b="1" dirty="0">
                <a:solidFill>
                  <a:srgbClr val="FF0000"/>
                </a:solidFill>
                <a:ea typeface="黑体" panose="02010609060101010101" pitchFamily="49" charset="-122"/>
              </a:rPr>
              <a:t>;</a:t>
            </a:r>
            <a:r>
              <a:rPr lang="zh-CN" altLang="en-US" sz="2200" b="1" dirty="0">
                <a:solidFill>
                  <a:srgbClr val="FF0000"/>
                </a:solidFill>
                <a:ea typeface="黑体" panose="02010609060101010101" pitchFamily="49" charset="-122"/>
              </a:rPr>
              <a:t>在代码段编写显示字符串的程序</a:t>
            </a:r>
          </a:p>
          <a:p>
            <a:pPr>
              <a:lnSpc>
                <a:spcPct val="150000"/>
              </a:lnSpc>
            </a:pPr>
            <a:r>
              <a:rPr lang="en-US" altLang="zh-CN" sz="2200" b="1" dirty="0"/>
              <a:t>start:</a:t>
            </a:r>
            <a:r>
              <a:rPr lang="zh-CN" altLang="en-US" sz="2200" b="1" dirty="0"/>
              <a:t>	 </a:t>
            </a:r>
            <a:endParaRPr lang="en-US" altLang="zh-CN" sz="2200" b="1" dirty="0"/>
          </a:p>
          <a:p>
            <a:pPr>
              <a:lnSpc>
                <a:spcPct val="150000"/>
              </a:lnSpc>
            </a:pPr>
            <a:r>
              <a:rPr lang="en-US" altLang="zh-CN" sz="2200" b="1" dirty="0"/>
              <a:t>       mov </a:t>
            </a:r>
            <a:r>
              <a:rPr lang="en-US" altLang="zh-CN" sz="2200" b="1" dirty="0" err="1"/>
              <a:t>eax,offset</a:t>
            </a:r>
            <a:r>
              <a:rPr lang="en-US" altLang="zh-CN" sz="2200" b="1" dirty="0"/>
              <a:t> msg	</a:t>
            </a:r>
            <a:r>
              <a:rPr lang="en-US" altLang="zh-CN" sz="2200" dirty="0">
                <a:solidFill>
                  <a:schemeClr val="tx1"/>
                </a:solidFill>
                <a:ea typeface="黑体" panose="02010609060101010101" pitchFamily="49" charset="-122"/>
              </a:rPr>
              <a:t>; </a:t>
            </a:r>
            <a:r>
              <a:rPr lang="zh-CN" altLang="en-US" sz="2200" dirty="0">
                <a:solidFill>
                  <a:schemeClr val="tx1"/>
                </a:solidFill>
                <a:ea typeface="黑体" panose="02010609060101010101" pitchFamily="49" charset="-122"/>
              </a:rPr>
              <a:t>指定字符串的偏移地址</a:t>
            </a:r>
          </a:p>
          <a:p>
            <a:pPr>
              <a:lnSpc>
                <a:spcPct val="150000"/>
              </a:lnSpc>
            </a:pPr>
            <a:r>
              <a:rPr lang="zh-CN" altLang="en-US" sz="2200" b="1" dirty="0"/>
              <a:t>       </a:t>
            </a:r>
            <a:r>
              <a:rPr lang="en-US" altLang="zh-CN" sz="2200" b="1" dirty="0">
                <a:solidFill>
                  <a:srgbClr val="0000FF"/>
                </a:solidFill>
              </a:rPr>
              <a:t>call </a:t>
            </a:r>
            <a:r>
              <a:rPr lang="en-US" altLang="zh-CN" sz="2200" b="1" dirty="0" err="1">
                <a:solidFill>
                  <a:srgbClr val="0000FF"/>
                </a:solidFill>
              </a:rPr>
              <a:t>dispmsg</a:t>
            </a:r>
            <a:r>
              <a:rPr lang="en-US" altLang="zh-CN" sz="2200" b="1" dirty="0">
                <a:solidFill>
                  <a:srgbClr val="0000FF"/>
                </a:solidFill>
              </a:rPr>
              <a:t>      </a:t>
            </a:r>
            <a:r>
              <a:rPr lang="en-US" altLang="zh-CN" sz="2200" b="1" dirty="0">
                <a:solidFill>
                  <a:schemeClr val="tx1"/>
                </a:solidFill>
                <a:ea typeface="黑体" panose="02010609060101010101" pitchFamily="49" charset="-122"/>
              </a:rPr>
              <a:t>;</a:t>
            </a:r>
            <a:r>
              <a:rPr lang="zh-CN" altLang="en-US" sz="2200" b="1" dirty="0">
                <a:solidFill>
                  <a:schemeClr val="tx1"/>
                </a:solidFill>
                <a:ea typeface="黑体" panose="02010609060101010101" pitchFamily="49" charset="-122"/>
              </a:rPr>
              <a:t>调用教材</a:t>
            </a:r>
            <a:r>
              <a:rPr lang="en-US" altLang="zh-CN" sz="2200" b="1" dirty="0">
                <a:solidFill>
                  <a:srgbClr val="0000FF"/>
                </a:solidFill>
                <a:ea typeface="黑体" panose="02010609060101010101" pitchFamily="49" charset="-122"/>
              </a:rPr>
              <a:t>IO32.INC</a:t>
            </a:r>
            <a:r>
              <a:rPr lang="zh-CN" altLang="en-US" sz="2200" b="1" dirty="0">
                <a:solidFill>
                  <a:schemeClr val="tx1"/>
                </a:solidFill>
                <a:ea typeface="黑体" panose="02010609060101010101" pitchFamily="49" charset="-122"/>
              </a:rPr>
              <a:t>的</a:t>
            </a:r>
            <a:r>
              <a:rPr lang="en-US" altLang="zh-CN" sz="2200" b="1" dirty="0">
                <a:solidFill>
                  <a:schemeClr val="tx1"/>
                </a:solidFill>
                <a:ea typeface="黑体" panose="02010609060101010101" pitchFamily="49" charset="-122"/>
              </a:rPr>
              <a:t>I/O</a:t>
            </a:r>
            <a:r>
              <a:rPr lang="zh-CN" altLang="en-US" sz="2200" b="1" dirty="0">
                <a:solidFill>
                  <a:schemeClr val="tx1"/>
                </a:solidFill>
                <a:ea typeface="黑体" panose="02010609060101010101" pitchFamily="49" charset="-122"/>
              </a:rPr>
              <a:t>子程序显示信息</a:t>
            </a:r>
          </a:p>
          <a:p>
            <a:pPr>
              <a:lnSpc>
                <a:spcPct val="150000"/>
              </a:lnSpc>
            </a:pPr>
            <a:r>
              <a:rPr lang="zh-CN" altLang="en-US" sz="2200" b="1" dirty="0">
                <a:solidFill>
                  <a:srgbClr val="0000FF"/>
                </a:solidFill>
              </a:rPr>
              <a:t>       </a:t>
            </a:r>
            <a:r>
              <a:rPr lang="en-US" altLang="zh-CN" sz="2200" b="1" dirty="0">
                <a:solidFill>
                  <a:srgbClr val="0000FF"/>
                </a:solidFill>
              </a:rPr>
              <a:t>exit 0</a:t>
            </a:r>
          </a:p>
          <a:p>
            <a:pPr>
              <a:lnSpc>
                <a:spcPct val="150000"/>
              </a:lnSpc>
            </a:pPr>
            <a:r>
              <a:rPr lang="en-US" altLang="zh-CN" sz="2200" b="1" dirty="0"/>
              <a:t>end start</a:t>
            </a:r>
          </a:p>
        </p:txBody>
      </p:sp>
      <p:sp>
        <p:nvSpPr>
          <p:cNvPr id="10" name="矩形 9"/>
          <p:cNvSpPr/>
          <p:nvPr/>
        </p:nvSpPr>
        <p:spPr>
          <a:xfrm>
            <a:off x="539552" y="849272"/>
            <a:ext cx="8284528" cy="493148"/>
          </a:xfrm>
          <a:prstGeom prst="rect">
            <a:avLst/>
          </a:prstGeom>
        </p:spPr>
        <p:txBody>
          <a:bodyPr wrap="square">
            <a:spAutoFit/>
          </a:bodyPr>
          <a:lstStyle/>
          <a:p>
            <a:pPr marL="0" lvl="1">
              <a:lnSpc>
                <a:spcPct val="120000"/>
              </a:lnSpc>
              <a:spcBef>
                <a:spcPts val="0"/>
              </a:spcBef>
              <a:spcAft>
                <a:spcPts val="0"/>
              </a:spcAft>
              <a:buClr>
                <a:srgbClr val="0000FF"/>
              </a:buClr>
              <a:buSzPct val="85000"/>
              <a:defRPr/>
            </a:pPr>
            <a:r>
              <a:rPr lang="zh-CN" altLang="en-US" sz="2400" kern="0" dirty="0">
                <a:solidFill>
                  <a:srgbClr val="000000"/>
                </a:solidFill>
                <a:latin typeface="黑体" panose="02010609060101010101" pitchFamily="49" charset="-122"/>
              </a:rPr>
              <a:t>例</a:t>
            </a:r>
            <a:r>
              <a:rPr lang="en-US" altLang="zh-CN" sz="2400" kern="0" dirty="0">
                <a:solidFill>
                  <a:srgbClr val="000000"/>
                </a:solidFill>
                <a:latin typeface="黑体" panose="02010609060101010101" pitchFamily="49" charset="-122"/>
              </a:rPr>
              <a:t>2-1</a:t>
            </a:r>
            <a:r>
              <a:rPr lang="zh-CN" altLang="en-US" sz="2400" dirty="0">
                <a:solidFill>
                  <a:schemeClr val="bg2"/>
                </a:solidFill>
              </a:rPr>
              <a:t>：利用</a:t>
            </a:r>
            <a:r>
              <a:rPr lang="zh-CN" altLang="en-US" sz="2400" dirty="0">
                <a:solidFill>
                  <a:srgbClr val="FF0000"/>
                </a:solidFill>
              </a:rPr>
              <a:t>教材</a:t>
            </a:r>
            <a:r>
              <a:rPr lang="en-US" altLang="zh-CN" sz="2400" dirty="0">
                <a:solidFill>
                  <a:schemeClr val="bg2"/>
                </a:solidFill>
              </a:rPr>
              <a:t>io32.inc</a:t>
            </a:r>
            <a:r>
              <a:rPr lang="zh-CN" altLang="en-US" sz="2400" dirty="0">
                <a:solidFill>
                  <a:schemeClr val="bg2"/>
                </a:solidFill>
              </a:rPr>
              <a:t>的子程序库实现</a:t>
            </a:r>
            <a:endParaRPr lang="en-US" altLang="zh-CN" sz="2400" dirty="0">
              <a:solidFill>
                <a:schemeClr val="tx1"/>
              </a:solidFill>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本课程上机实验建议采用的模板</a:t>
            </a: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 name="Rectangle 7"/>
          <p:cNvSpPr>
            <a:spLocks noChangeArrowheads="1"/>
          </p:cNvSpPr>
          <p:nvPr/>
        </p:nvSpPr>
        <p:spPr bwMode="auto">
          <a:xfrm>
            <a:off x="665312" y="885462"/>
            <a:ext cx="8083152" cy="5351850"/>
          </a:xfrm>
          <a:prstGeom prst="rect">
            <a:avLst/>
          </a:prstGeom>
          <a:ln>
            <a:solidFill>
              <a:srgbClr val="00B050"/>
            </a:solidFill>
          </a:ln>
          <a:extLst>
            <a:ext uri="{909E8E84-426E-40DD-AFC4-6F175D3DCCD1}">
              <a14:hiddenFill xmlns:a14="http://schemas.microsoft.com/office/drawing/2010/main">
                <a:solidFill>
                  <a:srgbClr val="0000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wrap="square">
            <a:spAutoFit/>
          </a:bodyPr>
          <a:lstStyle/>
          <a:p>
            <a:pPr>
              <a:lnSpc>
                <a:spcPct val="120000"/>
              </a:lnSpc>
              <a:spcBef>
                <a:spcPts val="300"/>
              </a:spcBef>
            </a:pPr>
            <a:r>
              <a:rPr lang="en-US" altLang="zh-CN" sz="2200" b="1" dirty="0">
                <a:solidFill>
                  <a:srgbClr val="0000FF"/>
                </a:solidFill>
              </a:rPr>
              <a:t>.686</a:t>
            </a:r>
          </a:p>
          <a:p>
            <a:pPr>
              <a:lnSpc>
                <a:spcPct val="120000"/>
              </a:lnSpc>
              <a:spcBef>
                <a:spcPts val="300"/>
              </a:spcBef>
            </a:pPr>
            <a:r>
              <a:rPr lang="en-US" altLang="zh-CN" sz="2200" b="1" dirty="0">
                <a:solidFill>
                  <a:srgbClr val="0000FF"/>
                </a:solidFill>
              </a:rPr>
              <a:t>.model </a:t>
            </a:r>
            <a:r>
              <a:rPr lang="en-US" altLang="zh-CN" sz="2200" b="1" dirty="0" err="1">
                <a:solidFill>
                  <a:srgbClr val="0000FF"/>
                </a:solidFill>
              </a:rPr>
              <a:t>flat,stdcall</a:t>
            </a:r>
            <a:endParaRPr lang="en-US" altLang="zh-CN" sz="2200" b="1" dirty="0">
              <a:solidFill>
                <a:srgbClr val="0000FF"/>
              </a:solidFill>
            </a:endParaRPr>
          </a:p>
          <a:p>
            <a:pPr>
              <a:lnSpc>
                <a:spcPct val="120000"/>
              </a:lnSpc>
              <a:spcBef>
                <a:spcPts val="300"/>
              </a:spcBef>
            </a:pPr>
            <a:r>
              <a:rPr lang="en-US" altLang="zh-CN" sz="2200" b="1" dirty="0" err="1">
                <a:solidFill>
                  <a:srgbClr val="0000FF"/>
                </a:solidFill>
              </a:rPr>
              <a:t>includelib</a:t>
            </a:r>
            <a:r>
              <a:rPr lang="en-US" altLang="zh-CN" sz="2200" b="1" dirty="0">
                <a:solidFill>
                  <a:srgbClr val="0000FF"/>
                </a:solidFill>
              </a:rPr>
              <a:t> kernel32.lib             </a:t>
            </a:r>
            <a:r>
              <a:rPr lang="en-US" altLang="zh-CN" sz="2200" dirty="0">
                <a:solidFill>
                  <a:srgbClr val="0000FF"/>
                </a:solidFill>
                <a:latin typeface="黑体" panose="02010609060101010101" pitchFamily="49" charset="-122"/>
                <a:ea typeface="黑体" panose="02010609060101010101" pitchFamily="49" charset="-122"/>
              </a:rPr>
              <a:t>; </a:t>
            </a:r>
            <a:r>
              <a:rPr lang="zh-CN" altLang="en-US" sz="2200" dirty="0">
                <a:solidFill>
                  <a:srgbClr val="0000FF"/>
                </a:solidFill>
                <a:latin typeface="黑体" panose="02010609060101010101" pitchFamily="49" charset="-122"/>
                <a:ea typeface="黑体" panose="02010609060101010101" pitchFamily="49" charset="-122"/>
              </a:rPr>
              <a:t>为调用</a:t>
            </a:r>
            <a:r>
              <a:rPr lang="en-US" altLang="zh-CN" sz="2200" dirty="0">
                <a:solidFill>
                  <a:srgbClr val="0000FF"/>
                </a:solidFill>
                <a:latin typeface="黑体" panose="02010609060101010101" pitchFamily="49" charset="-122"/>
                <a:ea typeface="黑体" panose="02010609060101010101" pitchFamily="49" charset="-122"/>
              </a:rPr>
              <a:t>C</a:t>
            </a:r>
            <a:r>
              <a:rPr lang="zh-CN" altLang="en-US" sz="2200" dirty="0">
                <a:solidFill>
                  <a:srgbClr val="0000FF"/>
                </a:solidFill>
                <a:latin typeface="黑体" panose="02010609060101010101" pitchFamily="49" charset="-122"/>
                <a:ea typeface="黑体" panose="02010609060101010101" pitchFamily="49" charset="-122"/>
              </a:rPr>
              <a:t>语言的库函数</a:t>
            </a:r>
            <a:endParaRPr lang="en-US" altLang="zh-CN" sz="2200" b="1" dirty="0">
              <a:solidFill>
                <a:srgbClr val="0000FF"/>
              </a:solidFill>
            </a:endParaRPr>
          </a:p>
          <a:p>
            <a:pPr>
              <a:lnSpc>
                <a:spcPct val="120000"/>
              </a:lnSpc>
              <a:spcBef>
                <a:spcPts val="300"/>
              </a:spcBef>
            </a:pPr>
            <a:r>
              <a:rPr lang="en-US" altLang="zh-CN" sz="2200" b="1" dirty="0" err="1">
                <a:solidFill>
                  <a:srgbClr val="0000FF"/>
                </a:solidFill>
              </a:rPr>
              <a:t>includelib</a:t>
            </a:r>
            <a:r>
              <a:rPr lang="en-US" altLang="zh-CN" sz="2200" b="1" dirty="0">
                <a:solidFill>
                  <a:srgbClr val="0000FF"/>
                </a:solidFill>
              </a:rPr>
              <a:t> ucrt.lib</a:t>
            </a:r>
          </a:p>
          <a:p>
            <a:pPr>
              <a:lnSpc>
                <a:spcPct val="120000"/>
              </a:lnSpc>
              <a:spcBef>
                <a:spcPts val="300"/>
              </a:spcBef>
            </a:pPr>
            <a:r>
              <a:rPr lang="en-US" altLang="zh-CN" sz="2200" b="1" dirty="0" err="1">
                <a:solidFill>
                  <a:srgbClr val="0000FF"/>
                </a:solidFill>
              </a:rPr>
              <a:t>includelib</a:t>
            </a:r>
            <a:r>
              <a:rPr lang="en-US" altLang="zh-CN" sz="2200" b="1" dirty="0">
                <a:solidFill>
                  <a:srgbClr val="0000FF"/>
                </a:solidFill>
              </a:rPr>
              <a:t> legacy_stdio_definitions.lib</a:t>
            </a:r>
            <a:endParaRPr lang="zh-CN" altLang="en-US" sz="2200" dirty="0">
              <a:solidFill>
                <a:srgbClr val="0000FF"/>
              </a:solidFill>
              <a:latin typeface="黑体" panose="02010609060101010101" pitchFamily="49" charset="-122"/>
              <a:ea typeface="黑体" panose="02010609060101010101" pitchFamily="49" charset="-122"/>
            </a:endParaRPr>
          </a:p>
          <a:p>
            <a:pPr>
              <a:lnSpc>
                <a:spcPct val="120000"/>
              </a:lnSpc>
              <a:spcBef>
                <a:spcPts val="300"/>
              </a:spcBef>
            </a:pPr>
            <a:r>
              <a:rPr lang="en-US" altLang="zh-CN" sz="2200" b="1" dirty="0">
                <a:solidFill>
                  <a:schemeClr val="tx1"/>
                </a:solidFill>
                <a:latin typeface="+mj-lt"/>
                <a:ea typeface="黑体" panose="02010609060101010101" pitchFamily="49" charset="-122"/>
              </a:rPr>
              <a:t>.data</a:t>
            </a:r>
            <a:r>
              <a:rPr lang="en-US" altLang="zh-CN" sz="2200" dirty="0">
                <a:solidFill>
                  <a:schemeClr val="tx1"/>
                </a:solidFill>
                <a:latin typeface="黑体" panose="02010609060101010101" pitchFamily="49" charset="-122"/>
                <a:ea typeface="黑体" panose="02010609060101010101" pitchFamily="49" charset="-122"/>
              </a:rPr>
              <a:t>	                   ; </a:t>
            </a:r>
            <a:r>
              <a:rPr lang="zh-CN" altLang="en-US" sz="2200" dirty="0">
                <a:solidFill>
                  <a:schemeClr val="tx1"/>
                </a:solidFill>
                <a:latin typeface="黑体" panose="02010609060101010101" pitchFamily="49" charset="-122"/>
                <a:ea typeface="黑体" panose="02010609060101010101" pitchFamily="49" charset="-122"/>
              </a:rPr>
              <a:t>定义数据段</a:t>
            </a:r>
          </a:p>
          <a:p>
            <a:pPr>
              <a:lnSpc>
                <a:spcPct val="120000"/>
              </a:lnSpc>
              <a:spcBef>
                <a:spcPts val="300"/>
              </a:spcBef>
            </a:pPr>
            <a:r>
              <a:rPr lang="zh-CN" altLang="en-US" sz="2200" dirty="0">
                <a:solidFill>
                  <a:schemeClr val="tx1"/>
                </a:solidFill>
                <a:latin typeface="黑体" panose="02010609060101010101" pitchFamily="49" charset="-122"/>
                <a:ea typeface="黑体" panose="02010609060101010101" pitchFamily="49" charset="-122"/>
              </a:rPr>
              <a:t>	</a:t>
            </a:r>
            <a:r>
              <a:rPr lang="en-US" altLang="zh-CN" sz="2200" b="1" dirty="0">
                <a:solidFill>
                  <a:schemeClr val="tx1"/>
                </a:solidFill>
                <a:latin typeface="+mj-lt"/>
                <a:ea typeface="黑体" panose="02010609060101010101" pitchFamily="49" charset="-122"/>
              </a:rPr>
              <a:t>……</a:t>
            </a:r>
            <a:r>
              <a:rPr lang="en-US" altLang="zh-CN" sz="2200" dirty="0">
                <a:solidFill>
                  <a:schemeClr val="tx1"/>
                </a:solidFill>
                <a:latin typeface="黑体" panose="02010609060101010101" pitchFamily="49" charset="-122"/>
                <a:ea typeface="黑体" panose="02010609060101010101" pitchFamily="49" charset="-122"/>
              </a:rPr>
              <a:t>	</a:t>
            </a:r>
            <a:r>
              <a:rPr lang="en-US" altLang="zh-CN" sz="2200" dirty="0">
                <a:solidFill>
                  <a:srgbClr val="0000FF"/>
                </a:solidFill>
                <a:latin typeface="黑体" panose="02010609060101010101" pitchFamily="49" charset="-122"/>
                <a:ea typeface="黑体" panose="02010609060101010101" pitchFamily="49" charset="-122"/>
              </a:rPr>
              <a:t>           </a:t>
            </a:r>
            <a:r>
              <a:rPr lang="en-US" altLang="zh-CN" sz="2000" dirty="0">
                <a:solidFill>
                  <a:srgbClr val="0000FF"/>
                </a:solidFill>
                <a:latin typeface="黑体" panose="02010609060101010101" pitchFamily="49" charset="-122"/>
                <a:ea typeface="黑体" panose="02010609060101010101" pitchFamily="49" charset="-122"/>
              </a:rPr>
              <a:t> </a:t>
            </a:r>
            <a:r>
              <a:rPr lang="en-US" altLang="zh-CN" sz="1200" dirty="0">
                <a:solidFill>
                  <a:srgbClr val="0000FF"/>
                </a:solidFill>
                <a:latin typeface="黑体" panose="02010609060101010101" pitchFamily="49" charset="-122"/>
                <a:ea typeface="黑体" panose="02010609060101010101" pitchFamily="49" charset="-122"/>
              </a:rPr>
              <a:t> </a:t>
            </a:r>
            <a:r>
              <a:rPr lang="en-US" altLang="zh-CN" sz="2200" dirty="0">
                <a:solidFill>
                  <a:srgbClr val="006600"/>
                </a:solidFill>
                <a:latin typeface="黑体" panose="02010609060101010101" pitchFamily="49" charset="-122"/>
                <a:ea typeface="黑体" panose="02010609060101010101" pitchFamily="49" charset="-122"/>
              </a:rPr>
              <a:t>; </a:t>
            </a:r>
            <a:r>
              <a:rPr lang="zh-CN" altLang="en-US" sz="2200" dirty="0">
                <a:solidFill>
                  <a:srgbClr val="006600"/>
                </a:solidFill>
                <a:latin typeface="黑体" panose="02010609060101010101" pitchFamily="49" charset="-122"/>
                <a:ea typeface="黑体" panose="02010609060101010101" pitchFamily="49" charset="-122"/>
              </a:rPr>
              <a:t>数据定义（数据待填）</a:t>
            </a:r>
          </a:p>
          <a:p>
            <a:pPr>
              <a:lnSpc>
                <a:spcPct val="120000"/>
              </a:lnSpc>
              <a:spcBef>
                <a:spcPts val="300"/>
              </a:spcBef>
            </a:pPr>
            <a:r>
              <a:rPr lang="en-US" altLang="zh-CN" sz="2200" b="1" dirty="0">
                <a:solidFill>
                  <a:schemeClr val="tx1"/>
                </a:solidFill>
                <a:latin typeface="+mj-lt"/>
                <a:ea typeface="黑体" panose="02010609060101010101" pitchFamily="49" charset="-122"/>
              </a:rPr>
              <a:t>.code</a:t>
            </a:r>
            <a:r>
              <a:rPr lang="en-US" altLang="zh-CN" sz="2200" dirty="0">
                <a:solidFill>
                  <a:srgbClr val="0000FF"/>
                </a:solidFill>
                <a:latin typeface="黑体" panose="02010609060101010101" pitchFamily="49" charset="-122"/>
                <a:ea typeface="黑体" panose="02010609060101010101" pitchFamily="49" charset="-122"/>
              </a:rPr>
              <a:t>	                   </a:t>
            </a:r>
            <a:r>
              <a:rPr lang="en-US" altLang="zh-CN" sz="400" dirty="0">
                <a:solidFill>
                  <a:srgbClr val="0000FF"/>
                </a:solidFill>
                <a:latin typeface="黑体" panose="02010609060101010101" pitchFamily="49" charset="-122"/>
                <a:ea typeface="黑体" panose="02010609060101010101" pitchFamily="49" charset="-122"/>
              </a:rPr>
              <a:t> </a:t>
            </a:r>
            <a:r>
              <a:rPr lang="en-US" altLang="zh-CN" sz="2200" dirty="0">
                <a:solidFill>
                  <a:srgbClr val="006600"/>
                </a:solidFill>
                <a:latin typeface="黑体" panose="02010609060101010101" pitchFamily="49" charset="-122"/>
                <a:ea typeface="黑体" panose="02010609060101010101" pitchFamily="49" charset="-122"/>
              </a:rPr>
              <a:t>; </a:t>
            </a:r>
            <a:r>
              <a:rPr lang="zh-CN" altLang="en-US" sz="2200" dirty="0">
                <a:solidFill>
                  <a:srgbClr val="006600"/>
                </a:solidFill>
                <a:latin typeface="黑体" panose="02010609060101010101" pitchFamily="49" charset="-122"/>
                <a:ea typeface="黑体" panose="02010609060101010101" pitchFamily="49" charset="-122"/>
              </a:rPr>
              <a:t>定义代码段</a:t>
            </a:r>
          </a:p>
          <a:p>
            <a:pPr>
              <a:lnSpc>
                <a:spcPct val="120000"/>
              </a:lnSpc>
              <a:spcBef>
                <a:spcPts val="300"/>
              </a:spcBef>
            </a:pPr>
            <a:r>
              <a:rPr lang="en-US" altLang="zh-CN" sz="2200" b="1" dirty="0">
                <a:solidFill>
                  <a:srgbClr val="FF0000"/>
                </a:solidFill>
                <a:latin typeface="+mj-lt"/>
                <a:ea typeface="黑体" panose="02010609060101010101" pitchFamily="49" charset="-122"/>
              </a:rPr>
              <a:t>main proc:</a:t>
            </a:r>
            <a:r>
              <a:rPr lang="en-US" altLang="zh-CN" sz="2200" dirty="0">
                <a:solidFill>
                  <a:srgbClr val="006600"/>
                </a:solidFill>
                <a:latin typeface="黑体" panose="02010609060101010101" pitchFamily="49" charset="-122"/>
                <a:ea typeface="黑体" panose="02010609060101010101" pitchFamily="49" charset="-122"/>
              </a:rPr>
              <a:t>		      ; </a:t>
            </a:r>
            <a:r>
              <a:rPr lang="zh-CN" altLang="en-US" sz="2200" dirty="0">
                <a:solidFill>
                  <a:srgbClr val="006600"/>
                </a:solidFill>
                <a:latin typeface="黑体" panose="02010609060101010101" pitchFamily="49" charset="-122"/>
                <a:ea typeface="黑体" panose="02010609060101010101" pitchFamily="49" charset="-122"/>
              </a:rPr>
              <a:t>程序执行起始位置</a:t>
            </a:r>
          </a:p>
          <a:p>
            <a:pPr>
              <a:lnSpc>
                <a:spcPct val="120000"/>
              </a:lnSpc>
              <a:spcBef>
                <a:spcPts val="300"/>
              </a:spcBef>
            </a:pPr>
            <a:r>
              <a:rPr lang="zh-CN" altLang="en-US" sz="2200" dirty="0">
                <a:solidFill>
                  <a:srgbClr val="006600"/>
                </a:solidFill>
                <a:latin typeface="黑体" panose="02010609060101010101" pitchFamily="49" charset="-122"/>
                <a:ea typeface="黑体" panose="02010609060101010101" pitchFamily="49" charset="-122"/>
              </a:rPr>
              <a:t>	</a:t>
            </a:r>
            <a:r>
              <a:rPr lang="en-US" altLang="zh-CN" sz="2200" b="1" dirty="0">
                <a:solidFill>
                  <a:srgbClr val="FF0000"/>
                </a:solidFill>
                <a:latin typeface="+mj-lt"/>
                <a:ea typeface="黑体" panose="02010609060101010101" pitchFamily="49" charset="-122"/>
              </a:rPr>
              <a:t>……</a:t>
            </a:r>
            <a:r>
              <a:rPr lang="en-US" altLang="zh-CN" sz="2200" dirty="0">
                <a:solidFill>
                  <a:srgbClr val="FF0000"/>
                </a:solidFill>
                <a:latin typeface="黑体" panose="02010609060101010101" pitchFamily="49" charset="-122"/>
                <a:ea typeface="黑体" panose="02010609060101010101" pitchFamily="49" charset="-122"/>
              </a:rPr>
              <a:t>	 </a:t>
            </a:r>
            <a:r>
              <a:rPr lang="en-US" altLang="zh-CN" sz="2200" dirty="0">
                <a:solidFill>
                  <a:srgbClr val="006600"/>
                </a:solidFill>
                <a:latin typeface="黑体" panose="02010609060101010101" pitchFamily="49" charset="-122"/>
                <a:ea typeface="黑体" panose="02010609060101010101" pitchFamily="49" charset="-122"/>
              </a:rPr>
              <a:t>           </a:t>
            </a:r>
            <a:r>
              <a:rPr lang="en-US" altLang="zh-CN" sz="1400" dirty="0">
                <a:solidFill>
                  <a:srgbClr val="006600"/>
                </a:solidFill>
                <a:latin typeface="黑体" panose="02010609060101010101" pitchFamily="49" charset="-122"/>
                <a:ea typeface="黑体" panose="02010609060101010101" pitchFamily="49" charset="-122"/>
              </a:rPr>
              <a:t> </a:t>
            </a:r>
            <a:r>
              <a:rPr lang="en-US" altLang="zh-CN" sz="2200" dirty="0">
                <a:solidFill>
                  <a:srgbClr val="006600"/>
                </a:solidFill>
                <a:latin typeface="黑体" panose="02010609060101010101" pitchFamily="49" charset="-122"/>
                <a:ea typeface="黑体" panose="02010609060101010101" pitchFamily="49" charset="-122"/>
              </a:rPr>
              <a:t>; </a:t>
            </a:r>
            <a:r>
              <a:rPr lang="zh-CN" altLang="en-US" sz="2200" dirty="0">
                <a:solidFill>
                  <a:srgbClr val="006600"/>
                </a:solidFill>
                <a:latin typeface="黑体" panose="02010609060101010101" pitchFamily="49" charset="-122"/>
                <a:ea typeface="黑体" panose="02010609060101010101" pitchFamily="49" charset="-122"/>
              </a:rPr>
              <a:t>主程序（指令待填）	</a:t>
            </a:r>
            <a:endParaRPr lang="en-US" altLang="zh-CN" sz="2200" dirty="0">
              <a:solidFill>
                <a:srgbClr val="006600"/>
              </a:solidFill>
              <a:latin typeface="黑体" panose="02010609060101010101" pitchFamily="49" charset="-122"/>
              <a:ea typeface="黑体" panose="02010609060101010101" pitchFamily="49" charset="-122"/>
            </a:endParaRPr>
          </a:p>
          <a:p>
            <a:pPr>
              <a:lnSpc>
                <a:spcPct val="120000"/>
              </a:lnSpc>
              <a:spcBef>
                <a:spcPts val="300"/>
              </a:spcBef>
            </a:pPr>
            <a:r>
              <a:rPr lang="en-US" altLang="zh-CN" sz="2200" b="1" dirty="0">
                <a:solidFill>
                  <a:srgbClr val="FF0000"/>
                </a:solidFill>
                <a:latin typeface="+mj-lt"/>
                <a:ea typeface="黑体" panose="02010609060101010101" pitchFamily="49" charset="-122"/>
              </a:rPr>
              <a:t>main </a:t>
            </a:r>
            <a:r>
              <a:rPr lang="en-US" altLang="zh-CN" sz="2200" b="1" dirty="0" err="1">
                <a:solidFill>
                  <a:srgbClr val="FF0000"/>
                </a:solidFill>
                <a:latin typeface="+mj-lt"/>
                <a:ea typeface="黑体" panose="02010609060101010101" pitchFamily="49" charset="-122"/>
              </a:rPr>
              <a:t>endp</a:t>
            </a:r>
            <a:endParaRPr lang="zh-CN" altLang="en-US" sz="2200" b="1" dirty="0">
              <a:solidFill>
                <a:srgbClr val="FF0000"/>
              </a:solidFill>
              <a:latin typeface="+mj-lt"/>
              <a:ea typeface="黑体" panose="02010609060101010101" pitchFamily="49" charset="-122"/>
            </a:endParaRPr>
          </a:p>
          <a:p>
            <a:pPr>
              <a:lnSpc>
                <a:spcPct val="120000"/>
              </a:lnSpc>
              <a:spcBef>
                <a:spcPts val="300"/>
              </a:spcBef>
            </a:pPr>
            <a:r>
              <a:rPr lang="en-US" altLang="zh-CN" sz="2200" b="1" dirty="0">
                <a:solidFill>
                  <a:srgbClr val="FF0000"/>
                </a:solidFill>
                <a:latin typeface="+mj-lt"/>
                <a:ea typeface="黑体" panose="02010609060101010101" pitchFamily="49" charset="-122"/>
              </a:rPr>
              <a:t>end main</a:t>
            </a:r>
            <a:r>
              <a:rPr lang="en-US" altLang="zh-CN" sz="2200" dirty="0">
                <a:solidFill>
                  <a:srgbClr val="0000FF"/>
                </a:solidFill>
                <a:latin typeface="黑体" panose="02010609060101010101" pitchFamily="49" charset="-122"/>
                <a:ea typeface="黑体" panose="02010609060101010101" pitchFamily="49" charset="-122"/>
              </a:rPr>
              <a:t>	            </a:t>
            </a:r>
            <a:r>
              <a:rPr lang="en-US" altLang="zh-CN" sz="1800" dirty="0">
                <a:solidFill>
                  <a:srgbClr val="0000FF"/>
                </a:solidFill>
                <a:latin typeface="黑体" panose="02010609060101010101" pitchFamily="49" charset="-122"/>
                <a:ea typeface="黑体" panose="02010609060101010101" pitchFamily="49" charset="-122"/>
              </a:rPr>
              <a:t> </a:t>
            </a:r>
            <a:r>
              <a:rPr lang="en-US" altLang="zh-CN" sz="2200" dirty="0">
                <a:solidFill>
                  <a:srgbClr val="006600"/>
                </a:solidFill>
                <a:latin typeface="黑体" panose="02010609060101010101" pitchFamily="49" charset="-122"/>
                <a:ea typeface="黑体" panose="02010609060101010101" pitchFamily="49" charset="-122"/>
              </a:rPr>
              <a:t>; </a:t>
            </a:r>
            <a:r>
              <a:rPr lang="zh-CN" altLang="en-US" sz="2200" dirty="0">
                <a:solidFill>
                  <a:srgbClr val="006600"/>
                </a:solidFill>
                <a:latin typeface="黑体" panose="02010609060101010101" pitchFamily="49" charset="-122"/>
                <a:ea typeface="黑体" panose="02010609060101010101" pitchFamily="49" charset="-122"/>
              </a:rPr>
              <a:t>汇编结束</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信息显示程序</a:t>
            </a:r>
            <a:r>
              <a:rPr lang="en-US" altLang="zh-CN" kern="0" dirty="0">
                <a:solidFill>
                  <a:srgbClr val="000000"/>
                </a:solidFill>
                <a:latin typeface="黑体" panose="02010609060101010101" pitchFamily="49" charset="-122"/>
                <a:cs typeface="+mj-cs"/>
              </a:rPr>
              <a:t>-</a:t>
            </a:r>
            <a:r>
              <a:rPr lang="zh-CN" altLang="en-US" kern="0" dirty="0">
                <a:solidFill>
                  <a:srgbClr val="000000"/>
                </a:solidFill>
                <a:latin typeface="黑体" panose="02010609060101010101" pitchFamily="49" charset="-122"/>
                <a:cs typeface="+mj-cs"/>
              </a:rPr>
              <a:t>本课程上机实验</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矩形 1"/>
          <p:cNvSpPr/>
          <p:nvPr/>
        </p:nvSpPr>
        <p:spPr>
          <a:xfrm>
            <a:off x="648609" y="1360909"/>
            <a:ext cx="7846782" cy="5355312"/>
          </a:xfrm>
          <a:prstGeom prst="rect">
            <a:avLst/>
          </a:prstGeom>
          <a:noFill/>
          <a:ln w="25400">
            <a:solidFill>
              <a:srgbClr val="00B050"/>
            </a:solidFill>
          </a:ln>
        </p:spPr>
        <p:txBody>
          <a:bodyPr wrap="square">
            <a:spAutoFit/>
          </a:bodyPr>
          <a:lstStyle/>
          <a:p>
            <a:pPr>
              <a:spcBef>
                <a:spcPts val="0"/>
              </a:spcBef>
            </a:pPr>
            <a:r>
              <a:rPr lang="en-US" altLang="zh-CN" sz="1800" b="1" dirty="0">
                <a:solidFill>
                  <a:schemeClr val="tx1"/>
                </a:solidFill>
              </a:rPr>
              <a:t>.686</a:t>
            </a:r>
          </a:p>
          <a:p>
            <a:pPr>
              <a:spcBef>
                <a:spcPts val="0"/>
              </a:spcBef>
            </a:pPr>
            <a:r>
              <a:rPr lang="en-US" altLang="zh-CN" sz="1800" b="1" dirty="0">
                <a:solidFill>
                  <a:schemeClr val="tx1"/>
                </a:solidFill>
              </a:rPr>
              <a:t>.model </a:t>
            </a:r>
            <a:r>
              <a:rPr lang="en-US" altLang="zh-CN" sz="1800" b="1" dirty="0" err="1">
                <a:solidFill>
                  <a:schemeClr val="tx1"/>
                </a:solidFill>
              </a:rPr>
              <a:t>flat,stdcall</a:t>
            </a:r>
            <a:endParaRPr lang="en-US" altLang="zh-CN" sz="1800" b="1" dirty="0">
              <a:solidFill>
                <a:schemeClr val="tx1"/>
              </a:solidFill>
            </a:endParaRPr>
          </a:p>
          <a:p>
            <a:pPr>
              <a:spcBef>
                <a:spcPts val="0"/>
              </a:spcBef>
            </a:pPr>
            <a:r>
              <a:rPr lang="en-US" altLang="zh-CN" sz="1800" b="1" dirty="0" err="1">
                <a:solidFill>
                  <a:srgbClr val="0000FF"/>
                </a:solidFill>
              </a:rPr>
              <a:t>includelib</a:t>
            </a:r>
            <a:r>
              <a:rPr lang="en-US" altLang="zh-CN" sz="1800" b="1" dirty="0">
                <a:solidFill>
                  <a:srgbClr val="0000FF"/>
                </a:solidFill>
              </a:rPr>
              <a:t> kernel32.lib                      </a:t>
            </a:r>
            <a:r>
              <a:rPr lang="en-US" altLang="zh-CN" sz="1800" b="1" dirty="0">
                <a:solidFill>
                  <a:srgbClr val="006600"/>
                </a:solidFill>
                <a:latin typeface="黑体" panose="02010609060101010101" pitchFamily="49" charset="-122"/>
                <a:ea typeface="黑体" panose="02010609060101010101" pitchFamily="49" charset="-122"/>
              </a:rPr>
              <a:t>; </a:t>
            </a:r>
            <a:r>
              <a:rPr lang="zh-CN" altLang="en-US" sz="1800" b="1" dirty="0">
                <a:solidFill>
                  <a:srgbClr val="006600"/>
                </a:solidFill>
                <a:latin typeface="黑体" panose="02010609060101010101" pitchFamily="49" charset="-122"/>
                <a:ea typeface="黑体" panose="02010609060101010101" pitchFamily="49" charset="-122"/>
              </a:rPr>
              <a:t>为调用</a:t>
            </a:r>
            <a:r>
              <a:rPr lang="en-US" altLang="zh-CN" sz="1800" b="1" dirty="0">
                <a:solidFill>
                  <a:srgbClr val="006600"/>
                </a:solidFill>
                <a:latin typeface="黑体" panose="02010609060101010101" pitchFamily="49" charset="-122"/>
                <a:ea typeface="黑体" panose="02010609060101010101" pitchFamily="49" charset="-122"/>
              </a:rPr>
              <a:t>C</a:t>
            </a:r>
            <a:r>
              <a:rPr lang="zh-CN" altLang="en-US" sz="1800" b="1" dirty="0">
                <a:solidFill>
                  <a:srgbClr val="006600"/>
                </a:solidFill>
                <a:latin typeface="黑体" panose="02010609060101010101" pitchFamily="49" charset="-122"/>
                <a:ea typeface="黑体" panose="02010609060101010101" pitchFamily="49" charset="-122"/>
              </a:rPr>
              <a:t>语言的库函数</a:t>
            </a:r>
            <a:endParaRPr lang="en-US" altLang="zh-CN" sz="1800" b="1" dirty="0">
              <a:solidFill>
                <a:srgbClr val="FF0000"/>
              </a:solidFill>
            </a:endParaRPr>
          </a:p>
          <a:p>
            <a:pPr>
              <a:spcBef>
                <a:spcPts val="0"/>
              </a:spcBef>
            </a:pPr>
            <a:r>
              <a:rPr lang="en-US" altLang="zh-CN" sz="1800" b="1" dirty="0" err="1">
                <a:solidFill>
                  <a:srgbClr val="0000FF"/>
                </a:solidFill>
              </a:rPr>
              <a:t>includelib</a:t>
            </a:r>
            <a:r>
              <a:rPr lang="en-US" altLang="zh-CN" sz="1800" b="1" dirty="0">
                <a:solidFill>
                  <a:srgbClr val="0000FF"/>
                </a:solidFill>
              </a:rPr>
              <a:t> ucrt.lib</a:t>
            </a:r>
          </a:p>
          <a:p>
            <a:pPr>
              <a:spcBef>
                <a:spcPts val="0"/>
              </a:spcBef>
            </a:pPr>
            <a:r>
              <a:rPr lang="en-US" altLang="zh-CN" sz="1800" b="1" dirty="0" err="1">
                <a:solidFill>
                  <a:srgbClr val="0000FF"/>
                </a:solidFill>
              </a:rPr>
              <a:t>includelib</a:t>
            </a:r>
            <a:r>
              <a:rPr lang="en-US" altLang="zh-CN" sz="1800" b="1" dirty="0">
                <a:solidFill>
                  <a:srgbClr val="0000FF"/>
                </a:solidFill>
              </a:rPr>
              <a:t> legacy_stdio_definitions.lib</a:t>
            </a:r>
            <a:endParaRPr lang="zh-CN" altLang="en-US" sz="1800" b="1" dirty="0">
              <a:solidFill>
                <a:srgbClr val="0000FF"/>
              </a:solidFill>
              <a:latin typeface="黑体" panose="02010609060101010101" pitchFamily="49" charset="-122"/>
              <a:ea typeface="黑体" panose="02010609060101010101" pitchFamily="49" charset="-122"/>
            </a:endParaRPr>
          </a:p>
          <a:p>
            <a:pPr>
              <a:spcBef>
                <a:spcPts val="0"/>
              </a:spcBef>
            </a:pPr>
            <a:r>
              <a:rPr lang="en-US" altLang="zh-CN" sz="1800" b="1" dirty="0" err="1">
                <a:solidFill>
                  <a:srgbClr val="FF0000"/>
                </a:solidFill>
              </a:rPr>
              <a:t>ExitProcess</a:t>
            </a:r>
            <a:r>
              <a:rPr lang="en-US" altLang="zh-CN" sz="1800" b="1" dirty="0"/>
              <a:t> </a:t>
            </a:r>
            <a:r>
              <a:rPr lang="en-US" altLang="zh-CN" sz="1800" b="1" dirty="0">
                <a:solidFill>
                  <a:schemeClr val="tx1"/>
                </a:solidFill>
              </a:rPr>
              <a:t>PROTO, </a:t>
            </a:r>
            <a:r>
              <a:rPr lang="en-US" altLang="zh-CN" sz="1800" b="1" dirty="0" err="1">
                <a:solidFill>
                  <a:schemeClr val="tx1"/>
                </a:solidFill>
              </a:rPr>
              <a:t>dwExitCode:DWORD</a:t>
            </a:r>
            <a:r>
              <a:rPr lang="en-US" altLang="zh-CN" sz="1800" b="1" dirty="0"/>
              <a:t>    </a:t>
            </a:r>
            <a:r>
              <a:rPr lang="en-US" altLang="zh-CN" sz="1800" b="1" dirty="0">
                <a:solidFill>
                  <a:srgbClr val="006600"/>
                </a:solidFill>
                <a:latin typeface="黑体" panose="02010609060101010101" pitchFamily="49" charset="-122"/>
              </a:rPr>
              <a:t>; </a:t>
            </a:r>
            <a:r>
              <a:rPr lang="zh-CN" altLang="en-US" sz="1800" b="1" dirty="0">
                <a:solidFill>
                  <a:srgbClr val="006600"/>
                </a:solidFill>
                <a:latin typeface="黑体" panose="02010609060101010101" pitchFamily="49" charset="-122"/>
              </a:rPr>
              <a:t>函数原型声明</a:t>
            </a:r>
            <a:endParaRPr lang="en-US" altLang="zh-CN" sz="1800" b="1" dirty="0">
              <a:solidFill>
                <a:srgbClr val="006600"/>
              </a:solidFill>
              <a:latin typeface="黑体" panose="02010609060101010101" pitchFamily="49" charset="-122"/>
            </a:endParaRPr>
          </a:p>
          <a:p>
            <a:pPr>
              <a:spcBef>
                <a:spcPts val="0"/>
              </a:spcBef>
            </a:pPr>
            <a:r>
              <a:rPr lang="sv-SE" altLang="zh-CN" sz="1800" b="1" dirty="0">
                <a:solidFill>
                  <a:srgbClr val="FF0000"/>
                </a:solidFill>
              </a:rPr>
              <a:t>printf</a:t>
            </a:r>
            <a:r>
              <a:rPr lang="sv-SE" altLang="zh-CN" sz="1800" b="1" dirty="0"/>
              <a:t> </a:t>
            </a:r>
            <a:r>
              <a:rPr lang="sv-SE" altLang="zh-CN" sz="1800" b="1" dirty="0">
                <a:solidFill>
                  <a:schemeClr val="tx1"/>
                </a:solidFill>
              </a:rPr>
              <a:t>proto C :dword,:vararg</a:t>
            </a:r>
            <a:endParaRPr lang="en-US" altLang="zh-CN" sz="1800" b="1" dirty="0">
              <a:solidFill>
                <a:schemeClr val="tx1"/>
              </a:solidFill>
            </a:endParaRPr>
          </a:p>
          <a:p>
            <a:pPr>
              <a:spcBef>
                <a:spcPts val="0"/>
              </a:spcBef>
            </a:pPr>
            <a:r>
              <a:rPr lang="en-US" altLang="zh-CN" sz="1800" b="1" dirty="0">
                <a:solidFill>
                  <a:schemeClr val="tx1"/>
                </a:solidFill>
              </a:rPr>
              <a:t>.data	                                               ; </a:t>
            </a:r>
            <a:r>
              <a:rPr lang="zh-CN" altLang="en-US" sz="1800" b="1" dirty="0">
                <a:solidFill>
                  <a:schemeClr val="tx1"/>
                </a:solidFill>
              </a:rPr>
              <a:t>数据段</a:t>
            </a:r>
          </a:p>
          <a:p>
            <a:pPr>
              <a:spcBef>
                <a:spcPts val="0"/>
              </a:spcBef>
            </a:pPr>
            <a:r>
              <a:rPr lang="en-US" altLang="zh-CN" sz="1800" b="1" dirty="0">
                <a:solidFill>
                  <a:schemeClr val="tx1"/>
                </a:solidFill>
              </a:rPr>
              <a:t>        msg  byte  'Hello, Assembly!',13,10,0</a:t>
            </a:r>
          </a:p>
          <a:p>
            <a:pPr>
              <a:spcBef>
                <a:spcPts val="0"/>
              </a:spcBef>
            </a:pPr>
            <a:r>
              <a:rPr lang="en-US" altLang="zh-CN" sz="1800" b="1" dirty="0">
                <a:solidFill>
                  <a:schemeClr val="tx1"/>
                </a:solidFill>
              </a:rPr>
              <a:t>.code	                                                ; </a:t>
            </a:r>
            <a:r>
              <a:rPr lang="zh-CN" altLang="en-US" sz="1800" b="1" dirty="0">
                <a:solidFill>
                  <a:schemeClr val="tx1"/>
                </a:solidFill>
              </a:rPr>
              <a:t>代码段</a:t>
            </a:r>
          </a:p>
          <a:p>
            <a:pPr>
              <a:spcBef>
                <a:spcPts val="0"/>
              </a:spcBef>
            </a:pPr>
            <a:r>
              <a:rPr lang="en-US" altLang="zh-CN" sz="1800" b="1" dirty="0">
                <a:solidFill>
                  <a:schemeClr val="tx1"/>
                </a:solidFill>
              </a:rPr>
              <a:t>main proc                                               ; </a:t>
            </a:r>
            <a:r>
              <a:rPr lang="zh-CN" altLang="en-US" sz="1800" b="1" dirty="0">
                <a:solidFill>
                  <a:schemeClr val="tx1"/>
                </a:solidFill>
              </a:rPr>
              <a:t>程序执行起始位置</a:t>
            </a:r>
            <a:endParaRPr lang="en-US" altLang="zh-CN" sz="1800" b="1" dirty="0">
              <a:solidFill>
                <a:schemeClr val="tx1"/>
              </a:solidFill>
            </a:endParaRPr>
          </a:p>
          <a:p>
            <a:pPr>
              <a:spcBef>
                <a:spcPts val="0"/>
              </a:spcBef>
            </a:pPr>
            <a:r>
              <a:rPr lang="en-US" altLang="zh-CN" sz="1800" b="1" dirty="0">
                <a:solidFill>
                  <a:schemeClr val="tx1"/>
                </a:solidFill>
              </a:rPr>
              <a:t>        </a:t>
            </a:r>
            <a:r>
              <a:rPr lang="en-US" altLang="zh-CN" sz="1800" b="1" dirty="0" err="1">
                <a:solidFill>
                  <a:schemeClr val="tx1"/>
                </a:solidFill>
              </a:rPr>
              <a:t>pushad</a:t>
            </a:r>
            <a:r>
              <a:rPr lang="en-US" altLang="zh-CN" sz="1800" b="1" dirty="0">
                <a:solidFill>
                  <a:schemeClr val="tx1"/>
                </a:solidFill>
              </a:rPr>
              <a:t>	</a:t>
            </a:r>
            <a:r>
              <a:rPr lang="en-US" altLang="zh-CN" sz="1800" b="1" dirty="0"/>
              <a:t>	</a:t>
            </a:r>
            <a:endParaRPr lang="zh-CN" altLang="en-US" sz="1800" b="1" dirty="0">
              <a:solidFill>
                <a:schemeClr val="tx1"/>
              </a:solidFill>
            </a:endParaRPr>
          </a:p>
          <a:p>
            <a:pPr>
              <a:spcBef>
                <a:spcPts val="0"/>
              </a:spcBef>
            </a:pPr>
            <a:r>
              <a:rPr lang="zh-CN" altLang="en-US" sz="1800" b="1" dirty="0"/>
              <a:t>                 </a:t>
            </a:r>
            <a:r>
              <a:rPr lang="en-US" altLang="zh-CN" sz="1800" b="1" dirty="0">
                <a:solidFill>
                  <a:srgbClr val="FF0000"/>
                </a:solidFill>
              </a:rPr>
              <a:t>invoke </a:t>
            </a:r>
            <a:r>
              <a:rPr lang="en-US" altLang="zh-CN" sz="1800" b="1" dirty="0" err="1">
                <a:solidFill>
                  <a:srgbClr val="FF0000"/>
                </a:solidFill>
              </a:rPr>
              <a:t>printf</a:t>
            </a:r>
            <a:r>
              <a:rPr lang="en-US" altLang="zh-CN" sz="1800" b="1" dirty="0">
                <a:solidFill>
                  <a:srgbClr val="FF0000"/>
                </a:solidFill>
              </a:rPr>
              <a:t>, offset msg      ; </a:t>
            </a:r>
            <a:r>
              <a:rPr lang="zh-CN" altLang="en-US" sz="1800" b="1" dirty="0">
                <a:solidFill>
                  <a:srgbClr val="FF0000"/>
                </a:solidFill>
              </a:rPr>
              <a:t>调用</a:t>
            </a:r>
            <a:r>
              <a:rPr lang="en-US" altLang="zh-CN" sz="1800" b="1" dirty="0">
                <a:solidFill>
                  <a:srgbClr val="FF0000"/>
                </a:solidFill>
              </a:rPr>
              <a:t>C</a:t>
            </a:r>
            <a:r>
              <a:rPr lang="zh-CN" altLang="en-US" sz="1800" b="1" dirty="0">
                <a:solidFill>
                  <a:srgbClr val="FF0000"/>
                </a:solidFill>
              </a:rPr>
              <a:t>语言库函数实现</a:t>
            </a:r>
            <a:endParaRPr lang="en-US" altLang="zh-CN" sz="1800" b="1" dirty="0">
              <a:solidFill>
                <a:srgbClr val="FF0000"/>
              </a:solidFill>
            </a:endParaRPr>
          </a:p>
          <a:p>
            <a:pPr>
              <a:spcBef>
                <a:spcPts val="0"/>
              </a:spcBef>
            </a:pPr>
            <a:r>
              <a:rPr lang="en-US" altLang="zh-CN" sz="1800" b="1" dirty="0">
                <a:solidFill>
                  <a:srgbClr val="FF0000"/>
                </a:solidFill>
              </a:rPr>
              <a:t>        </a:t>
            </a:r>
            <a:r>
              <a:rPr lang="en-US" altLang="zh-CN" sz="1800" b="1" dirty="0" err="1">
                <a:solidFill>
                  <a:schemeClr val="tx1"/>
                </a:solidFill>
              </a:rPr>
              <a:t>popad</a:t>
            </a:r>
            <a:endParaRPr lang="en-US" altLang="zh-CN" sz="1800" b="1" dirty="0">
              <a:solidFill>
                <a:schemeClr val="tx1"/>
              </a:solidFill>
            </a:endParaRPr>
          </a:p>
          <a:p>
            <a:pPr>
              <a:spcBef>
                <a:spcPts val="0"/>
              </a:spcBef>
            </a:pPr>
            <a:r>
              <a:rPr lang="en-US" altLang="zh-CN" sz="1800" b="1" dirty="0">
                <a:solidFill>
                  <a:srgbClr val="FF0000"/>
                </a:solidFill>
              </a:rPr>
              <a:t>        </a:t>
            </a:r>
            <a:r>
              <a:rPr lang="en-US" altLang="zh-CN" sz="1800" b="1" dirty="0" err="1">
                <a:solidFill>
                  <a:schemeClr val="tx1"/>
                </a:solidFill>
              </a:rPr>
              <a:t>pushad</a:t>
            </a:r>
            <a:endParaRPr lang="en-US" altLang="zh-CN" sz="1800" b="1" dirty="0">
              <a:solidFill>
                <a:schemeClr val="tx1"/>
              </a:solidFill>
            </a:endParaRPr>
          </a:p>
          <a:p>
            <a:pPr>
              <a:spcBef>
                <a:spcPts val="0"/>
              </a:spcBef>
            </a:pPr>
            <a:r>
              <a:rPr lang="en-US" altLang="zh-CN" sz="1800" b="1" dirty="0">
                <a:solidFill>
                  <a:schemeClr val="tx1"/>
                </a:solidFill>
              </a:rPr>
              <a:t>                 </a:t>
            </a:r>
            <a:r>
              <a:rPr lang="en-US" altLang="zh-CN" sz="1800" b="1" dirty="0">
                <a:solidFill>
                  <a:srgbClr val="FF0000"/>
                </a:solidFill>
              </a:rPr>
              <a:t>invoke ExitProcess,0            </a:t>
            </a:r>
            <a:r>
              <a:rPr lang="en-US" altLang="zh-CN" sz="1800" b="1" dirty="0">
                <a:solidFill>
                  <a:schemeClr val="tx1"/>
                </a:solidFill>
              </a:rPr>
              <a:t>; </a:t>
            </a:r>
            <a:r>
              <a:rPr lang="zh-CN" altLang="en-US" sz="1800" b="1" dirty="0">
                <a:solidFill>
                  <a:schemeClr val="tx1"/>
                </a:solidFill>
              </a:rPr>
              <a:t>程序正常执行结束</a:t>
            </a:r>
            <a:endParaRPr lang="en-US" altLang="zh-CN" sz="1800" b="1" dirty="0">
              <a:solidFill>
                <a:schemeClr val="tx1"/>
              </a:solidFill>
            </a:endParaRPr>
          </a:p>
          <a:p>
            <a:pPr>
              <a:spcBef>
                <a:spcPts val="0"/>
              </a:spcBef>
            </a:pPr>
            <a:r>
              <a:rPr lang="en-US" altLang="zh-CN" sz="1800" b="1" dirty="0">
                <a:solidFill>
                  <a:schemeClr val="tx1"/>
                </a:solidFill>
              </a:rPr>
              <a:t>        </a:t>
            </a:r>
            <a:r>
              <a:rPr lang="en-US" altLang="zh-CN" sz="1800" b="1" dirty="0" err="1">
                <a:solidFill>
                  <a:schemeClr val="tx1"/>
                </a:solidFill>
              </a:rPr>
              <a:t>popad</a:t>
            </a:r>
            <a:endParaRPr lang="zh-CN" altLang="en-US" sz="1800" b="1" dirty="0">
              <a:solidFill>
                <a:schemeClr val="tx1"/>
              </a:solidFill>
            </a:endParaRPr>
          </a:p>
          <a:p>
            <a:pPr>
              <a:spcBef>
                <a:spcPts val="0"/>
              </a:spcBef>
            </a:pPr>
            <a:r>
              <a:rPr lang="en-US" altLang="zh-CN" sz="1800" b="1" dirty="0">
                <a:solidFill>
                  <a:schemeClr val="tx1"/>
                </a:solidFill>
              </a:rPr>
              <a:t>main </a:t>
            </a:r>
            <a:r>
              <a:rPr lang="en-US" altLang="zh-CN" sz="1800" b="1" dirty="0" err="1">
                <a:solidFill>
                  <a:schemeClr val="tx1"/>
                </a:solidFill>
              </a:rPr>
              <a:t>endp</a:t>
            </a:r>
            <a:endParaRPr lang="en-US" altLang="zh-CN" sz="1800" b="1" dirty="0">
              <a:solidFill>
                <a:schemeClr val="tx1"/>
              </a:solidFill>
            </a:endParaRPr>
          </a:p>
          <a:p>
            <a:pPr>
              <a:spcBef>
                <a:spcPts val="0"/>
              </a:spcBef>
            </a:pPr>
            <a:r>
              <a:rPr lang="en-US" altLang="zh-CN" sz="1800" b="1" dirty="0">
                <a:solidFill>
                  <a:schemeClr val="tx1"/>
                </a:solidFill>
              </a:rPr>
              <a:t>end main</a:t>
            </a:r>
            <a:r>
              <a:rPr lang="en-US" altLang="zh-CN" sz="1800" dirty="0"/>
              <a:t>	                                                 </a:t>
            </a:r>
            <a:r>
              <a:rPr lang="en-US" altLang="zh-CN" sz="1800" b="1" dirty="0">
                <a:solidFill>
                  <a:schemeClr val="tx1"/>
                </a:solidFill>
              </a:rPr>
              <a:t>; </a:t>
            </a:r>
            <a:r>
              <a:rPr lang="zh-CN" altLang="en-US" sz="1800" b="1" dirty="0">
                <a:solidFill>
                  <a:schemeClr val="tx1"/>
                </a:solidFill>
              </a:rPr>
              <a:t>汇编结束</a:t>
            </a:r>
            <a:endParaRPr lang="zh-CN" altLang="en-US" sz="1800" b="1" dirty="0">
              <a:solidFill>
                <a:schemeClr val="tx1"/>
              </a:solidFill>
              <a:latin typeface="+mn-lt"/>
            </a:endParaRPr>
          </a:p>
        </p:txBody>
      </p:sp>
      <p:sp>
        <p:nvSpPr>
          <p:cNvPr id="4" name="矩形 3"/>
          <p:cNvSpPr/>
          <p:nvPr/>
        </p:nvSpPr>
        <p:spPr>
          <a:xfrm>
            <a:off x="539552" y="821976"/>
            <a:ext cx="8284528" cy="493148"/>
          </a:xfrm>
          <a:prstGeom prst="rect">
            <a:avLst/>
          </a:prstGeom>
        </p:spPr>
        <p:txBody>
          <a:bodyPr wrap="square">
            <a:spAutoFit/>
          </a:bodyPr>
          <a:lstStyle/>
          <a:p>
            <a:pPr marL="0" lvl="1">
              <a:lnSpc>
                <a:spcPct val="120000"/>
              </a:lnSpc>
              <a:spcBef>
                <a:spcPts val="0"/>
              </a:spcBef>
              <a:spcAft>
                <a:spcPts val="0"/>
              </a:spcAft>
              <a:buClr>
                <a:srgbClr val="0000FF"/>
              </a:buClr>
              <a:buSzPct val="85000"/>
              <a:defRPr/>
            </a:pPr>
            <a:r>
              <a:rPr lang="zh-CN" altLang="en-US" sz="2400" kern="0" dirty="0">
                <a:solidFill>
                  <a:srgbClr val="000000"/>
                </a:solidFill>
                <a:latin typeface="黑体" panose="02010609060101010101" pitchFamily="49" charset="-122"/>
              </a:rPr>
              <a:t>例</a:t>
            </a:r>
            <a:r>
              <a:rPr lang="en-US" altLang="zh-CN" sz="2400" kern="0" dirty="0">
                <a:solidFill>
                  <a:srgbClr val="000000"/>
                </a:solidFill>
                <a:latin typeface="黑体" panose="02010609060101010101" pitchFamily="49" charset="-122"/>
              </a:rPr>
              <a:t>2-1</a:t>
            </a:r>
            <a:r>
              <a:rPr lang="zh-CN" altLang="en-US" sz="2400" dirty="0">
                <a:solidFill>
                  <a:schemeClr val="bg2"/>
                </a:solidFill>
              </a:rPr>
              <a:t>：在</a:t>
            </a:r>
            <a:r>
              <a:rPr lang="zh-CN" altLang="en-US" sz="2400" dirty="0">
                <a:solidFill>
                  <a:srgbClr val="FF0000"/>
                </a:solidFill>
              </a:rPr>
              <a:t>本课程实验</a:t>
            </a:r>
            <a:r>
              <a:rPr lang="en-US" altLang="zh-CN" sz="2400" b="1" dirty="0">
                <a:solidFill>
                  <a:srgbClr val="FF0000"/>
                </a:solidFill>
                <a:latin typeface="黑体" panose="02010609060101010101" pitchFamily="49" charset="-122"/>
                <a:ea typeface="黑体" panose="02010609060101010101" pitchFamily="49" charset="-122"/>
              </a:rPr>
              <a:t>VS2019</a:t>
            </a:r>
            <a:r>
              <a:rPr lang="zh-CN" altLang="en-US" sz="2400" dirty="0">
                <a:solidFill>
                  <a:schemeClr val="tx1"/>
                </a:solidFill>
                <a:latin typeface="黑体" panose="02010609060101010101" pitchFamily="49" charset="-122"/>
                <a:ea typeface="黑体" panose="02010609060101010101" pitchFamily="49" charset="-122"/>
              </a:rPr>
              <a:t>环境中实现</a:t>
            </a:r>
            <a:endParaRPr lang="en-US" altLang="zh-CN" sz="2400" dirty="0">
              <a:solidFill>
                <a:schemeClr val="tx1"/>
              </a:solidFill>
            </a:endParaRPr>
          </a:p>
        </p:txBody>
      </p:sp>
      <p:sp>
        <p:nvSpPr>
          <p:cNvPr id="3" name="Text Box 5"/>
          <p:cNvSpPr txBox="1">
            <a:spLocks noChangeArrowheads="1"/>
          </p:cNvSpPr>
          <p:nvPr/>
        </p:nvSpPr>
        <p:spPr bwMode="auto">
          <a:xfrm>
            <a:off x="5204504" y="1340768"/>
            <a:ext cx="3290887" cy="648035"/>
          </a:xfrm>
          <a:prstGeom prst="rect">
            <a:avLst/>
          </a:prstGeom>
          <a:solidFill>
            <a:srgbClr val="333333"/>
          </a:solidFill>
          <a:ln w="19050">
            <a:solidFill>
              <a:schemeClr val="accent1"/>
            </a:solidFill>
            <a:miter lim="800000"/>
            <a:headEnd type="none" w="sm" len="sm"/>
            <a:tailEnd type="none" w="sm" len="sm"/>
          </a:ln>
          <a:effectLst/>
          <a:extLst>
            <a:ext uri="{AF507438-7753-43E0-B8FC-AC1667EBCBE1}">
              <a14:hiddenEffects xmlns:a14="http://schemas.microsoft.com/office/drawing/2010/main">
                <a:effectLst>
                  <a:outerShdw sy="-100000" kx="3284103" algn="bl" rotWithShape="0">
                    <a:srgbClr val="808080"/>
                  </a:outerShdw>
                </a:effectLst>
              </a14:hiddenEffects>
            </a:ext>
          </a:extLst>
        </p:spPr>
        <p:txBody>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3"/>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4"/>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eaLnBrk="1" hangingPunct="1">
              <a:spcBef>
                <a:spcPct val="0"/>
              </a:spcBef>
              <a:buClrTx/>
              <a:buFontTx/>
              <a:buNone/>
            </a:pPr>
            <a:r>
              <a:rPr kumimoji="1" lang="en-US" altLang="zh-CN" sz="2800" dirty="0">
                <a:solidFill>
                  <a:schemeClr val="bg1"/>
                </a:solidFill>
                <a:latin typeface="Times New Roman" panose="02020603050405020304" pitchFamily="18" charset="0"/>
              </a:rPr>
              <a:t>Hello, Assembly !</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24"/>
            <a:ext cx="9144000" cy="849296"/>
          </a:xfrm>
          <a:prstGeom prst="rect">
            <a:avLst/>
          </a:prstGeom>
        </p:spPr>
        <p:txBody>
          <a:bodyPr>
            <a:normAutofit/>
          </a:bodyPr>
          <a:lstStyle/>
          <a:p>
            <a:pPr lvl="0">
              <a:defRPr/>
            </a:pPr>
            <a:r>
              <a:rPr lang="en-US" altLang="zh-CN" kern="0" dirty="0">
                <a:solidFill>
                  <a:srgbClr val="000000"/>
                </a:solidFill>
                <a:latin typeface="黑体" panose="02010609060101010101" pitchFamily="49" charset="-122"/>
                <a:cs typeface="+mj-cs"/>
              </a:rPr>
              <a:t>1.3.4 </a:t>
            </a:r>
            <a:r>
              <a:rPr lang="zh-CN" altLang="en-US" kern="0" dirty="0">
                <a:solidFill>
                  <a:srgbClr val="000000"/>
                </a:solidFill>
                <a:latin typeface="黑体" panose="02010609060101010101" pitchFamily="49" charset="-122"/>
                <a:cs typeface="+mj-cs"/>
              </a:rPr>
              <a:t>开发过程</a:t>
            </a:r>
            <a:r>
              <a:rPr lang="en-US" altLang="zh-CN" kern="0" dirty="0">
                <a:solidFill>
                  <a:srgbClr val="000000"/>
                </a:solidFill>
                <a:latin typeface="黑体" panose="02010609060101010101" pitchFamily="49" charset="-122"/>
                <a:cs typeface="+mj-cs"/>
              </a:rPr>
              <a:t>-VS201X</a:t>
            </a:r>
            <a:r>
              <a:rPr lang="zh-CN" altLang="en-US" kern="0" dirty="0">
                <a:solidFill>
                  <a:srgbClr val="000000"/>
                </a:solidFill>
                <a:latin typeface="黑体" panose="02010609060101010101" pitchFamily="49" charset="-122"/>
                <a:cs typeface="+mj-cs"/>
              </a:rPr>
              <a:t>一键完成</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8" name="直接连接符 7"/>
          <p:cNvCxnSpPr/>
          <p:nvPr/>
        </p:nvCxnSpPr>
        <p:spPr bwMode="auto">
          <a:xfrm>
            <a:off x="142844" y="744156"/>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5" name="Picture 4" descr="fig02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108" y="1964628"/>
            <a:ext cx="7632848" cy="455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txBox="1"/>
          <p:nvPr/>
        </p:nvSpPr>
        <p:spPr>
          <a:xfrm>
            <a:off x="410986" y="798955"/>
            <a:ext cx="8265469" cy="1108252"/>
          </a:xfrm>
          <a:prstGeom prst="rect">
            <a:avLst/>
          </a:prstGeom>
        </p:spPr>
        <p:txBody>
          <a:bodyPr/>
          <a:lstStyle/>
          <a:p>
            <a:pPr marL="457200" indent="-457200" algn="just">
              <a:lnSpc>
                <a:spcPct val="125000"/>
              </a:lnSpc>
              <a:spcBef>
                <a:spcPts val="600"/>
              </a:spcBef>
              <a:buClr>
                <a:srgbClr val="0000FF"/>
              </a:buClr>
              <a:buSzPct val="100000"/>
              <a:buFont typeface="Wingdings" panose="05000000000000000000" pitchFamily="2" charset="2"/>
              <a:buChar char="Ø"/>
              <a:defRPr/>
            </a:pPr>
            <a:r>
              <a:rPr lang="zh-CN" altLang="en-US" sz="2800" dirty="0">
                <a:latin typeface="+mn-lt"/>
              </a:rPr>
              <a:t>源程序的开发过程都需要编辑、编译（汇编）、连接等步骤</a:t>
            </a:r>
            <a:endParaRPr lang="zh-CN" altLang="en-US" sz="2400" dirty="0">
              <a:solidFill>
                <a:schemeClr val="tx1"/>
              </a:solidFill>
              <a:latin typeface="+mn-lt"/>
            </a:endParaRPr>
          </a:p>
        </p:txBody>
      </p:sp>
      <p:sp>
        <p:nvSpPr>
          <p:cNvPr id="2" name="文本框 1"/>
          <p:cNvSpPr txBox="1"/>
          <p:nvPr/>
        </p:nvSpPr>
        <p:spPr>
          <a:xfrm>
            <a:off x="2883227" y="2494057"/>
            <a:ext cx="689169" cy="430887"/>
          </a:xfrm>
          <a:prstGeom prst="rect">
            <a:avLst/>
          </a:prstGeom>
          <a:noFill/>
        </p:spPr>
        <p:txBody>
          <a:bodyPr wrap="square">
            <a:spAutoFit/>
          </a:bodyPr>
          <a:lstStyle/>
          <a:p>
            <a:r>
              <a:rPr lang="en-US" altLang="zh-CN" sz="2200" dirty="0">
                <a:solidFill>
                  <a:srgbClr val="00B050"/>
                </a:solidFill>
              </a:rPr>
              <a:t>Edit</a:t>
            </a:r>
            <a:endParaRPr lang="zh-CN" altLang="en-US" sz="2200" dirty="0">
              <a:solidFill>
                <a:srgbClr val="00B050"/>
              </a:solidFill>
            </a:endParaRPr>
          </a:p>
        </p:txBody>
      </p:sp>
      <p:sp>
        <p:nvSpPr>
          <p:cNvPr id="3" name="文本框 2"/>
          <p:cNvSpPr txBox="1"/>
          <p:nvPr/>
        </p:nvSpPr>
        <p:spPr>
          <a:xfrm>
            <a:off x="2667203" y="3284984"/>
            <a:ext cx="1409249" cy="430887"/>
          </a:xfrm>
          <a:prstGeom prst="rect">
            <a:avLst/>
          </a:prstGeom>
          <a:noFill/>
        </p:spPr>
        <p:txBody>
          <a:bodyPr wrap="square">
            <a:spAutoFit/>
          </a:bodyPr>
          <a:lstStyle/>
          <a:p>
            <a:r>
              <a:rPr lang="en-US" altLang="zh-CN" sz="2200" dirty="0">
                <a:solidFill>
                  <a:srgbClr val="00B050"/>
                </a:solidFill>
              </a:rPr>
              <a:t>Assemble</a:t>
            </a:r>
            <a:endParaRPr lang="zh-CN" altLang="en-US" sz="2200" dirty="0">
              <a:solidFill>
                <a:srgbClr val="00B050"/>
              </a:solidFill>
            </a:endParaRPr>
          </a:p>
        </p:txBody>
      </p:sp>
      <p:sp>
        <p:nvSpPr>
          <p:cNvPr id="10" name="文本框 9"/>
          <p:cNvSpPr txBox="1"/>
          <p:nvPr/>
        </p:nvSpPr>
        <p:spPr>
          <a:xfrm>
            <a:off x="2911624" y="4955029"/>
            <a:ext cx="948804" cy="430887"/>
          </a:xfrm>
          <a:prstGeom prst="rect">
            <a:avLst/>
          </a:prstGeom>
          <a:noFill/>
        </p:spPr>
        <p:txBody>
          <a:bodyPr wrap="square">
            <a:spAutoFit/>
          </a:bodyPr>
          <a:lstStyle/>
          <a:p>
            <a:r>
              <a:rPr lang="en-US" altLang="zh-CN" sz="2200" dirty="0">
                <a:solidFill>
                  <a:srgbClr val="00B050"/>
                </a:solidFill>
              </a:rPr>
              <a:t>Link</a:t>
            </a:r>
            <a:endParaRPr lang="zh-CN" altLang="en-US" sz="2200" dirty="0">
              <a:solidFill>
                <a:srgbClr val="00B050"/>
              </a:solidFill>
            </a:endParaRPr>
          </a:p>
        </p:txBody>
      </p:sp>
      <p:sp>
        <p:nvSpPr>
          <p:cNvPr id="11" name="文本框 10"/>
          <p:cNvSpPr txBox="1"/>
          <p:nvPr/>
        </p:nvSpPr>
        <p:spPr>
          <a:xfrm>
            <a:off x="2797944" y="5877272"/>
            <a:ext cx="1134492" cy="430887"/>
          </a:xfrm>
          <a:prstGeom prst="rect">
            <a:avLst/>
          </a:prstGeom>
          <a:noFill/>
        </p:spPr>
        <p:txBody>
          <a:bodyPr wrap="square">
            <a:spAutoFit/>
          </a:bodyPr>
          <a:lstStyle/>
          <a:p>
            <a:r>
              <a:rPr lang="en-US" altLang="zh-CN" sz="2200" dirty="0">
                <a:solidFill>
                  <a:srgbClr val="00B050"/>
                </a:solidFill>
              </a:rPr>
              <a:t>Debug</a:t>
            </a:r>
            <a:endParaRPr lang="zh-CN" altLang="en-US" sz="2200" dirty="0">
              <a:solidFill>
                <a:srgbClr val="00B050"/>
              </a:solidFill>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23528" y="764704"/>
            <a:ext cx="8533612" cy="4752528"/>
          </a:xfrm>
          <a:prstGeom prst="rect">
            <a:avLst/>
          </a:prstGeom>
        </p:spPr>
        <p:txBody>
          <a:bodyPr/>
          <a:lstStyle/>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将汇编语言源程序转换为机器代码</a:t>
            </a:r>
          </a:p>
          <a:p>
            <a:pPr marL="457200" indent="-457200" algn="just">
              <a:lnSpc>
                <a:spcPct val="130000"/>
              </a:lnSpc>
              <a:spcBef>
                <a:spcPts val="600"/>
              </a:spcBef>
              <a:buClr>
                <a:srgbClr val="0000FF"/>
              </a:buClr>
              <a:buSzPct val="100000"/>
              <a:buFont typeface="Wingdings" panose="05000000000000000000" pitchFamily="2" charset="2"/>
              <a:buChar char="Ø"/>
              <a:defRPr/>
            </a:pPr>
            <a:r>
              <a:rPr lang="zh-CN" altLang="en-US" sz="2800" dirty="0">
                <a:latin typeface="+mn-lt"/>
              </a:rPr>
              <a:t>本课程采用</a:t>
            </a:r>
            <a:r>
              <a:rPr lang="en-US" altLang="zh-CN" sz="2800" dirty="0">
                <a:latin typeface="+mn-lt"/>
              </a:rPr>
              <a:t>VS 2010/2019/2022</a:t>
            </a:r>
            <a:r>
              <a:rPr lang="zh-CN" altLang="en-US" sz="2800" dirty="0">
                <a:latin typeface="+mn-lt"/>
              </a:rPr>
              <a:t>汇编开发环境</a:t>
            </a:r>
            <a:endParaRPr lang="en-US" altLang="zh-CN" sz="2800" dirty="0"/>
          </a:p>
          <a:p>
            <a:pPr marL="457200" indent="-457200">
              <a:lnSpc>
                <a:spcPct val="130000"/>
              </a:lnSpc>
              <a:spcBef>
                <a:spcPts val="600"/>
              </a:spcBef>
              <a:buClr>
                <a:srgbClr val="0000FF"/>
              </a:buClr>
              <a:buFont typeface="Wingdings" panose="05000000000000000000" pitchFamily="2" charset="2"/>
              <a:buChar char="Ø"/>
            </a:pPr>
            <a:endParaRPr lang="en-US" altLang="zh-CN" sz="2600" dirty="0">
              <a:solidFill>
                <a:srgbClr val="00B050"/>
              </a:solidFill>
              <a:latin typeface="+mn-lt"/>
            </a:endParaRPr>
          </a:p>
          <a:p>
            <a:pPr marL="914400" lvl="1" indent="-457200">
              <a:lnSpc>
                <a:spcPct val="130000"/>
              </a:lnSpc>
              <a:buClr>
                <a:srgbClr val="0000FF"/>
              </a:buClr>
              <a:buFont typeface="Wingdings" panose="05000000000000000000" pitchFamily="2" charset="2"/>
              <a:buChar char="ü"/>
            </a:pPr>
            <a:endParaRPr lang="en-US" altLang="zh-CN" sz="2600" dirty="0">
              <a:solidFill>
                <a:srgbClr val="00B050"/>
              </a:solidFill>
              <a:latin typeface="+mn-lt"/>
            </a:endParaRPr>
          </a:p>
        </p:txBody>
      </p:sp>
      <p:sp>
        <p:nvSpPr>
          <p:cNvPr id="6" name="标题 1"/>
          <p:cNvSpPr txBox="1"/>
          <p:nvPr/>
        </p:nvSpPr>
        <p:spPr>
          <a:xfrm>
            <a:off x="0" y="-28305"/>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汇编程序</a:t>
            </a:r>
            <a:r>
              <a:rPr kumimoji="1" lang="en-US" altLang="zh-CN" b="0" i="0" u="none" strike="noStrike" kern="0" cap="none" spc="0" normalizeH="0" baseline="0" noProof="0" dirty="0">
                <a:ln>
                  <a:noFill/>
                </a:ln>
                <a:solidFill>
                  <a:srgbClr val="000000"/>
                </a:solidFill>
                <a:effectLst/>
                <a:uLnTx/>
                <a:uFillTx/>
                <a:latin typeface="+mj-lt"/>
                <a:cs typeface="+mj-cs"/>
              </a:rPr>
              <a:t>Assembler</a:t>
            </a:r>
            <a:endParaRPr kumimoji="1" lang="zh-CN" altLang="en-US" b="0" i="0" u="none" strike="noStrike" kern="0" cap="none" spc="0" normalizeH="0" baseline="0" noProof="0" dirty="0">
              <a:ln>
                <a:noFill/>
              </a:ln>
              <a:solidFill>
                <a:srgbClr val="000000"/>
              </a:solidFill>
              <a:effectLst/>
              <a:uLnTx/>
              <a:uFillTx/>
              <a:latin typeface="+mj-lt"/>
              <a:cs typeface="+mj-cs"/>
            </a:endParaRPr>
          </a:p>
        </p:txBody>
      </p:sp>
      <p:cxnSp>
        <p:nvCxnSpPr>
          <p:cNvPr id="8" name="直接连接符 7"/>
          <p:cNvCxnSpPr/>
          <p:nvPr/>
        </p:nvCxnSpPr>
        <p:spPr bwMode="auto">
          <a:xfrm>
            <a:off x="142844" y="76088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5" name="图片 4"/>
          <p:cNvPicPr>
            <a:picLocks noChangeAspect="1"/>
          </p:cNvPicPr>
          <p:nvPr/>
        </p:nvPicPr>
        <p:blipFill>
          <a:blip r:embed="rId3"/>
          <a:stretch>
            <a:fillRect/>
          </a:stretch>
        </p:blipFill>
        <p:spPr>
          <a:xfrm>
            <a:off x="180605" y="4601021"/>
            <a:ext cx="1098606" cy="1371670"/>
          </a:xfrm>
          <a:prstGeom prst="rect">
            <a:avLst/>
          </a:prstGeom>
        </p:spPr>
      </p:pic>
      <p:pic>
        <p:nvPicPr>
          <p:cNvPr id="10" name="图片 9"/>
          <p:cNvPicPr>
            <a:picLocks noChangeAspect="1"/>
          </p:cNvPicPr>
          <p:nvPr/>
        </p:nvPicPr>
        <p:blipFill>
          <a:blip r:embed="rId4"/>
          <a:stretch>
            <a:fillRect/>
          </a:stretch>
        </p:blipFill>
        <p:spPr>
          <a:xfrm>
            <a:off x="179512" y="2564904"/>
            <a:ext cx="1104957" cy="1225613"/>
          </a:xfrm>
          <a:prstGeom prst="rect">
            <a:avLst/>
          </a:prstGeom>
        </p:spPr>
      </p:pic>
      <p:pic>
        <p:nvPicPr>
          <p:cNvPr id="4" name="图片 3"/>
          <p:cNvPicPr>
            <a:picLocks noChangeAspect="1"/>
          </p:cNvPicPr>
          <p:nvPr/>
        </p:nvPicPr>
        <p:blipFill>
          <a:blip r:embed="rId5"/>
          <a:stretch>
            <a:fillRect/>
          </a:stretch>
        </p:blipFill>
        <p:spPr>
          <a:xfrm>
            <a:off x="1350127" y="2009388"/>
            <a:ext cx="7615690" cy="4531612"/>
          </a:xfrm>
          <a:prstGeom prst="rect">
            <a:avLst/>
          </a:prstGeom>
        </p:spPr>
      </p:pic>
      <p:sp>
        <p:nvSpPr>
          <p:cNvPr id="2" name="文本框 4"/>
          <p:cNvSpPr txBox="1">
            <a:spLocks noChangeArrowheads="1"/>
          </p:cNvSpPr>
          <p:nvPr/>
        </p:nvSpPr>
        <p:spPr bwMode="auto">
          <a:xfrm>
            <a:off x="1508596" y="3933056"/>
            <a:ext cx="7311876" cy="954107"/>
          </a:xfrm>
          <a:prstGeom prst="rect">
            <a:avLst/>
          </a:prstGeom>
          <a:solidFill>
            <a:schemeClr val="bg1"/>
          </a:solidFill>
          <a:ln>
            <a:noFill/>
          </a:ln>
        </p:spPr>
        <p:txBody>
          <a:bodyPr wrap="squar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6"/>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7"/>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spcBef>
                <a:spcPct val="0"/>
              </a:spcBef>
              <a:buClrTx/>
              <a:buFontTx/>
              <a:buNone/>
            </a:pPr>
            <a:r>
              <a:rPr lang="zh-CN" altLang="en-US" sz="2800" dirty="0">
                <a:solidFill>
                  <a:srgbClr val="FF0000"/>
                </a:solidFill>
                <a:latin typeface="黑体" panose="02010609060101010101" pitchFamily="49" charset="-122"/>
                <a:ea typeface="黑体" panose="02010609060101010101" pitchFamily="49" charset="-122"/>
              </a:rPr>
              <a:t>安装</a:t>
            </a:r>
            <a:r>
              <a:rPr lang="en-US" altLang="zh-CN" sz="2800" dirty="0">
                <a:solidFill>
                  <a:srgbClr val="FF0000"/>
                </a:solidFill>
                <a:latin typeface="黑体" panose="02010609060101010101" pitchFamily="49" charset="-122"/>
                <a:ea typeface="黑体" panose="02010609060101010101" pitchFamily="49" charset="-122"/>
              </a:rPr>
              <a:t>Visual Studio</a:t>
            </a:r>
            <a:r>
              <a:rPr lang="zh-CN" altLang="en-US" sz="2800" dirty="0">
                <a:solidFill>
                  <a:srgbClr val="FF0000"/>
                </a:solidFill>
                <a:latin typeface="黑体" panose="02010609060101010101" pitchFamily="49" charset="-122"/>
                <a:ea typeface="黑体" panose="02010609060101010101" pitchFamily="49" charset="-122"/>
              </a:rPr>
              <a:t>时选“工作负载”一定要选上“使用</a:t>
            </a:r>
            <a:r>
              <a:rPr lang="en-US" altLang="zh-CN" sz="2800" dirty="0">
                <a:solidFill>
                  <a:srgbClr val="FF0000"/>
                </a:solidFill>
                <a:latin typeface="黑体" panose="02010609060101010101" pitchFamily="49" charset="-122"/>
                <a:ea typeface="黑体" panose="02010609060101010101" pitchFamily="49" charset="-122"/>
              </a:rPr>
              <a:t>C++</a:t>
            </a:r>
            <a:r>
              <a:rPr lang="zh-CN" altLang="en-US" sz="2800" dirty="0">
                <a:solidFill>
                  <a:srgbClr val="FF0000"/>
                </a:solidFill>
                <a:latin typeface="黑体" panose="02010609060101010101" pitchFamily="49" charset="-122"/>
                <a:ea typeface="黑体" panose="02010609060101010101" pitchFamily="49" charset="-122"/>
              </a:rPr>
              <a:t>的桌面开发”</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p:nvPr/>
        </p:nvSpPr>
        <p:spPr>
          <a:xfrm>
            <a:off x="0" y="-24"/>
            <a:ext cx="9144000" cy="849296"/>
          </a:xfrm>
          <a:prstGeom prst="rect">
            <a:avLst/>
          </a:prstGeom>
        </p:spPr>
        <p:txBody>
          <a:bodyPr>
            <a:normAutofit/>
          </a:bodyPr>
          <a:lstStyle/>
          <a:p>
            <a:pPr lvl="0">
              <a:defRPr/>
            </a:pPr>
            <a:r>
              <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rPr>
              <a:t>小结</a:t>
            </a:r>
          </a:p>
        </p:txBody>
      </p:sp>
      <p:cxnSp>
        <p:nvCxnSpPr>
          <p:cNvPr id="13" name="直接连接符 12"/>
          <p:cNvCxnSpPr/>
          <p:nvPr/>
        </p:nvCxnSpPr>
        <p:spPr bwMode="auto">
          <a:xfrm>
            <a:off x="178184" y="692696"/>
            <a:ext cx="8858312" cy="5700"/>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矩形 16"/>
          <p:cNvSpPr/>
          <p:nvPr/>
        </p:nvSpPr>
        <p:spPr>
          <a:xfrm>
            <a:off x="323528" y="643548"/>
            <a:ext cx="8643966" cy="6247765"/>
          </a:xfrm>
          <a:prstGeom prst="rect">
            <a:avLst/>
          </a:prstGeom>
        </p:spPr>
        <p:txBody>
          <a:bodyPr wrap="square">
            <a:spAutoFit/>
          </a:bodyPr>
          <a:lstStyle/>
          <a:p>
            <a:pPr lvl="1" indent="-457200" algn="just">
              <a:lnSpc>
                <a:spcPct val="130000"/>
              </a:lnSpc>
              <a:spcBef>
                <a:spcPts val="0"/>
              </a:spcBef>
              <a:spcAft>
                <a:spcPts val="0"/>
              </a:spcAft>
              <a:buClr>
                <a:srgbClr val="0000FF"/>
              </a:buClr>
              <a:buSzPct val="100000"/>
              <a:buFont typeface="Wingdings" panose="05000000000000000000" pitchFamily="2" charset="2"/>
              <a:buChar char="Ø"/>
              <a:defRPr/>
            </a:pPr>
            <a:r>
              <a:rPr lang="en-US" altLang="zh-CN" sz="2800" dirty="0">
                <a:solidFill>
                  <a:schemeClr val="tx1"/>
                </a:solidFill>
              </a:rPr>
              <a:t>Intel 80x86</a:t>
            </a:r>
            <a:r>
              <a:rPr lang="zh-CN" altLang="en-US" sz="2800" dirty="0">
                <a:solidFill>
                  <a:schemeClr val="tx1"/>
                </a:solidFill>
              </a:rPr>
              <a:t>系列</a:t>
            </a:r>
            <a:endParaRPr lang="en-US" altLang="zh-CN" sz="2800" dirty="0">
              <a:solidFill>
                <a:schemeClr val="tx1"/>
              </a:solidFill>
            </a:endParaRPr>
          </a:p>
          <a:p>
            <a:pPr marL="899795" lvl="1" indent="-360045" algn="just">
              <a:lnSpc>
                <a:spcPct val="130000"/>
              </a:lnSpc>
              <a:spcBef>
                <a:spcPts val="0"/>
              </a:spcBef>
              <a:spcAft>
                <a:spcPts val="0"/>
              </a:spcAft>
              <a:buClr>
                <a:srgbClr val="0000FF"/>
              </a:buClr>
              <a:buSzPct val="85000"/>
              <a:buFont typeface="Wingdings" panose="05000000000000000000" pitchFamily="2" charset="2"/>
              <a:buChar char="ü"/>
              <a:defRPr/>
            </a:pPr>
            <a:r>
              <a:rPr lang="en-US" altLang="zh-CN" sz="2400" dirty="0">
                <a:solidFill>
                  <a:srgbClr val="000000"/>
                </a:solidFill>
              </a:rPr>
              <a:t>16</a:t>
            </a:r>
            <a:r>
              <a:rPr lang="zh-CN" altLang="en-US" sz="2400" dirty="0">
                <a:solidFill>
                  <a:srgbClr val="000000"/>
                </a:solidFill>
              </a:rPr>
              <a:t>位</a:t>
            </a:r>
            <a:r>
              <a:rPr lang="en-US" sz="2400" dirty="0">
                <a:solidFill>
                  <a:srgbClr val="000000"/>
                </a:solidFill>
              </a:rPr>
              <a:t>x86         </a:t>
            </a:r>
            <a:r>
              <a:rPr lang="en-US" altLang="zh-CN" sz="2400" dirty="0">
                <a:solidFill>
                  <a:srgbClr val="000000"/>
                </a:solidFill>
              </a:rPr>
              <a:t>Intel 32</a:t>
            </a:r>
            <a:r>
              <a:rPr lang="zh-CN" altLang="en-US" sz="2400" dirty="0">
                <a:solidFill>
                  <a:srgbClr val="000000"/>
                </a:solidFill>
              </a:rPr>
              <a:t>结构（</a:t>
            </a:r>
            <a:r>
              <a:rPr lang="en-US" altLang="zh-CN" sz="2400" dirty="0">
                <a:solidFill>
                  <a:srgbClr val="000000"/>
                </a:solidFill>
              </a:rPr>
              <a:t>IA-32</a:t>
            </a:r>
            <a:r>
              <a:rPr lang="zh-CN" altLang="en-US" sz="2400" dirty="0">
                <a:solidFill>
                  <a:srgbClr val="000000"/>
                </a:solidFill>
              </a:rPr>
              <a:t>）</a:t>
            </a:r>
            <a:r>
              <a:rPr lang="en-US" altLang="zh-CN" sz="2400" dirty="0">
                <a:solidFill>
                  <a:srgbClr val="000000"/>
                </a:solidFill>
              </a:rPr>
              <a:t>       Intel 64</a:t>
            </a:r>
            <a:r>
              <a:rPr lang="zh-CN" altLang="en-US" sz="2400" dirty="0">
                <a:solidFill>
                  <a:srgbClr val="000000"/>
                </a:solidFill>
              </a:rPr>
              <a:t>结构</a:t>
            </a:r>
            <a:endParaRPr lang="en-US" altLang="zh-CN" sz="2400" dirty="0">
              <a:solidFill>
                <a:srgbClr val="00B050"/>
              </a:solidFill>
            </a:endParaRPr>
          </a:p>
          <a:p>
            <a:pPr lvl="1" indent="-457200" algn="just">
              <a:lnSpc>
                <a:spcPct val="130000"/>
              </a:lnSpc>
              <a:spcBef>
                <a:spcPts val="0"/>
              </a:spcBef>
              <a:spcAft>
                <a:spcPts val="0"/>
              </a:spcAft>
              <a:buClr>
                <a:srgbClr val="0000FF"/>
              </a:buClr>
              <a:buSzPct val="100000"/>
              <a:buFont typeface="Wingdings" panose="05000000000000000000" pitchFamily="2" charset="2"/>
              <a:buChar char="Ø"/>
              <a:defRPr/>
            </a:pPr>
            <a:r>
              <a:rPr lang="zh-CN" altLang="en-US" sz="2800" dirty="0">
                <a:solidFill>
                  <a:schemeClr val="tx1"/>
                </a:solidFill>
              </a:rPr>
              <a:t>冯</a:t>
            </a:r>
            <a:r>
              <a:rPr lang="en-US" altLang="zh-CN" sz="2800" dirty="0">
                <a:solidFill>
                  <a:schemeClr val="tx1"/>
                </a:solidFill>
              </a:rPr>
              <a:t>·</a:t>
            </a:r>
            <a:r>
              <a:rPr lang="zh-CN" altLang="en-US" sz="2800" dirty="0">
                <a:solidFill>
                  <a:schemeClr val="tx1"/>
                </a:solidFill>
              </a:rPr>
              <a:t>诺依曼计算机结构</a:t>
            </a:r>
            <a:endParaRPr lang="en-US" altLang="zh-CN" sz="2800" dirty="0">
              <a:solidFill>
                <a:schemeClr val="tx1"/>
              </a:solidFill>
            </a:endParaRPr>
          </a:p>
          <a:p>
            <a:pPr marL="899795" lvl="1" indent="-360045" algn="just">
              <a:lnSpc>
                <a:spcPct val="130000"/>
              </a:lnSpc>
              <a:spcBef>
                <a:spcPts val="0"/>
              </a:spcBef>
              <a:spcAft>
                <a:spcPts val="0"/>
              </a:spcAft>
              <a:buClr>
                <a:srgbClr val="0000FF"/>
              </a:buClr>
              <a:buSzPct val="85000"/>
              <a:buFont typeface="Wingdings" panose="05000000000000000000" pitchFamily="2" charset="2"/>
              <a:buChar char="ü"/>
              <a:defRPr/>
            </a:pPr>
            <a:r>
              <a:rPr lang="en-US" altLang="zh-CN" sz="2400" dirty="0">
                <a:solidFill>
                  <a:srgbClr val="000000"/>
                </a:solidFill>
              </a:rPr>
              <a:t>5</a:t>
            </a:r>
            <a:r>
              <a:rPr lang="zh-CN" altLang="en-US" sz="2400" dirty="0">
                <a:solidFill>
                  <a:srgbClr val="000000"/>
                </a:solidFill>
              </a:rPr>
              <a:t>大</a:t>
            </a:r>
            <a:r>
              <a:rPr lang="zh-CN" altLang="en-US" sz="2400" dirty="0">
                <a:solidFill>
                  <a:schemeClr val="tx1"/>
                </a:solidFill>
              </a:rPr>
              <a:t>部件、</a:t>
            </a:r>
            <a:r>
              <a:rPr lang="en-US" altLang="zh-CN" sz="2400" dirty="0">
                <a:solidFill>
                  <a:schemeClr val="tx1"/>
                </a:solidFill>
              </a:rPr>
              <a:t>3个硬件子系统、存储程序和程序</a:t>
            </a:r>
            <a:r>
              <a:rPr lang="zh-CN" altLang="en-US" sz="2400" dirty="0">
                <a:solidFill>
                  <a:schemeClr val="tx1"/>
                </a:solidFill>
              </a:rPr>
              <a:t>控制</a:t>
            </a:r>
            <a:endParaRPr lang="en-US" altLang="zh-CN" sz="2400" dirty="0">
              <a:solidFill>
                <a:schemeClr val="tx1"/>
              </a:solidFill>
            </a:endParaRPr>
          </a:p>
          <a:p>
            <a:pPr marL="899795" lvl="1" indent="-360045" algn="just">
              <a:lnSpc>
                <a:spcPct val="130000"/>
              </a:lnSpc>
              <a:spcBef>
                <a:spcPts val="0"/>
              </a:spcBef>
              <a:spcAft>
                <a:spcPts val="0"/>
              </a:spcAft>
              <a:buClr>
                <a:srgbClr val="0000FF"/>
              </a:buClr>
              <a:buSzPct val="85000"/>
              <a:buFont typeface="Wingdings" panose="05000000000000000000" pitchFamily="2" charset="2"/>
              <a:buChar char="ü"/>
              <a:defRPr/>
            </a:pPr>
            <a:r>
              <a:rPr lang="zh-CN" altLang="en-US" sz="2400" dirty="0">
                <a:solidFill>
                  <a:schemeClr val="tx1"/>
                </a:solidFill>
              </a:rPr>
              <a:t>数据</a:t>
            </a:r>
            <a:r>
              <a:rPr lang="en-US" altLang="zh-CN" sz="2400" dirty="0">
                <a:solidFill>
                  <a:schemeClr val="tx1"/>
                </a:solidFill>
              </a:rPr>
              <a:t>/</a:t>
            </a:r>
            <a:r>
              <a:rPr lang="zh-CN" altLang="en-US" sz="2400" dirty="0">
                <a:solidFill>
                  <a:schemeClr val="tx1"/>
                </a:solidFill>
              </a:rPr>
              <a:t>地址</a:t>
            </a:r>
            <a:r>
              <a:rPr lang="en-US" altLang="zh-CN" sz="2400" dirty="0">
                <a:solidFill>
                  <a:schemeClr val="tx1"/>
                </a:solidFill>
              </a:rPr>
              <a:t>/</a:t>
            </a:r>
            <a:r>
              <a:rPr lang="zh-CN" altLang="en-US" sz="2400" dirty="0">
                <a:solidFill>
                  <a:schemeClr val="tx1"/>
                </a:solidFill>
              </a:rPr>
              <a:t>控制总线：</a:t>
            </a:r>
            <a:r>
              <a:rPr lang="zh-CN" altLang="en-US" sz="2400" dirty="0">
                <a:solidFill>
                  <a:srgbClr val="00B050"/>
                </a:solidFill>
              </a:rPr>
              <a:t>地址总线条数与主存容量的关系</a:t>
            </a:r>
            <a:endParaRPr lang="en-US" altLang="zh-CN" sz="2400" dirty="0">
              <a:solidFill>
                <a:srgbClr val="00B050"/>
              </a:solidFill>
            </a:endParaRPr>
          </a:p>
          <a:p>
            <a:pPr marL="457200" indent="-457200" algn="just">
              <a:lnSpc>
                <a:spcPct val="130000"/>
              </a:lnSpc>
              <a:buClr>
                <a:srgbClr val="0000FF"/>
              </a:buClr>
              <a:buFont typeface="Wingdings" panose="05000000000000000000" pitchFamily="2" charset="2"/>
              <a:buChar char="Ø"/>
            </a:pPr>
            <a:r>
              <a:rPr lang="zh-CN" altLang="en-US" sz="2800" dirty="0">
                <a:latin typeface="+mn-lt"/>
                <a:sym typeface="+mn-ea"/>
              </a:rPr>
              <a:t>掌握</a:t>
            </a:r>
            <a:r>
              <a:rPr lang="en-US" altLang="zh-CN" sz="2800" dirty="0">
                <a:latin typeface="+mn-lt"/>
                <a:sym typeface="+mn-ea"/>
              </a:rPr>
              <a:t>IA-32</a:t>
            </a:r>
            <a:r>
              <a:rPr lang="zh-CN" altLang="en-US" sz="2800" dirty="0">
                <a:latin typeface="+mn-lt"/>
                <a:sym typeface="+mn-ea"/>
              </a:rPr>
              <a:t>常用寄存器的名称和作用</a:t>
            </a:r>
            <a:endParaRPr lang="zh-CN" altLang="en-US" sz="2800" dirty="0">
              <a:latin typeface="+mn-lt"/>
            </a:endParaRPr>
          </a:p>
          <a:p>
            <a:pPr marL="914400" lvl="1" indent="-457200" algn="just">
              <a:lnSpc>
                <a:spcPct val="130000"/>
              </a:lnSpc>
              <a:buClr>
                <a:srgbClr val="0000FF"/>
              </a:buClr>
              <a:buFont typeface="Wingdings" panose="05000000000000000000" pitchFamily="2" charset="2"/>
              <a:buChar char="ü"/>
            </a:pPr>
            <a:r>
              <a:rPr lang="zh-CN" altLang="en-US" sz="2400" dirty="0">
                <a:solidFill>
                  <a:srgbClr val="FF0000"/>
                </a:solidFill>
                <a:latin typeface="+mn-lt"/>
                <a:sym typeface="+mn-ea"/>
              </a:rPr>
              <a:t>通用寄存器</a:t>
            </a:r>
            <a:r>
              <a:rPr lang="en-US" altLang="zh-CN" sz="2400" dirty="0">
                <a:solidFill>
                  <a:srgbClr val="FF0000"/>
                </a:solidFill>
                <a:latin typeface="+mn-lt"/>
                <a:sym typeface="+mn-ea"/>
              </a:rPr>
              <a:t>(8</a:t>
            </a:r>
            <a:r>
              <a:rPr lang="zh-CN" altLang="en-US" sz="2400" dirty="0">
                <a:solidFill>
                  <a:srgbClr val="FF0000"/>
                </a:solidFill>
                <a:latin typeface="+mn-lt"/>
                <a:sym typeface="+mn-ea"/>
              </a:rPr>
              <a:t>个</a:t>
            </a:r>
            <a:r>
              <a:rPr lang="en-US" altLang="zh-CN" sz="2400" dirty="0">
                <a:solidFill>
                  <a:srgbClr val="FF0000"/>
                </a:solidFill>
                <a:latin typeface="+mn-lt"/>
                <a:sym typeface="+mn-ea"/>
              </a:rPr>
              <a:t>)</a:t>
            </a:r>
            <a:r>
              <a:rPr lang="zh-CN" altLang="en-US" sz="2400" dirty="0">
                <a:solidFill>
                  <a:srgbClr val="FF0000"/>
                </a:solidFill>
                <a:latin typeface="+mn-lt"/>
                <a:sym typeface="+mn-ea"/>
              </a:rPr>
              <a:t>、标志寄存器</a:t>
            </a:r>
            <a:r>
              <a:rPr lang="en-US" altLang="zh-CN" sz="2400" dirty="0">
                <a:solidFill>
                  <a:srgbClr val="FF0000"/>
                </a:solidFill>
                <a:latin typeface="+mn-lt"/>
                <a:sym typeface="+mn-ea"/>
              </a:rPr>
              <a:t>EFLAGS</a:t>
            </a:r>
            <a:endParaRPr lang="en-US" altLang="zh-CN" sz="2400" dirty="0">
              <a:solidFill>
                <a:srgbClr val="FF0000"/>
              </a:solidFill>
              <a:latin typeface="+mn-lt"/>
            </a:endParaRPr>
          </a:p>
          <a:p>
            <a:pPr marL="914400" lvl="1" indent="-457200" algn="just">
              <a:lnSpc>
                <a:spcPct val="130000"/>
              </a:lnSpc>
              <a:buClr>
                <a:srgbClr val="0000FF"/>
              </a:buClr>
              <a:buFont typeface="Wingdings" panose="05000000000000000000" pitchFamily="2" charset="2"/>
              <a:buChar char="ü"/>
            </a:pPr>
            <a:r>
              <a:rPr lang="zh-CN" altLang="en-US" sz="2400" dirty="0">
                <a:solidFill>
                  <a:srgbClr val="FF0000"/>
                </a:solidFill>
                <a:latin typeface="+mn-lt"/>
                <a:sym typeface="+mn-ea"/>
              </a:rPr>
              <a:t>专用寄存器：段寄存器</a:t>
            </a:r>
            <a:r>
              <a:rPr lang="en-US" altLang="zh-CN" sz="2400" dirty="0">
                <a:solidFill>
                  <a:srgbClr val="FF0000"/>
                </a:solidFill>
                <a:latin typeface="+mn-lt"/>
                <a:sym typeface="+mn-ea"/>
              </a:rPr>
              <a:t>(6</a:t>
            </a:r>
            <a:r>
              <a:rPr lang="zh-CN" altLang="en-US" sz="2400" dirty="0">
                <a:solidFill>
                  <a:srgbClr val="FF0000"/>
                </a:solidFill>
                <a:latin typeface="+mn-lt"/>
                <a:sym typeface="+mn-ea"/>
              </a:rPr>
              <a:t>个</a:t>
            </a:r>
            <a:r>
              <a:rPr lang="en-US" altLang="zh-CN" sz="2400" dirty="0">
                <a:solidFill>
                  <a:srgbClr val="FF0000"/>
                </a:solidFill>
                <a:latin typeface="+mn-lt"/>
                <a:sym typeface="+mn-ea"/>
              </a:rPr>
              <a:t>16</a:t>
            </a:r>
            <a:r>
              <a:rPr lang="zh-CN" altLang="en-US" sz="2400" dirty="0">
                <a:solidFill>
                  <a:srgbClr val="FF0000"/>
                </a:solidFill>
                <a:latin typeface="+mn-lt"/>
                <a:sym typeface="+mn-ea"/>
              </a:rPr>
              <a:t>位</a:t>
            </a:r>
            <a:r>
              <a:rPr lang="en-US" altLang="zh-CN" sz="2400" dirty="0">
                <a:solidFill>
                  <a:srgbClr val="FF0000"/>
                </a:solidFill>
                <a:latin typeface="+mn-lt"/>
                <a:sym typeface="+mn-ea"/>
              </a:rPr>
              <a:t>)</a:t>
            </a:r>
            <a:r>
              <a:rPr lang="zh-CN" altLang="en-US" sz="2400" dirty="0">
                <a:solidFill>
                  <a:srgbClr val="FF0000"/>
                </a:solidFill>
                <a:latin typeface="+mn-lt"/>
                <a:sym typeface="+mn-ea"/>
              </a:rPr>
              <a:t>、指令指针</a:t>
            </a:r>
            <a:r>
              <a:rPr lang="en-US" altLang="zh-CN" sz="2400" dirty="0">
                <a:solidFill>
                  <a:srgbClr val="FF0000"/>
                </a:solidFill>
                <a:latin typeface="+mn-lt"/>
                <a:sym typeface="+mn-ea"/>
              </a:rPr>
              <a:t>EIP</a:t>
            </a:r>
            <a:endParaRPr lang="en-US" altLang="zh-CN" sz="2400" dirty="0">
              <a:solidFill>
                <a:srgbClr val="FF0000"/>
              </a:solidFill>
              <a:latin typeface="+mn-lt"/>
            </a:endParaRPr>
          </a:p>
          <a:p>
            <a:pPr marL="457200" indent="-457200" algn="just">
              <a:lnSpc>
                <a:spcPct val="130000"/>
              </a:lnSpc>
              <a:buClr>
                <a:srgbClr val="0000FF"/>
              </a:buClr>
              <a:buFont typeface="Wingdings" panose="05000000000000000000" pitchFamily="2" charset="2"/>
              <a:buChar char="Ø"/>
            </a:pPr>
            <a:r>
              <a:rPr lang="zh-CN" altLang="en-US" sz="2800" dirty="0">
                <a:solidFill>
                  <a:schemeClr val="tx1"/>
                </a:solidFill>
                <a:latin typeface="+mn-lt"/>
                <a:sym typeface="+mn-ea"/>
              </a:rPr>
              <a:t>理解</a:t>
            </a:r>
            <a:r>
              <a:rPr lang="en-US" altLang="zh-CN" sz="2800" dirty="0">
                <a:solidFill>
                  <a:schemeClr val="tx1"/>
                </a:solidFill>
                <a:latin typeface="+mn-lt"/>
                <a:sym typeface="+mn-ea"/>
              </a:rPr>
              <a:t>IA-32</a:t>
            </a:r>
            <a:r>
              <a:rPr lang="zh-CN" altLang="en-US" sz="2800" dirty="0">
                <a:solidFill>
                  <a:schemeClr val="tx1"/>
                </a:solidFill>
                <a:latin typeface="+mn-lt"/>
                <a:sym typeface="+mn-ea"/>
              </a:rPr>
              <a:t>的存储器模型和工作方式</a:t>
            </a:r>
            <a:endParaRPr lang="zh-CN" altLang="en-US" sz="2800" dirty="0">
              <a:solidFill>
                <a:schemeClr val="tx1"/>
              </a:solidFill>
              <a:latin typeface="+mn-lt"/>
            </a:endParaRPr>
          </a:p>
          <a:p>
            <a:pPr marL="914400" lvl="1" indent="-457200" algn="just">
              <a:lnSpc>
                <a:spcPct val="130000"/>
              </a:lnSpc>
              <a:buClr>
                <a:srgbClr val="0000FF"/>
              </a:buClr>
              <a:buFont typeface="Wingdings" panose="05000000000000000000" pitchFamily="2" charset="2"/>
              <a:buChar char="ü"/>
            </a:pPr>
            <a:r>
              <a:rPr lang="zh-CN" altLang="en-US" sz="2400" dirty="0">
                <a:solidFill>
                  <a:schemeClr val="tx1"/>
                </a:solidFill>
                <a:latin typeface="+mn-lt"/>
                <a:sym typeface="+mn-ea"/>
              </a:rPr>
              <a:t>工作方式         存储模型        </a:t>
            </a:r>
            <a:r>
              <a:rPr lang="zh-CN" altLang="en-US" sz="2400" dirty="0">
                <a:solidFill>
                  <a:schemeClr val="tx1"/>
                </a:solidFill>
                <a:highlight>
                  <a:srgbClr val="FFFF00"/>
                </a:highlight>
                <a:latin typeface="+mn-lt"/>
                <a:sym typeface="+mn-ea"/>
              </a:rPr>
              <a:t>地址转换</a:t>
            </a:r>
            <a:r>
              <a:rPr lang="en-US" altLang="zh-CN" sz="2400" dirty="0">
                <a:solidFill>
                  <a:schemeClr val="tx1"/>
                </a:solidFill>
                <a:latin typeface="+mn-lt"/>
                <a:sym typeface="+mn-ea"/>
              </a:rPr>
              <a:t>(</a:t>
            </a:r>
            <a:r>
              <a:rPr lang="zh-CN" altLang="en-US" sz="2400" dirty="0">
                <a:solidFill>
                  <a:schemeClr val="tx1"/>
                </a:solidFill>
                <a:latin typeface="+mn-lt"/>
                <a:sym typeface="+mn-ea"/>
              </a:rPr>
              <a:t>逻辑、线性地址</a:t>
            </a:r>
            <a:r>
              <a:rPr lang="en-US" altLang="zh-CN" sz="2400" dirty="0">
                <a:solidFill>
                  <a:schemeClr val="tx1"/>
                </a:solidFill>
                <a:latin typeface="+mn-lt"/>
                <a:sym typeface="+mn-ea"/>
              </a:rPr>
              <a:t>)</a:t>
            </a:r>
          </a:p>
          <a:p>
            <a:pPr lvl="1" indent="-457200" algn="just">
              <a:lnSpc>
                <a:spcPct val="130000"/>
              </a:lnSpc>
              <a:buClr>
                <a:srgbClr val="0000FF"/>
              </a:buClr>
              <a:buSzTx/>
              <a:buFont typeface="Wingdings" panose="05000000000000000000" pitchFamily="2" charset="2"/>
              <a:buChar char="Ø"/>
            </a:pPr>
            <a:r>
              <a:rPr lang="en-US" altLang="zh-CN" sz="2800" dirty="0">
                <a:solidFill>
                  <a:srgbClr val="0000FF"/>
                </a:solidFill>
                <a:latin typeface="+mn-lt"/>
                <a:sym typeface="+mn-ea"/>
              </a:rPr>
              <a:t>掌握汇编语言程序的开发方法-VS201X</a:t>
            </a:r>
            <a:endParaRPr lang="en-US" altLang="zh-CN" sz="2400" dirty="0">
              <a:solidFill>
                <a:srgbClr val="0000FF"/>
              </a:solidFill>
              <a:latin typeface="+mn-lt"/>
              <a:sym typeface="+mn-ea"/>
            </a:endParaRPr>
          </a:p>
          <a:p>
            <a:pPr marL="914400" lvl="1" indent="-457200" algn="just">
              <a:lnSpc>
                <a:spcPct val="130000"/>
              </a:lnSpc>
              <a:buClr>
                <a:srgbClr val="0000FF"/>
              </a:buClr>
              <a:buFont typeface="Wingdings" panose="05000000000000000000" pitchFamily="2" charset="2"/>
              <a:buChar char="ü"/>
            </a:pPr>
            <a:endParaRPr lang="en-US" altLang="zh-CN" sz="2400" dirty="0">
              <a:solidFill>
                <a:srgbClr val="0000FF"/>
              </a:solidFill>
              <a:latin typeface="+mn-lt"/>
              <a:sym typeface="+mn-ea"/>
            </a:endParaRPr>
          </a:p>
        </p:txBody>
      </p:sp>
      <p:sp>
        <p:nvSpPr>
          <p:cNvPr id="16" name="Line 8"/>
          <p:cNvSpPr>
            <a:spLocks noChangeShapeType="1"/>
          </p:cNvSpPr>
          <p:nvPr/>
        </p:nvSpPr>
        <p:spPr bwMode="auto">
          <a:xfrm>
            <a:off x="2411502" y="1516136"/>
            <a:ext cx="577952" cy="0"/>
          </a:xfrm>
          <a:prstGeom prst="line">
            <a:avLst/>
          </a:prstGeom>
          <a:noFill/>
          <a:ln w="38100">
            <a:solidFill>
              <a:schemeClr val="tx1"/>
            </a:solidFill>
            <a:rou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2" name="Line 8"/>
          <p:cNvSpPr>
            <a:spLocks noChangeShapeType="1"/>
          </p:cNvSpPr>
          <p:nvPr/>
        </p:nvSpPr>
        <p:spPr bwMode="auto">
          <a:xfrm>
            <a:off x="5836692" y="1495181"/>
            <a:ext cx="577952" cy="0"/>
          </a:xfrm>
          <a:prstGeom prst="line">
            <a:avLst/>
          </a:prstGeom>
          <a:noFill/>
          <a:ln w="38100">
            <a:solidFill>
              <a:schemeClr val="tx1"/>
            </a:solidFill>
            <a:rou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3" name="Line 8"/>
          <p:cNvSpPr>
            <a:spLocks noChangeShapeType="1"/>
          </p:cNvSpPr>
          <p:nvPr/>
        </p:nvSpPr>
        <p:spPr bwMode="auto">
          <a:xfrm>
            <a:off x="2627402" y="5527431"/>
            <a:ext cx="577952" cy="0"/>
          </a:xfrm>
          <a:prstGeom prst="line">
            <a:avLst/>
          </a:prstGeom>
          <a:noFill/>
          <a:ln w="38100">
            <a:solidFill>
              <a:schemeClr val="tx1"/>
            </a:solidFill>
            <a:rou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4" name="Line 8"/>
          <p:cNvSpPr>
            <a:spLocks noChangeShapeType="1"/>
          </p:cNvSpPr>
          <p:nvPr/>
        </p:nvSpPr>
        <p:spPr bwMode="auto">
          <a:xfrm>
            <a:off x="4499382" y="5517271"/>
            <a:ext cx="577952" cy="0"/>
          </a:xfrm>
          <a:prstGeom prst="line">
            <a:avLst/>
          </a:prstGeom>
          <a:noFill/>
          <a:ln w="38100">
            <a:solidFill>
              <a:schemeClr val="tx1"/>
            </a:solidFill>
            <a:rou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p:cNvSpPr txBox="1"/>
          <p:nvPr/>
        </p:nvSpPr>
        <p:spPr>
          <a:xfrm>
            <a:off x="611560" y="820161"/>
            <a:ext cx="7500990" cy="5524096"/>
          </a:xfrm>
          <a:prstGeom prst="rect">
            <a:avLst/>
          </a:prstGeom>
        </p:spPr>
        <p:txBody>
          <a:bodyPr/>
          <a:lstStyle/>
          <a:p>
            <a:pPr marL="457200" indent="-457200" eaLnBrk="1" hangingPunct="1">
              <a:lnSpc>
                <a:spcPct val="140000"/>
              </a:lnSpc>
              <a:buSzPct val="100000"/>
              <a:buFont typeface="Wingdings" panose="05000000000000000000" pitchFamily="2" charset="2"/>
              <a:buChar char="Ø"/>
            </a:pPr>
            <a:r>
              <a:rPr lang="zh-CN" altLang="en-US" sz="2800" dirty="0">
                <a:latin typeface="黑体" panose="02010609060101010101" pitchFamily="49" charset="-122"/>
              </a:rPr>
              <a:t>安装</a:t>
            </a:r>
            <a:r>
              <a:rPr lang="en-US" altLang="zh-CN" sz="2800" dirty="0">
                <a:latin typeface="黑体" panose="02010609060101010101" pitchFamily="49" charset="-122"/>
              </a:rPr>
              <a:t>VS 2019/2022</a:t>
            </a:r>
            <a:r>
              <a:rPr lang="zh-CN" altLang="en-US" sz="2800" dirty="0">
                <a:latin typeface="黑体" panose="02010609060101010101" pitchFamily="49" charset="-122"/>
              </a:rPr>
              <a:t>，准备编程环境</a:t>
            </a:r>
            <a:endParaRPr lang="en-US" altLang="zh-CN" sz="2800" dirty="0">
              <a:latin typeface="黑体" panose="02010609060101010101" pitchFamily="49" charset="-122"/>
            </a:endParaRPr>
          </a:p>
        </p:txBody>
      </p:sp>
      <p:sp>
        <p:nvSpPr>
          <p:cNvPr id="5" name="标题 1"/>
          <p:cNvSpPr txBox="1"/>
          <p:nvPr/>
        </p:nvSpPr>
        <p:spPr>
          <a:xfrm>
            <a:off x="0" y="-24"/>
            <a:ext cx="9144000" cy="849296"/>
          </a:xfrm>
          <a:prstGeom prst="rect">
            <a:avLst/>
          </a:prstGeom>
        </p:spPr>
        <p:txBody>
          <a:bodyPr>
            <a:normAutofit/>
          </a:bodyPr>
          <a:lstStyle/>
          <a:p>
            <a:pPr lvl="0">
              <a:defRPr/>
            </a:pPr>
            <a:r>
              <a:rPr lang="zh-CN" altLang="en-US" kern="0" dirty="0">
                <a:solidFill>
                  <a:srgbClr val="000000"/>
                </a:solidFill>
                <a:latin typeface="黑体" panose="02010609060101010101" pitchFamily="49" charset="-122"/>
                <a:cs typeface="+mj-cs"/>
              </a:rPr>
              <a:t>课后作业：准备实验环境</a:t>
            </a:r>
            <a:endParaRPr kumimoji="1" lang="zh-CN" altLang="en-US" b="0" i="0" u="none" strike="noStrike" kern="0" cap="none" spc="0" normalizeH="0" baseline="0" noProof="0" dirty="0">
              <a:ln>
                <a:noFill/>
              </a:ln>
              <a:solidFill>
                <a:srgbClr val="000000"/>
              </a:solidFill>
              <a:effectLst/>
              <a:uLnTx/>
              <a:uFillTx/>
              <a:latin typeface="黑体" panose="02010609060101010101" pitchFamily="49" charset="-122"/>
              <a:cs typeface="+mj-cs"/>
            </a:endParaRPr>
          </a:p>
        </p:txBody>
      </p:sp>
      <p:cxnSp>
        <p:nvCxnSpPr>
          <p:cNvPr id="6" name="直接连接符 5"/>
          <p:cNvCxnSpPr/>
          <p:nvPr/>
        </p:nvCxnSpPr>
        <p:spPr bwMode="auto">
          <a:xfrm>
            <a:off x="142844" y="781975"/>
            <a:ext cx="8858312" cy="3819"/>
          </a:xfrm>
          <a:prstGeom prst="line">
            <a:avLst/>
          </a:prstGeom>
          <a:ln>
            <a:solidFill>
              <a:srgbClr val="0000FF"/>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453" y="1465930"/>
            <a:ext cx="7675947" cy="495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4"/>
          <p:cNvSpPr txBox="1">
            <a:spLocks noChangeArrowheads="1"/>
          </p:cNvSpPr>
          <p:nvPr/>
        </p:nvSpPr>
        <p:spPr bwMode="auto">
          <a:xfrm>
            <a:off x="1535752" y="4106373"/>
            <a:ext cx="5957080" cy="523220"/>
          </a:xfrm>
          <a:prstGeom prst="rect">
            <a:avLst/>
          </a:prstGeom>
          <a:solidFill>
            <a:schemeClr val="bg1"/>
          </a:solidFill>
          <a:ln>
            <a:noFill/>
          </a:ln>
        </p:spPr>
        <p:txBody>
          <a:bodyPr wrap="none">
            <a:spAutoFit/>
          </a:bodyPr>
          <a:lstStyle>
            <a:lvl1pPr algn="just">
              <a:spcBef>
                <a:spcPct val="20000"/>
              </a:spcBef>
              <a:buClr>
                <a:schemeClr val="folHlink"/>
              </a:buClr>
              <a:buFont typeface="Wingdings" panose="05000000000000000000" pitchFamily="2" charset="2"/>
              <a:buChar char="Ø"/>
              <a:defRPr sz="3200" b="1">
                <a:solidFill>
                  <a:schemeClr val="tx1"/>
                </a:solidFill>
                <a:latin typeface="宋体" panose="02010600030101010101" pitchFamily="2" charset="-122"/>
                <a:ea typeface="宋体" panose="02010600030101010101" pitchFamily="2" charset="-122"/>
              </a:defRPr>
            </a:lvl1pPr>
            <a:lvl2pPr marL="742950" indent="-285750" algn="just">
              <a:spcBef>
                <a:spcPct val="20000"/>
              </a:spcBef>
              <a:buClr>
                <a:schemeClr val="accent1"/>
              </a:buClr>
              <a:buSzPct val="70000"/>
              <a:buFont typeface="Wingdings" panose="05000000000000000000" pitchFamily="2" charset="2"/>
              <a:buBlip>
                <a:blip r:embed="rId4"/>
              </a:buBlip>
              <a:defRPr sz="2800" b="1">
                <a:solidFill>
                  <a:srgbClr val="193C7D"/>
                </a:solidFill>
                <a:latin typeface="宋体" panose="02010600030101010101" pitchFamily="2" charset="-122"/>
                <a:ea typeface="宋体" panose="02010600030101010101" pitchFamily="2" charset="-122"/>
              </a:defRPr>
            </a:lvl2pPr>
            <a:lvl3pPr marL="1143000" indent="-228600" algn="just">
              <a:spcBef>
                <a:spcPct val="20000"/>
              </a:spcBef>
              <a:buClr>
                <a:schemeClr val="folHlink"/>
              </a:buClr>
              <a:buSzPct val="65000"/>
              <a:buFont typeface="Wingdings" panose="05000000000000000000" pitchFamily="2" charset="2"/>
              <a:buBlip>
                <a:blip r:embed="rId5"/>
              </a:buBlip>
              <a:defRPr sz="2400" b="1">
                <a:solidFill>
                  <a:schemeClr val="tx2"/>
                </a:solidFill>
                <a:latin typeface="宋体" panose="02010600030101010101" pitchFamily="2" charset="-122"/>
                <a:ea typeface="宋体" panose="02010600030101010101" pitchFamily="2" charset="-122"/>
              </a:defRPr>
            </a:lvl3pPr>
            <a:lvl4pPr marL="16002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lgn="just">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gn="l">
              <a:spcBef>
                <a:spcPct val="0"/>
              </a:spcBef>
              <a:buClrTx/>
              <a:buFontTx/>
              <a:buNone/>
            </a:pPr>
            <a:r>
              <a:rPr lang="en-US" altLang="zh-CN" sz="2800" dirty="0">
                <a:solidFill>
                  <a:srgbClr val="FF0000"/>
                </a:solidFill>
                <a:latin typeface="黑体" panose="02010609060101010101" pitchFamily="49" charset="-122"/>
                <a:ea typeface="黑体" panose="02010609060101010101" pitchFamily="49" charset="-122"/>
              </a:rPr>
              <a:t>VS</a:t>
            </a:r>
            <a:r>
              <a:rPr lang="zh-CN" altLang="en-US" sz="2800" dirty="0">
                <a:solidFill>
                  <a:srgbClr val="FF0000"/>
                </a:solidFill>
                <a:latin typeface="黑体" panose="02010609060101010101" pitchFamily="49" charset="-122"/>
                <a:ea typeface="黑体" panose="02010609060101010101" pitchFamily="49" charset="-122"/>
              </a:rPr>
              <a:t>安装程序及相应说明请参考群文件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人与信息系统交互的信任机理及其电子税务系统实证研究&amp;quot;&quot;/&gt;&lt;property id=&quot;20307&quot; value=&quot;982&quot;/&gt;&lt;/object&gt;&lt;object type=&quot;3&quot; unique_id=&quot;10005&quot;&gt;&lt;property id=&quot;20148&quot; value=&quot;5&quot;/&gt;&lt;property id=&quot;20300&quot; value=&quot;Slide 2 - &amp;quot;汇 报 提 纲&amp;quot;&quot;/&gt;&lt;property id=&quot;20307&quot; value=&quot;983&quot;/&gt;&lt;/object&gt;&lt;object type=&quot;3&quot; unique_id=&quot;10006&quot;&gt;&lt;property id=&quot;20148&quot; value=&quot;5&quot;/&gt;&lt;property id=&quot;20300&quot; value=&quot;Slide 3&quot;/&gt;&lt;property id=&quot;20307&quot; value=&quot;1114&quot;/&gt;&lt;/object&gt;&lt;object type=&quot;3&quot; unique_id=&quot;10007&quot;&gt;&lt;property id=&quot;20148&quot; value=&quot;5&quot;/&gt;&lt;property id=&quot;20300&quot; value=&quot;Slide 4&quot;/&gt;&lt;property id=&quot;20307&quot; value=&quot;1115&quot;/&gt;&lt;/object&gt;&lt;object type=&quot;3&quot; unique_id=&quot;10008&quot;&gt;&lt;property id=&quot;20148&quot; value=&quot;5&quot;/&gt;&lt;property id=&quot;20300&quot; value=&quot;Slide 5&quot;/&gt;&lt;property id=&quot;20307&quot; value=&quot;1116&quot;/&gt;&lt;/object&gt;&lt;object type=&quot;3&quot; unique_id=&quot;10009&quot;&gt;&lt;property id=&quot;20148&quot; value=&quot;5&quot;/&gt;&lt;property id=&quot;20300&quot; value=&quot;Slide 6&quot;/&gt;&lt;property id=&quot;20307&quot; value=&quot;1112&quot;/&gt;&lt;/object&gt;&lt;object type=&quot;3&quot; unique_id=&quot;10010&quot;&gt;&lt;property id=&quot;20148&quot; value=&quot;5&quot;/&gt;&lt;property id=&quot;20300&quot; value=&quot;Slide 7&quot;/&gt;&lt;property id=&quot;20307&quot; value=&quot;1113&quot;/&gt;&lt;/object&gt;&lt;object type=&quot;3&quot; unique_id=&quot;10011&quot;&gt;&lt;property id=&quot;20148&quot; value=&quot;5&quot;/&gt;&lt;property id=&quot;20300&quot; value=&quot;Slide 8&quot;/&gt;&lt;property id=&quot;20307&quot; value=&quot;1123&quot;/&gt;&lt;/object&gt;&lt;object type=&quot;3&quot; unique_id=&quot;10013&quot;&gt;&lt;property id=&quot;20148&quot; value=&quot;5&quot;/&gt;&lt;property id=&quot;20300&quot; value=&quot;Slide 9&quot;/&gt;&lt;property id=&quot;20307&quot; value=&quot;1085&quot;/&gt;&lt;/object&gt;&lt;object type=&quot;3&quot; unique_id=&quot;10014&quot;&gt;&lt;property id=&quot;20148&quot; value=&quot;5&quot;/&gt;&lt;property id=&quot;20300&quot; value=&quot;Slide 10&quot;/&gt;&lt;property id=&quot;20307&quot; value=&quot;1086&quot;/&gt;&lt;/object&gt;&lt;object type=&quot;3&quot; unique_id=&quot;10015&quot;&gt;&lt;property id=&quot;20148&quot; value=&quot;5&quot;/&gt;&lt;property id=&quot;20300&quot; value=&quot;Slide 11&quot;/&gt;&lt;property id=&quot;20307&quot; value=&quot;1119&quot;/&gt;&lt;/object&gt;&lt;object type=&quot;3&quot; unique_id=&quot;10017&quot;&gt;&lt;property id=&quot;20148&quot; value=&quot;5&quot;/&gt;&lt;property id=&quot;20300&quot; value=&quot;Slide 13&quot;/&gt;&lt;property id=&quot;20307&quot; value=&quot;1120&quot;/&gt;&lt;/object&gt;&lt;object type=&quot;3&quot; unique_id=&quot;10018&quot;&gt;&lt;property id=&quot;20148&quot; value=&quot;5&quot;/&gt;&lt;property id=&quot;20300&quot; value=&quot;Slide 14&quot;/&gt;&lt;property id=&quot;20307&quot; value=&quot;1117&quot;/&gt;&lt;/object&gt;&lt;object type=&quot;3&quot; unique_id=&quot;10019&quot;&gt;&lt;property id=&quot;20148&quot; value=&quot;5&quot;/&gt;&lt;property id=&quot;20300&quot; value=&quot;Slide 15&quot;/&gt;&lt;property id=&quot;20307&quot; value=&quot;1118&quot;/&gt;&lt;/object&gt;&lt;object type=&quot;3&quot; unique_id=&quot;10236&quot;&gt;&lt;property id=&quot;20148&quot; value=&quot;5&quot;/&gt;&lt;property id=&quot;20300&quot; value=&quot;Slide 12&quot;/&gt;&lt;property id=&quot;20307&quot; value=&quot;1124&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RAINPROBLEM" val="FillBlank"/>
  <p:tag name="PROBLEMBLANK" val="[{&quot;num&quot;:1,&quot;caseSensitive&quot;:false,&quot;fuzzyMatch&quot;:false,&quot;Score&quot;:1.0,&quot;answers&quot;:[&quot;EAX&quot;]},{&quot;num&quot;:2,&quot;caseSensitive&quot;:false,&quot;fuzzyMatch&quot;:false,&quot;Score&quot;:1.0,&quot;answers&quot;:[&quot;EBX&quot;]},{&quot;num&quot;:3,&quot;caseSensitive&quot;:false,&quot;fuzzyMatch&quot;:false,&quot;Score&quot;:1.0,&quot;answers&quot;:[&quot;ECX&quot;]},{&quot;num&quot;:4,&quot;caseSensitive&quot;:false,&quot;fuzzyMatch&quot;:false,&quot;Score&quot;:1.0,&quot;answers&quot;:[&quot;EDX&quot;]},{&quot;num&quot;:5,&quot;caseSensitive&quot;:false,&quot;fuzzyMatch&quot;:false,&quot;Score&quot;:1.0,&quot;answers&quot;:[&quot;ESI&quot;]},{&quot;num&quot;:6,&quot;caseSensitive&quot;:false,&quot;fuzzyMatch&quot;:false,&quot;Score&quot;:1.0,&quot;answers&quot;:[&quot;EDI&quot;]},{&quot;num&quot;:7,&quot;caseSensitive&quot;:false,&quot;fuzzyMatch&quot;:false,&quot;Score&quot;:1.0,&quot;answers&quot;:[&quot;EBP&quot;]},{&quot;num&quot;:8,&quot;caseSensitive&quot;:false,&quot;fuzzyMatch&quot;:false,&quot;Score&quot;:1.0,&quot;answers&quot;:[&quot;ESP&quot;]}]"/>
  <p:tag name="PROBLEMSCORE" val="8.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 val="[{&quot;num&quot;:1,&quot;caseSensitive&quot;:false,&quot;fuzzyMatch&quot;:false,&quot;Score&quot;:1.0,&quot;answers&quot;:[&quot;平展或段式&quot;]},{&quot;num&quot;:2,&quot;caseSensitive&quot;:false,&quot;fuzzyMatch&quot;:false,&quot;Score&quot;:1.0,&quot;answers&quot;:[&quot;实地址&quot;]}]"/>
  <p:tag name="PROBLEMSCORE" val="2.0"/>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 val="[{&quot;num&quot;:1,&quot;caseSensitive&quot;:false,&quot;fuzzyMatch&quot;:false,&quot;Score&quot;:1.0,&quot;answers&quot;:[&quot;段基地址&quot;]},{&quot;num&quot;:2,&quot;caseSensitive&quot;:false,&quot;fuzzyMatch&quot;:false,&quot;Score&quot;:1.0,&quot;answers&quot;:[&quot;偏移地址&quot;]},{&quot;num&quot;:3,&quot;caseSensitive&quot;:false,&quot;fuzzyMatch&quot;:false,&quot;Score&quot;:1.0,&quot;answers&quot;:[&quot;EIP&quot;]},{&quot;num&quot;:4,&quot;caseSensitive&quot;:false,&quot;fuzzyMatch&quot;:false,&quot;Score&quot;:1.0,&quot;answers&quot;:[&quot;IP&quot;]}]"/>
  <p:tag name="PROBLEMSCORE" val="4.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BLANK" val="[{&quot;num&quot;:1,&quot;caseSensitive&quot;:false,&quot;fuzzyMatch&quot;:false,&quot;Score&quot;:1.0,&quot;answers&quot;:[&quot;73C00H&quot;]},{&quot;num&quot;:2,&quot;caseSensitive&quot;:false,&quot;fuzzyMatch&quot;:false,&quot;Score&quot;:1.0,&quot;answers&quot;:[&quot;73800H&quot;]}]"/>
  <p:tag name="PROBLEMSCORE" val="2.0"/>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Ricepaper">
  <a:themeElements>
    <a:clrScheme name="">
      <a:dk1>
        <a:srgbClr val="333333"/>
      </a:dk1>
      <a:lt1>
        <a:srgbClr val="FBFDFF"/>
      </a:lt1>
      <a:dk2>
        <a:srgbClr val="5E65C0"/>
      </a:dk2>
      <a:lt2>
        <a:srgbClr val="333333"/>
      </a:lt2>
      <a:accent1>
        <a:srgbClr val="78C0B2"/>
      </a:accent1>
      <a:accent2>
        <a:srgbClr val="262D4C"/>
      </a:accent2>
      <a:accent3>
        <a:srgbClr val="B6B8DC"/>
      </a:accent3>
      <a:accent4>
        <a:srgbClr val="D6D8DA"/>
      </a:accent4>
      <a:accent5>
        <a:srgbClr val="BEDCD5"/>
      </a:accent5>
      <a:accent6>
        <a:srgbClr val="212844"/>
      </a:accent6>
      <a:hlink>
        <a:srgbClr val="598BBD"/>
      </a:hlink>
      <a:folHlink>
        <a:srgbClr val="4D4D4D"/>
      </a:folHlink>
    </a:clrScheme>
    <a:fontScheme name="Ricepaper">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8329</Words>
  <Application>Microsoft Office PowerPoint</Application>
  <PresentationFormat>全屏显示(4:3)</PresentationFormat>
  <Paragraphs>984</Paragraphs>
  <Slides>71</Slides>
  <Notes>60</Notes>
  <HiddenSlides>0</HiddenSlides>
  <MMClips>0</MMClips>
  <ScaleCrop>false</ScaleCrop>
  <HeadingPairs>
    <vt:vector size="6" baseType="variant">
      <vt:variant>
        <vt:lpstr>已用的字体</vt:lpstr>
      </vt:variant>
      <vt:variant>
        <vt:i4>12</vt:i4>
      </vt:variant>
      <vt:variant>
        <vt:lpstr>主题</vt:lpstr>
      </vt:variant>
      <vt:variant>
        <vt:i4>12</vt:i4>
      </vt:variant>
      <vt:variant>
        <vt:lpstr>幻灯片标题</vt:lpstr>
      </vt:variant>
      <vt:variant>
        <vt:i4>71</vt:i4>
      </vt:variant>
    </vt:vector>
  </HeadingPairs>
  <TitlesOfParts>
    <vt:vector size="95" baseType="lpstr">
      <vt:lpstr>-apple-system</vt:lpstr>
      <vt:lpstr>Monotype Sorts</vt:lpstr>
      <vt:lpstr>等线</vt:lpstr>
      <vt:lpstr>黑体</vt:lpstr>
      <vt:lpstr>楷体_GB2312</vt:lpstr>
      <vt:lpstr>宋体</vt:lpstr>
      <vt:lpstr>微软雅黑</vt:lpstr>
      <vt:lpstr>Algerian</vt:lpstr>
      <vt:lpstr>Arial</vt:lpstr>
      <vt:lpstr>Tahoma</vt:lpstr>
      <vt:lpstr>Times New Roman</vt:lpstr>
      <vt:lpstr>Wingdings</vt:lpstr>
      <vt:lpstr>Ricepaper</vt:lpstr>
      <vt:lpstr>1_Ricepaper</vt:lpstr>
      <vt:lpstr>2_Ricepaper</vt:lpstr>
      <vt:lpstr>3_Ricepaper</vt:lpstr>
      <vt:lpstr>4_Ricepaper</vt:lpstr>
      <vt:lpstr>5_Ricepaper</vt:lpstr>
      <vt:lpstr>6_Ricepaper</vt:lpstr>
      <vt:lpstr>7_Ricepaper</vt:lpstr>
      <vt:lpstr>8_Ricepaper</vt:lpstr>
      <vt:lpstr>9_Ricepaper</vt:lpstr>
      <vt:lpstr>10_Ricepaper</vt:lpstr>
      <vt:lpstr>11_Ricepaper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汇编原理与接口</dc:title>
  <dc:creator>刘兆丽</dc:creator>
  <cp:lastModifiedBy> </cp:lastModifiedBy>
  <cp:revision>7436</cp:revision>
  <cp:lastPrinted>1998-10-16T09:27:00Z</cp:lastPrinted>
  <dcterms:created xsi:type="dcterms:W3CDTF">1997-07-11T08:05:00Z</dcterms:created>
  <dcterms:modified xsi:type="dcterms:W3CDTF">2026-03-04T14:05:33Z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712519AEEC9C42CDA6D97D91A4FD9449_12</vt:lpwstr>
  </property>
  <property fmtid="{D5CDD505-2E9C-101B-9397-08002B2CF9AE}" pid="3" name="KSOProductBuildVer">
    <vt:lpwstr>2052-12.1.0.25225</vt:lpwstr>
  </property>
</Properties>
</file>