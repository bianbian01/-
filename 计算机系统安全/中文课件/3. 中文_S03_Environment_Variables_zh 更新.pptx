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8"/>
  </p:notesMasterIdLst>
  <p:sldIdLst>
    <p:sldId id="259" r:id="rId2"/>
    <p:sldId id="265" r:id="rId3"/>
    <p:sldId id="299" r:id="rId4"/>
    <p:sldId id="277" r:id="rId5"/>
    <p:sldId id="300" r:id="rId6"/>
    <p:sldId id="301" r:id="rId7"/>
    <p:sldId id="278" r:id="rId8"/>
    <p:sldId id="266" r:id="rId9"/>
    <p:sldId id="305" r:id="rId10"/>
    <p:sldId id="302" r:id="rId11"/>
    <p:sldId id="303" r:id="rId12"/>
    <p:sldId id="304" r:id="rId13"/>
    <p:sldId id="306" r:id="rId14"/>
    <p:sldId id="282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295" r:id="rId26"/>
    <p:sldId id="318" r:id="rId27"/>
    <p:sldId id="317" r:id="rId28"/>
    <p:sldId id="319" r:id="rId29"/>
    <p:sldId id="296" r:id="rId30"/>
    <p:sldId id="320" r:id="rId31"/>
    <p:sldId id="297" r:id="rId32"/>
    <p:sldId id="321" r:id="rId33"/>
    <p:sldId id="322" r:id="rId34"/>
    <p:sldId id="298" r:id="rId35"/>
    <p:sldId id="323" r:id="rId36"/>
    <p:sldId id="324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86561" autoAdjust="0"/>
  </p:normalViewPr>
  <p:slideViewPr>
    <p:cSldViewPr snapToGrid="0">
      <p:cViewPr varScale="1">
        <p:scale>
          <a:sx n="72" d="100"/>
          <a:sy n="72" d="100"/>
        </p:scale>
        <p:origin x="42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9C19D-B05D-4886-AC51-201CAE13C1B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4F06F-1185-4038-BF21-B45636E4F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0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定义什么是环境变量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56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访问环境变量的方法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 err="1"/>
              <a:t>环境</a:t>
            </a:r>
            <a:r>
              <a:rPr lang="zh-CN" dirty="0"/>
              <a:t>[] 和环境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推荐的方法是使用 environ——原因将在后续幻灯片中解释。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052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获取环境变量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execve() 系统调用中的第三</a:t>
            </a:r>
            <a:r>
              <a:rPr lang="zh-CN" baseline="30000" dirty="0"/>
              <a:t>个参数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15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99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获取环境变量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execve() 系统调用中的第三</a:t>
            </a:r>
            <a:r>
              <a:rPr lang="zh-CN" baseline="30000" dirty="0"/>
              <a:t>个参数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69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添加或删除环境变量，或者修改现有环境变量的值时，位置 1 和 2 可能空间不足。在这种情况下，整个环境变量块可能会被移动到不同的位置（通常在堆中）。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当此变化发生时，环境变量也应相应更改。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程序可以使用</a:t>
            </a:r>
            <a:r>
              <a:rPr lang="zh-CN" dirty="0" err="1"/>
              <a:t>putenv </a:t>
            </a:r>
            <a:r>
              <a:rPr lang="zh-CN" dirty="0"/>
              <a:t>()、 </a:t>
            </a:r>
            <a:r>
              <a:rPr lang="zh-CN" dirty="0" err="1"/>
              <a:t>setenv </a:t>
            </a:r>
            <a:r>
              <a:rPr lang="zh-CN" dirty="0"/>
              <a:t>()</a:t>
            </a:r>
            <a:r>
              <a:rPr lang="zh-CN" dirty="0" err="1"/>
              <a:t>等函数来更改环境变量。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9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395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648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解释 /proc /$$/environ： </a:t>
            </a:r>
            <a:r>
              <a:rPr lang="zh-CN" baseline="0" dirty="0"/>
              <a:t>$$ 将被 shell 替换为当前进程的 ID，因此 /proc /$$/environ 基本上包含当前进程的环境变量。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32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shell变量是如何变成环境变量的？为什么会变成环境变量？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叉（）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执行()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哪些类型的 shell 变量会成为新的环境变量？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从环境变量复制的 shell 变量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使用“export”自定义 shell 变量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下一张幻灯片中的示例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46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仅打印 LOGNAME 和 LOGNAME3 的原因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取消设置功能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 err="1"/>
              <a:t>env</a:t>
            </a:r>
            <a:r>
              <a:rPr lang="zh-CN" dirty="0"/>
              <a:t>如何作为子进程运行将在下一张幻灯片中介绍。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66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各部分概述及其功能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连接器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图书馆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外部项目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应用程序代码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405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710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静态链接会复制代码，浪费大量内存。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在安全路径调整期间，所有漏洞都必须手动修补。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因此，动态链接是推荐的方法。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25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什么是共享库？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加载到内存后，加载器将控制权交给动态链接器。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在共享库中查找</a:t>
            </a:r>
            <a:r>
              <a:rPr lang="zh-CN" dirty="0" err="1"/>
              <a:t>printf ()</a:t>
            </a:r>
            <a:r>
              <a:rPr lang="zh-CN" dirty="0"/>
              <a:t>的实现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链接完成后，控制权交给 main(0)。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690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510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06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036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5257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959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1271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尽管这两个程序完全相同，但我们还是发现了差异。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 err="1"/>
              <a:t>m yenv</a:t>
            </a:r>
            <a:r>
              <a:rPr lang="zh-CN" dirty="0"/>
              <a:t> 甚至不显示这两个环境变量。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我们定义的 LD_PRELOAD 不会构成威胁。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8869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对能力泄露案例的审查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Bob有可能获得root账户的访问权限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126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当特权程序调用外部程序时，其攻击面就会扩大。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1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703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19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168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什么是区域设置子系统？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由一组数据库和库函数组成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zh-CN" dirty="0"/>
              <a:t>存储语言和国家/地区特定信息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791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107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658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当从 shell 执行命令时，会创建一个新进程。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shell 使用 shell 变量设置此新进程的环境变量 PWD。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因此，用户可以篡改该值。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如果该程序是 Set-UID 程序，用户可以通过将 PWD 变量设置为任意长字符串来利用它。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攻击者还可以进一步利用缓冲区溢出漏洞来获取权限。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352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3399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20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从功能角度来看，Set-UID 的性能更佳。这是因为它不需要后台进程运行。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从安全角度来看，Set-UID 方法的攻击面要大得多。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描述上一张幻灯片中图 (a) 的部分——环境变量如何来自正常过程，以及它们如何不可信。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描述上一张幻灯片中图 (b) 的部分——服务如何由具有特权的父进程启动，从而使环境变量来自可信来源。尽管攻击者仍然可以利用其他攻击面进行攻击，但他们无法通过环境变量进行攻击。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dirty="0"/>
              <a:t>基于 Linux 的 Android 系统移除了 Set-UID 和 Set-GID 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F4F06F-1185-4038-BF21-B45636E4FE1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5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9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96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467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186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62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62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87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430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50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17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4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B0EDE394-2EAE-41D5-A39F-8D30FFAC87F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C301FAEB-F480-4D19-B07E-ABEEB3528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45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5306" y="1785684"/>
            <a:ext cx="9144000" cy="2322961"/>
          </a:xfrm>
        </p:spPr>
        <p:txBody>
          <a:bodyPr>
            <a:normAutofit fontScale="90000"/>
          </a:bodyPr>
          <a:lstStyle/>
          <a:p>
            <a:r>
              <a:rPr lang="zh-CN" dirty="0"/>
              <a:t>环境变量</a:t>
            </a:r>
            <a:br>
              <a:rPr lang="en-US" dirty="0"/>
            </a:br>
            <a:r>
              <a:rPr lang="zh-CN" dirty="0"/>
              <a:t>与</a:t>
            </a:r>
            <a:br>
              <a:rPr lang="en-US" dirty="0"/>
            </a:br>
            <a:r>
              <a:rPr lang="zh-CN" dirty="0"/>
              <a:t>攻击</a:t>
            </a:r>
          </a:p>
        </p:txBody>
      </p:sp>
    </p:spTree>
    <p:extLst>
      <p:ext uri="{BB962C8B-B14F-4D97-AF65-F5344CB8AC3E}">
        <p14:creationId xmlns:p14="http://schemas.microsoft.com/office/powerpoint/2010/main" val="133204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dirty="0"/>
              <a:t>环境变量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237162"/>
          </a:xfrm>
        </p:spPr>
        <p:txBody>
          <a:bodyPr>
            <a:normAutofit/>
          </a:bodyPr>
          <a:lstStyle/>
          <a:p>
            <a:pPr lvl="1">
              <a:spcAft>
                <a:spcPts val="600"/>
              </a:spcAft>
            </a:pPr>
            <a:r>
              <a:rPr lang="zh-CN" sz="2800" dirty="0"/>
              <a:t>一组动态命名值</a:t>
            </a:r>
          </a:p>
          <a:p>
            <a:pPr lvl="1">
              <a:spcAft>
                <a:spcPts val="600"/>
              </a:spcAft>
            </a:pPr>
            <a:r>
              <a:rPr lang="zh-CN" sz="2800" dirty="0"/>
              <a:t>进程运行所处的运行环境的一部分</a:t>
            </a:r>
          </a:p>
          <a:p>
            <a:pPr lvl="1">
              <a:spcAft>
                <a:spcPts val="600"/>
              </a:spcAft>
            </a:pPr>
            <a:r>
              <a:rPr lang="zh-CN" sz="2800" dirty="0"/>
              <a:t>影响正在运行的进程的行为方式</a:t>
            </a:r>
          </a:p>
          <a:p>
            <a:pPr lvl="1">
              <a:spcAft>
                <a:spcPts val="600"/>
              </a:spcAft>
            </a:pPr>
            <a:r>
              <a:rPr lang="zh-CN" sz="2800" dirty="0"/>
              <a:t>最初在 Unix 系统中引入，后来也被 Microsoft Windows 系统采用。</a:t>
            </a:r>
          </a:p>
          <a:p>
            <a:pPr lvl="1">
              <a:spcAft>
                <a:spcPts val="600"/>
              </a:spcAft>
            </a:pPr>
            <a:r>
              <a:rPr lang="zh-CN" sz="2800" dirty="0"/>
              <a:t>示例：PATH 变量</a:t>
            </a:r>
          </a:p>
          <a:p>
            <a:pPr lvl="2">
              <a:spcAft>
                <a:spcPts val="600"/>
              </a:spcAft>
            </a:pPr>
            <a:r>
              <a:rPr lang="zh-CN" sz="2400" dirty="0"/>
              <a:t>当程序运行时，如果没有提供完整路径，shell 进程将使用环境变量来查找程序所在的位置。</a:t>
            </a:r>
            <a:r>
              <a:rPr lang="zh-CN" dirty="0"/>
              <a:t>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06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292" y="0"/>
            <a:ext cx="10515600" cy="1325563"/>
          </a:xfrm>
        </p:spPr>
        <p:txBody>
          <a:bodyPr/>
          <a:lstStyle/>
          <a:p>
            <a:r>
              <a:rPr lang="zh-CN" dirty="0"/>
              <a:t>如何</a:t>
            </a:r>
            <a:r>
              <a:rPr lang="zh-CN" altLang="en-US" dirty="0"/>
              <a:t>编程</a:t>
            </a:r>
            <a:r>
              <a:rPr lang="zh-CN" dirty="0"/>
              <a:t>访问环境变量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B0F8C-F4F6-49D6-BA31-0B763FE2A4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62" t="22539" r="33234" b="58254"/>
          <a:stretch/>
        </p:blipFill>
        <p:spPr>
          <a:xfrm>
            <a:off x="764101" y="1506575"/>
            <a:ext cx="6504207" cy="21099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746CB5-72BF-4DC7-B867-C8EAD7BD70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62" t="45873" r="34524" b="30000"/>
          <a:stretch/>
        </p:blipFill>
        <p:spPr>
          <a:xfrm>
            <a:off x="5117120" y="3797531"/>
            <a:ext cx="6504207" cy="27462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18584" y="2099882"/>
            <a:ext cx="3130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400" dirty="0"/>
              <a:t>从主函数</a:t>
            </a:r>
            <a:endParaRPr lang="en-US" sz="2400" dirty="0"/>
          </a:p>
        </p:txBody>
      </p:sp>
      <p:sp>
        <p:nvSpPr>
          <p:cNvPr id="8" name="Right Arrow 7"/>
          <p:cNvSpPr/>
          <p:nvPr/>
        </p:nvSpPr>
        <p:spPr>
          <a:xfrm rot="10800000">
            <a:off x="7385538" y="2157046"/>
            <a:ext cx="515816" cy="3176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55076" y="4638638"/>
            <a:ext cx="32547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sz="2400" dirty="0"/>
              <a:t>更可靠的方法：</a:t>
            </a:r>
          </a:p>
          <a:p>
            <a:r>
              <a:rPr lang="zh-CN" sz="2400" dirty="0"/>
              <a:t>使用全局变量</a:t>
            </a:r>
            <a:endParaRPr lang="en-US" sz="2400" dirty="0"/>
          </a:p>
        </p:txBody>
      </p:sp>
      <p:sp>
        <p:nvSpPr>
          <p:cNvPr id="10" name="Right Arrow 9"/>
          <p:cNvSpPr/>
          <p:nvPr/>
        </p:nvSpPr>
        <p:spPr>
          <a:xfrm>
            <a:off x="4302369" y="4958862"/>
            <a:ext cx="633046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5263662" y="2099882"/>
            <a:ext cx="154744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7045570" y="4602480"/>
            <a:ext cx="947810" cy="244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136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365125"/>
            <a:ext cx="10948555" cy="1325563"/>
          </a:xfrm>
        </p:spPr>
        <p:txBody>
          <a:bodyPr/>
          <a:lstStyle/>
          <a:p>
            <a:r>
              <a:rPr lang="zh-CN" dirty="0"/>
              <a:t>进程如何获取环境变量？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6750" y="1690688"/>
            <a:ext cx="10687050" cy="4486275"/>
          </a:xfrm>
        </p:spPr>
        <p:txBody>
          <a:bodyPr>
            <a:normAutofit/>
          </a:bodyPr>
          <a:lstStyle/>
          <a:p>
            <a:r>
              <a:rPr lang="zh-CN" sz="2800" dirty="0"/>
              <a:t>进程可以通过以下两种方式之一获取环境变量：</a:t>
            </a:r>
          </a:p>
          <a:p>
            <a:pPr lvl="1">
              <a:spcAft>
                <a:spcPts val="1200"/>
              </a:spcAft>
            </a:pPr>
            <a:r>
              <a:rPr lang="zh-CN" sz="2400" dirty="0"/>
              <a:t>如果使用 fork() 系统调用创建一个新进程，子进程将继承其父进程的环境变量。</a:t>
            </a:r>
            <a:endParaRPr lang="en-US" sz="2400" dirty="0"/>
          </a:p>
          <a:p>
            <a:pPr lvl="1">
              <a:spcAft>
                <a:spcPts val="1200"/>
              </a:spcAft>
            </a:pPr>
            <a:r>
              <a:rPr lang="zh-CN" sz="2400" dirty="0"/>
              <a:t>如果一个进程运行一个新程序，通常会使用 execve() 系统调用。在这种情况下，内存空间会被覆盖，所有旧的环境变量都会丢失。execve () 可以通过特殊方式调用，从而将环境变量从一个进程传递到另一个进程。</a:t>
            </a:r>
            <a:endParaRPr lang="en-US" sz="2400" dirty="0"/>
          </a:p>
          <a:p>
            <a:r>
              <a:rPr lang="zh-CN" sz="2800" dirty="0"/>
              <a:t>execve()时传递环境变量：</a:t>
            </a:r>
          </a:p>
          <a:p>
            <a:pPr marL="0" indent="0">
              <a:buNone/>
            </a:pPr>
            <a:r>
              <a:rPr lang="zh-CN" sz="2800" dirty="0"/>
              <a:t> 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F80DDD-5CDA-42D6-8FCD-FE1FF7890E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258" t="28572" r="28373" b="66508"/>
          <a:stretch/>
        </p:blipFill>
        <p:spPr>
          <a:xfrm>
            <a:off x="919933" y="5167312"/>
            <a:ext cx="9289204" cy="690564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3282462" y="5972646"/>
            <a:ext cx="291904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0015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en-US" altLang="zh-CN" dirty="0" err="1"/>
              <a:t>execve</a:t>
            </a:r>
            <a:r>
              <a:rPr lang="zh-CN" dirty="0"/>
              <a:t>( )和环境变量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69" y="1350086"/>
            <a:ext cx="3515245" cy="5070764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sz="2400" dirty="0"/>
              <a:t>该程序执行新程序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 usr/bin/env </a:t>
            </a:r>
            <a:r>
              <a:rPr lang="zh-CN" sz="2400" dirty="0"/>
              <a:t>，该程序会打印出当前进程的环境变量。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sz="2400" dirty="0"/>
              <a:t>我们创建一个新变量</a:t>
            </a:r>
            <a:r>
              <a:rPr 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newenv </a:t>
            </a:r>
            <a:r>
              <a:rPr lang="zh-CN" sz="2400" dirty="0"/>
              <a:t>，并将其用作第三个参数。</a:t>
            </a:r>
            <a:endParaRPr lang="en-US" sz="2400" dirty="0"/>
          </a:p>
        </p:txBody>
      </p:sp>
      <p:grpSp>
        <p:nvGrpSpPr>
          <p:cNvPr id="16" name="Group 15"/>
          <p:cNvGrpSpPr/>
          <p:nvPr/>
        </p:nvGrpSpPr>
        <p:grpSpPr>
          <a:xfrm>
            <a:off x="4284686" y="1401218"/>
            <a:ext cx="7232400" cy="5108666"/>
            <a:chOff x="4284686" y="1401218"/>
            <a:chExt cx="7232400" cy="5108666"/>
          </a:xfrm>
        </p:grpSpPr>
        <p:pic>
          <p:nvPicPr>
            <p:cNvPr id="7" name="Picture 6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4686" y="1401218"/>
              <a:ext cx="7232400" cy="5108666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6764530" y="4515553"/>
              <a:ext cx="502920" cy="228600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779770" y="4996112"/>
              <a:ext cx="684020" cy="193108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764530" y="5401877"/>
              <a:ext cx="813559" cy="221683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3196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245" y="24523"/>
            <a:ext cx="10948555" cy="1325563"/>
          </a:xfrm>
        </p:spPr>
        <p:txBody>
          <a:bodyPr/>
          <a:lstStyle/>
          <a:p>
            <a:r>
              <a:rPr lang="en-US" altLang="zh-CN" dirty="0" err="1"/>
              <a:t>execve</a:t>
            </a:r>
            <a:r>
              <a:rPr lang="zh-CN" dirty="0"/>
              <a:t>( )和环境变量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323" y="1817256"/>
            <a:ext cx="6514787" cy="3943464"/>
          </a:xfrm>
          <a:prstGeom prst="rect">
            <a:avLst/>
          </a:prstGeom>
        </p:spPr>
      </p:pic>
      <p:sp>
        <p:nvSpPr>
          <p:cNvPr id="6" name="Left Brace 5"/>
          <p:cNvSpPr/>
          <p:nvPr/>
        </p:nvSpPr>
        <p:spPr>
          <a:xfrm>
            <a:off x="3348990" y="3406140"/>
            <a:ext cx="571500" cy="2274570"/>
          </a:xfrm>
          <a:prstGeom prst="lef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08897" y="3943260"/>
            <a:ext cx="20802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sz="2400" dirty="0"/>
              <a:t>从父进程获取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24315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85"/>
            <a:ext cx="10515600" cy="1325563"/>
          </a:xfrm>
        </p:spPr>
        <p:txBody>
          <a:bodyPr/>
          <a:lstStyle/>
          <a:p>
            <a:r>
              <a:rPr lang="zh-CN" dirty="0"/>
              <a:t>环境变量的内存位置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A00E1-1E85-4B68-985C-3BB7FC624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62002"/>
            <a:ext cx="5734050" cy="5023572"/>
          </a:xfrm>
        </p:spPr>
        <p:txBody>
          <a:bodyPr>
            <a:normAutofit/>
          </a:bodyPr>
          <a:lstStyle/>
          <a:p>
            <a:r>
              <a:rPr 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nvp</a:t>
            </a:r>
            <a:r>
              <a:rPr lang="zh-CN" sz="2400" dirty="0"/>
              <a:t>和</a:t>
            </a:r>
            <a:r>
              <a:rPr 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</a:t>
            </a:r>
            <a:r>
              <a:rPr lang="zh-CN" sz="2400" dirty="0"/>
              <a:t>最初指向同一个地方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</a:p>
          <a:p>
            <a:r>
              <a:rPr 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nvp</a:t>
            </a:r>
            <a:r>
              <a:rPr lang="zh-CN" sz="2400" dirty="0"/>
              <a:t>只能在主函数内部访问，而</a:t>
            </a:r>
            <a:r>
              <a:rPr 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environ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是</a:t>
            </a:r>
            <a:r>
              <a:rPr lang="zh-CN" sz="2400" dirty="0"/>
              <a:t>一个全局变量。</a:t>
            </a:r>
          </a:p>
          <a:p>
            <a:r>
              <a:rPr lang="zh-CN" sz="2400" dirty="0"/>
              <a:t>当环境变量发生更改时（例如，添加了新的环境变量），存储环境变量的位置可能会移动到堆上，因此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environ</a:t>
            </a:r>
            <a:r>
              <a:rPr lang="zh-CN" sz="2400" dirty="0"/>
              <a:t>会发生变化（ </a:t>
            </a:r>
            <a:r>
              <a:rPr 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envp</a:t>
            </a:r>
            <a:r>
              <a:rPr lang="zh-CN" sz="2400" dirty="0"/>
              <a:t>不会发生变化）。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6EBA2E-A4BF-4ED8-9466-12721C0C9F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310" t="17936" r="23936" b="15397"/>
          <a:stretch/>
        </p:blipFill>
        <p:spPr>
          <a:xfrm>
            <a:off x="6686550" y="1247638"/>
            <a:ext cx="4855535" cy="508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71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934306"/>
          </a:xfrm>
        </p:spPr>
        <p:txBody>
          <a:bodyPr/>
          <a:lstStyle/>
          <a:p>
            <a:r>
              <a:rPr lang="zh-CN" dirty="0"/>
              <a:t>Shell变量和环境变量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D65547-1C8E-4CA4-B891-C691BA5EE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1360714"/>
            <a:ext cx="10853057" cy="5225142"/>
          </a:xfrm>
        </p:spPr>
        <p:txBody>
          <a:bodyPr>
            <a:normAutofit/>
          </a:bodyPr>
          <a:lstStyle/>
          <a:p>
            <a:r>
              <a:rPr lang="zh-CN" sz="2400" dirty="0"/>
              <a:t>人们常常误认为 shell 变量和环境变量是同一回事。</a:t>
            </a:r>
            <a:endParaRPr lang="en-US" sz="2400" dirty="0"/>
          </a:p>
          <a:p>
            <a:r>
              <a:rPr lang="zh-CN" sz="2400" dirty="0"/>
              <a:t>Shell 变量：</a:t>
            </a:r>
          </a:p>
          <a:p>
            <a:pPr lvl="1"/>
            <a:r>
              <a:rPr lang="zh-CN" sz="2000" dirty="0"/>
              <a:t>使用的内部变量。</a:t>
            </a:r>
            <a:endParaRPr lang="en-US" sz="2000" dirty="0"/>
          </a:p>
          <a:p>
            <a:pPr lvl="1"/>
            <a:r>
              <a:rPr lang="zh-CN" sz="2000" dirty="0"/>
              <a:t>Shell 提供内置命令，允许用户创建、分配和删除shell 变量。</a:t>
            </a:r>
            <a:endParaRPr lang="en-US" sz="2000" dirty="0"/>
          </a:p>
          <a:p>
            <a:pPr lvl="1"/>
            <a:r>
              <a:rPr lang="zh-CN" sz="2000" dirty="0"/>
              <a:t>在这个例子中，我们创建了一个名为 FOO 的 shell 变量。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03AA5B-EF1F-444D-A490-0622EEB9EE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65" t="35873" r="61806" b="47736"/>
          <a:stretch/>
        </p:blipFill>
        <p:spPr>
          <a:xfrm>
            <a:off x="1237162" y="3841846"/>
            <a:ext cx="5150713" cy="2473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39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" y="252238"/>
            <a:ext cx="10515600" cy="934306"/>
          </a:xfrm>
        </p:spPr>
        <p:txBody>
          <a:bodyPr/>
          <a:lstStyle/>
          <a:p>
            <a:r>
              <a:rPr lang="zh-CN" dirty="0"/>
              <a:t>/proc 文件系统的附注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D65547-1C8E-4CA4-B891-C691BA5EE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1415144"/>
            <a:ext cx="10853057" cy="505097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sz="2800" dirty="0" err="1"/>
              <a:t>Linux</a:t>
            </a:r>
            <a:r>
              <a:rPr lang="zh-CN" sz="2800" dirty="0"/>
              <a:t>中的一个虚拟文件系统。它为每个进程创建一个目录，目录</a:t>
            </a:r>
            <a:endParaRPr lang="en-US" sz="2800" dirty="0"/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sz="2800" dirty="0"/>
              <a:t>每个进程目录都有一个名为 environ 的虚拟文件，其中包含进程的环境信息。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sz="2400" dirty="0"/>
              <a:t>例如，虚拟文件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/proc/932/environ</a:t>
            </a:r>
            <a:r>
              <a:rPr lang="zh-CN" sz="2400" dirty="0"/>
              <a:t>包含进程 932 的环境变量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zh-CN" sz="2400" dirty="0"/>
              <a:t>命令“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strings /proc/$$/environ </a:t>
            </a:r>
            <a:r>
              <a:rPr lang="zh-CN" sz="2400" dirty="0"/>
              <a:t>”会打印出当前进程的环境变量（shell 会将 $$ 替换为其自身的进程 ID）。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2400"/>
              </a:spcAft>
            </a:pPr>
            <a:r>
              <a:rPr lang="zh-CN" sz="2800" dirty="0" err="1"/>
              <a:t>env程序</a:t>
            </a:r>
            <a:r>
              <a:rPr lang="zh-CN" sz="2800" dirty="0"/>
              <a:t>时，它会在一个子进程中运行。因此，它输出的是该子进程的环境变量，而不是它自身的环境变量。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431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4873"/>
            <a:ext cx="10515600" cy="934306"/>
          </a:xfrm>
        </p:spPr>
        <p:txBody>
          <a:bodyPr/>
          <a:lstStyle/>
          <a:p>
            <a:r>
              <a:rPr lang="zh-CN" dirty="0"/>
              <a:t>Shell变量和环境变量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D65547-1C8E-4CA4-B891-C691BA5EE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43" y="1191795"/>
            <a:ext cx="10853057" cy="5481960"/>
          </a:xfrm>
        </p:spPr>
        <p:txBody>
          <a:bodyPr>
            <a:normAutofit/>
          </a:bodyPr>
          <a:lstStyle/>
          <a:p>
            <a:r>
              <a:rPr lang="zh-CN" sz="2400" dirty="0"/>
              <a:t>Shell 变量和环境变量是不同的</a:t>
            </a:r>
          </a:p>
          <a:p>
            <a:r>
              <a:rPr lang="zh-CN" sz="2400" dirty="0"/>
              <a:t>当 shell 程序启动时，它会将环境变量复制到自身的 shell 变量中。对 shell 变量所做的更改不会反映在</a:t>
            </a:r>
            <a:r>
              <a:rPr lang="zh-CN" sz="2800" dirty="0"/>
              <a:t>环境</a:t>
            </a:r>
            <a:r>
              <a:rPr lang="zh-CN" sz="2400" dirty="0"/>
              <a:t>变量中，如下例所示：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1422200" y="3039067"/>
            <a:ext cx="10122433" cy="3501920"/>
            <a:chOff x="1231367" y="3176227"/>
            <a:chExt cx="10122433" cy="350192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438701-5C4A-4D9A-B3E2-39771AD8DEF8}"/>
                </a:ext>
              </a:extLst>
            </p:cNvPr>
            <p:cNvSpPr txBox="1"/>
            <p:nvPr/>
          </p:nvSpPr>
          <p:spPr>
            <a:xfrm>
              <a:off x="2296450" y="3306074"/>
              <a:ext cx="12459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环境变量​</a:t>
              </a:r>
            </a:p>
          </p:txBody>
        </p:sp>
        <p:pic>
          <p:nvPicPr>
            <p:cNvPr id="3" name="Picture 2" descr="Screen Clippi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8833" y="3176227"/>
              <a:ext cx="7204967" cy="3394381"/>
            </a:xfrm>
            <a:prstGeom prst="rect">
              <a:avLst/>
            </a:prstGeom>
          </p:spPr>
        </p:pic>
        <p:sp>
          <p:nvSpPr>
            <p:cNvPr id="6" name="Right Arrow 5"/>
            <p:cNvSpPr/>
            <p:nvPr/>
          </p:nvSpPr>
          <p:spPr>
            <a:xfrm>
              <a:off x="3776618" y="3424803"/>
              <a:ext cx="274320" cy="16265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438701-5C4A-4D9A-B3E2-39771AD8DEF8}"/>
                </a:ext>
              </a:extLst>
            </p:cNvPr>
            <p:cNvSpPr txBox="1"/>
            <p:nvPr/>
          </p:nvSpPr>
          <p:spPr>
            <a:xfrm>
              <a:off x="2211839" y="3798055"/>
              <a:ext cx="15647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Shell变量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3759397" y="3928074"/>
              <a:ext cx="274320" cy="16265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3759397" y="4690146"/>
              <a:ext cx="274320" cy="16265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3759597" y="5179262"/>
              <a:ext cx="274320" cy="16265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438701-5C4A-4D9A-B3E2-39771AD8DEF8}"/>
                </a:ext>
              </a:extLst>
            </p:cNvPr>
            <p:cNvSpPr txBox="1"/>
            <p:nvPr/>
          </p:nvSpPr>
          <p:spPr>
            <a:xfrm>
              <a:off x="1402531" y="4567319"/>
              <a:ext cx="20847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S</a:t>
              </a:r>
              <a:r>
                <a:rPr lang="en-US" altLang="zh-CN" sz="2000" dirty="0"/>
                <a:t>hell</a:t>
              </a:r>
              <a:r>
                <a:rPr lang="zh-CN" sz="2000" dirty="0"/>
                <a:t>变量已改变</a:t>
              </a:r>
              <a:endParaRPr lang="en-US" sz="2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3438701-5C4A-4D9A-B3E2-39771AD8DEF8}"/>
                </a:ext>
              </a:extLst>
            </p:cNvPr>
            <p:cNvSpPr txBox="1"/>
            <p:nvPr/>
          </p:nvSpPr>
          <p:spPr>
            <a:xfrm>
              <a:off x="1231368" y="5019418"/>
              <a:ext cx="22558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环境变量是相同的</a:t>
              </a:r>
              <a:endParaRPr lang="en-US" sz="20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3438701-5C4A-4D9A-B3E2-39771AD8DEF8}"/>
                </a:ext>
              </a:extLst>
            </p:cNvPr>
            <p:cNvSpPr txBox="1"/>
            <p:nvPr/>
          </p:nvSpPr>
          <p:spPr>
            <a:xfrm>
              <a:off x="1231367" y="6278037"/>
              <a:ext cx="22558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环境变量仍然存在</a:t>
              </a:r>
              <a:endParaRPr lang="en-US" sz="2000" dirty="0"/>
            </a:p>
          </p:txBody>
        </p:sp>
        <p:sp>
          <p:nvSpPr>
            <p:cNvPr id="26" name="Right Arrow 25"/>
            <p:cNvSpPr/>
            <p:nvPr/>
          </p:nvSpPr>
          <p:spPr>
            <a:xfrm>
              <a:off x="3759397" y="5941334"/>
              <a:ext cx="274320" cy="16265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ight Arrow 26"/>
            <p:cNvSpPr/>
            <p:nvPr/>
          </p:nvSpPr>
          <p:spPr>
            <a:xfrm>
              <a:off x="3756723" y="6396766"/>
              <a:ext cx="274320" cy="16265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438701-5C4A-4D9A-B3E2-39771AD8DEF8}"/>
                </a:ext>
              </a:extLst>
            </p:cNvPr>
            <p:cNvSpPr txBox="1"/>
            <p:nvPr/>
          </p:nvSpPr>
          <p:spPr>
            <a:xfrm>
              <a:off x="1402530" y="5811521"/>
              <a:ext cx="25462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000" dirty="0"/>
                <a:t>Shell 变量已消失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2182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934306"/>
          </a:xfrm>
        </p:spPr>
        <p:txBody>
          <a:bodyPr/>
          <a:lstStyle/>
          <a:p>
            <a:r>
              <a:rPr lang="zh-CN" dirty="0"/>
              <a:t>Shell变量和环境变量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D65547-1C8E-4CA4-B891-C691BA5EE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55" y="1631288"/>
            <a:ext cx="3636645" cy="4562746"/>
          </a:xfrm>
        </p:spPr>
        <p:txBody>
          <a:bodyPr>
            <a:normAutofit/>
          </a:bodyPr>
          <a:lstStyle/>
          <a:p>
            <a:r>
              <a:rPr lang="zh-CN" sz="2300" dirty="0"/>
              <a:t>该图展示了 shell变量如何影响子进程的环境变量。</a:t>
            </a:r>
          </a:p>
          <a:p>
            <a:pPr marL="0" indent="0">
              <a:buNone/>
            </a:pPr>
            <a:endParaRPr lang="en-US" sz="2300" dirty="0"/>
          </a:p>
          <a:p>
            <a:r>
              <a:rPr lang="zh-CN" sz="2300" dirty="0"/>
              <a:t>它还展示了父进程 shell 的环境变量如何（通过 shell 变量）成为子进程的环境变量。</a:t>
            </a:r>
            <a:endParaRPr lang="en-US" sz="2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407206-11C9-4521-917B-14768D9744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941" t="17302" r="33730" b="17777"/>
          <a:stretch/>
        </p:blipFill>
        <p:spPr>
          <a:xfrm>
            <a:off x="951956" y="1186544"/>
            <a:ext cx="6378484" cy="545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46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934306"/>
          </a:xfrm>
        </p:spPr>
        <p:txBody>
          <a:bodyPr/>
          <a:lstStyle/>
          <a:p>
            <a:r>
              <a:rPr lang="zh-CN" dirty="0"/>
              <a:t>Shell变量和环境变量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D65547-1C8E-4CA4-B891-C691BA5EE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893" y="1442854"/>
            <a:ext cx="10853057" cy="725382"/>
          </a:xfrm>
        </p:spPr>
        <p:txBody>
          <a:bodyPr>
            <a:normAutofit/>
          </a:bodyPr>
          <a:lstStyle/>
          <a:p>
            <a:r>
              <a:rPr lang="zh-CN" sz="2400" dirty="0"/>
              <a:t>当我们在 shell 提示符下输入</a:t>
            </a:r>
            <a:r>
              <a:rPr lang="zh-CN" sz="2400" dirty="0" err="1"/>
              <a:t>env时</a:t>
            </a:r>
            <a:r>
              <a:rPr lang="zh-CN" sz="2400" dirty="0"/>
              <a:t>，shell 将创建一个子进程。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D7150C-6780-44EE-8980-F4AADCCB0D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62" t="43492" r="29266" b="32222"/>
          <a:stretch/>
        </p:blipFill>
        <p:spPr>
          <a:xfrm>
            <a:off x="4868636" y="2826573"/>
            <a:ext cx="7179127" cy="26595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DC2B44-EC2F-4B2D-8999-444A431A134C}"/>
              </a:ext>
            </a:extLst>
          </p:cNvPr>
          <p:cNvSpPr txBox="1"/>
          <p:nvPr/>
        </p:nvSpPr>
        <p:spPr>
          <a:xfrm>
            <a:off x="1018198" y="3000386"/>
            <a:ext cx="3530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dirty="0"/>
              <a:t>打印出环境变量</a:t>
            </a:r>
          </a:p>
        </p:txBody>
      </p:sp>
      <p:sp>
        <p:nvSpPr>
          <p:cNvPr id="3" name="Right Arrow 2"/>
          <p:cNvSpPr/>
          <p:nvPr/>
        </p:nvSpPr>
        <p:spPr>
          <a:xfrm>
            <a:off x="4470282" y="3119451"/>
            <a:ext cx="297180" cy="2057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57893" y="4046220"/>
            <a:ext cx="35330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dirty="0"/>
              <a:t>只有 LOGNAME 和 LOGNAME3 进入了子进程，而 LOGNAME2 没有。为什么？</a:t>
            </a:r>
            <a:endParaRPr lang="en-US" sz="2000" dirty="0"/>
          </a:p>
        </p:txBody>
      </p:sp>
      <p:sp>
        <p:nvSpPr>
          <p:cNvPr id="12" name="Right Arrow 11"/>
          <p:cNvSpPr/>
          <p:nvPr/>
        </p:nvSpPr>
        <p:spPr>
          <a:xfrm>
            <a:off x="4090915" y="4276406"/>
            <a:ext cx="569324" cy="2764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5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环境变量的攻击面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261"/>
            <a:ext cx="4373880" cy="4741702"/>
          </a:xfrm>
        </p:spPr>
        <p:txBody>
          <a:bodyPr>
            <a:normAutofit/>
          </a:bodyPr>
          <a:lstStyle/>
          <a:p>
            <a:r>
              <a:rPr lang="zh-CN" sz="2400" dirty="0"/>
              <a:t>隐蔽使用环境变量是危险的。</a:t>
            </a:r>
            <a:endParaRPr lang="en-US" sz="2400" dirty="0"/>
          </a:p>
          <a:p>
            <a:r>
              <a:rPr lang="zh-CN" sz="2400" dirty="0"/>
              <a:t>由于用户可以设置环境变量，因此他们成为了 Set-UID程序攻击面的一部分。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86A809-7ECB-4463-A2D8-D0B78D2988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996" t="34286" r="25893" b="25873"/>
          <a:stretch/>
        </p:blipFill>
        <p:spPr>
          <a:xfrm>
            <a:off x="5212080" y="1643382"/>
            <a:ext cx="6272776" cy="432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23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通过动态链接器发起的攻击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4903747"/>
          </a:xfrm>
        </p:spPr>
        <p:txBody>
          <a:bodyPr>
            <a:normAutofit/>
          </a:bodyPr>
          <a:lstStyle/>
          <a:p>
            <a:r>
              <a:rPr lang="zh-CN" sz="2800" dirty="0"/>
              <a:t>链接操作会查找程序中引用的外部库代码。</a:t>
            </a:r>
          </a:p>
          <a:p>
            <a:r>
              <a:rPr lang="zh-CN" sz="2800" dirty="0"/>
              <a:t>链接可以在运行时或编译时进行：</a:t>
            </a:r>
          </a:p>
          <a:p>
            <a:pPr lvl="1"/>
            <a:r>
              <a:rPr lang="zh-CN" sz="2400" dirty="0"/>
              <a:t>动态链接——使用环境变量，这本身也成为攻击面的一部分。</a:t>
            </a:r>
          </a:p>
          <a:p>
            <a:pPr lvl="1"/>
            <a:r>
              <a:rPr lang="zh-CN" sz="2400" dirty="0"/>
              <a:t>静态链接</a:t>
            </a:r>
          </a:p>
          <a:p>
            <a:pPr marL="457200" lvl="1" indent="0">
              <a:buNone/>
            </a:pPr>
            <a:endParaRPr lang="en-US" sz="2400" dirty="0"/>
          </a:p>
          <a:p>
            <a:r>
              <a:rPr lang="zh-CN" sz="2800" dirty="0"/>
              <a:t>我们将使用以下示例来区分静态链接和动态链接：</a:t>
            </a:r>
          </a:p>
          <a:p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87B355-7A5A-4367-A62E-CEC92B7CAB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664" t="23810" r="18055" b="66547"/>
          <a:stretch/>
        </p:blipFill>
        <p:spPr>
          <a:xfrm>
            <a:off x="1084348" y="4257454"/>
            <a:ext cx="7270960" cy="838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E4DF15-2DA2-4B84-A2E7-0815049D5C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64" t="66825" r="31151" b="25873"/>
          <a:stretch/>
        </p:blipFill>
        <p:spPr>
          <a:xfrm>
            <a:off x="1084348" y="5095654"/>
            <a:ext cx="7270960" cy="6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74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通过动态链接器发起的攻击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4903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b="1" dirty="0"/>
              <a:t>静态链接</a:t>
            </a:r>
            <a:endParaRPr lang="en-US" sz="2400" dirty="0"/>
          </a:p>
          <a:p>
            <a:r>
              <a:rPr lang="zh-CN" sz="2400" dirty="0"/>
              <a:t>链接器将程序代码和包含</a:t>
            </a:r>
            <a:r>
              <a:rPr lang="zh-CN" sz="2400" dirty="0" err="1"/>
              <a:t>printf </a:t>
            </a:r>
            <a:r>
              <a:rPr lang="zh-CN" sz="2400" dirty="0"/>
              <a:t>() 函数的库代码合并在一起。</a:t>
            </a:r>
          </a:p>
          <a:p>
            <a:r>
              <a:rPr lang="zh-CN" sz="2400" dirty="0"/>
              <a:t>我们可以注意到，静态编译程序的大小比动态编译程序大100倍。</a:t>
            </a:r>
          </a:p>
          <a:p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029700-8C32-4C40-B6A0-DC0346CE71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65" t="40317" r="31052" b="45556"/>
          <a:stretch/>
        </p:blipFill>
        <p:spPr>
          <a:xfrm>
            <a:off x="838200" y="3725089"/>
            <a:ext cx="10659449" cy="180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39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通过动态链接器发起的攻击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4903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b="1" dirty="0"/>
              <a:t>动态链接</a:t>
            </a:r>
            <a:endParaRPr lang="en-US" sz="2400" b="1" dirty="0"/>
          </a:p>
          <a:p>
            <a:r>
              <a:rPr lang="zh-CN" sz="2400" dirty="0"/>
              <a:t>链接是在运行时完成的。</a:t>
            </a:r>
          </a:p>
          <a:p>
            <a:pPr lvl="1"/>
            <a:r>
              <a:rPr lang="zh-CN" sz="2000" dirty="0"/>
              <a:t>共享库（ Windows 中的 DLL）</a:t>
            </a:r>
          </a:p>
          <a:p>
            <a:r>
              <a:rPr lang="zh-CN" sz="2400" dirty="0"/>
              <a:t>使用动态链接编译的程序在运行之前，其可执行文件会先加载到内存中。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D8F604-D413-4D15-9476-F411866C84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166" t="33453" r="17460" b="36666"/>
          <a:stretch/>
        </p:blipFill>
        <p:spPr>
          <a:xfrm>
            <a:off x="1094814" y="3188742"/>
            <a:ext cx="8540164" cy="298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32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通过动态链接器发起的攻击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0377"/>
            <a:ext cx="10515600" cy="1527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b="1" dirty="0"/>
              <a:t>动态链接：</a:t>
            </a:r>
            <a:endParaRPr lang="en-US" sz="2400" b="1" dirty="0"/>
          </a:p>
          <a:p>
            <a:r>
              <a:rPr lang="zh-CN" sz="2400" dirty="0"/>
              <a:t>我们可以使用“ </a:t>
            </a:r>
            <a:r>
              <a:rPr lang="zh-CN" sz="2400" dirty="0" err="1"/>
              <a:t>ldd </a:t>
            </a:r>
            <a:r>
              <a:rPr lang="zh-CN" sz="2400" dirty="0"/>
              <a:t>”命令来查看程序依赖哪些共享库：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74672"/>
            <a:ext cx="9178158" cy="18814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50454" y="3305537"/>
            <a:ext cx="2082365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zh-CN" sz="2400" dirty="0"/>
              <a:t>系统调用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0" y="5500288"/>
            <a:ext cx="465582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2400" dirty="0"/>
              <a:t>libc库（包含</a:t>
            </a:r>
            <a:r>
              <a:rPr lang="zh-CN" sz="2400" dirty="0" err="1"/>
              <a:t>printf </a:t>
            </a:r>
            <a:r>
              <a:rPr lang="zh-CN" sz="2400" dirty="0"/>
              <a:t>() 和 sleep </a:t>
            </a:r>
            <a:r>
              <a:rPr lang="zh-CN" sz="2400" dirty="0" err="1"/>
              <a:t>( </a:t>
            </a:r>
            <a:r>
              <a:rPr lang="zh-CN" sz="2400" dirty="0"/>
              <a:t>)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685801" y="5500288"/>
            <a:ext cx="5246370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sz="2400" dirty="0"/>
              <a:t>动态链接器本身位于一个共享库中。它会在主函数被调用之前被调用。</a:t>
            </a:r>
            <a:endParaRPr lang="en-US" sz="2400" dirty="0"/>
          </a:p>
        </p:txBody>
      </p:sp>
      <p:sp>
        <p:nvSpPr>
          <p:cNvPr id="9" name="Right Arrow 8"/>
          <p:cNvSpPr/>
          <p:nvPr/>
        </p:nvSpPr>
        <p:spPr>
          <a:xfrm rot="16200000">
            <a:off x="7013006" y="4989021"/>
            <a:ext cx="752276" cy="1950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6200000">
            <a:off x="2600874" y="5137456"/>
            <a:ext cx="468909" cy="1815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 rot="9647307">
            <a:off x="5304324" y="3642994"/>
            <a:ext cx="854702" cy="2384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77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通过动态链接器发起的攻击：风险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263" y="1954253"/>
            <a:ext cx="10515600" cy="4903747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zh-CN" sz="2400" dirty="0"/>
              <a:t>动态链接可以节省内存</a:t>
            </a:r>
          </a:p>
          <a:p>
            <a:pPr>
              <a:spcAft>
                <a:spcPts val="1200"/>
              </a:spcAft>
            </a:pPr>
            <a:r>
              <a:rPr lang="zh-CN" sz="2400" dirty="0"/>
              <a:t>这意味着程序的部分代码在编译期间尚未确定。</a:t>
            </a:r>
          </a:p>
          <a:p>
            <a:pPr>
              <a:spcAft>
                <a:spcPts val="1200"/>
              </a:spcAft>
            </a:pPr>
            <a:r>
              <a:rPr lang="zh-CN" sz="2400" dirty="0"/>
              <a:t>如果用户能够影响缺失的代码，他们就能破坏程序的完整性。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321794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>
            <a:normAutofit fontScale="90000"/>
          </a:bodyPr>
          <a:lstStyle/>
          <a:p>
            <a:r>
              <a:rPr lang="zh-CN" dirty="0"/>
              <a:t>利用动态链接器发起的攻击：案例研究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4903747"/>
          </a:xfrm>
        </p:spPr>
        <p:txBody>
          <a:bodyPr>
            <a:normAutofit/>
          </a:bodyPr>
          <a:lstStyle/>
          <a:p>
            <a:pPr marL="171450" indent="-171450">
              <a:spcAft>
                <a:spcPts val="1200"/>
              </a:spcAft>
            </a:pPr>
            <a:r>
              <a:rPr lang="zh-CN" sz="2400" dirty="0"/>
              <a:t>LD_PRELOAD包含一个共享库列表，链接器将首先搜索该列表。</a:t>
            </a:r>
          </a:p>
          <a:p>
            <a:pPr marL="171450" indent="-171450">
              <a:spcAft>
                <a:spcPts val="1200"/>
              </a:spcAft>
            </a:pPr>
            <a:r>
              <a:rPr lang="zh-CN" sz="2400" dirty="0"/>
              <a:t>如果找不到所有函数，链接器将在多个文件夹列表中搜索，包括由 LD_LIBRARY_PATH 指定的文件夹列表。</a:t>
            </a:r>
          </a:p>
          <a:p>
            <a:pPr marL="171450" indent="-171450">
              <a:spcAft>
                <a:spcPts val="1200"/>
              </a:spcAft>
            </a:pPr>
            <a:r>
              <a:rPr lang="zh-CN" sz="2400" dirty="0"/>
              <a:t>这两个变量均可由用户设置，因此用户可以控制链接过程的结果。</a:t>
            </a:r>
          </a:p>
          <a:p>
            <a:pPr marL="171450" indent="-171450">
              <a:spcAft>
                <a:spcPts val="1200"/>
              </a:spcAft>
            </a:pPr>
            <a:r>
              <a:rPr lang="zh-CN" sz="2400" dirty="0"/>
              <a:t>如果该程序是 Set-UID 程序，则可能导致安全漏洞。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016257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>
            <a:normAutofit fontScale="90000"/>
          </a:bodyPr>
          <a:lstStyle/>
          <a:p>
            <a:r>
              <a:rPr lang="zh-CN" dirty="0"/>
              <a:t>利用动态链接器发起的攻击：案例研究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4903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b="1" dirty="0"/>
              <a:t>示例1 – 常规程序：</a:t>
            </a:r>
            <a:endParaRPr lang="en-US" sz="2400" b="1" dirty="0"/>
          </a:p>
          <a:p>
            <a:r>
              <a:rPr lang="zh-CN" sz="2400" dirty="0"/>
              <a:t>程序调用了动态链接的睡眠函数：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1100" dirty="0"/>
          </a:p>
          <a:p>
            <a:r>
              <a:rPr lang="zh-CN" sz="2400" dirty="0"/>
              <a:t>现在我们来实现我们自己的 sleep() 函数：</a:t>
            </a:r>
          </a:p>
          <a:p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977661" y="2294194"/>
            <a:ext cx="3841866" cy="1847456"/>
            <a:chOff x="1132112" y="2815097"/>
            <a:chExt cx="3841866" cy="18474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38189F-B9BD-4BFD-978B-24022EDABF9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6865" t="19683" r="64980" b="78095"/>
            <a:stretch/>
          </p:blipFill>
          <p:spPr>
            <a:xfrm>
              <a:off x="1132112" y="2815097"/>
              <a:ext cx="3841866" cy="29391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DF90F7-7E69-4D7D-B6EA-7BB6E5067B6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9861" t="35714" r="51984" b="52540"/>
            <a:stretch/>
          </p:blipFill>
          <p:spPr>
            <a:xfrm>
              <a:off x="1132112" y="3109012"/>
              <a:ext cx="3841866" cy="1553541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9D0B762-4B76-4DB6-829B-695CC5ECA3A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762" t="42223" r="41667" b="50793"/>
          <a:stretch/>
        </p:blipFill>
        <p:spPr>
          <a:xfrm>
            <a:off x="5890927" y="2628512"/>
            <a:ext cx="6026348" cy="920691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80B162-55C1-428B-A2FC-D2076FC06F5D}"/>
              </a:ext>
            </a:extLst>
          </p:cNvPr>
          <p:cNvCxnSpPr/>
          <p:nvPr/>
        </p:nvCxnSpPr>
        <p:spPr>
          <a:xfrm>
            <a:off x="4936127" y="3156857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F45CE38-6D96-41F8-A010-753C1ECD29B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9762" t="43461" r="17858" b="41272"/>
          <a:stretch/>
        </p:blipFill>
        <p:spPr>
          <a:xfrm>
            <a:off x="964773" y="4994907"/>
            <a:ext cx="9852308" cy="179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40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>
            <a:normAutofit fontScale="90000"/>
          </a:bodyPr>
          <a:lstStyle/>
          <a:p>
            <a:r>
              <a:rPr lang="zh-CN" dirty="0"/>
              <a:t>利用动态链接器发起的攻击：案例研究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49037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b="1" dirty="0"/>
              <a:t>示例1 – 常规程序（续）：</a:t>
            </a:r>
          </a:p>
          <a:p>
            <a:r>
              <a:rPr lang="zh-CN" sz="2400" dirty="0"/>
              <a:t>我们需要编译上述代码，创建一个共享库，并将该共享库添加到 LD_PRELOAD 环境变量中。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91F554-868B-428C-A6A1-ED8E81D65C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64" t="41905" r="30953" b="24127"/>
          <a:stretch/>
        </p:blipFill>
        <p:spPr>
          <a:xfrm>
            <a:off x="1165860" y="2695302"/>
            <a:ext cx="9805836" cy="399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9772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>
            <a:normAutofit fontScale="90000"/>
          </a:bodyPr>
          <a:lstStyle/>
          <a:p>
            <a:r>
              <a:rPr lang="zh-CN" dirty="0"/>
              <a:t>利用动态链接器发起的攻击：案例研究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541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b="1" dirty="0"/>
              <a:t>示例2 –设置 UID程序：</a:t>
            </a:r>
          </a:p>
          <a:p>
            <a:r>
              <a:rPr lang="zh-CN" sz="2400" dirty="0"/>
              <a:t>如果示例 1 中的技术适用于 Set-UID 程序，那将非常危险。让我们将上面的程序转换为 Set-UID 程序：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zh-CN" sz="2400" dirty="0"/>
              <a:t>我们的 sleep() 函数没有被调用。</a:t>
            </a:r>
            <a:endParaRPr lang="en-US" sz="2400" dirty="0"/>
          </a:p>
          <a:p>
            <a:pPr lvl="1"/>
            <a:r>
              <a:rPr lang="zh-CN" sz="2000" dirty="0"/>
              <a:t>这是由于动态链接器实施的一项应对措施。当 EUID 和 RUID 不同时，它会忽略 LD_PRELOAD 和 LD_LIBRARY_PATH 环境变量。</a:t>
            </a:r>
          </a:p>
          <a:p>
            <a:r>
              <a:rPr lang="zh-CN" sz="2400" dirty="0"/>
              <a:t>让我们通过下一张幻灯片中的例子来验证这一对策。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A503F-646C-47C1-B282-2D8A27F10D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766" t="51111" r="31052" b="31429"/>
          <a:stretch/>
        </p:blipFill>
        <p:spPr>
          <a:xfrm>
            <a:off x="1089660" y="2536915"/>
            <a:ext cx="9636350" cy="201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79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通过动态链接器发起的攻击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541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b="1" dirty="0"/>
              <a:t>让我们来验证一下应对措施。</a:t>
            </a:r>
          </a:p>
          <a:p>
            <a:r>
              <a:rPr lang="zh-CN" sz="2400" dirty="0"/>
              <a:t>复制</a:t>
            </a:r>
            <a:r>
              <a:rPr lang="zh-CN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env</a:t>
            </a:r>
            <a:r>
              <a:rPr lang="zh-CN" sz="2400" dirty="0"/>
              <a:t>程序并将其转换为 Set-UID 程序：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zh-CN" sz="2400" dirty="0"/>
              <a:t>导出 LD_LIBRARY_PATH 和 LD_PRELOAD，然后运行这两个程序：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C3B30-72ED-448F-BC2B-E950FDC689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66" t="24444" r="30952" b="63334"/>
          <a:stretch/>
        </p:blipFill>
        <p:spPr>
          <a:xfrm>
            <a:off x="1075212" y="2236899"/>
            <a:ext cx="9433632" cy="1380969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75410" y="4165965"/>
            <a:ext cx="12040051" cy="2517864"/>
            <a:chOff x="675410" y="4165965"/>
            <a:chExt cx="10778629" cy="21722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374188D-D7F9-4119-AC0C-11310C0F17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865" t="40318" r="30853" b="37778"/>
            <a:stretch/>
          </p:blipFill>
          <p:spPr>
            <a:xfrm>
              <a:off x="3158489" y="4165965"/>
              <a:ext cx="8295550" cy="217227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CC7C60-1BC8-4878-B111-63E72290587B}"/>
                </a:ext>
              </a:extLst>
            </p:cNvPr>
            <p:cNvSpPr txBox="1"/>
            <p:nvPr/>
          </p:nvSpPr>
          <p:spPr>
            <a:xfrm>
              <a:off x="675410" y="4643859"/>
              <a:ext cx="1902576" cy="6107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zh-CN" sz="2000" dirty="0"/>
                <a:t>运行原始</a:t>
              </a:r>
              <a:endParaRPr lang="en-US" altLang="zh-CN" sz="2000" dirty="0"/>
            </a:p>
            <a:p>
              <a:pPr algn="r"/>
              <a:r>
                <a:rPr lang="zh-CN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环境</a:t>
              </a:r>
              <a:r>
                <a:rPr lang="zh-CN" sz="2000" dirty="0"/>
                <a:t>程序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B28010-6DBD-41EA-831F-04028E66A523}"/>
                </a:ext>
              </a:extLst>
            </p:cNvPr>
            <p:cNvSpPr txBox="1"/>
            <p:nvPr/>
          </p:nvSpPr>
          <p:spPr>
            <a:xfrm>
              <a:off x="675410" y="5630350"/>
              <a:ext cx="1902576" cy="6107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zh-CN" sz="2000" dirty="0"/>
                <a:t>运行我们的</a:t>
              </a:r>
              <a:endParaRPr lang="en-US" altLang="zh-CN" sz="2000" dirty="0"/>
            </a:p>
            <a:p>
              <a:pPr algn="r"/>
              <a:r>
                <a:rPr lang="zh-CN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环境</a:t>
              </a:r>
              <a:r>
                <a:rPr lang="zh-CN" sz="2000" dirty="0"/>
                <a:t>程序</a:t>
              </a:r>
            </a:p>
          </p:txBody>
        </p:sp>
        <p:sp>
          <p:nvSpPr>
            <p:cNvPr id="4" name="Right Arrow 3"/>
            <p:cNvSpPr/>
            <p:nvPr/>
          </p:nvSpPr>
          <p:spPr>
            <a:xfrm>
              <a:off x="2638322" y="4896651"/>
              <a:ext cx="459831" cy="3028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/>
            <p:cNvSpPr/>
            <p:nvPr/>
          </p:nvSpPr>
          <p:spPr>
            <a:xfrm>
              <a:off x="2627480" y="5832853"/>
              <a:ext cx="459831" cy="30288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4281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>
            <a:normAutofit fontScale="90000"/>
          </a:bodyPr>
          <a:lstStyle/>
          <a:p>
            <a:r>
              <a:rPr lang="zh-CN" dirty="0"/>
              <a:t>利用动态链接器发起的攻击：案例研究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3216"/>
            <a:ext cx="10515600" cy="541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b="1" dirty="0"/>
              <a:t>案例研究： OS X 动态链接器</a:t>
            </a:r>
          </a:p>
          <a:p>
            <a:r>
              <a:rPr lang="zh-CN" sz="2400" dirty="0"/>
              <a:t>正如第 1 章（能力泄露）中所讨论的，苹果 OS X 10.10 引入了一个新的环境变量，但并没有对其安全影响进行完美的分析。</a:t>
            </a:r>
          </a:p>
          <a:p>
            <a:r>
              <a:rPr lang="zh-CN" sz="2400" dirty="0"/>
              <a:t>DYLD_PRINT_TO_FILE</a:t>
            </a:r>
          </a:p>
          <a:p>
            <a:pPr lvl="1"/>
            <a:r>
              <a:rPr lang="zh-CN" sz="2000" dirty="0"/>
              <a:t>用户能够为</a:t>
            </a:r>
            <a:r>
              <a:rPr lang="zh-CN" sz="2000" dirty="0" err="1"/>
              <a:t>dyld提供文件名</a:t>
            </a:r>
            <a:endParaRPr lang="en-US" sz="2000" dirty="0"/>
          </a:p>
          <a:p>
            <a:pPr lvl="1"/>
            <a:r>
              <a:rPr lang="zh-CN" sz="2000" dirty="0"/>
              <a:t>如果是 Set-UID 程序，用户可以写入受保护的文件。</a:t>
            </a:r>
          </a:p>
          <a:p>
            <a:pPr lvl="1"/>
            <a:r>
              <a:rPr lang="zh-CN" sz="2000" dirty="0"/>
              <a:t>功能泄漏——文件描述符未关闭</a:t>
            </a:r>
            <a:endParaRPr lang="en-US" sz="2400" dirty="0"/>
          </a:p>
          <a:p>
            <a:r>
              <a:rPr lang="zh-CN" sz="2400" dirty="0"/>
              <a:t>漏洞利用示例：</a:t>
            </a:r>
          </a:p>
          <a:p>
            <a:pPr lvl="1"/>
            <a:r>
              <a:rPr lang="zh-CN" sz="2000" dirty="0"/>
              <a:t>将 DYLD_PRINT_TO_FILE 设置为 / </a:t>
            </a:r>
            <a:r>
              <a:rPr lang="zh-CN" sz="2000" dirty="0" err="1"/>
              <a:t>etc </a:t>
            </a:r>
            <a:r>
              <a:rPr lang="zh-CN" sz="2000" dirty="0"/>
              <a:t>/ </a:t>
            </a:r>
            <a:r>
              <a:rPr lang="zh-CN" sz="2000" dirty="0" err="1"/>
              <a:t>sudoers</a:t>
            </a:r>
            <a:endParaRPr lang="en-US" sz="2000" dirty="0"/>
          </a:p>
          <a:p>
            <a:pPr lvl="1"/>
            <a:r>
              <a:rPr lang="zh-CN" sz="2000" dirty="0"/>
              <a:t>切换到鲍勃的账户</a:t>
            </a:r>
          </a:p>
          <a:p>
            <a:pPr lvl="1"/>
            <a:r>
              <a:rPr lang="zh-CN" sz="2000" dirty="0"/>
              <a:t>echo 命令会将内容写入 / </a:t>
            </a:r>
            <a:r>
              <a:rPr lang="zh-CN" sz="2000" dirty="0" err="1"/>
              <a:t>etc </a:t>
            </a:r>
            <a:r>
              <a:rPr lang="zh-CN" sz="2000" dirty="0"/>
              <a:t>/ </a:t>
            </a:r>
            <a:r>
              <a:rPr lang="zh-CN" sz="2000" dirty="0" err="1"/>
              <a:t>sudoers文件。</a:t>
            </a:r>
            <a:endParaRPr lang="en-US" sz="2400" b="1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EEA6B-2C48-4686-817E-B6F5A7FEFA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65" t="56984" r="47619" b="33651"/>
          <a:stretch/>
        </p:blipFill>
        <p:spPr>
          <a:xfrm>
            <a:off x="1278834" y="5517637"/>
            <a:ext cx="7739743" cy="1275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24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通过外部程序发起的攻击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260"/>
            <a:ext cx="10515600" cy="5038275"/>
          </a:xfrm>
        </p:spPr>
        <p:txBody>
          <a:bodyPr>
            <a:normAutofit/>
          </a:bodyPr>
          <a:lstStyle/>
          <a:p>
            <a:r>
              <a:rPr lang="zh-CN" sz="2400" dirty="0"/>
              <a:t>应用程序可以调用外部程序。</a:t>
            </a:r>
          </a:p>
          <a:p>
            <a:r>
              <a:rPr lang="zh-CN" sz="2400" dirty="0"/>
              <a:t>应用程序本身可能不会使用环境变量，但被调用的外部程序可能会使用。</a:t>
            </a:r>
          </a:p>
          <a:p>
            <a:r>
              <a:rPr lang="zh-CN" sz="2400" dirty="0"/>
              <a:t>调用外部程序的典型方式：</a:t>
            </a:r>
          </a:p>
          <a:p>
            <a:pPr lvl="1"/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exec ()</a:t>
            </a:r>
            <a:r>
              <a:rPr lang="zh-CN" dirty="0">
                <a:cs typeface="Courier New" panose="02070309020205020404" pitchFamily="49" charset="0"/>
              </a:rPr>
              <a:t> </a:t>
            </a:r>
            <a:r>
              <a:rPr lang="zh-CN" dirty="0"/>
              <a:t>调用</a:t>
            </a:r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execve () 的函数族</a:t>
            </a:r>
            <a:r>
              <a:rPr lang="zh-CN" dirty="0">
                <a:cs typeface="Courier New" panose="02070309020205020404" pitchFamily="49" charset="0"/>
              </a:rPr>
              <a:t>：直接运行程序。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系统（）</a:t>
            </a:r>
            <a:endParaRPr lang="en-US" dirty="0"/>
          </a:p>
          <a:p>
            <a:pPr lvl="2"/>
            <a:r>
              <a:rPr lang="zh-CN" sz="2400" dirty="0"/>
              <a:t>系统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sz="2400" dirty="0">
                <a:cs typeface="Courier New" panose="02070309020205020404" pitchFamily="49" charset="0"/>
              </a:rPr>
              <a:t> </a:t>
            </a:r>
            <a:r>
              <a:rPr lang="zh-CN" sz="2400" dirty="0"/>
              <a:t>函数调用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execl()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execl()</a:t>
            </a:r>
            <a:r>
              <a:rPr lang="zh-CN" sz="2400" dirty="0"/>
              <a:t>最终会调用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execve()</a:t>
            </a:r>
            <a:r>
              <a:rPr lang="zh-CN" sz="2400" dirty="0">
                <a:cs typeface="Courier New" panose="02070309020205020404" pitchFamily="49" charset="0"/>
              </a:rPr>
              <a:t>来运行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/bin/sh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zh-CN" sz="2400" dirty="0">
                <a:cs typeface="Courier New" panose="02070309020205020404" pitchFamily="49" charset="0"/>
              </a:rPr>
              <a:t>然后 shell 程序运行该程序。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sz="2400" dirty="0"/>
              <a:t>这两种方法的攻击面有所不同。</a:t>
            </a:r>
          </a:p>
          <a:p>
            <a:r>
              <a:rPr lang="zh-CN" sz="2400" dirty="0"/>
              <a:t>我们在第一章讨论了此类 shell 程序的攻击面。这里我们将重点关注环境变量方面。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83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>
            <a:normAutofit/>
          </a:bodyPr>
          <a:lstStyle/>
          <a:p>
            <a:r>
              <a:rPr lang="zh-CN" dirty="0"/>
              <a:t>通过外部程序发起的攻击：案例研究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128" y="1403505"/>
            <a:ext cx="11403202" cy="5038275"/>
          </a:xfrm>
        </p:spPr>
        <p:txBody>
          <a:bodyPr>
            <a:normAutofit/>
          </a:bodyPr>
          <a:lstStyle/>
          <a:p>
            <a:r>
              <a:rPr lang="zh-CN" sz="2400" dirty="0"/>
              <a:t>Shell程序的行为受许多环境变量的影响，其中最常见的是 PATH 变量。</a:t>
            </a:r>
          </a:p>
          <a:p>
            <a:r>
              <a:rPr lang="zh-CN" sz="2400" dirty="0"/>
              <a:t>当 shell 程序运行命令但没有提供绝对路径时，它会使用 PATH 变量来查找该命令。</a:t>
            </a:r>
          </a:p>
          <a:p>
            <a:r>
              <a:rPr lang="zh-CN" sz="2400" dirty="0"/>
              <a:t>请看以下代码：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sz="2400" dirty="0"/>
              <a:t>我们将强制上述程序执行以下程序</a:t>
            </a:r>
            <a:r>
              <a:rPr lang="zh-CN" dirty="0"/>
              <a:t>：</a:t>
            </a:r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1043198" y="2920026"/>
            <a:ext cx="5508398" cy="1933003"/>
            <a:chOff x="1216774" y="3294617"/>
            <a:chExt cx="4381427" cy="135032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0ABADE8-4862-4E06-8802-53A673F0E02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6667" t="22699" r="53770" b="65079"/>
            <a:stretch/>
          </p:blipFill>
          <p:spPr>
            <a:xfrm>
              <a:off x="1216774" y="3294617"/>
              <a:ext cx="4381427" cy="113211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831D84F-270A-4907-B6C0-2E82D0532C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763" t="59206" r="40673" b="38431"/>
            <a:stretch/>
          </p:blipFill>
          <p:spPr>
            <a:xfrm>
              <a:off x="1229976" y="4426732"/>
              <a:ext cx="4368225" cy="218205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6652079-E05D-4AB8-A8F7-274F6E1B1D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663" t="55298" r="40827" b="32063"/>
          <a:stretch>
            <a:fillRect/>
          </a:stretch>
        </p:blipFill>
        <p:spPr>
          <a:xfrm>
            <a:off x="5623569" y="4853029"/>
            <a:ext cx="5508398" cy="147442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E69671-E3E2-4CF9-952B-719929F57E59}"/>
              </a:ext>
            </a:extLst>
          </p:cNvPr>
          <p:cNvCxnSpPr>
            <a:cxnSpLocks/>
          </p:cNvCxnSpPr>
          <p:nvPr/>
        </p:nvCxnSpPr>
        <p:spPr>
          <a:xfrm flipH="1">
            <a:off x="3836829" y="3922643"/>
            <a:ext cx="3319701" cy="3895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BD74D6C-8C7F-4BA7-9704-5BB4D63ADCAE}"/>
              </a:ext>
            </a:extLst>
          </p:cNvPr>
          <p:cNvSpPr txBox="1"/>
          <p:nvPr/>
        </p:nvSpPr>
        <p:spPr>
          <a:xfrm>
            <a:off x="7156530" y="3575356"/>
            <a:ext cx="3560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000" dirty="0"/>
              <a:t>未提供完整路径。我们可以利用这一点来操作路径变量。</a:t>
            </a:r>
          </a:p>
        </p:txBody>
      </p:sp>
    </p:spTree>
    <p:extLst>
      <p:ext uri="{BB962C8B-B14F-4D97-AF65-F5344CB8AC3E}">
        <p14:creationId xmlns:p14="http://schemas.microsoft.com/office/powerpoint/2010/main" val="2828037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>
            <a:normAutofit/>
          </a:bodyPr>
          <a:lstStyle/>
          <a:p>
            <a:r>
              <a:rPr lang="zh-CN" dirty="0"/>
              <a:t>通过外部程序发起的攻击：案例研究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042359" y="1273216"/>
            <a:ext cx="9725032" cy="5379375"/>
            <a:chOff x="955888" y="1598903"/>
            <a:chExt cx="8519582" cy="471158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C7154BD-E082-4B61-AEA5-901368839D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9663" t="33492" r="17956" b="20158"/>
            <a:stretch/>
          </p:blipFill>
          <p:spPr>
            <a:xfrm>
              <a:off x="955888" y="1598903"/>
              <a:ext cx="8519582" cy="4711587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6476638" y="2106750"/>
              <a:ext cx="2404472" cy="1015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sz="2000" dirty="0"/>
                <a:t>我们首先运行第一个程序，但不进行攻击。</a:t>
              </a:r>
              <a:endParaRPr lang="en-US" sz="20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476638" y="3869776"/>
              <a:ext cx="2404472" cy="10156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sz="2000" dirty="0"/>
                <a:t>我们来修改 PATH 环境变量。</a:t>
              </a:r>
              <a:endParaRPr 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565988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通过外部程序发起的攻击：攻击面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3157"/>
            <a:ext cx="10515600" cy="5038275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与</a:t>
            </a:r>
            <a:r>
              <a:rPr lang="en-US" altLang="zh-CN" sz="2800" dirty="0"/>
              <a:t>system()</a:t>
            </a:r>
            <a:r>
              <a:rPr lang="zh-CN" sz="2800" dirty="0"/>
              <a:t>相比，execve() 的攻击面更小。</a:t>
            </a:r>
          </a:p>
          <a:p>
            <a:r>
              <a:rPr lang="zh-CN" sz="2800" dirty="0"/>
              <a:t>execve() 不会调用 shell，因此不受环境变量的影响。</a:t>
            </a:r>
          </a:p>
          <a:p>
            <a:r>
              <a:rPr lang="zh-CN" sz="2800" dirty="0"/>
              <a:t>在特权程序中调用外部程序时，我们应该使用 execve() 函数。</a:t>
            </a:r>
          </a:p>
          <a:p>
            <a:r>
              <a:rPr lang="zh-CN" sz="2800" dirty="0"/>
              <a:t>更多信息请参阅第一章。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81791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470" y="172228"/>
            <a:ext cx="10515600" cy="1020978"/>
          </a:xfrm>
        </p:spPr>
        <p:txBody>
          <a:bodyPr/>
          <a:lstStyle/>
          <a:p>
            <a:r>
              <a:rPr lang="zh-CN" dirty="0"/>
              <a:t>通过库进行攻击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70" y="1472985"/>
            <a:ext cx="10515600" cy="47417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sz="2400" dirty="0"/>
              <a:t>程序经常使用外部库中的函数。如果这些函数使用了环境变量，就会增加攻击面。</a:t>
            </a:r>
          </a:p>
          <a:p>
            <a:pPr marL="0" indent="0">
              <a:buNone/>
            </a:pPr>
            <a:r>
              <a:rPr lang="zh-CN" sz="2400" dirty="0"/>
              <a:t>案例研究——UNIX 中的区域设置</a:t>
            </a:r>
          </a:p>
          <a:p>
            <a:r>
              <a:rPr lang="zh-CN" sz="2400" dirty="0"/>
              <a:t>每次需要打印消息时，程序都会使用提供的库函数来处理翻译后的消息。</a:t>
            </a:r>
          </a:p>
          <a:p>
            <a:r>
              <a:rPr lang="zh-CN" sz="2400" dirty="0"/>
              <a:t>Unix 使用</a:t>
            </a:r>
            <a:r>
              <a:rPr lang="zh-CN" sz="2400" dirty="0" err="1"/>
              <a:t>libc</a:t>
            </a:r>
            <a:r>
              <a:rPr lang="zh-CN" sz="2400" dirty="0"/>
              <a:t>库中的</a:t>
            </a:r>
            <a:r>
              <a:rPr lang="zh-CN" sz="2400" dirty="0" err="1"/>
              <a:t>gettext </a:t>
            </a:r>
            <a:r>
              <a:rPr lang="zh-CN" sz="2400" dirty="0"/>
              <a:t>() 和</a:t>
            </a:r>
            <a:r>
              <a:rPr lang="zh-CN" sz="2400" dirty="0" err="1"/>
              <a:t>catopen </a:t>
            </a:r>
            <a:r>
              <a:rPr lang="zh-CN" sz="2400" dirty="0"/>
              <a:t>()函数。</a:t>
            </a:r>
          </a:p>
          <a:p>
            <a:r>
              <a:rPr lang="zh-CN" sz="2400" dirty="0"/>
              <a:t>以下代码展示了程序如何使用区域设置子系统：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4F518E-466F-42CE-8EA0-2D8C81E49A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45" t="26482" r="18056" b="54074"/>
          <a:stretch/>
        </p:blipFill>
        <p:spPr>
          <a:xfrm>
            <a:off x="749663" y="4247322"/>
            <a:ext cx="10729867" cy="249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06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通过库进行攻击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0324"/>
            <a:ext cx="10515600" cy="4741702"/>
          </a:xfrm>
        </p:spPr>
        <p:txBody>
          <a:bodyPr>
            <a:normAutofit/>
          </a:bodyPr>
          <a:lstStyle/>
          <a:p>
            <a:r>
              <a:rPr lang="zh-CN" sz="2400" dirty="0"/>
              <a:t>该子系统依赖于以下环境变量：LANG、LANGUAGE、NLSPATH、LOCPATH、LC_ALL、LC_MESSAGES</a:t>
            </a:r>
          </a:p>
          <a:p>
            <a:r>
              <a:rPr lang="zh-CN" sz="2400" dirty="0"/>
              <a:t>这些变量可以由用户设置，因此用户可以控制翻译后的消息。</a:t>
            </a:r>
          </a:p>
          <a:p>
            <a:r>
              <a:rPr lang="zh-CN" sz="2400" dirty="0"/>
              <a:t>攻击者可以利用格式字符串漏洞来格式化</a:t>
            </a:r>
            <a:r>
              <a:rPr lang="zh-CN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printf()</a:t>
            </a:r>
            <a:r>
              <a:rPr lang="zh-CN" sz="2400" dirty="0"/>
              <a:t>函数——更多信息请参见第 6 章。</a:t>
            </a:r>
          </a:p>
          <a:p>
            <a:r>
              <a:rPr lang="zh-CN" sz="2400" b="1" dirty="0"/>
              <a:t>对策：</a:t>
            </a:r>
          </a:p>
          <a:p>
            <a:pPr lvl="1"/>
            <a:r>
              <a:rPr lang="zh-CN" sz="2000" dirty="0"/>
              <a:t>这取决于图书馆作者。</a:t>
            </a:r>
          </a:p>
          <a:p>
            <a:pPr lvl="1"/>
            <a:r>
              <a:rPr lang="zh-CN" sz="2000" dirty="0"/>
              <a:t>例如：使用 Glibc 2.1.1 库的</a:t>
            </a:r>
            <a:r>
              <a:rPr lang="zh-CN" sz="2000" dirty="0" err="1"/>
              <a:t>Conectiva </a:t>
            </a:r>
            <a:r>
              <a:rPr lang="zh-CN" sz="2000" dirty="0"/>
              <a:t>Linux 会显式检查并忽略 NSLPATH 环境变量，前提是</a:t>
            </a:r>
            <a:r>
              <a:rPr lang="zh-CN" sz="2000" dirty="0" err="1"/>
              <a:t>catopen </a:t>
            </a:r>
            <a:r>
              <a:rPr lang="zh-CN" sz="2000" dirty="0"/>
              <a:t>() 和</a:t>
            </a:r>
            <a:r>
              <a:rPr lang="zh-CN" sz="2000" dirty="0" err="1"/>
              <a:t>catgets </a:t>
            </a:r>
            <a:r>
              <a:rPr lang="zh-CN" sz="2000" dirty="0"/>
              <a:t>() 函数是从 Set-UID 程序中调用的。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50592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238"/>
            <a:ext cx="10515600" cy="1020978"/>
          </a:xfrm>
        </p:spPr>
        <p:txBody>
          <a:bodyPr/>
          <a:lstStyle/>
          <a:p>
            <a:r>
              <a:rPr lang="zh-CN" dirty="0"/>
              <a:t>通过应用程序代码发起的攻击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0747" y="2376110"/>
            <a:ext cx="3261360" cy="3245720"/>
          </a:xfrm>
        </p:spPr>
        <p:txBody>
          <a:bodyPr>
            <a:normAutofit/>
          </a:bodyPr>
          <a:lstStyle/>
          <a:p>
            <a:pPr marL="342900" indent="-342900">
              <a:buBlip>
                <a:blip r:embed="rId3"/>
              </a:buBlip>
            </a:pPr>
            <a:r>
              <a:rPr lang="zh-CN" dirty="0"/>
              <a:t>程序可以直接使用环境变量。如果这些是特权程序，则可能导致输入数据不受信任。</a:t>
            </a: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212035" y="1301985"/>
            <a:ext cx="9283148" cy="5303777"/>
            <a:chOff x="637819" y="1479711"/>
            <a:chExt cx="6275783" cy="310999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32248DB-A3FE-4239-B86D-F41D386B2A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1771" t="15185" r="21354" b="53333"/>
            <a:stretch/>
          </p:blipFill>
          <p:spPr>
            <a:xfrm>
              <a:off x="637819" y="1479711"/>
              <a:ext cx="6275782" cy="237085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98BD936-B9AE-412A-B778-747DBCB0B5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0208" t="70000" r="32917" b="20185"/>
            <a:stretch/>
          </p:blipFill>
          <p:spPr>
            <a:xfrm>
              <a:off x="637819" y="3850562"/>
              <a:ext cx="6275783" cy="7391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33108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" y="204922"/>
            <a:ext cx="10515600" cy="1020978"/>
          </a:xfrm>
        </p:spPr>
        <p:txBody>
          <a:bodyPr/>
          <a:lstStyle/>
          <a:p>
            <a:r>
              <a:rPr lang="zh-CN" dirty="0"/>
              <a:t>通过应用程序代码发起的攻击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460" y="1594088"/>
            <a:ext cx="5059680" cy="4741702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zh-CN" sz="2400" dirty="0"/>
              <a:t>该程序使用 getenv() 函数从 PWD 环境变量中获取当前目录。</a:t>
            </a:r>
          </a:p>
          <a:p>
            <a:pPr>
              <a:spcAft>
                <a:spcPts val="600"/>
              </a:spcAft>
            </a:pPr>
            <a:r>
              <a:rPr lang="zh-CN" sz="2400" dirty="0"/>
              <a:t>程序随后将数据复制到数组“ </a:t>
            </a:r>
            <a:r>
              <a:rPr lang="zh-CN" sz="2400" dirty="0" err="1"/>
              <a:t>arr </a:t>
            </a:r>
            <a:r>
              <a:rPr lang="zh-CN" sz="2400" dirty="0"/>
              <a:t>”中，但忘记检查输入数据的长度。这可能导致缓冲区溢出。</a:t>
            </a:r>
          </a:p>
          <a:p>
            <a:pPr>
              <a:spcAft>
                <a:spcPts val="600"/>
              </a:spcAft>
            </a:pPr>
            <a:r>
              <a:rPr lang="zh-CN" sz="2400" dirty="0"/>
              <a:t>PWD 的值来自 shell 程序，因此每次我们更改文件夹时，shell 程序都会更新其 shell变量。</a:t>
            </a:r>
          </a:p>
          <a:p>
            <a:pPr>
              <a:spcAft>
                <a:spcPts val="600"/>
              </a:spcAft>
            </a:pPr>
            <a:r>
              <a:rPr lang="zh-CN" sz="2400" dirty="0"/>
              <a:t>我们可以自己修改 shell变量。</a:t>
            </a:r>
            <a:endParaRPr lang="en-US" sz="24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DD699-9662-4D34-A4E1-5EFC2A5568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209" t="41296" r="52083" b="22038"/>
          <a:stretch/>
        </p:blipFill>
        <p:spPr>
          <a:xfrm>
            <a:off x="5810249" y="1578421"/>
            <a:ext cx="5606182" cy="417302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6A0122-26BB-4EB7-87DA-C1D2B8ECADFA}"/>
              </a:ext>
            </a:extLst>
          </p:cNvPr>
          <p:cNvCxnSpPr>
            <a:cxnSpLocks/>
          </p:cNvCxnSpPr>
          <p:nvPr/>
        </p:nvCxnSpPr>
        <p:spPr>
          <a:xfrm flipH="1">
            <a:off x="7340721" y="3964939"/>
            <a:ext cx="7839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A37C70-DC8C-4D60-87CA-195CB63C55CA}"/>
              </a:ext>
            </a:extLst>
          </p:cNvPr>
          <p:cNvCxnSpPr>
            <a:cxnSpLocks/>
          </p:cNvCxnSpPr>
          <p:nvPr/>
        </p:nvCxnSpPr>
        <p:spPr>
          <a:xfrm flipH="1">
            <a:off x="7402487" y="5288279"/>
            <a:ext cx="7839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6AD79E1-7AC3-4C1D-9BE1-774BE9D1E07C}"/>
              </a:ext>
            </a:extLst>
          </p:cNvPr>
          <p:cNvSpPr txBox="1"/>
          <p:nvPr/>
        </p:nvSpPr>
        <p:spPr>
          <a:xfrm>
            <a:off x="8186419" y="3335530"/>
            <a:ext cx="233504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sz="2000" dirty="0"/>
              <a:t>当前目录（未修改的 shell 变量）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F2C3C-CD01-4CCE-9445-DAA8988B7F18}"/>
              </a:ext>
            </a:extLst>
          </p:cNvPr>
          <p:cNvSpPr txBox="1"/>
          <p:nvPr/>
        </p:nvSpPr>
        <p:spPr>
          <a:xfrm>
            <a:off x="8186419" y="4663555"/>
            <a:ext cx="228561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sz="2000" dirty="0"/>
              <a:t>当前目录（已修改 shell 变量）</a:t>
            </a:r>
          </a:p>
        </p:txBody>
      </p:sp>
    </p:spTree>
    <p:extLst>
      <p:ext uri="{BB962C8B-B14F-4D97-AF65-F5344CB8AC3E}">
        <p14:creationId xmlns:p14="http://schemas.microsoft.com/office/powerpoint/2010/main" val="4364789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3232"/>
            <a:ext cx="10700982" cy="1020978"/>
          </a:xfrm>
        </p:spPr>
        <p:txBody>
          <a:bodyPr>
            <a:normAutofit fontScale="90000"/>
          </a:bodyPr>
          <a:lstStyle/>
          <a:p>
            <a:r>
              <a:rPr lang="zh-CN" dirty="0"/>
              <a:t>通过应用程序代码发起的攻击——应对措施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7100"/>
            <a:ext cx="9253330" cy="4741702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zh-CN" sz="2800" dirty="0"/>
              <a:t>当具有特权的 Set-UID 程序使用环境变量时，必须对其进行适当的</a:t>
            </a:r>
            <a:r>
              <a:rPr lang="zh-CN" altLang="en-US" sz="2800" dirty="0"/>
              <a:t>检查</a:t>
            </a:r>
            <a:r>
              <a:rPr lang="zh-CN" sz="2800" dirty="0"/>
              <a:t>。</a:t>
            </a:r>
            <a:endParaRPr lang="en-US" sz="2800" dirty="0"/>
          </a:p>
          <a:p>
            <a:pPr>
              <a:spcAft>
                <a:spcPts val="1200"/>
              </a:spcAft>
            </a:pPr>
            <a:r>
              <a:rPr lang="zh-CN" sz="2800" dirty="0"/>
              <a:t>开发者可以选择使用安全的 getenv() 版本，例如</a:t>
            </a:r>
            <a:r>
              <a:rPr lang="zh-CN" sz="2800" dirty="0" err="1"/>
              <a:t>secure_getenv </a:t>
            </a:r>
            <a:r>
              <a:rPr lang="zh-CN" sz="2800" dirty="0"/>
              <a:t>()。</a:t>
            </a:r>
            <a:endParaRPr lang="en-US" sz="2800" dirty="0"/>
          </a:p>
          <a:p>
            <a:pPr lvl="1">
              <a:spcAft>
                <a:spcPts val="600"/>
              </a:spcAft>
            </a:pPr>
            <a:r>
              <a:rPr lang="zh-CN" sz="2400" dirty="0"/>
              <a:t>getenv ()的工作原理是搜索环境变量列表，并返回指向找到的字符串的指针，用于检索环境变量。</a:t>
            </a:r>
          </a:p>
          <a:p>
            <a:pPr lvl="1">
              <a:spcAft>
                <a:spcPts val="600"/>
              </a:spcAft>
            </a:pPr>
            <a:r>
              <a:rPr lang="zh-CN" sz="2400" dirty="0"/>
              <a:t>secure_getenv () 的</a:t>
            </a:r>
            <a:r>
              <a:rPr lang="zh-CN" altLang="zh-CN" sz="2400" dirty="0"/>
              <a:t>工作方式完全相同，只是当需要</a:t>
            </a:r>
            <a:r>
              <a:rPr lang="zh-CN" sz="2400" dirty="0"/>
              <a:t>“安全执行”时返回 NULL。</a:t>
            </a:r>
            <a:endParaRPr lang="en-US" sz="2400" dirty="0"/>
          </a:p>
          <a:p>
            <a:pPr lvl="1">
              <a:spcAft>
                <a:spcPts val="600"/>
              </a:spcAft>
            </a:pPr>
            <a:r>
              <a:rPr lang="zh-CN" sz="2400" dirty="0"/>
              <a:t>安全执行的定义基于诸如进程的用户/组 EUID 和 RUID 不匹配等条件。</a:t>
            </a:r>
          </a:p>
        </p:txBody>
      </p:sp>
    </p:spTree>
    <p:extLst>
      <p:ext uri="{BB962C8B-B14F-4D97-AF65-F5344CB8AC3E}">
        <p14:creationId xmlns:p14="http://schemas.microsoft.com/office/powerpoint/2010/main" val="1849731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51"/>
            <a:ext cx="10515600" cy="1020978"/>
          </a:xfrm>
        </p:spPr>
        <p:txBody>
          <a:bodyPr/>
          <a:lstStyle/>
          <a:p>
            <a:r>
              <a:rPr lang="zh-CN" dirty="0"/>
              <a:t>设置UID方法与服务方法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261"/>
            <a:ext cx="10515600" cy="474170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99AA7F-42FA-4179-A491-8B0DDFF4EB69}"/>
              </a:ext>
            </a:extLst>
          </p:cNvPr>
          <p:cNvSpPr txBox="1"/>
          <p:nvPr/>
        </p:nvSpPr>
        <p:spPr>
          <a:xfrm>
            <a:off x="838199" y="1457980"/>
            <a:ext cx="2906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b="1" dirty="0"/>
              <a:t>普通用户进程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CC2FF7-9EBA-451B-B153-4B549697C254}"/>
              </a:ext>
            </a:extLst>
          </p:cNvPr>
          <p:cNvSpPr txBox="1"/>
          <p:nvPr/>
        </p:nvSpPr>
        <p:spPr>
          <a:xfrm>
            <a:off x="400050" y="4367980"/>
            <a:ext cx="415207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b="1" dirty="0"/>
              <a:t>特权进程</a:t>
            </a:r>
          </a:p>
          <a:p>
            <a:pPr algn="ctr"/>
            <a:r>
              <a:rPr lang="zh-CN" sz="2400" dirty="0"/>
              <a:t>（进行特权操作）</a:t>
            </a:r>
          </a:p>
          <a:p>
            <a:pPr algn="ctr"/>
            <a:r>
              <a:rPr lang="zh-CN" sz="2400" dirty="0"/>
              <a:t>（对用户而言）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21B80C2-F4B2-4972-9F6B-C166D5884B0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291521" y="1919645"/>
            <a:ext cx="0" cy="24720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DBE34F7-B951-46AE-B5CF-399F19238F82}"/>
              </a:ext>
            </a:extLst>
          </p:cNvPr>
          <p:cNvSpPr txBox="1"/>
          <p:nvPr/>
        </p:nvSpPr>
        <p:spPr>
          <a:xfrm>
            <a:off x="5981700" y="1457980"/>
            <a:ext cx="2906643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b="1" dirty="0"/>
              <a:t>特权进程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998EA-B800-44DA-BB57-17092EE86FBD}"/>
              </a:ext>
            </a:extLst>
          </p:cNvPr>
          <p:cNvSpPr txBox="1"/>
          <p:nvPr/>
        </p:nvSpPr>
        <p:spPr>
          <a:xfrm>
            <a:off x="5382730" y="4367980"/>
            <a:ext cx="408387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b="1" dirty="0"/>
              <a:t>特权进程</a:t>
            </a:r>
          </a:p>
          <a:p>
            <a:pPr algn="ctr"/>
            <a:r>
              <a:rPr lang="zh-CN" sz="2400" dirty="0"/>
              <a:t>（进行特权操作）</a:t>
            </a:r>
          </a:p>
          <a:p>
            <a:pPr algn="ctr"/>
            <a:r>
              <a:rPr lang="zh-CN" sz="2400" dirty="0"/>
              <a:t>（对用户而言）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028076-0EFD-40C3-8A6F-0C4211A8A59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7424669" y="1919645"/>
            <a:ext cx="10353" cy="2448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70F2834-C6D9-4F41-B71A-9023AD591D97}"/>
              </a:ext>
            </a:extLst>
          </p:cNvPr>
          <p:cNvSpPr txBox="1"/>
          <p:nvPr/>
        </p:nvSpPr>
        <p:spPr>
          <a:xfrm>
            <a:off x="10137636" y="4530025"/>
            <a:ext cx="181610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400" b="1" dirty="0"/>
              <a:t>普通用户进程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F9EABC-2C4D-4481-92E5-54F19CF4A601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9466608" y="4945524"/>
            <a:ext cx="671028" cy="695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5DBC68-6120-4926-9FEE-2CBAB7FD93DC}"/>
              </a:ext>
            </a:extLst>
          </p:cNvPr>
          <p:cNvSpPr txBox="1"/>
          <p:nvPr/>
        </p:nvSpPr>
        <p:spPr>
          <a:xfrm>
            <a:off x="2451099" y="2820607"/>
            <a:ext cx="1804789" cy="83099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sz="2400" dirty="0">
                <a:solidFill>
                  <a:schemeClr val="bg1"/>
                </a:solidFill>
              </a:rPr>
              <a:t>环境</a:t>
            </a:r>
          </a:p>
          <a:p>
            <a:r>
              <a:rPr lang="zh-CN" sz="2400" dirty="0">
                <a:solidFill>
                  <a:schemeClr val="bg1"/>
                </a:solidFill>
              </a:rPr>
              <a:t>变量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D9894-7A21-488E-80AD-EEF5E0C6F32F}"/>
              </a:ext>
            </a:extLst>
          </p:cNvPr>
          <p:cNvSpPr txBox="1"/>
          <p:nvPr/>
        </p:nvSpPr>
        <p:spPr>
          <a:xfrm>
            <a:off x="7594596" y="2817133"/>
            <a:ext cx="1789434" cy="83099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sz="2400" dirty="0">
                <a:solidFill>
                  <a:schemeClr val="bg1"/>
                </a:solidFill>
              </a:rPr>
              <a:t>环境</a:t>
            </a:r>
          </a:p>
          <a:p>
            <a:r>
              <a:rPr lang="zh-CN" sz="2400" dirty="0">
                <a:solidFill>
                  <a:schemeClr val="bg1"/>
                </a:solidFill>
              </a:rPr>
              <a:t>变量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72889F-4AA7-4B67-8BD5-B62F351F0279}"/>
              </a:ext>
            </a:extLst>
          </p:cNvPr>
          <p:cNvSpPr txBox="1"/>
          <p:nvPr/>
        </p:nvSpPr>
        <p:spPr>
          <a:xfrm>
            <a:off x="1022766" y="5821451"/>
            <a:ext cx="290664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2000" b="1" dirty="0"/>
              <a:t>（a）设置UID方法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34D419-6028-4763-A2E8-7277FFC00891}"/>
              </a:ext>
            </a:extLst>
          </p:cNvPr>
          <p:cNvSpPr txBox="1"/>
          <p:nvPr/>
        </p:nvSpPr>
        <p:spPr>
          <a:xfrm>
            <a:off x="6319296" y="5831837"/>
            <a:ext cx="290664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sz="2000" b="1" dirty="0"/>
              <a:t>（b）服务方式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9819C0-8985-48B3-8F84-18D5F5112121}"/>
              </a:ext>
            </a:extLst>
          </p:cNvPr>
          <p:cNvSpPr txBox="1"/>
          <p:nvPr/>
        </p:nvSpPr>
        <p:spPr>
          <a:xfrm>
            <a:off x="9145407" y="3741117"/>
            <a:ext cx="1518699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sz="2000" dirty="0"/>
              <a:t>服务请求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C5BB35A-D6D9-412E-92C0-35CD7BF59C97}"/>
              </a:ext>
            </a:extLst>
          </p:cNvPr>
          <p:cNvCxnSpPr/>
          <p:nvPr/>
        </p:nvCxnSpPr>
        <p:spPr>
          <a:xfrm>
            <a:off x="4711700" y="1273216"/>
            <a:ext cx="0" cy="4213184"/>
          </a:xfrm>
          <a:prstGeom prst="line">
            <a:avLst/>
          </a:prstGeom>
          <a:ln w="28575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649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632"/>
            <a:ext cx="10515600" cy="1020978"/>
          </a:xfrm>
        </p:spPr>
        <p:txBody>
          <a:bodyPr>
            <a:normAutofit/>
          </a:bodyPr>
          <a:lstStyle/>
          <a:p>
            <a:r>
              <a:rPr lang="zh-CN" dirty="0"/>
              <a:t>设置UID方法与服务方法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110" y="1440315"/>
            <a:ext cx="11702216" cy="5198980"/>
          </a:xfrm>
        </p:spPr>
        <p:txBody>
          <a:bodyPr>
            <a:noAutofit/>
          </a:bodyPr>
          <a:lstStyle/>
          <a:p>
            <a:r>
              <a:rPr lang="zh-CN" sz="2800" dirty="0"/>
              <a:t>大多数操作系统采用两种方法来允许普通用户执行特权操作</a:t>
            </a:r>
          </a:p>
          <a:p>
            <a:pPr lvl="1"/>
            <a:r>
              <a:rPr lang="zh-CN" sz="2400" dirty="0"/>
              <a:t>设置用户身份 (UID)方法：普通用户需要运行一个特殊程序才能临时获得 root 权限。</a:t>
            </a:r>
          </a:p>
          <a:p>
            <a:pPr lvl="1"/>
            <a:r>
              <a:rPr lang="zh-CN" sz="2400" dirty="0"/>
              <a:t>服务方式：普通用户必须请求特权服务来执行操作。前面幻灯片中的图展示了这两种方式。</a:t>
            </a:r>
          </a:p>
          <a:p>
            <a:r>
              <a:rPr lang="zh-CN" sz="2800" dirty="0"/>
              <a:t>Set-UID 的攻击面要大得多，这是由环境变量造成的。</a:t>
            </a:r>
          </a:p>
          <a:p>
            <a:pPr lvl="1"/>
            <a:r>
              <a:rPr lang="zh-CN" sz="2400" dirty="0"/>
              <a:t>环境变量不可信。</a:t>
            </a:r>
          </a:p>
          <a:p>
            <a:pPr lvl="1"/>
            <a:r>
              <a:rPr lang="zh-CN" sz="2400" dirty="0"/>
              <a:t>在服务方法中，环境变量是可信的。</a:t>
            </a:r>
          </a:p>
          <a:p>
            <a:r>
              <a:rPr lang="zh-CN" sz="2800" dirty="0"/>
              <a:t>尽管其他攻击面仍然适用于服务方法（详见第 1 章），但它被认为比 Set-UID 方法更安全。</a:t>
            </a:r>
          </a:p>
          <a:p>
            <a:r>
              <a:rPr lang="zh-CN" sz="2800" dirty="0"/>
              <a:t>正因如此，Android操作系统彻底移除了Set-UID和Set-GID机制。</a:t>
            </a:r>
          </a:p>
          <a:p>
            <a:pPr marL="457200" lvl="1" indent="0">
              <a:buNone/>
            </a:pPr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4273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dirty="0"/>
              <a:t>概括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sz="2800" dirty="0"/>
              <a:t>什么是环境变量？</a:t>
            </a:r>
          </a:p>
          <a:p>
            <a:r>
              <a:rPr lang="zh-CN" sz="2800" dirty="0"/>
              <a:t>它们如何从一个过程传递给它的子过程</a:t>
            </a:r>
          </a:p>
          <a:p>
            <a:r>
              <a:rPr lang="zh-CN" sz="2800" dirty="0"/>
              <a:t>环境因素如何影响程序的行为</a:t>
            </a:r>
          </a:p>
          <a:p>
            <a:r>
              <a:rPr lang="zh-CN" sz="2800" dirty="0"/>
              <a:t>环境因素带来的风险</a:t>
            </a:r>
          </a:p>
          <a:p>
            <a:r>
              <a:rPr lang="zh-CN" sz="2800" dirty="0"/>
              <a:t>案例研究</a:t>
            </a:r>
          </a:p>
          <a:p>
            <a:r>
              <a:rPr lang="zh-CN" sz="2800" dirty="0"/>
              <a:t>Set-UID 和服务方法之间的攻击面比较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761199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木材纹理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4860</TotalTime>
  <Words>2960</Words>
  <Application>Microsoft Office PowerPoint</Application>
  <PresentationFormat>宽屏</PresentationFormat>
  <Paragraphs>365</Paragraphs>
  <Slides>36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3" baseType="lpstr">
      <vt:lpstr>Adobe Gothic Std B</vt:lpstr>
      <vt:lpstr>Arial</vt:lpstr>
      <vt:lpstr>Arial Black</vt:lpstr>
      <vt:lpstr>Calibri</vt:lpstr>
      <vt:lpstr>Courier New</vt:lpstr>
      <vt:lpstr>Wingdings</vt:lpstr>
      <vt:lpstr>木材纹理</vt:lpstr>
      <vt:lpstr>环境变量 与 攻击</vt:lpstr>
      <vt:lpstr>环境变量</vt:lpstr>
      <vt:lpstr>如何编程访问环境变量</vt:lpstr>
      <vt:lpstr>进程如何获取环境变量？</vt:lpstr>
      <vt:lpstr>execve( )和环境变量</vt:lpstr>
      <vt:lpstr>execve( )和环境变量</vt:lpstr>
      <vt:lpstr>环境变量的内存位置</vt:lpstr>
      <vt:lpstr>Shell变量和环境变量</vt:lpstr>
      <vt:lpstr>/proc 文件系统的附注</vt:lpstr>
      <vt:lpstr>Shell变量和环境变量</vt:lpstr>
      <vt:lpstr>Shell变量和环境变量</vt:lpstr>
      <vt:lpstr>Shell变量和环境变量</vt:lpstr>
      <vt:lpstr>环境变量的攻击面</vt:lpstr>
      <vt:lpstr>通过动态链接器发起的攻击</vt:lpstr>
      <vt:lpstr>通过动态链接器发起的攻击</vt:lpstr>
      <vt:lpstr>通过动态链接器发起的攻击</vt:lpstr>
      <vt:lpstr>通过动态链接器发起的攻击</vt:lpstr>
      <vt:lpstr>通过动态链接器发起的攻击：风险</vt:lpstr>
      <vt:lpstr>利用动态链接器发起的攻击：案例研究 1</vt:lpstr>
      <vt:lpstr>利用动态链接器发起的攻击：案例研究 1</vt:lpstr>
      <vt:lpstr>利用动态链接器发起的攻击：案例研究 1</vt:lpstr>
      <vt:lpstr>利用动态链接器发起的攻击：案例研究</vt:lpstr>
      <vt:lpstr>通过动态链接器发起的攻击</vt:lpstr>
      <vt:lpstr>利用动态链接器发起的攻击：案例研究 2</vt:lpstr>
      <vt:lpstr>通过外部程序发起的攻击</vt:lpstr>
      <vt:lpstr>通过外部程序发起的攻击：案例研究</vt:lpstr>
      <vt:lpstr>通过外部程序发起的攻击：案例研究</vt:lpstr>
      <vt:lpstr>通过外部程序发起的攻击：攻击面</vt:lpstr>
      <vt:lpstr>通过库进行攻击</vt:lpstr>
      <vt:lpstr>通过库进行攻击</vt:lpstr>
      <vt:lpstr>通过应用程序代码发起的攻击</vt:lpstr>
      <vt:lpstr>通过应用程序代码发起的攻击</vt:lpstr>
      <vt:lpstr>通过应用程序代码发起的攻击——应对措施</vt:lpstr>
      <vt:lpstr>设置UID方法与服务方法</vt:lpstr>
      <vt:lpstr>设置UID方法与服务方法</vt:lpstr>
      <vt:lpstr>概括</vt:lpstr>
    </vt:vector>
  </TitlesOfParts>
  <Company>Syracuse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昕 宋</cp:lastModifiedBy>
  <cp:revision>184</cp:revision>
  <dcterms:created xsi:type="dcterms:W3CDTF">2017-10-29T00:53:57Z</dcterms:created>
  <dcterms:modified xsi:type="dcterms:W3CDTF">2026-03-15T15:07:33Z</dcterms:modified>
</cp:coreProperties>
</file>